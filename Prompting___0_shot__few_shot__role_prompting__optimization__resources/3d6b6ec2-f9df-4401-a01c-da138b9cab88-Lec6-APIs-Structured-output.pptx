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89"/>
  </p:notesMasterIdLst>
  <p:sldIdLst>
    <p:sldId id="256" r:id="rId2"/>
    <p:sldId id="355" r:id="rId3"/>
    <p:sldId id="261" r:id="rId4"/>
    <p:sldId id="265" r:id="rId5"/>
    <p:sldId id="524" r:id="rId6"/>
    <p:sldId id="444" r:id="rId7"/>
    <p:sldId id="441" r:id="rId8"/>
    <p:sldId id="257" r:id="rId9"/>
    <p:sldId id="442" r:id="rId10"/>
    <p:sldId id="445" r:id="rId11"/>
    <p:sldId id="446" r:id="rId12"/>
    <p:sldId id="449" r:id="rId13"/>
    <p:sldId id="452" r:id="rId14"/>
    <p:sldId id="451" r:id="rId15"/>
    <p:sldId id="443" r:id="rId16"/>
    <p:sldId id="432" r:id="rId17"/>
    <p:sldId id="523" r:id="rId18"/>
    <p:sldId id="397" r:id="rId19"/>
    <p:sldId id="390" r:id="rId20"/>
    <p:sldId id="501" r:id="rId21"/>
    <p:sldId id="490" r:id="rId22"/>
    <p:sldId id="495" r:id="rId23"/>
    <p:sldId id="502" r:id="rId24"/>
    <p:sldId id="503" r:id="rId25"/>
    <p:sldId id="504" r:id="rId26"/>
    <p:sldId id="505" r:id="rId27"/>
    <p:sldId id="506" r:id="rId28"/>
    <p:sldId id="507" r:id="rId29"/>
    <p:sldId id="508" r:id="rId30"/>
    <p:sldId id="421" r:id="rId31"/>
    <p:sldId id="491" r:id="rId32"/>
    <p:sldId id="500" r:id="rId33"/>
    <p:sldId id="509" r:id="rId34"/>
    <p:sldId id="492" r:id="rId35"/>
    <p:sldId id="497" r:id="rId36"/>
    <p:sldId id="510" r:id="rId37"/>
    <p:sldId id="493" r:id="rId38"/>
    <p:sldId id="498" r:id="rId39"/>
    <p:sldId id="511" r:id="rId40"/>
    <p:sldId id="494" r:id="rId41"/>
    <p:sldId id="499" r:id="rId42"/>
    <p:sldId id="333" r:id="rId43"/>
    <p:sldId id="488" r:id="rId44"/>
    <p:sldId id="513" r:id="rId45"/>
    <p:sldId id="465" r:id="rId46"/>
    <p:sldId id="360" r:id="rId47"/>
    <p:sldId id="259" r:id="rId48"/>
    <p:sldId id="417" r:id="rId49"/>
    <p:sldId id="418" r:id="rId50"/>
    <p:sldId id="419" r:id="rId51"/>
    <p:sldId id="426" r:id="rId52"/>
    <p:sldId id="431" r:id="rId53"/>
    <p:sldId id="512" r:id="rId54"/>
    <p:sldId id="477" r:id="rId55"/>
    <p:sldId id="478" r:id="rId56"/>
    <p:sldId id="469" r:id="rId57"/>
    <p:sldId id="470" r:id="rId58"/>
    <p:sldId id="514" r:id="rId59"/>
    <p:sldId id="515" r:id="rId60"/>
    <p:sldId id="516" r:id="rId61"/>
    <p:sldId id="262" r:id="rId62"/>
    <p:sldId id="263" r:id="rId63"/>
    <p:sldId id="520" r:id="rId64"/>
    <p:sldId id="517" r:id="rId65"/>
    <p:sldId id="518" r:id="rId66"/>
    <p:sldId id="519" r:id="rId67"/>
    <p:sldId id="476" r:id="rId68"/>
    <p:sldId id="468" r:id="rId69"/>
    <p:sldId id="521" r:id="rId70"/>
    <p:sldId id="362" r:id="rId71"/>
    <p:sldId id="453" r:id="rId72"/>
    <p:sldId id="258" r:id="rId73"/>
    <p:sldId id="454" r:id="rId74"/>
    <p:sldId id="455" r:id="rId75"/>
    <p:sldId id="456" r:id="rId76"/>
    <p:sldId id="457" r:id="rId77"/>
    <p:sldId id="264" r:id="rId78"/>
    <p:sldId id="462" r:id="rId79"/>
    <p:sldId id="459" r:id="rId80"/>
    <p:sldId id="460" r:id="rId81"/>
    <p:sldId id="267" r:id="rId82"/>
    <p:sldId id="461" r:id="rId83"/>
    <p:sldId id="463" r:id="rId84"/>
    <p:sldId id="522" r:id="rId85"/>
    <p:sldId id="464" r:id="rId86"/>
    <p:sldId id="466" r:id="rId87"/>
    <p:sldId id="489" r:id="rId88"/>
  </p:sldIdLst>
  <p:sldSz cx="9144000" cy="5143500" type="screen16x9"/>
  <p:notesSz cx="6858000" cy="9144000"/>
  <p:embeddedFontLst>
    <p:embeddedFont>
      <p:font typeface="Andale Mono" panose="020B0509000000000004" pitchFamily="49" charset="0"/>
      <p:regular r:id="rId90"/>
    </p:embeddedFont>
    <p:embeddedFont>
      <p:font typeface="Cambria" panose="02040503050406030204" pitchFamily="18" charset="0"/>
      <p:regular r:id="rId91"/>
      <p:bold r:id="rId92"/>
      <p:italic r:id="rId93"/>
      <p:boldItalic r:id="rId94"/>
    </p:embeddedFont>
    <p:embeddedFont>
      <p:font typeface="Consolas" panose="020B0609020204030204" pitchFamily="49" charset="0"/>
      <p:regular r:id="rId95"/>
      <p:bold r:id="rId96"/>
      <p:italic r:id="rId97"/>
      <p:boldItalic r:id="rId98"/>
    </p:embeddedFont>
    <p:embeddedFont>
      <p:font typeface="Georgia" panose="02040502050405020303" pitchFamily="18" charset="0"/>
      <p:regular r:id="rId99"/>
      <p:bold r:id="rId100"/>
      <p:italic r:id="rId101"/>
      <p:boldItalic r:id="rId102"/>
    </p:embeddedFont>
    <p:embeddedFont>
      <p:font typeface="Roboto" panose="02000000000000000000" pitchFamily="2" charset="0"/>
      <p:regular r:id="rId103"/>
      <p:bold r:id="rId104"/>
      <p:italic r:id="rId105"/>
      <p:boldItalic r:id="rId10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241BF48-8AF9-4A6B-BECA-62D7C73CD4D3}">
  <a:tblStyle styleId="{0241BF48-8AF9-4A6B-BECA-62D7C73CD4D3}"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23"/>
    <p:restoredTop sz="94694"/>
  </p:normalViewPr>
  <p:slideViewPr>
    <p:cSldViewPr snapToGrid="0">
      <p:cViewPr varScale="1">
        <p:scale>
          <a:sx n="161" d="100"/>
          <a:sy n="161" d="100"/>
        </p:scale>
        <p:origin x="792" y="200"/>
      </p:cViewPr>
      <p:guideLst>
        <p:guide orient="horz" pos="1620"/>
        <p:guide pos="2880"/>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notesMaster" Target="notesMasters/notesMaster1.xml"/><Relationship Id="rId16" Type="http://schemas.openxmlformats.org/officeDocument/2006/relationships/slide" Target="slides/slide15.xml"/><Relationship Id="rId107" Type="http://schemas.openxmlformats.org/officeDocument/2006/relationships/presProps" Target="pres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font" Target="fonts/font13.fntdata"/><Relationship Id="rId5" Type="http://schemas.openxmlformats.org/officeDocument/2006/relationships/slide" Target="slides/slide4.xml"/><Relationship Id="rId90" Type="http://schemas.openxmlformats.org/officeDocument/2006/relationships/font" Target="fonts/font1.fntdata"/><Relationship Id="rId95" Type="http://schemas.openxmlformats.org/officeDocument/2006/relationships/font" Target="fonts/font6.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font" Target="fonts/font14.fntdata"/><Relationship Id="rId108"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font" Target="fonts/font2.fntdata"/><Relationship Id="rId96"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font" Target="fonts/font17.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font" Target="fonts/font5.fntdata"/><Relationship Id="rId99" Type="http://schemas.openxmlformats.org/officeDocument/2006/relationships/font" Target="fonts/font10.fntdata"/><Relationship Id="rId101"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heme" Target="theme/theme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font" Target="fonts/font8.fntdata"/><Relationship Id="rId104" Type="http://schemas.openxmlformats.org/officeDocument/2006/relationships/font" Target="fonts/font15.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3.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font" Target="fonts/font11.fntdata"/><Relationship Id="rId105" Type="http://schemas.openxmlformats.org/officeDocument/2006/relationships/font" Target="fonts/font16.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4.fntdata"/><Relationship Id="rId98" Type="http://schemas.openxmlformats.org/officeDocument/2006/relationships/font" Target="fonts/font9.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3d7e6c64925_2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9" name="Google Shape;59;g3d7e6c64925_2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E9107707-FBD0-00DF-5140-241C10851875}"/>
            </a:ext>
          </a:extLst>
        </p:cNvPr>
        <p:cNvGrpSpPr/>
        <p:nvPr/>
      </p:nvGrpSpPr>
      <p:grpSpPr>
        <a:xfrm>
          <a:off x="0" y="0"/>
          <a:ext cx="0" cy="0"/>
          <a:chOff x="0" y="0"/>
          <a:chExt cx="0" cy="0"/>
        </a:xfrm>
      </p:grpSpPr>
      <p:sp>
        <p:nvSpPr>
          <p:cNvPr id="106" name="Google Shape;106;g3d4526267a8_3_18:notes">
            <a:extLst>
              <a:ext uri="{FF2B5EF4-FFF2-40B4-BE49-F238E27FC236}">
                <a16:creationId xmlns:a16="http://schemas.microsoft.com/office/drawing/2014/main" id="{69559B5C-CCAD-9FF5-51DD-6EF521CF8D8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07" name="Google Shape;107;g3d4526267a8_3_18:notes">
            <a:extLst>
              <a:ext uri="{FF2B5EF4-FFF2-40B4-BE49-F238E27FC236}">
                <a16:creationId xmlns:a16="http://schemas.microsoft.com/office/drawing/2014/main" id="{D610BD91-265D-8E87-ACE9-AF6F5CFE32D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88773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3de5bcac26a_0_23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9" name="Google Shape;229;g3de5bcac26a_0_232:notes"/>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30" name="Google Shape;230;g3de5bcac26a_0_232:notes"/>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 sz="1800">
                <a:solidFill>
                  <a:schemeClr val="dk1"/>
                </a:solidFill>
                <a:latin typeface="Calibri"/>
                <a:ea typeface="Calibri"/>
                <a:cs typeface="Calibri"/>
                <a:sym typeface="Calibri"/>
              </a:rPr>
              <a:t>4</a:t>
            </a:fld>
            <a:endParaRPr sz="18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F709F-D4EA-696D-C631-33067DE3F7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20B957-6F63-73F0-E75C-8C7B611DB71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ADF4F7C-46B8-2E16-5B9C-35A921BD32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4540FCD-6F83-06A5-1024-1CB7A6A8A3E8}"/>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2227237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B742FA42-228B-E45E-E340-D4BC53425300}"/>
            </a:ext>
          </a:extLst>
        </p:cNvPr>
        <p:cNvGrpSpPr/>
        <p:nvPr/>
      </p:nvGrpSpPr>
      <p:grpSpPr>
        <a:xfrm>
          <a:off x="0" y="0"/>
          <a:ext cx="0" cy="0"/>
          <a:chOff x="0" y="0"/>
          <a:chExt cx="0" cy="0"/>
        </a:xfrm>
      </p:grpSpPr>
      <p:sp>
        <p:nvSpPr>
          <p:cNvPr id="106" name="Google Shape;106;g3d4526267a8_3_18:notes">
            <a:extLst>
              <a:ext uri="{FF2B5EF4-FFF2-40B4-BE49-F238E27FC236}">
                <a16:creationId xmlns:a16="http://schemas.microsoft.com/office/drawing/2014/main" id="{781F5E41-A932-1C9B-CE1E-3F0822E0DC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07" name="Google Shape;107;g3d4526267a8_3_18:notes">
            <a:extLst>
              <a:ext uri="{FF2B5EF4-FFF2-40B4-BE49-F238E27FC236}">
                <a16:creationId xmlns:a16="http://schemas.microsoft.com/office/drawing/2014/main" id="{0DE0F7B4-1B2F-AE31-7CBE-36B9E91C200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420351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77" name="Google Shape;177;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067652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066C864B-8E5D-D1FB-7914-577245955D60}"/>
            </a:ext>
          </a:extLst>
        </p:cNvPr>
        <p:cNvGrpSpPr/>
        <p:nvPr/>
      </p:nvGrpSpPr>
      <p:grpSpPr>
        <a:xfrm>
          <a:off x="0" y="0"/>
          <a:ext cx="0" cy="0"/>
          <a:chOff x="0" y="0"/>
          <a:chExt cx="0" cy="0"/>
        </a:xfrm>
      </p:grpSpPr>
      <p:sp>
        <p:nvSpPr>
          <p:cNvPr id="106" name="Google Shape;106;g3d4526267a8_3_18:notes">
            <a:extLst>
              <a:ext uri="{FF2B5EF4-FFF2-40B4-BE49-F238E27FC236}">
                <a16:creationId xmlns:a16="http://schemas.microsoft.com/office/drawing/2014/main" id="{15DB5FF7-BC6C-EB0E-06DE-1FF72576D15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07" name="Google Shape;107;g3d4526267a8_3_18:notes">
            <a:extLst>
              <a:ext uri="{FF2B5EF4-FFF2-40B4-BE49-F238E27FC236}">
                <a16:creationId xmlns:a16="http://schemas.microsoft.com/office/drawing/2014/main" id="{66F40AD8-B4C7-6D46-4CD0-995390FDB97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3688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3de5bcac26a_0_30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3" name="Google Shape;293;g3de5bcac26a_0_300:notes"/>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94" name="Google Shape;294;g3de5bcac26a_0_300:notes"/>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 sz="1800">
                <a:solidFill>
                  <a:schemeClr val="dk1"/>
                </a:solidFill>
                <a:latin typeface="Calibri"/>
                <a:ea typeface="Calibri"/>
                <a:cs typeface="Calibri"/>
                <a:sym typeface="Calibri"/>
              </a:rPr>
              <a:t>46</a:t>
            </a:fld>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7444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de5bcac26a_0_15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5" name="Google Shape;155;g3de5bcac26a_0_152:notes"/>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56" name="Google Shape;156;g3de5bcac26a_0_152:notes"/>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 sz="1800">
                <a:solidFill>
                  <a:schemeClr val="dk1"/>
                </a:solidFill>
                <a:latin typeface="Calibri"/>
                <a:ea typeface="Calibri"/>
                <a:cs typeface="Calibri"/>
                <a:sym typeface="Calibri"/>
              </a:rPr>
              <a:t>47</a:t>
            </a:fld>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4599183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a:extLst>
            <a:ext uri="{FF2B5EF4-FFF2-40B4-BE49-F238E27FC236}">
              <a16:creationId xmlns:a16="http://schemas.microsoft.com/office/drawing/2014/main" id="{344E78E4-2870-8996-8C74-08D9D2F8E581}"/>
            </a:ext>
          </a:extLst>
        </p:cNvPr>
        <p:cNvGrpSpPr/>
        <p:nvPr/>
      </p:nvGrpSpPr>
      <p:grpSpPr>
        <a:xfrm>
          <a:off x="0" y="0"/>
          <a:ext cx="0" cy="0"/>
          <a:chOff x="0" y="0"/>
          <a:chExt cx="0" cy="0"/>
        </a:xfrm>
      </p:grpSpPr>
      <p:sp>
        <p:nvSpPr>
          <p:cNvPr id="304" name="Google Shape;304;g3de5bcac26a_0_313:notes">
            <a:extLst>
              <a:ext uri="{FF2B5EF4-FFF2-40B4-BE49-F238E27FC236}">
                <a16:creationId xmlns:a16="http://schemas.microsoft.com/office/drawing/2014/main" id="{DAA5AEFA-51AD-ED20-2711-E0AB79C7B690}"/>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5" name="Google Shape;305;g3de5bcac26a_0_313:notes">
            <a:extLst>
              <a:ext uri="{FF2B5EF4-FFF2-40B4-BE49-F238E27FC236}">
                <a16:creationId xmlns:a16="http://schemas.microsoft.com/office/drawing/2014/main" id="{5D5E898E-E8B7-7347-9F3F-CEB6AE47CC5D}"/>
              </a:ext>
            </a:extLst>
          </p:cNvPr>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06" name="Google Shape;306;g3de5bcac26a_0_313:notes">
            <a:extLst>
              <a:ext uri="{FF2B5EF4-FFF2-40B4-BE49-F238E27FC236}">
                <a16:creationId xmlns:a16="http://schemas.microsoft.com/office/drawing/2014/main" id="{D131AC1A-8C35-7A7D-301C-4486D6128615}"/>
              </a:ext>
            </a:extLst>
          </p:cNvPr>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 sz="1800">
                <a:solidFill>
                  <a:schemeClr val="dk1"/>
                </a:solidFill>
                <a:latin typeface="Calibri"/>
                <a:ea typeface="Calibri"/>
                <a:cs typeface="Calibri"/>
                <a:sym typeface="Calibri"/>
              </a:rPr>
              <a:t>48</a:t>
            </a:fld>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611660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a:extLst>
            <a:ext uri="{FF2B5EF4-FFF2-40B4-BE49-F238E27FC236}">
              <a16:creationId xmlns:a16="http://schemas.microsoft.com/office/drawing/2014/main" id="{270AEEBE-2879-626F-71C0-B20587802010}"/>
            </a:ext>
          </a:extLst>
        </p:cNvPr>
        <p:cNvGrpSpPr/>
        <p:nvPr/>
      </p:nvGrpSpPr>
      <p:grpSpPr>
        <a:xfrm>
          <a:off x="0" y="0"/>
          <a:ext cx="0" cy="0"/>
          <a:chOff x="0" y="0"/>
          <a:chExt cx="0" cy="0"/>
        </a:xfrm>
      </p:grpSpPr>
      <p:sp>
        <p:nvSpPr>
          <p:cNvPr id="304" name="Google Shape;304;g3de5bcac26a_0_313:notes">
            <a:extLst>
              <a:ext uri="{FF2B5EF4-FFF2-40B4-BE49-F238E27FC236}">
                <a16:creationId xmlns:a16="http://schemas.microsoft.com/office/drawing/2014/main" id="{2355BECD-04E2-FA3D-F5E9-64723BEA85BC}"/>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5" name="Google Shape;305;g3de5bcac26a_0_313:notes">
            <a:extLst>
              <a:ext uri="{FF2B5EF4-FFF2-40B4-BE49-F238E27FC236}">
                <a16:creationId xmlns:a16="http://schemas.microsoft.com/office/drawing/2014/main" id="{DAF62BFB-7197-654B-787E-201373D33EC5}"/>
              </a:ext>
            </a:extLst>
          </p:cNvPr>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06" name="Google Shape;306;g3de5bcac26a_0_313:notes">
            <a:extLst>
              <a:ext uri="{FF2B5EF4-FFF2-40B4-BE49-F238E27FC236}">
                <a16:creationId xmlns:a16="http://schemas.microsoft.com/office/drawing/2014/main" id="{C1CF75B7-7FE9-4E16-FE59-9E41EAF6ADE4}"/>
              </a:ext>
            </a:extLst>
          </p:cNvPr>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 sz="1800">
                <a:solidFill>
                  <a:schemeClr val="dk1"/>
                </a:solidFill>
                <a:latin typeface="Calibri"/>
                <a:ea typeface="Calibri"/>
                <a:cs typeface="Calibri"/>
                <a:sym typeface="Calibri"/>
              </a:rPr>
              <a:t>49</a:t>
            </a:fld>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5594805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a:extLst>
            <a:ext uri="{FF2B5EF4-FFF2-40B4-BE49-F238E27FC236}">
              <a16:creationId xmlns:a16="http://schemas.microsoft.com/office/drawing/2014/main" id="{D9E8E187-8F75-4380-B9D2-2738643B2B28}"/>
            </a:ext>
          </a:extLst>
        </p:cNvPr>
        <p:cNvGrpSpPr/>
        <p:nvPr/>
      </p:nvGrpSpPr>
      <p:grpSpPr>
        <a:xfrm>
          <a:off x="0" y="0"/>
          <a:ext cx="0" cy="0"/>
          <a:chOff x="0" y="0"/>
          <a:chExt cx="0" cy="0"/>
        </a:xfrm>
      </p:grpSpPr>
      <p:sp>
        <p:nvSpPr>
          <p:cNvPr id="304" name="Google Shape;304;g3de5bcac26a_0_313:notes">
            <a:extLst>
              <a:ext uri="{FF2B5EF4-FFF2-40B4-BE49-F238E27FC236}">
                <a16:creationId xmlns:a16="http://schemas.microsoft.com/office/drawing/2014/main" id="{3CC5D778-D6E1-0707-7405-5CF3B54FC4BE}"/>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5" name="Google Shape;305;g3de5bcac26a_0_313:notes">
            <a:extLst>
              <a:ext uri="{FF2B5EF4-FFF2-40B4-BE49-F238E27FC236}">
                <a16:creationId xmlns:a16="http://schemas.microsoft.com/office/drawing/2014/main" id="{4F3D3F95-3ABD-3875-B33F-3028E347CF15}"/>
              </a:ext>
            </a:extLst>
          </p:cNvPr>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06" name="Google Shape;306;g3de5bcac26a_0_313:notes">
            <a:extLst>
              <a:ext uri="{FF2B5EF4-FFF2-40B4-BE49-F238E27FC236}">
                <a16:creationId xmlns:a16="http://schemas.microsoft.com/office/drawing/2014/main" id="{34E675C5-18F0-D009-70DD-F3A63627D244}"/>
              </a:ext>
            </a:extLst>
          </p:cNvPr>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 sz="1800">
                <a:solidFill>
                  <a:schemeClr val="dk1"/>
                </a:solidFill>
                <a:latin typeface="Calibri"/>
                <a:ea typeface="Calibri"/>
                <a:cs typeface="Calibri"/>
                <a:sym typeface="Calibri"/>
              </a:rPr>
              <a:t>50</a:t>
            </a:fld>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106845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a:extLst>
            <a:ext uri="{FF2B5EF4-FFF2-40B4-BE49-F238E27FC236}">
              <a16:creationId xmlns:a16="http://schemas.microsoft.com/office/drawing/2014/main" id="{6467A1F7-2D2F-21BC-EDA8-066F6712E78D}"/>
            </a:ext>
          </a:extLst>
        </p:cNvPr>
        <p:cNvGrpSpPr/>
        <p:nvPr/>
      </p:nvGrpSpPr>
      <p:grpSpPr>
        <a:xfrm>
          <a:off x="0" y="0"/>
          <a:ext cx="0" cy="0"/>
          <a:chOff x="0" y="0"/>
          <a:chExt cx="0" cy="0"/>
        </a:xfrm>
      </p:grpSpPr>
      <p:sp>
        <p:nvSpPr>
          <p:cNvPr id="304" name="Google Shape;304;g3de5bcac26a_0_313:notes">
            <a:extLst>
              <a:ext uri="{FF2B5EF4-FFF2-40B4-BE49-F238E27FC236}">
                <a16:creationId xmlns:a16="http://schemas.microsoft.com/office/drawing/2014/main" id="{B0EBF665-6D03-C56D-855A-F44AF521A24B}"/>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5" name="Google Shape;305;g3de5bcac26a_0_313:notes">
            <a:extLst>
              <a:ext uri="{FF2B5EF4-FFF2-40B4-BE49-F238E27FC236}">
                <a16:creationId xmlns:a16="http://schemas.microsoft.com/office/drawing/2014/main" id="{4453E801-411E-97AD-E660-318934C1C647}"/>
              </a:ext>
            </a:extLst>
          </p:cNvPr>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06" name="Google Shape;306;g3de5bcac26a_0_313:notes">
            <a:extLst>
              <a:ext uri="{FF2B5EF4-FFF2-40B4-BE49-F238E27FC236}">
                <a16:creationId xmlns:a16="http://schemas.microsoft.com/office/drawing/2014/main" id="{9275F58C-ECF6-8C7E-E9CF-474D4D896AFE}"/>
              </a:ext>
            </a:extLst>
          </p:cNvPr>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 sz="1800">
                <a:solidFill>
                  <a:schemeClr val="dk1"/>
                </a:solidFill>
                <a:latin typeface="Calibri"/>
                <a:ea typeface="Calibri"/>
                <a:cs typeface="Calibri"/>
                <a:sym typeface="Calibri"/>
              </a:rPr>
              <a:t>51</a:t>
            </a:fld>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2137123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11710238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3A9B0CA1-D522-4E67-C6DC-A1C4929E8DE9}"/>
            </a:ext>
          </a:extLst>
        </p:cNvPr>
        <p:cNvGrpSpPr/>
        <p:nvPr/>
      </p:nvGrpSpPr>
      <p:grpSpPr>
        <a:xfrm>
          <a:off x="0" y="0"/>
          <a:ext cx="0" cy="0"/>
          <a:chOff x="0" y="0"/>
          <a:chExt cx="0" cy="0"/>
        </a:xfrm>
      </p:grpSpPr>
      <p:sp>
        <p:nvSpPr>
          <p:cNvPr id="106" name="Google Shape;106;g3d4526267a8_3_18:notes">
            <a:extLst>
              <a:ext uri="{FF2B5EF4-FFF2-40B4-BE49-F238E27FC236}">
                <a16:creationId xmlns:a16="http://schemas.microsoft.com/office/drawing/2014/main" id="{D6989FD9-9902-115B-75E3-8135F98AE0E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07" name="Google Shape;107;g3d4526267a8_3_18:notes">
            <a:extLst>
              <a:ext uri="{FF2B5EF4-FFF2-40B4-BE49-F238E27FC236}">
                <a16:creationId xmlns:a16="http://schemas.microsoft.com/office/drawing/2014/main" id="{44F8CDBA-4DFD-90B5-DD00-5C328FEBB53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5249619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6428280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82290708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73039867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62994393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429166307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418219642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345693966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F5C092-6AF6-6346-6294-2CB0F816AB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3B2FAA-DC0B-F623-613B-636F5C4FCE7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0AB1FAF-D2FB-E527-99EA-48966A10CD8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93285A-6AB4-EE04-EAA8-29BA6A5884E5}"/>
              </a:ext>
            </a:extLst>
          </p:cNvPr>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52966587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299748228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294741937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248713131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363601813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25372499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282929300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0"/>
        <p:cNvGrpSpPr/>
        <p:nvPr/>
      </p:nvGrpSpPr>
      <p:grpSpPr>
        <a:xfrm>
          <a:off x="0" y="0"/>
          <a:ext cx="0" cy="0"/>
          <a:chOff x="0" y="0"/>
          <a:chExt cx="0" cy="0"/>
        </a:xfrm>
      </p:grpSpPr>
      <p:sp>
        <p:nvSpPr>
          <p:cNvPr id="2331" name="Google Shape;2331;g3d7337e18ce_0_21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2" name="Google Shape;2332;g3d7337e18ce_0_21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rPr b="1">
                <a:solidFill>
                  <a:srgbClr val="1E2761"/>
                </a:solidFill>
                <a:latin typeface="Georgia"/>
              </a:rP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457200" y="1200150"/>
            <a:ext cx="8229600" cy="33945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1200"/>
              </a:spcBef>
              <a:spcAft>
                <a:spcPts val="0"/>
              </a:spcAft>
              <a:buClr>
                <a:schemeClr val="dk1"/>
              </a:buClr>
              <a:buSzPts val="1800"/>
              <a:buChar char="○"/>
              <a:defRPr/>
            </a:lvl2pPr>
            <a:lvl3pPr marL="1371600" lvl="2" indent="-342900" algn="l">
              <a:spcBef>
                <a:spcPts val="1200"/>
              </a:spcBef>
              <a:spcAft>
                <a:spcPts val="0"/>
              </a:spcAft>
              <a:buClr>
                <a:schemeClr val="dk1"/>
              </a:buClr>
              <a:buSzPts val="1800"/>
              <a:buChar char="■"/>
              <a:defRPr/>
            </a:lvl3pPr>
            <a:lvl4pPr marL="1828800" lvl="3" indent="-342900" algn="l">
              <a:spcBef>
                <a:spcPts val="1200"/>
              </a:spcBef>
              <a:spcAft>
                <a:spcPts val="0"/>
              </a:spcAft>
              <a:buClr>
                <a:schemeClr val="dk1"/>
              </a:buClr>
              <a:buSzPts val="1800"/>
              <a:buChar char="●"/>
              <a:defRPr/>
            </a:lvl4pPr>
            <a:lvl5pPr marL="2286000" lvl="4" indent="-342900" algn="l">
              <a:spcBef>
                <a:spcPts val="1200"/>
              </a:spcBef>
              <a:spcAft>
                <a:spcPts val="0"/>
              </a:spcAft>
              <a:buClr>
                <a:schemeClr val="dk1"/>
              </a:buClr>
              <a:buSzPts val="1800"/>
              <a:buChar char="○"/>
              <a:defRPr/>
            </a:lvl5pPr>
            <a:lvl6pPr marL="2743200" lvl="5" indent="-342900" algn="l">
              <a:spcBef>
                <a:spcPts val="1200"/>
              </a:spcBef>
              <a:spcAft>
                <a:spcPts val="0"/>
              </a:spcAft>
              <a:buClr>
                <a:schemeClr val="dk1"/>
              </a:buClr>
              <a:buSzPts val="1800"/>
              <a:buChar char="■"/>
              <a:defRPr/>
            </a:lvl6pPr>
            <a:lvl7pPr marL="3200400" lvl="6" indent="-342900" algn="l">
              <a:spcBef>
                <a:spcPts val="1200"/>
              </a:spcBef>
              <a:spcAft>
                <a:spcPts val="0"/>
              </a:spcAft>
              <a:buClr>
                <a:schemeClr val="dk1"/>
              </a:buClr>
              <a:buSzPts val="1800"/>
              <a:buChar char="●"/>
              <a:defRPr/>
            </a:lvl7pPr>
            <a:lvl8pPr marL="3657600" lvl="7" indent="-342900" algn="l">
              <a:spcBef>
                <a:spcPts val="1200"/>
              </a:spcBef>
              <a:spcAft>
                <a:spcPts val="0"/>
              </a:spcAft>
              <a:buClr>
                <a:schemeClr val="dk1"/>
              </a:buClr>
              <a:buSzPts val="1800"/>
              <a:buChar char="○"/>
              <a:defRPr/>
            </a:lvl8pPr>
            <a:lvl9pPr marL="4114800" lvl="8" indent="-342900" algn="l">
              <a:spcBef>
                <a:spcPts val="1200"/>
              </a:spcBef>
              <a:spcAft>
                <a:spcPts val="1200"/>
              </a:spcAft>
              <a:buClr>
                <a:schemeClr val="dk1"/>
              </a:buClr>
              <a:buSzPts val="1800"/>
              <a:buChar char="■"/>
              <a:defRPr/>
            </a:lvl9pPr>
          </a:lstStyle>
          <a:p>
            <a:endParaRPr/>
          </a:p>
        </p:txBody>
      </p:sp>
      <p:sp>
        <p:nvSpPr>
          <p:cNvPr id="53" name="Google Shape;53;p13"/>
          <p:cNvSpPr txBox="1">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13"/>
          <p:cNvSpPr txBox="1">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13"/>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rm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5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1pPr>
      <a:lvl2pPr marR="0" lvl="1"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2pPr>
      <a:lvl3pPr marR="0" lvl="2"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3pPr>
      <a:lvl4pPr marR="0" lvl="3"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4pPr>
      <a:lvl5pPr marR="0" lvl="4"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5pPr>
      <a:lvl6pPr marR="0" lvl="5"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6pPr>
      <a:lvl7pPr marR="0" lvl="6"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7pPr>
      <a:lvl8pPr marR="0" lvl="7"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8pPr>
      <a:lvl9pPr marR="0" lvl="8"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1pPr>
      <a:lvl2pPr marR="0" lvl="1"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2pPr>
      <a:lvl3pPr marR="0" lvl="2"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3pPr>
      <a:lvl4pPr marR="0" lvl="3"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4pPr>
      <a:lvl5pPr marR="0" lvl="4"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5pPr>
      <a:lvl6pPr marR="0" lvl="5"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6pPr>
      <a:lvl7pPr marR="0" lvl="6"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7pPr>
      <a:lvl8pPr marR="0" lvl="7"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8pPr>
      <a:lvl9pPr marR="0" lvl="8"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1pPr>
      <a:lvl2pPr marR="0" lvl="1"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2pPr>
      <a:lvl3pPr marR="0" lvl="2"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3pPr>
      <a:lvl4pPr marR="0" lvl="3"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4pPr>
      <a:lvl5pPr marR="0" lvl="4"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5pPr>
      <a:lvl6pPr marR="0" lvl="5"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6pPr>
      <a:lvl7pPr marR="0" lvl="6"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7pPr>
      <a:lvl8pPr marR="0" lvl="7"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8pPr>
      <a:lvl9pPr marR="0" lvl="8"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11.xml"/><Relationship Id="rId6" Type="http://schemas.openxmlformats.org/officeDocument/2006/relationships/image" Target="../media/image2.png"/><Relationship Id="rId5" Type="http://schemas.openxmlformats.org/officeDocument/2006/relationships/image" Target="../media/image10.png"/><Relationship Id="rId4" Type="http://schemas.openxmlformats.org/officeDocument/2006/relationships/image" Target="../media/image9.png"/></Relationships>
</file>

<file path=ppt/slides/_rels/slide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1.xml"/><Relationship Id="rId5" Type="http://schemas.openxmlformats.org/officeDocument/2006/relationships/image" Target="../media/image2.png"/><Relationship Id="rId4" Type="http://schemas.openxmlformats.org/officeDocument/2006/relationships/image" Target="../media/image10.png"/></Relationships>
</file>

<file path=ppt/slides/_rels/slide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3.xml"/><Relationship Id="rId5" Type="http://schemas.openxmlformats.org/officeDocument/2006/relationships/image" Target="../media/image13.png"/><Relationship Id="rId4" Type="http://schemas.openxmlformats.org/officeDocument/2006/relationships/image" Target="../media/image12.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13.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2.png"/></Relationships>
</file>

<file path=ppt/slides/_rels/slide4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13.xml"/><Relationship Id="rId5" Type="http://schemas.openxmlformats.org/officeDocument/2006/relationships/image" Target="../media/image16.png"/><Relationship Id="rId4" Type="http://schemas.openxmlformats.org/officeDocument/2006/relationships/image" Target="../media/image2.png"/></Relationships>
</file>

<file path=ppt/slides/_rels/slide5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13.xml"/><Relationship Id="rId5" Type="http://schemas.openxmlformats.org/officeDocument/2006/relationships/image" Target="../media/image17.png"/><Relationship Id="rId4" Type="http://schemas.openxmlformats.org/officeDocument/2006/relationships/image" Target="../media/image2.png"/></Relationships>
</file>

<file path=ppt/slides/_rels/slide5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13.xml"/><Relationship Id="rId5" Type="http://schemas.openxmlformats.org/officeDocument/2006/relationships/image" Target="../media/image18.png"/><Relationship Id="rId4" Type="http://schemas.openxmlformats.org/officeDocument/2006/relationships/image" Target="../media/image2.png"/></Relationships>
</file>

<file path=ppt/slides/_rels/slide5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13.xml"/><Relationship Id="rId5" Type="http://schemas.openxmlformats.org/officeDocument/2006/relationships/image" Target="../media/image12.png"/><Relationship Id="rId4" Type="http://schemas.openxmlformats.org/officeDocument/2006/relationships/image" Target="../media/image13.png"/></Relationships>
</file>

<file path=ppt/slides/_rels/slide5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11.xml"/></Relationships>
</file>

<file path=ppt/slides/_rels/slide7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7.xml"/><Relationship Id="rId1" Type="http://schemas.openxmlformats.org/officeDocument/2006/relationships/slideLayout" Target="../slideLayouts/slideLayout13.xml"/><Relationship Id="rId5" Type="http://schemas.openxmlformats.org/officeDocument/2006/relationships/image" Target="../media/image2.png"/><Relationship Id="rId4" Type="http://schemas.openxmlformats.org/officeDocument/2006/relationships/image" Target="../media/image20.png"/></Relationships>
</file>

<file path=ppt/slides/_rels/slide7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0.xml"/><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3.xml"/><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4.xml"/><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4.jpeg"/><Relationship Id="rId2" Type="http://schemas.openxmlformats.org/officeDocument/2006/relationships/notesSlide" Target="../notesSlides/notesSlide55.xml"/><Relationship Id="rId1" Type="http://schemas.openxmlformats.org/officeDocument/2006/relationships/slideLayout" Target="../slideLayouts/slideLayout11.xml"/><Relationship Id="rId6" Type="http://schemas.openxmlformats.org/officeDocument/2006/relationships/image" Target="../media/image23.jpg"/><Relationship Id="rId5" Type="http://schemas.openxmlformats.org/officeDocument/2006/relationships/image" Target="../media/image22.jpeg"/><Relationship Id="rId4" Type="http://schemas.openxmlformats.org/officeDocument/2006/relationships/image" Target="../media/image21.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0"/>
        <p:cNvGrpSpPr/>
        <p:nvPr/>
      </p:nvGrpSpPr>
      <p:grpSpPr>
        <a:xfrm>
          <a:off x="0" y="0"/>
          <a:ext cx="0" cy="0"/>
          <a:chOff x="0" y="0"/>
          <a:chExt cx="0" cy="0"/>
        </a:xfrm>
      </p:grpSpPr>
      <p:sp>
        <p:nvSpPr>
          <p:cNvPr id="61" name="Google Shape;61;p15"/>
          <p:cNvSpPr txBox="1"/>
          <p:nvPr/>
        </p:nvSpPr>
        <p:spPr>
          <a:xfrm>
            <a:off x="685800" y="82600"/>
            <a:ext cx="7772400" cy="1470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None/>
            </a:pPr>
            <a:r>
              <a:rPr lang="en" sz="4400" b="1" dirty="0">
                <a:solidFill>
                  <a:srgbClr val="1E2761"/>
                </a:solidFill>
                <a:sym typeface="Calibri"/>
              </a:rPr>
              <a:t>Prompting APIs, Structured Outputs</a:t>
            </a:r>
            <a:endParaRPr sz="3700" b="1" dirty="0">
              <a:solidFill>
                <a:srgbClr val="C00000"/>
              </a:solidFill>
              <a:latin typeface="Calibri"/>
              <a:ea typeface="Calibri"/>
              <a:cs typeface="Calibri"/>
              <a:sym typeface="Calibri"/>
            </a:endParaRPr>
          </a:p>
        </p:txBody>
      </p:sp>
      <p:sp>
        <p:nvSpPr>
          <p:cNvPr id="62" name="Google Shape;62;p15"/>
          <p:cNvSpPr txBox="1"/>
          <p:nvPr/>
        </p:nvSpPr>
        <p:spPr>
          <a:xfrm>
            <a:off x="1371600" y="1838847"/>
            <a:ext cx="6400800" cy="1470000"/>
          </a:xfrm>
          <a:prstGeom prst="rect">
            <a:avLst/>
          </a:prstGeom>
          <a:noFill/>
          <a:ln>
            <a:noFill/>
          </a:ln>
        </p:spPr>
        <p:txBody>
          <a:bodyPr spcFirstLastPara="1" wrap="square" lIns="91425" tIns="45700" rIns="91425" bIns="45700" anchor="t" anchorCtr="0">
            <a:normAutofit/>
          </a:bodyPr>
          <a:lstStyle/>
          <a:p>
            <a:pPr marL="0" lvl="0" indent="0" algn="ctr" rtl="0">
              <a:spcBef>
                <a:spcPts val="448"/>
              </a:spcBef>
              <a:spcAft>
                <a:spcPts val="0"/>
              </a:spcAft>
              <a:buNone/>
            </a:pPr>
            <a:r>
              <a:rPr lang="en" sz="2000" b="1" dirty="0">
                <a:solidFill>
                  <a:srgbClr val="1E2761"/>
                </a:solidFill>
                <a:sym typeface="Calibri"/>
              </a:rPr>
              <a:t>Sourangshu Bhattacharya</a:t>
            </a:r>
            <a:endParaRPr sz="2000" b="1" dirty="0">
              <a:solidFill>
                <a:schemeClr val="dk1"/>
              </a:solidFill>
              <a:latin typeface="Calibri"/>
              <a:ea typeface="Calibri"/>
              <a:cs typeface="Calibri"/>
              <a:sym typeface="Calibri"/>
            </a:endParaRPr>
          </a:p>
          <a:p>
            <a:pPr marL="0" lvl="0" indent="0" algn="ctr" rtl="0">
              <a:spcBef>
                <a:spcPts val="448"/>
              </a:spcBef>
              <a:spcAft>
                <a:spcPts val="0"/>
              </a:spcAft>
              <a:buClr>
                <a:schemeClr val="dk1"/>
              </a:buClr>
              <a:buSzPts val="1100"/>
              <a:buFont typeface="Calibri"/>
              <a:buNone/>
            </a:pPr>
            <a:r>
              <a:rPr lang="en" sz="2000" b="1" dirty="0">
                <a:solidFill>
                  <a:srgbClr val="1E2761"/>
                </a:solidFill>
                <a:sym typeface="Calibri"/>
              </a:rPr>
              <a:t>Associate Professor</a:t>
            </a:r>
            <a:endParaRPr sz="2000" b="1" dirty="0">
              <a:solidFill>
                <a:schemeClr val="dk1"/>
              </a:solidFill>
              <a:latin typeface="Calibri"/>
              <a:ea typeface="Calibri"/>
              <a:cs typeface="Calibri"/>
              <a:sym typeface="Calibri"/>
            </a:endParaRPr>
          </a:p>
          <a:p>
            <a:pPr marL="0" lvl="0" indent="0" algn="ctr" rtl="0">
              <a:spcBef>
                <a:spcPts val="448"/>
              </a:spcBef>
              <a:spcAft>
                <a:spcPts val="0"/>
              </a:spcAft>
              <a:buNone/>
            </a:pPr>
            <a:r>
              <a:rPr lang="en" sz="2000" b="1" dirty="0">
                <a:solidFill>
                  <a:srgbClr val="1E2761"/>
                </a:solidFill>
                <a:sym typeface="Calibri"/>
              </a:rPr>
              <a:t>CSE, IIT Kharagpur</a:t>
            </a:r>
            <a:endParaRPr sz="2000" b="1" dirty="0">
              <a:solidFill>
                <a:schemeClr val="dk1"/>
              </a:solidFill>
              <a:latin typeface="Calibri"/>
              <a:ea typeface="Calibri"/>
              <a:cs typeface="Calibri"/>
              <a:sym typeface="Calibri"/>
            </a:endParaRPr>
          </a:p>
        </p:txBody>
      </p:sp>
      <p:pic>
        <p:nvPicPr>
          <p:cNvPr id="63" name="Google Shape;63;p15"/>
          <p:cNvPicPr preferRelativeResize="0"/>
          <p:nvPr/>
        </p:nvPicPr>
        <p:blipFill>
          <a:blip r:embed="rId4">
            <a:alphaModFix/>
          </a:blip>
          <a:stretch>
            <a:fillRect/>
          </a:stretch>
        </p:blipFill>
        <p:spPr>
          <a:xfrm>
            <a:off x="2846650" y="3022600"/>
            <a:ext cx="1106651" cy="1238477"/>
          </a:xfrm>
          <a:prstGeom prst="rect">
            <a:avLst/>
          </a:prstGeom>
          <a:noFill/>
          <a:ln>
            <a:noFill/>
          </a:ln>
        </p:spPr>
      </p:pic>
      <p:pic>
        <p:nvPicPr>
          <p:cNvPr id="64" name="Google Shape;64;p15"/>
          <p:cNvPicPr preferRelativeResize="0"/>
          <p:nvPr/>
        </p:nvPicPr>
        <p:blipFill rotWithShape="1">
          <a:blip r:embed="rId5">
            <a:alphaModFix/>
          </a:blip>
          <a:srcRect l="22319" r="21419" b="5553"/>
          <a:stretch/>
        </p:blipFill>
        <p:spPr>
          <a:xfrm>
            <a:off x="5266350" y="3065963"/>
            <a:ext cx="1031000" cy="11517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A3615-3B71-775C-D760-8095F51556E8}"/>
              </a:ext>
            </a:extLst>
          </p:cNvPr>
          <p:cNvSpPr>
            <a:spLocks noGrp="1"/>
          </p:cNvSpPr>
          <p:nvPr>
            <p:ph type="title"/>
          </p:nvPr>
        </p:nvSpPr>
        <p:spPr/>
        <p:txBody>
          <a:bodyPr>
            <a:normAutofit fontScale="90000"/>
          </a:bodyPr>
          <a:lstStyle/>
          <a:p>
            <a:r>
              <a:rPr lang="en-IN" b="1" dirty="0">
                <a:sym typeface="Calibri"/>
              </a:rPr>
              <a:t>What We'll Cover</a:t>
            </a:r>
            <a:endParaRPr lang="en-US" dirty="0"/>
          </a:p>
        </p:txBody>
      </p:sp>
      <p:sp>
        <p:nvSpPr>
          <p:cNvPr id="3" name="Text Placeholder 2">
            <a:extLst>
              <a:ext uri="{FF2B5EF4-FFF2-40B4-BE49-F238E27FC236}">
                <a16:creationId xmlns:a16="http://schemas.microsoft.com/office/drawing/2014/main" id="{538E03F9-5E5D-CE98-2936-5D1194BF651C}"/>
              </a:ext>
            </a:extLst>
          </p:cNvPr>
          <p:cNvSpPr>
            <a:spLocks noGrp="1"/>
          </p:cNvSpPr>
          <p:nvPr>
            <p:ph type="body" idx="1"/>
          </p:nvPr>
        </p:nvSpPr>
        <p:spPr/>
        <p:txBody>
          <a:bodyPr>
            <a:normAutofit lnSpcReduction="10000"/>
          </a:bodyPr>
          <a:lstStyle/>
          <a:p>
            <a:r>
              <a:rPr lang="en-US" dirty="0">
                <a:solidFill>
                  <a:srgbClr val="1A1F36"/>
                </a:solidFill>
                <a:latin typeface="Calibri"/>
              </a:rPr>
              <a:t>Prompting and APIs</a:t>
            </a:r>
          </a:p>
          <a:p>
            <a:pPr lvl="1"/>
            <a:r>
              <a:rPr lang="en-US" dirty="0" err="1">
                <a:solidFill>
                  <a:srgbClr val="1A1F36"/>
                </a:solidFill>
                <a:latin typeface="Calibri"/>
              </a:rPr>
              <a:t>HuggingFace</a:t>
            </a:r>
            <a:r>
              <a:rPr lang="en-US" dirty="0">
                <a:solidFill>
                  <a:srgbClr val="1A1F36"/>
                </a:solidFill>
                <a:latin typeface="Calibri"/>
              </a:rPr>
              <a:t> Inference API</a:t>
            </a:r>
          </a:p>
          <a:p>
            <a:pPr lvl="1"/>
            <a:r>
              <a:rPr lang="en-US" dirty="0">
                <a:solidFill>
                  <a:srgbClr val="1A1F36"/>
                </a:solidFill>
                <a:latin typeface="Calibri"/>
              </a:rPr>
              <a:t>Local hosting</a:t>
            </a:r>
          </a:p>
          <a:p>
            <a:pPr lvl="1"/>
            <a:r>
              <a:rPr lang="en-US" dirty="0">
                <a:solidFill>
                  <a:srgbClr val="1A1F36"/>
                </a:solidFill>
                <a:latin typeface="Calibri"/>
              </a:rPr>
              <a:t>Free-hosted models</a:t>
            </a:r>
          </a:p>
          <a:p>
            <a:r>
              <a:rPr lang="en-US" dirty="0">
                <a:solidFill>
                  <a:srgbClr val="1A1F36"/>
                </a:solidFill>
                <a:latin typeface="Calibri"/>
              </a:rPr>
              <a:t>Applications</a:t>
            </a:r>
          </a:p>
          <a:p>
            <a:pPr lvl="1"/>
            <a:r>
              <a:rPr lang="en-US" dirty="0">
                <a:solidFill>
                  <a:srgbClr val="1A1F36"/>
                </a:solidFill>
              </a:rPr>
              <a:t>Question Answering</a:t>
            </a:r>
          </a:p>
          <a:p>
            <a:pPr lvl="1"/>
            <a:r>
              <a:rPr lang="en-US" dirty="0">
                <a:solidFill>
                  <a:srgbClr val="1A1F36"/>
                </a:solidFill>
                <a:latin typeface="Calibri"/>
              </a:rPr>
              <a:t>Text summarization, code generation</a:t>
            </a:r>
          </a:p>
          <a:p>
            <a:pPr lvl="1"/>
            <a:r>
              <a:rPr lang="en-US" dirty="0">
                <a:solidFill>
                  <a:srgbClr val="1A1F36"/>
                </a:solidFill>
                <a:latin typeface="Calibri"/>
              </a:rPr>
              <a:t>Classification, reasoning</a:t>
            </a:r>
          </a:p>
          <a:p>
            <a:pPr marL="596900" lvl="1" indent="0">
              <a:buNone/>
            </a:pPr>
            <a:endParaRPr lang="en-US" dirty="0"/>
          </a:p>
          <a:p>
            <a:r>
              <a:rPr lang="en-US" dirty="0"/>
              <a:t>Tool Calling and Structured Outputs</a:t>
            </a:r>
          </a:p>
          <a:p>
            <a:pPr lvl="1"/>
            <a:r>
              <a:rPr lang="en-US" dirty="0"/>
              <a:t>Tool calling</a:t>
            </a:r>
          </a:p>
          <a:p>
            <a:pPr lvl="1"/>
            <a:r>
              <a:rPr lang="en-US" dirty="0"/>
              <a:t>Output Validation</a:t>
            </a:r>
          </a:p>
          <a:p>
            <a:pPr lvl="1"/>
            <a:r>
              <a:rPr lang="en-US" dirty="0"/>
              <a:t>Constrained Decoding</a:t>
            </a:r>
          </a:p>
        </p:txBody>
      </p:sp>
      <p:pic>
        <p:nvPicPr>
          <p:cNvPr id="4" name="Google Shape;328;p29">
            <a:extLst>
              <a:ext uri="{FF2B5EF4-FFF2-40B4-BE49-F238E27FC236}">
                <a16:creationId xmlns:a16="http://schemas.microsoft.com/office/drawing/2014/main" id="{93ECC6F2-CC57-97BD-91B2-E703762D7BA5}"/>
              </a:ext>
            </a:extLst>
          </p:cNvPr>
          <p:cNvPicPr preferRelativeResize="0"/>
          <p:nvPr/>
        </p:nvPicPr>
        <p:blipFill>
          <a:blip r:embed="rId2">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23184426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016515F6-02A3-1A98-155B-39377265BFF2}"/>
            </a:ext>
          </a:extLst>
        </p:cNvPr>
        <p:cNvGrpSpPr/>
        <p:nvPr/>
      </p:nvGrpSpPr>
      <p:grpSpPr>
        <a:xfrm>
          <a:off x="0" y="0"/>
          <a:ext cx="0" cy="0"/>
          <a:chOff x="0" y="0"/>
          <a:chExt cx="0" cy="0"/>
        </a:xfrm>
      </p:grpSpPr>
      <p:pic>
        <p:nvPicPr>
          <p:cNvPr id="109" name="Google Shape;109;p20">
            <a:extLst>
              <a:ext uri="{FF2B5EF4-FFF2-40B4-BE49-F238E27FC236}">
                <a16:creationId xmlns:a16="http://schemas.microsoft.com/office/drawing/2014/main" id="{9C5643CC-EC83-07C4-C194-D5C9BCACF169}"/>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
        <p:nvSpPr>
          <p:cNvPr id="110" name="Google Shape;110;p20">
            <a:extLst>
              <a:ext uri="{FF2B5EF4-FFF2-40B4-BE49-F238E27FC236}">
                <a16:creationId xmlns:a16="http://schemas.microsoft.com/office/drawing/2014/main" id="{3A96A375-7E05-937E-164F-755C0A102560}"/>
              </a:ext>
            </a:extLst>
          </p:cNvPr>
          <p:cNvSpPr txBox="1">
            <a:spLocks noGrp="1"/>
          </p:cNvSpPr>
          <p:nvPr>
            <p:ph type="ctrTitle" idx="4294967295"/>
          </p:nvPr>
        </p:nvSpPr>
        <p:spPr>
          <a:xfrm>
            <a:off x="418813" y="1507259"/>
            <a:ext cx="7772400" cy="8673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C00000"/>
              </a:buClr>
              <a:buSzPts val="4400"/>
              <a:buFont typeface="Calibri"/>
              <a:buNone/>
            </a:pPr>
            <a:r>
              <a:rPr lang="en" sz="4000" b="1" dirty="0">
                <a:sym typeface="Calibri"/>
              </a:rPr>
              <a:t>Prompting APIs </a:t>
            </a:r>
            <a:endParaRPr sz="4000" dirty="0">
              <a:latin typeface="Calibri"/>
              <a:ea typeface="Calibri"/>
              <a:cs typeface="Calibri"/>
              <a:sym typeface="Calibri"/>
            </a:endParaRPr>
          </a:p>
        </p:txBody>
      </p:sp>
      <p:sp>
        <p:nvSpPr>
          <p:cNvPr id="3" name="TextBox 2">
            <a:extLst>
              <a:ext uri="{FF2B5EF4-FFF2-40B4-BE49-F238E27FC236}">
                <a16:creationId xmlns:a16="http://schemas.microsoft.com/office/drawing/2014/main" id="{D090F965-D7BA-2583-71E2-5700B2C6E5B8}"/>
              </a:ext>
            </a:extLst>
          </p:cNvPr>
          <p:cNvSpPr txBox="1"/>
          <p:nvPr/>
        </p:nvSpPr>
        <p:spPr>
          <a:xfrm>
            <a:off x="2786932" y="2768942"/>
            <a:ext cx="3570135" cy="400110"/>
          </a:xfrm>
          <a:prstGeom prst="rect">
            <a:avLst/>
          </a:prstGeom>
          <a:noFill/>
        </p:spPr>
        <p:txBody>
          <a:bodyPr wrap="square" rtlCol="0">
            <a:spAutoFit/>
          </a:bodyPr>
          <a:lstStyle/>
          <a:p>
            <a:r>
              <a:rPr lang="en-US" sz="2000" dirty="0" err="1">
                <a:solidFill>
                  <a:srgbClr val="1A1F36"/>
                </a:solidFill>
                <a:latin typeface="Calibri"/>
              </a:rPr>
              <a:t>HuggingFace</a:t>
            </a:r>
            <a:r>
              <a:rPr lang="en-US" sz="2000" dirty="0">
                <a:solidFill>
                  <a:srgbClr val="1A1F36"/>
                </a:solidFill>
                <a:latin typeface="Calibri"/>
              </a:rPr>
              <a:t> API</a:t>
            </a:r>
          </a:p>
        </p:txBody>
      </p:sp>
    </p:spTree>
    <p:extLst>
      <p:ext uri="{BB962C8B-B14F-4D97-AF65-F5344CB8AC3E}">
        <p14:creationId xmlns:p14="http://schemas.microsoft.com/office/powerpoint/2010/main" val="3018877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3" name="Google Shape;233;p25"/>
          <p:cNvSpPr/>
          <p:nvPr/>
        </p:nvSpPr>
        <p:spPr>
          <a:xfrm>
            <a:off x="0" y="502920"/>
            <a:ext cx="9144000" cy="36600"/>
          </a:xfrm>
          <a:prstGeom prst="rect">
            <a:avLst/>
          </a:prstGeom>
          <a:solidFill>
            <a:srgbClr val="FFFFFF"/>
          </a:solidFill>
          <a:ln w="127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34" name="Google Shape;234;p25" descr="preencoded.png"/>
          <p:cNvPicPr preferRelativeResize="0"/>
          <p:nvPr/>
        </p:nvPicPr>
        <p:blipFill rotWithShape="1">
          <a:blip r:embed="rId3">
            <a:alphaModFix/>
          </a:blip>
          <a:srcRect/>
          <a:stretch/>
        </p:blipFill>
        <p:spPr>
          <a:xfrm>
            <a:off x="274320" y="64008"/>
            <a:ext cx="365760" cy="365760"/>
          </a:xfrm>
          <a:prstGeom prst="rect">
            <a:avLst/>
          </a:prstGeom>
          <a:noFill/>
          <a:ln>
            <a:noFill/>
          </a:ln>
        </p:spPr>
      </p:pic>
      <p:sp>
        <p:nvSpPr>
          <p:cNvPr id="235" name="Google Shape;235;p25"/>
          <p:cNvSpPr/>
          <p:nvPr/>
        </p:nvSpPr>
        <p:spPr>
          <a:xfrm>
            <a:off x="777240" y="45720"/>
            <a:ext cx="7315200" cy="438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000"/>
              <a:buFont typeface="Calibri"/>
              <a:buNone/>
            </a:pPr>
            <a:r>
              <a:rPr lang="en" sz="2300" b="1" dirty="0">
                <a:solidFill>
                  <a:srgbClr val="1E2761"/>
                </a:solidFill>
                <a:sym typeface="Calibri"/>
              </a:rPr>
              <a:t>Recall: Basic Chat Completion (</a:t>
            </a:r>
            <a:r>
              <a:rPr lang="en" sz="2000" b="1" dirty="0">
                <a:solidFill>
                  <a:srgbClr val="1A1F36"/>
                </a:solidFill>
                <a:sym typeface="Calibri"/>
              </a:rPr>
              <a:t>OpenAI API)</a:t>
            </a:r>
            <a:endParaRPr sz="2000" dirty="0">
              <a:solidFill>
                <a:schemeClr val="tx1"/>
              </a:solidFill>
              <a:latin typeface="Calibri"/>
              <a:ea typeface="Calibri"/>
              <a:cs typeface="Calibri"/>
              <a:sym typeface="Calibri"/>
            </a:endParaRPr>
          </a:p>
        </p:txBody>
      </p:sp>
      <p:sp>
        <p:nvSpPr>
          <p:cNvPr id="236" name="Google Shape;236;p25"/>
          <p:cNvSpPr/>
          <p:nvPr/>
        </p:nvSpPr>
        <p:spPr>
          <a:xfrm>
            <a:off x="274315" y="1124693"/>
            <a:ext cx="3931800" cy="201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900"/>
              <a:buFont typeface="Calibri"/>
              <a:buNone/>
            </a:pPr>
            <a:r>
              <a:rPr lang="en" sz="1800" b="1">
                <a:solidFill>
                  <a:srgbClr val="1A1F36"/>
                </a:solidFill>
                <a:sym typeface="Calibri"/>
              </a:rPr>
              <a:t>Basic Chat Completion</a:t>
            </a:r>
            <a:endParaRPr sz="1800">
              <a:solidFill>
                <a:schemeClr val="dk1"/>
              </a:solidFill>
              <a:latin typeface="Calibri"/>
              <a:ea typeface="Calibri"/>
              <a:cs typeface="Calibri"/>
              <a:sym typeface="Calibri"/>
            </a:endParaRPr>
          </a:p>
        </p:txBody>
      </p:sp>
      <p:sp>
        <p:nvSpPr>
          <p:cNvPr id="237" name="Google Shape;237;p25"/>
          <p:cNvSpPr/>
          <p:nvPr/>
        </p:nvSpPr>
        <p:spPr>
          <a:xfrm>
            <a:off x="25070" y="1679973"/>
            <a:ext cx="5718900" cy="3214500"/>
          </a:xfrm>
          <a:prstGeom prst="rect">
            <a:avLst/>
          </a:prstGeom>
          <a:solidFill>
            <a:srgbClr val="0F172A"/>
          </a:solidFill>
          <a:ln w="12700" cap="flat" cmpd="sng">
            <a:solidFill>
              <a:srgbClr val="1E3A5F"/>
            </a:solidFill>
            <a:prstDash val="solid"/>
            <a:round/>
            <a:headEnd type="none" w="sm" len="sm"/>
            <a:tailEnd type="none" w="sm" len="sm"/>
          </a:ln>
          <a:effectLst>
            <a:outerShdw blurRad="76200" dist="25400" dir="8100000" algn="bl" rotWithShape="0">
              <a:srgbClr val="94A3B8">
                <a:alpha val="149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25"/>
          <p:cNvSpPr/>
          <p:nvPr/>
        </p:nvSpPr>
        <p:spPr>
          <a:xfrm>
            <a:off x="566550" y="1598226"/>
            <a:ext cx="5595600" cy="314382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7DD3FC"/>
              </a:buClr>
              <a:buSzPts val="850"/>
              <a:buFont typeface="Consolas"/>
              <a:buNone/>
            </a:pPr>
            <a:endParaRPr sz="1200" dirty="0">
              <a:solidFill>
                <a:srgbClr val="7DD3FC"/>
              </a:solidFill>
              <a:latin typeface="Andale Mono" panose="020B0509000000000004" pitchFamily="49" charset="0"/>
              <a:ea typeface="Consolas"/>
              <a:cs typeface="Consolas"/>
              <a:sym typeface="Consolas"/>
            </a:endParaRPr>
          </a:p>
          <a:p>
            <a:pPr marL="0" marR="0" lvl="0" indent="0" algn="l" rtl="0">
              <a:spcBef>
                <a:spcPts val="0"/>
              </a:spcBef>
              <a:spcAft>
                <a:spcPts val="0"/>
              </a:spcAft>
              <a:buClr>
                <a:srgbClr val="7DD3FC"/>
              </a:buClr>
              <a:buSzPts val="850"/>
              <a:buFont typeface="Consolas"/>
              <a:buNone/>
            </a:pPr>
            <a:endParaRPr sz="1200" dirty="0">
              <a:solidFill>
                <a:srgbClr val="7DD3FC"/>
              </a:solidFill>
              <a:latin typeface="Andale Mono" panose="020B0509000000000004" pitchFamily="49" charset="0"/>
              <a:ea typeface="Consolas"/>
              <a:cs typeface="Consolas"/>
              <a:sym typeface="Consolas"/>
            </a:endParaRPr>
          </a:p>
          <a:p>
            <a:pPr marL="0" marR="0" lvl="0" indent="0" algn="l" rtl="0">
              <a:spcBef>
                <a:spcPts val="0"/>
              </a:spcBef>
              <a:spcAft>
                <a:spcPts val="0"/>
              </a:spcAft>
              <a:buClr>
                <a:srgbClr val="7DD3FC"/>
              </a:buClr>
              <a:buSzPts val="850"/>
              <a:buFont typeface="Consolas"/>
              <a:buNone/>
            </a:pPr>
            <a:r>
              <a:rPr lang="en" sz="1200" dirty="0">
                <a:solidFill>
                  <a:srgbClr val="7DD3FC"/>
                </a:solidFill>
                <a:latin typeface="Andale Mono" panose="020B0509000000000004" pitchFamily="49" charset="0"/>
                <a:sym typeface="Consolas"/>
              </a:rPr>
              <a:t>from</a:t>
            </a:r>
            <a:r>
              <a:rPr lang="en" sz="1200" dirty="0">
                <a:solidFill>
                  <a:srgbClr val="E2E8F0"/>
                </a:solidFill>
                <a:latin typeface="Andale Mono" panose="020B0509000000000004" pitchFamily="49" charset="0"/>
                <a:sym typeface="Consolas"/>
              </a:rPr>
              <a:t> </a:t>
            </a:r>
            <a:r>
              <a:rPr lang="en" sz="1200" dirty="0" err="1">
                <a:solidFill>
                  <a:srgbClr val="E2E8F0"/>
                </a:solidFill>
                <a:latin typeface="Andale Mono" panose="020B0509000000000004" pitchFamily="49" charset="0"/>
                <a:sym typeface="Consolas"/>
              </a:rPr>
              <a:t>openai</a:t>
            </a:r>
            <a:r>
              <a:rPr lang="en" sz="1200" dirty="0">
                <a:solidFill>
                  <a:srgbClr val="E2E8F0"/>
                </a:solidFill>
                <a:latin typeface="Andale Mono" panose="020B0509000000000004" pitchFamily="49" charset="0"/>
                <a:sym typeface="Consolas"/>
              </a:rPr>
              <a:t> </a:t>
            </a:r>
            <a:r>
              <a:rPr lang="en" sz="1200" dirty="0">
                <a:solidFill>
                  <a:srgbClr val="7DD3FC"/>
                </a:solidFill>
                <a:latin typeface="Andale Mono" panose="020B0509000000000004" pitchFamily="49" charset="0"/>
                <a:sym typeface="Consolas"/>
              </a:rPr>
              <a:t>import</a:t>
            </a:r>
            <a:r>
              <a:rPr lang="en" sz="1200" dirty="0">
                <a:solidFill>
                  <a:srgbClr val="E2E8F0"/>
                </a:solidFill>
                <a:latin typeface="Andale Mono" panose="020B0509000000000004" pitchFamily="49" charset="0"/>
                <a:sym typeface="Consolas"/>
              </a:rPr>
              <a:t> OpenAI</a:t>
            </a:r>
            <a:endParaRPr sz="1200" dirty="0">
              <a:solidFill>
                <a:schemeClr val="dk1"/>
              </a:solidFill>
              <a:latin typeface="Andale Mono" panose="020B0509000000000004" pitchFamily="49" charset="0"/>
              <a:ea typeface="Calibri"/>
              <a:cs typeface="Calibri"/>
              <a:sym typeface="Calibri"/>
            </a:endParaRPr>
          </a:p>
          <a:p>
            <a:pPr marL="0" marR="0" lvl="0" indent="0" algn="l" rtl="0">
              <a:spcBef>
                <a:spcPts val="0"/>
              </a:spcBef>
              <a:spcAft>
                <a:spcPts val="0"/>
              </a:spcAft>
              <a:buClr>
                <a:srgbClr val="E2E8F0"/>
              </a:buClr>
              <a:buSzPts val="850"/>
              <a:buFont typeface="Consolas"/>
              <a:buNone/>
            </a:pPr>
            <a:r>
              <a:rPr lang="en" sz="1200" dirty="0">
                <a:solidFill>
                  <a:srgbClr val="E2E8F0"/>
                </a:solidFill>
                <a:latin typeface="Andale Mono" panose="020B0509000000000004" pitchFamily="49" charset="0"/>
                <a:sym typeface="Consolas"/>
              </a:rPr>
              <a:t>client = OpenAI()  # reads OPENAI_API_KEY</a:t>
            </a:r>
            <a:endParaRPr sz="1200" dirty="0">
              <a:solidFill>
                <a:schemeClr val="dk1"/>
              </a:solidFill>
              <a:latin typeface="Andale Mono" panose="020B0509000000000004" pitchFamily="49" charset="0"/>
              <a:ea typeface="Calibri"/>
              <a:cs typeface="Calibri"/>
              <a:sym typeface="Calibri"/>
            </a:endParaRPr>
          </a:p>
          <a:p>
            <a:pPr marL="0" marR="0" lvl="0" indent="0" algn="l" rtl="0">
              <a:spcBef>
                <a:spcPts val="0"/>
              </a:spcBef>
              <a:spcAft>
                <a:spcPts val="0"/>
              </a:spcAft>
              <a:buClr>
                <a:schemeClr val="dk1"/>
              </a:buClr>
              <a:buSzPts val="850"/>
              <a:buFont typeface="Calibri"/>
              <a:buNone/>
            </a:pPr>
            <a:endParaRPr sz="1200" dirty="0">
              <a:solidFill>
                <a:schemeClr val="dk1"/>
              </a:solidFill>
              <a:latin typeface="Andale Mono" panose="020B0509000000000004" pitchFamily="49" charset="0"/>
              <a:ea typeface="Calibri"/>
              <a:cs typeface="Calibri"/>
              <a:sym typeface="Calibri"/>
            </a:endParaRPr>
          </a:p>
          <a:p>
            <a:pPr marL="0" marR="0" lvl="0" indent="0" algn="l" rtl="0">
              <a:spcBef>
                <a:spcPts val="0"/>
              </a:spcBef>
              <a:spcAft>
                <a:spcPts val="0"/>
              </a:spcAft>
              <a:buClr>
                <a:srgbClr val="E2E8F0"/>
              </a:buClr>
              <a:buSzPts val="850"/>
              <a:buFont typeface="Consolas"/>
              <a:buNone/>
            </a:pPr>
            <a:r>
              <a:rPr lang="en" sz="1200" dirty="0">
                <a:solidFill>
                  <a:srgbClr val="E2E8F0"/>
                </a:solidFill>
                <a:latin typeface="Andale Mono" panose="020B0509000000000004" pitchFamily="49" charset="0"/>
                <a:sym typeface="Consolas"/>
              </a:rPr>
              <a:t>response = </a:t>
            </a:r>
            <a:r>
              <a:rPr lang="en" sz="1200" dirty="0" err="1">
                <a:solidFill>
                  <a:srgbClr val="E2E8F0"/>
                </a:solidFill>
                <a:latin typeface="Andale Mono" panose="020B0509000000000004" pitchFamily="49" charset="0"/>
                <a:sym typeface="Consolas"/>
              </a:rPr>
              <a:t>client.chat.completions.create</a:t>
            </a:r>
            <a:r>
              <a:rPr lang="en" sz="1200" dirty="0">
                <a:solidFill>
                  <a:srgbClr val="E2E8F0"/>
                </a:solidFill>
                <a:latin typeface="Andale Mono" panose="020B0509000000000004" pitchFamily="49" charset="0"/>
                <a:sym typeface="Consolas"/>
              </a:rPr>
              <a:t>(</a:t>
            </a:r>
            <a:endParaRPr sz="1200" dirty="0">
              <a:solidFill>
                <a:schemeClr val="dk1"/>
              </a:solidFill>
              <a:latin typeface="Andale Mono" panose="020B0509000000000004" pitchFamily="49" charset="0"/>
              <a:ea typeface="Calibri"/>
              <a:cs typeface="Calibri"/>
              <a:sym typeface="Calibri"/>
            </a:endParaRPr>
          </a:p>
          <a:p>
            <a:pPr marL="0" marR="0" lvl="0" indent="0" algn="l" rtl="0">
              <a:spcBef>
                <a:spcPts val="0"/>
              </a:spcBef>
              <a:spcAft>
                <a:spcPts val="0"/>
              </a:spcAft>
              <a:buClr>
                <a:srgbClr val="E2E8F0"/>
              </a:buClr>
              <a:buSzPts val="850"/>
              <a:buFont typeface="Consolas"/>
              <a:buNone/>
            </a:pPr>
            <a:r>
              <a:rPr lang="en" sz="1200" dirty="0">
                <a:solidFill>
                  <a:srgbClr val="E2E8F0"/>
                </a:solidFill>
                <a:latin typeface="Andale Mono" panose="020B0509000000000004" pitchFamily="49" charset="0"/>
                <a:sym typeface="Consolas"/>
              </a:rPr>
              <a:t>  </a:t>
            </a:r>
            <a:r>
              <a:rPr lang="en" sz="1200" dirty="0">
                <a:solidFill>
                  <a:srgbClr val="7DD3FC"/>
                </a:solidFill>
                <a:latin typeface="Andale Mono" panose="020B0509000000000004" pitchFamily="49" charset="0"/>
                <a:sym typeface="Consolas"/>
              </a:rPr>
              <a:t>model</a:t>
            </a:r>
            <a:r>
              <a:rPr lang="en" sz="1200" dirty="0">
                <a:solidFill>
                  <a:srgbClr val="E2E8F0"/>
                </a:solidFill>
                <a:latin typeface="Andale Mono" panose="020B0509000000000004" pitchFamily="49" charset="0"/>
                <a:sym typeface="Consolas"/>
              </a:rPr>
              <a:t>=</a:t>
            </a:r>
            <a:r>
              <a:rPr lang="en" sz="1200" dirty="0">
                <a:solidFill>
                  <a:srgbClr val="86EFAC"/>
                </a:solidFill>
                <a:latin typeface="Andale Mono" panose="020B0509000000000004" pitchFamily="49" charset="0"/>
                <a:sym typeface="Consolas"/>
              </a:rPr>
              <a:t>"gpt-4o-mini"</a:t>
            </a:r>
            <a:r>
              <a:rPr lang="en" sz="1200" dirty="0">
                <a:solidFill>
                  <a:srgbClr val="E2E8F0"/>
                </a:solidFill>
                <a:latin typeface="Andale Mono" panose="020B0509000000000004" pitchFamily="49" charset="0"/>
                <a:sym typeface="Consolas"/>
              </a:rPr>
              <a:t>,</a:t>
            </a:r>
            <a:endParaRPr sz="1200" dirty="0">
              <a:solidFill>
                <a:schemeClr val="dk1"/>
              </a:solidFill>
              <a:latin typeface="Andale Mono" panose="020B0509000000000004" pitchFamily="49" charset="0"/>
              <a:ea typeface="Calibri"/>
              <a:cs typeface="Calibri"/>
              <a:sym typeface="Calibri"/>
            </a:endParaRPr>
          </a:p>
          <a:p>
            <a:pPr marL="0" marR="0" lvl="0" indent="0" algn="l" rtl="0">
              <a:spcBef>
                <a:spcPts val="0"/>
              </a:spcBef>
              <a:spcAft>
                <a:spcPts val="0"/>
              </a:spcAft>
              <a:buClr>
                <a:srgbClr val="E2E8F0"/>
              </a:buClr>
              <a:buSzPts val="850"/>
              <a:buFont typeface="Consolas"/>
              <a:buNone/>
            </a:pPr>
            <a:r>
              <a:rPr lang="en" sz="1200" dirty="0">
                <a:solidFill>
                  <a:srgbClr val="E2E8F0"/>
                </a:solidFill>
                <a:latin typeface="Andale Mono" panose="020B0509000000000004" pitchFamily="49" charset="0"/>
                <a:sym typeface="Consolas"/>
              </a:rPr>
              <a:t>  </a:t>
            </a:r>
            <a:r>
              <a:rPr lang="en" sz="1200" dirty="0">
                <a:solidFill>
                  <a:srgbClr val="7DD3FC"/>
                </a:solidFill>
                <a:latin typeface="Andale Mono" panose="020B0509000000000004" pitchFamily="49" charset="0"/>
                <a:sym typeface="Consolas"/>
              </a:rPr>
              <a:t>messages</a:t>
            </a:r>
            <a:r>
              <a:rPr lang="en" sz="1200" dirty="0">
                <a:solidFill>
                  <a:srgbClr val="E2E8F0"/>
                </a:solidFill>
                <a:latin typeface="Andale Mono" panose="020B0509000000000004" pitchFamily="49" charset="0"/>
                <a:sym typeface="Consolas"/>
              </a:rPr>
              <a:t>=[</a:t>
            </a:r>
            <a:endParaRPr sz="1200" dirty="0">
              <a:solidFill>
                <a:schemeClr val="dk1"/>
              </a:solidFill>
              <a:latin typeface="Andale Mono" panose="020B0509000000000004" pitchFamily="49" charset="0"/>
              <a:ea typeface="Calibri"/>
              <a:cs typeface="Calibri"/>
              <a:sym typeface="Calibri"/>
            </a:endParaRPr>
          </a:p>
          <a:p>
            <a:pPr marL="0" marR="0" lvl="0" indent="0" algn="l" rtl="0">
              <a:spcBef>
                <a:spcPts val="0"/>
              </a:spcBef>
              <a:spcAft>
                <a:spcPts val="0"/>
              </a:spcAft>
              <a:buClr>
                <a:srgbClr val="E2E8F0"/>
              </a:buClr>
              <a:buSzPts val="850"/>
              <a:buFont typeface="Consolas"/>
              <a:buNone/>
            </a:pPr>
            <a:r>
              <a:rPr lang="en" sz="1200" dirty="0">
                <a:solidFill>
                  <a:srgbClr val="E2E8F0"/>
                </a:solidFill>
                <a:latin typeface="Andale Mono" panose="020B0509000000000004" pitchFamily="49" charset="0"/>
                <a:sym typeface="Consolas"/>
              </a:rPr>
              <a:t>    {</a:t>
            </a:r>
            <a:r>
              <a:rPr lang="en" sz="1200" dirty="0">
                <a:solidFill>
                  <a:srgbClr val="86EFAC"/>
                </a:solidFill>
                <a:latin typeface="Andale Mono" panose="020B0509000000000004" pitchFamily="49" charset="0"/>
                <a:sym typeface="Consolas"/>
              </a:rPr>
              <a:t>"role"</a:t>
            </a:r>
            <a:r>
              <a:rPr lang="en" sz="1200" dirty="0">
                <a:solidFill>
                  <a:srgbClr val="E2E8F0"/>
                </a:solidFill>
                <a:latin typeface="Andale Mono" panose="020B0509000000000004" pitchFamily="49" charset="0"/>
                <a:sym typeface="Consolas"/>
              </a:rPr>
              <a:t>: </a:t>
            </a:r>
            <a:r>
              <a:rPr lang="en" sz="1200" dirty="0">
                <a:solidFill>
                  <a:srgbClr val="86EFAC"/>
                </a:solidFill>
                <a:latin typeface="Andale Mono" panose="020B0509000000000004" pitchFamily="49" charset="0"/>
                <a:sym typeface="Consolas"/>
              </a:rPr>
              <a:t>"system"</a:t>
            </a:r>
            <a:r>
              <a:rPr lang="en" sz="1200" dirty="0">
                <a:solidFill>
                  <a:srgbClr val="E2E8F0"/>
                </a:solidFill>
                <a:latin typeface="Andale Mono" panose="020B0509000000000004" pitchFamily="49" charset="0"/>
                <a:sym typeface="Consolas"/>
              </a:rPr>
              <a:t>,</a:t>
            </a:r>
            <a:endParaRPr sz="1200" dirty="0">
              <a:solidFill>
                <a:schemeClr val="dk1"/>
              </a:solidFill>
              <a:latin typeface="Andale Mono" panose="020B0509000000000004" pitchFamily="49" charset="0"/>
              <a:ea typeface="Calibri"/>
              <a:cs typeface="Calibri"/>
              <a:sym typeface="Calibri"/>
            </a:endParaRPr>
          </a:p>
          <a:p>
            <a:pPr marL="0" marR="0" lvl="0" indent="0" algn="l" rtl="0">
              <a:spcBef>
                <a:spcPts val="0"/>
              </a:spcBef>
              <a:spcAft>
                <a:spcPts val="0"/>
              </a:spcAft>
              <a:buClr>
                <a:srgbClr val="E2E8F0"/>
              </a:buClr>
              <a:buSzPts val="850"/>
              <a:buFont typeface="Consolas"/>
              <a:buNone/>
            </a:pPr>
            <a:r>
              <a:rPr lang="en" sz="1200" dirty="0">
                <a:solidFill>
                  <a:srgbClr val="E2E8F0"/>
                </a:solidFill>
                <a:latin typeface="Andale Mono" panose="020B0509000000000004" pitchFamily="49" charset="0"/>
                <a:sym typeface="Consolas"/>
              </a:rPr>
              <a:t>     </a:t>
            </a:r>
            <a:r>
              <a:rPr lang="en" sz="1200" dirty="0">
                <a:solidFill>
                  <a:srgbClr val="86EFAC"/>
                </a:solidFill>
                <a:latin typeface="Andale Mono" panose="020B0509000000000004" pitchFamily="49" charset="0"/>
                <a:sym typeface="Consolas"/>
              </a:rPr>
              <a:t>"content"</a:t>
            </a:r>
            <a:r>
              <a:rPr lang="en" sz="1200" dirty="0">
                <a:solidFill>
                  <a:srgbClr val="E2E8F0"/>
                </a:solidFill>
                <a:latin typeface="Andale Mono" panose="020B0509000000000004" pitchFamily="49" charset="0"/>
                <a:sym typeface="Consolas"/>
              </a:rPr>
              <a:t>: </a:t>
            </a:r>
            <a:r>
              <a:rPr lang="en" sz="1200" dirty="0">
                <a:solidFill>
                  <a:srgbClr val="86EFAC"/>
                </a:solidFill>
                <a:latin typeface="Andale Mono" panose="020B0509000000000004" pitchFamily="49" charset="0"/>
                <a:sym typeface="Consolas"/>
              </a:rPr>
              <a:t>"You are a helpful assistant."</a:t>
            </a:r>
            <a:r>
              <a:rPr lang="en" sz="1200" dirty="0">
                <a:solidFill>
                  <a:srgbClr val="E2E8F0"/>
                </a:solidFill>
                <a:latin typeface="Andale Mono" panose="020B0509000000000004" pitchFamily="49" charset="0"/>
                <a:sym typeface="Consolas"/>
              </a:rPr>
              <a:t>},</a:t>
            </a:r>
            <a:endParaRPr sz="1200" dirty="0">
              <a:solidFill>
                <a:schemeClr val="dk1"/>
              </a:solidFill>
              <a:latin typeface="Andale Mono" panose="020B0509000000000004" pitchFamily="49" charset="0"/>
              <a:ea typeface="Calibri"/>
              <a:cs typeface="Calibri"/>
              <a:sym typeface="Calibri"/>
            </a:endParaRPr>
          </a:p>
          <a:p>
            <a:pPr marL="0" marR="0" lvl="0" indent="0" algn="l" rtl="0">
              <a:spcBef>
                <a:spcPts val="0"/>
              </a:spcBef>
              <a:spcAft>
                <a:spcPts val="0"/>
              </a:spcAft>
              <a:buClr>
                <a:srgbClr val="E2E8F0"/>
              </a:buClr>
              <a:buSzPts val="850"/>
              <a:buFont typeface="Consolas"/>
              <a:buNone/>
            </a:pPr>
            <a:r>
              <a:rPr lang="en" sz="1200" dirty="0">
                <a:solidFill>
                  <a:srgbClr val="E2E8F0"/>
                </a:solidFill>
                <a:latin typeface="Andale Mono" panose="020B0509000000000004" pitchFamily="49" charset="0"/>
                <a:sym typeface="Consolas"/>
              </a:rPr>
              <a:t>    {</a:t>
            </a:r>
            <a:r>
              <a:rPr lang="en" sz="1200" dirty="0">
                <a:solidFill>
                  <a:srgbClr val="86EFAC"/>
                </a:solidFill>
                <a:latin typeface="Andale Mono" panose="020B0509000000000004" pitchFamily="49" charset="0"/>
                <a:sym typeface="Consolas"/>
              </a:rPr>
              <a:t>"role"</a:t>
            </a:r>
            <a:r>
              <a:rPr lang="en" sz="1200" dirty="0">
                <a:solidFill>
                  <a:srgbClr val="E2E8F0"/>
                </a:solidFill>
                <a:latin typeface="Andale Mono" panose="020B0509000000000004" pitchFamily="49" charset="0"/>
                <a:sym typeface="Consolas"/>
              </a:rPr>
              <a:t>: </a:t>
            </a:r>
            <a:r>
              <a:rPr lang="en" sz="1200" dirty="0">
                <a:solidFill>
                  <a:srgbClr val="86EFAC"/>
                </a:solidFill>
                <a:latin typeface="Andale Mono" panose="020B0509000000000004" pitchFamily="49" charset="0"/>
                <a:sym typeface="Consolas"/>
              </a:rPr>
              <a:t>"user"</a:t>
            </a:r>
            <a:r>
              <a:rPr lang="en" sz="1200" dirty="0">
                <a:solidFill>
                  <a:srgbClr val="E2E8F0"/>
                </a:solidFill>
                <a:latin typeface="Andale Mono" panose="020B0509000000000004" pitchFamily="49" charset="0"/>
                <a:sym typeface="Consolas"/>
              </a:rPr>
              <a:t>,</a:t>
            </a:r>
            <a:endParaRPr sz="1200" dirty="0">
              <a:solidFill>
                <a:schemeClr val="dk1"/>
              </a:solidFill>
              <a:latin typeface="Andale Mono" panose="020B0509000000000004" pitchFamily="49" charset="0"/>
              <a:ea typeface="Calibri"/>
              <a:cs typeface="Calibri"/>
              <a:sym typeface="Calibri"/>
            </a:endParaRPr>
          </a:p>
          <a:p>
            <a:pPr marL="0" marR="0" lvl="0" indent="0" algn="l" rtl="0">
              <a:spcBef>
                <a:spcPts val="0"/>
              </a:spcBef>
              <a:spcAft>
                <a:spcPts val="0"/>
              </a:spcAft>
              <a:buClr>
                <a:srgbClr val="E2E8F0"/>
              </a:buClr>
              <a:buSzPts val="850"/>
              <a:buFont typeface="Consolas"/>
              <a:buNone/>
            </a:pPr>
            <a:r>
              <a:rPr lang="en" sz="1200" dirty="0">
                <a:solidFill>
                  <a:srgbClr val="E2E8F0"/>
                </a:solidFill>
                <a:latin typeface="Andale Mono" panose="020B0509000000000004" pitchFamily="49" charset="0"/>
                <a:sym typeface="Consolas"/>
              </a:rPr>
              <a:t>     </a:t>
            </a:r>
            <a:r>
              <a:rPr lang="en" sz="1200" dirty="0">
                <a:solidFill>
                  <a:srgbClr val="86EFAC"/>
                </a:solidFill>
                <a:latin typeface="Andale Mono" panose="020B0509000000000004" pitchFamily="49" charset="0"/>
                <a:sym typeface="Consolas"/>
              </a:rPr>
              <a:t>"content"</a:t>
            </a:r>
            <a:r>
              <a:rPr lang="en" sz="1200" dirty="0">
                <a:solidFill>
                  <a:srgbClr val="E2E8F0"/>
                </a:solidFill>
                <a:latin typeface="Andale Mono" panose="020B0509000000000004" pitchFamily="49" charset="0"/>
                <a:sym typeface="Consolas"/>
              </a:rPr>
              <a:t>: </a:t>
            </a:r>
            <a:r>
              <a:rPr lang="en" sz="1200" dirty="0">
                <a:solidFill>
                  <a:srgbClr val="86EFAC"/>
                </a:solidFill>
                <a:latin typeface="Andale Mono" panose="020B0509000000000004" pitchFamily="49" charset="0"/>
                <a:sym typeface="Consolas"/>
              </a:rPr>
              <a:t>"Explain RAG in one sentence."</a:t>
            </a:r>
            <a:r>
              <a:rPr lang="en" sz="1200" dirty="0">
                <a:solidFill>
                  <a:srgbClr val="E2E8F0"/>
                </a:solidFill>
                <a:latin typeface="Andale Mono" panose="020B0509000000000004" pitchFamily="49" charset="0"/>
                <a:sym typeface="Consolas"/>
              </a:rPr>
              <a:t>}</a:t>
            </a:r>
            <a:endParaRPr sz="1200" dirty="0">
              <a:solidFill>
                <a:schemeClr val="dk1"/>
              </a:solidFill>
              <a:latin typeface="Andale Mono" panose="020B0509000000000004" pitchFamily="49" charset="0"/>
              <a:ea typeface="Calibri"/>
              <a:cs typeface="Calibri"/>
              <a:sym typeface="Calibri"/>
            </a:endParaRPr>
          </a:p>
          <a:p>
            <a:pPr marL="0" marR="0" lvl="0" indent="0" algn="l" rtl="0">
              <a:spcBef>
                <a:spcPts val="0"/>
              </a:spcBef>
              <a:spcAft>
                <a:spcPts val="0"/>
              </a:spcAft>
              <a:buClr>
                <a:srgbClr val="E2E8F0"/>
              </a:buClr>
              <a:buSzPts val="850"/>
              <a:buFont typeface="Consolas"/>
              <a:buNone/>
            </a:pPr>
            <a:r>
              <a:rPr lang="en" sz="1200" dirty="0">
                <a:solidFill>
                  <a:srgbClr val="E2E8F0"/>
                </a:solidFill>
                <a:latin typeface="Andale Mono" panose="020B0509000000000004" pitchFamily="49" charset="0"/>
                <a:sym typeface="Consolas"/>
              </a:rPr>
              <a:t>  ],</a:t>
            </a:r>
            <a:endParaRPr sz="1200" dirty="0">
              <a:solidFill>
                <a:schemeClr val="dk1"/>
              </a:solidFill>
              <a:latin typeface="Andale Mono" panose="020B0509000000000004" pitchFamily="49" charset="0"/>
              <a:ea typeface="Calibri"/>
              <a:cs typeface="Calibri"/>
              <a:sym typeface="Calibri"/>
            </a:endParaRPr>
          </a:p>
          <a:p>
            <a:pPr marL="0" marR="0" lvl="0" indent="0" algn="l" rtl="0">
              <a:spcBef>
                <a:spcPts val="0"/>
              </a:spcBef>
              <a:spcAft>
                <a:spcPts val="0"/>
              </a:spcAft>
              <a:buClr>
                <a:srgbClr val="E2E8F0"/>
              </a:buClr>
              <a:buSzPts val="850"/>
              <a:buFont typeface="Consolas"/>
              <a:buNone/>
            </a:pPr>
            <a:r>
              <a:rPr lang="en" sz="1200" dirty="0">
                <a:solidFill>
                  <a:srgbClr val="E2E8F0"/>
                </a:solidFill>
                <a:latin typeface="Andale Mono" panose="020B0509000000000004" pitchFamily="49" charset="0"/>
                <a:sym typeface="Consolas"/>
              </a:rPr>
              <a:t>  temperature=0.7,</a:t>
            </a:r>
            <a:endParaRPr sz="1200" dirty="0">
              <a:solidFill>
                <a:schemeClr val="dk1"/>
              </a:solidFill>
              <a:latin typeface="Andale Mono" panose="020B0509000000000004" pitchFamily="49" charset="0"/>
              <a:ea typeface="Calibri"/>
              <a:cs typeface="Calibri"/>
              <a:sym typeface="Calibri"/>
            </a:endParaRPr>
          </a:p>
          <a:p>
            <a:pPr marL="0" marR="0" lvl="0" indent="0" algn="l" rtl="0">
              <a:spcBef>
                <a:spcPts val="0"/>
              </a:spcBef>
              <a:spcAft>
                <a:spcPts val="0"/>
              </a:spcAft>
              <a:buClr>
                <a:srgbClr val="E2E8F0"/>
              </a:buClr>
              <a:buSzPts val="850"/>
              <a:buFont typeface="Consolas"/>
              <a:buNone/>
            </a:pPr>
            <a:r>
              <a:rPr lang="en" sz="1200" dirty="0">
                <a:solidFill>
                  <a:srgbClr val="E2E8F0"/>
                </a:solidFill>
                <a:latin typeface="Andale Mono" panose="020B0509000000000004" pitchFamily="49" charset="0"/>
                <a:sym typeface="Consolas"/>
              </a:rPr>
              <a:t>  </a:t>
            </a:r>
            <a:r>
              <a:rPr lang="en" sz="1200" dirty="0" err="1">
                <a:solidFill>
                  <a:srgbClr val="E2E8F0"/>
                </a:solidFill>
                <a:latin typeface="Andale Mono" panose="020B0509000000000004" pitchFamily="49" charset="0"/>
                <a:sym typeface="Consolas"/>
              </a:rPr>
              <a:t>max_tokens</a:t>
            </a:r>
            <a:r>
              <a:rPr lang="en" sz="1200" dirty="0">
                <a:solidFill>
                  <a:srgbClr val="E2E8F0"/>
                </a:solidFill>
                <a:latin typeface="Andale Mono" panose="020B0509000000000004" pitchFamily="49" charset="0"/>
                <a:sym typeface="Consolas"/>
              </a:rPr>
              <a:t>=200</a:t>
            </a:r>
            <a:endParaRPr sz="1200" dirty="0">
              <a:solidFill>
                <a:schemeClr val="dk1"/>
              </a:solidFill>
              <a:latin typeface="Andale Mono" panose="020B0509000000000004" pitchFamily="49" charset="0"/>
              <a:ea typeface="Calibri"/>
              <a:cs typeface="Calibri"/>
              <a:sym typeface="Calibri"/>
            </a:endParaRPr>
          </a:p>
          <a:p>
            <a:pPr marL="0" marR="0" lvl="0" indent="0" algn="l" rtl="0">
              <a:spcBef>
                <a:spcPts val="0"/>
              </a:spcBef>
              <a:spcAft>
                <a:spcPts val="0"/>
              </a:spcAft>
              <a:buClr>
                <a:srgbClr val="E2E8F0"/>
              </a:buClr>
              <a:buSzPts val="850"/>
              <a:buFont typeface="Consolas"/>
              <a:buNone/>
            </a:pPr>
            <a:r>
              <a:rPr lang="en" sz="1200" dirty="0">
                <a:solidFill>
                  <a:srgbClr val="E2E8F0"/>
                </a:solidFill>
                <a:latin typeface="Andale Mono" panose="020B0509000000000004" pitchFamily="49" charset="0"/>
                <a:sym typeface="Consolas"/>
              </a:rPr>
              <a:t>)</a:t>
            </a:r>
            <a:endParaRPr sz="1200" dirty="0">
              <a:solidFill>
                <a:schemeClr val="dk1"/>
              </a:solidFill>
              <a:latin typeface="Andale Mono" panose="020B0509000000000004" pitchFamily="49" charset="0"/>
              <a:ea typeface="Calibri"/>
              <a:cs typeface="Calibri"/>
              <a:sym typeface="Calibri"/>
            </a:endParaRPr>
          </a:p>
          <a:p>
            <a:pPr marL="0" marR="0" lvl="0" indent="0" algn="l" rtl="0">
              <a:spcBef>
                <a:spcPts val="0"/>
              </a:spcBef>
              <a:spcAft>
                <a:spcPts val="0"/>
              </a:spcAft>
              <a:buClr>
                <a:srgbClr val="E2E8F0"/>
              </a:buClr>
              <a:buSzPts val="850"/>
              <a:buFont typeface="Consolas"/>
              <a:buNone/>
            </a:pPr>
            <a:r>
              <a:rPr lang="en" sz="1200" dirty="0">
                <a:solidFill>
                  <a:srgbClr val="E2E8F0"/>
                </a:solidFill>
                <a:latin typeface="Andale Mono" panose="020B0509000000000004" pitchFamily="49" charset="0"/>
                <a:sym typeface="Consolas"/>
              </a:rPr>
              <a:t>print(</a:t>
            </a:r>
            <a:r>
              <a:rPr lang="en" sz="1200" dirty="0" err="1">
                <a:solidFill>
                  <a:srgbClr val="E2E8F0"/>
                </a:solidFill>
                <a:latin typeface="Andale Mono" panose="020B0509000000000004" pitchFamily="49" charset="0"/>
                <a:sym typeface="Consolas"/>
              </a:rPr>
              <a:t>response.choices</a:t>
            </a:r>
            <a:r>
              <a:rPr lang="en" sz="1200" dirty="0">
                <a:solidFill>
                  <a:srgbClr val="E2E8F0"/>
                </a:solidFill>
                <a:latin typeface="Andale Mono" panose="020B0509000000000004" pitchFamily="49" charset="0"/>
                <a:sym typeface="Consolas"/>
              </a:rPr>
              <a:t>[0].</a:t>
            </a:r>
            <a:r>
              <a:rPr lang="en" sz="1200" dirty="0" err="1">
                <a:solidFill>
                  <a:srgbClr val="E2E8F0"/>
                </a:solidFill>
                <a:latin typeface="Andale Mono" panose="020B0509000000000004" pitchFamily="49" charset="0"/>
                <a:sym typeface="Consolas"/>
              </a:rPr>
              <a:t>message.</a:t>
            </a:r>
            <a:r>
              <a:rPr lang="en" sz="1200" dirty="0" err="1">
                <a:solidFill>
                  <a:srgbClr val="7DD3FC"/>
                </a:solidFill>
                <a:latin typeface="Andale Mono" panose="020B0509000000000004" pitchFamily="49" charset="0"/>
                <a:sym typeface="Consolas"/>
              </a:rPr>
              <a:t>content</a:t>
            </a:r>
            <a:r>
              <a:rPr lang="en" sz="1200" dirty="0">
                <a:solidFill>
                  <a:srgbClr val="E2E8F0"/>
                </a:solidFill>
                <a:latin typeface="Andale Mono" panose="020B0509000000000004" pitchFamily="49" charset="0"/>
                <a:sym typeface="Consolas"/>
              </a:rPr>
              <a:t>)</a:t>
            </a:r>
            <a:endParaRPr sz="1200" dirty="0">
              <a:solidFill>
                <a:schemeClr val="dk1"/>
              </a:solidFill>
              <a:latin typeface="Andale Mono" panose="020B0509000000000004" pitchFamily="49" charset="0"/>
              <a:ea typeface="Calibri"/>
              <a:cs typeface="Calibri"/>
              <a:sym typeface="Calibri"/>
            </a:endParaRPr>
          </a:p>
        </p:txBody>
      </p:sp>
      <p:sp>
        <p:nvSpPr>
          <p:cNvPr id="243" name="Google Shape;243;p25"/>
          <p:cNvSpPr txBox="1"/>
          <p:nvPr/>
        </p:nvSpPr>
        <p:spPr>
          <a:xfrm>
            <a:off x="6092982" y="1553225"/>
            <a:ext cx="2831718" cy="2123628"/>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dirty="0">
                <a:solidFill>
                  <a:srgbClr val="1A1F36"/>
                </a:solidFill>
                <a:latin typeface="Calibri"/>
              </a:rPr>
              <a:t>Step 1:</a:t>
            </a:r>
            <a:r>
              <a:rPr lang="en" dirty="0">
                <a:solidFill>
                  <a:srgbClr val="1A1F36"/>
                </a:solidFill>
                <a:latin typeface="Calibri"/>
              </a:rPr>
              <a:t> User sends messages to API</a:t>
            </a:r>
            <a:endParaRPr dirty="0">
              <a:solidFill>
                <a:schemeClr val="dk1"/>
              </a:solidFill>
            </a:endParaRPr>
          </a:p>
          <a:p>
            <a:pPr marL="0" lvl="0" indent="0" algn="l" rtl="0">
              <a:spcBef>
                <a:spcPts val="0"/>
              </a:spcBef>
              <a:spcAft>
                <a:spcPts val="0"/>
              </a:spcAft>
              <a:buNone/>
            </a:pPr>
            <a:endParaRPr dirty="0">
              <a:solidFill>
                <a:schemeClr val="dk1"/>
              </a:solidFill>
            </a:endParaRPr>
          </a:p>
          <a:p>
            <a:pPr marL="0" lvl="0" indent="0" algn="l" rtl="0">
              <a:spcBef>
                <a:spcPts val="0"/>
              </a:spcBef>
              <a:spcAft>
                <a:spcPts val="0"/>
              </a:spcAft>
              <a:buNone/>
            </a:pPr>
            <a:r>
              <a:rPr lang="en" b="1" dirty="0">
                <a:solidFill>
                  <a:srgbClr val="1A1F36"/>
                </a:solidFill>
                <a:latin typeface="Calibri"/>
              </a:rPr>
              <a:t>Step 2:</a:t>
            </a:r>
            <a:r>
              <a:rPr lang="en" dirty="0">
                <a:solidFill>
                  <a:srgbClr val="1A1F36"/>
                </a:solidFill>
                <a:latin typeface="Calibri"/>
              </a:rPr>
              <a:t> Model processes system + user input</a:t>
            </a:r>
            <a:endParaRPr dirty="0">
              <a:solidFill>
                <a:schemeClr val="dk1"/>
              </a:solidFill>
            </a:endParaRPr>
          </a:p>
          <a:p>
            <a:pPr marL="0" lvl="0" indent="0" algn="l" rtl="0">
              <a:spcBef>
                <a:spcPts val="0"/>
              </a:spcBef>
              <a:spcAft>
                <a:spcPts val="0"/>
              </a:spcAft>
              <a:buNone/>
            </a:pPr>
            <a:endParaRPr dirty="0">
              <a:solidFill>
                <a:schemeClr val="dk1"/>
              </a:solidFill>
            </a:endParaRPr>
          </a:p>
          <a:p>
            <a:pPr marL="0" lvl="0" indent="0" algn="l" rtl="0">
              <a:spcBef>
                <a:spcPts val="0"/>
              </a:spcBef>
              <a:spcAft>
                <a:spcPts val="0"/>
              </a:spcAft>
              <a:buNone/>
            </a:pPr>
            <a:r>
              <a:rPr lang="en" b="1" dirty="0">
                <a:solidFill>
                  <a:srgbClr val="1A1F36"/>
                </a:solidFill>
                <a:latin typeface="Calibri"/>
              </a:rPr>
              <a:t>Step 3:</a:t>
            </a:r>
            <a:r>
              <a:rPr lang="en" dirty="0">
                <a:solidFill>
                  <a:srgbClr val="1A1F36"/>
                </a:solidFill>
                <a:latin typeface="Calibri"/>
              </a:rPr>
              <a:t> Model generates response</a:t>
            </a:r>
            <a:endParaRPr dirty="0">
              <a:solidFill>
                <a:schemeClr val="dk1"/>
              </a:solidFill>
            </a:endParaRPr>
          </a:p>
          <a:p>
            <a:pPr marL="0" lvl="0" indent="0" algn="l" rtl="0">
              <a:spcBef>
                <a:spcPts val="0"/>
              </a:spcBef>
              <a:spcAft>
                <a:spcPts val="0"/>
              </a:spcAft>
              <a:buNone/>
            </a:pPr>
            <a:endParaRPr dirty="0">
              <a:solidFill>
                <a:schemeClr val="dk1"/>
              </a:solidFill>
            </a:endParaRPr>
          </a:p>
          <a:p>
            <a:pPr marL="0" lvl="0" indent="0" algn="l" rtl="0">
              <a:spcBef>
                <a:spcPts val="0"/>
              </a:spcBef>
              <a:spcAft>
                <a:spcPts val="0"/>
              </a:spcAft>
              <a:buNone/>
            </a:pPr>
            <a:r>
              <a:rPr lang="en" b="1" dirty="0">
                <a:solidFill>
                  <a:srgbClr val="1A1F36"/>
                </a:solidFill>
                <a:latin typeface="Calibri"/>
              </a:rPr>
              <a:t>Step 4:</a:t>
            </a:r>
            <a:r>
              <a:rPr lang="en" dirty="0">
                <a:solidFill>
                  <a:srgbClr val="1A1F36"/>
                </a:solidFill>
                <a:latin typeface="Calibri"/>
              </a:rPr>
              <a:t> API returns structured output</a:t>
            </a:r>
            <a:endParaRPr sz="1800" dirty="0">
              <a:solidFill>
                <a:schemeClr val="dk1"/>
              </a:solidFill>
            </a:endParaRPr>
          </a:p>
        </p:txBody>
      </p:sp>
      <p:pic>
        <p:nvPicPr>
          <p:cNvPr id="2" name="Google Shape;109;p20">
            <a:extLst>
              <a:ext uri="{FF2B5EF4-FFF2-40B4-BE49-F238E27FC236}">
                <a16:creationId xmlns:a16="http://schemas.microsoft.com/office/drawing/2014/main" id="{3A51CDE6-490A-3271-01A1-37F4ECDE9D79}"/>
              </a:ext>
            </a:extLst>
          </p:cNvPr>
          <p:cNvPicPr preferRelativeResize="0"/>
          <p:nvPr/>
        </p:nvPicPr>
        <p:blipFill>
          <a:blip r:embed="rId4">
            <a:alphaModFix/>
          </a:blip>
          <a:stretch>
            <a:fillRect/>
          </a:stretch>
        </p:blipFill>
        <p:spPr>
          <a:xfrm>
            <a:off x="8369125" y="0"/>
            <a:ext cx="774877" cy="86717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342900" y="219456"/>
            <a:ext cx="7200900" cy="480060"/>
          </a:xfrm>
          <a:prstGeom prst="rect">
            <a:avLst/>
          </a:prstGeom>
          <a:noFill/>
          <a:ln/>
        </p:spPr>
        <p:txBody>
          <a:bodyPr wrap="square" lIns="0" tIns="0" rIns="0" bIns="0" rtlCol="0" anchor="ctr"/>
          <a:lstStyle/>
          <a:p>
            <a:r>
              <a:rPr lang="en-US" sz="2550" b="1" dirty="0">
                <a:solidFill>
                  <a:srgbClr val="1E2761"/>
                </a:solidFill>
                <a:latin typeface="Cambria" pitchFamily="34" charset="0"/>
                <a:ea typeface="Cambria" pitchFamily="34" charset="-122"/>
                <a:cs typeface="Cambria" pitchFamily="34" charset="-120"/>
              </a:rPr>
              <a:t>Reasoning Models</a:t>
            </a:r>
            <a:endParaRPr lang="en-US" sz="2550" dirty="0"/>
          </a:p>
        </p:txBody>
      </p:sp>
      <p:sp>
        <p:nvSpPr>
          <p:cNvPr id="3" name="Text 1"/>
          <p:cNvSpPr txBox="1"/>
          <p:nvPr/>
        </p:nvSpPr>
        <p:spPr>
          <a:xfrm>
            <a:off x="342900" y="720090"/>
            <a:ext cx="8435340" cy="480060"/>
          </a:xfrm>
          <a:prstGeom prst="rect">
            <a:avLst/>
          </a:prstGeom>
          <a:noFill/>
          <a:ln/>
        </p:spPr>
        <p:txBody>
          <a:bodyPr wrap="square" lIns="0" tIns="0" rIns="0" bIns="0" rtlCol="0" anchor="ctr"/>
          <a:lstStyle/>
          <a:p>
            <a:pPr>
              <a:lnSpc>
                <a:spcPct val="115000"/>
              </a:lnSpc>
            </a:pPr>
            <a:r>
              <a:rPr lang="en-US" sz="1088" dirty="0">
                <a:solidFill>
                  <a:srgbClr val="222222"/>
                </a:solidFill>
                <a:latin typeface="Calibri" pitchFamily="34" charset="0"/>
                <a:ea typeface="Calibri" pitchFamily="34" charset="-122"/>
                <a:cs typeface="Calibri" pitchFamily="34" charset="-120"/>
              </a:rPr>
              <a:t>Reasoning models generate an internal chain-of-thought before answering, trained with reinforcement learning against verifiable rewards — unlike standard models, which map a prompt directly to a response.</a:t>
            </a:r>
            <a:endParaRPr lang="en-US" sz="1088" dirty="0"/>
          </a:p>
        </p:txBody>
      </p:sp>
      <p:sp>
        <p:nvSpPr>
          <p:cNvPr id="4" name="Text 2"/>
          <p:cNvSpPr txBox="1"/>
          <p:nvPr/>
        </p:nvSpPr>
        <p:spPr>
          <a:xfrm>
            <a:off x="342900" y="1337310"/>
            <a:ext cx="4011930" cy="274320"/>
          </a:xfrm>
          <a:prstGeom prst="rect">
            <a:avLst/>
          </a:prstGeom>
          <a:noFill/>
          <a:ln/>
        </p:spPr>
        <p:txBody>
          <a:bodyPr wrap="square" lIns="0" tIns="0" rIns="0" bIns="0" rtlCol="0" anchor="ctr"/>
          <a:lstStyle/>
          <a:p>
            <a:r>
              <a:rPr lang="en-US" sz="1275" b="1" dirty="0">
                <a:solidFill>
                  <a:srgbClr val="1E2761"/>
                </a:solidFill>
                <a:latin typeface="Calibri" pitchFamily="34" charset="0"/>
                <a:ea typeface="Calibri" pitchFamily="34" charset="-122"/>
                <a:cs typeface="Calibri" pitchFamily="34" charset="-120"/>
              </a:rPr>
              <a:t>OpenAI o-series (o1 / o3)</a:t>
            </a:r>
            <a:endParaRPr lang="en-US" sz="1275" dirty="0"/>
          </a:p>
        </p:txBody>
      </p:sp>
      <p:sp>
        <p:nvSpPr>
          <p:cNvPr id="5" name="Text 3"/>
          <p:cNvSpPr txBox="1"/>
          <p:nvPr/>
        </p:nvSpPr>
        <p:spPr>
          <a:xfrm>
            <a:off x="342900" y="1625346"/>
            <a:ext cx="4011930" cy="1748790"/>
          </a:xfrm>
          <a:prstGeom prst="rect">
            <a:avLst/>
          </a:prstGeom>
          <a:noFill/>
          <a:ln/>
        </p:spPr>
        <p:txBody>
          <a:bodyPr wrap="square" lIns="0" tIns="0" rIns="0" bIns="0" rtlCol="0" anchor="t"/>
          <a:lstStyle/>
          <a:p>
            <a:pPr marL="133350" indent="-133350">
              <a:spcAft>
                <a:spcPts val="600"/>
              </a:spcAft>
              <a:buSzPct val="100000"/>
              <a:buChar char="●"/>
            </a:pPr>
            <a:r>
              <a:rPr lang="en-US" sz="938" dirty="0">
                <a:solidFill>
                  <a:srgbClr val="222222"/>
                </a:solidFill>
                <a:latin typeface="Calibri" pitchFamily="34" charset="0"/>
                <a:ea typeface="Calibri" pitchFamily="34" charset="-122"/>
                <a:cs typeface="Calibri" pitchFamily="34" charset="-120"/>
              </a:rPr>
              <a:t>Post-trained with RL on chain-of-thought reasoning, rewarded for correct, verifiable answers (math, code)</a:t>
            </a:r>
            <a:endParaRPr lang="en-US" sz="938" dirty="0"/>
          </a:p>
          <a:p>
            <a:pPr marL="133350" indent="-133350">
              <a:spcAft>
                <a:spcPts val="600"/>
              </a:spcAft>
              <a:buSzPct val="100000"/>
              <a:buChar char="●"/>
            </a:pPr>
            <a:r>
              <a:rPr lang="en-US" sz="938" dirty="0">
                <a:solidFill>
                  <a:srgbClr val="222222"/>
                </a:solidFill>
                <a:latin typeface="Calibri" pitchFamily="34" charset="0"/>
                <a:ea typeface="Calibri" pitchFamily="34" charset="-122"/>
                <a:cs typeface="Calibri" pitchFamily="34" charset="-120"/>
              </a:rPr>
              <a:t>Learns to allocate more “thinking tokens” to harder problems — test-time compute scaling</a:t>
            </a:r>
            <a:endParaRPr lang="en-US" sz="938" dirty="0"/>
          </a:p>
          <a:p>
            <a:pPr marL="133350" indent="-133350">
              <a:spcAft>
                <a:spcPts val="600"/>
              </a:spcAft>
              <a:buSzPct val="100000"/>
              <a:buChar char="●"/>
            </a:pPr>
            <a:r>
              <a:rPr lang="en-US" sz="938" dirty="0">
                <a:solidFill>
                  <a:srgbClr val="222222"/>
                </a:solidFill>
                <a:latin typeface="Calibri" pitchFamily="34" charset="0"/>
                <a:ea typeface="Calibri" pitchFamily="34" charset="-122"/>
                <a:cs typeface="Calibri" pitchFamily="34" charset="-120"/>
              </a:rPr>
              <a:t>Hidden reasoning trace precedes a concise final answer shown to the user</a:t>
            </a:r>
            <a:endParaRPr lang="en-US" sz="938" dirty="0"/>
          </a:p>
          <a:p>
            <a:pPr marL="133350" indent="-133350">
              <a:spcAft>
                <a:spcPts val="600"/>
              </a:spcAft>
              <a:buSzPct val="100000"/>
              <a:buChar char="●"/>
            </a:pPr>
            <a:r>
              <a:rPr lang="en-US" sz="938" dirty="0">
                <a:solidFill>
                  <a:srgbClr val="222222"/>
                </a:solidFill>
                <a:latin typeface="Calibri" pitchFamily="34" charset="0"/>
                <a:ea typeface="Calibri" pitchFamily="34" charset="-122"/>
                <a:cs typeface="Calibri" pitchFamily="34" charset="-120"/>
              </a:rPr>
              <a:t>Strong on multi-step math, scientific reasoning, and competitive coding</a:t>
            </a:r>
            <a:endParaRPr lang="en-US" sz="938" dirty="0"/>
          </a:p>
        </p:txBody>
      </p:sp>
      <p:sp>
        <p:nvSpPr>
          <p:cNvPr id="6" name="Text 4"/>
          <p:cNvSpPr txBox="1"/>
          <p:nvPr/>
        </p:nvSpPr>
        <p:spPr>
          <a:xfrm>
            <a:off x="4766310" y="1337310"/>
            <a:ext cx="4011930" cy="274320"/>
          </a:xfrm>
          <a:prstGeom prst="rect">
            <a:avLst/>
          </a:prstGeom>
          <a:noFill/>
          <a:ln/>
        </p:spPr>
        <p:txBody>
          <a:bodyPr wrap="square" lIns="0" tIns="0" rIns="0" bIns="0" rtlCol="0" anchor="ctr"/>
          <a:lstStyle/>
          <a:p>
            <a:r>
              <a:rPr lang="en-US" sz="1275" b="1" dirty="0">
                <a:solidFill>
                  <a:srgbClr val="1E2761"/>
                </a:solidFill>
                <a:latin typeface="Calibri" pitchFamily="34" charset="0"/>
                <a:ea typeface="Calibri" pitchFamily="34" charset="-122"/>
                <a:cs typeface="Calibri" pitchFamily="34" charset="-120"/>
              </a:rPr>
              <a:t>DeepSeek-R1 (open-weight)</a:t>
            </a:r>
            <a:endParaRPr lang="en-US" sz="1275" dirty="0"/>
          </a:p>
        </p:txBody>
      </p:sp>
      <p:sp>
        <p:nvSpPr>
          <p:cNvPr id="7" name="Text 5"/>
          <p:cNvSpPr txBox="1"/>
          <p:nvPr/>
        </p:nvSpPr>
        <p:spPr>
          <a:xfrm>
            <a:off x="4766310" y="1625346"/>
            <a:ext cx="4011930" cy="1748790"/>
          </a:xfrm>
          <a:prstGeom prst="rect">
            <a:avLst/>
          </a:prstGeom>
          <a:noFill/>
          <a:ln/>
        </p:spPr>
        <p:txBody>
          <a:bodyPr wrap="square" lIns="0" tIns="0" rIns="0" bIns="0" rtlCol="0" anchor="t"/>
          <a:lstStyle/>
          <a:p>
            <a:pPr marL="133350" indent="-133350">
              <a:spcAft>
                <a:spcPts val="600"/>
              </a:spcAft>
              <a:buSzPct val="100000"/>
              <a:buChar char="●"/>
            </a:pPr>
            <a:r>
              <a:rPr lang="en-US" sz="938" dirty="0">
                <a:solidFill>
                  <a:srgbClr val="222222"/>
                </a:solidFill>
                <a:latin typeface="Calibri" pitchFamily="34" charset="0"/>
                <a:ea typeface="Calibri" pitchFamily="34" charset="-122"/>
                <a:cs typeface="Calibri" pitchFamily="34" charset="-120"/>
              </a:rPr>
              <a:t>R1-Zero: trained with pure RL (GRPO) directly on the base model, no supervised fine-tuning</a:t>
            </a:r>
            <a:endParaRPr lang="en-US" sz="938" dirty="0"/>
          </a:p>
          <a:p>
            <a:pPr marL="133350" indent="-133350">
              <a:spcAft>
                <a:spcPts val="600"/>
              </a:spcAft>
              <a:buSzPct val="100000"/>
              <a:buChar char="●"/>
            </a:pPr>
            <a:r>
              <a:rPr lang="en-US" sz="938" dirty="0">
                <a:solidFill>
                  <a:srgbClr val="222222"/>
                </a:solidFill>
                <a:latin typeface="Calibri" pitchFamily="34" charset="0"/>
                <a:ea typeface="Calibri" pitchFamily="34" charset="-122"/>
                <a:cs typeface="Calibri" pitchFamily="34" charset="-120"/>
              </a:rPr>
              <a:t>Reward is based only on final-answer correctness, letting reasoning behavior emerge on its own</a:t>
            </a:r>
            <a:endParaRPr lang="en-US" sz="938" dirty="0"/>
          </a:p>
          <a:p>
            <a:pPr marL="133350" indent="-133350">
              <a:spcAft>
                <a:spcPts val="600"/>
              </a:spcAft>
              <a:buSzPct val="100000"/>
              <a:buChar char="●"/>
            </a:pPr>
            <a:r>
              <a:rPr lang="en-US" sz="938" dirty="0">
                <a:solidFill>
                  <a:srgbClr val="222222"/>
                </a:solidFill>
                <a:latin typeface="Calibri" pitchFamily="34" charset="0"/>
                <a:ea typeface="Calibri" pitchFamily="34" charset="-122"/>
                <a:cs typeface="Calibri" pitchFamily="34" charset="-120"/>
              </a:rPr>
              <a:t>R1: adds a small “cold-start” SFT stage plus further RL to fix repetition and readability</a:t>
            </a:r>
            <a:endParaRPr lang="en-US" sz="938" dirty="0"/>
          </a:p>
          <a:p>
            <a:pPr marL="133350" indent="-133350">
              <a:spcAft>
                <a:spcPts val="600"/>
              </a:spcAft>
              <a:buSzPct val="100000"/>
              <a:buChar char="●"/>
            </a:pPr>
            <a:r>
              <a:rPr lang="en-US" sz="938" dirty="0">
                <a:solidFill>
                  <a:srgbClr val="222222"/>
                </a:solidFill>
                <a:latin typeface="Calibri" pitchFamily="34" charset="0"/>
                <a:ea typeface="Calibri" pitchFamily="34" charset="-122"/>
                <a:cs typeface="Calibri" pitchFamily="34" charset="-120"/>
              </a:rPr>
              <a:t>Open weights let researchers inspect and distill its reasoning into smaller models</a:t>
            </a:r>
            <a:endParaRPr lang="en-US" sz="938" dirty="0"/>
          </a:p>
        </p:txBody>
      </p:sp>
      <p:sp>
        <p:nvSpPr>
          <p:cNvPr id="8" name="Text 6"/>
          <p:cNvSpPr txBox="1"/>
          <p:nvPr/>
        </p:nvSpPr>
        <p:spPr>
          <a:xfrm>
            <a:off x="342900" y="3168396"/>
            <a:ext cx="8435340" cy="274320"/>
          </a:xfrm>
          <a:prstGeom prst="rect">
            <a:avLst/>
          </a:prstGeom>
          <a:noFill/>
          <a:ln/>
        </p:spPr>
        <p:txBody>
          <a:bodyPr wrap="square" lIns="0" tIns="0" rIns="0" bIns="0" rtlCol="0" anchor="ctr"/>
          <a:lstStyle/>
          <a:p>
            <a:r>
              <a:rPr lang="en-US" sz="1275" b="1" dirty="0">
                <a:solidFill>
                  <a:srgbClr val="1E2761"/>
                </a:solidFill>
                <a:latin typeface="Calibri" pitchFamily="34" charset="0"/>
                <a:ea typeface="Calibri" pitchFamily="34" charset="-122"/>
                <a:cs typeface="Calibri" pitchFamily="34" charset="-120"/>
              </a:rPr>
              <a:t>How Output Differs From a Standard Model</a:t>
            </a:r>
            <a:endParaRPr lang="en-US" sz="1275" dirty="0"/>
          </a:p>
        </p:txBody>
      </p:sp>
      <p:sp>
        <p:nvSpPr>
          <p:cNvPr id="9" name="Text 7"/>
          <p:cNvSpPr txBox="1"/>
          <p:nvPr/>
        </p:nvSpPr>
        <p:spPr>
          <a:xfrm>
            <a:off x="342900" y="3463290"/>
            <a:ext cx="8435340" cy="240030"/>
          </a:xfrm>
          <a:prstGeom prst="rect">
            <a:avLst/>
          </a:prstGeom>
          <a:noFill/>
          <a:ln/>
        </p:spPr>
        <p:txBody>
          <a:bodyPr wrap="square" lIns="0" tIns="0" rIns="0" bIns="0" rtlCol="0" anchor="ctr"/>
          <a:lstStyle/>
          <a:p>
            <a:r>
              <a:rPr lang="en-US" sz="938" b="1" dirty="0">
                <a:solidFill>
                  <a:srgbClr val="1E2761"/>
                </a:solidFill>
                <a:latin typeface="Calibri" pitchFamily="34" charset="0"/>
                <a:ea typeface="Calibri" pitchFamily="34" charset="-122"/>
                <a:cs typeface="Calibri" pitchFamily="34" charset="-120"/>
              </a:rPr>
              <a:t>Prompt: </a:t>
            </a:r>
            <a:r>
              <a:rPr lang="en-US" sz="938" i="1" dirty="0">
                <a:solidFill>
                  <a:srgbClr val="5A5A5A"/>
                </a:solidFill>
                <a:latin typeface="Calibri" pitchFamily="34" charset="0"/>
                <a:ea typeface="Calibri" pitchFamily="34" charset="-122"/>
                <a:cs typeface="Calibri" pitchFamily="34" charset="-120"/>
              </a:rPr>
              <a:t>“A train travels 60 mph for 2.5 hours, then 40 mph for 1.5 hours. How far did it go in total?”</a:t>
            </a:r>
            <a:endParaRPr lang="en-US" sz="938" dirty="0"/>
          </a:p>
        </p:txBody>
      </p:sp>
      <p:sp>
        <p:nvSpPr>
          <p:cNvPr id="10" name="Shape 8"/>
          <p:cNvSpPr/>
          <p:nvPr/>
        </p:nvSpPr>
        <p:spPr>
          <a:xfrm>
            <a:off x="342900" y="3771900"/>
            <a:ext cx="4011930" cy="1097280"/>
          </a:xfrm>
          <a:prstGeom prst="roundRect">
            <a:avLst>
              <a:gd name="adj" fmla="val 5000"/>
            </a:avLst>
          </a:prstGeom>
          <a:solidFill>
            <a:srgbClr val="F2F2F2"/>
          </a:solidFill>
          <a:ln/>
          <a:effectLst>
            <a:outerShdw blurRad="76200" dist="25400" dir="5400000" algn="bl" rotWithShape="0">
              <a:srgbClr val="999999">
                <a:alpha val="25000"/>
              </a:srgbClr>
            </a:outerShdw>
          </a:effectLst>
        </p:spPr>
      </p:sp>
      <p:sp>
        <p:nvSpPr>
          <p:cNvPr id="11" name="Text 9"/>
          <p:cNvSpPr txBox="1"/>
          <p:nvPr/>
        </p:nvSpPr>
        <p:spPr>
          <a:xfrm>
            <a:off x="514350" y="3874770"/>
            <a:ext cx="3669030" cy="205740"/>
          </a:xfrm>
          <a:prstGeom prst="rect">
            <a:avLst/>
          </a:prstGeom>
          <a:noFill/>
          <a:ln/>
        </p:spPr>
        <p:txBody>
          <a:bodyPr wrap="square" lIns="0" tIns="0" rIns="0" bIns="0" rtlCol="0" anchor="ctr"/>
          <a:lstStyle/>
          <a:p>
            <a:r>
              <a:rPr lang="en-US" sz="975" b="1" dirty="0">
                <a:solidFill>
                  <a:srgbClr val="1E2761"/>
                </a:solidFill>
                <a:latin typeface="Calibri" pitchFamily="34" charset="0"/>
                <a:ea typeface="Calibri" pitchFamily="34" charset="-122"/>
                <a:cs typeface="Calibri" pitchFamily="34" charset="-120"/>
              </a:rPr>
              <a:t>Standard Model</a:t>
            </a:r>
            <a:endParaRPr lang="en-US" sz="975" dirty="0"/>
          </a:p>
        </p:txBody>
      </p:sp>
      <p:sp>
        <p:nvSpPr>
          <p:cNvPr id="12" name="Text 10"/>
          <p:cNvSpPr txBox="1"/>
          <p:nvPr/>
        </p:nvSpPr>
        <p:spPr>
          <a:xfrm>
            <a:off x="514350" y="4114800"/>
            <a:ext cx="3669030" cy="342900"/>
          </a:xfrm>
          <a:prstGeom prst="rect">
            <a:avLst/>
          </a:prstGeom>
          <a:noFill/>
          <a:ln/>
        </p:spPr>
        <p:txBody>
          <a:bodyPr wrap="square" lIns="0" tIns="0" rIns="0" bIns="0" rtlCol="0" anchor="ctr"/>
          <a:lstStyle/>
          <a:p>
            <a:r>
              <a:rPr lang="en-US" sz="938" dirty="0">
                <a:solidFill>
                  <a:srgbClr val="222222"/>
                </a:solidFill>
                <a:latin typeface="Calibri" pitchFamily="34" charset="0"/>
                <a:ea typeface="Calibri" pitchFamily="34" charset="-122"/>
                <a:cs typeface="Calibri" pitchFamily="34" charset="-120"/>
              </a:rPr>
              <a:t>“The train traveled 150 miles in total.”</a:t>
            </a:r>
            <a:endParaRPr lang="en-US" sz="938" dirty="0"/>
          </a:p>
        </p:txBody>
      </p:sp>
      <p:sp>
        <p:nvSpPr>
          <p:cNvPr id="13" name="Text 11"/>
          <p:cNvSpPr txBox="1"/>
          <p:nvPr/>
        </p:nvSpPr>
        <p:spPr>
          <a:xfrm>
            <a:off x="514350" y="4491990"/>
            <a:ext cx="3669030" cy="308610"/>
          </a:xfrm>
          <a:prstGeom prst="rect">
            <a:avLst/>
          </a:prstGeom>
          <a:noFill/>
          <a:ln/>
        </p:spPr>
        <p:txBody>
          <a:bodyPr wrap="square" lIns="0" tIns="0" rIns="0" bIns="0" rtlCol="0" anchor="ctr"/>
          <a:lstStyle/>
          <a:p>
            <a:r>
              <a:rPr lang="en-US" sz="825" i="1" dirty="0">
                <a:solidFill>
                  <a:srgbClr val="5A5A5A"/>
                </a:solidFill>
                <a:latin typeface="Calibri" pitchFamily="34" charset="0"/>
                <a:ea typeface="Calibri" pitchFamily="34" charset="-122"/>
                <a:cs typeface="Calibri" pitchFamily="34" charset="-120"/>
              </a:rPr>
              <a:t>Answers directly from learned patterns — fast, but no visible verification step.</a:t>
            </a:r>
            <a:endParaRPr lang="en-US" sz="825" dirty="0"/>
          </a:p>
        </p:txBody>
      </p:sp>
      <p:sp>
        <p:nvSpPr>
          <p:cNvPr id="14" name="Shape 12"/>
          <p:cNvSpPr/>
          <p:nvPr/>
        </p:nvSpPr>
        <p:spPr>
          <a:xfrm>
            <a:off x="4766310" y="3771900"/>
            <a:ext cx="4011930" cy="1097280"/>
          </a:xfrm>
          <a:prstGeom prst="roundRect">
            <a:avLst>
              <a:gd name="adj" fmla="val 5000"/>
            </a:avLst>
          </a:prstGeom>
          <a:solidFill>
            <a:srgbClr val="EAF0FB"/>
          </a:solidFill>
          <a:ln/>
          <a:effectLst>
            <a:outerShdw blurRad="76200" dist="25400" dir="5400000" algn="bl" rotWithShape="0">
              <a:srgbClr val="999999">
                <a:alpha val="25000"/>
              </a:srgbClr>
            </a:outerShdw>
          </a:effectLst>
        </p:spPr>
      </p:sp>
      <p:sp>
        <p:nvSpPr>
          <p:cNvPr id="15" name="Text 13"/>
          <p:cNvSpPr txBox="1"/>
          <p:nvPr/>
        </p:nvSpPr>
        <p:spPr>
          <a:xfrm>
            <a:off x="4937760" y="3874770"/>
            <a:ext cx="3669030" cy="205740"/>
          </a:xfrm>
          <a:prstGeom prst="rect">
            <a:avLst/>
          </a:prstGeom>
          <a:noFill/>
          <a:ln/>
        </p:spPr>
        <p:txBody>
          <a:bodyPr wrap="square" lIns="0" tIns="0" rIns="0" bIns="0" rtlCol="0" anchor="ctr"/>
          <a:lstStyle/>
          <a:p>
            <a:r>
              <a:rPr lang="en-US" sz="975" b="1" dirty="0">
                <a:solidFill>
                  <a:srgbClr val="1E2761"/>
                </a:solidFill>
                <a:latin typeface="Calibri" pitchFamily="34" charset="0"/>
                <a:ea typeface="Calibri" pitchFamily="34" charset="-122"/>
                <a:cs typeface="Calibri" pitchFamily="34" charset="-120"/>
              </a:rPr>
              <a:t>Reasoning Model</a:t>
            </a:r>
            <a:endParaRPr lang="en-US" sz="975" dirty="0"/>
          </a:p>
        </p:txBody>
      </p:sp>
      <p:sp>
        <p:nvSpPr>
          <p:cNvPr id="16" name="Text 14"/>
          <p:cNvSpPr txBox="1"/>
          <p:nvPr/>
        </p:nvSpPr>
        <p:spPr>
          <a:xfrm>
            <a:off x="4937760" y="4114800"/>
            <a:ext cx="3669030" cy="342900"/>
          </a:xfrm>
          <a:prstGeom prst="rect">
            <a:avLst/>
          </a:prstGeom>
          <a:noFill/>
          <a:ln/>
        </p:spPr>
        <p:txBody>
          <a:bodyPr wrap="square" lIns="0" tIns="0" rIns="0" bIns="0" rtlCol="0" anchor="ctr"/>
          <a:lstStyle/>
          <a:p>
            <a:r>
              <a:rPr lang="en-US" sz="863" dirty="0">
                <a:solidFill>
                  <a:srgbClr val="222222"/>
                </a:solidFill>
                <a:latin typeface="Calibri" pitchFamily="34" charset="0"/>
                <a:ea typeface="Calibri" pitchFamily="34" charset="-122"/>
                <a:cs typeface="Calibri" pitchFamily="34" charset="-120"/>
              </a:rPr>
              <a:t>Step 1: 60 × 2.5 = 150 miles. Step 2: 40 × 1.5 = 60 miles. Step 3: check units match, then sum → 150 + 60 = 210. “Total distance: 210 miles.”</a:t>
            </a:r>
            <a:endParaRPr lang="en-US" sz="863" dirty="0"/>
          </a:p>
        </p:txBody>
      </p:sp>
      <p:sp>
        <p:nvSpPr>
          <p:cNvPr id="17" name="Text 15"/>
          <p:cNvSpPr txBox="1"/>
          <p:nvPr/>
        </p:nvSpPr>
        <p:spPr>
          <a:xfrm>
            <a:off x="4937760" y="4491990"/>
            <a:ext cx="3669030" cy="308610"/>
          </a:xfrm>
          <a:prstGeom prst="rect">
            <a:avLst/>
          </a:prstGeom>
          <a:noFill/>
          <a:ln/>
        </p:spPr>
        <p:txBody>
          <a:bodyPr wrap="square" lIns="0" tIns="0" rIns="0" bIns="0" rtlCol="0" anchor="ctr"/>
          <a:lstStyle/>
          <a:p>
            <a:r>
              <a:rPr lang="en-US" sz="825" i="1" dirty="0">
                <a:solidFill>
                  <a:srgbClr val="5A5A5A"/>
                </a:solidFill>
                <a:latin typeface="Calibri" pitchFamily="34" charset="0"/>
                <a:ea typeface="Calibri" pitchFamily="34" charset="-122"/>
                <a:cs typeface="Calibri" pitchFamily="34" charset="-120"/>
              </a:rPr>
              <a:t>Works the problem in visible steps and self-checks before answering — catches the missed second leg.</a:t>
            </a:r>
            <a:endParaRPr lang="en-US" sz="82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D4D0E-0D83-7C90-4E1A-71FB453B0BA3}"/>
              </a:ext>
            </a:extLst>
          </p:cNvPr>
          <p:cNvSpPr>
            <a:spLocks noGrp="1"/>
          </p:cNvSpPr>
          <p:nvPr>
            <p:ph type="title"/>
          </p:nvPr>
        </p:nvSpPr>
        <p:spPr/>
        <p:txBody>
          <a:bodyPr>
            <a:normAutofit fontScale="90000"/>
          </a:bodyPr>
          <a:lstStyle/>
          <a:p>
            <a:r>
              <a:rPr lang="en-US" dirty="0"/>
              <a:t>Other ways of running LLMs</a:t>
            </a:r>
          </a:p>
        </p:txBody>
      </p:sp>
      <p:sp>
        <p:nvSpPr>
          <p:cNvPr id="3" name="Text Placeholder 2">
            <a:extLst>
              <a:ext uri="{FF2B5EF4-FFF2-40B4-BE49-F238E27FC236}">
                <a16:creationId xmlns:a16="http://schemas.microsoft.com/office/drawing/2014/main" id="{951EE952-E745-E7E1-EB53-4DB17B26448E}"/>
              </a:ext>
            </a:extLst>
          </p:cNvPr>
          <p:cNvSpPr>
            <a:spLocks noGrp="1"/>
          </p:cNvSpPr>
          <p:nvPr>
            <p:ph type="body" idx="1"/>
          </p:nvPr>
        </p:nvSpPr>
        <p:spPr>
          <a:xfrm>
            <a:off x="311700" y="1152475"/>
            <a:ext cx="5906220" cy="3416400"/>
          </a:xfrm>
        </p:spPr>
        <p:txBody>
          <a:bodyPr>
            <a:normAutofit/>
          </a:bodyPr>
          <a:lstStyle/>
          <a:p>
            <a:r>
              <a:rPr lang="en-US" sz="1400" dirty="0" err="1"/>
              <a:t>HuggingFace</a:t>
            </a:r>
            <a:r>
              <a:rPr lang="en-US" sz="1400" dirty="0"/>
              <a:t> is </a:t>
            </a:r>
            <a:r>
              <a:rPr lang="en-IN" sz="1400" dirty="0"/>
              <a:t>a central hub where developers and researchers share and collaborate on AI models and Tasks.</a:t>
            </a:r>
            <a:endParaRPr lang="en-IN" dirty="0"/>
          </a:p>
          <a:p>
            <a:pPr lvl="1"/>
            <a:r>
              <a:rPr lang="en-US" sz="1100" b="1" dirty="0">
                <a:solidFill>
                  <a:srgbClr val="0070C0"/>
                </a:solidFill>
              </a:rPr>
              <a:t>Model Hub</a:t>
            </a:r>
            <a:r>
              <a:rPr lang="en-US" sz="1100" dirty="0"/>
              <a:t>: </a:t>
            </a:r>
            <a:r>
              <a:rPr lang="en-IN" sz="1100" dirty="0"/>
              <a:t>Over 2 million open models, contributed by various individuals and organisations.</a:t>
            </a:r>
          </a:p>
          <a:p>
            <a:pPr lvl="1"/>
            <a:r>
              <a:rPr lang="en-US" sz="1100" b="1" dirty="0">
                <a:solidFill>
                  <a:srgbClr val="0070C0"/>
                </a:solidFill>
              </a:rPr>
              <a:t>Transformers Library:</a:t>
            </a:r>
            <a:r>
              <a:rPr lang="en-US" sz="1100" dirty="0"/>
              <a:t> A popular open-source Python library that makes it easy to download and use pre-trained models.</a:t>
            </a:r>
          </a:p>
          <a:p>
            <a:pPr lvl="1"/>
            <a:r>
              <a:rPr lang="en-US" sz="1100" b="1" dirty="0">
                <a:solidFill>
                  <a:srgbClr val="0070C0"/>
                </a:solidFill>
              </a:rPr>
              <a:t> Providers</a:t>
            </a:r>
            <a:r>
              <a:rPr lang="en-US" sz="1100" dirty="0"/>
              <a:t> allow running open-source models on their servers – rate limited.</a:t>
            </a:r>
          </a:p>
          <a:p>
            <a:pPr lvl="1"/>
            <a:endParaRPr lang="en-US" sz="1100" dirty="0"/>
          </a:p>
          <a:p>
            <a:r>
              <a:rPr lang="en-US" sz="1400" dirty="0"/>
              <a:t>There are three primary ways of running Open-source models:</a:t>
            </a:r>
            <a:endParaRPr lang="en-US" dirty="0"/>
          </a:p>
          <a:p>
            <a:pPr lvl="1"/>
            <a:r>
              <a:rPr lang="en-US" sz="1100" b="1" dirty="0"/>
              <a:t>Approach 1</a:t>
            </a:r>
            <a:r>
              <a:rPr lang="en-US" sz="1100" dirty="0"/>
              <a:t>: Run using </a:t>
            </a:r>
            <a:r>
              <a:rPr lang="en-US" sz="1100" dirty="0" err="1"/>
              <a:t>HuggingFace</a:t>
            </a:r>
            <a:r>
              <a:rPr lang="en-US" sz="1100" dirty="0"/>
              <a:t> API locally.</a:t>
            </a:r>
          </a:p>
          <a:p>
            <a:pPr lvl="1"/>
            <a:r>
              <a:rPr lang="en-US" sz="1100" b="1" dirty="0"/>
              <a:t>Approach 2</a:t>
            </a:r>
            <a:r>
              <a:rPr lang="en-US" sz="1100" dirty="0"/>
              <a:t>: Run using requests or OpenAI API on the </a:t>
            </a:r>
            <a:r>
              <a:rPr lang="en-US" sz="1100" dirty="0" err="1"/>
              <a:t>HuggingFace</a:t>
            </a:r>
            <a:r>
              <a:rPr lang="en-US" sz="1100" dirty="0"/>
              <a:t> providers using HF authentication.</a:t>
            </a:r>
          </a:p>
          <a:p>
            <a:pPr lvl="1"/>
            <a:r>
              <a:rPr lang="en-US" sz="1100" b="1" dirty="0"/>
              <a:t>Approach 3</a:t>
            </a:r>
            <a:r>
              <a:rPr lang="en-US" sz="1100" dirty="0"/>
              <a:t>: Run locally using </a:t>
            </a:r>
            <a:r>
              <a:rPr lang="en-US" sz="1100" dirty="0" err="1"/>
              <a:t>Ollama</a:t>
            </a:r>
            <a:r>
              <a:rPr lang="en-US" sz="1100" dirty="0"/>
              <a:t> or other methods, and access through the requests API.</a:t>
            </a:r>
          </a:p>
        </p:txBody>
      </p:sp>
      <p:pic>
        <p:nvPicPr>
          <p:cNvPr id="7" name="Picture 6">
            <a:extLst>
              <a:ext uri="{FF2B5EF4-FFF2-40B4-BE49-F238E27FC236}">
                <a16:creationId xmlns:a16="http://schemas.microsoft.com/office/drawing/2014/main" id="{EA26B913-25E4-CA0B-60BB-7AB871175B61}"/>
              </a:ext>
            </a:extLst>
          </p:cNvPr>
          <p:cNvPicPr>
            <a:picLocks noChangeAspect="1"/>
          </p:cNvPicPr>
          <p:nvPr/>
        </p:nvPicPr>
        <p:blipFill>
          <a:blip r:embed="rId2"/>
          <a:stretch>
            <a:fillRect/>
          </a:stretch>
        </p:blipFill>
        <p:spPr>
          <a:xfrm>
            <a:off x="6379321" y="1270055"/>
            <a:ext cx="515537" cy="479232"/>
          </a:xfrm>
          <a:prstGeom prst="rect">
            <a:avLst/>
          </a:prstGeom>
        </p:spPr>
      </p:pic>
      <p:pic>
        <p:nvPicPr>
          <p:cNvPr id="8" name="Google Shape;328;p29">
            <a:extLst>
              <a:ext uri="{FF2B5EF4-FFF2-40B4-BE49-F238E27FC236}">
                <a16:creationId xmlns:a16="http://schemas.microsoft.com/office/drawing/2014/main" id="{7E16B367-FD07-CF3F-FB89-C1936140D4A9}"/>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6768469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33956" y="119269"/>
            <a:ext cx="6400800" cy="658368"/>
          </a:xfrm>
          <a:prstGeom prst="rect">
            <a:avLst/>
          </a:prstGeom>
          <a:noFill/>
          <a:ln/>
        </p:spPr>
        <p:txBody>
          <a:bodyPr wrap="square" lIns="0" tIns="0" rIns="0" bIns="0" rtlCol="0" anchor="ctr"/>
          <a:lstStyle/>
          <a:p>
            <a:pPr marL="0" indent="0">
              <a:buNone/>
            </a:pPr>
            <a:r>
              <a:rPr lang="en-US" sz="2200" b="1" dirty="0">
                <a:latin typeface="Calibri" pitchFamily="34" charset="0"/>
                <a:ea typeface="Calibri" pitchFamily="34" charset="-122"/>
                <a:cs typeface="Calibri" pitchFamily="34" charset="-120"/>
              </a:rPr>
              <a:t>Approach 1: Transformers Locally</a:t>
            </a:r>
            <a:endParaRPr lang="en-US" sz="2200" dirty="0"/>
          </a:p>
        </p:txBody>
      </p:sp>
      <p:sp>
        <p:nvSpPr>
          <p:cNvPr id="4" name="Text 2"/>
          <p:cNvSpPr/>
          <p:nvPr/>
        </p:nvSpPr>
        <p:spPr>
          <a:xfrm>
            <a:off x="0" y="0"/>
            <a:ext cx="8778240" cy="658368"/>
          </a:xfrm>
          <a:prstGeom prst="rect">
            <a:avLst/>
          </a:prstGeom>
          <a:noFill/>
          <a:ln/>
        </p:spPr>
        <p:txBody>
          <a:bodyPr wrap="square" lIns="0" tIns="0" rIns="0" bIns="0" rtlCol="0" anchor="ctr"/>
          <a:lstStyle/>
          <a:p>
            <a:pPr marL="0" indent="0" algn="r">
              <a:buNone/>
            </a:pPr>
            <a:endParaRPr lang="en-US" sz="1300" dirty="0"/>
          </a:p>
        </p:txBody>
      </p:sp>
      <p:grpSp>
        <p:nvGrpSpPr>
          <p:cNvPr id="24" name="Group 23">
            <a:extLst>
              <a:ext uri="{FF2B5EF4-FFF2-40B4-BE49-F238E27FC236}">
                <a16:creationId xmlns:a16="http://schemas.microsoft.com/office/drawing/2014/main" id="{8E973BF2-E297-7B86-221C-B66D57FFDAEE}"/>
              </a:ext>
            </a:extLst>
          </p:cNvPr>
          <p:cNvGrpSpPr/>
          <p:nvPr/>
        </p:nvGrpSpPr>
        <p:grpSpPr>
          <a:xfrm>
            <a:off x="137160" y="1078992"/>
            <a:ext cx="5702734" cy="3429372"/>
            <a:chOff x="274320" y="822960"/>
            <a:chExt cx="5702734" cy="3429372"/>
          </a:xfrm>
        </p:grpSpPr>
        <p:sp>
          <p:nvSpPr>
            <p:cNvPr id="5" name="Text 3"/>
            <p:cNvSpPr/>
            <p:nvPr/>
          </p:nvSpPr>
          <p:spPr>
            <a:xfrm>
              <a:off x="274320" y="822960"/>
              <a:ext cx="4022617" cy="256032"/>
            </a:xfrm>
            <a:prstGeom prst="rect">
              <a:avLst/>
            </a:prstGeom>
            <a:noFill/>
            <a:ln/>
          </p:spPr>
          <p:txBody>
            <a:bodyPr wrap="square" rtlCol="0" anchor="ctr"/>
            <a:lstStyle/>
            <a:p>
              <a:pPr marL="0" indent="0">
                <a:buNone/>
              </a:pPr>
              <a:r>
                <a:rPr lang="en-US" sz="1300" b="1" dirty="0">
                  <a:solidFill>
                    <a:srgbClr val="2563EB"/>
                  </a:solidFill>
                  <a:latin typeface="Calibri" pitchFamily="34" charset="0"/>
                  <a:ea typeface="Calibri" pitchFamily="34" charset="-122"/>
                  <a:cs typeface="Calibri" pitchFamily="34" charset="-120"/>
                </a:rPr>
                <a:t>Step 1 — Install</a:t>
              </a:r>
              <a:endParaRPr lang="en-US" sz="1300" dirty="0"/>
            </a:p>
          </p:txBody>
        </p:sp>
        <p:sp>
          <p:nvSpPr>
            <p:cNvPr id="6" name="Shape 4"/>
            <p:cNvSpPr/>
            <p:nvPr/>
          </p:nvSpPr>
          <p:spPr>
            <a:xfrm>
              <a:off x="274320" y="1097280"/>
              <a:ext cx="3931920" cy="384048"/>
            </a:xfrm>
            <a:prstGeom prst="rect">
              <a:avLst/>
            </a:prstGeom>
            <a:solidFill>
              <a:srgbClr val="1A1F36"/>
            </a:solidFill>
            <a:ln w="12700">
              <a:solidFill>
                <a:srgbClr val="1A1F36"/>
              </a:solidFill>
              <a:prstDash val="solid"/>
            </a:ln>
          </p:spPr>
        </p:sp>
        <p:sp>
          <p:nvSpPr>
            <p:cNvPr id="7" name="Text 5"/>
            <p:cNvSpPr/>
            <p:nvPr/>
          </p:nvSpPr>
          <p:spPr>
            <a:xfrm>
              <a:off x="411480" y="1161288"/>
              <a:ext cx="3703320" cy="292608"/>
            </a:xfrm>
            <a:prstGeom prst="rect">
              <a:avLst/>
            </a:prstGeom>
            <a:noFill/>
            <a:ln/>
          </p:spPr>
          <p:txBody>
            <a:bodyPr wrap="square" rtlCol="0" anchor="t"/>
            <a:lstStyle/>
            <a:p>
              <a:pPr marL="0" indent="0" algn="l">
                <a:buNone/>
              </a:pPr>
              <a:r>
                <a:rPr lang="en-US" sz="950" dirty="0">
                  <a:solidFill>
                    <a:srgbClr val="F7F3EA"/>
                  </a:solidFill>
                  <a:latin typeface="Consolas" pitchFamily="34" charset="0"/>
                  <a:ea typeface="Consolas" pitchFamily="34" charset="-122"/>
                  <a:cs typeface="Consolas" pitchFamily="34" charset="-120"/>
                </a:rPr>
                <a:t>pip install transformers huggingface_hub</a:t>
              </a:r>
              <a:endParaRPr lang="en-US" sz="950" dirty="0"/>
            </a:p>
          </p:txBody>
        </p:sp>
        <p:sp>
          <p:nvSpPr>
            <p:cNvPr id="8" name="Text 6"/>
            <p:cNvSpPr/>
            <p:nvPr/>
          </p:nvSpPr>
          <p:spPr>
            <a:xfrm>
              <a:off x="274320" y="1572768"/>
              <a:ext cx="5152607" cy="256032"/>
            </a:xfrm>
            <a:prstGeom prst="rect">
              <a:avLst/>
            </a:prstGeom>
            <a:noFill/>
            <a:ln/>
          </p:spPr>
          <p:txBody>
            <a:bodyPr wrap="square" rtlCol="0" anchor="ctr"/>
            <a:lstStyle/>
            <a:p>
              <a:pPr marL="0" indent="0">
                <a:buNone/>
              </a:pPr>
              <a:r>
                <a:rPr lang="en-US" sz="1300" b="1" dirty="0">
                  <a:solidFill>
                    <a:srgbClr val="2563EB"/>
                  </a:solidFill>
                  <a:latin typeface="Calibri" pitchFamily="34" charset="0"/>
                  <a:ea typeface="Calibri" pitchFamily="34" charset="-122"/>
                  <a:cs typeface="Calibri" pitchFamily="34" charset="-120"/>
                </a:rPr>
                <a:t>Step 2 — Load model &amp; run on Apple Silicon (MPS)</a:t>
              </a:r>
              <a:endParaRPr lang="en-US" sz="1300" dirty="0"/>
            </a:p>
          </p:txBody>
        </p:sp>
        <p:sp>
          <p:nvSpPr>
            <p:cNvPr id="9" name="Shape 7"/>
            <p:cNvSpPr/>
            <p:nvPr/>
          </p:nvSpPr>
          <p:spPr>
            <a:xfrm>
              <a:off x="274320" y="1847087"/>
              <a:ext cx="5565574" cy="2341235"/>
            </a:xfrm>
            <a:prstGeom prst="rect">
              <a:avLst/>
            </a:prstGeom>
            <a:solidFill>
              <a:srgbClr val="1A1F36"/>
            </a:solidFill>
            <a:ln w="12700">
              <a:solidFill>
                <a:srgbClr val="1A1F36"/>
              </a:solidFill>
              <a:prstDash val="solid"/>
            </a:ln>
          </p:spPr>
        </p:sp>
        <p:sp>
          <p:nvSpPr>
            <p:cNvPr id="10" name="Text 8"/>
            <p:cNvSpPr/>
            <p:nvPr/>
          </p:nvSpPr>
          <p:spPr>
            <a:xfrm>
              <a:off x="411480" y="1911096"/>
              <a:ext cx="5565574" cy="2341236"/>
            </a:xfrm>
            <a:prstGeom prst="rect">
              <a:avLst/>
            </a:prstGeom>
            <a:noFill/>
            <a:ln/>
          </p:spPr>
          <p:txBody>
            <a:bodyPr wrap="square" rtlCol="0" anchor="t"/>
            <a:lstStyle/>
            <a:p>
              <a:r>
                <a:rPr lang="en-US" sz="950" dirty="0">
                  <a:solidFill>
                    <a:srgbClr val="93C5FD"/>
                  </a:solidFill>
                  <a:latin typeface="Consolas" pitchFamily="34" charset="0"/>
                  <a:ea typeface="Consolas" pitchFamily="34" charset="-122"/>
                  <a:cs typeface="Consolas" pitchFamily="34" charset="-120"/>
                </a:rPr>
                <a:t>import torch
</a:t>
              </a:r>
              <a:r>
                <a:rPr lang="en-US" sz="950" dirty="0">
                  <a:solidFill>
                    <a:srgbClr val="F472B6"/>
                  </a:solidFill>
                  <a:latin typeface="Consolas" pitchFamily="34" charset="0"/>
                  <a:ea typeface="Consolas" pitchFamily="34" charset="-122"/>
                  <a:cs typeface="Consolas" pitchFamily="34" charset="-120"/>
                </a:rPr>
                <a:t>from</a:t>
              </a:r>
              <a:r>
                <a:rPr lang="en-US" sz="950" dirty="0">
                  <a:solidFill>
                    <a:srgbClr val="F7F3EA"/>
                  </a:solidFill>
                  <a:latin typeface="Consolas" pitchFamily="34" charset="0"/>
                  <a:ea typeface="Consolas" pitchFamily="34" charset="-122"/>
                  <a:cs typeface="Consolas" pitchFamily="34" charset="-120"/>
                </a:rPr>
                <a:t> transformers </a:t>
              </a:r>
              <a:r>
                <a:rPr lang="en-US" sz="950" dirty="0">
                  <a:solidFill>
                    <a:srgbClr val="F472B6"/>
                  </a:solidFill>
                  <a:latin typeface="Consolas" pitchFamily="34" charset="0"/>
                  <a:ea typeface="Consolas" pitchFamily="34" charset="-122"/>
                  <a:cs typeface="Consolas" pitchFamily="34" charset="-120"/>
                </a:rPr>
                <a:t>import</a:t>
              </a:r>
              <a:r>
                <a:rPr lang="en-US" sz="950" dirty="0">
                  <a:solidFill>
                    <a:srgbClr val="F7F3EA"/>
                  </a:solidFill>
                  <a:latin typeface="Consolas" pitchFamily="34" charset="0"/>
                  <a:ea typeface="Consolas" pitchFamily="34" charset="-122"/>
                  <a:cs typeface="Consolas" pitchFamily="34" charset="-120"/>
                </a:rPr>
                <a:t> </a:t>
              </a:r>
              <a:r>
                <a:rPr lang="en-US" sz="950" dirty="0" err="1">
                  <a:solidFill>
                    <a:srgbClr val="F7F3EA"/>
                  </a:solidFill>
                  <a:latin typeface="Consolas" pitchFamily="34" charset="0"/>
                  <a:ea typeface="Consolas" pitchFamily="34" charset="-122"/>
                  <a:cs typeface="Consolas" pitchFamily="34" charset="-120"/>
                </a:rPr>
                <a:t>AutoTokenizer</a:t>
              </a:r>
              <a:r>
                <a:rPr lang="en-US" sz="950" dirty="0">
                  <a:solidFill>
                    <a:srgbClr val="F7F3EA"/>
                  </a:solidFill>
                  <a:latin typeface="Consolas" pitchFamily="34" charset="0"/>
                  <a:ea typeface="Consolas" pitchFamily="34" charset="-122"/>
                  <a:cs typeface="Consolas" pitchFamily="34" charset="-120"/>
                </a:rPr>
                <a:t>, </a:t>
              </a:r>
              <a:r>
                <a:rPr lang="en-US" sz="950" dirty="0" err="1">
                  <a:solidFill>
                    <a:srgbClr val="F7F3EA"/>
                  </a:solidFill>
                  <a:latin typeface="Consolas" pitchFamily="34" charset="0"/>
                  <a:ea typeface="Consolas" pitchFamily="34" charset="-122"/>
                  <a:cs typeface="Consolas" pitchFamily="34" charset="-120"/>
                </a:rPr>
                <a:t>AutoModelForCausalLM</a:t>
              </a:r>
              <a:r>
                <a:rPr lang="en-US" sz="950" dirty="0">
                  <a:solidFill>
                    <a:srgbClr val="F7F3EA"/>
                  </a:solidFill>
                  <a:latin typeface="Consolas" pitchFamily="34" charset="0"/>
                  <a:ea typeface="Consolas" pitchFamily="34" charset="-122"/>
                  <a:cs typeface="Consolas" pitchFamily="34" charset="-120"/>
                </a:rPr>
                <a:t>
</a:t>
              </a:r>
              <a:r>
                <a:rPr lang="en-US" sz="950" dirty="0" err="1">
                  <a:solidFill>
                    <a:srgbClr val="34D399"/>
                  </a:solidFill>
                  <a:latin typeface="Consolas" pitchFamily="34" charset="0"/>
                  <a:ea typeface="Consolas" pitchFamily="34" charset="-122"/>
                  <a:cs typeface="Consolas" pitchFamily="34" charset="-120"/>
                </a:rPr>
                <a:t>model_id</a:t>
              </a:r>
              <a:r>
                <a:rPr lang="en-US" sz="950" dirty="0">
                  <a:solidFill>
                    <a:srgbClr val="F7F3EA"/>
                  </a:solidFill>
                  <a:latin typeface="Consolas" pitchFamily="34" charset="0"/>
                  <a:ea typeface="Consolas" pitchFamily="34" charset="-122"/>
                  <a:cs typeface="Consolas" pitchFamily="34" charset="-120"/>
                </a:rPr>
                <a:t> = "google/gemma-2-2b-it"
</a:t>
              </a:r>
              <a:r>
                <a:rPr lang="en-US" sz="950" dirty="0">
                  <a:solidFill>
                    <a:srgbClr val="34D399"/>
                  </a:solidFill>
                  <a:latin typeface="Consolas" pitchFamily="34" charset="0"/>
                  <a:ea typeface="Consolas" pitchFamily="34" charset="-122"/>
                  <a:cs typeface="Consolas" pitchFamily="34" charset="-120"/>
                </a:rPr>
                <a:t>tokenizer</a:t>
              </a:r>
              <a:r>
                <a:rPr lang="en-US" sz="950" dirty="0">
                  <a:solidFill>
                    <a:srgbClr val="F7F3EA"/>
                  </a:solidFill>
                  <a:latin typeface="Consolas" pitchFamily="34" charset="0"/>
                  <a:ea typeface="Consolas" pitchFamily="34" charset="-122"/>
                  <a:cs typeface="Consolas" pitchFamily="34" charset="-120"/>
                </a:rPr>
                <a:t> = </a:t>
              </a:r>
              <a:r>
                <a:rPr lang="en-US" sz="950" dirty="0" err="1">
                  <a:solidFill>
                    <a:srgbClr val="F7F3EA"/>
                  </a:solidFill>
                  <a:latin typeface="Consolas" pitchFamily="34" charset="0"/>
                  <a:ea typeface="Consolas" pitchFamily="34" charset="-122"/>
                  <a:cs typeface="Consolas" pitchFamily="34" charset="-120"/>
                </a:rPr>
                <a:t>AutoTokenizer.from_pretrained</a:t>
              </a:r>
              <a:r>
                <a:rPr lang="en-US" sz="950" dirty="0">
                  <a:solidFill>
                    <a:srgbClr val="F7F3EA"/>
                  </a:solidFill>
                  <a:latin typeface="Consolas" pitchFamily="34" charset="0"/>
                  <a:ea typeface="Consolas" pitchFamily="34" charset="-122"/>
                  <a:cs typeface="Consolas" pitchFamily="34" charset="-120"/>
                </a:rPr>
                <a:t>(</a:t>
              </a:r>
              <a:r>
                <a:rPr lang="en-US" sz="950" dirty="0" err="1">
                  <a:solidFill>
                    <a:srgbClr val="F7F3EA"/>
                  </a:solidFill>
                  <a:latin typeface="Consolas" pitchFamily="34" charset="0"/>
                  <a:ea typeface="Consolas" pitchFamily="34" charset="-122"/>
                  <a:cs typeface="Consolas" pitchFamily="34" charset="-120"/>
                </a:rPr>
                <a:t>model_id</a:t>
              </a:r>
              <a:r>
                <a:rPr lang="en-US" sz="950" dirty="0">
                  <a:solidFill>
                    <a:srgbClr val="F7F3EA"/>
                  </a:solidFill>
                  <a:latin typeface="Consolas" pitchFamily="34" charset="0"/>
                  <a:ea typeface="Consolas" pitchFamily="34" charset="-122"/>
                  <a:cs typeface="Consolas" pitchFamily="34" charset="-120"/>
                </a:rPr>
                <a:t>)
</a:t>
              </a:r>
              <a:r>
                <a:rPr lang="en-US" sz="950" dirty="0">
                  <a:solidFill>
                    <a:srgbClr val="34D399"/>
                  </a:solidFill>
                  <a:latin typeface="Consolas" pitchFamily="34" charset="0"/>
                  <a:ea typeface="Consolas" pitchFamily="34" charset="-122"/>
                  <a:cs typeface="Consolas" pitchFamily="34" charset="-120"/>
                </a:rPr>
                <a:t>model</a:t>
              </a:r>
              <a:r>
                <a:rPr lang="en-US" sz="950" dirty="0">
                  <a:solidFill>
                    <a:srgbClr val="F7F3EA"/>
                  </a:solidFill>
                  <a:latin typeface="Consolas" pitchFamily="34" charset="0"/>
                  <a:ea typeface="Consolas" pitchFamily="34" charset="-122"/>
                  <a:cs typeface="Consolas" pitchFamily="34" charset="-120"/>
                </a:rPr>
                <a:t> = </a:t>
              </a:r>
              <a:r>
                <a:rPr lang="en-US" sz="950" dirty="0" err="1">
                  <a:solidFill>
                    <a:srgbClr val="F7F3EA"/>
                  </a:solidFill>
                  <a:latin typeface="Consolas" pitchFamily="34" charset="0"/>
                  <a:ea typeface="Consolas" pitchFamily="34" charset="-122"/>
                  <a:cs typeface="Consolas" pitchFamily="34" charset="-120"/>
                </a:rPr>
                <a:t>AutoModelForCausalLM.from_pretrained</a:t>
              </a:r>
              <a:r>
                <a:rPr lang="en-US" sz="950" dirty="0">
                  <a:solidFill>
                    <a:srgbClr val="F7F3EA"/>
                  </a:solidFill>
                  <a:latin typeface="Consolas" pitchFamily="34" charset="0"/>
                  <a:ea typeface="Consolas" pitchFamily="34" charset="-122"/>
                  <a:cs typeface="Consolas" pitchFamily="34" charset="-120"/>
                </a:rPr>
                <a:t>(</a:t>
              </a:r>
              <a:r>
                <a:rPr lang="en-US" sz="950" dirty="0" err="1">
                  <a:solidFill>
                    <a:srgbClr val="F7F3EA"/>
                  </a:solidFill>
                  <a:latin typeface="Consolas" pitchFamily="34" charset="0"/>
                  <a:ea typeface="Consolas" pitchFamily="34" charset="-122"/>
                  <a:cs typeface="Consolas" pitchFamily="34" charset="-120"/>
                </a:rPr>
                <a:t>model_id</a:t>
              </a:r>
              <a:r>
                <a:rPr lang="en-US" sz="950" dirty="0">
                  <a:solidFill>
                    <a:srgbClr val="F7F3EA"/>
                  </a:solidFill>
                  <a:latin typeface="Consolas" pitchFamily="34" charset="0"/>
                  <a:ea typeface="Consolas" pitchFamily="34" charset="-122"/>
                  <a:cs typeface="Consolas" pitchFamily="34" charset="-120"/>
                </a:rPr>
                <a:t>)
</a:t>
              </a:r>
              <a:r>
                <a:rPr lang="en-US" sz="950" dirty="0">
                  <a:solidFill>
                    <a:srgbClr val="34D399"/>
                  </a:solidFill>
                  <a:latin typeface="Consolas" pitchFamily="34" charset="0"/>
                  <a:ea typeface="Consolas" pitchFamily="34" charset="-122"/>
                  <a:cs typeface="Consolas" pitchFamily="34" charset="-120"/>
                </a:rPr>
                <a:t>device</a:t>
              </a:r>
              <a:r>
                <a:rPr lang="en-US" sz="950" dirty="0">
                  <a:solidFill>
                    <a:srgbClr val="F7F3EA"/>
                  </a:solidFill>
                  <a:latin typeface="Consolas" pitchFamily="34" charset="0"/>
                  <a:ea typeface="Consolas" pitchFamily="34" charset="-122"/>
                  <a:cs typeface="Consolas" pitchFamily="34" charset="-120"/>
                </a:rPr>
                <a:t> = "</a:t>
              </a:r>
              <a:r>
                <a:rPr lang="en-US" sz="950" dirty="0" err="1">
                  <a:solidFill>
                    <a:srgbClr val="F7F3EA"/>
                  </a:solidFill>
                  <a:latin typeface="Consolas" pitchFamily="34" charset="0"/>
                  <a:ea typeface="Consolas" pitchFamily="34" charset="-122"/>
                  <a:cs typeface="Consolas" pitchFamily="34" charset="-120"/>
                </a:rPr>
                <a:t>mps</a:t>
              </a:r>
              <a:r>
                <a:rPr lang="en-US" sz="950" dirty="0">
                  <a:solidFill>
                    <a:srgbClr val="F7F3EA"/>
                  </a:solidFill>
                  <a:latin typeface="Consolas" pitchFamily="34" charset="0"/>
                  <a:ea typeface="Consolas" pitchFamily="34" charset="-122"/>
                  <a:cs typeface="Consolas" pitchFamily="34" charset="-120"/>
                </a:rPr>
                <a:t>" </a:t>
              </a:r>
              <a:r>
                <a:rPr lang="en-US" sz="950" dirty="0">
                  <a:solidFill>
                    <a:srgbClr val="F472B6"/>
                  </a:solidFill>
                  <a:latin typeface="Consolas" pitchFamily="34" charset="0"/>
                  <a:ea typeface="Consolas" pitchFamily="34" charset="-122"/>
                  <a:cs typeface="Consolas" pitchFamily="34" charset="-120"/>
                </a:rPr>
                <a:t>if</a:t>
              </a:r>
              <a:r>
                <a:rPr lang="en-US" sz="950" dirty="0">
                  <a:solidFill>
                    <a:srgbClr val="F7F3EA"/>
                  </a:solidFill>
                  <a:latin typeface="Consolas" pitchFamily="34" charset="0"/>
                  <a:ea typeface="Consolas" pitchFamily="34" charset="-122"/>
                  <a:cs typeface="Consolas" pitchFamily="34" charset="-120"/>
                </a:rPr>
                <a:t> </a:t>
              </a:r>
              <a:r>
                <a:rPr lang="en-US" sz="950" dirty="0" err="1">
                  <a:solidFill>
                    <a:srgbClr val="F7F3EA"/>
                  </a:solidFill>
                  <a:latin typeface="Consolas" pitchFamily="34" charset="0"/>
                  <a:ea typeface="Consolas" pitchFamily="34" charset="-122"/>
                  <a:cs typeface="Consolas" pitchFamily="34" charset="-120"/>
                </a:rPr>
                <a:t>torch.backends.mps.is_available</a:t>
              </a:r>
              <a:r>
                <a:rPr lang="en-US" sz="950" dirty="0">
                  <a:solidFill>
                    <a:srgbClr val="F7F3EA"/>
                  </a:solidFill>
                  <a:latin typeface="Consolas" pitchFamily="34" charset="0"/>
                  <a:ea typeface="Consolas" pitchFamily="34" charset="-122"/>
                  <a:cs typeface="Consolas" pitchFamily="34" charset="-120"/>
                </a:rPr>
                <a:t>() </a:t>
              </a:r>
              <a:r>
                <a:rPr lang="en-US" sz="950" dirty="0">
                  <a:solidFill>
                    <a:srgbClr val="F472B6"/>
                  </a:solidFill>
                  <a:latin typeface="Consolas" pitchFamily="34" charset="0"/>
                  <a:ea typeface="Consolas" pitchFamily="34" charset="-122"/>
                  <a:cs typeface="Consolas" pitchFamily="34" charset="-120"/>
                </a:rPr>
                <a:t>else</a:t>
              </a:r>
              <a:r>
                <a:rPr lang="en-US" sz="950" dirty="0">
                  <a:solidFill>
                    <a:srgbClr val="F7F3EA"/>
                  </a:solidFill>
                  <a:latin typeface="Consolas" pitchFamily="34" charset="0"/>
                  <a:ea typeface="Consolas" pitchFamily="34" charset="-122"/>
                  <a:cs typeface="Consolas" pitchFamily="34" charset="-120"/>
                </a:rPr>
                <a:t> "</a:t>
              </a:r>
              <a:r>
                <a:rPr lang="en-US" sz="950" dirty="0" err="1">
                  <a:solidFill>
                    <a:srgbClr val="F7F3EA"/>
                  </a:solidFill>
                  <a:latin typeface="Consolas" pitchFamily="34" charset="0"/>
                  <a:ea typeface="Consolas" pitchFamily="34" charset="-122"/>
                  <a:cs typeface="Consolas" pitchFamily="34" charset="-120"/>
                </a:rPr>
                <a:t>cpu</a:t>
              </a:r>
              <a:r>
                <a:rPr lang="en-US" sz="950" dirty="0">
                  <a:solidFill>
                    <a:srgbClr val="F7F3EA"/>
                  </a:solidFill>
                  <a:latin typeface="Consolas" pitchFamily="34" charset="0"/>
                  <a:ea typeface="Consolas" pitchFamily="34" charset="-122"/>
                  <a:cs typeface="Consolas" pitchFamily="34" charset="-120"/>
                </a:rPr>
                <a:t>"
</a:t>
              </a:r>
              <a:r>
                <a:rPr lang="en-US" sz="950" dirty="0">
                  <a:solidFill>
                    <a:srgbClr val="34D399"/>
                  </a:solidFill>
                  <a:latin typeface="Consolas" pitchFamily="34" charset="0"/>
                  <a:ea typeface="Consolas" pitchFamily="34" charset="-122"/>
                  <a:cs typeface="Consolas" pitchFamily="34" charset="-120"/>
                </a:rPr>
                <a:t>model</a:t>
              </a:r>
              <a:r>
                <a:rPr lang="en-US" sz="950" dirty="0">
                  <a:solidFill>
                    <a:srgbClr val="F7F3EA"/>
                  </a:solidFill>
                  <a:latin typeface="Consolas" pitchFamily="34" charset="0"/>
                  <a:ea typeface="Consolas" pitchFamily="34" charset="-122"/>
                  <a:cs typeface="Consolas" pitchFamily="34" charset="-120"/>
                </a:rPr>
                <a:t> = </a:t>
              </a:r>
              <a:r>
                <a:rPr lang="en-US" sz="950" dirty="0" err="1">
                  <a:solidFill>
                    <a:srgbClr val="F7F3EA"/>
                  </a:solidFill>
                  <a:latin typeface="Consolas" pitchFamily="34" charset="0"/>
                  <a:ea typeface="Consolas" pitchFamily="34" charset="-122"/>
                  <a:cs typeface="Consolas" pitchFamily="34" charset="-120"/>
                </a:rPr>
                <a:t>model.to</a:t>
              </a:r>
              <a:r>
                <a:rPr lang="en-US" sz="950" dirty="0">
                  <a:solidFill>
                    <a:srgbClr val="F7F3EA"/>
                  </a:solidFill>
                  <a:latin typeface="Consolas" pitchFamily="34" charset="0"/>
                  <a:ea typeface="Consolas" pitchFamily="34" charset="-122"/>
                  <a:cs typeface="Consolas" pitchFamily="34" charset="-120"/>
                </a:rPr>
                <a:t>(device)
</a:t>
              </a:r>
              <a:r>
                <a:rPr lang="en-US" sz="950" dirty="0">
                  <a:solidFill>
                    <a:srgbClr val="34D399"/>
                  </a:solidFill>
                  <a:latin typeface="Consolas" pitchFamily="34" charset="0"/>
                  <a:ea typeface="Consolas" pitchFamily="34" charset="-122"/>
                  <a:cs typeface="Consolas" pitchFamily="34" charset="-120"/>
                </a:rPr>
                <a:t>inputs</a:t>
              </a:r>
              <a:r>
                <a:rPr lang="en-US" sz="950" dirty="0">
                  <a:solidFill>
                    <a:srgbClr val="F7F3EA"/>
                  </a:solidFill>
                  <a:latin typeface="Consolas" pitchFamily="34" charset="0"/>
                  <a:ea typeface="Consolas" pitchFamily="34" charset="-122"/>
                  <a:cs typeface="Consolas" pitchFamily="34" charset="-120"/>
                </a:rPr>
                <a:t> = tokenizer("What is quantum computing?", </a:t>
              </a:r>
              <a:r>
                <a:rPr lang="en-US" sz="950" dirty="0" err="1">
                  <a:solidFill>
                    <a:srgbClr val="F7F3EA"/>
                  </a:solidFill>
                  <a:latin typeface="Consolas" pitchFamily="34" charset="0"/>
                  <a:ea typeface="Consolas" pitchFamily="34" charset="-122"/>
                  <a:cs typeface="Consolas" pitchFamily="34" charset="-120"/>
                </a:rPr>
                <a:t>return_tensors</a:t>
              </a:r>
              <a:r>
                <a:rPr lang="en-US" sz="950" dirty="0">
                  <a:solidFill>
                    <a:srgbClr val="F7F3EA"/>
                  </a:solidFill>
                  <a:latin typeface="Consolas" pitchFamily="34" charset="0"/>
                  <a:ea typeface="Consolas" pitchFamily="34" charset="-122"/>
                  <a:cs typeface="Consolas" pitchFamily="34" charset="-120"/>
                </a:rPr>
                <a:t>=</a:t>
              </a:r>
              <a:r>
                <a:rPr lang="en-US" sz="950" dirty="0">
                  <a:solidFill>
                    <a:srgbClr val="F5D78E"/>
                  </a:solidFill>
                  <a:latin typeface="Consolas" pitchFamily="34" charset="0"/>
                  <a:ea typeface="Consolas" pitchFamily="34" charset="-122"/>
                  <a:cs typeface="Consolas" pitchFamily="34" charset="-120"/>
                </a:rPr>
                <a:t>"pt"</a:t>
              </a:r>
              <a:r>
                <a:rPr lang="en-US" sz="950" dirty="0">
                  <a:solidFill>
                    <a:srgbClr val="F7F3EA"/>
                  </a:solidFill>
                  <a:latin typeface="Consolas" pitchFamily="34" charset="0"/>
                  <a:ea typeface="Consolas" pitchFamily="34" charset="-122"/>
                  <a:cs typeface="Consolas" pitchFamily="34" charset="-120"/>
                </a:rPr>
                <a:t>).to(device)
</a:t>
              </a:r>
              <a:r>
                <a:rPr lang="en-US" sz="950" dirty="0">
                  <a:solidFill>
                    <a:srgbClr val="34D399"/>
                  </a:solidFill>
                  <a:latin typeface="Consolas" pitchFamily="34" charset="0"/>
                  <a:ea typeface="Consolas" pitchFamily="34" charset="-122"/>
                  <a:cs typeface="Consolas" pitchFamily="34" charset="-120"/>
                </a:rPr>
                <a:t>outputs</a:t>
              </a:r>
              <a:r>
                <a:rPr lang="en-US" sz="950" dirty="0">
                  <a:solidFill>
                    <a:srgbClr val="F7F3EA"/>
                  </a:solidFill>
                  <a:latin typeface="Consolas" pitchFamily="34" charset="0"/>
                  <a:ea typeface="Consolas" pitchFamily="34" charset="-122"/>
                  <a:cs typeface="Consolas" pitchFamily="34" charset="-120"/>
                </a:rPr>
                <a:t> = </a:t>
              </a:r>
              <a:r>
                <a:rPr lang="en-US" sz="950" dirty="0" err="1">
                  <a:solidFill>
                    <a:srgbClr val="F7F3EA"/>
                  </a:solidFill>
                  <a:latin typeface="Consolas" pitchFamily="34" charset="0"/>
                  <a:ea typeface="Consolas" pitchFamily="34" charset="-122"/>
                  <a:cs typeface="Consolas" pitchFamily="34" charset="-120"/>
                </a:rPr>
                <a:t>model.generate</a:t>
              </a:r>
              <a:r>
                <a:rPr lang="en-US" sz="950" dirty="0">
                  <a:solidFill>
                    <a:srgbClr val="F7F3EA"/>
                  </a:solidFill>
                  <a:latin typeface="Consolas" pitchFamily="34" charset="0"/>
                  <a:ea typeface="Consolas" pitchFamily="34" charset="-122"/>
                  <a:cs typeface="Consolas" pitchFamily="34" charset="-120"/>
                </a:rPr>
                <a:t>(**inputs, </a:t>
              </a:r>
              <a:r>
                <a:rPr lang="en-US" sz="950" dirty="0" err="1">
                  <a:solidFill>
                    <a:srgbClr val="F7F3EA"/>
                  </a:solidFill>
                  <a:latin typeface="Consolas" pitchFamily="34" charset="0"/>
                  <a:ea typeface="Consolas" pitchFamily="34" charset="-122"/>
                  <a:cs typeface="Consolas" pitchFamily="34" charset="-120"/>
                </a:rPr>
                <a:t>max_new_tokens</a:t>
              </a:r>
              <a:r>
                <a:rPr lang="en-US" sz="950" dirty="0">
                  <a:solidFill>
                    <a:srgbClr val="F7F3EA"/>
                  </a:solidFill>
                  <a:latin typeface="Consolas" pitchFamily="34" charset="0"/>
                  <a:ea typeface="Consolas" pitchFamily="34" charset="-122"/>
                  <a:cs typeface="Consolas" pitchFamily="34" charset="-120"/>
                </a:rPr>
                <a:t>=</a:t>
              </a:r>
              <a:r>
                <a:rPr lang="en-US" sz="950" dirty="0">
                  <a:solidFill>
                    <a:srgbClr val="F5D78E"/>
                  </a:solidFill>
                  <a:latin typeface="Consolas" pitchFamily="34" charset="0"/>
                  <a:ea typeface="Consolas" pitchFamily="34" charset="-122"/>
                  <a:cs typeface="Consolas" pitchFamily="34" charset="-120"/>
                </a:rPr>
                <a:t>100</a:t>
              </a:r>
              <a:r>
                <a:rPr lang="en-US" sz="950" dirty="0">
                  <a:solidFill>
                    <a:srgbClr val="F7F3EA"/>
                  </a:solidFill>
                  <a:latin typeface="Consolas" pitchFamily="34" charset="0"/>
                  <a:ea typeface="Consolas" pitchFamily="34" charset="-122"/>
                  <a:cs typeface="Consolas" pitchFamily="34" charset="-120"/>
                </a:rPr>
                <a:t>)
</a:t>
              </a:r>
              <a:r>
                <a:rPr lang="en-US" sz="950" dirty="0">
                  <a:solidFill>
                    <a:srgbClr val="93C5FD"/>
                  </a:solidFill>
                  <a:latin typeface="Consolas" pitchFamily="34" charset="0"/>
                  <a:ea typeface="Consolas" pitchFamily="34" charset="-122"/>
                  <a:cs typeface="Consolas" pitchFamily="34" charset="-120"/>
                </a:rPr>
                <a:t>print</a:t>
              </a:r>
              <a:r>
                <a:rPr lang="en-US" sz="950" dirty="0">
                  <a:solidFill>
                    <a:srgbClr val="F7F3EA"/>
                  </a:solidFill>
                  <a:latin typeface="Consolas" pitchFamily="34" charset="0"/>
                  <a:ea typeface="Consolas" pitchFamily="34" charset="-122"/>
                  <a:cs typeface="Consolas" pitchFamily="34" charset="-120"/>
                </a:rPr>
                <a:t>(</a:t>
              </a:r>
              <a:r>
                <a:rPr lang="en-US" sz="950" dirty="0" err="1">
                  <a:solidFill>
                    <a:srgbClr val="F7F3EA"/>
                  </a:solidFill>
                  <a:latin typeface="Consolas" pitchFamily="34" charset="0"/>
                  <a:ea typeface="Consolas" pitchFamily="34" charset="-122"/>
                  <a:cs typeface="Consolas" pitchFamily="34" charset="-120"/>
                </a:rPr>
                <a:t>tokenizer.decode</a:t>
              </a:r>
              <a:r>
                <a:rPr lang="en-US" sz="950" dirty="0">
                  <a:solidFill>
                    <a:srgbClr val="F7F3EA"/>
                  </a:solidFill>
                  <a:latin typeface="Consolas" pitchFamily="34" charset="0"/>
                  <a:ea typeface="Consolas" pitchFamily="34" charset="-122"/>
                  <a:cs typeface="Consolas" pitchFamily="34" charset="-120"/>
                </a:rPr>
                <a:t>(outputs[</a:t>
              </a:r>
              <a:r>
                <a:rPr lang="en-US" sz="950" dirty="0">
                  <a:solidFill>
                    <a:srgbClr val="F5D78E"/>
                  </a:solidFill>
                  <a:latin typeface="Consolas" pitchFamily="34" charset="0"/>
                  <a:ea typeface="Consolas" pitchFamily="34" charset="-122"/>
                  <a:cs typeface="Consolas" pitchFamily="34" charset="-120"/>
                </a:rPr>
                <a:t>0</a:t>
              </a:r>
              <a:r>
                <a:rPr lang="en-US" sz="950" dirty="0">
                  <a:solidFill>
                    <a:srgbClr val="F7F3EA"/>
                  </a:solidFill>
                  <a:latin typeface="Consolas" pitchFamily="34" charset="0"/>
                  <a:ea typeface="Consolas" pitchFamily="34" charset="-122"/>
                  <a:cs typeface="Consolas" pitchFamily="34" charset="-120"/>
                </a:rPr>
                <a:t>], </a:t>
              </a:r>
              <a:r>
                <a:rPr lang="en-US" sz="950" dirty="0" err="1">
                  <a:solidFill>
                    <a:srgbClr val="F7F3EA"/>
                  </a:solidFill>
                  <a:latin typeface="Consolas" pitchFamily="34" charset="0"/>
                  <a:ea typeface="Consolas" pitchFamily="34" charset="-122"/>
                  <a:cs typeface="Consolas" pitchFamily="34" charset="-120"/>
                </a:rPr>
                <a:t>skip_special_tokens</a:t>
              </a:r>
              <a:r>
                <a:rPr lang="en-US" sz="950" dirty="0">
                  <a:solidFill>
                    <a:srgbClr val="F7F3EA"/>
                  </a:solidFill>
                  <a:latin typeface="Consolas" pitchFamily="34" charset="0"/>
                  <a:ea typeface="Consolas" pitchFamily="34" charset="-122"/>
                  <a:cs typeface="Consolas" pitchFamily="34" charset="-120"/>
                </a:rPr>
                <a:t>=</a:t>
              </a:r>
              <a:r>
                <a:rPr lang="en-US" sz="950" dirty="0">
                  <a:solidFill>
                    <a:srgbClr val="F472B6"/>
                  </a:solidFill>
                  <a:latin typeface="Consolas" pitchFamily="34" charset="0"/>
                  <a:ea typeface="Consolas" pitchFamily="34" charset="-122"/>
                  <a:cs typeface="Consolas" pitchFamily="34" charset="-120"/>
                </a:rPr>
                <a:t>True</a:t>
              </a:r>
              <a:r>
                <a:rPr lang="en-US" sz="950" dirty="0">
                  <a:solidFill>
                    <a:srgbClr val="F7F3EA"/>
                  </a:solidFill>
                  <a:latin typeface="Consolas" pitchFamily="34" charset="0"/>
                  <a:ea typeface="Consolas" pitchFamily="34" charset="-122"/>
                  <a:cs typeface="Consolas" pitchFamily="34" charset="-120"/>
                </a:rPr>
                <a:t>))</a:t>
              </a:r>
              <a:endParaRPr lang="en-US" sz="950" dirty="0"/>
            </a:p>
          </p:txBody>
        </p:sp>
      </p:grpSp>
      <p:sp>
        <p:nvSpPr>
          <p:cNvPr id="11" name="Shape 9"/>
          <p:cNvSpPr/>
          <p:nvPr/>
        </p:nvSpPr>
        <p:spPr>
          <a:xfrm>
            <a:off x="6172200" y="1078992"/>
            <a:ext cx="2834640" cy="2341234"/>
          </a:xfrm>
          <a:prstGeom prst="rect">
            <a:avLst/>
          </a:prstGeom>
          <a:solidFill>
            <a:srgbClr val="FFFFFF"/>
          </a:solidFill>
          <a:ln w="6350">
            <a:solidFill>
              <a:srgbClr val="CADCFC"/>
            </a:solidFill>
            <a:prstDash val="solid"/>
          </a:ln>
          <a:effectLst>
            <a:outerShdw blurRad="101600" dist="25400" dir="8100000" algn="bl" rotWithShape="0">
              <a:srgbClr val="1A1F36">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3D5A80"/>
              </a:solidFill>
              <a:effectLst/>
              <a:uLnTx/>
              <a:uFillTx/>
              <a:latin typeface="Calibri" pitchFamily="34" charset="0"/>
              <a:ea typeface="Calibri" pitchFamily="34" charset="-122"/>
              <a:cs typeface="Calibri" pitchFamily="34" charset="-120"/>
            </a:endParaRPr>
          </a:p>
          <a:p>
            <a:pPr>
              <a:defRPr/>
            </a:pPr>
            <a:r>
              <a:rPr lang="en-US" sz="1100" dirty="0">
                <a:solidFill>
                  <a:srgbClr val="A5C8FF"/>
                </a:solidFill>
                <a:latin typeface="Calibri" pitchFamily="34" charset="0"/>
                <a:ea typeface="Calibri" pitchFamily="34" charset="-122"/>
                <a:cs typeface="Calibri" pitchFamily="34" charset="-120"/>
              </a:rPr>
              <a:t>🖥️  </a:t>
            </a:r>
            <a:r>
              <a:rPr lang="en-US" sz="1200" b="1" dirty="0">
                <a:solidFill>
                  <a:schemeClr val="accent1"/>
                </a:solidFill>
                <a:latin typeface="Calibri" pitchFamily="34" charset="0"/>
                <a:ea typeface="Calibri" pitchFamily="34" charset="-122"/>
                <a:cs typeface="Calibri" pitchFamily="34" charset="-120"/>
              </a:rPr>
              <a:t>Runs on your machine using </a:t>
            </a:r>
            <a:r>
              <a:rPr lang="en-US" sz="1200" b="1" dirty="0" err="1">
                <a:solidFill>
                  <a:schemeClr val="accent1"/>
                </a:solidFill>
                <a:latin typeface="Calibri" pitchFamily="34" charset="0"/>
                <a:ea typeface="Calibri" pitchFamily="34" charset="-122"/>
                <a:cs typeface="Calibri" pitchFamily="34" charset="-120"/>
              </a:rPr>
              <a:t>PyTorch</a:t>
            </a:r>
            <a:endParaRPr lang="en-US" sz="1100" b="1" dirty="0">
              <a:solidFill>
                <a:schemeClr val="accent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1" dirty="0">
              <a:solidFill>
                <a:srgbClr val="3D5A80"/>
              </a:solidFill>
              <a:latin typeface="Calibri" pitchFamily="34" charset="0"/>
              <a:ea typeface="Calibri" pitchFamily="34" charset="-122"/>
              <a:cs typeface="Calibr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3D5A80"/>
              </a:solidFill>
              <a:effectLst/>
              <a:uLnTx/>
              <a:uFillTx/>
              <a:latin typeface="Calibri" pitchFamily="34" charset="0"/>
              <a:ea typeface="Calibri" pitchFamily="34" charset="-122"/>
              <a:cs typeface="Calibr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1" dirty="0">
              <a:solidFill>
                <a:srgbClr val="3D5A80"/>
              </a:solidFill>
              <a:latin typeface="Calibri" pitchFamily="34" charset="0"/>
              <a:ea typeface="Calibri" pitchFamily="34" charset="-122"/>
              <a:cs typeface="Calibr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3D5A80"/>
                </a:solidFill>
                <a:effectLst/>
                <a:uLnTx/>
                <a:uFillTx/>
                <a:latin typeface="Calibri" pitchFamily="34" charset="0"/>
                <a:ea typeface="Calibri" pitchFamily="34" charset="-122"/>
                <a:cs typeface="Calibri" pitchFamily="34" charset="-120"/>
              </a:rPr>
              <a:t>✅ MPS speed-up</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r>
              <a:rPr kumimoji="0" lang="en-US" sz="1000" b="0" i="0" u="none" strike="noStrike" kern="1200" cap="none" spc="0" normalizeH="0" baseline="0" noProof="0" dirty="0">
                <a:ln>
                  <a:noFill/>
                </a:ln>
                <a:solidFill>
                  <a:srgbClr val="3D5A80"/>
                </a:solidFill>
                <a:effectLst/>
                <a:uLnTx/>
                <a:uFillTx/>
                <a:latin typeface="Calibri" pitchFamily="34" charset="0"/>
                <a:ea typeface="Calibri" pitchFamily="34" charset="-122"/>
                <a:cs typeface="Calibri" pitchFamily="34" charset="-120"/>
              </a:rPr>
              <a:t>device='</a:t>
            </a:r>
            <a:r>
              <a:rPr kumimoji="0" lang="en-US" sz="1000" b="0" i="0" u="none" strike="noStrike" kern="1200" cap="none" spc="0" normalizeH="0" baseline="0" noProof="0" dirty="0" err="1">
                <a:ln>
                  <a:noFill/>
                </a:ln>
                <a:solidFill>
                  <a:srgbClr val="3D5A80"/>
                </a:solidFill>
                <a:effectLst/>
                <a:uLnTx/>
                <a:uFillTx/>
                <a:latin typeface="Calibri" pitchFamily="34" charset="0"/>
                <a:ea typeface="Calibri" pitchFamily="34" charset="-122"/>
                <a:cs typeface="Calibri" pitchFamily="34" charset="-120"/>
              </a:rPr>
              <a:t>mps'</a:t>
            </a:r>
            <a:r>
              <a:rPr kumimoji="0" lang="en-US" sz="1000" b="0" i="0" u="none" strike="noStrike" kern="1200" cap="none" spc="0" normalizeH="0" baseline="0" noProof="0" dirty="0">
                <a:ln>
                  <a:noFill/>
                </a:ln>
                <a:solidFill>
                  <a:srgbClr val="3D5A80"/>
                </a:solidFill>
                <a:effectLst/>
                <a:uLnTx/>
                <a:uFillTx/>
                <a:latin typeface="Calibri" pitchFamily="34" charset="0"/>
                <a:ea typeface="Calibri" pitchFamily="34" charset="-122"/>
                <a:cs typeface="Calibri" pitchFamily="34" charset="-120"/>
              </a:rPr>
              <a:t> uses your M3 GPU — much faster than CPU</a:t>
            </a:r>
          </a:p>
          <a:p>
            <a:endParaRPr lang="en-US" sz="1000" dirty="0">
              <a:solidFill>
                <a:srgbClr val="3D5A80"/>
              </a:solidFill>
              <a:latin typeface="Calibri" pitchFamily="34" charset="0"/>
              <a:cs typeface="Calibr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891B2"/>
                </a:solidFill>
                <a:effectLst/>
                <a:uLnTx/>
                <a:uFillTx/>
                <a:latin typeface="Calibri" pitchFamily="34" charset="0"/>
                <a:ea typeface="Calibri" pitchFamily="34" charset="-122"/>
                <a:cs typeface="Calibri" pitchFamily="34" charset="-120"/>
              </a:rPr>
              <a:t>✅ float16</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err="1">
                <a:ln>
                  <a:noFill/>
                </a:ln>
                <a:solidFill>
                  <a:srgbClr val="3D5A80"/>
                </a:solidFill>
                <a:effectLst/>
                <a:uLnTx/>
                <a:uFillTx/>
                <a:latin typeface="Calibri" pitchFamily="34" charset="0"/>
                <a:ea typeface="Calibri" pitchFamily="34" charset="-122"/>
                <a:cs typeface="Calibri" pitchFamily="34" charset="-120"/>
              </a:rPr>
              <a:t>torch_dtype</a:t>
            </a:r>
            <a:r>
              <a:rPr kumimoji="0" lang="en-US" sz="1000" b="0" i="0" u="none" strike="noStrike" kern="1200" cap="none" spc="0" normalizeH="0" baseline="0" noProof="0" dirty="0">
                <a:ln>
                  <a:noFill/>
                </a:ln>
                <a:solidFill>
                  <a:srgbClr val="3D5A80"/>
                </a:solidFill>
                <a:effectLst/>
                <a:uLnTx/>
                <a:uFillTx/>
                <a:latin typeface="Calibri" pitchFamily="34" charset="0"/>
                <a:ea typeface="Calibri" pitchFamily="34" charset="-122"/>
                <a:cs typeface="Calibri" pitchFamily="34" charset="-120"/>
              </a:rPr>
              <a:t>=torch.float16 cuts memory use in half</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2563EB"/>
                </a:solidFill>
                <a:effectLst/>
                <a:uLnTx/>
                <a:uFillTx/>
                <a:latin typeface="Calibri" pitchFamily="34" charset="0"/>
                <a:ea typeface="Calibri" pitchFamily="34" charset="-122"/>
                <a:cs typeface="Calibri" pitchFamily="34" charset="-120"/>
              </a:rPr>
              <a:t>✅ Needs torch</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D5A80"/>
                </a:solidFill>
                <a:effectLst/>
                <a:uLnTx/>
                <a:uFillTx/>
                <a:latin typeface="Calibri" pitchFamily="34" charset="0"/>
                <a:ea typeface="Calibri" pitchFamily="34" charset="-122"/>
                <a:cs typeface="Calibri" pitchFamily="34" charset="-120"/>
              </a:rPr>
              <a:t>torch + transformers must be installed locally</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US" dirty="0"/>
          </a:p>
        </p:txBody>
      </p:sp>
      <p:pic>
        <p:nvPicPr>
          <p:cNvPr id="2" name="Google Shape;328;p29">
            <a:extLst>
              <a:ext uri="{FF2B5EF4-FFF2-40B4-BE49-F238E27FC236}">
                <a16:creationId xmlns:a16="http://schemas.microsoft.com/office/drawing/2014/main" id="{6A557ED2-C159-97B5-9578-749D403C4D9E}"/>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65760" y="0"/>
            <a:ext cx="6858000" cy="658368"/>
          </a:xfrm>
          <a:prstGeom prst="rect">
            <a:avLst/>
          </a:prstGeom>
          <a:noFill/>
          <a:ln/>
        </p:spPr>
        <p:txBody>
          <a:bodyPr wrap="square" lIns="0" tIns="0" rIns="0" bIns="0" rtlCol="0" anchor="ctr"/>
          <a:lstStyle/>
          <a:p>
            <a:pPr marL="0" indent="0">
              <a:buNone/>
            </a:pPr>
            <a:r>
              <a:rPr lang="en-US" sz="2200" b="1" dirty="0">
                <a:latin typeface="Calibri" pitchFamily="34" charset="0"/>
                <a:ea typeface="Calibri" pitchFamily="34" charset="-122"/>
                <a:cs typeface="Calibri" pitchFamily="34" charset="-120"/>
              </a:rPr>
              <a:t>Approach 2: Hugging Face Hosted Inference API</a:t>
            </a:r>
            <a:endParaRPr lang="en-US" sz="2200" dirty="0"/>
          </a:p>
        </p:txBody>
      </p:sp>
      <p:sp>
        <p:nvSpPr>
          <p:cNvPr id="4" name="Text 2"/>
          <p:cNvSpPr/>
          <p:nvPr/>
        </p:nvSpPr>
        <p:spPr>
          <a:xfrm>
            <a:off x="0" y="0"/>
            <a:ext cx="8778240" cy="658368"/>
          </a:xfrm>
          <a:prstGeom prst="rect">
            <a:avLst/>
          </a:prstGeom>
          <a:noFill/>
          <a:ln/>
        </p:spPr>
        <p:txBody>
          <a:bodyPr wrap="square" lIns="0" tIns="0" rIns="0" bIns="0" rtlCol="0" anchor="ctr"/>
          <a:lstStyle/>
          <a:p>
            <a:pPr marL="0" indent="0" algn="r">
              <a:buNone/>
            </a:pPr>
            <a:endParaRPr lang="en-US" sz="1300" dirty="0"/>
          </a:p>
        </p:txBody>
      </p:sp>
      <p:grpSp>
        <p:nvGrpSpPr>
          <p:cNvPr id="2" name="Group 1">
            <a:extLst>
              <a:ext uri="{FF2B5EF4-FFF2-40B4-BE49-F238E27FC236}">
                <a16:creationId xmlns:a16="http://schemas.microsoft.com/office/drawing/2014/main" id="{E5DE8926-840E-4D81-93E1-B49E799383AB}"/>
              </a:ext>
            </a:extLst>
          </p:cNvPr>
          <p:cNvGrpSpPr/>
          <p:nvPr/>
        </p:nvGrpSpPr>
        <p:grpSpPr>
          <a:xfrm>
            <a:off x="266369" y="1069449"/>
            <a:ext cx="5458570" cy="3397179"/>
            <a:chOff x="266369" y="1069449"/>
            <a:chExt cx="5458570" cy="3397179"/>
          </a:xfrm>
        </p:grpSpPr>
        <p:sp>
          <p:nvSpPr>
            <p:cNvPr id="5" name="Text 3"/>
            <p:cNvSpPr/>
            <p:nvPr/>
          </p:nvSpPr>
          <p:spPr>
            <a:xfrm>
              <a:off x="266369" y="1069449"/>
              <a:ext cx="2981836" cy="256032"/>
            </a:xfrm>
            <a:prstGeom prst="rect">
              <a:avLst/>
            </a:prstGeom>
            <a:noFill/>
            <a:ln/>
          </p:spPr>
          <p:txBody>
            <a:bodyPr wrap="square" rtlCol="0" anchor="ctr"/>
            <a:lstStyle/>
            <a:p>
              <a:pPr marL="0" indent="0">
                <a:buNone/>
              </a:pPr>
              <a:r>
                <a:rPr lang="en-US" sz="1300" b="1" dirty="0">
                  <a:solidFill>
                    <a:srgbClr val="0891B2"/>
                  </a:solidFill>
                  <a:latin typeface="Calibri" pitchFamily="34" charset="0"/>
                  <a:ea typeface="Calibri" pitchFamily="34" charset="-122"/>
                  <a:cs typeface="Calibri" pitchFamily="34" charset="-120"/>
                </a:rPr>
                <a:t>Step 1 — Install (minimal!)</a:t>
              </a:r>
              <a:endParaRPr lang="en-US" sz="1300" dirty="0"/>
            </a:p>
          </p:txBody>
        </p:sp>
        <p:sp>
          <p:nvSpPr>
            <p:cNvPr id="6" name="Shape 4"/>
            <p:cNvSpPr/>
            <p:nvPr/>
          </p:nvSpPr>
          <p:spPr>
            <a:xfrm>
              <a:off x="266369" y="1343769"/>
              <a:ext cx="3657600" cy="384048"/>
            </a:xfrm>
            <a:prstGeom prst="rect">
              <a:avLst/>
            </a:prstGeom>
            <a:solidFill>
              <a:srgbClr val="1A1F36"/>
            </a:solidFill>
            <a:ln w="12700">
              <a:solidFill>
                <a:srgbClr val="1A1F36"/>
              </a:solidFill>
              <a:prstDash val="solid"/>
            </a:ln>
          </p:spPr>
        </p:sp>
        <p:sp>
          <p:nvSpPr>
            <p:cNvPr id="7" name="Text 5"/>
            <p:cNvSpPr/>
            <p:nvPr/>
          </p:nvSpPr>
          <p:spPr>
            <a:xfrm>
              <a:off x="403529" y="1407777"/>
              <a:ext cx="3429000" cy="292608"/>
            </a:xfrm>
            <a:prstGeom prst="rect">
              <a:avLst/>
            </a:prstGeom>
            <a:noFill/>
            <a:ln/>
          </p:spPr>
          <p:txBody>
            <a:bodyPr wrap="square" rtlCol="0" anchor="t"/>
            <a:lstStyle/>
            <a:p>
              <a:pPr marL="0" indent="0" algn="l">
                <a:buNone/>
              </a:pPr>
              <a:r>
                <a:rPr lang="en-US" sz="950" dirty="0">
                  <a:solidFill>
                    <a:srgbClr val="F7F3EA"/>
                  </a:solidFill>
                  <a:latin typeface="Consolas" pitchFamily="34" charset="0"/>
                  <a:ea typeface="Consolas" pitchFamily="34" charset="-122"/>
                  <a:cs typeface="Consolas" pitchFamily="34" charset="-120"/>
                </a:rPr>
                <a:t>pip install requests</a:t>
              </a:r>
              <a:endParaRPr lang="en-US" sz="950" dirty="0"/>
            </a:p>
          </p:txBody>
        </p:sp>
        <p:sp>
          <p:nvSpPr>
            <p:cNvPr id="8" name="Text 6"/>
            <p:cNvSpPr/>
            <p:nvPr/>
          </p:nvSpPr>
          <p:spPr>
            <a:xfrm>
              <a:off x="266369" y="1989530"/>
              <a:ext cx="5338460" cy="256032"/>
            </a:xfrm>
            <a:prstGeom prst="rect">
              <a:avLst/>
            </a:prstGeom>
            <a:noFill/>
            <a:ln/>
          </p:spPr>
          <p:txBody>
            <a:bodyPr wrap="square" rtlCol="0" anchor="ctr"/>
            <a:lstStyle/>
            <a:p>
              <a:pPr marL="0" indent="0">
                <a:buNone/>
              </a:pPr>
              <a:r>
                <a:rPr lang="en-US" sz="1300" b="1" dirty="0">
                  <a:solidFill>
                    <a:srgbClr val="0891B2"/>
                  </a:solidFill>
                  <a:latin typeface="Calibri" pitchFamily="34" charset="0"/>
                  <a:ea typeface="Calibri" pitchFamily="34" charset="-122"/>
                  <a:cs typeface="Calibri" pitchFamily="34" charset="-120"/>
                </a:rPr>
                <a:t>Step 2 — Get a free token at huggingface.co/settings/tokens, then call the API</a:t>
              </a:r>
              <a:endParaRPr lang="en-US" sz="1300" dirty="0"/>
            </a:p>
          </p:txBody>
        </p:sp>
        <p:grpSp>
          <p:nvGrpSpPr>
            <p:cNvPr id="24" name="Group 23">
              <a:extLst>
                <a:ext uri="{FF2B5EF4-FFF2-40B4-BE49-F238E27FC236}">
                  <a16:creationId xmlns:a16="http://schemas.microsoft.com/office/drawing/2014/main" id="{175D325F-B76E-5A68-6DD2-21147FEAF046}"/>
                </a:ext>
              </a:extLst>
            </p:cNvPr>
            <p:cNvGrpSpPr/>
            <p:nvPr/>
          </p:nvGrpSpPr>
          <p:grpSpPr>
            <a:xfrm>
              <a:off x="266369" y="2485131"/>
              <a:ext cx="5458570" cy="1981497"/>
              <a:chOff x="274320" y="2037922"/>
              <a:chExt cx="5458570" cy="1981497"/>
            </a:xfrm>
          </p:grpSpPr>
          <p:sp>
            <p:nvSpPr>
              <p:cNvPr id="9" name="Shape 7"/>
              <p:cNvSpPr/>
              <p:nvPr/>
            </p:nvSpPr>
            <p:spPr>
              <a:xfrm>
                <a:off x="274320" y="2037922"/>
                <a:ext cx="5368341" cy="1981497"/>
              </a:xfrm>
              <a:prstGeom prst="rect">
                <a:avLst/>
              </a:prstGeom>
              <a:solidFill>
                <a:srgbClr val="1A1F36"/>
              </a:solidFill>
              <a:ln w="12700">
                <a:solidFill>
                  <a:srgbClr val="1A1F36"/>
                </a:solidFill>
                <a:prstDash val="solid"/>
              </a:ln>
            </p:spPr>
          </p:sp>
          <p:sp>
            <p:nvSpPr>
              <p:cNvPr id="10" name="Text 8"/>
              <p:cNvSpPr/>
              <p:nvPr/>
            </p:nvSpPr>
            <p:spPr>
              <a:xfrm>
                <a:off x="304202" y="2101930"/>
                <a:ext cx="5428688" cy="1917489"/>
              </a:xfrm>
              <a:prstGeom prst="rect">
                <a:avLst/>
              </a:prstGeom>
              <a:noFill/>
              <a:ln/>
            </p:spPr>
            <p:txBody>
              <a:bodyPr wrap="square" rtlCol="0" anchor="t"/>
              <a:lstStyle/>
              <a:p>
                <a:r>
                  <a:rPr lang="en-US" sz="950" dirty="0">
                    <a:solidFill>
                      <a:srgbClr val="F472B6"/>
                    </a:solidFill>
                    <a:latin typeface="Consolas" pitchFamily="34" charset="0"/>
                    <a:ea typeface="Consolas" pitchFamily="34" charset="-122"/>
                    <a:cs typeface="Consolas" pitchFamily="34" charset="-120"/>
                  </a:rPr>
                  <a:t>import</a:t>
                </a:r>
                <a:r>
                  <a:rPr lang="en-US" sz="950" dirty="0">
                    <a:solidFill>
                      <a:srgbClr val="F7F3EA"/>
                    </a:solidFill>
                    <a:latin typeface="Consolas" pitchFamily="34" charset="0"/>
                    <a:ea typeface="Consolas" pitchFamily="34" charset="-122"/>
                    <a:cs typeface="Consolas" pitchFamily="34" charset="-120"/>
                  </a:rPr>
                  <a:t> requests
</a:t>
                </a:r>
                <a:r>
                  <a:rPr lang="en-US" sz="950" dirty="0">
                    <a:solidFill>
                      <a:srgbClr val="34D399"/>
                    </a:solidFill>
                    <a:latin typeface="Consolas" pitchFamily="34" charset="0"/>
                    <a:ea typeface="Consolas" pitchFamily="34" charset="-122"/>
                    <a:cs typeface="Consolas" pitchFamily="34" charset="-120"/>
                  </a:rPr>
                  <a:t>API_URL</a:t>
                </a:r>
                <a:r>
                  <a:rPr lang="en-US" sz="950" dirty="0">
                    <a:solidFill>
                      <a:srgbClr val="F7F3EA"/>
                    </a:solidFill>
                    <a:latin typeface="Consolas" pitchFamily="34" charset="0"/>
                    <a:ea typeface="Consolas" pitchFamily="34" charset="-122"/>
                    <a:cs typeface="Consolas" pitchFamily="34" charset="-120"/>
                  </a:rPr>
                  <a:t> = " https://</a:t>
                </a:r>
                <a:r>
                  <a:rPr lang="en-US" sz="950" dirty="0" err="1">
                    <a:solidFill>
                      <a:srgbClr val="F7F3EA"/>
                    </a:solidFill>
                    <a:latin typeface="Consolas" pitchFamily="34" charset="0"/>
                    <a:ea typeface="Consolas" pitchFamily="34" charset="-122"/>
                    <a:cs typeface="Consolas" pitchFamily="34" charset="-120"/>
                  </a:rPr>
                  <a:t>router.huggingface.co</a:t>
                </a:r>
                <a:r>
                  <a:rPr lang="en-US" sz="950" dirty="0">
                    <a:solidFill>
                      <a:srgbClr val="F7F3EA"/>
                    </a:solidFill>
                    <a:latin typeface="Consolas" pitchFamily="34" charset="0"/>
                    <a:ea typeface="Consolas" pitchFamily="34" charset="-122"/>
                    <a:cs typeface="Consolas" pitchFamily="34" charset="-120"/>
                  </a:rPr>
                  <a:t>/v1/chat/completions"
</a:t>
                </a:r>
                <a:r>
                  <a:rPr lang="en-US" sz="950" dirty="0">
                    <a:solidFill>
                      <a:srgbClr val="34D399"/>
                    </a:solidFill>
                    <a:latin typeface="Consolas" pitchFamily="34" charset="0"/>
                    <a:ea typeface="Consolas" pitchFamily="34" charset="-122"/>
                    <a:cs typeface="Consolas" pitchFamily="34" charset="-120"/>
                  </a:rPr>
                  <a:t>headers</a:t>
                </a:r>
                <a:r>
                  <a:rPr lang="en-US" sz="950" dirty="0">
                    <a:solidFill>
                      <a:srgbClr val="F7F3EA"/>
                    </a:solidFill>
                    <a:latin typeface="Consolas" pitchFamily="34" charset="0"/>
                    <a:ea typeface="Consolas" pitchFamily="34" charset="-122"/>
                    <a:cs typeface="Consolas" pitchFamily="34" charset="-120"/>
                  </a:rPr>
                  <a:t> = {"Authorization": "Bearer </a:t>
                </a:r>
                <a:r>
                  <a:rPr lang="en-US" sz="950" dirty="0">
                    <a:solidFill>
                      <a:srgbClr val="F5D78E"/>
                    </a:solidFill>
                    <a:latin typeface="Consolas" pitchFamily="34" charset="0"/>
                    <a:ea typeface="Consolas" pitchFamily="34" charset="-122"/>
                    <a:cs typeface="Consolas" pitchFamily="34" charset="-120"/>
                  </a:rPr>
                  <a:t>YOUR_HF_TOKEN</a:t>
                </a:r>
                <a:r>
                  <a:rPr lang="en-US" sz="950" dirty="0">
                    <a:solidFill>
                      <a:srgbClr val="F7F3EA"/>
                    </a:solidFill>
                    <a:latin typeface="Consolas" pitchFamily="34" charset="0"/>
                    <a:ea typeface="Consolas" pitchFamily="34" charset="-122"/>
                    <a:cs typeface="Consolas" pitchFamily="34" charset="-120"/>
                  </a:rPr>
                  <a:t>"}
</a:t>
                </a:r>
                <a:r>
                  <a:rPr lang="en-US" sz="950" dirty="0">
                    <a:solidFill>
                      <a:srgbClr val="34D399"/>
                    </a:solidFill>
                    <a:latin typeface="Consolas" pitchFamily="34" charset="0"/>
                    <a:ea typeface="Consolas" pitchFamily="34" charset="-122"/>
                    <a:cs typeface="Consolas" pitchFamily="34" charset="-120"/>
                  </a:rPr>
                  <a:t>response</a:t>
                </a:r>
                <a:r>
                  <a:rPr lang="en-US" sz="950" dirty="0">
                    <a:solidFill>
                      <a:srgbClr val="F7F3EA"/>
                    </a:solidFill>
                    <a:latin typeface="Consolas" pitchFamily="34" charset="0"/>
                    <a:ea typeface="Consolas" pitchFamily="34" charset="-122"/>
                    <a:cs typeface="Consolas" pitchFamily="34" charset="-120"/>
                  </a:rPr>
                  <a:t> = </a:t>
                </a:r>
                <a:r>
                  <a:rPr lang="en-US" sz="950" dirty="0" err="1">
                    <a:solidFill>
                      <a:srgbClr val="F7F3EA"/>
                    </a:solidFill>
                    <a:latin typeface="Consolas" pitchFamily="34" charset="0"/>
                    <a:ea typeface="Consolas" pitchFamily="34" charset="-122"/>
                    <a:cs typeface="Consolas" pitchFamily="34" charset="-120"/>
                  </a:rPr>
                  <a:t>requests.post</a:t>
                </a:r>
                <a:r>
                  <a:rPr lang="en-US" sz="950" dirty="0">
                    <a:solidFill>
                      <a:srgbClr val="F7F3EA"/>
                    </a:solidFill>
                    <a:latin typeface="Consolas" pitchFamily="34" charset="0"/>
                    <a:ea typeface="Consolas" pitchFamily="34" charset="-122"/>
                    <a:cs typeface="Consolas" pitchFamily="34" charset="-120"/>
                  </a:rPr>
                  <a:t>(</a:t>
                </a:r>
                <a:endParaRPr lang="en-US" sz="950" dirty="0"/>
              </a:p>
              <a:p>
                <a:pPr marL="0" indent="0" algn="l">
                  <a:buNone/>
                </a:pPr>
                <a:r>
                  <a:rPr lang="en-US" sz="950" dirty="0">
                    <a:solidFill>
                      <a:srgbClr val="F7F3EA"/>
                    </a:solidFill>
                    <a:latin typeface="Consolas" pitchFamily="34" charset="0"/>
                    <a:ea typeface="Consolas" pitchFamily="34" charset="-122"/>
                    <a:cs typeface="Consolas" pitchFamily="34" charset="-120"/>
                  </a:rPr>
                  <a:t>    API_URL, headers=headers,</a:t>
                </a:r>
                <a:endParaRPr lang="en-US" sz="950" dirty="0"/>
              </a:p>
              <a:p>
                <a:r>
                  <a:rPr lang="en-US" sz="950" dirty="0">
                    <a:solidFill>
                      <a:srgbClr val="F7F3EA"/>
                    </a:solidFill>
                    <a:latin typeface="Consolas" pitchFamily="34" charset="0"/>
                    <a:ea typeface="Consolas" pitchFamily="34" charset="-122"/>
                    <a:cs typeface="Consolas" pitchFamily="34" charset="-120"/>
                  </a:rPr>
                  <a:t>    </a:t>
                </a:r>
                <a:r>
                  <a:rPr lang="en-US" sz="950" dirty="0" err="1">
                    <a:solidFill>
                      <a:srgbClr val="F7F3EA"/>
                    </a:solidFill>
                    <a:latin typeface="Consolas" pitchFamily="34" charset="0"/>
                    <a:ea typeface="Consolas" pitchFamily="34" charset="-122"/>
                    <a:cs typeface="Consolas" pitchFamily="34" charset="-120"/>
                  </a:rPr>
                  <a:t>json</a:t>
                </a:r>
                <a:r>
                  <a:rPr lang="en-US" sz="950" dirty="0">
                    <a:solidFill>
                      <a:srgbClr val="F7F3EA"/>
                    </a:solidFill>
                    <a:latin typeface="Consolas" pitchFamily="34" charset="0"/>
                    <a:ea typeface="Consolas" pitchFamily="34" charset="-122"/>
                    <a:cs typeface="Consolas" pitchFamily="34" charset="-120"/>
                  </a:rPr>
                  <a:t>={ </a:t>
                </a:r>
                <a:r>
                  <a:rPr lang="en-US" sz="950" dirty="0">
                    <a:solidFill>
                      <a:srgbClr val="F5D78E"/>
                    </a:solidFill>
                    <a:latin typeface="Consolas" pitchFamily="34" charset="0"/>
                    <a:ea typeface="Consolas" pitchFamily="34" charset="-122"/>
                    <a:cs typeface="Consolas" pitchFamily="34" charset="-120"/>
                  </a:rPr>
                  <a:t>"messages": [{"role": "user", "content": "What is quantum computing?"}], "model": "Qwen/Qwen3-32B:nscale"</a:t>
                </a:r>
                <a:r>
                  <a:rPr lang="en-US" sz="950" dirty="0">
                    <a:solidFill>
                      <a:srgbClr val="F7F3EA"/>
                    </a:solidFill>
                    <a:latin typeface="Consolas" pitchFamily="34" charset="0"/>
                    <a:ea typeface="Consolas" pitchFamily="34" charset="-122"/>
                    <a:cs typeface="Consolas" pitchFamily="34" charset="-120"/>
                  </a:rPr>
                  <a:t>}
)
</a:t>
                </a:r>
                <a:r>
                  <a:rPr lang="en-US" sz="950" dirty="0">
                    <a:solidFill>
                      <a:srgbClr val="93C5FD"/>
                    </a:solidFill>
                    <a:latin typeface="Consolas" pitchFamily="34" charset="0"/>
                    <a:ea typeface="Consolas" pitchFamily="34" charset="-122"/>
                    <a:cs typeface="Consolas" pitchFamily="34" charset="-120"/>
                  </a:rPr>
                  <a:t>print</a:t>
                </a:r>
                <a:r>
                  <a:rPr lang="en-US" sz="950" dirty="0">
                    <a:solidFill>
                      <a:srgbClr val="F7F3EA"/>
                    </a:solidFill>
                    <a:latin typeface="Consolas" pitchFamily="34" charset="0"/>
                    <a:ea typeface="Consolas" pitchFamily="34" charset="-122"/>
                    <a:cs typeface="Consolas" pitchFamily="34" charset="-120"/>
                  </a:rPr>
                  <a:t>(</a:t>
                </a:r>
                <a:r>
                  <a:rPr lang="en-US" sz="950" dirty="0" err="1">
                    <a:solidFill>
                      <a:srgbClr val="F7F3EA"/>
                    </a:solidFill>
                    <a:latin typeface="Consolas" pitchFamily="34" charset="0"/>
                    <a:ea typeface="Consolas" pitchFamily="34" charset="-122"/>
                    <a:cs typeface="Consolas" pitchFamily="34" charset="-120"/>
                  </a:rPr>
                  <a:t>response.json</a:t>
                </a:r>
                <a:r>
                  <a:rPr lang="en-US" sz="950" dirty="0">
                    <a:solidFill>
                      <a:srgbClr val="F7F3EA"/>
                    </a:solidFill>
                    <a:latin typeface="Consolas" pitchFamily="34" charset="0"/>
                    <a:ea typeface="Consolas" pitchFamily="34" charset="-122"/>
                    <a:cs typeface="Consolas" pitchFamily="34" charset="-120"/>
                  </a:rPr>
                  <a:t>())</a:t>
                </a:r>
                <a:endParaRPr lang="en-US" sz="950" dirty="0"/>
              </a:p>
            </p:txBody>
          </p:sp>
        </p:grpSp>
      </p:grpSp>
      <p:sp>
        <p:nvSpPr>
          <p:cNvPr id="11" name="Shape 9"/>
          <p:cNvSpPr/>
          <p:nvPr/>
        </p:nvSpPr>
        <p:spPr>
          <a:xfrm>
            <a:off x="6013109" y="992123"/>
            <a:ext cx="2834640" cy="2412715"/>
          </a:xfrm>
          <a:prstGeom prst="rect">
            <a:avLst/>
          </a:prstGeom>
          <a:solidFill>
            <a:srgbClr val="FFFFFF"/>
          </a:solidFill>
          <a:ln w="6350">
            <a:solidFill>
              <a:srgbClr val="CADCFC"/>
            </a:solidFill>
            <a:prstDash val="solid"/>
          </a:ln>
          <a:effectLst>
            <a:outerShdw blurRad="101600" dist="25400" dir="8100000" algn="bl" rotWithShape="0">
              <a:srgbClr val="1A1F36">
                <a:alpha val="8000"/>
              </a:srgbClr>
            </a:outerShdw>
          </a:effectLst>
        </p:spPr>
        <p:txBody>
          <a:bodyPr/>
          <a:lstStyle/>
          <a:p>
            <a:pPr>
              <a:defRPr/>
            </a:pPr>
            <a:r>
              <a:rPr lang="en-US" sz="1400" b="1" dirty="0">
                <a:solidFill>
                  <a:schemeClr val="accent1"/>
                </a:solidFill>
                <a:latin typeface="Calibri" pitchFamily="34" charset="0"/>
                <a:ea typeface="Calibri" pitchFamily="34" charset="-122"/>
                <a:cs typeface="Calibri" pitchFamily="34" charset="-120"/>
              </a:rPr>
              <a:t>☁️  No GPU, no torch needed</a:t>
            </a:r>
            <a:endParaRPr lang="en-US" sz="1400" b="1" dirty="0">
              <a:solidFill>
                <a:schemeClr val="accent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0891B2"/>
              </a:solidFill>
              <a:effectLst/>
              <a:uLnTx/>
              <a:uFillTx/>
              <a:latin typeface="Calibri" pitchFamily="34" charset="0"/>
              <a:ea typeface="Calibri" pitchFamily="34" charset="-122"/>
              <a:cs typeface="Calibr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1" dirty="0">
              <a:solidFill>
                <a:srgbClr val="0891B2"/>
              </a:solidFill>
              <a:latin typeface="Calibri" pitchFamily="34" charset="0"/>
              <a:ea typeface="Calibri" pitchFamily="34" charset="-122"/>
              <a:cs typeface="Calibr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891B2"/>
                </a:solidFill>
                <a:effectLst/>
                <a:uLnTx/>
                <a:uFillTx/>
                <a:latin typeface="Calibri" pitchFamily="34" charset="0"/>
                <a:ea typeface="Calibri" pitchFamily="34" charset="-122"/>
                <a:cs typeface="Calibri" pitchFamily="34" charset="-120"/>
              </a:rPr>
              <a:t>☁️ No local GPU</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r>
              <a:rPr kumimoji="0" lang="en-US" sz="1000" b="0" i="0" u="none" strike="noStrike" kern="1200" cap="none" spc="0" normalizeH="0" baseline="0" noProof="0" dirty="0">
                <a:ln>
                  <a:noFill/>
                </a:ln>
                <a:solidFill>
                  <a:srgbClr val="3D5A80"/>
                </a:solidFill>
                <a:effectLst/>
                <a:uLnTx/>
                <a:uFillTx/>
                <a:latin typeface="Calibri" pitchFamily="34" charset="0"/>
                <a:ea typeface="Calibri" pitchFamily="34" charset="-122"/>
                <a:cs typeface="Calibri" pitchFamily="34" charset="-120"/>
              </a:rPr>
              <a:t>Inference runs on HF servers — zero setup for your machine</a:t>
            </a:r>
          </a:p>
          <a:p>
            <a:endParaRPr lang="en-US" sz="1000" dirty="0">
              <a:solidFill>
                <a:srgbClr val="3D5A80"/>
              </a:solidFill>
              <a:latin typeface="Calibri" pitchFamily="34" charset="0"/>
              <a:cs typeface="Calibr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B8975B"/>
                </a:solidFill>
                <a:effectLst/>
                <a:uLnTx/>
                <a:uFillTx/>
                <a:latin typeface="Calibri" pitchFamily="34" charset="0"/>
                <a:ea typeface="Calibri" pitchFamily="34" charset="-122"/>
                <a:cs typeface="Calibri" pitchFamily="34" charset="-120"/>
              </a:rPr>
              <a:t>🐢 Slower</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D5A80"/>
                </a:solidFill>
                <a:effectLst/>
                <a:uLnTx/>
                <a:uFillTx/>
                <a:latin typeface="Calibri" pitchFamily="34" charset="0"/>
                <a:ea typeface="Calibri" pitchFamily="34" charset="-122"/>
                <a:cs typeface="Calibri" pitchFamily="34" charset="-120"/>
              </a:rPr>
              <a:t>Network latency adds delay vs running locally</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7C3AED"/>
                </a:solidFill>
                <a:effectLst/>
                <a:uLnTx/>
                <a:uFillTx/>
                <a:latin typeface="Calibri" pitchFamily="34" charset="0"/>
                <a:ea typeface="Calibri" pitchFamily="34" charset="-122"/>
                <a:cs typeface="Calibri" pitchFamily="34" charset="-120"/>
              </a:rPr>
              <a:t>⚠️ Rate limits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D5A80"/>
                </a:solidFill>
                <a:effectLst/>
                <a:uLnTx/>
                <a:uFillTx/>
                <a:latin typeface="Calibri" pitchFamily="34" charset="0"/>
                <a:ea typeface="Calibri" pitchFamily="34" charset="-122"/>
                <a:cs typeface="Calibri" pitchFamily="34" charset="-120"/>
              </a:rPr>
              <a:t>Free tier is throttled — upgrade for production use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US" dirty="0"/>
          </a:p>
        </p:txBody>
      </p:sp>
      <p:pic>
        <p:nvPicPr>
          <p:cNvPr id="12" name="Google Shape;328;p29">
            <a:extLst>
              <a:ext uri="{FF2B5EF4-FFF2-40B4-BE49-F238E27FC236}">
                <a16:creationId xmlns:a16="http://schemas.microsoft.com/office/drawing/2014/main" id="{077F10F7-68D4-6721-E264-DDD3A2557E30}"/>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65760" y="0"/>
            <a:ext cx="7315200" cy="658368"/>
          </a:xfrm>
          <a:prstGeom prst="rect">
            <a:avLst/>
          </a:prstGeom>
          <a:noFill/>
          <a:ln/>
        </p:spPr>
        <p:txBody>
          <a:bodyPr wrap="square" lIns="0" tIns="0" rIns="0" bIns="0" rtlCol="0" anchor="ctr"/>
          <a:lstStyle/>
          <a:p>
            <a:pPr marL="0" indent="0">
              <a:buNone/>
            </a:pPr>
            <a:r>
              <a:rPr lang="en-US" sz="2200" b="1" dirty="0">
                <a:latin typeface="Calibri" pitchFamily="34" charset="0"/>
                <a:ea typeface="Calibri" pitchFamily="34" charset="-122"/>
                <a:cs typeface="Calibri" pitchFamily="34" charset="-120"/>
              </a:rPr>
              <a:t>Approach 3: Ollama (Local, Zero-Config, Optimized)</a:t>
            </a:r>
            <a:endParaRPr lang="en-US" sz="2200" dirty="0"/>
          </a:p>
        </p:txBody>
      </p:sp>
      <p:sp>
        <p:nvSpPr>
          <p:cNvPr id="4" name="Text 2"/>
          <p:cNvSpPr/>
          <p:nvPr/>
        </p:nvSpPr>
        <p:spPr>
          <a:xfrm>
            <a:off x="0" y="0"/>
            <a:ext cx="8778240" cy="658368"/>
          </a:xfrm>
          <a:prstGeom prst="rect">
            <a:avLst/>
          </a:prstGeom>
          <a:noFill/>
          <a:ln/>
        </p:spPr>
        <p:txBody>
          <a:bodyPr wrap="square" lIns="0" tIns="0" rIns="0" bIns="0" rtlCol="0" anchor="ctr"/>
          <a:lstStyle/>
          <a:p>
            <a:pPr marL="0" indent="0" algn="r">
              <a:buNone/>
            </a:pPr>
            <a:endParaRPr lang="en-US" sz="1300" dirty="0"/>
          </a:p>
        </p:txBody>
      </p:sp>
      <p:sp>
        <p:nvSpPr>
          <p:cNvPr id="5" name="Text 3"/>
          <p:cNvSpPr/>
          <p:nvPr/>
        </p:nvSpPr>
        <p:spPr>
          <a:xfrm>
            <a:off x="274320" y="822960"/>
            <a:ext cx="4468665" cy="256032"/>
          </a:xfrm>
          <a:prstGeom prst="rect">
            <a:avLst/>
          </a:prstGeom>
          <a:noFill/>
          <a:ln/>
        </p:spPr>
        <p:txBody>
          <a:bodyPr wrap="square" rtlCol="0" anchor="ctr"/>
          <a:lstStyle/>
          <a:p>
            <a:pPr marL="0" indent="0">
              <a:buNone/>
            </a:pPr>
            <a:r>
              <a:rPr lang="en-US" sz="1300" b="1" dirty="0">
                <a:solidFill>
                  <a:srgbClr val="7C3AED"/>
                </a:solidFill>
                <a:latin typeface="Calibri" pitchFamily="34" charset="0"/>
                <a:ea typeface="Calibri" pitchFamily="34" charset="-122"/>
                <a:cs typeface="Calibri" pitchFamily="34" charset="-120"/>
              </a:rPr>
              <a:t>Step 1 — Install Ollama &amp; pull a model</a:t>
            </a:r>
            <a:endParaRPr lang="en-US" sz="1300" dirty="0"/>
          </a:p>
        </p:txBody>
      </p:sp>
      <p:sp>
        <p:nvSpPr>
          <p:cNvPr id="6" name="Shape 4"/>
          <p:cNvSpPr/>
          <p:nvPr/>
        </p:nvSpPr>
        <p:spPr>
          <a:xfrm>
            <a:off x="274320" y="1097280"/>
            <a:ext cx="4647085" cy="594360"/>
          </a:xfrm>
          <a:prstGeom prst="rect">
            <a:avLst/>
          </a:prstGeom>
          <a:solidFill>
            <a:srgbClr val="1A1F36"/>
          </a:solidFill>
          <a:ln w="12700">
            <a:solidFill>
              <a:srgbClr val="1A1F36"/>
            </a:solidFill>
            <a:prstDash val="solid"/>
          </a:ln>
        </p:spPr>
      </p:sp>
      <p:sp>
        <p:nvSpPr>
          <p:cNvPr id="7" name="Text 5"/>
          <p:cNvSpPr/>
          <p:nvPr/>
        </p:nvSpPr>
        <p:spPr>
          <a:xfrm>
            <a:off x="411480" y="1161288"/>
            <a:ext cx="4591700" cy="502920"/>
          </a:xfrm>
          <a:prstGeom prst="rect">
            <a:avLst/>
          </a:prstGeom>
          <a:noFill/>
          <a:ln/>
        </p:spPr>
        <p:txBody>
          <a:bodyPr wrap="square" rtlCol="0" anchor="t"/>
          <a:lstStyle/>
          <a:p>
            <a:pPr marL="0" indent="0" algn="l">
              <a:buNone/>
            </a:pPr>
            <a:r>
              <a:rPr lang="en-US" sz="950" dirty="0">
                <a:solidFill>
                  <a:srgbClr val="93C5FD"/>
                </a:solidFill>
                <a:latin typeface="Consolas" pitchFamily="34" charset="0"/>
                <a:ea typeface="Consolas" pitchFamily="34" charset="-122"/>
                <a:cs typeface="Consolas" pitchFamily="34" charset="-120"/>
              </a:rPr>
              <a:t>brew install ollama
</a:t>
            </a:r>
            <a:r>
              <a:rPr lang="en-US" sz="950" dirty="0">
                <a:solidFill>
                  <a:srgbClr val="34D399"/>
                </a:solidFill>
                <a:latin typeface="Consolas" pitchFamily="34" charset="0"/>
                <a:ea typeface="Consolas" pitchFamily="34" charset="-122"/>
                <a:cs typeface="Consolas" pitchFamily="34" charset="-120"/>
              </a:rPr>
              <a:t>ollama run llama3        </a:t>
            </a:r>
            <a:r>
              <a:rPr lang="en-US" sz="950" dirty="0">
                <a:solidFill>
                  <a:srgbClr val="6B7280"/>
                </a:solidFill>
                <a:latin typeface="Consolas" pitchFamily="34" charset="0"/>
                <a:ea typeface="Consolas" pitchFamily="34" charset="-122"/>
                <a:cs typeface="Consolas" pitchFamily="34" charset="-120"/>
              </a:rPr>
              <a:t># downloads &amp; starts the model automatically</a:t>
            </a:r>
            <a:endParaRPr lang="en-US" sz="950" dirty="0"/>
          </a:p>
        </p:txBody>
      </p:sp>
      <p:sp>
        <p:nvSpPr>
          <p:cNvPr id="8" name="Text 6"/>
          <p:cNvSpPr/>
          <p:nvPr/>
        </p:nvSpPr>
        <p:spPr>
          <a:xfrm>
            <a:off x="274320" y="1810512"/>
            <a:ext cx="4587612" cy="256032"/>
          </a:xfrm>
          <a:prstGeom prst="rect">
            <a:avLst/>
          </a:prstGeom>
          <a:noFill/>
          <a:ln/>
        </p:spPr>
        <p:txBody>
          <a:bodyPr wrap="square" rtlCol="0" anchor="ctr"/>
          <a:lstStyle/>
          <a:p>
            <a:pPr marL="0" indent="0">
              <a:buNone/>
            </a:pPr>
            <a:r>
              <a:rPr lang="en-US" sz="1300" b="1" dirty="0">
                <a:solidFill>
                  <a:srgbClr val="7C3AED"/>
                </a:solidFill>
                <a:latin typeface="Calibri" pitchFamily="34" charset="0"/>
                <a:ea typeface="Calibri" pitchFamily="34" charset="-122"/>
                <a:cs typeface="Calibri" pitchFamily="34" charset="-120"/>
              </a:rPr>
              <a:t>Step 2 — Call from Python via REST (no torch, no transformers)</a:t>
            </a:r>
            <a:endParaRPr lang="en-US" sz="1300" dirty="0"/>
          </a:p>
        </p:txBody>
      </p:sp>
      <p:sp>
        <p:nvSpPr>
          <p:cNvPr id="9" name="Shape 7"/>
          <p:cNvSpPr/>
          <p:nvPr/>
        </p:nvSpPr>
        <p:spPr>
          <a:xfrm>
            <a:off x="274320" y="2084831"/>
            <a:ext cx="4951885" cy="2635851"/>
          </a:xfrm>
          <a:prstGeom prst="rect">
            <a:avLst/>
          </a:prstGeom>
          <a:solidFill>
            <a:srgbClr val="1A1F36"/>
          </a:solidFill>
          <a:ln w="12700">
            <a:solidFill>
              <a:srgbClr val="1A1F36"/>
            </a:solidFill>
            <a:prstDash val="solid"/>
          </a:ln>
        </p:spPr>
      </p:sp>
      <p:sp>
        <p:nvSpPr>
          <p:cNvPr id="10" name="Text 8"/>
          <p:cNvSpPr/>
          <p:nvPr/>
        </p:nvSpPr>
        <p:spPr>
          <a:xfrm>
            <a:off x="411480" y="2148839"/>
            <a:ext cx="5052618" cy="2350007"/>
          </a:xfrm>
          <a:prstGeom prst="rect">
            <a:avLst/>
          </a:prstGeom>
          <a:noFill/>
          <a:ln/>
        </p:spPr>
        <p:txBody>
          <a:bodyPr wrap="square" rtlCol="0" anchor="t"/>
          <a:lstStyle/>
          <a:p>
            <a:pPr marL="0" indent="0" algn="l">
              <a:buNone/>
            </a:pPr>
            <a:r>
              <a:rPr lang="en-US" sz="950" dirty="0">
                <a:solidFill>
                  <a:srgbClr val="F472B6"/>
                </a:solidFill>
                <a:latin typeface="Consolas" pitchFamily="34" charset="0"/>
                <a:ea typeface="Consolas" pitchFamily="34" charset="-122"/>
                <a:cs typeface="Consolas" pitchFamily="34" charset="-120"/>
              </a:rPr>
              <a:t>import</a:t>
            </a:r>
            <a:r>
              <a:rPr lang="en-US" sz="950" dirty="0">
                <a:solidFill>
                  <a:srgbClr val="F7F3EA"/>
                </a:solidFill>
                <a:latin typeface="Consolas" pitchFamily="34" charset="0"/>
                <a:ea typeface="Consolas" pitchFamily="34" charset="-122"/>
                <a:cs typeface="Consolas" pitchFamily="34" charset="-120"/>
              </a:rPr>
              <a:t> requests
</a:t>
            </a:r>
            <a:r>
              <a:rPr lang="en-US" sz="950" dirty="0">
                <a:solidFill>
                  <a:srgbClr val="34D399"/>
                </a:solidFill>
                <a:latin typeface="Consolas" pitchFamily="34" charset="0"/>
                <a:ea typeface="Consolas" pitchFamily="34" charset="-122"/>
                <a:cs typeface="Consolas" pitchFamily="34" charset="-120"/>
              </a:rPr>
              <a:t>response</a:t>
            </a:r>
            <a:r>
              <a:rPr lang="en-US" sz="950" dirty="0">
                <a:solidFill>
                  <a:srgbClr val="F7F3EA"/>
                </a:solidFill>
                <a:latin typeface="Consolas" pitchFamily="34" charset="0"/>
                <a:ea typeface="Consolas" pitchFamily="34" charset="-122"/>
                <a:cs typeface="Consolas" pitchFamily="34" charset="-120"/>
              </a:rPr>
              <a:t> = requests.post(</a:t>
            </a:r>
            <a:endParaRPr lang="en-US" sz="950" dirty="0"/>
          </a:p>
          <a:p>
            <a:pPr marL="0" indent="0" algn="l">
              <a:buNone/>
            </a:pPr>
            <a:r>
              <a:rPr lang="en-US" sz="950" dirty="0">
                <a:solidFill>
                  <a:srgbClr val="F7F3EA"/>
                </a:solidFill>
                <a:latin typeface="Consolas" pitchFamily="34" charset="0"/>
                <a:ea typeface="Consolas" pitchFamily="34" charset="-122"/>
                <a:cs typeface="Consolas" pitchFamily="34" charset="-120"/>
              </a:rPr>
              <a:t>    </a:t>
            </a:r>
            <a:endParaRPr lang="en-US" sz="950" dirty="0"/>
          </a:p>
          <a:p>
            <a:pPr marL="0" indent="0" algn="l">
              <a:buNone/>
            </a:pPr>
            <a:r>
              <a:rPr lang="en-US" sz="950" dirty="0">
                <a:solidFill>
                  <a:srgbClr val="F5D78E"/>
                </a:solidFill>
                <a:latin typeface="Consolas" pitchFamily="34" charset="0"/>
                <a:ea typeface="Consolas" pitchFamily="34" charset="-122"/>
                <a:cs typeface="Consolas" pitchFamily="34" charset="-120"/>
              </a:rPr>
              <a:t>"http://localhost:11434/api/generate"</a:t>
            </a:r>
            <a:r>
              <a:rPr lang="en-US" sz="950" dirty="0">
                <a:solidFill>
                  <a:srgbClr val="F7F3EA"/>
                </a:solidFill>
                <a:latin typeface="Consolas" pitchFamily="34" charset="0"/>
                <a:ea typeface="Consolas" pitchFamily="34" charset="-122"/>
                <a:cs typeface="Consolas" pitchFamily="34" charset="-120"/>
              </a:rPr>
              <a:t>,</a:t>
            </a:r>
            <a:endParaRPr lang="en-US" sz="950" dirty="0"/>
          </a:p>
          <a:p>
            <a:pPr marL="0" indent="0" algn="l">
              <a:buNone/>
            </a:pPr>
            <a:r>
              <a:rPr lang="en-US" sz="950" dirty="0">
                <a:solidFill>
                  <a:srgbClr val="F7F3EA"/>
                </a:solidFill>
                <a:latin typeface="Consolas" pitchFamily="34" charset="0"/>
                <a:ea typeface="Consolas" pitchFamily="34" charset="-122"/>
                <a:cs typeface="Consolas" pitchFamily="34" charset="-120"/>
              </a:rPr>
              <a:t>    json={</a:t>
            </a:r>
            <a:endParaRPr lang="en-US" sz="950" dirty="0"/>
          </a:p>
          <a:p>
            <a:pPr marL="0" indent="0" algn="l">
              <a:buNone/>
            </a:pPr>
            <a:r>
              <a:rPr lang="en-US" sz="950" dirty="0">
                <a:solidFill>
                  <a:srgbClr val="F7F3EA"/>
                </a:solidFill>
                <a:latin typeface="Consolas" pitchFamily="34" charset="0"/>
                <a:ea typeface="Consolas" pitchFamily="34" charset="-122"/>
                <a:cs typeface="Consolas" pitchFamily="34" charset="-120"/>
              </a:rPr>
              <a:t>        </a:t>
            </a:r>
            <a:r>
              <a:rPr lang="en-US" sz="950" dirty="0">
                <a:solidFill>
                  <a:srgbClr val="F5D78E"/>
                </a:solidFill>
                <a:latin typeface="Consolas" pitchFamily="34" charset="0"/>
                <a:ea typeface="Consolas" pitchFamily="34" charset="-122"/>
                <a:cs typeface="Consolas" pitchFamily="34" charset="-120"/>
              </a:rPr>
              <a:t>"model"</a:t>
            </a:r>
            <a:r>
              <a:rPr lang="en-US" sz="950" dirty="0">
                <a:solidFill>
                  <a:srgbClr val="F7F3EA"/>
                </a:solidFill>
                <a:latin typeface="Consolas" pitchFamily="34" charset="0"/>
                <a:ea typeface="Consolas" pitchFamily="34" charset="-122"/>
                <a:cs typeface="Consolas" pitchFamily="34" charset="-120"/>
              </a:rPr>
              <a:t>: </a:t>
            </a:r>
            <a:r>
              <a:rPr lang="en-US" sz="950" dirty="0">
                <a:solidFill>
                  <a:srgbClr val="F5D78E"/>
                </a:solidFill>
                <a:latin typeface="Consolas" pitchFamily="34" charset="0"/>
                <a:ea typeface="Consolas" pitchFamily="34" charset="-122"/>
                <a:cs typeface="Consolas" pitchFamily="34" charset="-120"/>
              </a:rPr>
              <a:t>"llama3"</a:t>
            </a:r>
            <a:r>
              <a:rPr lang="en-US" sz="950" dirty="0">
                <a:solidFill>
                  <a:srgbClr val="F7F3EA"/>
                </a:solidFill>
                <a:latin typeface="Consolas" pitchFamily="34" charset="0"/>
                <a:ea typeface="Consolas" pitchFamily="34" charset="-122"/>
                <a:cs typeface="Consolas" pitchFamily="34" charset="-120"/>
              </a:rPr>
              <a:t>,</a:t>
            </a:r>
            <a:endParaRPr lang="en-US" sz="950" dirty="0"/>
          </a:p>
          <a:p>
            <a:pPr marL="0" indent="0" algn="l">
              <a:buNone/>
            </a:pPr>
            <a:r>
              <a:rPr lang="en-US" sz="950" dirty="0">
                <a:solidFill>
                  <a:srgbClr val="F7F3EA"/>
                </a:solidFill>
                <a:latin typeface="Consolas" pitchFamily="34" charset="0"/>
                <a:ea typeface="Consolas" pitchFamily="34" charset="-122"/>
                <a:cs typeface="Consolas" pitchFamily="34" charset="-120"/>
              </a:rPr>
              <a:t>        </a:t>
            </a:r>
            <a:r>
              <a:rPr lang="en-US" sz="950" dirty="0">
                <a:solidFill>
                  <a:srgbClr val="F5D78E"/>
                </a:solidFill>
                <a:latin typeface="Consolas" pitchFamily="34" charset="0"/>
                <a:ea typeface="Consolas" pitchFamily="34" charset="-122"/>
                <a:cs typeface="Consolas" pitchFamily="34" charset="-120"/>
              </a:rPr>
              <a:t>"prompt"</a:t>
            </a:r>
            <a:r>
              <a:rPr lang="en-US" sz="950" dirty="0">
                <a:solidFill>
                  <a:srgbClr val="F7F3EA"/>
                </a:solidFill>
                <a:latin typeface="Consolas" pitchFamily="34" charset="0"/>
                <a:ea typeface="Consolas" pitchFamily="34" charset="-122"/>
                <a:cs typeface="Consolas" pitchFamily="34" charset="-120"/>
              </a:rPr>
              <a:t>: </a:t>
            </a:r>
            <a:r>
              <a:rPr lang="en-US" sz="950" dirty="0">
                <a:solidFill>
                  <a:srgbClr val="F5D78E"/>
                </a:solidFill>
                <a:latin typeface="Consolas" pitchFamily="34" charset="0"/>
                <a:ea typeface="Consolas" pitchFamily="34" charset="-122"/>
                <a:cs typeface="Consolas" pitchFamily="34" charset="-120"/>
              </a:rPr>
              <a:t>"What is quantum computing?"</a:t>
            </a:r>
            <a:r>
              <a:rPr lang="en-US" sz="950" dirty="0">
                <a:solidFill>
                  <a:srgbClr val="F7F3EA"/>
                </a:solidFill>
                <a:latin typeface="Consolas" pitchFamily="34" charset="0"/>
                <a:ea typeface="Consolas" pitchFamily="34" charset="-122"/>
                <a:cs typeface="Consolas" pitchFamily="34" charset="-120"/>
              </a:rPr>
              <a:t>,</a:t>
            </a:r>
            <a:endParaRPr lang="en-US" sz="950" dirty="0"/>
          </a:p>
          <a:p>
            <a:pPr marL="0" indent="0" algn="l">
              <a:buNone/>
            </a:pPr>
            <a:r>
              <a:rPr lang="en-US" sz="950" dirty="0">
                <a:solidFill>
                  <a:srgbClr val="F7F3EA"/>
                </a:solidFill>
                <a:latin typeface="Consolas" pitchFamily="34" charset="0"/>
                <a:ea typeface="Consolas" pitchFamily="34" charset="-122"/>
                <a:cs typeface="Consolas" pitchFamily="34" charset="-120"/>
              </a:rPr>
              <a:t>        </a:t>
            </a:r>
            <a:r>
              <a:rPr lang="en-US" sz="950" dirty="0">
                <a:solidFill>
                  <a:srgbClr val="F5D78E"/>
                </a:solidFill>
                <a:latin typeface="Consolas" pitchFamily="34" charset="0"/>
                <a:ea typeface="Consolas" pitchFamily="34" charset="-122"/>
                <a:cs typeface="Consolas" pitchFamily="34" charset="-120"/>
              </a:rPr>
              <a:t>"stream"</a:t>
            </a:r>
            <a:r>
              <a:rPr lang="en-US" sz="950" dirty="0">
                <a:solidFill>
                  <a:srgbClr val="F7F3EA"/>
                </a:solidFill>
                <a:latin typeface="Consolas" pitchFamily="34" charset="0"/>
                <a:ea typeface="Consolas" pitchFamily="34" charset="-122"/>
                <a:cs typeface="Consolas" pitchFamily="34" charset="-120"/>
              </a:rPr>
              <a:t>: </a:t>
            </a:r>
            <a:r>
              <a:rPr lang="en-US" sz="950" dirty="0">
                <a:solidFill>
                  <a:srgbClr val="F472B6"/>
                </a:solidFill>
                <a:latin typeface="Consolas" pitchFamily="34" charset="0"/>
                <a:ea typeface="Consolas" pitchFamily="34" charset="-122"/>
                <a:cs typeface="Consolas" pitchFamily="34" charset="-120"/>
              </a:rPr>
              <a:t>False</a:t>
            </a:r>
            <a:r>
              <a:rPr lang="en-US" sz="950" dirty="0">
                <a:solidFill>
                  <a:srgbClr val="F7F3EA"/>
                </a:solidFill>
                <a:latin typeface="Consolas" pitchFamily="34" charset="0"/>
                <a:ea typeface="Consolas" pitchFamily="34" charset="-122"/>
                <a:cs typeface="Consolas" pitchFamily="34" charset="-120"/>
              </a:rPr>
              <a:t>
    }
)
</a:t>
            </a:r>
            <a:r>
              <a:rPr lang="en-US" sz="950" dirty="0">
                <a:solidFill>
                  <a:srgbClr val="93C5FD"/>
                </a:solidFill>
                <a:latin typeface="Consolas" pitchFamily="34" charset="0"/>
                <a:ea typeface="Consolas" pitchFamily="34" charset="-122"/>
                <a:cs typeface="Consolas" pitchFamily="34" charset="-120"/>
              </a:rPr>
              <a:t>print</a:t>
            </a:r>
            <a:r>
              <a:rPr lang="en-US" sz="950" dirty="0">
                <a:solidFill>
                  <a:srgbClr val="F7F3EA"/>
                </a:solidFill>
                <a:latin typeface="Consolas" pitchFamily="34" charset="0"/>
                <a:ea typeface="Consolas" pitchFamily="34" charset="-122"/>
                <a:cs typeface="Consolas" pitchFamily="34" charset="-120"/>
              </a:rPr>
              <a:t>(response.json()[</a:t>
            </a:r>
            <a:r>
              <a:rPr lang="en-US" sz="950" dirty="0">
                <a:solidFill>
                  <a:srgbClr val="F5D78E"/>
                </a:solidFill>
                <a:latin typeface="Consolas" pitchFamily="34" charset="0"/>
                <a:ea typeface="Consolas" pitchFamily="34" charset="-122"/>
                <a:cs typeface="Consolas" pitchFamily="34" charset="-120"/>
              </a:rPr>
              <a:t>"response"</a:t>
            </a:r>
            <a:r>
              <a:rPr lang="en-US" sz="950" dirty="0">
                <a:solidFill>
                  <a:srgbClr val="F7F3EA"/>
                </a:solidFill>
                <a:latin typeface="Consolas" pitchFamily="34" charset="0"/>
                <a:ea typeface="Consolas" pitchFamily="34" charset="-122"/>
                <a:cs typeface="Consolas" pitchFamily="34" charset="-120"/>
              </a:rPr>
              <a:t>])</a:t>
            </a:r>
            <a:endParaRPr lang="en-US" sz="950" dirty="0"/>
          </a:p>
        </p:txBody>
      </p:sp>
      <p:sp>
        <p:nvSpPr>
          <p:cNvPr id="11" name="Shape 9"/>
          <p:cNvSpPr/>
          <p:nvPr/>
        </p:nvSpPr>
        <p:spPr>
          <a:xfrm>
            <a:off x="6126480" y="1078992"/>
            <a:ext cx="2834640" cy="2350008"/>
          </a:xfrm>
          <a:prstGeom prst="rect">
            <a:avLst/>
          </a:prstGeom>
          <a:solidFill>
            <a:srgbClr val="FFFFFF"/>
          </a:solidFill>
          <a:ln w="6350">
            <a:solidFill>
              <a:srgbClr val="CADCFC"/>
            </a:solidFill>
            <a:prstDash val="solid"/>
          </a:ln>
          <a:effectLst>
            <a:outerShdw blurRad="101600" dist="25400" dir="8100000" algn="bl" rotWithShape="0">
              <a:srgbClr val="1A1F36">
                <a:alpha val="8000"/>
              </a:srgbClr>
            </a:outerShdw>
          </a:effectLst>
        </p:spPr>
        <p:txBody>
          <a:bodyPr/>
          <a:lstStyle/>
          <a:p>
            <a:pPr>
              <a:defRPr/>
            </a:pPr>
            <a:r>
              <a:rPr lang="en-US" sz="1100" b="1" dirty="0">
                <a:solidFill>
                  <a:srgbClr val="CADCFC"/>
                </a:solidFill>
                <a:latin typeface="Calibri" pitchFamily="34" charset="0"/>
                <a:ea typeface="Calibri" pitchFamily="34" charset="-122"/>
                <a:cs typeface="Calibri" pitchFamily="34" charset="-120"/>
              </a:rPr>
              <a:t>🦙  </a:t>
            </a:r>
            <a:r>
              <a:rPr lang="en-US" sz="1100" b="1" dirty="0">
                <a:solidFill>
                  <a:srgbClr val="7030A0"/>
                </a:solidFill>
                <a:latin typeface="Calibri" pitchFamily="34" charset="0"/>
                <a:ea typeface="Calibri" pitchFamily="34" charset="-122"/>
                <a:cs typeface="Calibri" pitchFamily="34" charset="-120"/>
              </a:rPr>
              <a:t>Easiest way for bigger models</a:t>
            </a:r>
            <a:endParaRPr lang="en-US" sz="1100" b="1" dirty="0">
              <a:solidFill>
                <a:srgbClr val="7030A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7C3AED"/>
              </a:solidFill>
              <a:effectLst/>
              <a:uLnTx/>
              <a:uFillTx/>
              <a:latin typeface="Calibri" pitchFamily="34" charset="0"/>
              <a:ea typeface="Calibri" pitchFamily="34" charset="-122"/>
              <a:cs typeface="Calibr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1" dirty="0">
              <a:solidFill>
                <a:srgbClr val="7C3AED"/>
              </a:solidFill>
              <a:latin typeface="Calibri" pitchFamily="34" charset="0"/>
              <a:ea typeface="Calibri" pitchFamily="34" charset="-122"/>
              <a:cs typeface="Calibr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7C3AED"/>
                </a:solidFill>
                <a:effectLst/>
                <a:uLnTx/>
                <a:uFillTx/>
                <a:latin typeface="Calibri" pitchFamily="34" charset="0"/>
                <a:ea typeface="Calibri" pitchFamily="34" charset="-122"/>
                <a:cs typeface="Calibri" pitchFamily="34" charset="-120"/>
              </a:rPr>
              <a:t>🚀 Best for 7B+ models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D5A80"/>
                </a:solidFill>
                <a:effectLst/>
                <a:uLnTx/>
                <a:uFillTx/>
                <a:latin typeface="Calibri" pitchFamily="34" charset="0"/>
                <a:ea typeface="Calibri" pitchFamily="34" charset="-122"/>
                <a:cs typeface="Calibri" pitchFamily="34" charset="-120"/>
              </a:rPr>
              <a:t>Runs Llama 3, Mistral, Gemma with one command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3D5A80"/>
                </a:solidFill>
                <a:effectLst/>
                <a:uLnTx/>
                <a:uFillTx/>
                <a:latin typeface="Calibri" pitchFamily="34" charset="0"/>
                <a:ea typeface="Calibri" pitchFamily="34" charset="-122"/>
                <a:cs typeface="Calibri" pitchFamily="34" charset="-120"/>
              </a:rPr>
              <a:t>🔒 Fully private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D5A80"/>
                </a:solidFill>
                <a:effectLst/>
                <a:uLnTx/>
                <a:uFillTx/>
                <a:latin typeface="Calibri" pitchFamily="34" charset="0"/>
                <a:ea typeface="Calibri" pitchFamily="34" charset="-122"/>
                <a:cs typeface="Calibri" pitchFamily="34" charset="-120"/>
              </a:rPr>
              <a:t>Everything stays local — no data sent anywhere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891B2"/>
                </a:solidFill>
                <a:effectLst/>
                <a:uLnTx/>
                <a:uFillTx/>
                <a:latin typeface="Calibri" pitchFamily="34" charset="0"/>
                <a:ea typeface="Calibri" pitchFamily="34" charset="-122"/>
                <a:cs typeface="Calibri" pitchFamily="34" charset="-120"/>
              </a:rPr>
              <a:t>📦 No torch needed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r>
              <a:rPr kumimoji="0" lang="en-US" sz="1000" b="0" i="0" u="none" strike="noStrike" kern="1200" cap="none" spc="0" normalizeH="0" baseline="0" noProof="0" dirty="0" err="1">
                <a:ln>
                  <a:noFill/>
                </a:ln>
                <a:solidFill>
                  <a:srgbClr val="3D5A80"/>
                </a:solidFill>
                <a:effectLst/>
                <a:uLnTx/>
                <a:uFillTx/>
                <a:latin typeface="Calibri" pitchFamily="34" charset="0"/>
                <a:ea typeface="Calibri" pitchFamily="34" charset="-122"/>
                <a:cs typeface="Calibri" pitchFamily="34" charset="-120"/>
              </a:rPr>
              <a:t>Ollama</a:t>
            </a:r>
            <a:r>
              <a:rPr kumimoji="0" lang="en-US" sz="1000" b="0" i="0" u="none" strike="noStrike" kern="1200" cap="none" spc="0" normalizeH="0" baseline="0" noProof="0" dirty="0">
                <a:ln>
                  <a:noFill/>
                </a:ln>
                <a:solidFill>
                  <a:srgbClr val="3D5A80"/>
                </a:solidFill>
                <a:effectLst/>
                <a:uLnTx/>
                <a:uFillTx/>
                <a:latin typeface="Calibri" pitchFamily="34" charset="0"/>
                <a:ea typeface="Calibri" pitchFamily="34" charset="-122"/>
                <a:cs typeface="Calibri" pitchFamily="34" charset="-120"/>
              </a:rPr>
              <a:t> bundles its own runtime; only requests required</a:t>
            </a:r>
            <a:endParaRPr lang="en-US" dirty="0"/>
          </a:p>
        </p:txBody>
      </p:sp>
      <p:sp>
        <p:nvSpPr>
          <p:cNvPr id="23" name="Text 21"/>
          <p:cNvSpPr/>
          <p:nvPr/>
        </p:nvSpPr>
        <p:spPr>
          <a:xfrm>
            <a:off x="8046720" y="4846320"/>
            <a:ext cx="914400" cy="228600"/>
          </a:xfrm>
          <a:prstGeom prst="rect">
            <a:avLst/>
          </a:prstGeom>
          <a:noFill/>
          <a:ln/>
        </p:spPr>
        <p:txBody>
          <a:bodyPr wrap="square" rtlCol="0" anchor="ctr"/>
          <a:lstStyle/>
          <a:p>
            <a:pPr marL="0" indent="0" algn="r">
              <a:buNone/>
            </a:pPr>
            <a:r>
              <a:rPr lang="en-US" sz="900" dirty="0">
                <a:solidFill>
                  <a:srgbClr val="CADCFC"/>
                </a:solidFill>
                <a:latin typeface="Calibri" pitchFamily="34" charset="0"/>
                <a:ea typeface="Calibri" pitchFamily="34" charset="-122"/>
                <a:cs typeface="Calibri" pitchFamily="34" charset="-120"/>
              </a:rPr>
              <a:t>3 / 4</a:t>
            </a:r>
            <a:endParaRPr lang="en-US" sz="900" dirty="0"/>
          </a:p>
        </p:txBody>
      </p:sp>
      <p:pic>
        <p:nvPicPr>
          <p:cNvPr id="2" name="Google Shape;328;p29">
            <a:extLst>
              <a:ext uri="{FF2B5EF4-FFF2-40B4-BE49-F238E27FC236}">
                <a16:creationId xmlns:a16="http://schemas.microsoft.com/office/drawing/2014/main" id="{BA75EB7B-EBC8-3DDB-ECB7-EC2D17DA058D}"/>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06125" y="170953"/>
            <a:ext cx="8229600" cy="411480"/>
          </a:xfrm>
          <a:prstGeom prst="rect">
            <a:avLst/>
          </a:prstGeom>
          <a:noFill/>
          <a:ln/>
        </p:spPr>
        <p:txBody>
          <a:bodyPr wrap="square" lIns="0" tIns="0" rIns="0" bIns="0" rtlCol="0" anchor="ctr"/>
          <a:lstStyle/>
          <a:p>
            <a:pPr marL="0" indent="0">
              <a:buNone/>
            </a:pPr>
            <a:r>
              <a:rPr lang="en-US" sz="2400" b="1" dirty="0" err="1">
                <a:solidFill>
                  <a:srgbClr val="1A1F36"/>
                </a:solidFill>
                <a:latin typeface="Georgia" pitchFamily="34" charset="0"/>
                <a:ea typeface="Georgia" pitchFamily="34" charset="-122"/>
                <a:cs typeface="Georgia" pitchFamily="34" charset="-120"/>
              </a:rPr>
              <a:t>HuggingFace</a:t>
            </a:r>
            <a:r>
              <a:rPr lang="en-US" sz="2400" b="1" dirty="0">
                <a:solidFill>
                  <a:srgbClr val="1A1F36"/>
                </a:solidFill>
                <a:latin typeface="Georgia" pitchFamily="34" charset="0"/>
                <a:ea typeface="Georgia" pitchFamily="34" charset="-122"/>
                <a:cs typeface="Georgia" pitchFamily="34" charset="-120"/>
              </a:rPr>
              <a:t> – Local inference</a:t>
            </a:r>
            <a:endParaRPr lang="en-US" sz="2400" dirty="0"/>
          </a:p>
        </p:txBody>
      </p:sp>
      <p:sp>
        <p:nvSpPr>
          <p:cNvPr id="4" name="Shape 2"/>
          <p:cNvSpPr/>
          <p:nvPr/>
        </p:nvSpPr>
        <p:spPr>
          <a:xfrm>
            <a:off x="182878" y="993912"/>
            <a:ext cx="5207706" cy="3934703"/>
          </a:xfrm>
          <a:prstGeom prst="rect">
            <a:avLst/>
          </a:prstGeom>
          <a:solidFill>
            <a:srgbClr val="DCE9F7"/>
          </a:solidFill>
          <a:ln w="12700">
            <a:solidFill>
              <a:srgbClr val="B5CEE8"/>
            </a:solidFill>
            <a:prstDash val="solid"/>
          </a:ln>
          <a:effectLst>
            <a:outerShdw blurRad="101600" dist="38100" dir="8100000" algn="bl" rotWithShape="0">
              <a:srgbClr val="1A1F36">
                <a:alpha val="10000"/>
              </a:srgbClr>
            </a:outerShdw>
          </a:effectLst>
        </p:spPr>
      </p:sp>
      <p:sp>
        <p:nvSpPr>
          <p:cNvPr id="5" name="Text 3"/>
          <p:cNvSpPr/>
          <p:nvPr/>
        </p:nvSpPr>
        <p:spPr>
          <a:xfrm>
            <a:off x="228600" y="1065474"/>
            <a:ext cx="5280854" cy="3771701"/>
          </a:xfrm>
          <a:prstGeom prst="rect">
            <a:avLst/>
          </a:prstGeom>
          <a:noFill/>
          <a:ln/>
        </p:spPr>
        <p:txBody>
          <a:bodyPr wrap="square" lIns="0" tIns="0" rIns="0" bIns="0" rtlCol="0" anchor="t"/>
          <a:lstStyle/>
          <a:p>
            <a:pPr marL="0" indent="0">
              <a:buNone/>
            </a:pPr>
            <a:r>
              <a:rPr lang="en-US" sz="1200" dirty="0">
                <a:solidFill>
                  <a:srgbClr val="1A1F36"/>
                </a:solidFill>
                <a:latin typeface="Consolas" pitchFamily="34" charset="0"/>
                <a:ea typeface="Consolas" pitchFamily="34" charset="-122"/>
                <a:cs typeface="Consolas" pitchFamily="34" charset="-120"/>
              </a:rPr>
              <a:t>import torch</a:t>
            </a:r>
            <a:endParaRPr lang="en-US" sz="1200" dirty="0"/>
          </a:p>
          <a:p>
            <a:pPr marL="0" indent="0">
              <a:buNone/>
            </a:pPr>
            <a:r>
              <a:rPr lang="en-US" sz="1200" dirty="0">
                <a:solidFill>
                  <a:srgbClr val="1A1F36"/>
                </a:solidFill>
                <a:latin typeface="Consolas" pitchFamily="34" charset="0"/>
                <a:ea typeface="Consolas" pitchFamily="34" charset="-122"/>
                <a:cs typeface="Consolas" pitchFamily="34" charset="-120"/>
              </a:rPr>
              <a:t>from transformers import AutoTokenizer, AutoModelForCausalLM</a:t>
            </a:r>
            <a:endParaRPr lang="en-US" sz="1200" dirty="0"/>
          </a:p>
          <a:p>
            <a:pPr marL="0" indent="0">
              <a:buNone/>
            </a:pPr>
            <a:endParaRPr lang="en-US" sz="1200" dirty="0"/>
          </a:p>
          <a:p>
            <a:r>
              <a:rPr lang="en-US" sz="1200" dirty="0">
                <a:solidFill>
                  <a:srgbClr val="1A1F36"/>
                </a:solidFill>
                <a:latin typeface="Consolas" pitchFamily="34" charset="0"/>
                <a:ea typeface="Consolas" pitchFamily="34" charset="-122"/>
                <a:cs typeface="Consolas" pitchFamily="34" charset="-120"/>
              </a:rPr>
              <a:t>model_name = "google/gemma-2-2b-it"</a:t>
            </a:r>
            <a:endParaRPr lang="en-US" sz="1200" dirty="0"/>
          </a:p>
          <a:p>
            <a:pPr marL="0" indent="0">
              <a:buNone/>
            </a:pPr>
            <a:endParaRPr lang="en-US" sz="1200" dirty="0">
              <a:solidFill>
                <a:srgbClr val="1A1A2E"/>
              </a:solidFill>
              <a:latin typeface="Consolas" pitchFamily="34" charset="0"/>
              <a:ea typeface="Consolas" pitchFamily="34" charset="-122"/>
              <a:cs typeface="Consolas" pitchFamily="34" charset="-120"/>
            </a:endParaRPr>
          </a:p>
          <a:p>
            <a:pPr marL="0" indent="0">
              <a:buNone/>
            </a:pPr>
            <a:r>
              <a:rPr lang="en-US" sz="1200" dirty="0">
                <a:solidFill>
                  <a:srgbClr val="1A1F36"/>
                </a:solidFill>
                <a:latin typeface="Consolas" pitchFamily="34" charset="0"/>
                <a:ea typeface="Consolas" pitchFamily="34" charset="-122"/>
                <a:cs typeface="Consolas" pitchFamily="34" charset="-120"/>
              </a:rPr>
              <a:t>tokenizer = AutoTokenizer.from_pretrained(</a:t>
            </a:r>
            <a:r>
              <a:rPr lang="en-US" sz="1200" dirty="0" err="1">
                <a:solidFill>
                  <a:srgbClr val="1A1F36"/>
                </a:solidFill>
                <a:latin typeface="Consolas" pitchFamily="34" charset="0"/>
                <a:ea typeface="Consolas" pitchFamily="34" charset="-122"/>
                <a:cs typeface="Consolas" pitchFamily="34" charset="-120"/>
              </a:rPr>
              <a:t>model_name</a:t>
            </a:r>
            <a:r>
              <a:rPr lang="en-US" sz="1200" dirty="0">
                <a:solidFill>
                  <a:srgbClr val="1A1F36"/>
                </a:solidFill>
                <a:latin typeface="Consolas" pitchFamily="34" charset="0"/>
                <a:ea typeface="Consolas" pitchFamily="34" charset="-122"/>
                <a:cs typeface="Consolas" pitchFamily="34" charset="-120"/>
              </a:rPr>
              <a:t>)</a:t>
            </a:r>
          </a:p>
          <a:p>
            <a:pPr marL="0" indent="0">
              <a:buNone/>
            </a:pPr>
            <a:r>
              <a:rPr lang="en-US" sz="1200" dirty="0">
                <a:solidFill>
                  <a:srgbClr val="1A1F36"/>
                </a:solidFill>
                <a:latin typeface="Consolas" pitchFamily="34" charset="0"/>
                <a:ea typeface="Consolas" pitchFamily="34" charset="-122"/>
                <a:cs typeface="Consolas" pitchFamily="34" charset="-120"/>
              </a:rPr>
              <a:t>model = AutoModelForCausalLM.from_pretrained(</a:t>
            </a:r>
            <a:r>
              <a:rPr lang="en-US" sz="1200" dirty="0" err="1">
                <a:solidFill>
                  <a:srgbClr val="1A1F36"/>
                </a:solidFill>
                <a:latin typeface="Consolas" pitchFamily="34" charset="0"/>
                <a:ea typeface="Consolas" pitchFamily="34" charset="-122"/>
                <a:cs typeface="Consolas" pitchFamily="34" charset="-120"/>
              </a:rPr>
              <a:t>model_name</a:t>
            </a:r>
            <a:r>
              <a:rPr lang="en-US" sz="1200" dirty="0">
                <a:solidFill>
                  <a:srgbClr val="1A1F36"/>
                </a:solidFill>
                <a:latin typeface="Consolas" pitchFamily="34" charset="0"/>
                <a:ea typeface="Consolas" pitchFamily="34" charset="-122"/>
                <a:cs typeface="Consolas" pitchFamily="34" charset="-120"/>
              </a:rPr>
              <a:t>)</a:t>
            </a:r>
            <a:endParaRPr lang="en-US" sz="1200" dirty="0"/>
          </a:p>
          <a:p>
            <a:pPr marL="0" indent="0">
              <a:buNone/>
            </a:pPr>
            <a:endParaRPr lang="en-US" sz="1200" dirty="0">
              <a:solidFill>
                <a:srgbClr val="1A1A2E"/>
              </a:solidFill>
              <a:latin typeface="Consolas" pitchFamily="34" charset="0"/>
              <a:ea typeface="Consolas" pitchFamily="34" charset="-122"/>
              <a:cs typeface="Consolas" pitchFamily="34" charset="-120"/>
            </a:endParaRPr>
          </a:p>
          <a:p>
            <a:pPr marL="0" indent="0">
              <a:buNone/>
            </a:pPr>
            <a:r>
              <a:rPr lang="en-US" sz="1200" dirty="0">
                <a:solidFill>
                  <a:srgbClr val="1A1F36"/>
                </a:solidFill>
                <a:latin typeface="Consolas" pitchFamily="34" charset="0"/>
                <a:ea typeface="Consolas" pitchFamily="34" charset="-122"/>
                <a:cs typeface="Consolas" pitchFamily="34" charset="-120"/>
              </a:rPr>
              <a:t>device = "mps" if torch.backends.mps.is_available() else "cpu"</a:t>
            </a:r>
            <a:endParaRPr lang="en-US" sz="1200" dirty="0"/>
          </a:p>
          <a:p>
            <a:pPr marL="0" indent="0">
              <a:buNone/>
            </a:pPr>
            <a:r>
              <a:rPr lang="en-US" sz="1200" dirty="0">
                <a:solidFill>
                  <a:srgbClr val="1A1F36"/>
                </a:solidFill>
                <a:latin typeface="Consolas" pitchFamily="34" charset="0"/>
                <a:ea typeface="Consolas" pitchFamily="34" charset="-122"/>
                <a:cs typeface="Consolas" pitchFamily="34" charset="-120"/>
              </a:rPr>
              <a:t>model = model.to(device)</a:t>
            </a:r>
            <a:endParaRPr lang="en-US" sz="1200" dirty="0"/>
          </a:p>
          <a:p>
            <a:pPr marL="0" indent="0">
              <a:buNone/>
            </a:pPr>
            <a:endParaRPr lang="en-US" sz="1200" dirty="0"/>
          </a:p>
          <a:p>
            <a:pPr marL="0" indent="0">
              <a:buNone/>
            </a:pPr>
            <a:r>
              <a:rPr lang="en-US" sz="1200" dirty="0">
                <a:solidFill>
                  <a:srgbClr val="1A1F36"/>
                </a:solidFill>
                <a:latin typeface="Consolas" pitchFamily="34" charset="0"/>
                <a:ea typeface="Consolas" pitchFamily="34" charset="-122"/>
                <a:cs typeface="Consolas" pitchFamily="34" charset="-120"/>
              </a:rPr>
              <a:t>inputs = tokenizer("What is quantum computing?", return_tensors="pt").to(device)</a:t>
            </a:r>
            <a:endParaRPr lang="en-US" sz="1200" dirty="0"/>
          </a:p>
          <a:p>
            <a:pPr marL="0" indent="0">
              <a:buNone/>
            </a:pPr>
            <a:r>
              <a:rPr lang="en-US" sz="1200" dirty="0">
                <a:solidFill>
                  <a:srgbClr val="1A1F36"/>
                </a:solidFill>
                <a:latin typeface="Consolas" pitchFamily="34" charset="0"/>
                <a:ea typeface="Consolas" pitchFamily="34" charset="-122"/>
                <a:cs typeface="Consolas" pitchFamily="34" charset="-120"/>
              </a:rPr>
              <a:t>outputs = model.generate(**inputs, max_new_tokens=1000)</a:t>
            </a:r>
            <a:endParaRPr lang="en-US" sz="1200" dirty="0"/>
          </a:p>
          <a:p>
            <a:pPr marL="0" indent="0">
              <a:buNone/>
            </a:pPr>
            <a:r>
              <a:rPr lang="en-US" sz="1200" dirty="0">
                <a:solidFill>
                  <a:srgbClr val="1A1F36"/>
                </a:solidFill>
                <a:latin typeface="Consolas" pitchFamily="34" charset="0"/>
                <a:ea typeface="Consolas" pitchFamily="34" charset="-122"/>
                <a:cs typeface="Consolas" pitchFamily="34" charset="-120"/>
              </a:rPr>
              <a:t>print(tokenizer.decode(outputs[0], skip_special_tokens=True))</a:t>
            </a:r>
            <a:endParaRPr lang="en-US" sz="1200" dirty="0"/>
          </a:p>
        </p:txBody>
      </p:sp>
      <p:sp>
        <p:nvSpPr>
          <p:cNvPr id="6" name="Shape 4"/>
          <p:cNvSpPr/>
          <p:nvPr/>
        </p:nvSpPr>
        <p:spPr>
          <a:xfrm>
            <a:off x="5655368" y="566928"/>
            <a:ext cx="3154680" cy="731520"/>
          </a:xfrm>
          <a:prstGeom prst="rect">
            <a:avLst/>
          </a:prstGeom>
          <a:solidFill>
            <a:srgbClr val="F7F3EA"/>
          </a:solidFill>
          <a:ln w="19050">
            <a:solidFill>
              <a:srgbClr val="B8975B"/>
            </a:solidFill>
            <a:prstDash val="solid"/>
          </a:ln>
          <a:effectLst>
            <a:outerShdw blurRad="101600" dist="38100" dir="8100000" algn="bl" rotWithShape="0">
              <a:srgbClr val="1A1F36">
                <a:alpha val="10000"/>
              </a:srgbClr>
            </a:outerShdw>
          </a:effectLst>
        </p:spPr>
      </p:sp>
      <p:sp>
        <p:nvSpPr>
          <p:cNvPr id="8" name="Text 6"/>
          <p:cNvSpPr/>
          <p:nvPr/>
        </p:nvSpPr>
        <p:spPr>
          <a:xfrm>
            <a:off x="5742432" y="612648"/>
            <a:ext cx="2990088" cy="228600"/>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① Import libraries</a:t>
            </a:r>
            <a:endParaRPr lang="en-US" sz="1100" dirty="0"/>
          </a:p>
        </p:txBody>
      </p:sp>
      <p:sp>
        <p:nvSpPr>
          <p:cNvPr id="9" name="Text 7"/>
          <p:cNvSpPr/>
          <p:nvPr/>
        </p:nvSpPr>
        <p:spPr>
          <a:xfrm>
            <a:off x="5742432" y="822960"/>
            <a:ext cx="2990088" cy="429768"/>
          </a:xfrm>
          <a:prstGeom prst="rect">
            <a:avLst/>
          </a:prstGeom>
          <a:noFill/>
          <a:ln/>
        </p:spPr>
        <p:txBody>
          <a:bodyPr wrap="square" lIns="0" tIns="0" rIns="0" bIns="0" rtlCol="0" anchor="t"/>
          <a:lstStyle/>
          <a:p>
            <a:pPr marL="0" indent="0">
              <a:buNone/>
            </a:pPr>
            <a:r>
              <a:rPr lang="en-US" sz="1050" dirty="0">
                <a:solidFill>
                  <a:srgbClr val="1A1F36"/>
                </a:solidFill>
                <a:latin typeface="Calibri" pitchFamily="34" charset="0"/>
                <a:ea typeface="Calibri" pitchFamily="34" charset="-122"/>
                <a:cs typeface="Calibri" pitchFamily="34" charset="-120"/>
              </a:rPr>
              <a:t>torch = math/tensor engine.</a:t>
            </a:r>
            <a:endParaRPr lang="en-US" sz="1050" dirty="0"/>
          </a:p>
          <a:p>
            <a:pPr marL="0" indent="0">
              <a:buNone/>
            </a:pPr>
            <a:r>
              <a:rPr lang="en-US" sz="1050" dirty="0">
                <a:solidFill>
                  <a:srgbClr val="1A1F36"/>
                </a:solidFill>
                <a:latin typeface="Calibri" pitchFamily="34" charset="0"/>
                <a:ea typeface="Calibri" pitchFamily="34" charset="-122"/>
                <a:cs typeface="Calibri" pitchFamily="34" charset="-120"/>
              </a:rPr>
              <a:t>transformers = model toolkit.</a:t>
            </a:r>
            <a:endParaRPr lang="en-US" sz="1050" dirty="0"/>
          </a:p>
        </p:txBody>
      </p:sp>
      <p:sp>
        <p:nvSpPr>
          <p:cNvPr id="11" name="Shape 9"/>
          <p:cNvSpPr/>
          <p:nvPr/>
        </p:nvSpPr>
        <p:spPr>
          <a:xfrm>
            <a:off x="5647414" y="1417320"/>
            <a:ext cx="3154680" cy="731520"/>
          </a:xfrm>
          <a:prstGeom prst="rect">
            <a:avLst/>
          </a:prstGeom>
          <a:solidFill>
            <a:srgbClr val="F7F3EA"/>
          </a:solidFill>
          <a:ln w="19050">
            <a:solidFill>
              <a:srgbClr val="B8975B"/>
            </a:solidFill>
            <a:prstDash val="solid"/>
          </a:ln>
          <a:effectLst>
            <a:outerShdw blurRad="101600" dist="38100" dir="8100000" algn="bl" rotWithShape="0">
              <a:srgbClr val="1A1F36">
                <a:alpha val="10000"/>
              </a:srgbClr>
            </a:outerShdw>
          </a:effectLst>
        </p:spPr>
      </p:sp>
      <p:sp>
        <p:nvSpPr>
          <p:cNvPr id="13" name="Text 11"/>
          <p:cNvSpPr/>
          <p:nvPr/>
        </p:nvSpPr>
        <p:spPr>
          <a:xfrm>
            <a:off x="5742432" y="1463040"/>
            <a:ext cx="2990088" cy="228600"/>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② Name the model</a:t>
            </a:r>
            <a:endParaRPr lang="en-US" sz="1100" dirty="0"/>
          </a:p>
        </p:txBody>
      </p:sp>
      <p:sp>
        <p:nvSpPr>
          <p:cNvPr id="14" name="Text 12"/>
          <p:cNvSpPr/>
          <p:nvPr/>
        </p:nvSpPr>
        <p:spPr>
          <a:xfrm>
            <a:off x="5742432" y="1673352"/>
            <a:ext cx="2990088" cy="429768"/>
          </a:xfrm>
          <a:prstGeom prst="rect">
            <a:avLst/>
          </a:prstGeom>
          <a:noFill/>
          <a:ln/>
        </p:spPr>
        <p:txBody>
          <a:bodyPr wrap="square" lIns="0" tIns="0" rIns="0" bIns="0" rtlCol="0" anchor="t"/>
          <a:lstStyle/>
          <a:p>
            <a:pPr marL="0" indent="0">
              <a:buNone/>
            </a:pPr>
            <a:r>
              <a:rPr lang="en-US" sz="1050" dirty="0">
                <a:solidFill>
                  <a:srgbClr val="1A1F36"/>
                </a:solidFill>
                <a:latin typeface="Calibri" pitchFamily="34" charset="0"/>
                <a:ea typeface="Calibri" pitchFamily="34" charset="-122"/>
                <a:cs typeface="Calibri" pitchFamily="34" charset="-120"/>
              </a:rPr>
              <a:t>A string that identifies which AI to download from Hugging Face.</a:t>
            </a:r>
            <a:endParaRPr lang="en-US" sz="1050" dirty="0"/>
          </a:p>
        </p:txBody>
      </p:sp>
      <p:sp>
        <p:nvSpPr>
          <p:cNvPr id="16" name="Shape 14"/>
          <p:cNvSpPr/>
          <p:nvPr/>
        </p:nvSpPr>
        <p:spPr>
          <a:xfrm>
            <a:off x="5639462" y="2267712"/>
            <a:ext cx="3154680" cy="731520"/>
          </a:xfrm>
          <a:prstGeom prst="rect">
            <a:avLst/>
          </a:prstGeom>
          <a:solidFill>
            <a:srgbClr val="F7F3EA"/>
          </a:solidFill>
          <a:ln w="19050">
            <a:solidFill>
              <a:srgbClr val="B8975B"/>
            </a:solidFill>
            <a:prstDash val="solid"/>
          </a:ln>
          <a:effectLst>
            <a:outerShdw blurRad="101600" dist="38100" dir="8100000" algn="bl" rotWithShape="0">
              <a:srgbClr val="1A1F36">
                <a:alpha val="10000"/>
              </a:srgbClr>
            </a:outerShdw>
          </a:effectLst>
        </p:spPr>
      </p:sp>
      <p:sp>
        <p:nvSpPr>
          <p:cNvPr id="18" name="Text 16"/>
          <p:cNvSpPr/>
          <p:nvPr/>
        </p:nvSpPr>
        <p:spPr>
          <a:xfrm>
            <a:off x="5742432" y="2313432"/>
            <a:ext cx="2990088" cy="228600"/>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③ Load tokenizer &amp; model</a:t>
            </a:r>
            <a:endParaRPr lang="en-US" sz="1100" dirty="0"/>
          </a:p>
        </p:txBody>
      </p:sp>
      <p:sp>
        <p:nvSpPr>
          <p:cNvPr id="19" name="Text 17"/>
          <p:cNvSpPr/>
          <p:nvPr/>
        </p:nvSpPr>
        <p:spPr>
          <a:xfrm>
            <a:off x="5742432" y="2523744"/>
            <a:ext cx="2990088" cy="429768"/>
          </a:xfrm>
          <a:prstGeom prst="rect">
            <a:avLst/>
          </a:prstGeom>
          <a:noFill/>
          <a:ln/>
        </p:spPr>
        <p:txBody>
          <a:bodyPr wrap="square" lIns="0" tIns="0" rIns="0" bIns="0" rtlCol="0" anchor="t"/>
          <a:lstStyle/>
          <a:p>
            <a:pPr marL="0" indent="0">
              <a:buNone/>
            </a:pPr>
            <a:r>
              <a:rPr lang="en-US" sz="1050" dirty="0">
                <a:solidFill>
                  <a:srgbClr val="1A1F36"/>
                </a:solidFill>
                <a:latin typeface="Calibri" pitchFamily="34" charset="0"/>
                <a:ea typeface="Calibri" pitchFamily="34" charset="-122"/>
                <a:cs typeface="Calibri" pitchFamily="34" charset="-120"/>
              </a:rPr>
              <a:t>Downloads the vocabulary + 4B-parameter neural network.</a:t>
            </a:r>
            <a:endParaRPr lang="en-US" sz="1050" dirty="0"/>
          </a:p>
        </p:txBody>
      </p:sp>
      <p:sp>
        <p:nvSpPr>
          <p:cNvPr id="21" name="Shape 19"/>
          <p:cNvSpPr/>
          <p:nvPr/>
        </p:nvSpPr>
        <p:spPr>
          <a:xfrm>
            <a:off x="5639462" y="3118104"/>
            <a:ext cx="3154680" cy="731520"/>
          </a:xfrm>
          <a:prstGeom prst="rect">
            <a:avLst/>
          </a:prstGeom>
          <a:solidFill>
            <a:srgbClr val="F7F3EA"/>
          </a:solidFill>
          <a:ln w="19050">
            <a:solidFill>
              <a:srgbClr val="B8975B"/>
            </a:solidFill>
            <a:prstDash val="solid"/>
          </a:ln>
          <a:effectLst>
            <a:outerShdw blurRad="101600" dist="38100" dir="8100000" algn="bl" rotWithShape="0">
              <a:srgbClr val="1A1F36">
                <a:alpha val="10000"/>
              </a:srgbClr>
            </a:outerShdw>
          </a:effectLst>
        </p:spPr>
      </p:sp>
      <p:sp>
        <p:nvSpPr>
          <p:cNvPr id="23" name="Text 21"/>
          <p:cNvSpPr/>
          <p:nvPr/>
        </p:nvSpPr>
        <p:spPr>
          <a:xfrm>
            <a:off x="5742432" y="3163824"/>
            <a:ext cx="2990088" cy="228600"/>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④ Choose GPU or CPU</a:t>
            </a:r>
            <a:endParaRPr lang="en-US" sz="1100" dirty="0"/>
          </a:p>
        </p:txBody>
      </p:sp>
      <p:sp>
        <p:nvSpPr>
          <p:cNvPr id="24" name="Text 22"/>
          <p:cNvSpPr/>
          <p:nvPr/>
        </p:nvSpPr>
        <p:spPr>
          <a:xfrm>
            <a:off x="5742432" y="3374136"/>
            <a:ext cx="2990088" cy="429768"/>
          </a:xfrm>
          <a:prstGeom prst="rect">
            <a:avLst/>
          </a:prstGeom>
          <a:noFill/>
          <a:ln/>
        </p:spPr>
        <p:txBody>
          <a:bodyPr wrap="square" lIns="0" tIns="0" rIns="0" bIns="0" rtlCol="0" anchor="t"/>
          <a:lstStyle/>
          <a:p>
            <a:pPr marL="0" indent="0">
              <a:buNone/>
            </a:pPr>
            <a:r>
              <a:rPr lang="en-US" sz="1050" dirty="0">
                <a:solidFill>
                  <a:srgbClr val="1A1F36"/>
                </a:solidFill>
                <a:latin typeface="Calibri" pitchFamily="34" charset="0"/>
                <a:ea typeface="Calibri" pitchFamily="34" charset="-122"/>
                <a:cs typeface="Calibri" pitchFamily="34" charset="-120"/>
              </a:rPr>
              <a:t>Picks MPS (Apple GPU) if available, otherwise falls back to CPU.</a:t>
            </a:r>
            <a:endParaRPr lang="en-US" sz="1050" dirty="0"/>
          </a:p>
        </p:txBody>
      </p:sp>
      <p:sp>
        <p:nvSpPr>
          <p:cNvPr id="26" name="Shape 24"/>
          <p:cNvSpPr/>
          <p:nvPr/>
        </p:nvSpPr>
        <p:spPr>
          <a:xfrm>
            <a:off x="5623562" y="3968496"/>
            <a:ext cx="3154680" cy="731520"/>
          </a:xfrm>
          <a:prstGeom prst="rect">
            <a:avLst/>
          </a:prstGeom>
          <a:solidFill>
            <a:srgbClr val="F7F3EA"/>
          </a:solidFill>
          <a:ln w="19050">
            <a:solidFill>
              <a:srgbClr val="B8975B"/>
            </a:solidFill>
            <a:prstDash val="solid"/>
          </a:ln>
          <a:effectLst>
            <a:outerShdw blurRad="101600" dist="38100" dir="8100000" algn="bl" rotWithShape="0">
              <a:srgbClr val="1A1F36">
                <a:alpha val="10000"/>
              </a:srgbClr>
            </a:outerShdw>
          </a:effectLst>
        </p:spPr>
      </p:sp>
      <p:sp>
        <p:nvSpPr>
          <p:cNvPr id="28" name="Text 26"/>
          <p:cNvSpPr/>
          <p:nvPr/>
        </p:nvSpPr>
        <p:spPr>
          <a:xfrm>
            <a:off x="5742432" y="4014216"/>
            <a:ext cx="2990088" cy="228600"/>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⑤ Ask, generate &amp; print</a:t>
            </a:r>
            <a:endParaRPr lang="en-US" sz="1100" dirty="0"/>
          </a:p>
        </p:txBody>
      </p:sp>
      <p:sp>
        <p:nvSpPr>
          <p:cNvPr id="29" name="Text 27"/>
          <p:cNvSpPr/>
          <p:nvPr/>
        </p:nvSpPr>
        <p:spPr>
          <a:xfrm>
            <a:off x="5742432" y="4224528"/>
            <a:ext cx="2990088" cy="429768"/>
          </a:xfrm>
          <a:prstGeom prst="rect">
            <a:avLst/>
          </a:prstGeom>
          <a:noFill/>
          <a:ln/>
        </p:spPr>
        <p:txBody>
          <a:bodyPr wrap="square" lIns="0" tIns="0" rIns="0" bIns="0" rtlCol="0" anchor="t"/>
          <a:lstStyle/>
          <a:p>
            <a:pPr marL="0" indent="0">
              <a:buNone/>
            </a:pPr>
            <a:r>
              <a:rPr lang="en-US" sz="1050" dirty="0">
                <a:solidFill>
                  <a:srgbClr val="1A1F36"/>
                </a:solidFill>
                <a:latin typeface="Calibri" pitchFamily="34" charset="0"/>
                <a:ea typeface="Calibri" pitchFamily="34" charset="-122"/>
                <a:cs typeface="Calibri" pitchFamily="34" charset="-120"/>
              </a:rPr>
              <a:t>Tokenizes the question → generates tokens → decodes to text.</a:t>
            </a:r>
            <a:endParaRPr lang="en-US" sz="1050" dirty="0"/>
          </a:p>
        </p:txBody>
      </p:sp>
      <p:pic>
        <p:nvPicPr>
          <p:cNvPr id="36" name="Google Shape;328;p29">
            <a:extLst>
              <a:ext uri="{FF2B5EF4-FFF2-40B4-BE49-F238E27FC236}">
                <a16:creationId xmlns:a16="http://schemas.microsoft.com/office/drawing/2014/main" id="{1A5F378A-FD71-532B-015B-1E56C921DA28}"/>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Group 32">
            <a:extLst>
              <a:ext uri="{FF2B5EF4-FFF2-40B4-BE49-F238E27FC236}">
                <a16:creationId xmlns:a16="http://schemas.microsoft.com/office/drawing/2014/main" id="{07E05888-F770-84EB-84AF-777935E68C90}"/>
              </a:ext>
            </a:extLst>
          </p:cNvPr>
          <p:cNvGrpSpPr/>
          <p:nvPr/>
        </p:nvGrpSpPr>
        <p:grpSpPr>
          <a:xfrm>
            <a:off x="258418" y="970059"/>
            <a:ext cx="5029200" cy="777240"/>
            <a:chOff x="274320" y="858741"/>
            <a:chExt cx="5029200" cy="777240"/>
          </a:xfrm>
        </p:grpSpPr>
        <p:sp>
          <p:nvSpPr>
            <p:cNvPr id="4" name="Shape 2"/>
            <p:cNvSpPr/>
            <p:nvPr/>
          </p:nvSpPr>
          <p:spPr>
            <a:xfrm>
              <a:off x="274320" y="858741"/>
              <a:ext cx="5029200" cy="777240"/>
            </a:xfrm>
            <a:prstGeom prst="rect">
              <a:avLst/>
            </a:prstGeom>
            <a:solidFill>
              <a:srgbClr val="DCE9F7"/>
            </a:solidFill>
            <a:ln w="12700">
              <a:solidFill>
                <a:srgbClr val="B5CEE8"/>
              </a:solidFill>
              <a:prstDash val="solid"/>
            </a:ln>
            <a:effectLst>
              <a:outerShdw blurRad="101600" dist="38100" dir="8100000" algn="bl" rotWithShape="0">
                <a:srgbClr val="1A1F36">
                  <a:alpha val="10000"/>
                </a:srgbClr>
              </a:outerShdw>
            </a:effectLst>
          </p:spPr>
        </p:sp>
        <p:sp>
          <p:nvSpPr>
            <p:cNvPr id="5" name="Text 3"/>
            <p:cNvSpPr/>
            <p:nvPr/>
          </p:nvSpPr>
          <p:spPr>
            <a:xfrm>
              <a:off x="411480" y="1005840"/>
              <a:ext cx="4754880" cy="594360"/>
            </a:xfrm>
            <a:prstGeom prst="rect">
              <a:avLst/>
            </a:prstGeom>
            <a:noFill/>
            <a:ln/>
          </p:spPr>
          <p:txBody>
            <a:bodyPr wrap="square" lIns="0" tIns="0" rIns="0" bIns="0" rtlCol="0" anchor="t"/>
            <a:lstStyle/>
            <a:p>
              <a:pPr marL="0" indent="0">
                <a:buNone/>
              </a:pPr>
              <a:r>
                <a:rPr lang="en-US" sz="1100" dirty="0">
                  <a:solidFill>
                    <a:srgbClr val="1A1F36"/>
                  </a:solidFill>
                  <a:latin typeface="Consolas" pitchFamily="34" charset="0"/>
                  <a:ea typeface="Consolas" pitchFamily="34" charset="-122"/>
                  <a:cs typeface="Consolas" pitchFamily="34" charset="-120"/>
                </a:rPr>
                <a:t>import torch</a:t>
              </a:r>
              <a:endParaRPr lang="en-US" sz="1100" dirty="0"/>
            </a:p>
            <a:p>
              <a:pPr marL="0" indent="0">
                <a:buNone/>
              </a:pPr>
              <a:r>
                <a:rPr lang="en-US" sz="1100" dirty="0">
                  <a:solidFill>
                    <a:srgbClr val="1A1F36"/>
                  </a:solidFill>
                  <a:latin typeface="Consolas" pitchFamily="34" charset="0"/>
                  <a:ea typeface="Consolas" pitchFamily="34" charset="-122"/>
                  <a:cs typeface="Consolas" pitchFamily="34" charset="-120"/>
                </a:rPr>
                <a:t>from transformers import AutoTokenizer, AutoModelForCausalLM</a:t>
              </a:r>
              <a:endParaRPr lang="en-US" sz="1100" dirty="0"/>
            </a:p>
          </p:txBody>
        </p:sp>
      </p:grpSp>
      <p:grpSp>
        <p:nvGrpSpPr>
          <p:cNvPr id="27" name="Group 26">
            <a:extLst>
              <a:ext uri="{FF2B5EF4-FFF2-40B4-BE49-F238E27FC236}">
                <a16:creationId xmlns:a16="http://schemas.microsoft.com/office/drawing/2014/main" id="{E74D5951-2DD5-EC39-8947-EA59EA4A55EA}"/>
              </a:ext>
            </a:extLst>
          </p:cNvPr>
          <p:cNvGrpSpPr/>
          <p:nvPr/>
        </p:nvGrpSpPr>
        <p:grpSpPr>
          <a:xfrm>
            <a:off x="5577840" y="730028"/>
            <a:ext cx="3383280" cy="640080"/>
            <a:chOff x="5577840" y="857250"/>
            <a:chExt cx="3383280" cy="640080"/>
          </a:xfrm>
        </p:grpSpPr>
        <p:sp>
          <p:nvSpPr>
            <p:cNvPr id="6" name="Shape 4"/>
            <p:cNvSpPr/>
            <p:nvPr/>
          </p:nvSpPr>
          <p:spPr>
            <a:xfrm>
              <a:off x="5577840" y="857250"/>
              <a:ext cx="3383280" cy="640080"/>
            </a:xfrm>
            <a:prstGeom prst="rect">
              <a:avLst/>
            </a:prstGeom>
            <a:solidFill>
              <a:srgbClr val="F7F3EA"/>
            </a:solidFill>
            <a:ln w="19050">
              <a:solidFill>
                <a:srgbClr val="B8975B"/>
              </a:solidFill>
              <a:prstDash val="solid"/>
            </a:ln>
            <a:effectLst>
              <a:outerShdw blurRad="101600" dist="38100" dir="8100000" algn="bl" rotWithShape="0">
                <a:srgbClr val="1A1F36">
                  <a:alpha val="10000"/>
                </a:srgbClr>
              </a:outerShdw>
            </a:effectLst>
          </p:spPr>
        </p:sp>
        <p:sp>
          <p:nvSpPr>
            <p:cNvPr id="8" name="Text 6"/>
            <p:cNvSpPr/>
            <p:nvPr/>
          </p:nvSpPr>
          <p:spPr>
            <a:xfrm>
              <a:off x="5696712" y="902970"/>
              <a:ext cx="3218688" cy="228600"/>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import torch</a:t>
              </a:r>
              <a:endParaRPr lang="en-US" sz="1100" dirty="0"/>
            </a:p>
          </p:txBody>
        </p:sp>
        <p:sp>
          <p:nvSpPr>
            <p:cNvPr id="9" name="Text 7"/>
            <p:cNvSpPr/>
            <p:nvPr/>
          </p:nvSpPr>
          <p:spPr>
            <a:xfrm>
              <a:off x="5696712" y="1113282"/>
              <a:ext cx="3218688" cy="201168"/>
            </a:xfrm>
            <a:prstGeom prst="rect">
              <a:avLst/>
            </a:prstGeom>
            <a:noFill/>
            <a:ln/>
          </p:spPr>
          <p:txBody>
            <a:bodyPr wrap="square" lIns="0" tIns="0" rIns="0" bIns="0" rtlCol="0" anchor="t"/>
            <a:lstStyle/>
            <a:p>
              <a:pPr marL="0" indent="0">
                <a:buNone/>
              </a:pPr>
              <a:r>
                <a:rPr lang="en-US" sz="1050" dirty="0">
                  <a:solidFill>
                    <a:srgbClr val="1A1F36"/>
                  </a:solidFill>
                  <a:latin typeface="Calibri" pitchFamily="34" charset="0"/>
                  <a:ea typeface="Calibri" pitchFamily="34" charset="-122"/>
                  <a:cs typeface="Calibri" pitchFamily="34" charset="-120"/>
                </a:rPr>
                <a:t>Loads PyTorch — the math engine that runs all the tensor calculations.</a:t>
              </a:r>
              <a:endParaRPr lang="en-US" sz="1050" dirty="0"/>
            </a:p>
          </p:txBody>
        </p:sp>
      </p:grpSp>
      <p:grpSp>
        <p:nvGrpSpPr>
          <p:cNvPr id="26" name="Group 25">
            <a:extLst>
              <a:ext uri="{FF2B5EF4-FFF2-40B4-BE49-F238E27FC236}">
                <a16:creationId xmlns:a16="http://schemas.microsoft.com/office/drawing/2014/main" id="{581BDB69-DEAD-8F66-459A-DA913DA405A1}"/>
              </a:ext>
            </a:extLst>
          </p:cNvPr>
          <p:cNvGrpSpPr/>
          <p:nvPr/>
        </p:nvGrpSpPr>
        <p:grpSpPr>
          <a:xfrm>
            <a:off x="5577840" y="1468507"/>
            <a:ext cx="3383280" cy="640080"/>
            <a:chOff x="5577840" y="2406761"/>
            <a:chExt cx="3383280" cy="640080"/>
          </a:xfrm>
        </p:grpSpPr>
        <p:sp>
          <p:nvSpPr>
            <p:cNvPr id="11" name="Shape 9"/>
            <p:cNvSpPr/>
            <p:nvPr/>
          </p:nvSpPr>
          <p:spPr>
            <a:xfrm>
              <a:off x="5577840" y="2406761"/>
              <a:ext cx="3383280" cy="640080"/>
            </a:xfrm>
            <a:prstGeom prst="rect">
              <a:avLst/>
            </a:prstGeom>
            <a:solidFill>
              <a:srgbClr val="F7F3EA"/>
            </a:solidFill>
            <a:ln w="19050">
              <a:solidFill>
                <a:srgbClr val="B8975B"/>
              </a:solidFill>
              <a:prstDash val="solid"/>
            </a:ln>
            <a:effectLst>
              <a:outerShdw blurRad="101600" dist="38100" dir="8100000" algn="bl" rotWithShape="0">
                <a:srgbClr val="1A1F36">
                  <a:alpha val="10000"/>
                </a:srgbClr>
              </a:outerShdw>
            </a:effectLst>
          </p:spPr>
        </p:sp>
        <p:sp>
          <p:nvSpPr>
            <p:cNvPr id="13" name="Text 11"/>
            <p:cNvSpPr/>
            <p:nvPr/>
          </p:nvSpPr>
          <p:spPr>
            <a:xfrm>
              <a:off x="5696712" y="2452481"/>
              <a:ext cx="3218688" cy="228600"/>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from transformers import …</a:t>
              </a:r>
              <a:endParaRPr lang="en-US" sz="1100" dirty="0"/>
            </a:p>
          </p:txBody>
        </p:sp>
        <p:sp>
          <p:nvSpPr>
            <p:cNvPr id="14" name="Text 12"/>
            <p:cNvSpPr/>
            <p:nvPr/>
          </p:nvSpPr>
          <p:spPr>
            <a:xfrm>
              <a:off x="5696712" y="2662793"/>
              <a:ext cx="3218688" cy="338328"/>
            </a:xfrm>
            <a:prstGeom prst="rect">
              <a:avLst/>
            </a:prstGeom>
            <a:noFill/>
            <a:ln/>
          </p:spPr>
          <p:txBody>
            <a:bodyPr wrap="square" lIns="0" tIns="0" rIns="0" bIns="0" rtlCol="0" anchor="t"/>
            <a:lstStyle/>
            <a:p>
              <a:pPr marL="0" indent="0">
                <a:buNone/>
              </a:pPr>
              <a:r>
                <a:rPr lang="en-US" sz="1050" dirty="0">
                  <a:solidFill>
                    <a:srgbClr val="1A1F36"/>
                  </a:solidFill>
                  <a:latin typeface="Calibri" pitchFamily="34" charset="0"/>
                  <a:ea typeface="Calibri" pitchFamily="34" charset="-122"/>
                  <a:cs typeface="Calibri" pitchFamily="34" charset="-120"/>
                </a:rPr>
                <a:t>Brings in two ready-made classes from Hugging Face:</a:t>
              </a:r>
              <a:endParaRPr lang="en-US" sz="1050" dirty="0"/>
            </a:p>
            <a:p>
              <a:pPr marL="0" indent="0">
                <a:buNone/>
              </a:pPr>
              <a:r>
                <a:rPr lang="en-US" sz="1050" dirty="0">
                  <a:solidFill>
                    <a:srgbClr val="1A1F36"/>
                  </a:solidFill>
                  <a:latin typeface="Calibri" pitchFamily="34" charset="0"/>
                  <a:ea typeface="Calibri" pitchFamily="34" charset="-122"/>
                  <a:cs typeface="Calibri" pitchFamily="34" charset="-120"/>
                </a:rPr>
                <a:t>AutoTokenizer and AutoModelForCausalLM.</a:t>
              </a:r>
              <a:endParaRPr lang="en-US" sz="1050" dirty="0"/>
            </a:p>
          </p:txBody>
        </p:sp>
      </p:grpSp>
      <p:sp>
        <p:nvSpPr>
          <p:cNvPr id="25" name="Text 1">
            <a:extLst>
              <a:ext uri="{FF2B5EF4-FFF2-40B4-BE49-F238E27FC236}">
                <a16:creationId xmlns:a16="http://schemas.microsoft.com/office/drawing/2014/main" id="{919B4186-B277-34C1-23FF-7D706D46F930}"/>
              </a:ext>
            </a:extLst>
          </p:cNvPr>
          <p:cNvSpPr/>
          <p:nvPr/>
        </p:nvSpPr>
        <p:spPr>
          <a:xfrm>
            <a:off x="258418" y="194806"/>
            <a:ext cx="8229600" cy="411480"/>
          </a:xfrm>
          <a:prstGeom prst="rect">
            <a:avLst/>
          </a:prstGeom>
          <a:noFill/>
          <a:ln/>
        </p:spPr>
        <p:txBody>
          <a:bodyPr wrap="square" lIns="0" tIns="0" rIns="0" bIns="0" rtlCol="0" anchor="ctr"/>
          <a:lstStyle/>
          <a:p>
            <a:pPr marL="0" indent="0">
              <a:buNone/>
            </a:pPr>
            <a:r>
              <a:rPr lang="en-US" sz="2400" b="1" dirty="0" err="1">
                <a:solidFill>
                  <a:srgbClr val="1A1F36"/>
                </a:solidFill>
                <a:latin typeface="Georgia" pitchFamily="34" charset="0"/>
                <a:ea typeface="Georgia" pitchFamily="34" charset="-122"/>
                <a:cs typeface="Georgia" pitchFamily="34" charset="-120"/>
              </a:rPr>
              <a:t>HuggingFace</a:t>
            </a:r>
            <a:r>
              <a:rPr lang="en-US" sz="2400" b="1" dirty="0">
                <a:solidFill>
                  <a:srgbClr val="1A1F36"/>
                </a:solidFill>
                <a:latin typeface="Georgia" pitchFamily="34" charset="0"/>
                <a:ea typeface="Georgia" pitchFamily="34" charset="-122"/>
                <a:cs typeface="Georgia" pitchFamily="34" charset="-120"/>
              </a:rPr>
              <a:t> – Local inference</a:t>
            </a:r>
            <a:endParaRPr lang="en-US" sz="2400" dirty="0"/>
          </a:p>
        </p:txBody>
      </p:sp>
      <p:grpSp>
        <p:nvGrpSpPr>
          <p:cNvPr id="29" name="Group 28">
            <a:extLst>
              <a:ext uri="{FF2B5EF4-FFF2-40B4-BE49-F238E27FC236}">
                <a16:creationId xmlns:a16="http://schemas.microsoft.com/office/drawing/2014/main" id="{4675413C-6660-A393-8639-F937DC511FDF}"/>
              </a:ext>
            </a:extLst>
          </p:cNvPr>
          <p:cNvGrpSpPr/>
          <p:nvPr/>
        </p:nvGrpSpPr>
        <p:grpSpPr>
          <a:xfrm>
            <a:off x="290222" y="2003729"/>
            <a:ext cx="5029200" cy="548640"/>
            <a:chOff x="274320" y="914400"/>
            <a:chExt cx="8458200" cy="548640"/>
          </a:xfrm>
        </p:grpSpPr>
        <p:sp>
          <p:nvSpPr>
            <p:cNvPr id="30" name="Shape 2">
              <a:extLst>
                <a:ext uri="{FF2B5EF4-FFF2-40B4-BE49-F238E27FC236}">
                  <a16:creationId xmlns:a16="http://schemas.microsoft.com/office/drawing/2014/main" id="{17154EBD-1167-EC21-7E97-45F2DCC44FCF}"/>
                </a:ext>
              </a:extLst>
            </p:cNvPr>
            <p:cNvSpPr/>
            <p:nvPr/>
          </p:nvSpPr>
          <p:spPr>
            <a:xfrm>
              <a:off x="274320" y="914400"/>
              <a:ext cx="7468623" cy="548640"/>
            </a:xfrm>
            <a:prstGeom prst="rect">
              <a:avLst/>
            </a:prstGeom>
            <a:solidFill>
              <a:srgbClr val="DCE9F7"/>
            </a:solidFill>
            <a:ln w="12700">
              <a:solidFill>
                <a:srgbClr val="B5CEE8"/>
              </a:solidFill>
              <a:prstDash val="solid"/>
            </a:ln>
            <a:effectLst>
              <a:outerShdw blurRad="101600" dist="38100" dir="8100000" algn="bl" rotWithShape="0">
                <a:srgbClr val="1A1F36">
                  <a:alpha val="10000"/>
                </a:srgbClr>
              </a:outerShdw>
            </a:effectLst>
          </p:spPr>
        </p:sp>
        <p:sp>
          <p:nvSpPr>
            <p:cNvPr id="31" name="Text 3">
              <a:extLst>
                <a:ext uri="{FF2B5EF4-FFF2-40B4-BE49-F238E27FC236}">
                  <a16:creationId xmlns:a16="http://schemas.microsoft.com/office/drawing/2014/main" id="{AC838910-6085-0D57-4294-7746A1A70D1D}"/>
                </a:ext>
              </a:extLst>
            </p:cNvPr>
            <p:cNvSpPr/>
            <p:nvPr/>
          </p:nvSpPr>
          <p:spPr>
            <a:xfrm>
              <a:off x="411480" y="1005840"/>
              <a:ext cx="8321040" cy="365760"/>
            </a:xfrm>
            <a:prstGeom prst="rect">
              <a:avLst/>
            </a:prstGeom>
            <a:noFill/>
            <a:ln/>
          </p:spPr>
          <p:txBody>
            <a:bodyPr wrap="square" lIns="0" tIns="0" rIns="0" bIns="0" rtlCol="0" anchor="t"/>
            <a:lstStyle/>
            <a:p>
              <a:pPr marL="0" indent="0">
                <a:buNone/>
              </a:pPr>
              <a:r>
                <a:rPr lang="en-US" sz="1100" dirty="0">
                  <a:solidFill>
                    <a:srgbClr val="1A1F36"/>
                  </a:solidFill>
                  <a:latin typeface="Consolas" pitchFamily="34" charset="0"/>
                  <a:ea typeface="Consolas" pitchFamily="34" charset="-122"/>
                  <a:cs typeface="Consolas" pitchFamily="34" charset="-120"/>
                </a:rPr>
                <a:t>model_name = " google/gemma-2-2b-it "</a:t>
              </a:r>
              <a:endParaRPr lang="en-US" sz="1100" dirty="0"/>
            </a:p>
          </p:txBody>
        </p:sp>
      </p:grpSp>
      <p:grpSp>
        <p:nvGrpSpPr>
          <p:cNvPr id="34" name="Group 33">
            <a:extLst>
              <a:ext uri="{FF2B5EF4-FFF2-40B4-BE49-F238E27FC236}">
                <a16:creationId xmlns:a16="http://schemas.microsoft.com/office/drawing/2014/main" id="{8C69C784-B378-C3CB-DD70-FA9CE204EE36}"/>
              </a:ext>
            </a:extLst>
          </p:cNvPr>
          <p:cNvGrpSpPr/>
          <p:nvPr/>
        </p:nvGrpSpPr>
        <p:grpSpPr>
          <a:xfrm>
            <a:off x="274320" y="3132815"/>
            <a:ext cx="5029200" cy="822960"/>
            <a:chOff x="274320" y="914400"/>
            <a:chExt cx="5029200" cy="822960"/>
          </a:xfrm>
        </p:grpSpPr>
        <p:sp>
          <p:nvSpPr>
            <p:cNvPr id="35" name="Shape 2">
              <a:extLst>
                <a:ext uri="{FF2B5EF4-FFF2-40B4-BE49-F238E27FC236}">
                  <a16:creationId xmlns:a16="http://schemas.microsoft.com/office/drawing/2014/main" id="{D76E0DEF-F5BC-BE5D-4A34-3F523645A4C0}"/>
                </a:ext>
              </a:extLst>
            </p:cNvPr>
            <p:cNvSpPr/>
            <p:nvPr/>
          </p:nvSpPr>
          <p:spPr>
            <a:xfrm>
              <a:off x="274320" y="914400"/>
              <a:ext cx="5029200" cy="822960"/>
            </a:xfrm>
            <a:prstGeom prst="rect">
              <a:avLst/>
            </a:prstGeom>
            <a:solidFill>
              <a:srgbClr val="DCE9F7"/>
            </a:solidFill>
            <a:ln w="12700">
              <a:solidFill>
                <a:srgbClr val="B5CEE8"/>
              </a:solidFill>
              <a:prstDash val="solid"/>
            </a:ln>
            <a:effectLst>
              <a:outerShdw blurRad="101600" dist="38100" dir="8100000" algn="bl" rotWithShape="0">
                <a:srgbClr val="1A1F36">
                  <a:alpha val="10000"/>
                </a:srgbClr>
              </a:outerShdw>
            </a:effectLst>
          </p:spPr>
        </p:sp>
        <p:sp>
          <p:nvSpPr>
            <p:cNvPr id="36" name="Text 3">
              <a:extLst>
                <a:ext uri="{FF2B5EF4-FFF2-40B4-BE49-F238E27FC236}">
                  <a16:creationId xmlns:a16="http://schemas.microsoft.com/office/drawing/2014/main" id="{7612123B-E9B6-6372-DF80-A6E2AE7A8265}"/>
                </a:ext>
              </a:extLst>
            </p:cNvPr>
            <p:cNvSpPr/>
            <p:nvPr/>
          </p:nvSpPr>
          <p:spPr>
            <a:xfrm>
              <a:off x="411480" y="1005840"/>
              <a:ext cx="4754880" cy="640080"/>
            </a:xfrm>
            <a:prstGeom prst="rect">
              <a:avLst/>
            </a:prstGeom>
            <a:noFill/>
            <a:ln/>
          </p:spPr>
          <p:txBody>
            <a:bodyPr wrap="square" lIns="0" tIns="0" rIns="0" bIns="0" rtlCol="0" anchor="t"/>
            <a:lstStyle/>
            <a:p>
              <a:pPr marL="0" indent="0">
                <a:buNone/>
              </a:pPr>
              <a:r>
                <a:rPr lang="en-US" sz="1100" dirty="0">
                  <a:solidFill>
                    <a:srgbClr val="1A1F36"/>
                  </a:solidFill>
                  <a:latin typeface="Consolas" pitchFamily="34" charset="0"/>
                  <a:ea typeface="Consolas" pitchFamily="34" charset="-122"/>
                  <a:cs typeface="Consolas" pitchFamily="34" charset="-120"/>
                </a:rPr>
                <a:t>tokenizer = AutoTokenizer.from_pretrained(model_name)</a:t>
              </a:r>
              <a:endParaRPr lang="en-US" sz="1100" dirty="0"/>
            </a:p>
            <a:p>
              <a:pPr marL="0" indent="0">
                <a:buNone/>
              </a:pPr>
              <a:r>
                <a:rPr lang="en-US" sz="1100" dirty="0">
                  <a:solidFill>
                    <a:srgbClr val="1A1F36"/>
                  </a:solidFill>
                  <a:latin typeface="Consolas" pitchFamily="34" charset="0"/>
                  <a:ea typeface="Consolas" pitchFamily="34" charset="-122"/>
                  <a:cs typeface="Consolas" pitchFamily="34" charset="-120"/>
                </a:rPr>
                <a:t>model = AutoModelForCausalLM.from_pretrained(model_name, dtype=torch.float16)</a:t>
              </a:r>
              <a:endParaRPr lang="en-US" sz="1100" dirty="0"/>
            </a:p>
          </p:txBody>
        </p:sp>
      </p:grpSp>
      <p:grpSp>
        <p:nvGrpSpPr>
          <p:cNvPr id="37" name="Group 36">
            <a:extLst>
              <a:ext uri="{FF2B5EF4-FFF2-40B4-BE49-F238E27FC236}">
                <a16:creationId xmlns:a16="http://schemas.microsoft.com/office/drawing/2014/main" id="{8D910034-2C37-B493-FE86-8529C70EE6E2}"/>
              </a:ext>
            </a:extLst>
          </p:cNvPr>
          <p:cNvGrpSpPr/>
          <p:nvPr/>
        </p:nvGrpSpPr>
        <p:grpSpPr>
          <a:xfrm>
            <a:off x="5530132" y="2443039"/>
            <a:ext cx="3291840" cy="566928"/>
            <a:chOff x="5577840" y="868680"/>
            <a:chExt cx="3291840" cy="566928"/>
          </a:xfrm>
        </p:grpSpPr>
        <p:sp>
          <p:nvSpPr>
            <p:cNvPr id="38" name="Shape 4">
              <a:extLst>
                <a:ext uri="{FF2B5EF4-FFF2-40B4-BE49-F238E27FC236}">
                  <a16:creationId xmlns:a16="http://schemas.microsoft.com/office/drawing/2014/main" id="{7B34D2C1-A3E5-1C88-5F52-3D7380D2A35A}"/>
                </a:ext>
              </a:extLst>
            </p:cNvPr>
            <p:cNvSpPr/>
            <p:nvPr/>
          </p:nvSpPr>
          <p:spPr>
            <a:xfrm>
              <a:off x="5577840" y="868680"/>
              <a:ext cx="3291840" cy="566928"/>
            </a:xfrm>
            <a:prstGeom prst="rect">
              <a:avLst/>
            </a:prstGeom>
            <a:solidFill>
              <a:srgbClr val="F7F3EA"/>
            </a:solidFill>
            <a:ln w="19050">
              <a:solidFill>
                <a:srgbClr val="B8975B"/>
              </a:solidFill>
              <a:prstDash val="solid"/>
            </a:ln>
            <a:effectLst>
              <a:outerShdw blurRad="101600" dist="38100" dir="8100000" algn="bl" rotWithShape="0">
                <a:srgbClr val="1A1F36">
                  <a:alpha val="10000"/>
                </a:srgbClr>
              </a:outerShdw>
            </a:effectLst>
          </p:spPr>
        </p:sp>
        <p:sp>
          <p:nvSpPr>
            <p:cNvPr id="39" name="Text 6">
              <a:extLst>
                <a:ext uri="{FF2B5EF4-FFF2-40B4-BE49-F238E27FC236}">
                  <a16:creationId xmlns:a16="http://schemas.microsoft.com/office/drawing/2014/main" id="{1507977B-6095-FFFE-504D-6ACABF318257}"/>
                </a:ext>
              </a:extLst>
            </p:cNvPr>
            <p:cNvSpPr/>
            <p:nvPr/>
          </p:nvSpPr>
          <p:spPr>
            <a:xfrm>
              <a:off x="5696712" y="914400"/>
              <a:ext cx="3127248" cy="228600"/>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AutoTokenizer</a:t>
              </a:r>
              <a:endParaRPr lang="en-US" sz="1100" dirty="0"/>
            </a:p>
          </p:txBody>
        </p:sp>
        <p:sp>
          <p:nvSpPr>
            <p:cNvPr id="40" name="Text 7">
              <a:extLst>
                <a:ext uri="{FF2B5EF4-FFF2-40B4-BE49-F238E27FC236}">
                  <a16:creationId xmlns:a16="http://schemas.microsoft.com/office/drawing/2014/main" id="{89AB400F-F2F5-B7C3-F08C-D500AA6E371D}"/>
                </a:ext>
              </a:extLst>
            </p:cNvPr>
            <p:cNvSpPr/>
            <p:nvPr/>
          </p:nvSpPr>
          <p:spPr>
            <a:xfrm>
              <a:off x="5696712" y="1124712"/>
              <a:ext cx="3127248" cy="265176"/>
            </a:xfrm>
            <a:prstGeom prst="rect">
              <a:avLst/>
            </a:prstGeom>
            <a:noFill/>
            <a:ln/>
          </p:spPr>
          <p:txBody>
            <a:bodyPr wrap="square" lIns="0" tIns="0" rIns="0" bIns="0" rtlCol="0" anchor="t"/>
            <a:lstStyle/>
            <a:p>
              <a:pPr marL="0" indent="0">
                <a:buNone/>
              </a:pPr>
              <a:r>
                <a:rPr lang="en-US" sz="1050" dirty="0">
                  <a:solidFill>
                    <a:srgbClr val="1A1F36"/>
                  </a:solidFill>
                  <a:latin typeface="Calibri" pitchFamily="34" charset="0"/>
                  <a:ea typeface="Calibri" pitchFamily="34" charset="-122"/>
                  <a:cs typeface="Calibri" pitchFamily="34" charset="-120"/>
                </a:rPr>
                <a:t>Downloads the vocabulary so words → numbers match what the model learned.</a:t>
              </a:r>
              <a:endParaRPr lang="en-US" sz="1050" dirty="0"/>
            </a:p>
          </p:txBody>
        </p:sp>
      </p:grpSp>
      <p:grpSp>
        <p:nvGrpSpPr>
          <p:cNvPr id="41" name="Group 40">
            <a:extLst>
              <a:ext uri="{FF2B5EF4-FFF2-40B4-BE49-F238E27FC236}">
                <a16:creationId xmlns:a16="http://schemas.microsoft.com/office/drawing/2014/main" id="{683702C0-A908-1406-2473-5626FD20AB67}"/>
              </a:ext>
            </a:extLst>
          </p:cNvPr>
          <p:cNvGrpSpPr/>
          <p:nvPr/>
        </p:nvGrpSpPr>
        <p:grpSpPr>
          <a:xfrm>
            <a:off x="5569889" y="3345513"/>
            <a:ext cx="3291840" cy="566928"/>
            <a:chOff x="5577840" y="1508760"/>
            <a:chExt cx="3291840" cy="566928"/>
          </a:xfrm>
        </p:grpSpPr>
        <p:sp>
          <p:nvSpPr>
            <p:cNvPr id="42" name="Shape 9">
              <a:extLst>
                <a:ext uri="{FF2B5EF4-FFF2-40B4-BE49-F238E27FC236}">
                  <a16:creationId xmlns:a16="http://schemas.microsoft.com/office/drawing/2014/main" id="{8F2381CE-8117-2DF1-A30A-94FAAA56A562}"/>
                </a:ext>
              </a:extLst>
            </p:cNvPr>
            <p:cNvSpPr/>
            <p:nvPr/>
          </p:nvSpPr>
          <p:spPr>
            <a:xfrm>
              <a:off x="5577840" y="1508760"/>
              <a:ext cx="3291840" cy="566928"/>
            </a:xfrm>
            <a:prstGeom prst="rect">
              <a:avLst/>
            </a:prstGeom>
            <a:solidFill>
              <a:srgbClr val="F7F3EA"/>
            </a:solidFill>
            <a:ln w="19050">
              <a:solidFill>
                <a:srgbClr val="B8975B"/>
              </a:solidFill>
              <a:prstDash val="solid"/>
            </a:ln>
            <a:effectLst>
              <a:outerShdw blurRad="101600" dist="38100" dir="8100000" algn="bl" rotWithShape="0">
                <a:srgbClr val="1A1F36">
                  <a:alpha val="10000"/>
                </a:srgbClr>
              </a:outerShdw>
            </a:effectLst>
          </p:spPr>
        </p:sp>
        <p:sp>
          <p:nvSpPr>
            <p:cNvPr id="43" name="Text 11">
              <a:extLst>
                <a:ext uri="{FF2B5EF4-FFF2-40B4-BE49-F238E27FC236}">
                  <a16:creationId xmlns:a16="http://schemas.microsoft.com/office/drawing/2014/main" id="{233F33E0-EA44-C4AA-3052-7D608DC44C1D}"/>
                </a:ext>
              </a:extLst>
            </p:cNvPr>
            <p:cNvSpPr/>
            <p:nvPr/>
          </p:nvSpPr>
          <p:spPr>
            <a:xfrm>
              <a:off x="5696712" y="1554480"/>
              <a:ext cx="3127248" cy="228600"/>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AutoModelForCausalLM</a:t>
              </a:r>
              <a:endParaRPr lang="en-US" sz="1100" dirty="0"/>
            </a:p>
          </p:txBody>
        </p:sp>
        <p:sp>
          <p:nvSpPr>
            <p:cNvPr id="44" name="Text 12">
              <a:extLst>
                <a:ext uri="{FF2B5EF4-FFF2-40B4-BE49-F238E27FC236}">
                  <a16:creationId xmlns:a16="http://schemas.microsoft.com/office/drawing/2014/main" id="{EB880635-A673-3899-0D23-3DFD535CB892}"/>
                </a:ext>
              </a:extLst>
            </p:cNvPr>
            <p:cNvSpPr/>
            <p:nvPr/>
          </p:nvSpPr>
          <p:spPr>
            <a:xfrm>
              <a:off x="5696712" y="1764792"/>
              <a:ext cx="3127248" cy="265176"/>
            </a:xfrm>
            <a:prstGeom prst="rect">
              <a:avLst/>
            </a:prstGeom>
            <a:noFill/>
            <a:ln/>
          </p:spPr>
          <p:txBody>
            <a:bodyPr wrap="square" lIns="0" tIns="0" rIns="0" bIns="0" rtlCol="0" anchor="t"/>
            <a:lstStyle/>
            <a:p>
              <a:pPr marL="0" indent="0">
                <a:buNone/>
              </a:pPr>
              <a:r>
                <a:rPr lang="en-US" sz="1050" dirty="0">
                  <a:solidFill>
                    <a:srgbClr val="1A1F36"/>
                  </a:solidFill>
                  <a:latin typeface="Calibri" pitchFamily="34" charset="0"/>
                  <a:ea typeface="Calibri" pitchFamily="34" charset="-122"/>
                  <a:cs typeface="Calibri" pitchFamily="34" charset="-120"/>
                </a:rPr>
                <a:t>Loads 4 billion parameters — the 'brain' of the AI.</a:t>
              </a:r>
              <a:endParaRPr lang="en-US" sz="1050" dirty="0"/>
            </a:p>
          </p:txBody>
        </p:sp>
      </p:grpSp>
      <p:grpSp>
        <p:nvGrpSpPr>
          <p:cNvPr id="45" name="Group 44">
            <a:extLst>
              <a:ext uri="{FF2B5EF4-FFF2-40B4-BE49-F238E27FC236}">
                <a16:creationId xmlns:a16="http://schemas.microsoft.com/office/drawing/2014/main" id="{73F541C5-4850-2825-0EF3-D9727C8675B6}"/>
              </a:ext>
            </a:extLst>
          </p:cNvPr>
          <p:cNvGrpSpPr/>
          <p:nvPr/>
        </p:nvGrpSpPr>
        <p:grpSpPr>
          <a:xfrm>
            <a:off x="5569889" y="4136668"/>
            <a:ext cx="3291840" cy="713232"/>
            <a:chOff x="5577840" y="2148840"/>
            <a:chExt cx="3291840" cy="713232"/>
          </a:xfrm>
        </p:grpSpPr>
        <p:sp>
          <p:nvSpPr>
            <p:cNvPr id="46" name="Shape 14">
              <a:extLst>
                <a:ext uri="{FF2B5EF4-FFF2-40B4-BE49-F238E27FC236}">
                  <a16:creationId xmlns:a16="http://schemas.microsoft.com/office/drawing/2014/main" id="{1B7DEA54-7036-6BEA-5492-63E44866FAA3}"/>
                </a:ext>
              </a:extLst>
            </p:cNvPr>
            <p:cNvSpPr/>
            <p:nvPr/>
          </p:nvSpPr>
          <p:spPr>
            <a:xfrm>
              <a:off x="5577840" y="2148840"/>
              <a:ext cx="3291840" cy="713232"/>
            </a:xfrm>
            <a:prstGeom prst="rect">
              <a:avLst/>
            </a:prstGeom>
            <a:solidFill>
              <a:srgbClr val="F7F3EA"/>
            </a:solidFill>
            <a:ln w="19050">
              <a:solidFill>
                <a:srgbClr val="B8975B"/>
              </a:solidFill>
              <a:prstDash val="solid"/>
            </a:ln>
            <a:effectLst>
              <a:outerShdw blurRad="101600" dist="38100" dir="8100000" algn="bl" rotWithShape="0">
                <a:srgbClr val="1A1F36">
                  <a:alpha val="10000"/>
                </a:srgbClr>
              </a:outerShdw>
            </a:effectLst>
          </p:spPr>
        </p:sp>
        <p:sp>
          <p:nvSpPr>
            <p:cNvPr id="47" name="Text 16">
              <a:extLst>
                <a:ext uri="{FF2B5EF4-FFF2-40B4-BE49-F238E27FC236}">
                  <a16:creationId xmlns:a16="http://schemas.microsoft.com/office/drawing/2014/main" id="{A5EE87FC-F833-A210-968E-35D56E7BB1B5}"/>
                </a:ext>
              </a:extLst>
            </p:cNvPr>
            <p:cNvSpPr/>
            <p:nvPr/>
          </p:nvSpPr>
          <p:spPr>
            <a:xfrm>
              <a:off x="5696712" y="2194560"/>
              <a:ext cx="3127248" cy="228600"/>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dtype=torch.float16</a:t>
              </a:r>
              <a:endParaRPr lang="en-US" sz="1100" dirty="0"/>
            </a:p>
          </p:txBody>
        </p:sp>
        <p:sp>
          <p:nvSpPr>
            <p:cNvPr id="48" name="Text 17">
              <a:extLst>
                <a:ext uri="{FF2B5EF4-FFF2-40B4-BE49-F238E27FC236}">
                  <a16:creationId xmlns:a16="http://schemas.microsoft.com/office/drawing/2014/main" id="{8567C068-E067-D210-BE98-529E6B816A02}"/>
                </a:ext>
              </a:extLst>
            </p:cNvPr>
            <p:cNvSpPr/>
            <p:nvPr/>
          </p:nvSpPr>
          <p:spPr>
            <a:xfrm>
              <a:off x="5696712" y="2404872"/>
              <a:ext cx="3127248" cy="411480"/>
            </a:xfrm>
            <a:prstGeom prst="rect">
              <a:avLst/>
            </a:prstGeom>
            <a:noFill/>
            <a:ln/>
          </p:spPr>
          <p:txBody>
            <a:bodyPr wrap="square" lIns="0" tIns="0" rIns="0" bIns="0" rtlCol="0" anchor="t"/>
            <a:lstStyle/>
            <a:p>
              <a:pPr marL="0" indent="0">
                <a:buNone/>
              </a:pPr>
              <a:r>
                <a:rPr lang="en-US" sz="1050" dirty="0">
                  <a:solidFill>
                    <a:srgbClr val="1A1F36"/>
                  </a:solidFill>
                  <a:latin typeface="Calibri" pitchFamily="34" charset="0"/>
                  <a:ea typeface="Calibri" pitchFamily="34" charset="-122"/>
                  <a:cs typeface="Calibri" pitchFamily="34" charset="-120"/>
                </a:rPr>
                <a:t>Uses 16-bit numbers instead of 32-bit — halves memory use with barely any quality loss.</a:t>
              </a:r>
              <a:endParaRPr lang="en-US" sz="1050" dirty="0"/>
            </a:p>
          </p:txBody>
        </p:sp>
      </p:grpSp>
      <p:pic>
        <p:nvPicPr>
          <p:cNvPr id="49" name="Google Shape;328;p29">
            <a:extLst>
              <a:ext uri="{FF2B5EF4-FFF2-40B4-BE49-F238E27FC236}">
                <a16:creationId xmlns:a16="http://schemas.microsoft.com/office/drawing/2014/main" id="{9EBC33AD-49D5-D150-4BA6-0FA812D7C90F}"/>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2"/>
          <p:cNvSpPr/>
          <p:nvPr/>
        </p:nvSpPr>
        <p:spPr>
          <a:xfrm>
            <a:off x="274320" y="914400"/>
            <a:ext cx="5029200" cy="960120"/>
          </a:xfrm>
          <a:prstGeom prst="rect">
            <a:avLst/>
          </a:prstGeom>
          <a:solidFill>
            <a:srgbClr val="DCE9F7"/>
          </a:solidFill>
          <a:ln w="12700">
            <a:solidFill>
              <a:srgbClr val="B5CEE8"/>
            </a:solidFill>
            <a:prstDash val="solid"/>
          </a:ln>
          <a:effectLst>
            <a:outerShdw blurRad="101600" dist="38100" dir="8100000" algn="bl" rotWithShape="0">
              <a:srgbClr val="1A1F36">
                <a:alpha val="10000"/>
              </a:srgbClr>
            </a:outerShdw>
          </a:effectLst>
        </p:spPr>
      </p:sp>
      <p:sp>
        <p:nvSpPr>
          <p:cNvPr id="5" name="Text 3"/>
          <p:cNvSpPr/>
          <p:nvPr/>
        </p:nvSpPr>
        <p:spPr>
          <a:xfrm>
            <a:off x="411480" y="1005840"/>
            <a:ext cx="4754880" cy="777240"/>
          </a:xfrm>
          <a:prstGeom prst="rect">
            <a:avLst/>
          </a:prstGeom>
          <a:noFill/>
          <a:ln/>
        </p:spPr>
        <p:txBody>
          <a:bodyPr wrap="square" lIns="0" tIns="0" rIns="0" bIns="0" rtlCol="0" anchor="t"/>
          <a:lstStyle/>
          <a:p>
            <a:pPr marL="0" indent="0">
              <a:buNone/>
            </a:pPr>
            <a:r>
              <a:rPr lang="en-US" sz="1100" dirty="0">
                <a:solidFill>
                  <a:srgbClr val="1A1F36"/>
                </a:solidFill>
                <a:latin typeface="Consolas" pitchFamily="34" charset="0"/>
                <a:ea typeface="Consolas" pitchFamily="34" charset="-122"/>
                <a:cs typeface="Consolas" pitchFamily="34" charset="-120"/>
              </a:rPr>
              <a:t>device = "mps" if torch.backends.mps.is_available() else "cpu"</a:t>
            </a:r>
            <a:endParaRPr lang="en-US" sz="1100" dirty="0"/>
          </a:p>
          <a:p>
            <a:pPr marL="0" indent="0">
              <a:buNone/>
            </a:pPr>
            <a:r>
              <a:rPr lang="en-US" sz="1100" dirty="0">
                <a:solidFill>
                  <a:srgbClr val="1A1F36"/>
                </a:solidFill>
                <a:latin typeface="Consolas" pitchFamily="34" charset="0"/>
                <a:ea typeface="Consolas" pitchFamily="34" charset="-122"/>
                <a:cs typeface="Consolas" pitchFamily="34" charset="-120"/>
              </a:rPr>
              <a:t>print(f"Using device: {device}")</a:t>
            </a:r>
            <a:endParaRPr lang="en-US" sz="1100" dirty="0"/>
          </a:p>
          <a:p>
            <a:pPr marL="0" indent="0">
              <a:buNone/>
            </a:pPr>
            <a:r>
              <a:rPr lang="en-US" sz="1100" dirty="0">
                <a:solidFill>
                  <a:srgbClr val="1A1F36"/>
                </a:solidFill>
                <a:latin typeface="Consolas" pitchFamily="34" charset="0"/>
                <a:ea typeface="Consolas" pitchFamily="34" charset="-122"/>
                <a:cs typeface="Consolas" pitchFamily="34" charset="-120"/>
              </a:rPr>
              <a:t>model = model.to(device)</a:t>
            </a:r>
            <a:endParaRPr lang="en-US" sz="1100" dirty="0"/>
          </a:p>
        </p:txBody>
      </p:sp>
      <p:grpSp>
        <p:nvGrpSpPr>
          <p:cNvPr id="40" name="Group 39">
            <a:extLst>
              <a:ext uri="{FF2B5EF4-FFF2-40B4-BE49-F238E27FC236}">
                <a16:creationId xmlns:a16="http://schemas.microsoft.com/office/drawing/2014/main" id="{11B75050-7A76-C58B-B064-375CEA476A7A}"/>
              </a:ext>
            </a:extLst>
          </p:cNvPr>
          <p:cNvGrpSpPr/>
          <p:nvPr/>
        </p:nvGrpSpPr>
        <p:grpSpPr>
          <a:xfrm>
            <a:off x="5577840" y="847310"/>
            <a:ext cx="3383280" cy="502920"/>
            <a:chOff x="5577840" y="1451610"/>
            <a:chExt cx="3383280" cy="502920"/>
          </a:xfrm>
        </p:grpSpPr>
        <p:sp>
          <p:nvSpPr>
            <p:cNvPr id="11" name="Shape 9"/>
            <p:cNvSpPr/>
            <p:nvPr/>
          </p:nvSpPr>
          <p:spPr>
            <a:xfrm>
              <a:off x="5577840" y="1451610"/>
              <a:ext cx="3383280" cy="502920"/>
            </a:xfrm>
            <a:prstGeom prst="rect">
              <a:avLst/>
            </a:prstGeom>
            <a:solidFill>
              <a:srgbClr val="F7F3EA"/>
            </a:solidFill>
            <a:ln w="19050">
              <a:solidFill>
                <a:srgbClr val="B8975B"/>
              </a:solidFill>
              <a:prstDash val="solid"/>
            </a:ln>
            <a:effectLst>
              <a:outerShdw blurRad="101600" dist="38100" dir="8100000" algn="bl" rotWithShape="0">
                <a:srgbClr val="1A1F36">
                  <a:alpha val="10000"/>
                </a:srgbClr>
              </a:outerShdw>
            </a:effectLst>
          </p:spPr>
        </p:sp>
        <p:sp>
          <p:nvSpPr>
            <p:cNvPr id="13" name="Text 11"/>
            <p:cNvSpPr/>
            <p:nvPr/>
          </p:nvSpPr>
          <p:spPr>
            <a:xfrm>
              <a:off x="5696712" y="1497330"/>
              <a:ext cx="3218688" cy="228600"/>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torch.backends.mps.is_available()</a:t>
              </a:r>
              <a:endParaRPr lang="en-US" sz="1100" dirty="0"/>
            </a:p>
          </p:txBody>
        </p:sp>
        <p:sp>
          <p:nvSpPr>
            <p:cNvPr id="14" name="Text 12"/>
            <p:cNvSpPr/>
            <p:nvPr/>
          </p:nvSpPr>
          <p:spPr>
            <a:xfrm>
              <a:off x="5696712" y="1707642"/>
              <a:ext cx="3218688" cy="201168"/>
            </a:xfrm>
            <a:prstGeom prst="rect">
              <a:avLst/>
            </a:prstGeom>
            <a:noFill/>
            <a:ln/>
          </p:spPr>
          <p:txBody>
            <a:bodyPr wrap="square" lIns="0" tIns="0" rIns="0" bIns="0" rtlCol="0" anchor="t"/>
            <a:lstStyle/>
            <a:p>
              <a:pPr marL="0" indent="0">
                <a:buNone/>
              </a:pPr>
              <a:r>
                <a:rPr lang="en-US" sz="1050" dirty="0">
                  <a:solidFill>
                    <a:srgbClr val="1A1F36"/>
                  </a:solidFill>
                  <a:latin typeface="Calibri" pitchFamily="34" charset="0"/>
                  <a:ea typeface="Calibri" pitchFamily="34" charset="-122"/>
                  <a:cs typeface="Calibri" pitchFamily="34" charset="-120"/>
                </a:rPr>
                <a:t>Returns True on Apple Silicon Macs, False everywhere else.</a:t>
              </a:r>
              <a:endParaRPr lang="en-US" sz="1050" dirty="0"/>
            </a:p>
          </p:txBody>
        </p:sp>
      </p:grpSp>
      <p:grpSp>
        <p:nvGrpSpPr>
          <p:cNvPr id="39" name="Group 38">
            <a:extLst>
              <a:ext uri="{FF2B5EF4-FFF2-40B4-BE49-F238E27FC236}">
                <a16:creationId xmlns:a16="http://schemas.microsoft.com/office/drawing/2014/main" id="{76639EE3-3656-F6B1-2A80-18B7A5EA1C42}"/>
              </a:ext>
            </a:extLst>
          </p:cNvPr>
          <p:cNvGrpSpPr/>
          <p:nvPr/>
        </p:nvGrpSpPr>
        <p:grpSpPr>
          <a:xfrm>
            <a:off x="5569889" y="1523171"/>
            <a:ext cx="3383280" cy="647137"/>
            <a:chOff x="5577840" y="1451609"/>
            <a:chExt cx="3383280" cy="647137"/>
          </a:xfrm>
        </p:grpSpPr>
        <p:sp>
          <p:nvSpPr>
            <p:cNvPr id="16" name="Shape 14"/>
            <p:cNvSpPr/>
            <p:nvPr/>
          </p:nvSpPr>
          <p:spPr>
            <a:xfrm>
              <a:off x="5577840" y="1451609"/>
              <a:ext cx="3383280" cy="647137"/>
            </a:xfrm>
            <a:prstGeom prst="rect">
              <a:avLst/>
            </a:prstGeom>
            <a:solidFill>
              <a:srgbClr val="F7F3EA"/>
            </a:solidFill>
            <a:ln w="19050">
              <a:solidFill>
                <a:srgbClr val="B8975B"/>
              </a:solidFill>
              <a:prstDash val="solid"/>
            </a:ln>
            <a:effectLst>
              <a:outerShdw blurRad="101600" dist="38100" dir="8100000" algn="bl" rotWithShape="0">
                <a:srgbClr val="1A1F36">
                  <a:alpha val="10000"/>
                </a:srgbClr>
              </a:outerShdw>
            </a:effectLst>
          </p:spPr>
        </p:sp>
        <p:sp>
          <p:nvSpPr>
            <p:cNvPr id="18" name="Text 16"/>
            <p:cNvSpPr/>
            <p:nvPr/>
          </p:nvSpPr>
          <p:spPr>
            <a:xfrm>
              <a:off x="5696712" y="1497330"/>
              <a:ext cx="3218688" cy="228600"/>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model.to(device)</a:t>
              </a:r>
              <a:endParaRPr lang="en-US" sz="1100" dirty="0"/>
            </a:p>
          </p:txBody>
        </p:sp>
        <p:sp>
          <p:nvSpPr>
            <p:cNvPr id="19" name="Text 17"/>
            <p:cNvSpPr/>
            <p:nvPr/>
          </p:nvSpPr>
          <p:spPr>
            <a:xfrm>
              <a:off x="5696712" y="1707642"/>
              <a:ext cx="3218688" cy="201168"/>
            </a:xfrm>
            <a:prstGeom prst="rect">
              <a:avLst/>
            </a:prstGeom>
            <a:noFill/>
            <a:ln/>
          </p:spPr>
          <p:txBody>
            <a:bodyPr wrap="square" lIns="0" tIns="0" rIns="0" bIns="0" rtlCol="0" anchor="t"/>
            <a:lstStyle/>
            <a:p>
              <a:pPr marL="0" indent="0">
                <a:buNone/>
              </a:pPr>
              <a:r>
                <a:rPr lang="en-US" sz="1050" dirty="0">
                  <a:solidFill>
                    <a:srgbClr val="1A1F36"/>
                  </a:solidFill>
                  <a:latin typeface="Calibri" pitchFamily="34" charset="0"/>
                  <a:ea typeface="Calibri" pitchFamily="34" charset="-122"/>
                  <a:cs typeface="Calibri" pitchFamily="34" charset="-120"/>
                </a:rPr>
                <a:t>Moves all model weights to the chosen device so the model and inputs are in the same place.</a:t>
              </a:r>
              <a:endParaRPr lang="en-US" sz="1050" dirty="0"/>
            </a:p>
          </p:txBody>
        </p:sp>
      </p:grpSp>
      <p:sp>
        <p:nvSpPr>
          <p:cNvPr id="21" name="Shape 19"/>
          <p:cNvSpPr/>
          <p:nvPr/>
        </p:nvSpPr>
        <p:spPr>
          <a:xfrm>
            <a:off x="365760" y="2606040"/>
            <a:ext cx="2697480" cy="2331720"/>
          </a:xfrm>
          <a:prstGeom prst="rect">
            <a:avLst/>
          </a:prstGeom>
          <a:solidFill>
            <a:srgbClr val="F7F3EA"/>
          </a:solidFill>
          <a:ln w="12700">
            <a:solidFill>
              <a:srgbClr val="D0E2F3"/>
            </a:solidFill>
            <a:prstDash val="solid"/>
          </a:ln>
          <a:effectLst>
            <a:outerShdw blurRad="101600" dist="38100" dir="8100000" algn="bl" rotWithShape="0">
              <a:srgbClr val="1A1F36">
                <a:alpha val="10000"/>
              </a:srgbClr>
            </a:outerShdw>
          </a:effectLst>
        </p:spPr>
      </p:sp>
      <p:sp>
        <p:nvSpPr>
          <p:cNvPr id="22" name="Shape 20"/>
          <p:cNvSpPr/>
          <p:nvPr/>
        </p:nvSpPr>
        <p:spPr>
          <a:xfrm>
            <a:off x="365760" y="2606040"/>
            <a:ext cx="2697480" cy="54864"/>
          </a:xfrm>
          <a:prstGeom prst="rect">
            <a:avLst/>
          </a:prstGeom>
          <a:solidFill>
            <a:srgbClr val="2E7D32"/>
          </a:solidFill>
          <a:ln w="12700">
            <a:solidFill>
              <a:srgbClr val="2E7D32"/>
            </a:solidFill>
            <a:prstDash val="solid"/>
          </a:ln>
        </p:spPr>
      </p:sp>
      <p:sp>
        <p:nvSpPr>
          <p:cNvPr id="23" name="Text 21"/>
          <p:cNvSpPr/>
          <p:nvPr/>
        </p:nvSpPr>
        <p:spPr>
          <a:xfrm>
            <a:off x="502920" y="2715768"/>
            <a:ext cx="2423160" cy="365760"/>
          </a:xfrm>
          <a:prstGeom prst="rect">
            <a:avLst/>
          </a:prstGeom>
          <a:noFill/>
          <a:ln/>
        </p:spPr>
        <p:txBody>
          <a:bodyPr wrap="square" lIns="0" tIns="0" rIns="0" bIns="0" rtlCol="0" anchor="ctr"/>
          <a:lstStyle/>
          <a:p>
            <a:pPr marL="0" indent="0">
              <a:buNone/>
            </a:pPr>
            <a:r>
              <a:rPr lang="en-US" sz="1600" b="1" dirty="0">
                <a:solidFill>
                  <a:srgbClr val="2E7D32"/>
                </a:solidFill>
                <a:latin typeface="Consolas" pitchFamily="34" charset="0"/>
                <a:ea typeface="Consolas" pitchFamily="34" charset="-122"/>
                <a:cs typeface="Consolas" pitchFamily="34" charset="-120"/>
              </a:rPr>
              <a:t>"mps"</a:t>
            </a:r>
            <a:endParaRPr lang="en-US" sz="1600" dirty="0"/>
          </a:p>
        </p:txBody>
      </p:sp>
      <p:sp>
        <p:nvSpPr>
          <p:cNvPr id="24" name="Text 22"/>
          <p:cNvSpPr/>
          <p:nvPr/>
        </p:nvSpPr>
        <p:spPr>
          <a:xfrm>
            <a:off x="502920" y="3136392"/>
            <a:ext cx="2423160" cy="274320"/>
          </a:xfrm>
          <a:prstGeom prst="rect">
            <a:avLst/>
          </a:prstGeom>
          <a:noFill/>
          <a:ln/>
        </p:spPr>
        <p:txBody>
          <a:bodyPr wrap="square" lIns="0" tIns="0" rIns="0" bIns="0" rtlCol="0" anchor="ctr"/>
          <a:lstStyle/>
          <a:p>
            <a:pPr marL="0" indent="0">
              <a:buNone/>
            </a:pPr>
            <a:r>
              <a:rPr lang="en-US" sz="1100" b="1" dirty="0">
                <a:solidFill>
                  <a:srgbClr val="3D5A80"/>
                </a:solidFill>
                <a:latin typeface="Calibri" pitchFamily="34" charset="0"/>
                <a:ea typeface="Calibri" pitchFamily="34" charset="-122"/>
                <a:cs typeface="Calibri" pitchFamily="34" charset="-120"/>
              </a:rPr>
              <a:t>Apple Silicon GPU</a:t>
            </a:r>
            <a:endParaRPr lang="en-US" sz="1100" dirty="0"/>
          </a:p>
        </p:txBody>
      </p:sp>
      <p:sp>
        <p:nvSpPr>
          <p:cNvPr id="25" name="Text 23"/>
          <p:cNvSpPr/>
          <p:nvPr/>
        </p:nvSpPr>
        <p:spPr>
          <a:xfrm>
            <a:off x="502920" y="3429000"/>
            <a:ext cx="2423160" cy="1371600"/>
          </a:xfrm>
          <a:prstGeom prst="rect">
            <a:avLst/>
          </a:prstGeom>
          <a:noFill/>
          <a:ln/>
        </p:spPr>
        <p:txBody>
          <a:bodyPr wrap="square" lIns="0" tIns="0" rIns="0" bIns="0" rtlCol="0" anchor="t"/>
          <a:lstStyle/>
          <a:p>
            <a:pPr marL="0" indent="0">
              <a:buNone/>
            </a:pPr>
            <a:r>
              <a:rPr lang="en-US" sz="1200" dirty="0">
                <a:solidFill>
                  <a:srgbClr val="1A1F36"/>
                </a:solidFill>
                <a:latin typeface="Calibri" pitchFamily="34" charset="0"/>
                <a:ea typeface="Calibri" pitchFamily="34" charset="-122"/>
                <a:cs typeface="Calibri" pitchFamily="34" charset="-120"/>
              </a:rPr>
              <a:t>Available on Mac M1/M2/M3/M4. Much faster than CPU for AI.</a:t>
            </a:r>
            <a:endParaRPr lang="en-US" sz="1200" dirty="0"/>
          </a:p>
        </p:txBody>
      </p:sp>
      <p:sp>
        <p:nvSpPr>
          <p:cNvPr id="26" name="Shape 24"/>
          <p:cNvSpPr/>
          <p:nvPr/>
        </p:nvSpPr>
        <p:spPr>
          <a:xfrm>
            <a:off x="3200400" y="2606040"/>
            <a:ext cx="2697480" cy="2331720"/>
          </a:xfrm>
          <a:prstGeom prst="rect">
            <a:avLst/>
          </a:prstGeom>
          <a:solidFill>
            <a:srgbClr val="F7F3EA"/>
          </a:solidFill>
          <a:ln w="12700">
            <a:solidFill>
              <a:srgbClr val="D0E2F3"/>
            </a:solidFill>
            <a:prstDash val="solid"/>
          </a:ln>
          <a:effectLst>
            <a:outerShdw blurRad="101600" dist="38100" dir="8100000" algn="bl" rotWithShape="0">
              <a:srgbClr val="1A1F36">
                <a:alpha val="10000"/>
              </a:srgbClr>
            </a:outerShdw>
          </a:effectLst>
        </p:spPr>
      </p:sp>
      <p:sp>
        <p:nvSpPr>
          <p:cNvPr id="27" name="Shape 25"/>
          <p:cNvSpPr/>
          <p:nvPr/>
        </p:nvSpPr>
        <p:spPr>
          <a:xfrm>
            <a:off x="3200400" y="2606040"/>
            <a:ext cx="2697480" cy="54864"/>
          </a:xfrm>
          <a:prstGeom prst="rect">
            <a:avLst/>
          </a:prstGeom>
          <a:solidFill>
            <a:srgbClr val="1565C0"/>
          </a:solidFill>
          <a:ln w="12700">
            <a:solidFill>
              <a:srgbClr val="1565C0"/>
            </a:solidFill>
            <a:prstDash val="solid"/>
          </a:ln>
        </p:spPr>
      </p:sp>
      <p:sp>
        <p:nvSpPr>
          <p:cNvPr id="28" name="Text 26"/>
          <p:cNvSpPr/>
          <p:nvPr/>
        </p:nvSpPr>
        <p:spPr>
          <a:xfrm>
            <a:off x="3337560" y="2715768"/>
            <a:ext cx="2423160" cy="365760"/>
          </a:xfrm>
          <a:prstGeom prst="rect">
            <a:avLst/>
          </a:prstGeom>
          <a:noFill/>
          <a:ln/>
        </p:spPr>
        <p:txBody>
          <a:bodyPr wrap="square" lIns="0" tIns="0" rIns="0" bIns="0" rtlCol="0" anchor="ctr"/>
          <a:lstStyle/>
          <a:p>
            <a:pPr marL="0" indent="0">
              <a:buNone/>
            </a:pPr>
            <a:r>
              <a:rPr lang="en-US" sz="1600" b="1" dirty="0">
                <a:solidFill>
                  <a:srgbClr val="1565C0"/>
                </a:solidFill>
                <a:latin typeface="Consolas" pitchFamily="34" charset="0"/>
                <a:ea typeface="Consolas" pitchFamily="34" charset="-122"/>
                <a:cs typeface="Consolas" pitchFamily="34" charset="-120"/>
              </a:rPr>
              <a:t>"cuda"</a:t>
            </a:r>
            <a:endParaRPr lang="en-US" sz="1600" dirty="0"/>
          </a:p>
        </p:txBody>
      </p:sp>
      <p:sp>
        <p:nvSpPr>
          <p:cNvPr id="29" name="Text 27"/>
          <p:cNvSpPr/>
          <p:nvPr/>
        </p:nvSpPr>
        <p:spPr>
          <a:xfrm>
            <a:off x="3337560" y="3136392"/>
            <a:ext cx="2423160" cy="274320"/>
          </a:xfrm>
          <a:prstGeom prst="rect">
            <a:avLst/>
          </a:prstGeom>
          <a:noFill/>
          <a:ln/>
        </p:spPr>
        <p:txBody>
          <a:bodyPr wrap="square" lIns="0" tIns="0" rIns="0" bIns="0" rtlCol="0" anchor="ctr"/>
          <a:lstStyle/>
          <a:p>
            <a:pPr marL="0" indent="0">
              <a:buNone/>
            </a:pPr>
            <a:r>
              <a:rPr lang="en-US" sz="1100" b="1" dirty="0">
                <a:solidFill>
                  <a:srgbClr val="3D5A80"/>
                </a:solidFill>
                <a:latin typeface="Calibri" pitchFamily="34" charset="0"/>
                <a:ea typeface="Calibri" pitchFamily="34" charset="-122"/>
                <a:cs typeface="Calibri" pitchFamily="34" charset="-120"/>
              </a:rPr>
              <a:t>NVIDIA GPU</a:t>
            </a:r>
            <a:endParaRPr lang="en-US" sz="1100" dirty="0"/>
          </a:p>
        </p:txBody>
      </p:sp>
      <p:sp>
        <p:nvSpPr>
          <p:cNvPr id="30" name="Text 28"/>
          <p:cNvSpPr/>
          <p:nvPr/>
        </p:nvSpPr>
        <p:spPr>
          <a:xfrm>
            <a:off x="3337560" y="3429000"/>
            <a:ext cx="2423160" cy="1371600"/>
          </a:xfrm>
          <a:prstGeom prst="rect">
            <a:avLst/>
          </a:prstGeom>
          <a:noFill/>
          <a:ln/>
        </p:spPr>
        <p:txBody>
          <a:bodyPr wrap="square" lIns="0" tIns="0" rIns="0" bIns="0" rtlCol="0" anchor="t"/>
          <a:lstStyle/>
          <a:p>
            <a:pPr marL="0" indent="0">
              <a:buNone/>
            </a:pPr>
            <a:r>
              <a:rPr lang="en-US" sz="1200" dirty="0">
                <a:solidFill>
                  <a:srgbClr val="1A1F36"/>
                </a:solidFill>
                <a:latin typeface="Calibri" pitchFamily="34" charset="0"/>
                <a:ea typeface="Calibri" pitchFamily="34" charset="-122"/>
                <a:cs typeface="Calibri" pitchFamily="34" charset="-120"/>
              </a:rPr>
              <a:t>Not in this code, but possible. Fastest option overall.</a:t>
            </a:r>
            <a:endParaRPr lang="en-US" sz="1200" dirty="0"/>
          </a:p>
        </p:txBody>
      </p:sp>
      <p:sp>
        <p:nvSpPr>
          <p:cNvPr id="31" name="Shape 29"/>
          <p:cNvSpPr/>
          <p:nvPr/>
        </p:nvSpPr>
        <p:spPr>
          <a:xfrm>
            <a:off x="6035040" y="2606040"/>
            <a:ext cx="2697480" cy="2331720"/>
          </a:xfrm>
          <a:prstGeom prst="rect">
            <a:avLst/>
          </a:prstGeom>
          <a:solidFill>
            <a:srgbClr val="F7F3EA"/>
          </a:solidFill>
          <a:ln w="12700">
            <a:solidFill>
              <a:srgbClr val="D0E2F3"/>
            </a:solidFill>
            <a:prstDash val="solid"/>
          </a:ln>
          <a:effectLst>
            <a:outerShdw blurRad="101600" dist="38100" dir="8100000" algn="bl" rotWithShape="0">
              <a:srgbClr val="1A1F36">
                <a:alpha val="10000"/>
              </a:srgbClr>
            </a:outerShdw>
          </a:effectLst>
        </p:spPr>
      </p:sp>
      <p:sp>
        <p:nvSpPr>
          <p:cNvPr id="32" name="Shape 30"/>
          <p:cNvSpPr/>
          <p:nvPr/>
        </p:nvSpPr>
        <p:spPr>
          <a:xfrm>
            <a:off x="6035040" y="2606040"/>
            <a:ext cx="2697480" cy="54864"/>
          </a:xfrm>
          <a:prstGeom prst="rect">
            <a:avLst/>
          </a:prstGeom>
          <a:solidFill>
            <a:srgbClr val="C62828"/>
          </a:solidFill>
          <a:ln w="12700">
            <a:solidFill>
              <a:srgbClr val="C62828"/>
            </a:solidFill>
            <a:prstDash val="solid"/>
          </a:ln>
        </p:spPr>
      </p:sp>
      <p:sp>
        <p:nvSpPr>
          <p:cNvPr id="33" name="Text 31"/>
          <p:cNvSpPr/>
          <p:nvPr/>
        </p:nvSpPr>
        <p:spPr>
          <a:xfrm>
            <a:off x="6172200" y="2715768"/>
            <a:ext cx="2423160" cy="365760"/>
          </a:xfrm>
          <a:prstGeom prst="rect">
            <a:avLst/>
          </a:prstGeom>
          <a:noFill/>
          <a:ln/>
        </p:spPr>
        <p:txBody>
          <a:bodyPr wrap="square" lIns="0" tIns="0" rIns="0" bIns="0" rtlCol="0" anchor="ctr"/>
          <a:lstStyle/>
          <a:p>
            <a:pPr marL="0" indent="0">
              <a:buNone/>
            </a:pPr>
            <a:r>
              <a:rPr lang="en-US" sz="1600" b="1" dirty="0">
                <a:solidFill>
                  <a:srgbClr val="C62828"/>
                </a:solidFill>
                <a:latin typeface="Consolas" pitchFamily="34" charset="0"/>
                <a:ea typeface="Consolas" pitchFamily="34" charset="-122"/>
                <a:cs typeface="Consolas" pitchFamily="34" charset="-120"/>
              </a:rPr>
              <a:t>"cpu"</a:t>
            </a:r>
            <a:endParaRPr lang="en-US" sz="1600" dirty="0"/>
          </a:p>
        </p:txBody>
      </p:sp>
      <p:sp>
        <p:nvSpPr>
          <p:cNvPr id="34" name="Text 32"/>
          <p:cNvSpPr/>
          <p:nvPr/>
        </p:nvSpPr>
        <p:spPr>
          <a:xfrm>
            <a:off x="6172200" y="3136392"/>
            <a:ext cx="2423160" cy="274320"/>
          </a:xfrm>
          <a:prstGeom prst="rect">
            <a:avLst/>
          </a:prstGeom>
          <a:noFill/>
          <a:ln/>
        </p:spPr>
        <p:txBody>
          <a:bodyPr wrap="square" lIns="0" tIns="0" rIns="0" bIns="0" rtlCol="0" anchor="ctr"/>
          <a:lstStyle/>
          <a:p>
            <a:pPr marL="0" indent="0">
              <a:buNone/>
            </a:pPr>
            <a:r>
              <a:rPr lang="en-US" sz="1100" b="1" dirty="0">
                <a:solidFill>
                  <a:srgbClr val="3D5A80"/>
                </a:solidFill>
                <a:latin typeface="Calibri" pitchFamily="34" charset="0"/>
                <a:ea typeface="Calibri" pitchFamily="34" charset="-122"/>
                <a:cs typeface="Calibri" pitchFamily="34" charset="-120"/>
              </a:rPr>
              <a:t>Fallback</a:t>
            </a:r>
            <a:endParaRPr lang="en-US" sz="1100" dirty="0"/>
          </a:p>
        </p:txBody>
      </p:sp>
      <p:sp>
        <p:nvSpPr>
          <p:cNvPr id="35" name="Text 33"/>
          <p:cNvSpPr/>
          <p:nvPr/>
        </p:nvSpPr>
        <p:spPr>
          <a:xfrm>
            <a:off x="6172200" y="3429000"/>
            <a:ext cx="2423160" cy="1371600"/>
          </a:xfrm>
          <a:prstGeom prst="rect">
            <a:avLst/>
          </a:prstGeom>
          <a:noFill/>
          <a:ln/>
        </p:spPr>
        <p:txBody>
          <a:bodyPr wrap="square" lIns="0" tIns="0" rIns="0" bIns="0" rtlCol="0" anchor="t"/>
          <a:lstStyle/>
          <a:p>
            <a:pPr marL="0" indent="0">
              <a:buNone/>
            </a:pPr>
            <a:r>
              <a:rPr lang="en-US" sz="1200" dirty="0">
                <a:solidFill>
                  <a:srgbClr val="1A1F36"/>
                </a:solidFill>
                <a:latin typeface="Calibri" pitchFamily="34" charset="0"/>
                <a:ea typeface="Calibri" pitchFamily="34" charset="-122"/>
                <a:cs typeface="Calibri" pitchFamily="34" charset="-120"/>
              </a:rPr>
              <a:t>Always available — slower but works on any computer.</a:t>
            </a:r>
            <a:endParaRPr lang="en-US" sz="1200" dirty="0"/>
          </a:p>
        </p:txBody>
      </p:sp>
      <p:sp>
        <p:nvSpPr>
          <p:cNvPr id="37" name="Text 1">
            <a:extLst>
              <a:ext uri="{FF2B5EF4-FFF2-40B4-BE49-F238E27FC236}">
                <a16:creationId xmlns:a16="http://schemas.microsoft.com/office/drawing/2014/main" id="{C5D87355-761C-AEAA-EE51-BC1A8E44AB61}"/>
              </a:ext>
            </a:extLst>
          </p:cNvPr>
          <p:cNvSpPr/>
          <p:nvPr/>
        </p:nvSpPr>
        <p:spPr>
          <a:xfrm>
            <a:off x="258418" y="194806"/>
            <a:ext cx="8229600" cy="411480"/>
          </a:xfrm>
          <a:prstGeom prst="rect">
            <a:avLst/>
          </a:prstGeom>
          <a:noFill/>
          <a:ln/>
        </p:spPr>
        <p:txBody>
          <a:bodyPr wrap="square" lIns="0" tIns="0" rIns="0" bIns="0" rtlCol="0" anchor="ctr"/>
          <a:lstStyle/>
          <a:p>
            <a:pPr marL="0" indent="0">
              <a:buNone/>
            </a:pPr>
            <a:r>
              <a:rPr lang="en-US" sz="2400" b="1" dirty="0" err="1">
                <a:solidFill>
                  <a:srgbClr val="1A1F36"/>
                </a:solidFill>
                <a:latin typeface="Georgia" pitchFamily="34" charset="0"/>
                <a:ea typeface="Georgia" pitchFamily="34" charset="-122"/>
                <a:cs typeface="Georgia" pitchFamily="34" charset="-120"/>
              </a:rPr>
              <a:t>HuggingFace</a:t>
            </a:r>
            <a:r>
              <a:rPr lang="en-US" sz="2400" b="1" dirty="0">
                <a:solidFill>
                  <a:srgbClr val="1A1F36"/>
                </a:solidFill>
                <a:latin typeface="Georgia" pitchFamily="34" charset="0"/>
                <a:ea typeface="Georgia" pitchFamily="34" charset="-122"/>
                <a:cs typeface="Georgia" pitchFamily="34" charset="-120"/>
              </a:rPr>
              <a:t> – Local inference</a:t>
            </a:r>
            <a:endParaRPr lang="en-US" sz="2400" dirty="0"/>
          </a:p>
        </p:txBody>
      </p:sp>
      <p:pic>
        <p:nvPicPr>
          <p:cNvPr id="41" name="Google Shape;328;p29">
            <a:extLst>
              <a:ext uri="{FF2B5EF4-FFF2-40B4-BE49-F238E27FC236}">
                <a16:creationId xmlns:a16="http://schemas.microsoft.com/office/drawing/2014/main" id="{ED83BFEE-0E81-E971-FE7B-04E12C76CD1D}"/>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1C936-A472-1E55-2EF7-4FFEABA6D029}"/>
            </a:ext>
          </a:extLst>
        </p:cNvPr>
        <p:cNvGrpSpPr/>
        <p:nvPr/>
      </p:nvGrpSpPr>
      <p:grpSpPr>
        <a:xfrm>
          <a:off x="0" y="0"/>
          <a:ext cx="0" cy="0"/>
          <a:chOff x="0" y="0"/>
          <a:chExt cx="0" cy="0"/>
        </a:xfrm>
      </p:grpSpPr>
      <p:sp>
        <p:nvSpPr>
          <p:cNvPr id="25" name="Text 1">
            <a:extLst>
              <a:ext uri="{FF2B5EF4-FFF2-40B4-BE49-F238E27FC236}">
                <a16:creationId xmlns:a16="http://schemas.microsoft.com/office/drawing/2014/main" id="{4F602678-1402-3AD5-A6E1-13A05338AEA6}"/>
              </a:ext>
            </a:extLst>
          </p:cNvPr>
          <p:cNvSpPr/>
          <p:nvPr/>
        </p:nvSpPr>
        <p:spPr>
          <a:xfrm>
            <a:off x="258418" y="194806"/>
            <a:ext cx="8229600" cy="411480"/>
          </a:xfrm>
          <a:prstGeom prst="rect">
            <a:avLst/>
          </a:prstGeom>
          <a:noFill/>
          <a:ln/>
        </p:spPr>
        <p:txBody>
          <a:bodyPr wrap="square" lIns="0" tIns="0" rIns="0" bIns="0" rtlCol="0" anchor="ctr"/>
          <a:lstStyle/>
          <a:p>
            <a:pPr marL="0" indent="0">
              <a:buNone/>
            </a:pPr>
            <a:r>
              <a:rPr lang="en-US" sz="2400" b="1" dirty="0" err="1">
                <a:solidFill>
                  <a:srgbClr val="1A1F36"/>
                </a:solidFill>
                <a:latin typeface="Georgia" pitchFamily="34" charset="0"/>
                <a:ea typeface="Georgia" pitchFamily="34" charset="-122"/>
                <a:cs typeface="Georgia" pitchFamily="34" charset="-120"/>
              </a:rPr>
              <a:t>HuggingFace</a:t>
            </a:r>
            <a:r>
              <a:rPr lang="en-US" sz="2400" b="1" dirty="0">
                <a:solidFill>
                  <a:srgbClr val="1A1F36"/>
                </a:solidFill>
                <a:latin typeface="Georgia" pitchFamily="34" charset="0"/>
                <a:ea typeface="Georgia" pitchFamily="34" charset="-122"/>
                <a:cs typeface="Georgia" pitchFamily="34" charset="-120"/>
              </a:rPr>
              <a:t> – Local inference</a:t>
            </a:r>
            <a:endParaRPr lang="en-US" sz="2400" dirty="0"/>
          </a:p>
        </p:txBody>
      </p:sp>
      <p:grpSp>
        <p:nvGrpSpPr>
          <p:cNvPr id="2" name="Group 1">
            <a:extLst>
              <a:ext uri="{FF2B5EF4-FFF2-40B4-BE49-F238E27FC236}">
                <a16:creationId xmlns:a16="http://schemas.microsoft.com/office/drawing/2014/main" id="{3DE91FFE-79A1-F31F-7895-7E582F6E9342}"/>
              </a:ext>
            </a:extLst>
          </p:cNvPr>
          <p:cNvGrpSpPr/>
          <p:nvPr/>
        </p:nvGrpSpPr>
        <p:grpSpPr>
          <a:xfrm>
            <a:off x="473103" y="914400"/>
            <a:ext cx="5029200" cy="548640"/>
            <a:chOff x="274320" y="914400"/>
            <a:chExt cx="5029200" cy="548640"/>
          </a:xfrm>
        </p:grpSpPr>
        <p:sp>
          <p:nvSpPr>
            <p:cNvPr id="3" name="Shape 2">
              <a:extLst>
                <a:ext uri="{FF2B5EF4-FFF2-40B4-BE49-F238E27FC236}">
                  <a16:creationId xmlns:a16="http://schemas.microsoft.com/office/drawing/2014/main" id="{D11EDA70-9579-C907-8816-DF4AE3D63835}"/>
                </a:ext>
              </a:extLst>
            </p:cNvPr>
            <p:cNvSpPr/>
            <p:nvPr/>
          </p:nvSpPr>
          <p:spPr>
            <a:xfrm>
              <a:off x="274320" y="914400"/>
              <a:ext cx="5029200" cy="548640"/>
            </a:xfrm>
            <a:prstGeom prst="rect">
              <a:avLst/>
            </a:prstGeom>
            <a:solidFill>
              <a:srgbClr val="DCE9F7"/>
            </a:solidFill>
            <a:ln w="12700">
              <a:solidFill>
                <a:srgbClr val="B5CEE8"/>
              </a:solidFill>
              <a:prstDash val="solid"/>
            </a:ln>
            <a:effectLst>
              <a:outerShdw blurRad="101600" dist="38100" dir="8100000" algn="bl" rotWithShape="0">
                <a:srgbClr val="1A1F36">
                  <a:alpha val="10000"/>
                </a:srgbClr>
              </a:outerShdw>
            </a:effectLst>
          </p:spPr>
        </p:sp>
        <p:sp>
          <p:nvSpPr>
            <p:cNvPr id="7" name="Text 3">
              <a:extLst>
                <a:ext uri="{FF2B5EF4-FFF2-40B4-BE49-F238E27FC236}">
                  <a16:creationId xmlns:a16="http://schemas.microsoft.com/office/drawing/2014/main" id="{F1FC4548-1199-504D-4BA6-639FE1FB4125}"/>
                </a:ext>
              </a:extLst>
            </p:cNvPr>
            <p:cNvSpPr/>
            <p:nvPr/>
          </p:nvSpPr>
          <p:spPr>
            <a:xfrm>
              <a:off x="411480" y="1005840"/>
              <a:ext cx="4754880" cy="365760"/>
            </a:xfrm>
            <a:prstGeom prst="rect">
              <a:avLst/>
            </a:prstGeom>
            <a:noFill/>
            <a:ln/>
          </p:spPr>
          <p:txBody>
            <a:bodyPr wrap="square" lIns="0" tIns="0" rIns="0" bIns="0" rtlCol="0" anchor="t"/>
            <a:lstStyle/>
            <a:p>
              <a:pPr marL="0" indent="0">
                <a:buNone/>
              </a:pPr>
              <a:r>
                <a:rPr lang="en-US" sz="1100" dirty="0">
                  <a:solidFill>
                    <a:srgbClr val="1A1F36"/>
                  </a:solidFill>
                  <a:latin typeface="Consolas" pitchFamily="34" charset="0"/>
                  <a:ea typeface="Consolas" pitchFamily="34" charset="-122"/>
                  <a:cs typeface="Consolas" pitchFamily="34" charset="-120"/>
                </a:rPr>
                <a:t>inputs = tokenizer("What is quantum computing?", return_tensors="pt").to(device)</a:t>
              </a:r>
              <a:endParaRPr lang="en-US" sz="1100" dirty="0"/>
            </a:p>
          </p:txBody>
        </p:sp>
      </p:grpSp>
      <p:grpSp>
        <p:nvGrpSpPr>
          <p:cNvPr id="10" name="Group 9">
            <a:extLst>
              <a:ext uri="{FF2B5EF4-FFF2-40B4-BE49-F238E27FC236}">
                <a16:creationId xmlns:a16="http://schemas.microsoft.com/office/drawing/2014/main" id="{79DA48F9-9225-7720-C78B-DCDF16DFC07B}"/>
              </a:ext>
            </a:extLst>
          </p:cNvPr>
          <p:cNvGrpSpPr/>
          <p:nvPr/>
        </p:nvGrpSpPr>
        <p:grpSpPr>
          <a:xfrm>
            <a:off x="5593742" y="703689"/>
            <a:ext cx="3383280" cy="594360"/>
            <a:chOff x="5577840" y="822960"/>
            <a:chExt cx="3383280" cy="594360"/>
          </a:xfrm>
        </p:grpSpPr>
        <p:sp>
          <p:nvSpPr>
            <p:cNvPr id="12" name="Shape 4">
              <a:extLst>
                <a:ext uri="{FF2B5EF4-FFF2-40B4-BE49-F238E27FC236}">
                  <a16:creationId xmlns:a16="http://schemas.microsoft.com/office/drawing/2014/main" id="{F3D46F98-2991-0229-2B8D-39FAC1D5BD53}"/>
                </a:ext>
              </a:extLst>
            </p:cNvPr>
            <p:cNvSpPr/>
            <p:nvPr/>
          </p:nvSpPr>
          <p:spPr>
            <a:xfrm>
              <a:off x="5577840" y="822960"/>
              <a:ext cx="3383280" cy="594360"/>
            </a:xfrm>
            <a:prstGeom prst="rect">
              <a:avLst/>
            </a:prstGeom>
            <a:solidFill>
              <a:srgbClr val="F7F3EA"/>
            </a:solidFill>
            <a:ln w="19050">
              <a:solidFill>
                <a:srgbClr val="B8975B"/>
              </a:solidFill>
              <a:prstDash val="solid"/>
            </a:ln>
            <a:effectLst>
              <a:outerShdw blurRad="101600" dist="38100" dir="8100000" algn="bl" rotWithShape="0">
                <a:srgbClr val="1A1F36">
                  <a:alpha val="10000"/>
                </a:srgbClr>
              </a:outerShdw>
            </a:effectLst>
          </p:spPr>
        </p:sp>
        <p:sp>
          <p:nvSpPr>
            <p:cNvPr id="15" name="Text 6">
              <a:extLst>
                <a:ext uri="{FF2B5EF4-FFF2-40B4-BE49-F238E27FC236}">
                  <a16:creationId xmlns:a16="http://schemas.microsoft.com/office/drawing/2014/main" id="{4A1B1E0E-915B-89C7-1ADB-1CB79D5E0BB0}"/>
                </a:ext>
              </a:extLst>
            </p:cNvPr>
            <p:cNvSpPr/>
            <p:nvPr/>
          </p:nvSpPr>
          <p:spPr>
            <a:xfrm>
              <a:off x="5696712" y="868680"/>
              <a:ext cx="3218688" cy="228600"/>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tokenizer("...")</a:t>
              </a:r>
              <a:endParaRPr lang="en-US" sz="1100" dirty="0"/>
            </a:p>
          </p:txBody>
        </p:sp>
        <p:sp>
          <p:nvSpPr>
            <p:cNvPr id="16" name="Text 7">
              <a:extLst>
                <a:ext uri="{FF2B5EF4-FFF2-40B4-BE49-F238E27FC236}">
                  <a16:creationId xmlns:a16="http://schemas.microsoft.com/office/drawing/2014/main" id="{8D16E817-E330-F08B-6710-1607045E591E}"/>
                </a:ext>
              </a:extLst>
            </p:cNvPr>
            <p:cNvSpPr/>
            <p:nvPr/>
          </p:nvSpPr>
          <p:spPr>
            <a:xfrm>
              <a:off x="5696712" y="1078992"/>
              <a:ext cx="3218688" cy="292608"/>
            </a:xfrm>
            <a:prstGeom prst="rect">
              <a:avLst/>
            </a:prstGeom>
            <a:noFill/>
            <a:ln/>
          </p:spPr>
          <p:txBody>
            <a:bodyPr wrap="square" lIns="0" tIns="0" rIns="0" bIns="0" rtlCol="0" anchor="t"/>
            <a:lstStyle/>
            <a:p>
              <a:pPr marL="0" indent="0">
                <a:buNone/>
              </a:pPr>
              <a:r>
                <a:rPr lang="en-US" sz="1050" dirty="0">
                  <a:solidFill>
                    <a:srgbClr val="1A1F36"/>
                  </a:solidFill>
                  <a:latin typeface="Calibri" pitchFamily="34" charset="0"/>
                  <a:ea typeface="Calibri" pitchFamily="34" charset="-122"/>
                  <a:cs typeface="Calibri" pitchFamily="34" charset="-120"/>
                </a:rPr>
                <a:t>Splits the question into tokens and maps each to its integer ID from the vocabulary.</a:t>
              </a:r>
              <a:endParaRPr lang="en-US" sz="1050" dirty="0"/>
            </a:p>
          </p:txBody>
        </p:sp>
      </p:grpSp>
      <p:grpSp>
        <p:nvGrpSpPr>
          <p:cNvPr id="17" name="Group 16">
            <a:extLst>
              <a:ext uri="{FF2B5EF4-FFF2-40B4-BE49-F238E27FC236}">
                <a16:creationId xmlns:a16="http://schemas.microsoft.com/office/drawing/2014/main" id="{C955F1E8-C30E-DB6D-2282-8376ACB0A086}"/>
              </a:ext>
            </a:extLst>
          </p:cNvPr>
          <p:cNvGrpSpPr/>
          <p:nvPr/>
        </p:nvGrpSpPr>
        <p:grpSpPr>
          <a:xfrm>
            <a:off x="5609645" y="1453101"/>
            <a:ext cx="3383280" cy="566928"/>
            <a:chOff x="5577840" y="1508760"/>
            <a:chExt cx="3383280" cy="566928"/>
          </a:xfrm>
        </p:grpSpPr>
        <p:sp>
          <p:nvSpPr>
            <p:cNvPr id="18" name="Shape 9">
              <a:extLst>
                <a:ext uri="{FF2B5EF4-FFF2-40B4-BE49-F238E27FC236}">
                  <a16:creationId xmlns:a16="http://schemas.microsoft.com/office/drawing/2014/main" id="{3AC03D0A-C2B1-8438-B1F2-5CEDEC5E5EE9}"/>
                </a:ext>
              </a:extLst>
            </p:cNvPr>
            <p:cNvSpPr/>
            <p:nvPr/>
          </p:nvSpPr>
          <p:spPr>
            <a:xfrm>
              <a:off x="5577840" y="1508760"/>
              <a:ext cx="3383280" cy="566928"/>
            </a:xfrm>
            <a:prstGeom prst="rect">
              <a:avLst/>
            </a:prstGeom>
            <a:solidFill>
              <a:srgbClr val="F7F3EA"/>
            </a:solidFill>
            <a:ln w="19050">
              <a:solidFill>
                <a:srgbClr val="B8975B"/>
              </a:solidFill>
              <a:prstDash val="solid"/>
            </a:ln>
            <a:effectLst>
              <a:outerShdw blurRad="101600" dist="38100" dir="8100000" algn="bl" rotWithShape="0">
                <a:srgbClr val="1A1F36">
                  <a:alpha val="10000"/>
                </a:srgbClr>
              </a:outerShdw>
            </a:effectLst>
          </p:spPr>
        </p:sp>
        <p:sp>
          <p:nvSpPr>
            <p:cNvPr id="19" name="Text 11">
              <a:extLst>
                <a:ext uri="{FF2B5EF4-FFF2-40B4-BE49-F238E27FC236}">
                  <a16:creationId xmlns:a16="http://schemas.microsoft.com/office/drawing/2014/main" id="{1412CF5B-1079-E8A2-5583-AF3BECF709A7}"/>
                </a:ext>
              </a:extLst>
            </p:cNvPr>
            <p:cNvSpPr/>
            <p:nvPr/>
          </p:nvSpPr>
          <p:spPr>
            <a:xfrm>
              <a:off x="5696712" y="1554480"/>
              <a:ext cx="3218688" cy="228600"/>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return_tensors="pt"</a:t>
              </a:r>
              <a:endParaRPr lang="en-US" sz="1100" dirty="0"/>
            </a:p>
          </p:txBody>
        </p:sp>
        <p:sp>
          <p:nvSpPr>
            <p:cNvPr id="20" name="Text 12">
              <a:extLst>
                <a:ext uri="{FF2B5EF4-FFF2-40B4-BE49-F238E27FC236}">
                  <a16:creationId xmlns:a16="http://schemas.microsoft.com/office/drawing/2014/main" id="{6EACF7A6-1320-4CB5-4310-1E45181E8CC7}"/>
                </a:ext>
              </a:extLst>
            </p:cNvPr>
            <p:cNvSpPr/>
            <p:nvPr/>
          </p:nvSpPr>
          <p:spPr>
            <a:xfrm>
              <a:off x="5696712" y="1764792"/>
              <a:ext cx="3218688" cy="265176"/>
            </a:xfrm>
            <a:prstGeom prst="rect">
              <a:avLst/>
            </a:prstGeom>
            <a:noFill/>
            <a:ln/>
          </p:spPr>
          <p:txBody>
            <a:bodyPr wrap="square" lIns="0" tIns="0" rIns="0" bIns="0" rtlCol="0" anchor="t"/>
            <a:lstStyle/>
            <a:p>
              <a:pPr marL="0" indent="0">
                <a:buNone/>
              </a:pPr>
              <a:r>
                <a:rPr lang="en-US" sz="1050" dirty="0">
                  <a:solidFill>
                    <a:srgbClr val="1A1F36"/>
                  </a:solidFill>
                  <a:latin typeface="Calibri" pitchFamily="34" charset="0"/>
                  <a:ea typeface="Calibri" pitchFamily="34" charset="-122"/>
                  <a:cs typeface="Calibri" pitchFamily="34" charset="-120"/>
                </a:rPr>
                <a:t>"pt" = PyTorch. Wraps the IDs in a tensor so the model can process them.</a:t>
              </a:r>
              <a:endParaRPr lang="en-US" sz="1050" dirty="0"/>
            </a:p>
          </p:txBody>
        </p:sp>
      </p:grpSp>
      <p:grpSp>
        <p:nvGrpSpPr>
          <p:cNvPr id="21" name="Group 20">
            <a:extLst>
              <a:ext uri="{FF2B5EF4-FFF2-40B4-BE49-F238E27FC236}">
                <a16:creationId xmlns:a16="http://schemas.microsoft.com/office/drawing/2014/main" id="{EC6E1D99-471A-2F98-FAB8-3BBB43BE103A}"/>
              </a:ext>
            </a:extLst>
          </p:cNvPr>
          <p:cNvGrpSpPr/>
          <p:nvPr/>
        </p:nvGrpSpPr>
        <p:grpSpPr>
          <a:xfrm>
            <a:off x="5506279" y="2167128"/>
            <a:ext cx="3383280" cy="566928"/>
            <a:chOff x="5577840" y="2167128"/>
            <a:chExt cx="3383280" cy="566928"/>
          </a:xfrm>
        </p:grpSpPr>
        <p:sp>
          <p:nvSpPr>
            <p:cNvPr id="22" name="Shape 14">
              <a:extLst>
                <a:ext uri="{FF2B5EF4-FFF2-40B4-BE49-F238E27FC236}">
                  <a16:creationId xmlns:a16="http://schemas.microsoft.com/office/drawing/2014/main" id="{6C40AC90-C528-9CB6-BF4C-0FC8C709FBB4}"/>
                </a:ext>
              </a:extLst>
            </p:cNvPr>
            <p:cNvSpPr/>
            <p:nvPr/>
          </p:nvSpPr>
          <p:spPr>
            <a:xfrm>
              <a:off x="5577840" y="2167128"/>
              <a:ext cx="3383280" cy="566928"/>
            </a:xfrm>
            <a:prstGeom prst="rect">
              <a:avLst/>
            </a:prstGeom>
            <a:solidFill>
              <a:srgbClr val="F7F3EA"/>
            </a:solidFill>
            <a:ln w="19050">
              <a:solidFill>
                <a:srgbClr val="B8975B"/>
              </a:solidFill>
              <a:prstDash val="solid"/>
            </a:ln>
            <a:effectLst>
              <a:outerShdw blurRad="101600" dist="38100" dir="8100000" algn="bl" rotWithShape="0">
                <a:srgbClr val="1A1F36">
                  <a:alpha val="10000"/>
                </a:srgbClr>
              </a:outerShdw>
            </a:effectLst>
          </p:spPr>
        </p:sp>
        <p:sp>
          <p:nvSpPr>
            <p:cNvPr id="23" name="Text 16">
              <a:extLst>
                <a:ext uri="{FF2B5EF4-FFF2-40B4-BE49-F238E27FC236}">
                  <a16:creationId xmlns:a16="http://schemas.microsoft.com/office/drawing/2014/main" id="{32D83E1C-48F7-39A6-5CF4-70E5AD0FE30B}"/>
                </a:ext>
              </a:extLst>
            </p:cNvPr>
            <p:cNvSpPr/>
            <p:nvPr/>
          </p:nvSpPr>
          <p:spPr>
            <a:xfrm>
              <a:off x="5696712" y="2212848"/>
              <a:ext cx="3218688" cy="228600"/>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.to(device)</a:t>
              </a:r>
              <a:endParaRPr lang="en-US" sz="1100" dirty="0"/>
            </a:p>
          </p:txBody>
        </p:sp>
        <p:sp>
          <p:nvSpPr>
            <p:cNvPr id="24" name="Text 17">
              <a:extLst>
                <a:ext uri="{FF2B5EF4-FFF2-40B4-BE49-F238E27FC236}">
                  <a16:creationId xmlns:a16="http://schemas.microsoft.com/office/drawing/2014/main" id="{901C982E-62C8-0B1A-7C17-6E157FECFC17}"/>
                </a:ext>
              </a:extLst>
            </p:cNvPr>
            <p:cNvSpPr/>
            <p:nvPr/>
          </p:nvSpPr>
          <p:spPr>
            <a:xfrm>
              <a:off x="5696712" y="2423160"/>
              <a:ext cx="3218688" cy="265176"/>
            </a:xfrm>
            <a:prstGeom prst="rect">
              <a:avLst/>
            </a:prstGeom>
            <a:noFill/>
            <a:ln/>
          </p:spPr>
          <p:txBody>
            <a:bodyPr wrap="square" lIns="0" tIns="0" rIns="0" bIns="0" rtlCol="0" anchor="t"/>
            <a:lstStyle/>
            <a:p>
              <a:pPr marL="0" indent="0">
                <a:buNone/>
              </a:pPr>
              <a:r>
                <a:rPr lang="en-US" sz="1050" dirty="0">
                  <a:solidFill>
                    <a:srgbClr val="1A1F36"/>
                  </a:solidFill>
                  <a:latin typeface="Calibri" pitchFamily="34" charset="0"/>
                  <a:ea typeface="Calibri" pitchFamily="34" charset="-122"/>
                  <a:cs typeface="Calibri" pitchFamily="34" charset="-120"/>
                </a:rPr>
                <a:t>Moves the tensor to the same device as the model (GPU or CPU) — required for compatibility.</a:t>
              </a:r>
              <a:endParaRPr lang="en-US" sz="1050" dirty="0"/>
            </a:p>
          </p:txBody>
        </p:sp>
      </p:grpSp>
      <p:pic>
        <p:nvPicPr>
          <p:cNvPr id="32" name="Picture 31">
            <a:extLst>
              <a:ext uri="{FF2B5EF4-FFF2-40B4-BE49-F238E27FC236}">
                <a16:creationId xmlns:a16="http://schemas.microsoft.com/office/drawing/2014/main" id="{99609C98-2B49-58D5-F4E2-AE574EF8939C}"/>
              </a:ext>
            </a:extLst>
          </p:cNvPr>
          <p:cNvPicPr>
            <a:picLocks noChangeAspect="1"/>
          </p:cNvPicPr>
          <p:nvPr/>
        </p:nvPicPr>
        <p:blipFill>
          <a:blip r:embed="rId3"/>
          <a:stretch>
            <a:fillRect/>
          </a:stretch>
        </p:blipFill>
        <p:spPr>
          <a:xfrm>
            <a:off x="381663" y="2952717"/>
            <a:ext cx="7772400" cy="1841060"/>
          </a:xfrm>
          <a:prstGeom prst="rect">
            <a:avLst/>
          </a:prstGeom>
        </p:spPr>
      </p:pic>
      <p:sp>
        <p:nvSpPr>
          <p:cNvPr id="49" name="Down Arrow 48">
            <a:extLst>
              <a:ext uri="{FF2B5EF4-FFF2-40B4-BE49-F238E27FC236}">
                <a16:creationId xmlns:a16="http://schemas.microsoft.com/office/drawing/2014/main" id="{9ADAC0A5-527D-0AFD-4583-338A701417D8}"/>
              </a:ext>
            </a:extLst>
          </p:cNvPr>
          <p:cNvSpPr/>
          <p:nvPr/>
        </p:nvSpPr>
        <p:spPr>
          <a:xfrm>
            <a:off x="1224501" y="1609344"/>
            <a:ext cx="341906" cy="107899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AF8842D9-6AE9-3D7E-F7C6-86C0BD8818DB}"/>
              </a:ext>
            </a:extLst>
          </p:cNvPr>
          <p:cNvSpPr txBox="1"/>
          <p:nvPr/>
        </p:nvSpPr>
        <p:spPr>
          <a:xfrm>
            <a:off x="1948070" y="2051437"/>
            <a:ext cx="553357" cy="307777"/>
          </a:xfrm>
          <a:prstGeom prst="rect">
            <a:avLst/>
          </a:prstGeom>
          <a:noFill/>
        </p:spPr>
        <p:txBody>
          <a:bodyPr wrap="none" rtlCol="0">
            <a:spAutoFit/>
          </a:bodyPr>
          <a:lstStyle/>
          <a:p>
            <a:r>
              <a:rPr lang="en-US" dirty="0"/>
              <a:t>Print</a:t>
            </a:r>
          </a:p>
        </p:txBody>
      </p:sp>
      <p:pic>
        <p:nvPicPr>
          <p:cNvPr id="51" name="Google Shape;328;p29">
            <a:extLst>
              <a:ext uri="{FF2B5EF4-FFF2-40B4-BE49-F238E27FC236}">
                <a16:creationId xmlns:a16="http://schemas.microsoft.com/office/drawing/2014/main" id="{24F89472-93ED-4893-C55D-6E84F75A4606}"/>
              </a:ext>
            </a:extLst>
          </p:cNvPr>
          <p:cNvPicPr preferRelativeResize="0"/>
          <p:nvPr/>
        </p:nvPicPr>
        <p:blipFill>
          <a:blip r:embed="rId4">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13744930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Group 33">
            <a:extLst>
              <a:ext uri="{FF2B5EF4-FFF2-40B4-BE49-F238E27FC236}">
                <a16:creationId xmlns:a16="http://schemas.microsoft.com/office/drawing/2014/main" id="{ED38FCAC-5980-6280-AE51-6DCDCB567DB8}"/>
              </a:ext>
            </a:extLst>
          </p:cNvPr>
          <p:cNvGrpSpPr/>
          <p:nvPr/>
        </p:nvGrpSpPr>
        <p:grpSpPr>
          <a:xfrm>
            <a:off x="250467" y="1152943"/>
            <a:ext cx="5029200" cy="822960"/>
            <a:chOff x="274320" y="834886"/>
            <a:chExt cx="5029200" cy="822960"/>
          </a:xfrm>
        </p:grpSpPr>
        <p:sp>
          <p:nvSpPr>
            <p:cNvPr id="4" name="Shape 2"/>
            <p:cNvSpPr/>
            <p:nvPr/>
          </p:nvSpPr>
          <p:spPr>
            <a:xfrm>
              <a:off x="274320" y="834886"/>
              <a:ext cx="5029200" cy="822960"/>
            </a:xfrm>
            <a:prstGeom prst="rect">
              <a:avLst/>
            </a:prstGeom>
            <a:solidFill>
              <a:srgbClr val="DCE9F7"/>
            </a:solidFill>
            <a:ln w="12700">
              <a:solidFill>
                <a:srgbClr val="B5CEE8"/>
              </a:solidFill>
              <a:prstDash val="solid"/>
            </a:ln>
            <a:effectLst>
              <a:outerShdw blurRad="101600" dist="38100" dir="8100000" algn="bl" rotWithShape="0">
                <a:srgbClr val="1A1F36">
                  <a:alpha val="10000"/>
                </a:srgbClr>
              </a:outerShdw>
            </a:effectLst>
          </p:spPr>
        </p:sp>
        <p:sp>
          <p:nvSpPr>
            <p:cNvPr id="5" name="Text 3"/>
            <p:cNvSpPr/>
            <p:nvPr/>
          </p:nvSpPr>
          <p:spPr>
            <a:xfrm>
              <a:off x="411480" y="1005840"/>
              <a:ext cx="4754880" cy="640080"/>
            </a:xfrm>
            <a:prstGeom prst="rect">
              <a:avLst/>
            </a:prstGeom>
            <a:noFill/>
            <a:ln/>
          </p:spPr>
          <p:txBody>
            <a:bodyPr wrap="square" lIns="0" tIns="0" rIns="0" bIns="0" rtlCol="0" anchor="t"/>
            <a:lstStyle/>
            <a:p>
              <a:pPr marL="0" indent="0">
                <a:buNone/>
              </a:pPr>
              <a:r>
                <a:rPr lang="en-US" sz="1100" dirty="0">
                  <a:solidFill>
                    <a:srgbClr val="1A1F36"/>
                  </a:solidFill>
                  <a:latin typeface="Consolas" pitchFamily="34" charset="0"/>
                  <a:ea typeface="Consolas" pitchFamily="34" charset="-122"/>
                  <a:cs typeface="Consolas" pitchFamily="34" charset="-120"/>
                </a:rPr>
                <a:t>outputs = model.generate(**inputs, max_new_tokens=1000)</a:t>
              </a:r>
              <a:endParaRPr lang="en-US" sz="1100" dirty="0"/>
            </a:p>
            <a:p>
              <a:pPr marL="0" indent="0">
                <a:buNone/>
              </a:pPr>
              <a:r>
                <a:rPr lang="en-US" sz="1100" dirty="0">
                  <a:solidFill>
                    <a:srgbClr val="1A1F36"/>
                  </a:solidFill>
                  <a:latin typeface="Consolas" pitchFamily="34" charset="0"/>
                  <a:ea typeface="Consolas" pitchFamily="34" charset="-122"/>
                  <a:cs typeface="Consolas" pitchFamily="34" charset="-120"/>
                </a:rPr>
                <a:t>print(tokenizer.decode(outputs[0], skip_special_tokens=True))</a:t>
              </a:r>
              <a:endParaRPr lang="en-US" sz="1100" dirty="0"/>
            </a:p>
          </p:txBody>
        </p:sp>
      </p:grpSp>
      <p:grpSp>
        <p:nvGrpSpPr>
          <p:cNvPr id="31" name="Group 30">
            <a:extLst>
              <a:ext uri="{FF2B5EF4-FFF2-40B4-BE49-F238E27FC236}">
                <a16:creationId xmlns:a16="http://schemas.microsoft.com/office/drawing/2014/main" id="{1FC59BA7-2B0D-B5CB-66D6-2C8DE3B18557}"/>
              </a:ext>
            </a:extLst>
          </p:cNvPr>
          <p:cNvGrpSpPr/>
          <p:nvPr/>
        </p:nvGrpSpPr>
        <p:grpSpPr>
          <a:xfrm>
            <a:off x="5546036" y="805070"/>
            <a:ext cx="3383280" cy="566928"/>
            <a:chOff x="5577840" y="868680"/>
            <a:chExt cx="3383280" cy="566928"/>
          </a:xfrm>
        </p:grpSpPr>
        <p:sp>
          <p:nvSpPr>
            <p:cNvPr id="6" name="Shape 4"/>
            <p:cNvSpPr/>
            <p:nvPr/>
          </p:nvSpPr>
          <p:spPr>
            <a:xfrm>
              <a:off x="5577840" y="868680"/>
              <a:ext cx="3383280" cy="566928"/>
            </a:xfrm>
            <a:prstGeom prst="rect">
              <a:avLst/>
            </a:prstGeom>
            <a:solidFill>
              <a:srgbClr val="F7F3EA"/>
            </a:solidFill>
            <a:ln w="19050">
              <a:solidFill>
                <a:srgbClr val="B8975B"/>
              </a:solidFill>
              <a:prstDash val="solid"/>
            </a:ln>
            <a:effectLst>
              <a:outerShdw blurRad="101600" dist="38100" dir="8100000" algn="bl" rotWithShape="0">
                <a:srgbClr val="1A1F36">
                  <a:alpha val="10000"/>
                </a:srgbClr>
              </a:outerShdw>
            </a:effectLst>
          </p:spPr>
        </p:sp>
        <p:sp>
          <p:nvSpPr>
            <p:cNvPr id="8" name="Text 6"/>
            <p:cNvSpPr/>
            <p:nvPr/>
          </p:nvSpPr>
          <p:spPr>
            <a:xfrm>
              <a:off x="5696712" y="914400"/>
              <a:ext cx="3218688" cy="228600"/>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model.generate()</a:t>
              </a:r>
              <a:endParaRPr lang="en-US" sz="1100" dirty="0"/>
            </a:p>
          </p:txBody>
        </p:sp>
        <p:sp>
          <p:nvSpPr>
            <p:cNvPr id="9" name="Text 7"/>
            <p:cNvSpPr/>
            <p:nvPr/>
          </p:nvSpPr>
          <p:spPr>
            <a:xfrm>
              <a:off x="5696712" y="1124712"/>
              <a:ext cx="3218688" cy="265176"/>
            </a:xfrm>
            <a:prstGeom prst="rect">
              <a:avLst/>
            </a:prstGeom>
            <a:noFill/>
            <a:ln/>
          </p:spPr>
          <p:txBody>
            <a:bodyPr wrap="square" lIns="0" tIns="0" rIns="0" bIns="0" rtlCol="0" anchor="t"/>
            <a:lstStyle/>
            <a:p>
              <a:pPr marL="0" indent="0">
                <a:buNone/>
              </a:pPr>
              <a:r>
                <a:rPr lang="en-US" sz="1050" dirty="0">
                  <a:solidFill>
                    <a:srgbClr val="1A1F36"/>
                  </a:solidFill>
                  <a:latin typeface="Calibri" pitchFamily="34" charset="0"/>
                  <a:ea typeface="Calibri" pitchFamily="34" charset="-122"/>
                  <a:cs typeface="Calibri" pitchFamily="34" charset="-120"/>
                </a:rPr>
                <a:t>Runs the neural network iteratively, predicting the next token until done.</a:t>
              </a:r>
              <a:endParaRPr lang="en-US" sz="1050" dirty="0"/>
            </a:p>
          </p:txBody>
        </p:sp>
      </p:grpSp>
      <p:grpSp>
        <p:nvGrpSpPr>
          <p:cNvPr id="33" name="Group 32">
            <a:extLst>
              <a:ext uri="{FF2B5EF4-FFF2-40B4-BE49-F238E27FC236}">
                <a16:creationId xmlns:a16="http://schemas.microsoft.com/office/drawing/2014/main" id="{AC954753-040B-9EAA-051A-6A5B361EC5F9}"/>
              </a:ext>
            </a:extLst>
          </p:cNvPr>
          <p:cNvGrpSpPr/>
          <p:nvPr/>
        </p:nvGrpSpPr>
        <p:grpSpPr>
          <a:xfrm>
            <a:off x="5546038" y="1508760"/>
            <a:ext cx="3383280" cy="594360"/>
            <a:chOff x="5577840" y="1508760"/>
            <a:chExt cx="3383280" cy="594360"/>
          </a:xfrm>
        </p:grpSpPr>
        <p:sp>
          <p:nvSpPr>
            <p:cNvPr id="11" name="Shape 9"/>
            <p:cNvSpPr/>
            <p:nvPr/>
          </p:nvSpPr>
          <p:spPr>
            <a:xfrm>
              <a:off x="5577840" y="1508760"/>
              <a:ext cx="3383280" cy="594360"/>
            </a:xfrm>
            <a:prstGeom prst="rect">
              <a:avLst/>
            </a:prstGeom>
            <a:solidFill>
              <a:srgbClr val="F7F3EA"/>
            </a:solidFill>
            <a:ln w="19050">
              <a:solidFill>
                <a:srgbClr val="B8975B"/>
              </a:solidFill>
              <a:prstDash val="solid"/>
            </a:ln>
            <a:effectLst>
              <a:outerShdw blurRad="101600" dist="38100" dir="8100000" algn="bl" rotWithShape="0">
                <a:srgbClr val="1A1F36">
                  <a:alpha val="10000"/>
                </a:srgbClr>
              </a:outerShdw>
            </a:effectLst>
          </p:spPr>
        </p:sp>
        <p:sp>
          <p:nvSpPr>
            <p:cNvPr id="13" name="Text 11"/>
            <p:cNvSpPr/>
            <p:nvPr/>
          </p:nvSpPr>
          <p:spPr>
            <a:xfrm>
              <a:off x="5696712" y="1554480"/>
              <a:ext cx="3218688" cy="228600"/>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**inputs (double-star unpacking)</a:t>
              </a:r>
              <a:endParaRPr lang="en-US" sz="1100" dirty="0"/>
            </a:p>
          </p:txBody>
        </p:sp>
        <p:sp>
          <p:nvSpPr>
            <p:cNvPr id="14" name="Text 12"/>
            <p:cNvSpPr/>
            <p:nvPr/>
          </p:nvSpPr>
          <p:spPr>
            <a:xfrm>
              <a:off x="5696712" y="1764792"/>
              <a:ext cx="3218688" cy="201168"/>
            </a:xfrm>
            <a:prstGeom prst="rect">
              <a:avLst/>
            </a:prstGeom>
            <a:noFill/>
            <a:ln/>
          </p:spPr>
          <p:txBody>
            <a:bodyPr wrap="square" lIns="0" tIns="0" rIns="0" bIns="0" rtlCol="0" anchor="t"/>
            <a:lstStyle/>
            <a:p>
              <a:pPr marL="0" indent="0">
                <a:buNone/>
              </a:pPr>
              <a:r>
                <a:rPr lang="en-US" sz="1050" dirty="0">
                  <a:solidFill>
                    <a:srgbClr val="1A1F36"/>
                  </a:solidFill>
                  <a:latin typeface="Calibri" pitchFamily="34" charset="0"/>
                  <a:ea typeface="Calibri" pitchFamily="34" charset="-122"/>
                  <a:cs typeface="Calibri" pitchFamily="34" charset="-120"/>
                </a:rPr>
                <a:t>Expands the dict — passes each key/value as a named argument to generate().</a:t>
              </a:r>
              <a:endParaRPr lang="en-US" sz="1050" dirty="0"/>
            </a:p>
          </p:txBody>
        </p:sp>
      </p:grpSp>
      <p:grpSp>
        <p:nvGrpSpPr>
          <p:cNvPr id="32" name="Group 31">
            <a:extLst>
              <a:ext uri="{FF2B5EF4-FFF2-40B4-BE49-F238E27FC236}">
                <a16:creationId xmlns:a16="http://schemas.microsoft.com/office/drawing/2014/main" id="{B8FB2CF7-9D80-1118-F9FE-7650D1024418}"/>
              </a:ext>
            </a:extLst>
          </p:cNvPr>
          <p:cNvGrpSpPr/>
          <p:nvPr/>
        </p:nvGrpSpPr>
        <p:grpSpPr>
          <a:xfrm>
            <a:off x="5577840" y="2341661"/>
            <a:ext cx="3383280" cy="566928"/>
            <a:chOff x="5577840" y="2103120"/>
            <a:chExt cx="3383280" cy="566928"/>
          </a:xfrm>
        </p:grpSpPr>
        <p:sp>
          <p:nvSpPr>
            <p:cNvPr id="16" name="Shape 14"/>
            <p:cNvSpPr/>
            <p:nvPr/>
          </p:nvSpPr>
          <p:spPr>
            <a:xfrm>
              <a:off x="5577840" y="2103120"/>
              <a:ext cx="3383280" cy="566928"/>
            </a:xfrm>
            <a:prstGeom prst="rect">
              <a:avLst/>
            </a:prstGeom>
            <a:solidFill>
              <a:srgbClr val="F7F3EA"/>
            </a:solidFill>
            <a:ln w="19050">
              <a:solidFill>
                <a:srgbClr val="B8975B"/>
              </a:solidFill>
              <a:prstDash val="solid"/>
            </a:ln>
            <a:effectLst>
              <a:outerShdw blurRad="101600" dist="38100" dir="8100000" algn="bl" rotWithShape="0">
                <a:srgbClr val="1A1F36">
                  <a:alpha val="10000"/>
                </a:srgbClr>
              </a:outerShdw>
            </a:effectLst>
          </p:spPr>
        </p:sp>
        <p:sp>
          <p:nvSpPr>
            <p:cNvPr id="18" name="Text 16"/>
            <p:cNvSpPr/>
            <p:nvPr/>
          </p:nvSpPr>
          <p:spPr>
            <a:xfrm>
              <a:off x="5696712" y="2148840"/>
              <a:ext cx="3218688" cy="228600"/>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max_new_tokens=1000 &amp; decode()</a:t>
              </a:r>
              <a:endParaRPr lang="en-US" sz="1100" dirty="0"/>
            </a:p>
          </p:txBody>
        </p:sp>
        <p:sp>
          <p:nvSpPr>
            <p:cNvPr id="19" name="Text 17"/>
            <p:cNvSpPr/>
            <p:nvPr/>
          </p:nvSpPr>
          <p:spPr>
            <a:xfrm>
              <a:off x="5696712" y="2359152"/>
              <a:ext cx="3218688" cy="265176"/>
            </a:xfrm>
            <a:prstGeom prst="rect">
              <a:avLst/>
            </a:prstGeom>
            <a:noFill/>
            <a:ln/>
          </p:spPr>
          <p:txBody>
            <a:bodyPr wrap="square" lIns="0" tIns="0" rIns="0" bIns="0" rtlCol="0" anchor="t"/>
            <a:lstStyle/>
            <a:p>
              <a:pPr marL="0" indent="0">
                <a:buNone/>
              </a:pPr>
              <a:r>
                <a:rPr lang="en-US" sz="1050" dirty="0">
                  <a:solidFill>
                    <a:srgbClr val="1A1F36"/>
                  </a:solidFill>
                  <a:latin typeface="Calibri" pitchFamily="34" charset="0"/>
                  <a:ea typeface="Calibri" pitchFamily="34" charset="-122"/>
                  <a:cs typeface="Calibri" pitchFamily="34" charset="-120"/>
                </a:rPr>
                <a:t>Caps output length (~750 words). decode() converts token IDs back to readable text.</a:t>
              </a:r>
              <a:endParaRPr lang="en-US" sz="1050" dirty="0"/>
            </a:p>
          </p:txBody>
        </p:sp>
      </p:grpSp>
      <p:sp>
        <p:nvSpPr>
          <p:cNvPr id="35" name="Text 1">
            <a:extLst>
              <a:ext uri="{FF2B5EF4-FFF2-40B4-BE49-F238E27FC236}">
                <a16:creationId xmlns:a16="http://schemas.microsoft.com/office/drawing/2014/main" id="{5070614C-0A0F-5081-B54E-A5AAE88392AA}"/>
              </a:ext>
            </a:extLst>
          </p:cNvPr>
          <p:cNvSpPr/>
          <p:nvPr/>
        </p:nvSpPr>
        <p:spPr>
          <a:xfrm>
            <a:off x="258418" y="194806"/>
            <a:ext cx="8229600" cy="411480"/>
          </a:xfrm>
          <a:prstGeom prst="rect">
            <a:avLst/>
          </a:prstGeom>
          <a:noFill/>
          <a:ln/>
        </p:spPr>
        <p:txBody>
          <a:bodyPr wrap="square" lIns="0" tIns="0" rIns="0" bIns="0" rtlCol="0" anchor="ctr"/>
          <a:lstStyle/>
          <a:p>
            <a:pPr marL="0" indent="0">
              <a:buNone/>
            </a:pPr>
            <a:r>
              <a:rPr lang="en-US" sz="2400" b="1" dirty="0" err="1">
                <a:solidFill>
                  <a:srgbClr val="1A1F36"/>
                </a:solidFill>
                <a:latin typeface="Georgia" pitchFamily="34" charset="0"/>
                <a:ea typeface="Georgia" pitchFamily="34" charset="-122"/>
                <a:cs typeface="Georgia" pitchFamily="34" charset="-120"/>
              </a:rPr>
              <a:t>HuggingFace</a:t>
            </a:r>
            <a:r>
              <a:rPr lang="en-US" sz="2400" b="1" dirty="0">
                <a:solidFill>
                  <a:srgbClr val="1A1F36"/>
                </a:solidFill>
                <a:latin typeface="Georgia" pitchFamily="34" charset="0"/>
                <a:ea typeface="Georgia" pitchFamily="34" charset="-122"/>
                <a:cs typeface="Georgia" pitchFamily="34" charset="-120"/>
              </a:rPr>
              <a:t> – Local inference</a:t>
            </a:r>
            <a:endParaRPr lang="en-US" sz="2400" dirty="0"/>
          </a:p>
        </p:txBody>
      </p:sp>
      <p:pic>
        <p:nvPicPr>
          <p:cNvPr id="37" name="Picture 36">
            <a:extLst>
              <a:ext uri="{FF2B5EF4-FFF2-40B4-BE49-F238E27FC236}">
                <a16:creationId xmlns:a16="http://schemas.microsoft.com/office/drawing/2014/main" id="{AB71132E-3E5D-17E6-9F0D-5C33F56F1452}"/>
              </a:ext>
            </a:extLst>
          </p:cNvPr>
          <p:cNvPicPr>
            <a:picLocks noChangeAspect="1"/>
          </p:cNvPicPr>
          <p:nvPr/>
        </p:nvPicPr>
        <p:blipFill>
          <a:blip r:embed="rId3"/>
          <a:stretch>
            <a:fillRect/>
          </a:stretch>
        </p:blipFill>
        <p:spPr>
          <a:xfrm>
            <a:off x="387627" y="2695762"/>
            <a:ext cx="4967577" cy="2252932"/>
          </a:xfrm>
          <a:prstGeom prst="rect">
            <a:avLst/>
          </a:prstGeom>
        </p:spPr>
      </p:pic>
      <p:sp>
        <p:nvSpPr>
          <p:cNvPr id="38" name="Down Arrow 37">
            <a:extLst>
              <a:ext uri="{FF2B5EF4-FFF2-40B4-BE49-F238E27FC236}">
                <a16:creationId xmlns:a16="http://schemas.microsoft.com/office/drawing/2014/main" id="{339E9F44-B574-5926-B667-F843F81107AE}"/>
              </a:ext>
            </a:extLst>
          </p:cNvPr>
          <p:cNvSpPr/>
          <p:nvPr/>
        </p:nvSpPr>
        <p:spPr>
          <a:xfrm>
            <a:off x="2099144" y="2043485"/>
            <a:ext cx="174929" cy="52826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BCB03BC3-46BB-2660-09EF-4AC1FFEBBBE1}"/>
              </a:ext>
            </a:extLst>
          </p:cNvPr>
          <p:cNvSpPr txBox="1"/>
          <p:nvPr/>
        </p:nvSpPr>
        <p:spPr>
          <a:xfrm>
            <a:off x="3029447" y="2250219"/>
            <a:ext cx="1313180" cy="307777"/>
          </a:xfrm>
          <a:prstGeom prst="rect">
            <a:avLst/>
          </a:prstGeom>
          <a:noFill/>
        </p:spPr>
        <p:txBody>
          <a:bodyPr wrap="none" rtlCol="0">
            <a:spAutoFit/>
          </a:bodyPr>
          <a:lstStyle/>
          <a:p>
            <a:r>
              <a:rPr lang="en-US" dirty="0"/>
              <a:t>Print “</a:t>
            </a:r>
            <a:r>
              <a:rPr lang="en-US" dirty="0">
                <a:solidFill>
                  <a:srgbClr val="0070C0"/>
                </a:solidFill>
              </a:rPr>
              <a:t>outputs</a:t>
            </a:r>
            <a:r>
              <a:rPr lang="en-US" dirty="0"/>
              <a:t>”</a:t>
            </a:r>
          </a:p>
        </p:txBody>
      </p:sp>
      <p:pic>
        <p:nvPicPr>
          <p:cNvPr id="40" name="Google Shape;328;p29">
            <a:extLst>
              <a:ext uri="{FF2B5EF4-FFF2-40B4-BE49-F238E27FC236}">
                <a16:creationId xmlns:a16="http://schemas.microsoft.com/office/drawing/2014/main" id="{0E659FE5-5AD3-00D2-F11A-8AFCA1B93DD5}"/>
              </a:ext>
            </a:extLst>
          </p:cNvPr>
          <p:cNvPicPr preferRelativeResize="0"/>
          <p:nvPr/>
        </p:nvPicPr>
        <p:blipFill>
          <a:blip r:embed="rId4">
            <a:alphaModFix/>
          </a:blip>
          <a:stretch>
            <a:fillRect/>
          </a:stretch>
        </p:blipFill>
        <p:spPr>
          <a:xfrm>
            <a:off x="8369125" y="0"/>
            <a:ext cx="774877" cy="86717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65760" y="0"/>
            <a:ext cx="8229600" cy="658368"/>
          </a:xfrm>
          <a:prstGeom prst="rect">
            <a:avLst/>
          </a:prstGeom>
          <a:noFill/>
          <a:ln/>
        </p:spPr>
        <p:txBody>
          <a:bodyPr wrap="square" lIns="0" tIns="0" rIns="0" bIns="0" rtlCol="0" anchor="ctr"/>
          <a:lstStyle/>
          <a:p>
            <a:pPr marL="0" indent="0">
              <a:buNone/>
            </a:pPr>
            <a:r>
              <a:rPr lang="en-US" sz="2200" b="1" dirty="0">
                <a:latin typeface="Calibri" pitchFamily="34" charset="0"/>
                <a:ea typeface="Calibri" pitchFamily="34" charset="-122"/>
                <a:cs typeface="Calibri" pitchFamily="34" charset="-120"/>
              </a:rPr>
              <a:t>Comparing All Three Approaches</a:t>
            </a:r>
            <a:endParaRPr lang="en-US" sz="2200" dirty="0"/>
          </a:p>
        </p:txBody>
      </p:sp>
      <p:grpSp>
        <p:nvGrpSpPr>
          <p:cNvPr id="77" name="Group 76">
            <a:extLst>
              <a:ext uri="{FF2B5EF4-FFF2-40B4-BE49-F238E27FC236}">
                <a16:creationId xmlns:a16="http://schemas.microsoft.com/office/drawing/2014/main" id="{97A4DB4B-F6C2-57D3-A213-BB8C3DD896EA}"/>
              </a:ext>
            </a:extLst>
          </p:cNvPr>
          <p:cNvGrpSpPr/>
          <p:nvPr/>
        </p:nvGrpSpPr>
        <p:grpSpPr>
          <a:xfrm>
            <a:off x="182880" y="658368"/>
            <a:ext cx="7979813" cy="3935934"/>
            <a:chOff x="182880" y="647372"/>
            <a:chExt cx="8778240" cy="4409260"/>
          </a:xfrm>
        </p:grpSpPr>
        <p:sp>
          <p:nvSpPr>
            <p:cNvPr id="4" name="Shape 2"/>
            <p:cNvSpPr/>
            <p:nvPr/>
          </p:nvSpPr>
          <p:spPr>
            <a:xfrm>
              <a:off x="182880" y="647372"/>
              <a:ext cx="1691639" cy="605356"/>
            </a:xfrm>
            <a:prstGeom prst="rect">
              <a:avLst/>
            </a:prstGeom>
            <a:solidFill>
              <a:srgbClr val="1A1F36"/>
            </a:solidFill>
            <a:ln w="12700">
              <a:solidFill>
                <a:srgbClr val="1A1F36"/>
              </a:solidFill>
              <a:prstDash val="solid"/>
            </a:ln>
          </p:spPr>
        </p:sp>
        <p:sp>
          <p:nvSpPr>
            <p:cNvPr id="5" name="Text 3"/>
            <p:cNvSpPr/>
            <p:nvPr/>
          </p:nvSpPr>
          <p:spPr>
            <a:xfrm>
              <a:off x="228600" y="749808"/>
              <a:ext cx="1600200" cy="50292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Criterion</a:t>
              </a:r>
              <a:endParaRPr lang="en-US" sz="1600" dirty="0"/>
            </a:p>
          </p:txBody>
        </p:sp>
        <p:sp>
          <p:nvSpPr>
            <p:cNvPr id="6" name="Shape 4"/>
            <p:cNvSpPr/>
            <p:nvPr/>
          </p:nvSpPr>
          <p:spPr>
            <a:xfrm>
              <a:off x="1965961" y="647372"/>
              <a:ext cx="2240280" cy="605356"/>
            </a:xfrm>
            <a:prstGeom prst="rect">
              <a:avLst/>
            </a:prstGeom>
            <a:solidFill>
              <a:srgbClr val="2563EB"/>
            </a:solidFill>
            <a:ln w="12700">
              <a:solidFill>
                <a:srgbClr val="1A1F36"/>
              </a:solidFill>
              <a:prstDash val="solid"/>
            </a:ln>
          </p:spPr>
        </p:sp>
        <p:sp>
          <p:nvSpPr>
            <p:cNvPr id="7" name="Text 5"/>
            <p:cNvSpPr/>
            <p:nvPr/>
          </p:nvSpPr>
          <p:spPr>
            <a:xfrm>
              <a:off x="2011680" y="749808"/>
              <a:ext cx="2148840" cy="50292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 Transformers</a:t>
              </a:r>
              <a:endParaRPr lang="en-US" sz="1600" dirty="0"/>
            </a:p>
            <a:p>
              <a:pPr marL="0" indent="0" algn="ctr">
                <a:buNone/>
              </a:pPr>
              <a:r>
                <a:rPr lang="en-US" sz="1600" b="1" dirty="0">
                  <a:solidFill>
                    <a:srgbClr val="FFFFFF"/>
                  </a:solidFill>
                  <a:latin typeface="Calibri" pitchFamily="34" charset="0"/>
                  <a:ea typeface="Calibri" pitchFamily="34" charset="-122"/>
                  <a:cs typeface="Calibri" pitchFamily="34" charset="-120"/>
                </a:rPr>
                <a:t>(Local)</a:t>
              </a:r>
              <a:endParaRPr lang="en-US" sz="1600" dirty="0"/>
            </a:p>
          </p:txBody>
        </p:sp>
        <p:sp>
          <p:nvSpPr>
            <p:cNvPr id="8" name="Shape 6"/>
            <p:cNvSpPr/>
            <p:nvPr/>
          </p:nvSpPr>
          <p:spPr>
            <a:xfrm>
              <a:off x="4297680" y="647372"/>
              <a:ext cx="2240280" cy="605356"/>
            </a:xfrm>
            <a:prstGeom prst="rect">
              <a:avLst/>
            </a:prstGeom>
            <a:solidFill>
              <a:srgbClr val="0891B2"/>
            </a:solidFill>
            <a:ln w="12700">
              <a:solidFill>
                <a:srgbClr val="1A1F36"/>
              </a:solidFill>
              <a:prstDash val="solid"/>
            </a:ln>
          </p:spPr>
        </p:sp>
        <p:sp>
          <p:nvSpPr>
            <p:cNvPr id="9" name="Text 7"/>
            <p:cNvSpPr/>
            <p:nvPr/>
          </p:nvSpPr>
          <p:spPr>
            <a:xfrm>
              <a:off x="4343400" y="749808"/>
              <a:ext cx="2148840" cy="50292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 HF Inference</a:t>
              </a:r>
              <a:endParaRPr lang="en-US" sz="1600" dirty="0"/>
            </a:p>
            <a:p>
              <a:pPr marL="0" indent="0" algn="ctr">
                <a:buNone/>
              </a:pPr>
              <a:r>
                <a:rPr lang="en-US" sz="1600" b="1" dirty="0">
                  <a:solidFill>
                    <a:srgbClr val="FFFFFF"/>
                  </a:solidFill>
                  <a:latin typeface="Calibri" pitchFamily="34" charset="0"/>
                  <a:ea typeface="Calibri" pitchFamily="34" charset="-122"/>
                  <a:cs typeface="Calibri" pitchFamily="34" charset="-120"/>
                </a:rPr>
                <a:t>API</a:t>
              </a:r>
              <a:endParaRPr lang="en-US" sz="1600" dirty="0"/>
            </a:p>
          </p:txBody>
        </p:sp>
        <p:sp>
          <p:nvSpPr>
            <p:cNvPr id="10" name="Shape 8"/>
            <p:cNvSpPr/>
            <p:nvPr/>
          </p:nvSpPr>
          <p:spPr>
            <a:xfrm>
              <a:off x="6629400" y="647372"/>
              <a:ext cx="2331720" cy="605356"/>
            </a:xfrm>
            <a:prstGeom prst="rect">
              <a:avLst/>
            </a:prstGeom>
            <a:solidFill>
              <a:srgbClr val="7C3AED"/>
            </a:solidFill>
            <a:ln w="12700">
              <a:solidFill>
                <a:srgbClr val="1A1F36"/>
              </a:solidFill>
              <a:prstDash val="solid"/>
            </a:ln>
          </p:spPr>
        </p:sp>
        <p:sp>
          <p:nvSpPr>
            <p:cNvPr id="11" name="Text 9"/>
            <p:cNvSpPr/>
            <p:nvPr/>
          </p:nvSpPr>
          <p:spPr>
            <a:xfrm>
              <a:off x="6675120" y="749808"/>
              <a:ext cx="2240280" cy="502919"/>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 Ollama</a:t>
              </a:r>
              <a:endParaRPr lang="en-US" sz="1600" dirty="0"/>
            </a:p>
            <a:p>
              <a:pPr marL="0" indent="0" algn="ctr">
                <a:buNone/>
              </a:pPr>
              <a:r>
                <a:rPr lang="en-US" sz="1600" b="1" dirty="0">
                  <a:solidFill>
                    <a:srgbClr val="FFFFFF"/>
                  </a:solidFill>
                  <a:latin typeface="Calibri" pitchFamily="34" charset="0"/>
                  <a:ea typeface="Calibri" pitchFamily="34" charset="-122"/>
                  <a:cs typeface="Calibri" pitchFamily="34" charset="-120"/>
                </a:rPr>
                <a:t>(Local)</a:t>
              </a:r>
              <a:endParaRPr lang="en-US" sz="1600" dirty="0"/>
            </a:p>
          </p:txBody>
        </p:sp>
        <p:sp>
          <p:nvSpPr>
            <p:cNvPr id="12" name="Shape 10"/>
            <p:cNvSpPr/>
            <p:nvPr/>
          </p:nvSpPr>
          <p:spPr>
            <a:xfrm>
              <a:off x="182880" y="1252728"/>
              <a:ext cx="1691640" cy="475488"/>
            </a:xfrm>
            <a:prstGeom prst="rect">
              <a:avLst/>
            </a:prstGeom>
            <a:solidFill>
              <a:srgbClr val="F7F3EA"/>
            </a:solidFill>
            <a:ln w="3810">
              <a:solidFill>
                <a:srgbClr val="CADCFC"/>
              </a:solidFill>
              <a:prstDash val="solid"/>
            </a:ln>
          </p:spPr>
        </p:sp>
        <p:sp>
          <p:nvSpPr>
            <p:cNvPr id="13" name="Text 11"/>
            <p:cNvSpPr/>
            <p:nvPr/>
          </p:nvSpPr>
          <p:spPr>
            <a:xfrm>
              <a:off x="256032" y="1252728"/>
              <a:ext cx="1545336" cy="475488"/>
            </a:xfrm>
            <a:prstGeom prst="rect">
              <a:avLst/>
            </a:prstGeom>
            <a:noFill/>
            <a:ln/>
          </p:spPr>
          <p:txBody>
            <a:bodyPr wrap="square" rtlCol="0" anchor="ctr"/>
            <a:lstStyle/>
            <a:p>
              <a:pPr marL="0" indent="0" algn="l">
                <a:buNone/>
              </a:pPr>
              <a:r>
                <a:rPr lang="en-US" sz="1600" b="1" dirty="0">
                  <a:solidFill>
                    <a:srgbClr val="1A1F36"/>
                  </a:solidFill>
                  <a:latin typeface="Calibri" pitchFamily="34" charset="0"/>
                  <a:ea typeface="Calibri" pitchFamily="34" charset="-122"/>
                  <a:cs typeface="Calibri" pitchFamily="34" charset="-120"/>
                </a:rPr>
                <a:t>Needs torch?</a:t>
              </a:r>
              <a:endParaRPr lang="en-US" sz="1600" dirty="0"/>
            </a:p>
          </p:txBody>
        </p:sp>
        <p:sp>
          <p:nvSpPr>
            <p:cNvPr id="14" name="Shape 12"/>
            <p:cNvSpPr/>
            <p:nvPr/>
          </p:nvSpPr>
          <p:spPr>
            <a:xfrm>
              <a:off x="1965960" y="1252728"/>
              <a:ext cx="2240280" cy="475488"/>
            </a:xfrm>
            <a:prstGeom prst="rect">
              <a:avLst/>
            </a:prstGeom>
            <a:solidFill>
              <a:srgbClr val="F7F3EA"/>
            </a:solidFill>
            <a:ln w="3810">
              <a:solidFill>
                <a:srgbClr val="CADCFC"/>
              </a:solidFill>
              <a:prstDash val="solid"/>
            </a:ln>
          </p:spPr>
        </p:sp>
        <p:sp>
          <p:nvSpPr>
            <p:cNvPr id="15" name="Text 13"/>
            <p:cNvSpPr/>
            <p:nvPr/>
          </p:nvSpPr>
          <p:spPr>
            <a:xfrm>
              <a:off x="2039112" y="1252728"/>
              <a:ext cx="2093976" cy="475488"/>
            </a:xfrm>
            <a:prstGeom prst="rect">
              <a:avLst/>
            </a:prstGeom>
            <a:noFill/>
            <a:ln/>
          </p:spPr>
          <p:txBody>
            <a:bodyPr wrap="square" rtlCol="0" anchor="ctr"/>
            <a:lstStyle/>
            <a:p>
              <a:pPr marL="0" indent="0" algn="ctr">
                <a:buNone/>
              </a:pPr>
              <a:r>
                <a:rPr lang="en-US" sz="1400" dirty="0">
                  <a:solidFill>
                    <a:srgbClr val="3D5A80"/>
                  </a:solidFill>
                  <a:latin typeface="Calibri" pitchFamily="34" charset="0"/>
                  <a:ea typeface="Calibri" pitchFamily="34" charset="-122"/>
                  <a:cs typeface="Calibri" pitchFamily="34" charset="-120"/>
                </a:rPr>
                <a:t>✅ Yes</a:t>
              </a:r>
              <a:endParaRPr lang="en-US" sz="1400" dirty="0"/>
            </a:p>
          </p:txBody>
        </p:sp>
        <p:sp>
          <p:nvSpPr>
            <p:cNvPr id="16" name="Shape 14"/>
            <p:cNvSpPr/>
            <p:nvPr/>
          </p:nvSpPr>
          <p:spPr>
            <a:xfrm>
              <a:off x="4297680" y="1252728"/>
              <a:ext cx="2240280" cy="475488"/>
            </a:xfrm>
            <a:prstGeom prst="rect">
              <a:avLst/>
            </a:prstGeom>
            <a:solidFill>
              <a:srgbClr val="F7F3EA"/>
            </a:solidFill>
            <a:ln w="3810">
              <a:solidFill>
                <a:srgbClr val="CADCFC"/>
              </a:solidFill>
              <a:prstDash val="solid"/>
            </a:ln>
          </p:spPr>
        </p:sp>
        <p:sp>
          <p:nvSpPr>
            <p:cNvPr id="17" name="Text 15"/>
            <p:cNvSpPr/>
            <p:nvPr/>
          </p:nvSpPr>
          <p:spPr>
            <a:xfrm>
              <a:off x="4370832" y="1252728"/>
              <a:ext cx="2093976" cy="475488"/>
            </a:xfrm>
            <a:prstGeom prst="rect">
              <a:avLst/>
            </a:prstGeom>
            <a:noFill/>
            <a:ln/>
          </p:spPr>
          <p:txBody>
            <a:bodyPr wrap="square" rtlCol="0" anchor="ctr"/>
            <a:lstStyle/>
            <a:p>
              <a:pPr marL="0" indent="0" algn="ctr">
                <a:buNone/>
              </a:pPr>
              <a:r>
                <a:rPr lang="en-US" sz="1400" dirty="0">
                  <a:solidFill>
                    <a:srgbClr val="3D5A80"/>
                  </a:solidFill>
                  <a:latin typeface="Calibri" pitchFamily="34" charset="0"/>
                  <a:ea typeface="Calibri" pitchFamily="34" charset="-122"/>
                  <a:cs typeface="Calibri" pitchFamily="34" charset="-120"/>
                </a:rPr>
                <a:t>❌ No</a:t>
              </a:r>
              <a:endParaRPr lang="en-US" sz="1400" dirty="0"/>
            </a:p>
          </p:txBody>
        </p:sp>
        <p:sp>
          <p:nvSpPr>
            <p:cNvPr id="18" name="Shape 16"/>
            <p:cNvSpPr/>
            <p:nvPr/>
          </p:nvSpPr>
          <p:spPr>
            <a:xfrm>
              <a:off x="6629400" y="1252728"/>
              <a:ext cx="2331720" cy="475488"/>
            </a:xfrm>
            <a:prstGeom prst="rect">
              <a:avLst/>
            </a:prstGeom>
            <a:solidFill>
              <a:srgbClr val="F7F3EA"/>
            </a:solidFill>
            <a:ln w="3810">
              <a:solidFill>
                <a:srgbClr val="CADCFC"/>
              </a:solidFill>
              <a:prstDash val="solid"/>
            </a:ln>
          </p:spPr>
        </p:sp>
        <p:sp>
          <p:nvSpPr>
            <p:cNvPr id="19" name="Text 17"/>
            <p:cNvSpPr/>
            <p:nvPr/>
          </p:nvSpPr>
          <p:spPr>
            <a:xfrm>
              <a:off x="6702552" y="1252728"/>
              <a:ext cx="2185416" cy="475488"/>
            </a:xfrm>
            <a:prstGeom prst="rect">
              <a:avLst/>
            </a:prstGeom>
            <a:noFill/>
            <a:ln/>
          </p:spPr>
          <p:txBody>
            <a:bodyPr wrap="square" rtlCol="0" anchor="ctr"/>
            <a:lstStyle/>
            <a:p>
              <a:pPr marL="0" indent="0" algn="ctr">
                <a:buNone/>
              </a:pPr>
              <a:r>
                <a:rPr lang="en-US" sz="1400" dirty="0">
                  <a:solidFill>
                    <a:srgbClr val="3D5A80"/>
                  </a:solidFill>
                  <a:latin typeface="Calibri" pitchFamily="34" charset="0"/>
                  <a:ea typeface="Calibri" pitchFamily="34" charset="-122"/>
                  <a:cs typeface="Calibri" pitchFamily="34" charset="-120"/>
                </a:rPr>
                <a:t>❌ No</a:t>
              </a:r>
              <a:endParaRPr lang="en-US" sz="1400" dirty="0"/>
            </a:p>
          </p:txBody>
        </p:sp>
        <p:sp>
          <p:nvSpPr>
            <p:cNvPr id="20" name="Shape 18"/>
            <p:cNvSpPr/>
            <p:nvPr/>
          </p:nvSpPr>
          <p:spPr>
            <a:xfrm>
              <a:off x="182880" y="1728216"/>
              <a:ext cx="1691640" cy="475488"/>
            </a:xfrm>
            <a:prstGeom prst="rect">
              <a:avLst/>
            </a:prstGeom>
            <a:solidFill>
              <a:srgbClr val="FFFFFF"/>
            </a:solidFill>
            <a:ln w="3810">
              <a:solidFill>
                <a:srgbClr val="CADCFC"/>
              </a:solidFill>
              <a:prstDash val="solid"/>
            </a:ln>
          </p:spPr>
        </p:sp>
        <p:sp>
          <p:nvSpPr>
            <p:cNvPr id="21" name="Text 19"/>
            <p:cNvSpPr/>
            <p:nvPr/>
          </p:nvSpPr>
          <p:spPr>
            <a:xfrm>
              <a:off x="256032" y="1728216"/>
              <a:ext cx="1545336" cy="475488"/>
            </a:xfrm>
            <a:prstGeom prst="rect">
              <a:avLst/>
            </a:prstGeom>
            <a:noFill/>
            <a:ln/>
          </p:spPr>
          <p:txBody>
            <a:bodyPr wrap="square" rtlCol="0" anchor="ctr"/>
            <a:lstStyle/>
            <a:p>
              <a:pPr marL="0" indent="0" algn="l">
                <a:buNone/>
              </a:pPr>
              <a:r>
                <a:rPr lang="en-US" sz="1600" b="1" dirty="0">
                  <a:solidFill>
                    <a:srgbClr val="1A1F36"/>
                  </a:solidFill>
                  <a:latin typeface="Calibri" pitchFamily="34" charset="0"/>
                  <a:ea typeface="Calibri" pitchFamily="34" charset="-122"/>
                  <a:cs typeface="Calibri" pitchFamily="34" charset="-120"/>
                </a:rPr>
                <a:t>Needs internet?</a:t>
              </a:r>
              <a:endParaRPr lang="en-US" sz="1600" dirty="0"/>
            </a:p>
          </p:txBody>
        </p:sp>
        <p:sp>
          <p:nvSpPr>
            <p:cNvPr id="22" name="Shape 20"/>
            <p:cNvSpPr/>
            <p:nvPr/>
          </p:nvSpPr>
          <p:spPr>
            <a:xfrm>
              <a:off x="1965960" y="1728216"/>
              <a:ext cx="2240280" cy="475488"/>
            </a:xfrm>
            <a:prstGeom prst="rect">
              <a:avLst/>
            </a:prstGeom>
            <a:solidFill>
              <a:srgbClr val="FFFFFF"/>
            </a:solidFill>
            <a:ln w="3810">
              <a:solidFill>
                <a:srgbClr val="CADCFC"/>
              </a:solidFill>
              <a:prstDash val="solid"/>
            </a:ln>
          </p:spPr>
        </p:sp>
        <p:sp>
          <p:nvSpPr>
            <p:cNvPr id="23" name="Text 21"/>
            <p:cNvSpPr/>
            <p:nvPr/>
          </p:nvSpPr>
          <p:spPr>
            <a:xfrm>
              <a:off x="2039112" y="1728216"/>
              <a:ext cx="2093976" cy="475488"/>
            </a:xfrm>
            <a:prstGeom prst="rect">
              <a:avLst/>
            </a:prstGeom>
            <a:noFill/>
            <a:ln/>
          </p:spPr>
          <p:txBody>
            <a:bodyPr wrap="square" rtlCol="0" anchor="ctr"/>
            <a:lstStyle/>
            <a:p>
              <a:pPr marL="0" indent="0" algn="ctr">
                <a:buNone/>
              </a:pPr>
              <a:r>
                <a:rPr lang="en-US" sz="1400" dirty="0">
                  <a:solidFill>
                    <a:srgbClr val="3D5A80"/>
                  </a:solidFill>
                  <a:latin typeface="Calibri" pitchFamily="34" charset="0"/>
                  <a:ea typeface="Calibri" pitchFamily="34" charset="-122"/>
                  <a:cs typeface="Calibri" pitchFamily="34" charset="-120"/>
                </a:rPr>
                <a:t>❌ No</a:t>
              </a:r>
              <a:endParaRPr lang="en-US" sz="1400" dirty="0"/>
            </a:p>
          </p:txBody>
        </p:sp>
        <p:sp>
          <p:nvSpPr>
            <p:cNvPr id="24" name="Shape 22"/>
            <p:cNvSpPr/>
            <p:nvPr/>
          </p:nvSpPr>
          <p:spPr>
            <a:xfrm>
              <a:off x="4297680" y="1728216"/>
              <a:ext cx="2240280" cy="475488"/>
            </a:xfrm>
            <a:prstGeom prst="rect">
              <a:avLst/>
            </a:prstGeom>
            <a:solidFill>
              <a:srgbClr val="FFFFFF"/>
            </a:solidFill>
            <a:ln w="3810">
              <a:solidFill>
                <a:srgbClr val="CADCFC"/>
              </a:solidFill>
              <a:prstDash val="solid"/>
            </a:ln>
          </p:spPr>
        </p:sp>
        <p:sp>
          <p:nvSpPr>
            <p:cNvPr id="25" name="Text 23"/>
            <p:cNvSpPr/>
            <p:nvPr/>
          </p:nvSpPr>
          <p:spPr>
            <a:xfrm>
              <a:off x="4370832" y="1728216"/>
              <a:ext cx="2093976" cy="475488"/>
            </a:xfrm>
            <a:prstGeom prst="rect">
              <a:avLst/>
            </a:prstGeom>
            <a:noFill/>
            <a:ln/>
          </p:spPr>
          <p:txBody>
            <a:bodyPr wrap="square" rtlCol="0" anchor="ctr"/>
            <a:lstStyle/>
            <a:p>
              <a:pPr marL="0" indent="0" algn="ctr">
                <a:buNone/>
              </a:pPr>
              <a:r>
                <a:rPr lang="en-US" sz="1400" dirty="0">
                  <a:solidFill>
                    <a:srgbClr val="3D5A80"/>
                  </a:solidFill>
                  <a:latin typeface="Calibri" pitchFamily="34" charset="0"/>
                  <a:ea typeface="Calibri" pitchFamily="34" charset="-122"/>
                  <a:cs typeface="Calibri" pitchFamily="34" charset="-120"/>
                </a:rPr>
                <a:t>✅ Yes</a:t>
              </a:r>
              <a:endParaRPr lang="en-US" sz="1400" dirty="0"/>
            </a:p>
          </p:txBody>
        </p:sp>
        <p:sp>
          <p:nvSpPr>
            <p:cNvPr id="26" name="Shape 24"/>
            <p:cNvSpPr/>
            <p:nvPr/>
          </p:nvSpPr>
          <p:spPr>
            <a:xfrm>
              <a:off x="6629400" y="1728216"/>
              <a:ext cx="2331720" cy="475488"/>
            </a:xfrm>
            <a:prstGeom prst="rect">
              <a:avLst/>
            </a:prstGeom>
            <a:solidFill>
              <a:srgbClr val="FFFFFF"/>
            </a:solidFill>
            <a:ln w="3810">
              <a:solidFill>
                <a:srgbClr val="CADCFC"/>
              </a:solidFill>
              <a:prstDash val="solid"/>
            </a:ln>
          </p:spPr>
        </p:sp>
        <p:sp>
          <p:nvSpPr>
            <p:cNvPr id="27" name="Text 25"/>
            <p:cNvSpPr/>
            <p:nvPr/>
          </p:nvSpPr>
          <p:spPr>
            <a:xfrm>
              <a:off x="6702552" y="1728216"/>
              <a:ext cx="2185416" cy="475488"/>
            </a:xfrm>
            <a:prstGeom prst="rect">
              <a:avLst/>
            </a:prstGeom>
            <a:noFill/>
            <a:ln/>
          </p:spPr>
          <p:txBody>
            <a:bodyPr wrap="square" rtlCol="0" anchor="ctr"/>
            <a:lstStyle/>
            <a:p>
              <a:pPr marL="0" indent="0" algn="ctr">
                <a:buNone/>
              </a:pPr>
              <a:r>
                <a:rPr lang="en-US" sz="1400" dirty="0">
                  <a:solidFill>
                    <a:srgbClr val="3D5A80"/>
                  </a:solidFill>
                  <a:latin typeface="Calibri" pitchFamily="34" charset="0"/>
                  <a:ea typeface="Calibri" pitchFamily="34" charset="-122"/>
                  <a:cs typeface="Calibri" pitchFamily="34" charset="-120"/>
                </a:rPr>
                <a:t>❌ No</a:t>
              </a:r>
              <a:endParaRPr lang="en-US" sz="1400" dirty="0"/>
            </a:p>
          </p:txBody>
        </p:sp>
        <p:sp>
          <p:nvSpPr>
            <p:cNvPr id="28" name="Shape 26"/>
            <p:cNvSpPr/>
            <p:nvPr/>
          </p:nvSpPr>
          <p:spPr>
            <a:xfrm>
              <a:off x="182880" y="2203704"/>
              <a:ext cx="1691640" cy="475488"/>
            </a:xfrm>
            <a:prstGeom prst="rect">
              <a:avLst/>
            </a:prstGeom>
            <a:solidFill>
              <a:srgbClr val="F7F3EA"/>
            </a:solidFill>
            <a:ln w="3810">
              <a:solidFill>
                <a:srgbClr val="CADCFC"/>
              </a:solidFill>
              <a:prstDash val="solid"/>
            </a:ln>
          </p:spPr>
        </p:sp>
        <p:sp>
          <p:nvSpPr>
            <p:cNvPr id="29" name="Text 27"/>
            <p:cNvSpPr/>
            <p:nvPr/>
          </p:nvSpPr>
          <p:spPr>
            <a:xfrm>
              <a:off x="256032" y="2203704"/>
              <a:ext cx="1545336" cy="475488"/>
            </a:xfrm>
            <a:prstGeom prst="rect">
              <a:avLst/>
            </a:prstGeom>
            <a:noFill/>
            <a:ln/>
          </p:spPr>
          <p:txBody>
            <a:bodyPr wrap="square" rtlCol="0" anchor="ctr"/>
            <a:lstStyle/>
            <a:p>
              <a:pPr marL="0" indent="0" algn="l">
                <a:buNone/>
              </a:pPr>
              <a:r>
                <a:rPr lang="en-US" sz="1600" b="1" dirty="0">
                  <a:solidFill>
                    <a:srgbClr val="1A1F36"/>
                  </a:solidFill>
                  <a:latin typeface="Calibri" pitchFamily="34" charset="0"/>
                  <a:ea typeface="Calibri" pitchFamily="34" charset="-122"/>
                  <a:cs typeface="Calibri" pitchFamily="34" charset="-120"/>
                </a:rPr>
                <a:t>Speed</a:t>
              </a:r>
              <a:endParaRPr lang="en-US" sz="1600" dirty="0"/>
            </a:p>
          </p:txBody>
        </p:sp>
        <p:sp>
          <p:nvSpPr>
            <p:cNvPr id="30" name="Shape 28"/>
            <p:cNvSpPr/>
            <p:nvPr/>
          </p:nvSpPr>
          <p:spPr>
            <a:xfrm>
              <a:off x="1965960" y="2203704"/>
              <a:ext cx="2240280" cy="475488"/>
            </a:xfrm>
            <a:prstGeom prst="rect">
              <a:avLst/>
            </a:prstGeom>
            <a:solidFill>
              <a:srgbClr val="F7F3EA"/>
            </a:solidFill>
            <a:ln w="3810">
              <a:solidFill>
                <a:srgbClr val="CADCFC"/>
              </a:solidFill>
              <a:prstDash val="solid"/>
            </a:ln>
          </p:spPr>
        </p:sp>
        <p:sp>
          <p:nvSpPr>
            <p:cNvPr id="31" name="Text 29"/>
            <p:cNvSpPr/>
            <p:nvPr/>
          </p:nvSpPr>
          <p:spPr>
            <a:xfrm>
              <a:off x="2039112" y="2203704"/>
              <a:ext cx="2093976" cy="475488"/>
            </a:xfrm>
            <a:prstGeom prst="rect">
              <a:avLst/>
            </a:prstGeom>
            <a:noFill/>
            <a:ln/>
          </p:spPr>
          <p:txBody>
            <a:bodyPr wrap="square" rtlCol="0" anchor="ctr"/>
            <a:lstStyle/>
            <a:p>
              <a:pPr marL="0" indent="0" algn="ctr">
                <a:buNone/>
              </a:pPr>
              <a:r>
                <a:rPr lang="en-US" sz="1400" dirty="0">
                  <a:solidFill>
                    <a:srgbClr val="3D5A80"/>
                  </a:solidFill>
                  <a:latin typeface="Calibri" pitchFamily="34" charset="0"/>
                  <a:ea typeface="Calibri" pitchFamily="34" charset="-122"/>
                  <a:cs typeface="Calibri" pitchFamily="34" charset="-120"/>
                </a:rPr>
                <a:t>⚡ Fast (MPS/GPU)</a:t>
              </a:r>
              <a:endParaRPr lang="en-US" sz="1400" dirty="0"/>
            </a:p>
          </p:txBody>
        </p:sp>
        <p:sp>
          <p:nvSpPr>
            <p:cNvPr id="32" name="Shape 30"/>
            <p:cNvSpPr/>
            <p:nvPr/>
          </p:nvSpPr>
          <p:spPr>
            <a:xfrm>
              <a:off x="4297680" y="2203704"/>
              <a:ext cx="2240280" cy="475488"/>
            </a:xfrm>
            <a:prstGeom prst="rect">
              <a:avLst/>
            </a:prstGeom>
            <a:solidFill>
              <a:srgbClr val="F7F3EA"/>
            </a:solidFill>
            <a:ln w="3810">
              <a:solidFill>
                <a:srgbClr val="CADCFC"/>
              </a:solidFill>
              <a:prstDash val="solid"/>
            </a:ln>
          </p:spPr>
        </p:sp>
        <p:sp>
          <p:nvSpPr>
            <p:cNvPr id="33" name="Text 31"/>
            <p:cNvSpPr/>
            <p:nvPr/>
          </p:nvSpPr>
          <p:spPr>
            <a:xfrm>
              <a:off x="4370832" y="2203704"/>
              <a:ext cx="2093976" cy="475488"/>
            </a:xfrm>
            <a:prstGeom prst="rect">
              <a:avLst/>
            </a:prstGeom>
            <a:noFill/>
            <a:ln/>
          </p:spPr>
          <p:txBody>
            <a:bodyPr wrap="square" rtlCol="0" anchor="ctr"/>
            <a:lstStyle/>
            <a:p>
              <a:pPr marL="0" indent="0" algn="ctr">
                <a:buNone/>
              </a:pPr>
              <a:r>
                <a:rPr lang="en-US" sz="1400" dirty="0">
                  <a:solidFill>
                    <a:srgbClr val="3D5A80"/>
                  </a:solidFill>
                  <a:latin typeface="Calibri" pitchFamily="34" charset="0"/>
                  <a:ea typeface="Calibri" pitchFamily="34" charset="-122"/>
                  <a:cs typeface="Calibri" pitchFamily="34" charset="-120"/>
                </a:rPr>
                <a:t>🐢 Slow (network)</a:t>
              </a:r>
              <a:endParaRPr lang="en-US" sz="1400" dirty="0"/>
            </a:p>
          </p:txBody>
        </p:sp>
        <p:sp>
          <p:nvSpPr>
            <p:cNvPr id="34" name="Shape 32"/>
            <p:cNvSpPr/>
            <p:nvPr/>
          </p:nvSpPr>
          <p:spPr>
            <a:xfrm>
              <a:off x="6629400" y="2203704"/>
              <a:ext cx="2331720" cy="475488"/>
            </a:xfrm>
            <a:prstGeom prst="rect">
              <a:avLst/>
            </a:prstGeom>
            <a:solidFill>
              <a:srgbClr val="F7F3EA"/>
            </a:solidFill>
            <a:ln w="3810">
              <a:solidFill>
                <a:srgbClr val="CADCFC"/>
              </a:solidFill>
              <a:prstDash val="solid"/>
            </a:ln>
          </p:spPr>
        </p:sp>
        <p:sp>
          <p:nvSpPr>
            <p:cNvPr id="35" name="Text 33"/>
            <p:cNvSpPr/>
            <p:nvPr/>
          </p:nvSpPr>
          <p:spPr>
            <a:xfrm>
              <a:off x="6702552" y="2203704"/>
              <a:ext cx="2185416" cy="475488"/>
            </a:xfrm>
            <a:prstGeom prst="rect">
              <a:avLst/>
            </a:prstGeom>
            <a:noFill/>
            <a:ln/>
          </p:spPr>
          <p:txBody>
            <a:bodyPr wrap="square" rtlCol="0" anchor="ctr"/>
            <a:lstStyle/>
            <a:p>
              <a:pPr marL="0" indent="0" algn="ctr">
                <a:buNone/>
              </a:pPr>
              <a:r>
                <a:rPr lang="en-US" sz="1400" dirty="0">
                  <a:solidFill>
                    <a:srgbClr val="3D5A80"/>
                  </a:solidFill>
                  <a:latin typeface="Calibri" pitchFamily="34" charset="0"/>
                  <a:ea typeface="Calibri" pitchFamily="34" charset="-122"/>
                  <a:cs typeface="Calibri" pitchFamily="34" charset="-120"/>
                </a:rPr>
                <a:t>⚡ Fast (local)</a:t>
              </a:r>
              <a:endParaRPr lang="en-US" sz="1400" dirty="0"/>
            </a:p>
          </p:txBody>
        </p:sp>
        <p:sp>
          <p:nvSpPr>
            <p:cNvPr id="36" name="Shape 34"/>
            <p:cNvSpPr/>
            <p:nvPr/>
          </p:nvSpPr>
          <p:spPr>
            <a:xfrm>
              <a:off x="182880" y="2679192"/>
              <a:ext cx="1691640" cy="475488"/>
            </a:xfrm>
            <a:prstGeom prst="rect">
              <a:avLst/>
            </a:prstGeom>
            <a:solidFill>
              <a:srgbClr val="FFFFFF"/>
            </a:solidFill>
            <a:ln w="3810">
              <a:solidFill>
                <a:srgbClr val="CADCFC"/>
              </a:solidFill>
              <a:prstDash val="solid"/>
            </a:ln>
          </p:spPr>
        </p:sp>
        <p:sp>
          <p:nvSpPr>
            <p:cNvPr id="37" name="Text 35"/>
            <p:cNvSpPr/>
            <p:nvPr/>
          </p:nvSpPr>
          <p:spPr>
            <a:xfrm>
              <a:off x="256032" y="2679192"/>
              <a:ext cx="1545336" cy="475488"/>
            </a:xfrm>
            <a:prstGeom prst="rect">
              <a:avLst/>
            </a:prstGeom>
            <a:noFill/>
            <a:ln/>
          </p:spPr>
          <p:txBody>
            <a:bodyPr wrap="square" rtlCol="0" anchor="ctr"/>
            <a:lstStyle/>
            <a:p>
              <a:pPr marL="0" indent="0" algn="l">
                <a:buNone/>
              </a:pPr>
              <a:r>
                <a:rPr lang="en-US" sz="1600" b="1" dirty="0">
                  <a:solidFill>
                    <a:srgbClr val="1A1F36"/>
                  </a:solidFill>
                  <a:latin typeface="Calibri" pitchFamily="34" charset="0"/>
                  <a:ea typeface="Calibri" pitchFamily="34" charset="-122"/>
                  <a:cs typeface="Calibri" pitchFamily="34" charset="-120"/>
                </a:rPr>
                <a:t>Privacy</a:t>
              </a:r>
              <a:endParaRPr lang="en-US" sz="1600" dirty="0"/>
            </a:p>
          </p:txBody>
        </p:sp>
        <p:sp>
          <p:nvSpPr>
            <p:cNvPr id="38" name="Shape 36"/>
            <p:cNvSpPr/>
            <p:nvPr/>
          </p:nvSpPr>
          <p:spPr>
            <a:xfrm>
              <a:off x="1965960" y="2679192"/>
              <a:ext cx="2240280" cy="475488"/>
            </a:xfrm>
            <a:prstGeom prst="rect">
              <a:avLst/>
            </a:prstGeom>
            <a:solidFill>
              <a:srgbClr val="FFFFFF"/>
            </a:solidFill>
            <a:ln w="3810">
              <a:solidFill>
                <a:srgbClr val="CADCFC"/>
              </a:solidFill>
              <a:prstDash val="solid"/>
            </a:ln>
          </p:spPr>
        </p:sp>
        <p:sp>
          <p:nvSpPr>
            <p:cNvPr id="39" name="Text 37"/>
            <p:cNvSpPr/>
            <p:nvPr/>
          </p:nvSpPr>
          <p:spPr>
            <a:xfrm>
              <a:off x="2039112" y="2679192"/>
              <a:ext cx="2093976" cy="475488"/>
            </a:xfrm>
            <a:prstGeom prst="rect">
              <a:avLst/>
            </a:prstGeom>
            <a:noFill/>
            <a:ln/>
          </p:spPr>
          <p:txBody>
            <a:bodyPr wrap="square" rtlCol="0" anchor="ctr"/>
            <a:lstStyle/>
            <a:p>
              <a:pPr marL="0" indent="0" algn="ctr">
                <a:buNone/>
              </a:pPr>
              <a:r>
                <a:rPr lang="en-US" sz="1400" dirty="0">
                  <a:solidFill>
                    <a:srgbClr val="3D5A80"/>
                  </a:solidFill>
                  <a:latin typeface="Calibri" pitchFamily="34" charset="0"/>
                  <a:ea typeface="Calibri" pitchFamily="34" charset="-122"/>
                  <a:cs typeface="Calibri" pitchFamily="34" charset="-120"/>
                </a:rPr>
                <a:t>🔒 Full</a:t>
              </a:r>
              <a:endParaRPr lang="en-US" sz="1400" dirty="0"/>
            </a:p>
          </p:txBody>
        </p:sp>
        <p:sp>
          <p:nvSpPr>
            <p:cNvPr id="40" name="Shape 38"/>
            <p:cNvSpPr/>
            <p:nvPr/>
          </p:nvSpPr>
          <p:spPr>
            <a:xfrm>
              <a:off x="4297680" y="2679192"/>
              <a:ext cx="2240280" cy="475488"/>
            </a:xfrm>
            <a:prstGeom prst="rect">
              <a:avLst/>
            </a:prstGeom>
            <a:solidFill>
              <a:srgbClr val="FFFFFF"/>
            </a:solidFill>
            <a:ln w="3810">
              <a:solidFill>
                <a:srgbClr val="CADCFC"/>
              </a:solidFill>
              <a:prstDash val="solid"/>
            </a:ln>
          </p:spPr>
        </p:sp>
        <p:sp>
          <p:nvSpPr>
            <p:cNvPr id="41" name="Text 39"/>
            <p:cNvSpPr/>
            <p:nvPr/>
          </p:nvSpPr>
          <p:spPr>
            <a:xfrm>
              <a:off x="4370832" y="2679192"/>
              <a:ext cx="2093976" cy="475488"/>
            </a:xfrm>
            <a:prstGeom prst="rect">
              <a:avLst/>
            </a:prstGeom>
            <a:noFill/>
            <a:ln/>
          </p:spPr>
          <p:txBody>
            <a:bodyPr wrap="square" rtlCol="0" anchor="ctr"/>
            <a:lstStyle/>
            <a:p>
              <a:pPr marL="0" indent="0" algn="ctr">
                <a:buNone/>
              </a:pPr>
              <a:r>
                <a:rPr lang="en-US" sz="1400" dirty="0">
                  <a:solidFill>
                    <a:srgbClr val="3D5A80"/>
                  </a:solidFill>
                  <a:latin typeface="Calibri" pitchFamily="34" charset="0"/>
                  <a:ea typeface="Calibri" pitchFamily="34" charset="-122"/>
                  <a:cs typeface="Calibri" pitchFamily="34" charset="-120"/>
                </a:rPr>
                <a:t>⚠️ Data sent to HF</a:t>
              </a:r>
              <a:endParaRPr lang="en-US" sz="1400" dirty="0"/>
            </a:p>
          </p:txBody>
        </p:sp>
        <p:sp>
          <p:nvSpPr>
            <p:cNvPr id="42" name="Shape 40"/>
            <p:cNvSpPr/>
            <p:nvPr/>
          </p:nvSpPr>
          <p:spPr>
            <a:xfrm>
              <a:off x="6629400" y="2679192"/>
              <a:ext cx="2331720" cy="475488"/>
            </a:xfrm>
            <a:prstGeom prst="rect">
              <a:avLst/>
            </a:prstGeom>
            <a:solidFill>
              <a:srgbClr val="FFFFFF"/>
            </a:solidFill>
            <a:ln w="3810">
              <a:solidFill>
                <a:srgbClr val="CADCFC"/>
              </a:solidFill>
              <a:prstDash val="solid"/>
            </a:ln>
          </p:spPr>
        </p:sp>
        <p:sp>
          <p:nvSpPr>
            <p:cNvPr id="43" name="Text 41"/>
            <p:cNvSpPr/>
            <p:nvPr/>
          </p:nvSpPr>
          <p:spPr>
            <a:xfrm>
              <a:off x="6702552" y="2679192"/>
              <a:ext cx="2185416" cy="475488"/>
            </a:xfrm>
            <a:prstGeom prst="rect">
              <a:avLst/>
            </a:prstGeom>
            <a:noFill/>
            <a:ln/>
          </p:spPr>
          <p:txBody>
            <a:bodyPr wrap="square" rtlCol="0" anchor="ctr"/>
            <a:lstStyle/>
            <a:p>
              <a:pPr marL="0" indent="0" algn="ctr">
                <a:buNone/>
              </a:pPr>
              <a:r>
                <a:rPr lang="en-US" sz="1400" dirty="0">
                  <a:solidFill>
                    <a:srgbClr val="3D5A80"/>
                  </a:solidFill>
                  <a:latin typeface="Calibri" pitchFamily="34" charset="0"/>
                  <a:ea typeface="Calibri" pitchFamily="34" charset="-122"/>
                  <a:cs typeface="Calibri" pitchFamily="34" charset="-120"/>
                </a:rPr>
                <a:t>🔒 Full</a:t>
              </a:r>
              <a:endParaRPr lang="en-US" sz="1400" dirty="0"/>
            </a:p>
          </p:txBody>
        </p:sp>
        <p:sp>
          <p:nvSpPr>
            <p:cNvPr id="44" name="Shape 42"/>
            <p:cNvSpPr/>
            <p:nvPr/>
          </p:nvSpPr>
          <p:spPr>
            <a:xfrm>
              <a:off x="182880" y="3154680"/>
              <a:ext cx="1691640" cy="475488"/>
            </a:xfrm>
            <a:prstGeom prst="rect">
              <a:avLst/>
            </a:prstGeom>
            <a:solidFill>
              <a:srgbClr val="F7F3EA"/>
            </a:solidFill>
            <a:ln w="3810">
              <a:solidFill>
                <a:srgbClr val="CADCFC"/>
              </a:solidFill>
              <a:prstDash val="solid"/>
            </a:ln>
          </p:spPr>
        </p:sp>
        <p:sp>
          <p:nvSpPr>
            <p:cNvPr id="45" name="Text 43"/>
            <p:cNvSpPr/>
            <p:nvPr/>
          </p:nvSpPr>
          <p:spPr>
            <a:xfrm>
              <a:off x="256032" y="3154680"/>
              <a:ext cx="1545336" cy="475488"/>
            </a:xfrm>
            <a:prstGeom prst="rect">
              <a:avLst/>
            </a:prstGeom>
            <a:noFill/>
            <a:ln/>
          </p:spPr>
          <p:txBody>
            <a:bodyPr wrap="square" rtlCol="0" anchor="ctr"/>
            <a:lstStyle/>
            <a:p>
              <a:pPr marL="0" indent="0" algn="l">
                <a:buNone/>
              </a:pPr>
              <a:r>
                <a:rPr lang="en-US" sz="1600" b="1" dirty="0">
                  <a:solidFill>
                    <a:srgbClr val="1A1F36"/>
                  </a:solidFill>
                  <a:latin typeface="Calibri" pitchFamily="34" charset="0"/>
                  <a:ea typeface="Calibri" pitchFamily="34" charset="-122"/>
                  <a:cs typeface="Calibri" pitchFamily="34" charset="-120"/>
                </a:rPr>
                <a:t>Setup effort</a:t>
              </a:r>
              <a:endParaRPr lang="en-US" sz="1600" dirty="0"/>
            </a:p>
          </p:txBody>
        </p:sp>
        <p:sp>
          <p:nvSpPr>
            <p:cNvPr id="46" name="Shape 44"/>
            <p:cNvSpPr/>
            <p:nvPr/>
          </p:nvSpPr>
          <p:spPr>
            <a:xfrm>
              <a:off x="1965960" y="3154680"/>
              <a:ext cx="2240280" cy="475488"/>
            </a:xfrm>
            <a:prstGeom prst="rect">
              <a:avLst/>
            </a:prstGeom>
            <a:solidFill>
              <a:srgbClr val="F7F3EA"/>
            </a:solidFill>
            <a:ln w="3810">
              <a:solidFill>
                <a:srgbClr val="CADCFC"/>
              </a:solidFill>
              <a:prstDash val="solid"/>
            </a:ln>
          </p:spPr>
        </p:sp>
        <p:sp>
          <p:nvSpPr>
            <p:cNvPr id="47" name="Text 45"/>
            <p:cNvSpPr/>
            <p:nvPr/>
          </p:nvSpPr>
          <p:spPr>
            <a:xfrm>
              <a:off x="2039112" y="3154680"/>
              <a:ext cx="2093976" cy="475488"/>
            </a:xfrm>
            <a:prstGeom prst="rect">
              <a:avLst/>
            </a:prstGeom>
            <a:noFill/>
            <a:ln/>
          </p:spPr>
          <p:txBody>
            <a:bodyPr wrap="square" rtlCol="0" anchor="ctr"/>
            <a:lstStyle/>
            <a:p>
              <a:pPr marL="0" indent="0" algn="ctr">
                <a:buNone/>
              </a:pPr>
              <a:r>
                <a:rPr lang="en-US" sz="1400" dirty="0">
                  <a:solidFill>
                    <a:srgbClr val="3D5A80"/>
                  </a:solidFill>
                  <a:latin typeface="Calibri" pitchFamily="34" charset="0"/>
                  <a:ea typeface="Calibri" pitchFamily="34" charset="-122"/>
                  <a:cs typeface="Calibri" pitchFamily="34" charset="-120"/>
                </a:rPr>
                <a:t>🔧 Medium</a:t>
              </a:r>
              <a:endParaRPr lang="en-US" sz="1400" dirty="0"/>
            </a:p>
          </p:txBody>
        </p:sp>
        <p:sp>
          <p:nvSpPr>
            <p:cNvPr id="48" name="Shape 46"/>
            <p:cNvSpPr/>
            <p:nvPr/>
          </p:nvSpPr>
          <p:spPr>
            <a:xfrm>
              <a:off x="4297680" y="3154680"/>
              <a:ext cx="2240280" cy="475488"/>
            </a:xfrm>
            <a:prstGeom prst="rect">
              <a:avLst/>
            </a:prstGeom>
            <a:solidFill>
              <a:srgbClr val="F7F3EA"/>
            </a:solidFill>
            <a:ln w="3810">
              <a:solidFill>
                <a:srgbClr val="CADCFC"/>
              </a:solidFill>
              <a:prstDash val="solid"/>
            </a:ln>
          </p:spPr>
        </p:sp>
        <p:sp>
          <p:nvSpPr>
            <p:cNvPr id="49" name="Text 47"/>
            <p:cNvSpPr/>
            <p:nvPr/>
          </p:nvSpPr>
          <p:spPr>
            <a:xfrm>
              <a:off x="4370832" y="3154680"/>
              <a:ext cx="2093976" cy="475488"/>
            </a:xfrm>
            <a:prstGeom prst="rect">
              <a:avLst/>
            </a:prstGeom>
            <a:noFill/>
            <a:ln/>
          </p:spPr>
          <p:txBody>
            <a:bodyPr wrap="square" rtlCol="0" anchor="ctr"/>
            <a:lstStyle/>
            <a:p>
              <a:pPr marL="0" indent="0" algn="ctr">
                <a:buNone/>
              </a:pPr>
              <a:r>
                <a:rPr lang="en-US" sz="1400" dirty="0">
                  <a:solidFill>
                    <a:srgbClr val="3D5A80"/>
                  </a:solidFill>
                  <a:latin typeface="Calibri" pitchFamily="34" charset="0"/>
                  <a:ea typeface="Calibri" pitchFamily="34" charset="-122"/>
                  <a:cs typeface="Calibri" pitchFamily="34" charset="-120"/>
                </a:rPr>
                <a:t>✅ Very easy</a:t>
              </a:r>
              <a:endParaRPr lang="en-US" sz="1400" dirty="0"/>
            </a:p>
          </p:txBody>
        </p:sp>
        <p:sp>
          <p:nvSpPr>
            <p:cNvPr id="50" name="Shape 48"/>
            <p:cNvSpPr/>
            <p:nvPr/>
          </p:nvSpPr>
          <p:spPr>
            <a:xfrm>
              <a:off x="6629400" y="3154680"/>
              <a:ext cx="2331720" cy="475488"/>
            </a:xfrm>
            <a:prstGeom prst="rect">
              <a:avLst/>
            </a:prstGeom>
            <a:solidFill>
              <a:srgbClr val="F7F3EA"/>
            </a:solidFill>
            <a:ln w="3810">
              <a:solidFill>
                <a:srgbClr val="CADCFC"/>
              </a:solidFill>
              <a:prstDash val="solid"/>
            </a:ln>
          </p:spPr>
        </p:sp>
        <p:sp>
          <p:nvSpPr>
            <p:cNvPr id="51" name="Text 49"/>
            <p:cNvSpPr/>
            <p:nvPr/>
          </p:nvSpPr>
          <p:spPr>
            <a:xfrm>
              <a:off x="6702552" y="3154680"/>
              <a:ext cx="2185416" cy="475488"/>
            </a:xfrm>
            <a:prstGeom prst="rect">
              <a:avLst/>
            </a:prstGeom>
            <a:noFill/>
            <a:ln/>
          </p:spPr>
          <p:txBody>
            <a:bodyPr wrap="square" rtlCol="0" anchor="ctr"/>
            <a:lstStyle/>
            <a:p>
              <a:pPr marL="0" indent="0" algn="ctr">
                <a:buNone/>
              </a:pPr>
              <a:r>
                <a:rPr lang="en-US" sz="1400" dirty="0">
                  <a:solidFill>
                    <a:srgbClr val="3D5A80"/>
                  </a:solidFill>
                  <a:latin typeface="Calibri" pitchFamily="34" charset="0"/>
                  <a:ea typeface="Calibri" pitchFamily="34" charset="-122"/>
                  <a:cs typeface="Calibri" pitchFamily="34" charset="-120"/>
                </a:rPr>
                <a:t>✅ Easy (brew)</a:t>
              </a:r>
              <a:endParaRPr lang="en-US" sz="1400" dirty="0"/>
            </a:p>
          </p:txBody>
        </p:sp>
        <p:sp>
          <p:nvSpPr>
            <p:cNvPr id="52" name="Shape 50"/>
            <p:cNvSpPr/>
            <p:nvPr/>
          </p:nvSpPr>
          <p:spPr>
            <a:xfrm>
              <a:off x="182880" y="3630168"/>
              <a:ext cx="1691640" cy="475488"/>
            </a:xfrm>
            <a:prstGeom prst="rect">
              <a:avLst/>
            </a:prstGeom>
            <a:solidFill>
              <a:srgbClr val="FFFFFF"/>
            </a:solidFill>
            <a:ln w="3810">
              <a:solidFill>
                <a:srgbClr val="CADCFC"/>
              </a:solidFill>
              <a:prstDash val="solid"/>
            </a:ln>
          </p:spPr>
        </p:sp>
        <p:sp>
          <p:nvSpPr>
            <p:cNvPr id="53" name="Text 51"/>
            <p:cNvSpPr/>
            <p:nvPr/>
          </p:nvSpPr>
          <p:spPr>
            <a:xfrm>
              <a:off x="256032" y="3630168"/>
              <a:ext cx="1545336" cy="475488"/>
            </a:xfrm>
            <a:prstGeom prst="rect">
              <a:avLst/>
            </a:prstGeom>
            <a:noFill/>
            <a:ln/>
          </p:spPr>
          <p:txBody>
            <a:bodyPr wrap="square" rtlCol="0" anchor="ctr"/>
            <a:lstStyle/>
            <a:p>
              <a:pPr marL="0" indent="0" algn="l">
                <a:buNone/>
              </a:pPr>
              <a:r>
                <a:rPr lang="en-US" sz="1600" b="1" dirty="0">
                  <a:solidFill>
                    <a:srgbClr val="1A1F36"/>
                  </a:solidFill>
                  <a:latin typeface="Calibri" pitchFamily="34" charset="0"/>
                  <a:ea typeface="Calibri" pitchFamily="34" charset="-122"/>
                  <a:cs typeface="Calibri" pitchFamily="34" charset="-120"/>
                </a:rPr>
                <a:t>Model variety</a:t>
              </a:r>
              <a:endParaRPr lang="en-US" sz="1600" dirty="0"/>
            </a:p>
          </p:txBody>
        </p:sp>
        <p:sp>
          <p:nvSpPr>
            <p:cNvPr id="54" name="Shape 52"/>
            <p:cNvSpPr/>
            <p:nvPr/>
          </p:nvSpPr>
          <p:spPr>
            <a:xfrm>
              <a:off x="1965960" y="3630168"/>
              <a:ext cx="2240280" cy="475488"/>
            </a:xfrm>
            <a:prstGeom prst="rect">
              <a:avLst/>
            </a:prstGeom>
            <a:solidFill>
              <a:srgbClr val="FFFFFF"/>
            </a:solidFill>
            <a:ln w="3810">
              <a:solidFill>
                <a:srgbClr val="CADCFC"/>
              </a:solidFill>
              <a:prstDash val="solid"/>
            </a:ln>
          </p:spPr>
        </p:sp>
        <p:sp>
          <p:nvSpPr>
            <p:cNvPr id="55" name="Text 53"/>
            <p:cNvSpPr/>
            <p:nvPr/>
          </p:nvSpPr>
          <p:spPr>
            <a:xfrm>
              <a:off x="2039112" y="3630168"/>
              <a:ext cx="2093976" cy="475488"/>
            </a:xfrm>
            <a:prstGeom prst="rect">
              <a:avLst/>
            </a:prstGeom>
            <a:noFill/>
            <a:ln/>
          </p:spPr>
          <p:txBody>
            <a:bodyPr wrap="square" rtlCol="0" anchor="ctr"/>
            <a:lstStyle/>
            <a:p>
              <a:pPr marL="0" indent="0" algn="ctr">
                <a:buNone/>
              </a:pPr>
              <a:r>
                <a:rPr lang="en-US" sz="1400" dirty="0">
                  <a:solidFill>
                    <a:srgbClr val="3D5A80"/>
                  </a:solidFill>
                  <a:latin typeface="Calibri" pitchFamily="34" charset="0"/>
                  <a:ea typeface="Calibri" pitchFamily="34" charset="-122"/>
                  <a:cs typeface="Calibri" pitchFamily="34" charset="-120"/>
                </a:rPr>
                <a:t>🌐 Thousands</a:t>
              </a:r>
              <a:endParaRPr lang="en-US" sz="1400" dirty="0"/>
            </a:p>
          </p:txBody>
        </p:sp>
        <p:sp>
          <p:nvSpPr>
            <p:cNvPr id="56" name="Shape 54"/>
            <p:cNvSpPr/>
            <p:nvPr/>
          </p:nvSpPr>
          <p:spPr>
            <a:xfrm>
              <a:off x="4297680" y="3630168"/>
              <a:ext cx="2240280" cy="475488"/>
            </a:xfrm>
            <a:prstGeom prst="rect">
              <a:avLst/>
            </a:prstGeom>
            <a:solidFill>
              <a:srgbClr val="FFFFFF"/>
            </a:solidFill>
            <a:ln w="3810">
              <a:solidFill>
                <a:srgbClr val="CADCFC"/>
              </a:solidFill>
              <a:prstDash val="solid"/>
            </a:ln>
          </p:spPr>
        </p:sp>
        <p:sp>
          <p:nvSpPr>
            <p:cNvPr id="57" name="Text 55"/>
            <p:cNvSpPr/>
            <p:nvPr/>
          </p:nvSpPr>
          <p:spPr>
            <a:xfrm>
              <a:off x="4370832" y="3630168"/>
              <a:ext cx="2093976" cy="475488"/>
            </a:xfrm>
            <a:prstGeom prst="rect">
              <a:avLst/>
            </a:prstGeom>
            <a:noFill/>
            <a:ln/>
          </p:spPr>
          <p:txBody>
            <a:bodyPr wrap="square" rtlCol="0" anchor="ctr"/>
            <a:lstStyle/>
            <a:p>
              <a:pPr marL="0" indent="0" algn="ctr">
                <a:buNone/>
              </a:pPr>
              <a:r>
                <a:rPr lang="en-US" sz="1400" dirty="0">
                  <a:solidFill>
                    <a:srgbClr val="3D5A80"/>
                  </a:solidFill>
                  <a:latin typeface="Calibri" pitchFamily="34" charset="0"/>
                  <a:ea typeface="Calibri" pitchFamily="34" charset="-122"/>
                  <a:cs typeface="Calibri" pitchFamily="34" charset="-120"/>
                </a:rPr>
                <a:t>🌐 Thousands</a:t>
              </a:r>
              <a:endParaRPr lang="en-US" sz="1400" dirty="0"/>
            </a:p>
          </p:txBody>
        </p:sp>
        <p:sp>
          <p:nvSpPr>
            <p:cNvPr id="58" name="Shape 56"/>
            <p:cNvSpPr/>
            <p:nvPr/>
          </p:nvSpPr>
          <p:spPr>
            <a:xfrm>
              <a:off x="6629400" y="3630168"/>
              <a:ext cx="2331720" cy="475488"/>
            </a:xfrm>
            <a:prstGeom prst="rect">
              <a:avLst/>
            </a:prstGeom>
            <a:solidFill>
              <a:srgbClr val="FFFFFF"/>
            </a:solidFill>
            <a:ln w="3810">
              <a:solidFill>
                <a:srgbClr val="CADCFC"/>
              </a:solidFill>
              <a:prstDash val="solid"/>
            </a:ln>
          </p:spPr>
        </p:sp>
        <p:sp>
          <p:nvSpPr>
            <p:cNvPr id="59" name="Text 57"/>
            <p:cNvSpPr/>
            <p:nvPr/>
          </p:nvSpPr>
          <p:spPr>
            <a:xfrm>
              <a:off x="6702552" y="3630168"/>
              <a:ext cx="2185416" cy="475488"/>
            </a:xfrm>
            <a:prstGeom prst="rect">
              <a:avLst/>
            </a:prstGeom>
            <a:noFill/>
            <a:ln/>
          </p:spPr>
          <p:txBody>
            <a:bodyPr wrap="square" rtlCol="0" anchor="ctr"/>
            <a:lstStyle/>
            <a:p>
              <a:pPr marL="0" indent="0" algn="ctr">
                <a:buNone/>
              </a:pPr>
              <a:r>
                <a:rPr lang="en-US" sz="1400" dirty="0">
                  <a:solidFill>
                    <a:srgbClr val="3D5A80"/>
                  </a:solidFill>
                  <a:latin typeface="Calibri" pitchFamily="34" charset="0"/>
                  <a:ea typeface="Calibri" pitchFamily="34" charset="-122"/>
                  <a:cs typeface="Calibri" pitchFamily="34" charset="-120"/>
                </a:rPr>
                <a:t>📦 Popular ones</a:t>
              </a:r>
              <a:endParaRPr lang="en-US" sz="1400" dirty="0"/>
            </a:p>
          </p:txBody>
        </p:sp>
        <p:sp>
          <p:nvSpPr>
            <p:cNvPr id="60" name="Shape 58"/>
            <p:cNvSpPr/>
            <p:nvPr/>
          </p:nvSpPr>
          <p:spPr>
            <a:xfrm>
              <a:off x="182880" y="4105656"/>
              <a:ext cx="1691640" cy="475488"/>
            </a:xfrm>
            <a:prstGeom prst="rect">
              <a:avLst/>
            </a:prstGeom>
            <a:solidFill>
              <a:srgbClr val="F7F3EA"/>
            </a:solidFill>
            <a:ln w="3810">
              <a:solidFill>
                <a:srgbClr val="CADCFC"/>
              </a:solidFill>
              <a:prstDash val="solid"/>
            </a:ln>
          </p:spPr>
        </p:sp>
        <p:sp>
          <p:nvSpPr>
            <p:cNvPr id="61" name="Text 59"/>
            <p:cNvSpPr/>
            <p:nvPr/>
          </p:nvSpPr>
          <p:spPr>
            <a:xfrm>
              <a:off x="256032" y="4105656"/>
              <a:ext cx="1545336" cy="475488"/>
            </a:xfrm>
            <a:prstGeom prst="rect">
              <a:avLst/>
            </a:prstGeom>
            <a:noFill/>
            <a:ln/>
          </p:spPr>
          <p:txBody>
            <a:bodyPr wrap="square" rtlCol="0" anchor="ctr"/>
            <a:lstStyle/>
            <a:p>
              <a:pPr marL="0" indent="0" algn="l">
                <a:buNone/>
              </a:pPr>
              <a:r>
                <a:rPr lang="en-US" sz="1600" b="1" dirty="0">
                  <a:solidFill>
                    <a:srgbClr val="1A1F36"/>
                  </a:solidFill>
                  <a:latin typeface="Calibri" pitchFamily="34" charset="0"/>
                  <a:ea typeface="Calibri" pitchFamily="34" charset="-122"/>
                  <a:cs typeface="Calibri" pitchFamily="34" charset="-120"/>
                </a:rPr>
                <a:t>Free?</a:t>
              </a:r>
              <a:endParaRPr lang="en-US" sz="1600" dirty="0"/>
            </a:p>
          </p:txBody>
        </p:sp>
        <p:sp>
          <p:nvSpPr>
            <p:cNvPr id="62" name="Shape 60"/>
            <p:cNvSpPr/>
            <p:nvPr/>
          </p:nvSpPr>
          <p:spPr>
            <a:xfrm>
              <a:off x="1965960" y="4105656"/>
              <a:ext cx="2240280" cy="475488"/>
            </a:xfrm>
            <a:prstGeom prst="rect">
              <a:avLst/>
            </a:prstGeom>
            <a:solidFill>
              <a:srgbClr val="F7F3EA"/>
            </a:solidFill>
            <a:ln w="3810">
              <a:solidFill>
                <a:srgbClr val="CADCFC"/>
              </a:solidFill>
              <a:prstDash val="solid"/>
            </a:ln>
          </p:spPr>
        </p:sp>
        <p:sp>
          <p:nvSpPr>
            <p:cNvPr id="63" name="Text 61"/>
            <p:cNvSpPr/>
            <p:nvPr/>
          </p:nvSpPr>
          <p:spPr>
            <a:xfrm>
              <a:off x="2039112" y="4105656"/>
              <a:ext cx="2093976" cy="475488"/>
            </a:xfrm>
            <a:prstGeom prst="rect">
              <a:avLst/>
            </a:prstGeom>
            <a:noFill/>
            <a:ln/>
          </p:spPr>
          <p:txBody>
            <a:bodyPr wrap="square" rtlCol="0" anchor="ctr"/>
            <a:lstStyle/>
            <a:p>
              <a:pPr marL="0" indent="0" algn="ctr">
                <a:buNone/>
              </a:pPr>
              <a:r>
                <a:rPr lang="en-US" sz="1400" dirty="0">
                  <a:solidFill>
                    <a:srgbClr val="3D5A80"/>
                  </a:solidFill>
                  <a:latin typeface="Calibri" pitchFamily="34" charset="0"/>
                  <a:ea typeface="Calibri" pitchFamily="34" charset="-122"/>
                  <a:cs typeface="Calibri" pitchFamily="34" charset="-120"/>
                </a:rPr>
                <a:t>✅ Yes (hardware)</a:t>
              </a:r>
              <a:endParaRPr lang="en-US" sz="1400" dirty="0"/>
            </a:p>
          </p:txBody>
        </p:sp>
        <p:sp>
          <p:nvSpPr>
            <p:cNvPr id="64" name="Shape 62"/>
            <p:cNvSpPr/>
            <p:nvPr/>
          </p:nvSpPr>
          <p:spPr>
            <a:xfrm>
              <a:off x="4297680" y="4105656"/>
              <a:ext cx="2240280" cy="475488"/>
            </a:xfrm>
            <a:prstGeom prst="rect">
              <a:avLst/>
            </a:prstGeom>
            <a:solidFill>
              <a:srgbClr val="F7F3EA"/>
            </a:solidFill>
            <a:ln w="3810">
              <a:solidFill>
                <a:srgbClr val="CADCFC"/>
              </a:solidFill>
              <a:prstDash val="solid"/>
            </a:ln>
          </p:spPr>
        </p:sp>
        <p:sp>
          <p:nvSpPr>
            <p:cNvPr id="65" name="Text 63"/>
            <p:cNvSpPr/>
            <p:nvPr/>
          </p:nvSpPr>
          <p:spPr>
            <a:xfrm>
              <a:off x="4370832" y="4105656"/>
              <a:ext cx="2093976" cy="475488"/>
            </a:xfrm>
            <a:prstGeom prst="rect">
              <a:avLst/>
            </a:prstGeom>
            <a:noFill/>
            <a:ln/>
          </p:spPr>
          <p:txBody>
            <a:bodyPr wrap="square" rtlCol="0" anchor="ctr"/>
            <a:lstStyle/>
            <a:p>
              <a:pPr marL="0" indent="0" algn="ctr">
                <a:buNone/>
              </a:pPr>
              <a:r>
                <a:rPr lang="en-US" sz="1400" dirty="0">
                  <a:solidFill>
                    <a:srgbClr val="3D5A80"/>
                  </a:solidFill>
                  <a:latin typeface="Calibri" pitchFamily="34" charset="0"/>
                  <a:ea typeface="Calibri" pitchFamily="34" charset="-122"/>
                  <a:cs typeface="Calibri" pitchFamily="34" charset="-120"/>
                </a:rPr>
                <a:t>✅ Yes (rate limited)</a:t>
              </a:r>
              <a:endParaRPr lang="en-US" sz="1400" dirty="0"/>
            </a:p>
          </p:txBody>
        </p:sp>
        <p:sp>
          <p:nvSpPr>
            <p:cNvPr id="66" name="Shape 64"/>
            <p:cNvSpPr/>
            <p:nvPr/>
          </p:nvSpPr>
          <p:spPr>
            <a:xfrm>
              <a:off x="6629400" y="4105656"/>
              <a:ext cx="2331720" cy="475488"/>
            </a:xfrm>
            <a:prstGeom prst="rect">
              <a:avLst/>
            </a:prstGeom>
            <a:solidFill>
              <a:srgbClr val="F7F3EA"/>
            </a:solidFill>
            <a:ln w="3810">
              <a:solidFill>
                <a:srgbClr val="CADCFC"/>
              </a:solidFill>
              <a:prstDash val="solid"/>
            </a:ln>
          </p:spPr>
        </p:sp>
        <p:sp>
          <p:nvSpPr>
            <p:cNvPr id="67" name="Text 65"/>
            <p:cNvSpPr/>
            <p:nvPr/>
          </p:nvSpPr>
          <p:spPr>
            <a:xfrm>
              <a:off x="6702552" y="4105656"/>
              <a:ext cx="2185416" cy="475488"/>
            </a:xfrm>
            <a:prstGeom prst="rect">
              <a:avLst/>
            </a:prstGeom>
            <a:noFill/>
            <a:ln/>
          </p:spPr>
          <p:txBody>
            <a:bodyPr wrap="square" rtlCol="0" anchor="ctr"/>
            <a:lstStyle/>
            <a:p>
              <a:pPr marL="0" indent="0" algn="ctr">
                <a:buNone/>
              </a:pPr>
              <a:r>
                <a:rPr lang="en-US" sz="1400" dirty="0">
                  <a:solidFill>
                    <a:srgbClr val="3D5A80"/>
                  </a:solidFill>
                  <a:latin typeface="Calibri" pitchFamily="34" charset="0"/>
                  <a:ea typeface="Calibri" pitchFamily="34" charset="-122"/>
                  <a:cs typeface="Calibri" pitchFamily="34" charset="-120"/>
                </a:rPr>
                <a:t>✅ Yes</a:t>
              </a:r>
              <a:endParaRPr lang="en-US" sz="1400" dirty="0"/>
            </a:p>
          </p:txBody>
        </p:sp>
        <p:sp>
          <p:nvSpPr>
            <p:cNvPr id="68" name="Shape 66"/>
            <p:cNvSpPr/>
            <p:nvPr/>
          </p:nvSpPr>
          <p:spPr>
            <a:xfrm>
              <a:off x="182880" y="4581144"/>
              <a:ext cx="1691640" cy="475488"/>
            </a:xfrm>
            <a:prstGeom prst="rect">
              <a:avLst/>
            </a:prstGeom>
            <a:solidFill>
              <a:srgbClr val="FFFFFF"/>
            </a:solidFill>
            <a:ln w="3810">
              <a:solidFill>
                <a:srgbClr val="CADCFC"/>
              </a:solidFill>
              <a:prstDash val="solid"/>
            </a:ln>
          </p:spPr>
        </p:sp>
        <p:sp>
          <p:nvSpPr>
            <p:cNvPr id="69" name="Text 67"/>
            <p:cNvSpPr/>
            <p:nvPr/>
          </p:nvSpPr>
          <p:spPr>
            <a:xfrm>
              <a:off x="256032" y="4581144"/>
              <a:ext cx="1545336" cy="475488"/>
            </a:xfrm>
            <a:prstGeom prst="rect">
              <a:avLst/>
            </a:prstGeom>
            <a:noFill/>
            <a:ln/>
          </p:spPr>
          <p:txBody>
            <a:bodyPr wrap="square" rtlCol="0" anchor="ctr"/>
            <a:lstStyle/>
            <a:p>
              <a:pPr marL="0" indent="0" algn="l">
                <a:buNone/>
              </a:pPr>
              <a:r>
                <a:rPr lang="en-US" sz="1600" b="1" dirty="0">
                  <a:solidFill>
                    <a:srgbClr val="1A1F36"/>
                  </a:solidFill>
                  <a:latin typeface="Calibri" pitchFamily="34" charset="0"/>
                  <a:ea typeface="Calibri" pitchFamily="34" charset="-122"/>
                  <a:cs typeface="Calibri" pitchFamily="34" charset="-120"/>
                </a:rPr>
                <a:t>Best for</a:t>
              </a:r>
              <a:endParaRPr lang="en-US" sz="1600" dirty="0"/>
            </a:p>
          </p:txBody>
        </p:sp>
        <p:sp>
          <p:nvSpPr>
            <p:cNvPr id="70" name="Shape 68"/>
            <p:cNvSpPr/>
            <p:nvPr/>
          </p:nvSpPr>
          <p:spPr>
            <a:xfrm>
              <a:off x="1965960" y="4581144"/>
              <a:ext cx="2240280" cy="475488"/>
            </a:xfrm>
            <a:prstGeom prst="rect">
              <a:avLst/>
            </a:prstGeom>
            <a:solidFill>
              <a:srgbClr val="FFFFFF"/>
            </a:solidFill>
            <a:ln w="3810">
              <a:solidFill>
                <a:srgbClr val="CADCFC"/>
              </a:solidFill>
              <a:prstDash val="solid"/>
            </a:ln>
          </p:spPr>
        </p:sp>
        <p:sp>
          <p:nvSpPr>
            <p:cNvPr id="71" name="Text 69"/>
            <p:cNvSpPr/>
            <p:nvPr/>
          </p:nvSpPr>
          <p:spPr>
            <a:xfrm>
              <a:off x="2039112" y="4581144"/>
              <a:ext cx="2093976" cy="475488"/>
            </a:xfrm>
            <a:prstGeom prst="rect">
              <a:avLst/>
            </a:prstGeom>
            <a:noFill/>
            <a:ln/>
          </p:spPr>
          <p:txBody>
            <a:bodyPr wrap="square" rtlCol="0" anchor="ctr"/>
            <a:lstStyle/>
            <a:p>
              <a:pPr marL="0" indent="0" algn="ctr">
                <a:buNone/>
              </a:pPr>
              <a:r>
                <a:rPr lang="en-US" sz="1400" dirty="0">
                  <a:solidFill>
                    <a:srgbClr val="3D5A80"/>
                  </a:solidFill>
                  <a:latin typeface="Calibri" pitchFamily="34" charset="0"/>
                  <a:ea typeface="Calibri" pitchFamily="34" charset="-122"/>
                  <a:cs typeface="Calibri" pitchFamily="34" charset="-120"/>
                </a:rPr>
                <a:t>Research, fine-tune</a:t>
              </a:r>
              <a:endParaRPr lang="en-US" sz="1400" dirty="0"/>
            </a:p>
          </p:txBody>
        </p:sp>
        <p:sp>
          <p:nvSpPr>
            <p:cNvPr id="72" name="Shape 70"/>
            <p:cNvSpPr/>
            <p:nvPr/>
          </p:nvSpPr>
          <p:spPr>
            <a:xfrm>
              <a:off x="4297680" y="4581144"/>
              <a:ext cx="2240280" cy="475488"/>
            </a:xfrm>
            <a:prstGeom prst="rect">
              <a:avLst/>
            </a:prstGeom>
            <a:solidFill>
              <a:srgbClr val="FFFFFF"/>
            </a:solidFill>
            <a:ln w="3810">
              <a:solidFill>
                <a:srgbClr val="CADCFC"/>
              </a:solidFill>
              <a:prstDash val="solid"/>
            </a:ln>
          </p:spPr>
        </p:sp>
        <p:sp>
          <p:nvSpPr>
            <p:cNvPr id="73" name="Text 71"/>
            <p:cNvSpPr/>
            <p:nvPr/>
          </p:nvSpPr>
          <p:spPr>
            <a:xfrm>
              <a:off x="4370832" y="4581144"/>
              <a:ext cx="2093976" cy="475488"/>
            </a:xfrm>
            <a:prstGeom prst="rect">
              <a:avLst/>
            </a:prstGeom>
            <a:noFill/>
            <a:ln/>
          </p:spPr>
          <p:txBody>
            <a:bodyPr wrap="square" rtlCol="0" anchor="ctr"/>
            <a:lstStyle/>
            <a:p>
              <a:pPr marL="0" indent="0" algn="ctr">
                <a:buNone/>
              </a:pPr>
              <a:r>
                <a:rPr lang="en-US" sz="1400" dirty="0">
                  <a:solidFill>
                    <a:srgbClr val="3D5A80"/>
                  </a:solidFill>
                  <a:latin typeface="Calibri" pitchFamily="34" charset="0"/>
                  <a:ea typeface="Calibri" pitchFamily="34" charset="-122"/>
                  <a:cs typeface="Calibri" pitchFamily="34" charset="-120"/>
                </a:rPr>
                <a:t>Quick prototypes</a:t>
              </a:r>
              <a:endParaRPr lang="en-US" sz="1400" dirty="0"/>
            </a:p>
          </p:txBody>
        </p:sp>
        <p:sp>
          <p:nvSpPr>
            <p:cNvPr id="74" name="Shape 72"/>
            <p:cNvSpPr/>
            <p:nvPr/>
          </p:nvSpPr>
          <p:spPr>
            <a:xfrm>
              <a:off x="6629400" y="4581144"/>
              <a:ext cx="2331720" cy="475488"/>
            </a:xfrm>
            <a:prstGeom prst="rect">
              <a:avLst/>
            </a:prstGeom>
            <a:solidFill>
              <a:srgbClr val="FFFFFF"/>
            </a:solidFill>
            <a:ln w="3810">
              <a:solidFill>
                <a:srgbClr val="CADCFC"/>
              </a:solidFill>
              <a:prstDash val="solid"/>
            </a:ln>
          </p:spPr>
        </p:sp>
        <p:sp>
          <p:nvSpPr>
            <p:cNvPr id="75" name="Text 73"/>
            <p:cNvSpPr/>
            <p:nvPr/>
          </p:nvSpPr>
          <p:spPr>
            <a:xfrm>
              <a:off x="6702552" y="4581144"/>
              <a:ext cx="2185416" cy="475488"/>
            </a:xfrm>
            <a:prstGeom prst="rect">
              <a:avLst/>
            </a:prstGeom>
            <a:noFill/>
            <a:ln/>
          </p:spPr>
          <p:txBody>
            <a:bodyPr wrap="square" rtlCol="0" anchor="ctr"/>
            <a:lstStyle/>
            <a:p>
              <a:pPr marL="0" indent="0" algn="ctr">
                <a:buNone/>
              </a:pPr>
              <a:r>
                <a:rPr lang="en-US" sz="1400" dirty="0">
                  <a:solidFill>
                    <a:srgbClr val="3D5A80"/>
                  </a:solidFill>
                  <a:latin typeface="Calibri" pitchFamily="34" charset="0"/>
                  <a:ea typeface="Calibri" pitchFamily="34" charset="-122"/>
                  <a:cs typeface="Calibri" pitchFamily="34" charset="-120"/>
                </a:rPr>
                <a:t>7B+ models, daily use</a:t>
              </a:r>
              <a:endParaRPr lang="en-US" sz="1400" dirty="0"/>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305B0F-2F91-E001-F636-C10D7F04A3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B989BE-4300-6CED-7B69-0AA7FDDE2E7E}"/>
              </a:ext>
            </a:extLst>
          </p:cNvPr>
          <p:cNvSpPr>
            <a:spLocks noGrp="1"/>
          </p:cNvSpPr>
          <p:nvPr>
            <p:ph type="title"/>
          </p:nvPr>
        </p:nvSpPr>
        <p:spPr/>
        <p:txBody>
          <a:bodyPr>
            <a:normAutofit fontScale="90000"/>
          </a:bodyPr>
          <a:lstStyle/>
          <a:p>
            <a:r>
              <a:rPr lang="en-US" b="1" dirty="0">
                <a:solidFill>
                  <a:srgbClr val="1E2761"/>
                </a:solidFill>
                <a:latin typeface="Georgia"/>
              </a:rPr>
              <a:t>Question</a:t>
            </a:r>
          </a:p>
        </p:txBody>
      </p:sp>
      <p:sp>
        <p:nvSpPr>
          <p:cNvPr id="3" name="Text Placeholder 2">
            <a:extLst>
              <a:ext uri="{FF2B5EF4-FFF2-40B4-BE49-F238E27FC236}">
                <a16:creationId xmlns:a16="http://schemas.microsoft.com/office/drawing/2014/main" id="{E33D8978-E1B3-CB6A-FDAF-69CC66E3493F}"/>
              </a:ext>
            </a:extLst>
          </p:cNvPr>
          <p:cNvSpPr>
            <a:spLocks noGrp="1"/>
          </p:cNvSpPr>
          <p:nvPr>
            <p:ph type="body" idx="1"/>
          </p:nvPr>
        </p:nvSpPr>
        <p:spPr/>
        <p:txBody>
          <a:bodyPr/>
          <a:lstStyle/>
          <a:p>
            <a:r>
              <a:rPr lang="en-US" dirty="0">
                <a:solidFill>
                  <a:srgbClr val="1A1F36"/>
                </a:solidFill>
                <a:latin typeface="Calibri"/>
              </a:rPr>
              <a:t>What is the unique advantage of using the </a:t>
            </a:r>
            <a:r>
              <a:rPr lang="en-US" dirty="0" err="1">
                <a:solidFill>
                  <a:srgbClr val="1A1F36"/>
                </a:solidFill>
                <a:latin typeface="Calibri"/>
              </a:rPr>
              <a:t>Huggingface</a:t>
            </a:r>
            <a:r>
              <a:rPr lang="en-US" dirty="0">
                <a:solidFill>
                  <a:srgbClr val="1A1F36"/>
                </a:solidFill>
                <a:latin typeface="Calibri"/>
              </a:rPr>
              <a:t> transformer APIs over other APIs?</a:t>
            </a:r>
          </a:p>
          <a:p>
            <a:endParaRPr lang="en-US" dirty="0">
              <a:solidFill>
                <a:srgbClr val="1A1F36"/>
              </a:solidFill>
              <a:latin typeface="Calibri"/>
            </a:endParaRPr>
          </a:p>
          <a:p>
            <a:pPr lvl="1"/>
            <a:r>
              <a:rPr lang="en-US" dirty="0">
                <a:solidFill>
                  <a:srgbClr val="1A1F36"/>
                </a:solidFill>
                <a:latin typeface="Calibri"/>
              </a:rPr>
              <a:t>Access to free compute.</a:t>
            </a:r>
          </a:p>
          <a:p>
            <a:pPr lvl="1"/>
            <a:r>
              <a:rPr lang="en-US" dirty="0">
                <a:solidFill>
                  <a:srgbClr val="1A1F36"/>
                </a:solidFill>
                <a:latin typeface="Calibri"/>
              </a:rPr>
              <a:t>Access to free models.</a:t>
            </a:r>
          </a:p>
          <a:p>
            <a:pPr lvl="1"/>
            <a:r>
              <a:rPr lang="en-US" dirty="0">
                <a:solidFill>
                  <a:srgbClr val="1A1F36"/>
                </a:solidFill>
                <a:latin typeface="Calibri"/>
              </a:rPr>
              <a:t>Access to open-source models with all the inner functioning.</a:t>
            </a:r>
          </a:p>
          <a:p>
            <a:pPr lvl="1"/>
            <a:r>
              <a:rPr lang="en-US" dirty="0">
                <a:solidFill>
                  <a:srgbClr val="1A1F36"/>
                </a:solidFill>
                <a:latin typeface="Calibri"/>
              </a:rPr>
              <a:t>Ability to run the model on the local machine.</a:t>
            </a:r>
          </a:p>
        </p:txBody>
      </p:sp>
      <p:pic>
        <p:nvPicPr>
          <p:cNvPr id="4" name="Google Shape;328;p29">
            <a:extLst>
              <a:ext uri="{FF2B5EF4-FFF2-40B4-BE49-F238E27FC236}">
                <a16:creationId xmlns:a16="http://schemas.microsoft.com/office/drawing/2014/main" id="{6A943C8A-6A78-626B-486D-52BCB04685B6}"/>
              </a:ext>
            </a:extLst>
          </p:cNvPr>
          <p:cNvPicPr preferRelativeResize="0"/>
          <p:nvPr/>
        </p:nvPicPr>
        <p:blipFill>
          <a:blip r:embed="rId2">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15512000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365760"/>
            <a:ext cx="5486400" cy="594360"/>
          </a:xfrm>
          <a:prstGeom prst="rect">
            <a:avLst/>
          </a:prstGeom>
          <a:noFill/>
          <a:ln/>
        </p:spPr>
        <p:txBody>
          <a:bodyPr wrap="square" lIns="0" tIns="0" rIns="0" bIns="0" rtlCol="0" anchor="ctr"/>
          <a:lstStyle/>
          <a:p>
            <a:pPr marL="0" indent="0">
              <a:buNone/>
            </a:pPr>
            <a:r>
              <a:rPr lang="en-US" sz="3400" b="1" dirty="0">
                <a:solidFill>
                  <a:srgbClr val="1E2761"/>
                </a:solidFill>
                <a:latin typeface="Cambria" pitchFamily="34" charset="0"/>
                <a:ea typeface="Cambria" pitchFamily="34" charset="-122"/>
                <a:cs typeface="Cambria" pitchFamily="34" charset="-120"/>
              </a:rPr>
              <a:t>Answer</a:t>
            </a:r>
            <a:endParaRPr lang="en-US" sz="3400" dirty="0"/>
          </a:p>
        </p:txBody>
      </p:sp>
      <p:grpSp>
        <p:nvGrpSpPr>
          <p:cNvPr id="18" name="Group 17">
            <a:extLst>
              <a:ext uri="{FF2B5EF4-FFF2-40B4-BE49-F238E27FC236}">
                <a16:creationId xmlns:a16="http://schemas.microsoft.com/office/drawing/2014/main" id="{AAB60598-F6DB-4BA2-240A-19EF76D4FF3D}"/>
              </a:ext>
            </a:extLst>
          </p:cNvPr>
          <p:cNvGrpSpPr/>
          <p:nvPr/>
        </p:nvGrpSpPr>
        <p:grpSpPr>
          <a:xfrm>
            <a:off x="566928" y="1042416"/>
            <a:ext cx="6525248" cy="2198872"/>
            <a:chOff x="566928" y="1042416"/>
            <a:chExt cx="8257032" cy="2688336"/>
          </a:xfrm>
        </p:grpSpPr>
        <p:sp>
          <p:nvSpPr>
            <p:cNvPr id="3" name="Shape 1"/>
            <p:cNvSpPr/>
            <p:nvPr/>
          </p:nvSpPr>
          <p:spPr>
            <a:xfrm>
              <a:off x="566928" y="1311678"/>
              <a:ext cx="82296" cy="82296"/>
            </a:xfrm>
            <a:prstGeom prst="ellipse">
              <a:avLst/>
            </a:prstGeom>
            <a:solidFill>
              <a:srgbClr val="1E2761"/>
            </a:solidFill>
            <a:ln/>
          </p:spPr>
        </p:sp>
        <p:sp>
          <p:nvSpPr>
            <p:cNvPr id="4" name="Text 2"/>
            <p:cNvSpPr/>
            <p:nvPr/>
          </p:nvSpPr>
          <p:spPr>
            <a:xfrm>
              <a:off x="822960" y="1042416"/>
              <a:ext cx="8001000" cy="594360"/>
            </a:xfrm>
            <a:prstGeom prst="rect">
              <a:avLst/>
            </a:prstGeom>
            <a:noFill/>
            <a:ln/>
          </p:spPr>
          <p:txBody>
            <a:bodyPr wrap="square" lIns="0" tIns="0" rIns="0" bIns="0" rtlCol="0" anchor="ctr"/>
            <a:lstStyle/>
            <a:p>
              <a:pPr marL="0" indent="0">
                <a:lnSpc>
                  <a:spcPct val="112000"/>
                </a:lnSpc>
                <a:buNone/>
              </a:pPr>
              <a:r>
                <a:rPr lang="en-US" sz="1600" dirty="0">
                  <a:solidFill>
                    <a:srgbClr val="1A1A1A"/>
                  </a:solidFill>
                  <a:latin typeface="Calibri" pitchFamily="34" charset="0"/>
                  <a:ea typeface="Calibri" pitchFamily="34" charset="-122"/>
                  <a:cs typeface="Calibri" pitchFamily="34" charset="-120"/>
                </a:rPr>
                <a:t>What is the unique advantage of using the Huggingface transformer APIs over other APIs?</a:t>
              </a:r>
              <a:endParaRPr lang="en-US" sz="1600" dirty="0"/>
            </a:p>
          </p:txBody>
        </p:sp>
        <p:sp>
          <p:nvSpPr>
            <p:cNvPr id="5" name="Shape 3"/>
            <p:cNvSpPr/>
            <p:nvPr/>
          </p:nvSpPr>
          <p:spPr>
            <a:xfrm>
              <a:off x="1078992" y="1943100"/>
              <a:ext cx="118872" cy="118872"/>
            </a:xfrm>
            <a:prstGeom prst="ellipse">
              <a:avLst/>
            </a:prstGeom>
            <a:ln w="15875">
              <a:solidFill>
                <a:srgbClr val="9A9A9A"/>
              </a:solidFill>
              <a:prstDash val="solid"/>
            </a:ln>
          </p:spPr>
        </p:sp>
        <p:sp>
          <p:nvSpPr>
            <p:cNvPr id="6" name="Text 4"/>
            <p:cNvSpPr/>
            <p:nvPr/>
          </p:nvSpPr>
          <p:spPr>
            <a:xfrm>
              <a:off x="1353312" y="1856232"/>
              <a:ext cx="7040880" cy="338328"/>
            </a:xfrm>
            <a:prstGeom prst="rect">
              <a:avLst/>
            </a:prstGeom>
            <a:noFill/>
            <a:ln/>
          </p:spPr>
          <p:txBody>
            <a:bodyPr wrap="square" lIns="0" tIns="0" rIns="0" bIns="0" rtlCol="0" anchor="ctr"/>
            <a:lstStyle/>
            <a:p>
              <a:pPr marL="0" indent="0">
                <a:buNone/>
              </a:pPr>
              <a:r>
                <a:rPr lang="en-US" sz="1400" dirty="0">
                  <a:solidFill>
                    <a:srgbClr val="1A1A1A"/>
                  </a:solidFill>
                  <a:latin typeface="Calibri" pitchFamily="34" charset="0"/>
                  <a:ea typeface="Calibri" pitchFamily="34" charset="-122"/>
                  <a:cs typeface="Calibri" pitchFamily="34" charset="-120"/>
                </a:rPr>
                <a:t>Access to free compute.</a:t>
              </a:r>
              <a:endParaRPr lang="en-US" sz="1400" dirty="0"/>
            </a:p>
          </p:txBody>
        </p:sp>
        <p:sp>
          <p:nvSpPr>
            <p:cNvPr id="7" name="Shape 5"/>
            <p:cNvSpPr/>
            <p:nvPr/>
          </p:nvSpPr>
          <p:spPr>
            <a:xfrm>
              <a:off x="1078992" y="2455164"/>
              <a:ext cx="118872" cy="118872"/>
            </a:xfrm>
            <a:prstGeom prst="ellipse">
              <a:avLst/>
            </a:prstGeom>
            <a:ln w="15875">
              <a:solidFill>
                <a:srgbClr val="9A9A9A"/>
              </a:solidFill>
              <a:prstDash val="solid"/>
            </a:ln>
          </p:spPr>
        </p:sp>
        <p:sp>
          <p:nvSpPr>
            <p:cNvPr id="8" name="Text 6"/>
            <p:cNvSpPr/>
            <p:nvPr/>
          </p:nvSpPr>
          <p:spPr>
            <a:xfrm>
              <a:off x="1353312" y="2368296"/>
              <a:ext cx="7040880" cy="338328"/>
            </a:xfrm>
            <a:prstGeom prst="rect">
              <a:avLst/>
            </a:prstGeom>
            <a:noFill/>
            <a:ln/>
          </p:spPr>
          <p:txBody>
            <a:bodyPr wrap="square" lIns="0" tIns="0" rIns="0" bIns="0" rtlCol="0" anchor="ctr"/>
            <a:lstStyle/>
            <a:p>
              <a:pPr marL="0" indent="0">
                <a:buNone/>
              </a:pPr>
              <a:r>
                <a:rPr lang="en-US" sz="1400" dirty="0">
                  <a:solidFill>
                    <a:srgbClr val="1A1A1A"/>
                  </a:solidFill>
                  <a:latin typeface="Calibri" pitchFamily="34" charset="0"/>
                  <a:ea typeface="Calibri" pitchFamily="34" charset="-122"/>
                  <a:cs typeface="Calibri" pitchFamily="34" charset="-120"/>
                </a:rPr>
                <a:t>Access to free models.</a:t>
              </a:r>
              <a:endParaRPr lang="en-US" sz="1400" dirty="0"/>
            </a:p>
          </p:txBody>
        </p:sp>
        <p:sp>
          <p:nvSpPr>
            <p:cNvPr id="9" name="Shape 7"/>
            <p:cNvSpPr/>
            <p:nvPr/>
          </p:nvSpPr>
          <p:spPr>
            <a:xfrm>
              <a:off x="960120" y="2843784"/>
              <a:ext cx="7589520" cy="384048"/>
            </a:xfrm>
            <a:prstGeom prst="roundRect">
              <a:avLst>
                <a:gd name="adj" fmla="val 9524"/>
              </a:avLst>
            </a:prstGeom>
            <a:solidFill>
              <a:srgbClr val="E8F5EC"/>
            </a:solidFill>
            <a:ln w="12700">
              <a:solidFill>
                <a:srgbClr val="1E7B45"/>
              </a:solidFill>
              <a:prstDash val="solid"/>
            </a:ln>
          </p:spPr>
        </p:sp>
        <p:sp>
          <p:nvSpPr>
            <p:cNvPr id="10" name="Shape 8"/>
            <p:cNvSpPr/>
            <p:nvPr/>
          </p:nvSpPr>
          <p:spPr>
            <a:xfrm>
              <a:off x="1078992" y="2967228"/>
              <a:ext cx="118872" cy="118872"/>
            </a:xfrm>
            <a:prstGeom prst="ellipse">
              <a:avLst/>
            </a:prstGeom>
            <a:solidFill>
              <a:srgbClr val="1E7B45"/>
            </a:solidFill>
            <a:ln w="15875">
              <a:solidFill>
                <a:srgbClr val="1E7B45"/>
              </a:solidFill>
              <a:prstDash val="solid"/>
            </a:ln>
          </p:spPr>
        </p:sp>
        <p:sp>
          <p:nvSpPr>
            <p:cNvPr id="11" name="Text 9"/>
            <p:cNvSpPr/>
            <p:nvPr/>
          </p:nvSpPr>
          <p:spPr>
            <a:xfrm>
              <a:off x="1353312" y="2880360"/>
              <a:ext cx="7040880" cy="338328"/>
            </a:xfrm>
            <a:prstGeom prst="rect">
              <a:avLst/>
            </a:prstGeom>
            <a:noFill/>
            <a:ln/>
          </p:spPr>
          <p:txBody>
            <a:bodyPr wrap="square" lIns="0" tIns="0" rIns="0" bIns="0" rtlCol="0" anchor="ctr"/>
            <a:lstStyle/>
            <a:p>
              <a:pPr marL="0" indent="0">
                <a:buNone/>
              </a:pPr>
              <a:r>
                <a:rPr lang="en-US" sz="1400" b="1" dirty="0">
                  <a:solidFill>
                    <a:srgbClr val="1E7B45"/>
                  </a:solidFill>
                  <a:latin typeface="Calibri" pitchFamily="34" charset="0"/>
                  <a:ea typeface="Calibri" pitchFamily="34" charset="-122"/>
                  <a:cs typeface="Calibri" pitchFamily="34" charset="-120"/>
                </a:rPr>
                <a:t>Access to open-source models with all the inner functioning.</a:t>
              </a:r>
              <a:endParaRPr lang="en-US" sz="1400" dirty="0"/>
            </a:p>
          </p:txBody>
        </p:sp>
        <p:sp>
          <p:nvSpPr>
            <p:cNvPr id="12" name="Text 10"/>
            <p:cNvSpPr/>
            <p:nvPr/>
          </p:nvSpPr>
          <p:spPr>
            <a:xfrm>
              <a:off x="8150399" y="2880359"/>
              <a:ext cx="320041" cy="338328"/>
            </a:xfrm>
            <a:prstGeom prst="rect">
              <a:avLst/>
            </a:prstGeom>
            <a:noFill/>
            <a:ln/>
          </p:spPr>
          <p:txBody>
            <a:bodyPr wrap="square" lIns="0" tIns="0" rIns="0" bIns="0" rtlCol="0" anchor="ctr"/>
            <a:lstStyle/>
            <a:p>
              <a:pPr marL="0" indent="0" algn="ctr">
                <a:buNone/>
              </a:pPr>
              <a:r>
                <a:rPr lang="en-US" sz="1400" b="1" dirty="0">
                  <a:solidFill>
                    <a:srgbClr val="1E7B45"/>
                  </a:solidFill>
                  <a:latin typeface="Arial" pitchFamily="34" charset="0"/>
                  <a:ea typeface="Arial" pitchFamily="34" charset="-122"/>
                  <a:cs typeface="Arial" pitchFamily="34" charset="-120"/>
                </a:rPr>
                <a:t>✓</a:t>
              </a:r>
              <a:endParaRPr lang="en-US" sz="1400" dirty="0"/>
            </a:p>
          </p:txBody>
        </p:sp>
        <p:sp>
          <p:nvSpPr>
            <p:cNvPr id="13" name="Shape 11"/>
            <p:cNvSpPr/>
            <p:nvPr/>
          </p:nvSpPr>
          <p:spPr>
            <a:xfrm>
              <a:off x="1078992" y="3479292"/>
              <a:ext cx="118872" cy="118872"/>
            </a:xfrm>
            <a:prstGeom prst="ellipse">
              <a:avLst/>
            </a:prstGeom>
            <a:ln w="15875">
              <a:solidFill>
                <a:srgbClr val="9A9A9A"/>
              </a:solidFill>
              <a:prstDash val="solid"/>
            </a:ln>
          </p:spPr>
        </p:sp>
        <p:sp>
          <p:nvSpPr>
            <p:cNvPr id="14" name="Text 12"/>
            <p:cNvSpPr/>
            <p:nvPr/>
          </p:nvSpPr>
          <p:spPr>
            <a:xfrm>
              <a:off x="1353312" y="3392424"/>
              <a:ext cx="7040880" cy="338328"/>
            </a:xfrm>
            <a:prstGeom prst="rect">
              <a:avLst/>
            </a:prstGeom>
            <a:noFill/>
            <a:ln/>
          </p:spPr>
          <p:txBody>
            <a:bodyPr wrap="square" lIns="0" tIns="0" rIns="0" bIns="0" rtlCol="0" anchor="ctr"/>
            <a:lstStyle/>
            <a:p>
              <a:pPr marL="0" indent="0">
                <a:buNone/>
              </a:pPr>
              <a:r>
                <a:rPr lang="en-US" sz="1400" dirty="0">
                  <a:solidFill>
                    <a:srgbClr val="1A1A1A"/>
                  </a:solidFill>
                  <a:latin typeface="Calibri" pitchFamily="34" charset="0"/>
                  <a:ea typeface="Calibri" pitchFamily="34" charset="-122"/>
                  <a:cs typeface="Calibri" pitchFamily="34" charset="-120"/>
                </a:rPr>
                <a:t>Ability to run the model on the local machine.</a:t>
              </a:r>
              <a:endParaRPr lang="en-US" sz="1400" dirty="0"/>
            </a:p>
          </p:txBody>
        </p:sp>
      </p:grpSp>
      <p:grpSp>
        <p:nvGrpSpPr>
          <p:cNvPr id="19" name="Group 18">
            <a:extLst>
              <a:ext uri="{FF2B5EF4-FFF2-40B4-BE49-F238E27FC236}">
                <a16:creationId xmlns:a16="http://schemas.microsoft.com/office/drawing/2014/main" id="{26039275-F946-85CE-5905-934737D76906}"/>
              </a:ext>
            </a:extLst>
          </p:cNvPr>
          <p:cNvGrpSpPr/>
          <p:nvPr/>
        </p:nvGrpSpPr>
        <p:grpSpPr>
          <a:xfrm>
            <a:off x="469470" y="3390865"/>
            <a:ext cx="7589520" cy="1417320"/>
            <a:chOff x="960120" y="4059936"/>
            <a:chExt cx="7589520" cy="1417320"/>
          </a:xfrm>
        </p:grpSpPr>
        <p:sp>
          <p:nvSpPr>
            <p:cNvPr id="15" name="Shape 13"/>
            <p:cNvSpPr/>
            <p:nvPr/>
          </p:nvSpPr>
          <p:spPr>
            <a:xfrm>
              <a:off x="960120" y="4059936"/>
              <a:ext cx="7589520" cy="1417320"/>
            </a:xfrm>
            <a:prstGeom prst="roundRect">
              <a:avLst>
                <a:gd name="adj" fmla="val 3226"/>
              </a:avLst>
            </a:prstGeom>
            <a:solidFill>
              <a:srgbClr val="F4F6FB"/>
            </a:solidFill>
            <a:ln w="12700">
              <a:solidFill>
                <a:srgbClr val="D6DCEC"/>
              </a:solidFill>
              <a:prstDash val="solid"/>
            </a:ln>
          </p:spPr>
        </p:sp>
        <p:sp>
          <p:nvSpPr>
            <p:cNvPr id="16" name="Text 14"/>
            <p:cNvSpPr/>
            <p:nvPr/>
          </p:nvSpPr>
          <p:spPr>
            <a:xfrm>
              <a:off x="1188720" y="4197096"/>
              <a:ext cx="1828800" cy="29260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Why</a:t>
              </a:r>
              <a:endParaRPr lang="en-US" sz="1300" dirty="0"/>
            </a:p>
          </p:txBody>
        </p:sp>
        <p:sp>
          <p:nvSpPr>
            <p:cNvPr id="17" name="Text 15"/>
            <p:cNvSpPr/>
            <p:nvPr/>
          </p:nvSpPr>
          <p:spPr>
            <a:xfrm>
              <a:off x="1188720" y="4517136"/>
              <a:ext cx="7132320" cy="868680"/>
            </a:xfrm>
            <a:prstGeom prst="rect">
              <a:avLst/>
            </a:prstGeom>
            <a:noFill/>
            <a:ln/>
          </p:spPr>
          <p:txBody>
            <a:bodyPr wrap="square" lIns="0" tIns="0" rIns="0" bIns="0" rtlCol="0" anchor="t"/>
            <a:lstStyle/>
            <a:p>
              <a:pPr marL="0" indent="0">
                <a:lnSpc>
                  <a:spcPct val="115000"/>
                </a:lnSpc>
                <a:buNone/>
              </a:pPr>
              <a:r>
                <a:rPr lang="en-US" sz="1200" dirty="0">
                  <a:solidFill>
                    <a:srgbClr val="2B2B2B"/>
                  </a:solidFill>
                  <a:latin typeface="Calibri" pitchFamily="34" charset="0"/>
                  <a:ea typeface="Calibri" pitchFamily="34" charset="-122"/>
                  <a:cs typeface="Calibri" pitchFamily="34" charset="-120"/>
                </a:rPr>
                <a:t>Hosted APIs like OpenAI's give you only black-box access — a prompt in, a completion out, with no visibility into weights or architecture. The Huggingface </a:t>
              </a:r>
              <a:r>
                <a:rPr lang="en-US" sz="1200" dirty="0">
                  <a:solidFill>
                    <a:srgbClr val="1E2761"/>
                  </a:solidFill>
                  <a:latin typeface="Courier New" pitchFamily="34" charset="0"/>
                  <a:ea typeface="Courier New" pitchFamily="34" charset="-122"/>
                  <a:cs typeface="Courier New" pitchFamily="34" charset="-120"/>
                </a:rPr>
                <a:t>transformers</a:t>
              </a:r>
              <a:r>
                <a:rPr lang="en-US" sz="1200" dirty="0">
                  <a:solidFill>
                    <a:srgbClr val="2B2B2B"/>
                  </a:solidFill>
                  <a:latin typeface="Calibri" pitchFamily="34" charset="0"/>
                  <a:ea typeface="Calibri" pitchFamily="34" charset="-122"/>
                  <a:cs typeface="Calibri" pitchFamily="34" charset="-120"/>
                </a:rPr>
                <a:t> library instead loads actual open-source model checkpoints, so you can inspect layers, attention maps, hidden states, and modify or fine-tune the model directly — free compute, free models, and local execution are side benefits of this, not the distinguishing feature itself.</a:t>
              </a:r>
              <a:endParaRPr lang="en-US" sz="1200" dirty="0"/>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8B6B47CC-2A8B-469F-D85D-06F1C625AA7D}"/>
            </a:ext>
          </a:extLst>
        </p:cNvPr>
        <p:cNvGrpSpPr/>
        <p:nvPr/>
      </p:nvGrpSpPr>
      <p:grpSpPr>
        <a:xfrm>
          <a:off x="0" y="0"/>
          <a:ext cx="0" cy="0"/>
          <a:chOff x="0" y="0"/>
          <a:chExt cx="0" cy="0"/>
        </a:xfrm>
      </p:grpSpPr>
      <p:pic>
        <p:nvPicPr>
          <p:cNvPr id="109" name="Google Shape;109;p20">
            <a:extLst>
              <a:ext uri="{FF2B5EF4-FFF2-40B4-BE49-F238E27FC236}">
                <a16:creationId xmlns:a16="http://schemas.microsoft.com/office/drawing/2014/main" id="{41FDD4E1-2B4E-4933-38F2-D45B59434F87}"/>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
        <p:nvSpPr>
          <p:cNvPr id="110" name="Google Shape;110;p20">
            <a:extLst>
              <a:ext uri="{FF2B5EF4-FFF2-40B4-BE49-F238E27FC236}">
                <a16:creationId xmlns:a16="http://schemas.microsoft.com/office/drawing/2014/main" id="{B70EC258-028E-7E03-49BA-7819EE1D7DF2}"/>
              </a:ext>
            </a:extLst>
          </p:cNvPr>
          <p:cNvSpPr txBox="1">
            <a:spLocks noGrp="1"/>
          </p:cNvSpPr>
          <p:nvPr>
            <p:ph type="ctrTitle" idx="4294967295"/>
          </p:nvPr>
        </p:nvSpPr>
        <p:spPr>
          <a:xfrm>
            <a:off x="502602" y="1611648"/>
            <a:ext cx="7772400" cy="8673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C00000"/>
              </a:buClr>
              <a:buSzPts val="4400"/>
              <a:buFont typeface="Calibri"/>
              <a:buNone/>
            </a:pPr>
            <a:r>
              <a:rPr lang="en" sz="4000" b="1" dirty="0">
                <a:sym typeface="Calibri"/>
              </a:rPr>
              <a:t>Prompting APIs </a:t>
            </a:r>
            <a:endParaRPr sz="4000" dirty="0">
              <a:latin typeface="Calibri"/>
              <a:ea typeface="Calibri"/>
              <a:cs typeface="Calibri"/>
              <a:sym typeface="Calibri"/>
            </a:endParaRPr>
          </a:p>
        </p:txBody>
      </p:sp>
      <p:sp>
        <p:nvSpPr>
          <p:cNvPr id="2" name="TextBox 1">
            <a:extLst>
              <a:ext uri="{FF2B5EF4-FFF2-40B4-BE49-F238E27FC236}">
                <a16:creationId xmlns:a16="http://schemas.microsoft.com/office/drawing/2014/main" id="{4FD222AF-7954-325D-5ADF-7EA69D383AAC}"/>
              </a:ext>
            </a:extLst>
          </p:cNvPr>
          <p:cNvSpPr txBox="1"/>
          <p:nvPr/>
        </p:nvSpPr>
        <p:spPr>
          <a:xfrm>
            <a:off x="2500746" y="2734306"/>
            <a:ext cx="4597540" cy="400110"/>
          </a:xfrm>
          <a:prstGeom prst="rect">
            <a:avLst/>
          </a:prstGeom>
          <a:noFill/>
        </p:spPr>
        <p:txBody>
          <a:bodyPr wrap="square" rtlCol="0">
            <a:spAutoFit/>
          </a:bodyPr>
          <a:lstStyle/>
          <a:p>
            <a:r>
              <a:rPr lang="en-US" sz="2000" dirty="0">
                <a:solidFill>
                  <a:srgbClr val="1A1F36"/>
                </a:solidFill>
                <a:latin typeface="Calibri"/>
              </a:rPr>
              <a:t>Example Applications</a:t>
            </a:r>
          </a:p>
        </p:txBody>
      </p:sp>
    </p:spTree>
    <p:extLst>
      <p:ext uri="{BB962C8B-B14F-4D97-AF65-F5344CB8AC3E}">
        <p14:creationId xmlns:p14="http://schemas.microsoft.com/office/powerpoint/2010/main" val="19730222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1087" y="382673"/>
            <a:ext cx="6361302" cy="452502"/>
          </a:xfrm>
          <a:prstGeom prst="rect">
            <a:avLst/>
          </a:prstGeom>
        </p:spPr>
        <p:txBody>
          <a:bodyPr spcFirstLastPara="1" vert="horz" wrap="square" lIns="0" tIns="8706" rIns="0" bIns="0" rtlCol="0" anchor="ctr" anchorCtr="0">
            <a:spAutoFit/>
          </a:bodyPr>
          <a:lstStyle/>
          <a:p>
            <a:pPr marL="6697">
              <a:spcBef>
                <a:spcPts val="69"/>
              </a:spcBef>
            </a:pPr>
            <a:r>
              <a:rPr b="1" spc="-42" dirty="0">
                <a:solidFill>
                  <a:srgbClr val="1E2761"/>
                </a:solidFill>
                <a:latin typeface="Georgia"/>
              </a:rPr>
              <a:t>Designing</a:t>
            </a:r>
            <a:r>
              <a:rPr b="1" spc="-182" dirty="0">
                <a:solidFill>
                  <a:srgbClr val="1E2761"/>
                </a:solidFill>
                <a:latin typeface="Georgia"/>
              </a:rPr>
              <a:t> </a:t>
            </a:r>
            <a:r>
              <a:rPr b="1" spc="-42" dirty="0">
                <a:solidFill>
                  <a:srgbClr val="1E2761"/>
                </a:solidFill>
                <a:latin typeface="Georgia"/>
              </a:rPr>
              <a:t>Prompts</a:t>
            </a:r>
            <a:r>
              <a:rPr b="1" spc="-174" dirty="0">
                <a:solidFill>
                  <a:srgbClr val="1E2761"/>
                </a:solidFill>
                <a:latin typeface="Georgia"/>
              </a:rPr>
              <a:t> </a:t>
            </a:r>
            <a:r>
              <a:rPr b="1" dirty="0">
                <a:solidFill>
                  <a:srgbClr val="1E2761"/>
                </a:solidFill>
                <a:latin typeface="Georgia"/>
              </a:rPr>
              <a:t>for</a:t>
            </a:r>
            <a:r>
              <a:rPr b="1" spc="-134" dirty="0">
                <a:solidFill>
                  <a:srgbClr val="1E2761"/>
                </a:solidFill>
                <a:latin typeface="Georgia"/>
              </a:rPr>
              <a:t> </a:t>
            </a:r>
            <a:r>
              <a:rPr b="1" spc="-37" dirty="0">
                <a:solidFill>
                  <a:srgbClr val="1E2761"/>
                </a:solidFill>
                <a:latin typeface="Georgia"/>
              </a:rPr>
              <a:t>Different</a:t>
            </a:r>
            <a:r>
              <a:rPr b="1" spc="-245" dirty="0">
                <a:solidFill>
                  <a:srgbClr val="1E2761"/>
                </a:solidFill>
                <a:latin typeface="Georgia"/>
              </a:rPr>
              <a:t> </a:t>
            </a:r>
            <a:r>
              <a:rPr b="1" spc="-5" dirty="0">
                <a:solidFill>
                  <a:srgbClr val="1E2761"/>
                </a:solidFill>
                <a:latin typeface="Georgia"/>
              </a:rPr>
              <a:t>Tasks</a:t>
            </a:r>
          </a:p>
        </p:txBody>
      </p:sp>
      <p:sp>
        <p:nvSpPr>
          <p:cNvPr id="3" name="object 3"/>
          <p:cNvSpPr txBox="1"/>
          <p:nvPr/>
        </p:nvSpPr>
        <p:spPr>
          <a:xfrm>
            <a:off x="1086076" y="1382903"/>
            <a:ext cx="5686313" cy="2687181"/>
          </a:xfrm>
          <a:prstGeom prst="rect">
            <a:avLst/>
          </a:prstGeom>
        </p:spPr>
        <p:txBody>
          <a:bodyPr vert="horz" wrap="square" lIns="0" tIns="43532" rIns="0" bIns="0" rtlCol="0">
            <a:spAutoFit/>
          </a:bodyPr>
          <a:lstStyle/>
          <a:p>
            <a:pPr marL="237733" marR="2679" indent="-231371">
              <a:lnSpc>
                <a:spcPts val="1861"/>
              </a:lnSpc>
              <a:spcBef>
                <a:spcPts val="343"/>
              </a:spcBef>
              <a:buClr>
                <a:srgbClr val="7570FF"/>
              </a:buClr>
              <a:buChar char="•"/>
              <a:tabLst>
                <a:tab pos="237733" algn="l"/>
              </a:tabLst>
            </a:pPr>
            <a:r>
              <a:rPr sz="1766" dirty="0">
                <a:solidFill>
                  <a:srgbClr val="1A1F36"/>
                </a:solidFill>
                <a:latin typeface="Calibri"/>
              </a:rPr>
              <a:t>In</a:t>
            </a:r>
            <a:r>
              <a:rPr sz="1766" spc="26" dirty="0">
                <a:solidFill>
                  <a:srgbClr val="1A1F36"/>
                </a:solidFill>
                <a:latin typeface="Calibri"/>
              </a:rPr>
              <a:t> </a:t>
            </a:r>
            <a:r>
              <a:rPr sz="1766" dirty="0">
                <a:solidFill>
                  <a:srgbClr val="1A1F36"/>
                </a:solidFill>
                <a:latin typeface="Calibri"/>
              </a:rPr>
              <a:t>the</a:t>
            </a:r>
            <a:r>
              <a:rPr sz="1766" spc="29" dirty="0">
                <a:solidFill>
                  <a:srgbClr val="1A1F36"/>
                </a:solidFill>
                <a:latin typeface="Calibri"/>
              </a:rPr>
              <a:t> </a:t>
            </a:r>
            <a:r>
              <a:rPr sz="1766" dirty="0">
                <a:solidFill>
                  <a:srgbClr val="1A1F36"/>
                </a:solidFill>
                <a:latin typeface="Calibri"/>
              </a:rPr>
              <a:t>next</a:t>
            </a:r>
            <a:r>
              <a:rPr sz="1766" spc="58" dirty="0">
                <a:solidFill>
                  <a:srgbClr val="1A1F36"/>
                </a:solidFill>
                <a:latin typeface="Calibri"/>
              </a:rPr>
              <a:t> </a:t>
            </a:r>
            <a:r>
              <a:rPr sz="1766" dirty="0">
                <a:solidFill>
                  <a:srgbClr val="1A1F36"/>
                </a:solidFill>
                <a:latin typeface="Calibri"/>
              </a:rPr>
              <a:t>few</a:t>
            </a:r>
            <a:r>
              <a:rPr sz="1766" spc="11" dirty="0">
                <a:solidFill>
                  <a:srgbClr val="1A1F36"/>
                </a:solidFill>
                <a:latin typeface="Calibri"/>
              </a:rPr>
              <a:t> </a:t>
            </a:r>
            <a:r>
              <a:rPr sz="1766" dirty="0">
                <a:solidFill>
                  <a:srgbClr val="1A1F36"/>
                </a:solidFill>
                <a:latin typeface="Calibri"/>
              </a:rPr>
              <a:t>slides,</a:t>
            </a:r>
            <a:r>
              <a:rPr sz="1766" spc="18" dirty="0">
                <a:solidFill>
                  <a:srgbClr val="1A1F36"/>
                </a:solidFill>
                <a:latin typeface="Calibri"/>
              </a:rPr>
              <a:t> </a:t>
            </a:r>
            <a:r>
              <a:rPr sz="1766" dirty="0">
                <a:solidFill>
                  <a:srgbClr val="1A1F36"/>
                </a:solidFill>
                <a:latin typeface="Calibri"/>
              </a:rPr>
              <a:t>we</a:t>
            </a:r>
            <a:r>
              <a:rPr sz="1766" spc="32" dirty="0">
                <a:solidFill>
                  <a:srgbClr val="1A1F36"/>
                </a:solidFill>
                <a:latin typeface="Calibri"/>
              </a:rPr>
              <a:t> </a:t>
            </a:r>
            <a:r>
              <a:rPr sz="1766" dirty="0">
                <a:solidFill>
                  <a:srgbClr val="1A1F36"/>
                </a:solidFill>
                <a:latin typeface="Calibri"/>
              </a:rPr>
              <a:t>will</a:t>
            </a:r>
            <a:r>
              <a:rPr sz="1766" spc="-8" dirty="0">
                <a:solidFill>
                  <a:srgbClr val="1A1F36"/>
                </a:solidFill>
                <a:latin typeface="Calibri"/>
              </a:rPr>
              <a:t> </a:t>
            </a:r>
            <a:r>
              <a:rPr sz="1766" dirty="0">
                <a:solidFill>
                  <a:srgbClr val="1A1F36"/>
                </a:solidFill>
                <a:latin typeface="Calibri"/>
              </a:rPr>
              <a:t>cover</a:t>
            </a:r>
            <a:r>
              <a:rPr sz="1766" spc="42" dirty="0">
                <a:solidFill>
                  <a:srgbClr val="1A1F36"/>
                </a:solidFill>
                <a:latin typeface="Calibri"/>
              </a:rPr>
              <a:t> </a:t>
            </a:r>
            <a:r>
              <a:rPr sz="1766" dirty="0">
                <a:solidFill>
                  <a:srgbClr val="1A1F36"/>
                </a:solidFill>
                <a:latin typeface="Calibri"/>
              </a:rPr>
              <a:t>a</a:t>
            </a:r>
            <a:r>
              <a:rPr sz="1766" spc="-8" dirty="0">
                <a:solidFill>
                  <a:srgbClr val="1A1F36"/>
                </a:solidFill>
                <a:latin typeface="Calibri"/>
              </a:rPr>
              <a:t> </a:t>
            </a:r>
            <a:r>
              <a:rPr sz="1766" dirty="0">
                <a:solidFill>
                  <a:srgbClr val="1A1F36"/>
                </a:solidFill>
                <a:latin typeface="Calibri"/>
              </a:rPr>
              <a:t>few</a:t>
            </a:r>
            <a:r>
              <a:rPr sz="1766" spc="47" dirty="0">
                <a:solidFill>
                  <a:srgbClr val="1A1F36"/>
                </a:solidFill>
                <a:latin typeface="Calibri"/>
              </a:rPr>
              <a:t> </a:t>
            </a:r>
            <a:r>
              <a:rPr sz="1766" dirty="0">
                <a:solidFill>
                  <a:srgbClr val="1A1F36"/>
                </a:solidFill>
                <a:latin typeface="Calibri"/>
              </a:rPr>
              <a:t>examples</a:t>
            </a:r>
            <a:r>
              <a:rPr sz="1766" spc="60" dirty="0">
                <a:solidFill>
                  <a:srgbClr val="1A1F36"/>
                </a:solidFill>
                <a:latin typeface="Calibri"/>
              </a:rPr>
              <a:t> </a:t>
            </a:r>
            <a:r>
              <a:rPr sz="1766" spc="-13" dirty="0">
                <a:solidFill>
                  <a:srgbClr val="1A1F36"/>
                </a:solidFill>
                <a:latin typeface="Calibri"/>
              </a:rPr>
              <a:t>of </a:t>
            </a:r>
            <a:r>
              <a:rPr sz="1766" dirty="0">
                <a:solidFill>
                  <a:srgbClr val="1A1F36"/>
                </a:solidFill>
                <a:latin typeface="Calibri"/>
              </a:rPr>
              <a:t>common</a:t>
            </a:r>
            <a:r>
              <a:rPr sz="1766" spc="18" dirty="0">
                <a:solidFill>
                  <a:srgbClr val="1A1F36"/>
                </a:solidFill>
                <a:latin typeface="Calibri"/>
              </a:rPr>
              <a:t> </a:t>
            </a:r>
            <a:r>
              <a:rPr sz="1766" dirty="0">
                <a:solidFill>
                  <a:srgbClr val="1A1F36"/>
                </a:solidFill>
                <a:latin typeface="Calibri"/>
              </a:rPr>
              <a:t>tasks</a:t>
            </a:r>
            <a:r>
              <a:rPr sz="1766" spc="42" dirty="0">
                <a:solidFill>
                  <a:srgbClr val="1A1F36"/>
                </a:solidFill>
                <a:latin typeface="Calibri"/>
              </a:rPr>
              <a:t> </a:t>
            </a:r>
            <a:r>
              <a:rPr sz="1766" dirty="0">
                <a:solidFill>
                  <a:srgbClr val="1A1F36"/>
                </a:solidFill>
                <a:latin typeface="Calibri"/>
              </a:rPr>
              <a:t>using</a:t>
            </a:r>
            <a:r>
              <a:rPr sz="1766" spc="63" dirty="0">
                <a:solidFill>
                  <a:srgbClr val="1A1F36"/>
                </a:solidFill>
                <a:latin typeface="Calibri"/>
              </a:rPr>
              <a:t> </a:t>
            </a:r>
            <a:r>
              <a:rPr sz="1766" dirty="0">
                <a:solidFill>
                  <a:srgbClr val="1A1F36"/>
                </a:solidFill>
                <a:latin typeface="Calibri"/>
              </a:rPr>
              <a:t>different</a:t>
            </a:r>
            <a:r>
              <a:rPr sz="1766" spc="34" dirty="0">
                <a:solidFill>
                  <a:srgbClr val="1A1F36"/>
                </a:solidFill>
                <a:latin typeface="Calibri"/>
              </a:rPr>
              <a:t> </a:t>
            </a:r>
            <a:r>
              <a:rPr sz="1766" spc="-5" dirty="0">
                <a:solidFill>
                  <a:srgbClr val="1A1F36"/>
                </a:solidFill>
                <a:latin typeface="Calibri"/>
              </a:rPr>
              <a:t>prompts</a:t>
            </a:r>
            <a:endParaRPr sz="1766" dirty="0"/>
          </a:p>
          <a:p>
            <a:pPr marL="237733" indent="-231036">
              <a:spcBef>
                <a:spcPts val="870"/>
              </a:spcBef>
              <a:buClr>
                <a:srgbClr val="7570FF"/>
              </a:buClr>
              <a:buChar char="•"/>
              <a:tabLst>
                <a:tab pos="237733" algn="l"/>
              </a:tabLst>
            </a:pPr>
            <a:r>
              <a:rPr sz="1766" spc="-16" dirty="0">
                <a:solidFill>
                  <a:srgbClr val="1A1F36"/>
                </a:solidFill>
                <a:latin typeface="Calibri"/>
              </a:rPr>
              <a:t>Tasks</a:t>
            </a:r>
            <a:r>
              <a:rPr sz="1766" spc="-105" dirty="0">
                <a:solidFill>
                  <a:srgbClr val="1A1F36"/>
                </a:solidFill>
                <a:latin typeface="Calibri"/>
              </a:rPr>
              <a:t> </a:t>
            </a:r>
            <a:r>
              <a:rPr sz="1766" spc="-5" dirty="0">
                <a:solidFill>
                  <a:srgbClr val="1A1F36"/>
                </a:solidFill>
                <a:latin typeface="Calibri"/>
              </a:rPr>
              <a:t>covered:</a:t>
            </a:r>
            <a:endParaRPr sz="1766" dirty="0"/>
          </a:p>
          <a:p>
            <a:pPr marL="468770" lvl="1" indent="-220991">
              <a:spcBef>
                <a:spcPts val="838"/>
              </a:spcBef>
              <a:buClr>
                <a:srgbClr val="7570FF"/>
              </a:buClr>
              <a:buSzPct val="121666"/>
              <a:buChar char="•"/>
              <a:tabLst>
                <a:tab pos="468770" algn="l"/>
              </a:tabLst>
            </a:pPr>
            <a:r>
              <a:rPr lang="en-IN" sz="1582" dirty="0">
                <a:solidFill>
                  <a:srgbClr val="1A1F36"/>
                </a:solidFill>
                <a:latin typeface="Calibri"/>
              </a:rPr>
              <a:t>Question</a:t>
            </a:r>
            <a:r>
              <a:rPr lang="en-IN" sz="1582" spc="-108" dirty="0">
                <a:solidFill>
                  <a:srgbClr val="1A1F36"/>
                </a:solidFill>
                <a:latin typeface="Calibri"/>
              </a:rPr>
              <a:t> </a:t>
            </a:r>
            <a:r>
              <a:rPr lang="en-IN" sz="1582" spc="-5" dirty="0">
                <a:solidFill>
                  <a:srgbClr val="1A1F36"/>
                </a:solidFill>
                <a:latin typeface="Calibri"/>
              </a:rPr>
              <a:t>Answering </a:t>
            </a:r>
          </a:p>
          <a:p>
            <a:pPr marL="468770" lvl="1" indent="-220991">
              <a:spcBef>
                <a:spcPts val="838"/>
              </a:spcBef>
              <a:buClr>
                <a:srgbClr val="7570FF"/>
              </a:buClr>
              <a:buSzPct val="121666"/>
              <a:buChar char="•"/>
              <a:tabLst>
                <a:tab pos="468770" algn="l"/>
              </a:tabLst>
            </a:pPr>
            <a:r>
              <a:rPr sz="1582" spc="-37" dirty="0">
                <a:solidFill>
                  <a:srgbClr val="1A1F36"/>
                </a:solidFill>
                <a:latin typeface="Calibri"/>
              </a:rPr>
              <a:t>Text</a:t>
            </a:r>
            <a:r>
              <a:rPr sz="1582" spc="-69" dirty="0">
                <a:solidFill>
                  <a:srgbClr val="1A1F36"/>
                </a:solidFill>
                <a:latin typeface="Calibri"/>
              </a:rPr>
              <a:t> </a:t>
            </a:r>
            <a:r>
              <a:rPr sz="1582" spc="-5" dirty="0">
                <a:solidFill>
                  <a:srgbClr val="1A1F36"/>
                </a:solidFill>
                <a:latin typeface="Calibri"/>
              </a:rPr>
              <a:t>Summarization</a:t>
            </a:r>
            <a:endParaRPr sz="1582" dirty="0"/>
          </a:p>
          <a:p>
            <a:pPr marL="468770" lvl="1" indent="-220991">
              <a:spcBef>
                <a:spcPts val="912"/>
              </a:spcBef>
              <a:buClr>
                <a:srgbClr val="7570FF"/>
              </a:buClr>
              <a:buSzPct val="121666"/>
              <a:buChar char="•"/>
              <a:tabLst>
                <a:tab pos="468770" algn="l"/>
              </a:tabLst>
            </a:pPr>
            <a:r>
              <a:rPr sz="1582" spc="-37" dirty="0">
                <a:solidFill>
                  <a:srgbClr val="1A1F36"/>
                </a:solidFill>
                <a:latin typeface="Calibri"/>
              </a:rPr>
              <a:t>Text</a:t>
            </a:r>
            <a:r>
              <a:rPr sz="1582" spc="-69" dirty="0">
                <a:solidFill>
                  <a:srgbClr val="1A1F36"/>
                </a:solidFill>
                <a:latin typeface="Calibri"/>
              </a:rPr>
              <a:t> </a:t>
            </a:r>
            <a:r>
              <a:rPr sz="1582" spc="-5" dirty="0">
                <a:solidFill>
                  <a:srgbClr val="1A1F36"/>
                </a:solidFill>
                <a:latin typeface="Calibri"/>
              </a:rPr>
              <a:t>Classification</a:t>
            </a:r>
            <a:endParaRPr sz="1582" dirty="0"/>
          </a:p>
          <a:p>
            <a:pPr marL="468770" lvl="1" indent="-220991">
              <a:spcBef>
                <a:spcPts val="912"/>
              </a:spcBef>
              <a:buClr>
                <a:srgbClr val="7570FF"/>
              </a:buClr>
              <a:buSzPct val="121666"/>
              <a:buChar char="•"/>
              <a:tabLst>
                <a:tab pos="468770" algn="l"/>
              </a:tabLst>
            </a:pPr>
            <a:r>
              <a:rPr sz="1582" dirty="0">
                <a:solidFill>
                  <a:srgbClr val="1A1F36"/>
                </a:solidFill>
                <a:latin typeface="Calibri"/>
              </a:rPr>
              <a:t>Code</a:t>
            </a:r>
            <a:r>
              <a:rPr sz="1582" spc="-37" dirty="0">
                <a:solidFill>
                  <a:srgbClr val="1A1F36"/>
                </a:solidFill>
                <a:latin typeface="Calibri"/>
              </a:rPr>
              <a:t> </a:t>
            </a:r>
            <a:r>
              <a:rPr sz="1582" spc="-5" dirty="0">
                <a:solidFill>
                  <a:srgbClr val="1A1F36"/>
                </a:solidFill>
                <a:latin typeface="Calibri"/>
              </a:rPr>
              <a:t>Generation</a:t>
            </a:r>
            <a:endParaRPr sz="1582" dirty="0"/>
          </a:p>
          <a:p>
            <a:pPr marL="468770" lvl="1" indent="-220991">
              <a:spcBef>
                <a:spcPts val="912"/>
              </a:spcBef>
              <a:buClr>
                <a:srgbClr val="7570FF"/>
              </a:buClr>
              <a:buSzPct val="121666"/>
              <a:buChar char="•"/>
              <a:tabLst>
                <a:tab pos="468770" algn="l"/>
              </a:tabLst>
            </a:pPr>
            <a:r>
              <a:rPr sz="1582" spc="-5" dirty="0">
                <a:solidFill>
                  <a:srgbClr val="1A1F36"/>
                </a:solidFill>
                <a:latin typeface="Calibri"/>
              </a:rPr>
              <a:t>Reasoning</a:t>
            </a:r>
            <a:endParaRPr sz="1582" dirty="0"/>
          </a:p>
        </p:txBody>
      </p:sp>
      <p:pic>
        <p:nvPicPr>
          <p:cNvPr id="4" name="Google Shape;328;p29">
            <a:extLst>
              <a:ext uri="{FF2B5EF4-FFF2-40B4-BE49-F238E27FC236}">
                <a16:creationId xmlns:a16="http://schemas.microsoft.com/office/drawing/2014/main" id="{79BC7CDE-6E21-4688-A874-FD4650C43AA3}"/>
              </a:ext>
            </a:extLst>
          </p:cNvPr>
          <p:cNvPicPr preferRelativeResize="0"/>
          <p:nvPr/>
        </p:nvPicPr>
        <p:blipFill>
          <a:blip r:embed="rId2">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15346817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00" y="342550"/>
            <a:ext cx="8520600" cy="572700"/>
          </a:xfrm>
        </p:spPr>
        <p:txBody>
          <a:bodyPr>
            <a:normAutofit fontScale="90000"/>
          </a:bodyPr>
          <a:lstStyle/>
          <a:p>
            <a:r>
              <a:rPr lang="en-US" b="1" dirty="0">
                <a:solidFill>
                  <a:srgbClr val="1E2761"/>
                </a:solidFill>
                <a:latin typeface="Georgia"/>
              </a:rPr>
              <a:t>Open-Domain vs. Closed-Domain QA</a:t>
            </a:r>
          </a:p>
        </p:txBody>
      </p:sp>
      <p:sp>
        <p:nvSpPr>
          <p:cNvPr id="20" name="Card 20"/>
          <p:cNvSpPr/>
          <p:nvPr/>
        </p:nvSpPr>
        <p:spPr>
          <a:xfrm>
            <a:off x="461700" y="978291"/>
            <a:ext cx="4035300" cy="1929494"/>
          </a:xfrm>
          <a:prstGeom prst="roundRect">
            <a:avLst>
              <a:gd name="adj" fmla="val 6000"/>
            </a:avLst>
          </a:prstGeom>
          <a:solidFill>
            <a:srgbClr val="EDF1FA"/>
          </a:solidFill>
          <a:ln>
            <a:noFill/>
          </a:ln>
        </p:spPr>
        <p:txBody>
          <a:bodyPr wrap="square" lIns="171450" tIns="102870" rIns="171450" bIns="102870" anchor="t">
            <a:noAutofit/>
          </a:bodyPr>
          <a:lstStyle/>
          <a:p>
            <a:pPr>
              <a:lnSpc>
                <a:spcPct val="115000"/>
              </a:lnSpc>
              <a:spcBef>
                <a:spcPts val="300"/>
              </a:spcBef>
            </a:pPr>
            <a:r>
              <a:rPr lang="en-US" sz="1050" b="1" dirty="0">
                <a:solidFill>
                  <a:srgbClr val="1E2761"/>
                </a:solidFill>
                <a:latin typeface="Calibri"/>
              </a:rPr>
              <a:t>Closed-Domain QA</a:t>
            </a:r>
          </a:p>
          <a:p>
            <a:pPr>
              <a:lnSpc>
                <a:spcPct val="115000"/>
              </a:lnSpc>
              <a:spcBef>
                <a:spcPts val="300"/>
              </a:spcBef>
            </a:pPr>
            <a:r>
              <a:rPr lang="en-US" sz="1200" dirty="0">
                <a:solidFill>
                  <a:srgbClr val="1A1F36"/>
                </a:solidFill>
                <a:latin typeface="Calibri"/>
              </a:rPr>
              <a:t>The answer must be extracted or derived strictly from a given passage. The model isn't expected to use outside knowledge.</a:t>
            </a:r>
          </a:p>
          <a:p>
            <a:pPr>
              <a:lnSpc>
                <a:spcPct val="115000"/>
              </a:lnSpc>
              <a:spcBef>
                <a:spcPts val="375"/>
              </a:spcBef>
            </a:pPr>
            <a:r>
              <a:rPr lang="en-US" sz="1200" i="1" dirty="0">
                <a:solidFill>
                  <a:srgbClr val="1A1F36"/>
                </a:solidFill>
                <a:latin typeface="Calibri"/>
              </a:rPr>
              <a:t>Example (SQuAD): given a Wikipedia passage on the Eiffel Tower and the question “Who designed the Eiffel Tower?”, the model must locate “Gustave Eiffel” in that passage.</a:t>
            </a:r>
          </a:p>
        </p:txBody>
      </p:sp>
      <p:sp>
        <p:nvSpPr>
          <p:cNvPr id="21" name="Card 21"/>
          <p:cNvSpPr/>
          <p:nvPr/>
        </p:nvSpPr>
        <p:spPr>
          <a:xfrm>
            <a:off x="4647000" y="970410"/>
            <a:ext cx="4035300" cy="1937375"/>
          </a:xfrm>
          <a:prstGeom prst="roundRect">
            <a:avLst>
              <a:gd name="adj" fmla="val 6000"/>
            </a:avLst>
          </a:prstGeom>
          <a:solidFill>
            <a:srgbClr val="EDF1FA"/>
          </a:solidFill>
          <a:ln>
            <a:noFill/>
          </a:ln>
        </p:spPr>
        <p:txBody>
          <a:bodyPr wrap="square" lIns="171450" tIns="102870" rIns="171450" bIns="102870" anchor="t">
            <a:noAutofit/>
          </a:bodyPr>
          <a:lstStyle/>
          <a:p>
            <a:pPr>
              <a:lnSpc>
                <a:spcPct val="115000"/>
              </a:lnSpc>
              <a:spcBef>
                <a:spcPts val="300"/>
              </a:spcBef>
            </a:pPr>
            <a:r>
              <a:rPr lang="en-US" sz="1050" b="1" dirty="0">
                <a:solidFill>
                  <a:srgbClr val="1E2761"/>
                </a:solidFill>
                <a:latin typeface="Calibri"/>
              </a:rPr>
              <a:t>Open-Domain QA</a:t>
            </a:r>
          </a:p>
          <a:p>
            <a:pPr>
              <a:lnSpc>
                <a:spcPct val="115000"/>
              </a:lnSpc>
              <a:spcBef>
                <a:spcPts val="300"/>
              </a:spcBef>
            </a:pPr>
            <a:r>
              <a:rPr lang="en-US" sz="1200" dirty="0">
                <a:solidFill>
                  <a:srgbClr val="1A1F36"/>
                </a:solidFill>
                <a:latin typeface="Calibri"/>
              </a:rPr>
              <a:t>No passage is given. The model must rely on knowledge learned during training (or retrieved externally) to answer directly.</a:t>
            </a:r>
          </a:p>
          <a:p>
            <a:pPr>
              <a:lnSpc>
                <a:spcPct val="115000"/>
              </a:lnSpc>
              <a:spcBef>
                <a:spcPts val="375"/>
              </a:spcBef>
            </a:pPr>
            <a:r>
              <a:rPr lang="en-US" sz="1200" i="1" dirty="0">
                <a:solidFill>
                  <a:srgbClr val="1A1F36"/>
                </a:solidFill>
                <a:latin typeface="Calibri"/>
              </a:rPr>
              <a:t>Example (MMLU): “Which of the following is the powerhouse of the cell?” A) Nucleus B) Mitochondria C) Ribosome D) Golgi apparatus — answerable only from prior knowledge.</a:t>
            </a:r>
          </a:p>
        </p:txBody>
      </p:sp>
      <p:sp>
        <p:nvSpPr>
          <p:cNvPr id="22" name="TextBox 22"/>
          <p:cNvSpPr txBox="1"/>
          <p:nvPr/>
        </p:nvSpPr>
        <p:spPr>
          <a:xfrm>
            <a:off x="461700" y="3046994"/>
            <a:ext cx="8220600" cy="262500"/>
          </a:xfrm>
          <a:prstGeom prst="rect">
            <a:avLst/>
          </a:prstGeom>
          <a:noFill/>
          <a:ln>
            <a:noFill/>
          </a:ln>
        </p:spPr>
        <p:txBody>
          <a:bodyPr wrap="square" lIns="0" tIns="0" rIns="0" bIns="0" anchor="t">
            <a:noAutofit/>
          </a:bodyPr>
          <a:lstStyle/>
          <a:p>
            <a:pPr>
              <a:lnSpc>
                <a:spcPct val="115000"/>
              </a:lnSpc>
              <a:buNone/>
            </a:pPr>
            <a:r>
              <a:rPr lang="en-US" sz="1050" b="1" dirty="0">
                <a:solidFill>
                  <a:srgbClr val="1E2761"/>
                </a:solidFill>
                <a:latin typeface="Calibri"/>
              </a:rPr>
              <a:t>Industry Applications</a:t>
            </a:r>
          </a:p>
        </p:txBody>
      </p:sp>
      <p:sp>
        <p:nvSpPr>
          <p:cNvPr id="23" name="TextBox 23"/>
          <p:cNvSpPr txBox="1"/>
          <p:nvPr/>
        </p:nvSpPr>
        <p:spPr>
          <a:xfrm>
            <a:off x="461700" y="3361994"/>
            <a:ext cx="8220600" cy="1575000"/>
          </a:xfrm>
          <a:prstGeom prst="rect">
            <a:avLst/>
          </a:prstGeom>
          <a:noFill/>
          <a:ln>
            <a:noFill/>
          </a:ln>
        </p:spPr>
        <p:txBody>
          <a:bodyPr wrap="square" lIns="0" tIns="0" rIns="0" bIns="0" anchor="t">
            <a:noAutofit/>
          </a:bodyPr>
          <a:lstStyle/>
          <a:p>
            <a:pPr marL="171450" indent="-171450">
              <a:lnSpc>
                <a:spcPct val="115000"/>
              </a:lnSpc>
              <a:spcBef>
                <a:spcPts val="375"/>
              </a:spcBef>
              <a:buFont typeface="Arial"/>
              <a:buChar char="•"/>
            </a:pPr>
            <a:r>
              <a:rPr lang="en-US" sz="1200" dirty="0">
                <a:solidFill>
                  <a:srgbClr val="1A1F36"/>
                </a:solidFill>
                <a:latin typeface="Calibri"/>
              </a:rPr>
              <a:t>Enterprise knowledge search &amp; RAG assistants — closed-domain, grounded in internal wikis, contracts, and policy documents.</a:t>
            </a:r>
          </a:p>
          <a:p>
            <a:pPr marL="171450" indent="-171450">
              <a:lnSpc>
                <a:spcPct val="115000"/>
              </a:lnSpc>
              <a:spcBef>
                <a:spcPts val="375"/>
              </a:spcBef>
              <a:buFont typeface="Arial"/>
              <a:buChar char="•"/>
            </a:pPr>
            <a:r>
              <a:rPr lang="en-US" sz="1200" dirty="0">
                <a:solidFill>
                  <a:srgbClr val="1A1F36"/>
                </a:solidFill>
                <a:latin typeface="Calibri"/>
              </a:rPr>
              <a:t>Customer support chatbots — closed-domain, grounded in product manuals and help-center articles to avoid incorrect claims.</a:t>
            </a:r>
          </a:p>
          <a:p>
            <a:pPr marL="171450" indent="-171450">
              <a:lnSpc>
                <a:spcPct val="115000"/>
              </a:lnSpc>
              <a:spcBef>
                <a:spcPts val="375"/>
              </a:spcBef>
              <a:buFont typeface="Arial"/>
              <a:buChar char="•"/>
            </a:pPr>
            <a:r>
              <a:rPr lang="en-US" sz="1200" dirty="0">
                <a:solidFill>
                  <a:srgbClr val="1A1F36"/>
                </a:solidFill>
                <a:latin typeface="Calibri"/>
              </a:rPr>
              <a:t>Medical / legal Q&amp;A assistants — closed-domain, grounded in verified documents to reduce hallucination risk.</a:t>
            </a:r>
          </a:p>
          <a:p>
            <a:pPr marL="171450" indent="-171450">
              <a:lnSpc>
                <a:spcPct val="115000"/>
              </a:lnSpc>
              <a:spcBef>
                <a:spcPts val="375"/>
              </a:spcBef>
              <a:buFont typeface="Arial"/>
              <a:buChar char="•"/>
            </a:pPr>
            <a:r>
              <a:rPr lang="en-US" sz="1200" dirty="0">
                <a:solidFill>
                  <a:srgbClr val="1A1F36"/>
                </a:solidFill>
                <a:latin typeface="Calibri"/>
              </a:rPr>
              <a:t>Search engines &amp; voice assistants (Siri, Alexa, Google featured snippets) — open-domain, general world-knowledge Q&amp;A.</a:t>
            </a:r>
          </a:p>
          <a:p>
            <a:pPr marL="171450" indent="-171450">
              <a:lnSpc>
                <a:spcPct val="115000"/>
              </a:lnSpc>
              <a:spcBef>
                <a:spcPts val="375"/>
              </a:spcBef>
              <a:buFont typeface="Arial"/>
              <a:buChar char="•"/>
            </a:pPr>
            <a:r>
              <a:rPr lang="en-US" sz="1200" dirty="0">
                <a:solidFill>
                  <a:srgbClr val="1A1F36"/>
                </a:solidFill>
                <a:latin typeface="Calibri"/>
              </a:rPr>
              <a:t>Trivia platforms &amp; exam-prep tutors — open-domain, broad general-knowledge quizzing (similar in spirit to MMLU).</a:t>
            </a:r>
          </a:p>
        </p:txBody>
      </p:sp>
      <p:pic>
        <p:nvPicPr>
          <p:cNvPr id="5" name="logo"/>
          <p:cNvPicPr preferRelativeResize="0"/>
          <p:nvPr/>
        </p:nvPicPr>
        <p:blipFill>
          <a:blip r:embed="rId2">
            <a:alphaModFix/>
          </a:blip>
          <a:stretch>
            <a:fillRect/>
          </a:stretch>
        </p:blipFill>
        <p:spPr>
          <a:xfrm>
            <a:off x="8369126" y="0"/>
            <a:ext cx="774877" cy="86717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1E2761"/>
                </a:solidFill>
                <a:latin typeface="Georgia"/>
              </a:rPr>
              <a:t>Question Answering</a:t>
            </a:r>
          </a:p>
        </p:txBody>
      </p:sp>
      <p:sp>
        <p:nvSpPr>
          <p:cNvPr id="10" name="Stem"/>
          <p:cNvSpPr txBox="1"/>
          <p:nvPr/>
        </p:nvSpPr>
        <p:spPr>
          <a:xfrm>
            <a:off x="461700" y="1065000"/>
            <a:ext cx="8220600" cy="390000"/>
          </a:xfrm>
          <a:prstGeom prst="rect">
            <a:avLst/>
          </a:prstGeom>
          <a:noFill/>
          <a:ln>
            <a:noFill/>
          </a:ln>
        </p:spPr>
        <p:txBody>
          <a:bodyPr wrap="square" lIns="0" tIns="0" rIns="0" bIns="0" anchor="t">
            <a:noAutofit/>
          </a:bodyPr>
          <a:lstStyle/>
          <a:p>
            <a:r>
              <a:rPr lang="en-US" sz="1200" i="1" dirty="0">
                <a:solidFill>
                  <a:srgbClr val="1A1F36"/>
                </a:solidFill>
                <a:latin typeface="Calibri"/>
              </a:rPr>
              <a:t>You need a prompt that answers strictly from the given context and avoids inventing information. Which prompt fits best?</a:t>
            </a:r>
          </a:p>
        </p:txBody>
      </p:sp>
      <p:sp>
        <p:nvSpPr>
          <p:cNvPr id="20" name="Card Prompt A"/>
          <p:cNvSpPr/>
          <p:nvPr/>
        </p:nvSpPr>
        <p:spPr>
          <a:xfrm>
            <a:off x="461701" y="1537500"/>
            <a:ext cx="5332127" cy="1027000"/>
          </a:xfrm>
          <a:prstGeom prst="roundRect">
            <a:avLst>
              <a:gd name="adj" fmla="val 6000"/>
            </a:avLst>
          </a:prstGeom>
          <a:solidFill>
            <a:srgbClr val="EDF1FA"/>
          </a:solidFill>
          <a:ln>
            <a:noFill/>
          </a:ln>
        </p:spPr>
        <p:txBody>
          <a:bodyPr wrap="square" lIns="171450" tIns="102870" rIns="171450" bIns="102870" anchor="t">
            <a:noAutofit/>
          </a:bodyPr>
          <a:lstStyle/>
          <a:p>
            <a:pPr>
              <a:lnSpc>
                <a:spcPct val="110000"/>
              </a:lnSpc>
            </a:pPr>
            <a:r>
              <a:rPr lang="en-US" sz="1050" b="1" dirty="0">
                <a:solidFill>
                  <a:srgbClr val="1E2761"/>
                </a:solidFill>
                <a:latin typeface="Calibri"/>
              </a:rPr>
              <a:t>Prompt A</a:t>
            </a:r>
          </a:p>
          <a:p>
            <a:pPr>
              <a:lnSpc>
                <a:spcPct val="115000"/>
              </a:lnSpc>
              <a:spcBef>
                <a:spcPts val="300"/>
              </a:spcBef>
            </a:pPr>
            <a:r>
              <a:rPr lang="en-US" sz="1050" dirty="0">
                <a:solidFill>
                  <a:srgbClr val="1A1F36"/>
                </a:solidFill>
                <a:latin typeface="Calibri"/>
              </a:rPr>
              <a:t>Using your knowledge and the context below, give the most complete and thorough answer you can. Context: {context}  Question: {question}  Answer:</a:t>
            </a:r>
          </a:p>
        </p:txBody>
      </p:sp>
      <p:sp>
        <p:nvSpPr>
          <p:cNvPr id="21" name="Card Prompt B"/>
          <p:cNvSpPr/>
          <p:nvPr/>
        </p:nvSpPr>
        <p:spPr>
          <a:xfrm>
            <a:off x="461701" y="2677000"/>
            <a:ext cx="5332127" cy="1027000"/>
          </a:xfrm>
          <a:prstGeom prst="roundRect">
            <a:avLst>
              <a:gd name="adj" fmla="val 6000"/>
            </a:avLst>
          </a:prstGeom>
          <a:solidFill>
            <a:srgbClr val="EDF1FA"/>
          </a:solidFill>
          <a:ln>
            <a:noFill/>
          </a:ln>
        </p:spPr>
        <p:txBody>
          <a:bodyPr wrap="square" lIns="171450" tIns="102870" rIns="171450" bIns="102870" anchor="t">
            <a:noAutofit/>
          </a:bodyPr>
          <a:lstStyle/>
          <a:p>
            <a:pPr>
              <a:lnSpc>
                <a:spcPct val="110000"/>
              </a:lnSpc>
            </a:pPr>
            <a:r>
              <a:rPr lang="en-US" sz="1050" b="1" dirty="0">
                <a:solidFill>
                  <a:srgbClr val="1E2761"/>
                </a:solidFill>
                <a:latin typeface="Calibri"/>
              </a:rPr>
              <a:t>Prompt B</a:t>
            </a:r>
          </a:p>
          <a:p>
            <a:pPr>
              <a:lnSpc>
                <a:spcPct val="115000"/>
              </a:lnSpc>
              <a:spcBef>
                <a:spcPts val="300"/>
              </a:spcBef>
            </a:pPr>
            <a:r>
              <a:rPr lang="en-US" sz="1050" dirty="0">
                <a:solidFill>
                  <a:srgbClr val="1A1F36"/>
                </a:solidFill>
                <a:latin typeface="Calibri"/>
              </a:rPr>
              <a:t>Answer the question based only on the context below. Keep the answer short and concise. Respond “Unsure about answer” if not sure. Context: {context}  Question: {question}  Answer:</a:t>
            </a:r>
          </a:p>
        </p:txBody>
      </p:sp>
      <p:sp>
        <p:nvSpPr>
          <p:cNvPr id="22" name="Card Prompt C"/>
          <p:cNvSpPr/>
          <p:nvPr/>
        </p:nvSpPr>
        <p:spPr>
          <a:xfrm>
            <a:off x="461701" y="3816500"/>
            <a:ext cx="5332127" cy="1027000"/>
          </a:xfrm>
          <a:prstGeom prst="roundRect">
            <a:avLst>
              <a:gd name="adj" fmla="val 6000"/>
            </a:avLst>
          </a:prstGeom>
          <a:solidFill>
            <a:srgbClr val="EDF1FA"/>
          </a:solidFill>
          <a:ln>
            <a:noFill/>
          </a:ln>
        </p:spPr>
        <p:txBody>
          <a:bodyPr wrap="square" lIns="171450" tIns="102870" rIns="171450" bIns="102870" anchor="t">
            <a:noAutofit/>
          </a:bodyPr>
          <a:lstStyle/>
          <a:p>
            <a:pPr>
              <a:lnSpc>
                <a:spcPct val="110000"/>
              </a:lnSpc>
            </a:pPr>
            <a:r>
              <a:rPr lang="en-US" sz="1050" b="1" dirty="0">
                <a:solidFill>
                  <a:srgbClr val="1E2761"/>
                </a:solidFill>
                <a:latin typeface="Calibri"/>
              </a:rPr>
              <a:t>Prompt C</a:t>
            </a:r>
          </a:p>
          <a:p>
            <a:pPr>
              <a:lnSpc>
                <a:spcPct val="115000"/>
              </a:lnSpc>
              <a:spcBef>
                <a:spcPts val="300"/>
              </a:spcBef>
            </a:pPr>
            <a:r>
              <a:rPr lang="en-US" sz="1050" dirty="0">
                <a:solidFill>
                  <a:srgbClr val="1A1F36"/>
                </a:solidFill>
                <a:latin typeface="Calibri"/>
              </a:rPr>
              <a:t>Context: {context}  Question: {question}  Answer the question.</a:t>
            </a:r>
          </a:p>
        </p:txBody>
      </p:sp>
      <p:pic>
        <p:nvPicPr>
          <p:cNvPr id="5" name="logo"/>
          <p:cNvPicPr preferRelativeResize="0"/>
          <p:nvPr/>
        </p:nvPicPr>
        <p:blipFill>
          <a:blip r:embed="rId2">
            <a:alphaModFix/>
          </a:blip>
          <a:stretch>
            <a:fillRect/>
          </a:stretch>
        </p:blipFill>
        <p:spPr>
          <a:xfrm>
            <a:off x="8369126" y="0"/>
            <a:ext cx="774877" cy="867174"/>
          </a:xfrm>
          <a:prstGeom prst="rect">
            <a:avLst/>
          </a:prstGeom>
          <a:noFill/>
          <a:ln>
            <a:noFill/>
          </a:ln>
        </p:spPr>
      </p:pic>
    </p:spTree>
    <p:extLst>
      <p:ext uri="{BB962C8B-B14F-4D97-AF65-F5344CB8AC3E}">
        <p14:creationId xmlns:p14="http://schemas.microsoft.com/office/powerpoint/2010/main" val="28445430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1E2761"/>
                </a:solidFill>
                <a:latin typeface="Georgia"/>
              </a:rPr>
              <a:t>Question Answering</a:t>
            </a:r>
          </a:p>
        </p:txBody>
      </p:sp>
      <p:sp>
        <p:nvSpPr>
          <p:cNvPr id="10" name="Stem"/>
          <p:cNvSpPr txBox="1"/>
          <p:nvPr/>
        </p:nvSpPr>
        <p:spPr>
          <a:xfrm>
            <a:off x="461700" y="1065000"/>
            <a:ext cx="8220600" cy="390000"/>
          </a:xfrm>
          <a:prstGeom prst="rect">
            <a:avLst/>
          </a:prstGeom>
          <a:noFill/>
          <a:ln>
            <a:noFill/>
          </a:ln>
        </p:spPr>
        <p:txBody>
          <a:bodyPr wrap="square" lIns="0" tIns="0" rIns="0" bIns="0" anchor="t">
            <a:noAutofit/>
          </a:bodyPr>
          <a:lstStyle/>
          <a:p>
            <a:r>
              <a:rPr lang="en-US" sz="1200" i="1" dirty="0">
                <a:solidFill>
                  <a:srgbClr val="1A1F36"/>
                </a:solidFill>
                <a:latin typeface="Calibri"/>
              </a:rPr>
              <a:t>Answer &amp; Explanation</a:t>
            </a:r>
          </a:p>
        </p:txBody>
      </p:sp>
      <p:sp>
        <p:nvSpPr>
          <p:cNvPr id="20" name="Card Prompt A"/>
          <p:cNvSpPr/>
          <p:nvPr/>
        </p:nvSpPr>
        <p:spPr>
          <a:xfrm>
            <a:off x="461700" y="1537500"/>
            <a:ext cx="8220600" cy="1027000"/>
          </a:xfrm>
          <a:prstGeom prst="roundRect">
            <a:avLst>
              <a:gd name="adj" fmla="val 6000"/>
            </a:avLst>
          </a:prstGeom>
          <a:solidFill>
            <a:srgbClr val="EDF1FA"/>
          </a:solidFill>
          <a:ln>
            <a:noFill/>
          </a:ln>
        </p:spPr>
        <p:txBody>
          <a:bodyPr wrap="square" lIns="171450" tIns="102870" rIns="171450" bIns="102870" anchor="t">
            <a:noAutofit/>
          </a:bodyPr>
          <a:lstStyle/>
          <a:p>
            <a:pPr>
              <a:lnSpc>
                <a:spcPct val="110000"/>
              </a:lnSpc>
            </a:pPr>
            <a:r>
              <a:rPr lang="en-US" sz="1050" b="1" dirty="0">
                <a:solidFill>
                  <a:srgbClr val="1E2761"/>
                </a:solidFill>
                <a:latin typeface="Calibri"/>
              </a:rPr>
              <a:t>Prompt A</a:t>
            </a:r>
          </a:p>
          <a:p>
            <a:pPr>
              <a:lnSpc>
                <a:spcPct val="115000"/>
              </a:lnSpc>
              <a:spcBef>
                <a:spcPts val="300"/>
              </a:spcBef>
            </a:pPr>
            <a:r>
              <a:rPr lang="en-US" sz="1050" dirty="0">
                <a:solidFill>
                  <a:srgbClr val="1A1F36"/>
                </a:solidFill>
                <a:latin typeface="Calibri"/>
              </a:rPr>
              <a:t>Using your knowledge and the context below, give the most complete and thorough answer you can. Context: {context}  Question: {question}  Answer:</a:t>
            </a:r>
          </a:p>
          <a:p>
            <a:pPr>
              <a:lnSpc>
                <a:spcPct val="115000"/>
              </a:lnSpc>
              <a:spcBef>
                <a:spcPts val="450"/>
              </a:spcBef>
            </a:pPr>
            <a:r>
              <a:rPr lang="en-US" sz="975" b="1" dirty="0">
                <a:solidFill>
                  <a:srgbClr val="C0392B"/>
                </a:solidFill>
                <a:latin typeface="Calibri"/>
              </a:rPr>
              <a:t>✗ Needs improvement — “using your knowledge” invites the model beyond the context, risking facts not actually present in the source.</a:t>
            </a:r>
          </a:p>
        </p:txBody>
      </p:sp>
      <p:sp>
        <p:nvSpPr>
          <p:cNvPr id="21" name="Card Prompt B"/>
          <p:cNvSpPr/>
          <p:nvPr/>
        </p:nvSpPr>
        <p:spPr>
          <a:xfrm>
            <a:off x="461700" y="2677000"/>
            <a:ext cx="8220600" cy="1027000"/>
          </a:xfrm>
          <a:prstGeom prst="roundRect">
            <a:avLst>
              <a:gd name="adj" fmla="val 6000"/>
            </a:avLst>
          </a:prstGeom>
          <a:solidFill>
            <a:srgbClr val="EDF1FA"/>
          </a:solidFill>
          <a:ln>
            <a:noFill/>
          </a:ln>
        </p:spPr>
        <p:txBody>
          <a:bodyPr wrap="square" lIns="171450" tIns="102870" rIns="171450" bIns="102870" anchor="t">
            <a:noAutofit/>
          </a:bodyPr>
          <a:lstStyle/>
          <a:p>
            <a:pPr>
              <a:lnSpc>
                <a:spcPct val="110000"/>
              </a:lnSpc>
            </a:pPr>
            <a:r>
              <a:rPr lang="en-US" sz="1050" b="1" dirty="0">
                <a:solidFill>
                  <a:srgbClr val="1E2761"/>
                </a:solidFill>
                <a:latin typeface="Calibri"/>
              </a:rPr>
              <a:t>Prompt B</a:t>
            </a:r>
          </a:p>
          <a:p>
            <a:pPr>
              <a:lnSpc>
                <a:spcPct val="115000"/>
              </a:lnSpc>
              <a:spcBef>
                <a:spcPts val="300"/>
              </a:spcBef>
            </a:pPr>
            <a:r>
              <a:rPr lang="en-US" sz="1050" dirty="0">
                <a:solidFill>
                  <a:srgbClr val="1A1F36"/>
                </a:solidFill>
                <a:latin typeface="Calibri"/>
              </a:rPr>
              <a:t>Answer the question based only on the context below. Keep the answer short and concise. Respond “Unsure about answer” if not sure. Context: {context}  Question: {question}  Answer:</a:t>
            </a:r>
          </a:p>
          <a:p>
            <a:pPr>
              <a:lnSpc>
                <a:spcPct val="115000"/>
              </a:lnSpc>
              <a:spcBef>
                <a:spcPts val="450"/>
              </a:spcBef>
            </a:pPr>
            <a:r>
              <a:rPr lang="en-US" sz="975" b="1" dirty="0">
                <a:solidFill>
                  <a:srgbClr val="2E7D32"/>
                </a:solidFill>
                <a:latin typeface="Calibri"/>
              </a:rPr>
              <a:t>✓ Best choice — grounds the answer strictly in the context and gives a fallback for missing information, keeping responses short and reliable.</a:t>
            </a:r>
          </a:p>
        </p:txBody>
      </p:sp>
      <p:sp>
        <p:nvSpPr>
          <p:cNvPr id="22" name="Card Prompt C"/>
          <p:cNvSpPr/>
          <p:nvPr/>
        </p:nvSpPr>
        <p:spPr>
          <a:xfrm>
            <a:off x="461700" y="3816500"/>
            <a:ext cx="8220600" cy="1027000"/>
          </a:xfrm>
          <a:prstGeom prst="roundRect">
            <a:avLst>
              <a:gd name="adj" fmla="val 6000"/>
            </a:avLst>
          </a:prstGeom>
          <a:solidFill>
            <a:srgbClr val="EDF1FA"/>
          </a:solidFill>
          <a:ln>
            <a:noFill/>
          </a:ln>
        </p:spPr>
        <p:txBody>
          <a:bodyPr wrap="square" lIns="171450" tIns="102870" rIns="171450" bIns="102870" anchor="t">
            <a:noAutofit/>
          </a:bodyPr>
          <a:lstStyle/>
          <a:p>
            <a:pPr>
              <a:lnSpc>
                <a:spcPct val="110000"/>
              </a:lnSpc>
            </a:pPr>
            <a:r>
              <a:rPr lang="en-US" sz="1050" b="1" dirty="0">
                <a:solidFill>
                  <a:srgbClr val="1E2761"/>
                </a:solidFill>
                <a:latin typeface="Calibri"/>
              </a:rPr>
              <a:t>Prompt C</a:t>
            </a:r>
          </a:p>
          <a:p>
            <a:pPr>
              <a:lnSpc>
                <a:spcPct val="115000"/>
              </a:lnSpc>
              <a:spcBef>
                <a:spcPts val="300"/>
              </a:spcBef>
            </a:pPr>
            <a:r>
              <a:rPr lang="en-US" sz="1050" dirty="0">
                <a:solidFill>
                  <a:srgbClr val="1A1F36"/>
                </a:solidFill>
                <a:latin typeface="Calibri"/>
              </a:rPr>
              <a:t>Context: {context}  Question: {question}  Answer the question.</a:t>
            </a:r>
          </a:p>
          <a:p>
            <a:pPr>
              <a:lnSpc>
                <a:spcPct val="115000"/>
              </a:lnSpc>
              <a:spcBef>
                <a:spcPts val="450"/>
              </a:spcBef>
            </a:pPr>
            <a:r>
              <a:rPr lang="en-US" sz="975" b="1" dirty="0">
                <a:solidFill>
                  <a:srgbClr val="C0392B"/>
                </a:solidFill>
                <a:latin typeface="Calibri"/>
              </a:rPr>
              <a:t>✗ Needs improvement — no instruction to stay concise or admit uncertainty, so the model may guess confidently when the context lacks the answer.</a:t>
            </a:r>
          </a:p>
        </p:txBody>
      </p:sp>
      <p:pic>
        <p:nvPicPr>
          <p:cNvPr id="5" name="logo"/>
          <p:cNvPicPr preferRelativeResize="0"/>
          <p:nvPr/>
        </p:nvPicPr>
        <p:blipFill>
          <a:blip r:embed="rId2">
            <a:alphaModFix/>
          </a:blip>
          <a:stretch>
            <a:fillRect/>
          </a:stretch>
        </p:blipFill>
        <p:spPr>
          <a:xfrm>
            <a:off x="8369126" y="0"/>
            <a:ext cx="774877" cy="867174"/>
          </a:xfrm>
          <a:prstGeom prst="rect">
            <a:avLst/>
          </a:prstGeom>
          <a:noFill/>
          <a:ln>
            <a:noFill/>
          </a:ln>
        </p:spPr>
      </p:pic>
    </p:spTree>
    <p:extLst>
      <p:ext uri="{BB962C8B-B14F-4D97-AF65-F5344CB8AC3E}">
        <p14:creationId xmlns:p14="http://schemas.microsoft.com/office/powerpoint/2010/main" val="31979434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1E2761"/>
                </a:solidFill>
                <a:latin typeface="Georgia"/>
              </a:rPr>
              <a:t>ARC-Easy Dataset</a:t>
            </a:r>
          </a:p>
        </p:txBody>
      </p:sp>
      <p:sp>
        <p:nvSpPr>
          <p:cNvPr id="20" name="Card 20"/>
          <p:cNvSpPr/>
          <p:nvPr/>
        </p:nvSpPr>
        <p:spPr>
          <a:xfrm>
            <a:off x="461700" y="1065000"/>
            <a:ext cx="3712476" cy="3675000"/>
          </a:xfrm>
          <a:prstGeom prst="roundRect">
            <a:avLst>
              <a:gd name="adj" fmla="val 5000"/>
            </a:avLst>
          </a:prstGeom>
          <a:solidFill>
            <a:srgbClr val="EDF1FA"/>
          </a:solidFill>
          <a:ln>
            <a:noFill/>
          </a:ln>
        </p:spPr>
        <p:txBody>
          <a:bodyPr wrap="square" lIns="171450" tIns="102870" rIns="171450" bIns="102870" anchor="t">
            <a:noAutofit/>
          </a:bodyPr>
          <a:lstStyle/>
          <a:p>
            <a:pPr>
              <a:lnSpc>
                <a:spcPct val="115000"/>
              </a:lnSpc>
              <a:spcBef>
                <a:spcPts val="300"/>
              </a:spcBef>
            </a:pPr>
            <a:r>
              <a:rPr lang="en-US" sz="1050" b="1" dirty="0">
                <a:solidFill>
                  <a:srgbClr val="1E2761"/>
                </a:solidFill>
                <a:latin typeface="Calibri"/>
              </a:rPr>
              <a:t>ARC-Easy (AI2 Reasoning Challenge)</a:t>
            </a:r>
          </a:p>
          <a:p>
            <a:pPr>
              <a:lnSpc>
                <a:spcPct val="115000"/>
              </a:lnSpc>
              <a:spcBef>
                <a:spcPts val="300"/>
              </a:spcBef>
            </a:pPr>
            <a:r>
              <a:rPr lang="en-US" sz="1200" dirty="0">
                <a:solidFill>
                  <a:srgbClr val="1A1F36"/>
                </a:solidFill>
                <a:latin typeface="Calibri"/>
              </a:rPr>
              <a:t>Grade-school-level (3rd–9th grade) science QA </a:t>
            </a:r>
          </a:p>
          <a:p>
            <a:pPr>
              <a:lnSpc>
                <a:spcPct val="115000"/>
              </a:lnSpc>
              <a:spcBef>
                <a:spcPts val="300"/>
              </a:spcBef>
            </a:pPr>
            <a:r>
              <a:rPr lang="en-US" sz="1200" dirty="0">
                <a:solidFill>
                  <a:srgbClr val="1A1F36"/>
                </a:solidFill>
                <a:latin typeface="Calibri"/>
              </a:rPr>
              <a:t>Dataset from the Allen Institute for AI (Clark et al., 2018).</a:t>
            </a:r>
          </a:p>
          <a:p>
            <a:pPr>
              <a:lnSpc>
                <a:spcPct val="115000"/>
              </a:lnSpc>
              <a:spcBef>
                <a:spcPts val="375"/>
              </a:spcBef>
            </a:pPr>
            <a:r>
              <a:rPr lang="en-US" sz="1200" dirty="0">
                <a:solidFill>
                  <a:srgbClr val="1A1F36"/>
                </a:solidFill>
                <a:latin typeface="Calibri"/>
              </a:rPr>
              <a:t>The easier half of ARC; the harder half (ARC-Challenge) contains questions that simple retrieval / word co-occurrence baselines fail to answer.</a:t>
            </a:r>
          </a:p>
          <a:p>
            <a:pPr>
              <a:lnSpc>
                <a:spcPct val="115000"/>
              </a:lnSpc>
              <a:spcBef>
                <a:spcPts val="525"/>
              </a:spcBef>
            </a:pPr>
            <a:r>
              <a:rPr lang="en-US" sz="1050" b="1" dirty="0">
                <a:solidFill>
                  <a:srgbClr val="1E2761"/>
                </a:solidFill>
                <a:latin typeface="Calibri"/>
              </a:rPr>
              <a:t>Dataset statistics</a:t>
            </a:r>
          </a:p>
          <a:p>
            <a:pPr marL="171450" indent="-171450">
              <a:lnSpc>
                <a:spcPct val="115000"/>
              </a:lnSpc>
              <a:spcBef>
                <a:spcPts val="300"/>
              </a:spcBef>
              <a:buFont typeface="Arial"/>
              <a:buChar char="•"/>
            </a:pPr>
            <a:r>
              <a:rPr lang="en-US" sz="1200" dirty="0">
                <a:solidFill>
                  <a:srgbClr val="1A1F36"/>
                </a:solidFill>
                <a:latin typeface="Calibri"/>
              </a:rPr>
              <a:t>Total: 5,197 questions (of 7,787 in all of ARC)</a:t>
            </a:r>
          </a:p>
          <a:p>
            <a:pPr marL="171450" indent="-171450">
              <a:lnSpc>
                <a:spcPct val="115000"/>
              </a:lnSpc>
              <a:spcBef>
                <a:spcPts val="225"/>
              </a:spcBef>
              <a:buFont typeface="Arial"/>
              <a:buChar char="•"/>
            </a:pPr>
            <a:r>
              <a:rPr lang="en-US" sz="1200" dirty="0">
                <a:solidFill>
                  <a:srgbClr val="1A1F36"/>
                </a:solidFill>
                <a:latin typeface="Calibri"/>
              </a:rPr>
              <a:t>Train: 2,251  ·  Dev: 570  ·  Test: 2,376</a:t>
            </a:r>
          </a:p>
          <a:p>
            <a:pPr marL="171450" indent="-171450">
              <a:lnSpc>
                <a:spcPct val="115000"/>
              </a:lnSpc>
              <a:spcBef>
                <a:spcPts val="225"/>
              </a:spcBef>
              <a:buFont typeface="Arial"/>
              <a:buChar char="•"/>
            </a:pPr>
            <a:r>
              <a:rPr lang="en-US" sz="1200" dirty="0">
                <a:solidFill>
                  <a:srgbClr val="1A1F36"/>
                </a:solidFill>
                <a:latin typeface="Calibri"/>
              </a:rPr>
              <a:t>4 answer options per question, single correct answer</a:t>
            </a:r>
          </a:p>
          <a:p>
            <a:pPr marL="171450" indent="-171450">
              <a:lnSpc>
                <a:spcPct val="115000"/>
              </a:lnSpc>
              <a:spcBef>
                <a:spcPts val="225"/>
              </a:spcBef>
              <a:buFont typeface="Arial"/>
              <a:buChar char="•"/>
            </a:pPr>
            <a:r>
              <a:rPr lang="en-US" sz="1200" dirty="0">
                <a:solidFill>
                  <a:srgbClr val="1A1F36"/>
                </a:solidFill>
                <a:latin typeface="Calibri"/>
              </a:rPr>
              <a:t>Sourced from standardized U.S. state science exams</a:t>
            </a:r>
          </a:p>
        </p:txBody>
      </p:sp>
      <p:sp>
        <p:nvSpPr>
          <p:cNvPr id="21" name="Card 21"/>
          <p:cNvSpPr/>
          <p:nvPr/>
        </p:nvSpPr>
        <p:spPr>
          <a:xfrm>
            <a:off x="4324176" y="1065000"/>
            <a:ext cx="4358124" cy="3675000"/>
          </a:xfrm>
          <a:prstGeom prst="roundRect">
            <a:avLst>
              <a:gd name="adj" fmla="val 5000"/>
            </a:avLst>
          </a:prstGeom>
          <a:solidFill>
            <a:srgbClr val="EDF1FA"/>
          </a:solidFill>
          <a:ln>
            <a:noFill/>
          </a:ln>
        </p:spPr>
        <p:txBody>
          <a:bodyPr wrap="square" lIns="171450" tIns="102870" rIns="171450" bIns="102870" anchor="t">
            <a:noAutofit/>
          </a:bodyPr>
          <a:lstStyle/>
          <a:p>
            <a:pPr>
              <a:lnSpc>
                <a:spcPct val="115000"/>
              </a:lnSpc>
              <a:spcBef>
                <a:spcPts val="300"/>
              </a:spcBef>
            </a:pPr>
            <a:r>
              <a:rPr lang="en-US" sz="1050" b="1" dirty="0">
                <a:solidFill>
                  <a:srgbClr val="1E2761"/>
                </a:solidFill>
                <a:latin typeface="Calibri"/>
              </a:rPr>
              <a:t>Example Question</a:t>
            </a:r>
          </a:p>
          <a:p>
            <a:pPr>
              <a:lnSpc>
                <a:spcPct val="115000"/>
              </a:lnSpc>
              <a:spcBef>
                <a:spcPts val="375"/>
              </a:spcBef>
            </a:pPr>
            <a:r>
              <a:rPr lang="en-US" sz="1200" dirty="0">
                <a:solidFill>
                  <a:srgbClr val="1A1F36"/>
                </a:solidFill>
                <a:latin typeface="Calibri"/>
              </a:rPr>
              <a:t>Which of these is the best reason for exercising on space flights?</a:t>
            </a:r>
          </a:p>
          <a:p>
            <a:pPr>
              <a:lnSpc>
                <a:spcPct val="115000"/>
              </a:lnSpc>
              <a:spcBef>
                <a:spcPts val="375"/>
              </a:spcBef>
            </a:pPr>
            <a:r>
              <a:rPr lang="en-US" sz="1200" dirty="0">
                <a:solidFill>
                  <a:srgbClr val="1A1F36"/>
                </a:solidFill>
                <a:latin typeface="Calibri"/>
              </a:rPr>
              <a:t>A. to increase strength for moving around in the cabin</a:t>
            </a:r>
          </a:p>
          <a:p>
            <a:pPr>
              <a:lnSpc>
                <a:spcPct val="115000"/>
              </a:lnSpc>
              <a:spcBef>
                <a:spcPts val="225"/>
              </a:spcBef>
            </a:pPr>
            <a:r>
              <a:rPr lang="en-US" sz="1200" dirty="0">
                <a:solidFill>
                  <a:srgbClr val="1A1F36"/>
                </a:solidFill>
                <a:latin typeface="Calibri"/>
              </a:rPr>
              <a:t>B. to keep from becoming overweight on a space mission</a:t>
            </a:r>
          </a:p>
          <a:p>
            <a:pPr>
              <a:lnSpc>
                <a:spcPct val="115000"/>
              </a:lnSpc>
              <a:spcBef>
                <a:spcPts val="225"/>
              </a:spcBef>
            </a:pPr>
            <a:r>
              <a:rPr lang="en-US" sz="1200" b="1" dirty="0">
                <a:solidFill>
                  <a:srgbClr val="2E7D32"/>
                </a:solidFill>
                <a:latin typeface="Calibri"/>
              </a:rPr>
              <a:t>C. to minimize the loss of muscle mass due to microgravity</a:t>
            </a:r>
          </a:p>
          <a:p>
            <a:pPr>
              <a:lnSpc>
                <a:spcPct val="115000"/>
              </a:lnSpc>
              <a:spcBef>
                <a:spcPts val="225"/>
              </a:spcBef>
            </a:pPr>
            <a:r>
              <a:rPr lang="en-US" sz="1200" dirty="0">
                <a:solidFill>
                  <a:srgbClr val="1A1F36"/>
                </a:solidFill>
                <a:latin typeface="Calibri"/>
              </a:rPr>
              <a:t>D. to ensure that bodily fluids do not tend to collect in the feet</a:t>
            </a:r>
          </a:p>
          <a:p>
            <a:pPr>
              <a:lnSpc>
                <a:spcPct val="115000"/>
              </a:lnSpc>
              <a:spcBef>
                <a:spcPts val="525"/>
              </a:spcBef>
            </a:pPr>
            <a:r>
              <a:rPr lang="en-US" sz="1200" b="1" dirty="0">
                <a:solidFill>
                  <a:srgbClr val="2E7D32"/>
                </a:solidFill>
                <a:latin typeface="Calibri"/>
              </a:rPr>
              <a:t>✓ Correct answer: C — microgravity causes muscle atrophy; exercise minimizes that loss.</a:t>
            </a:r>
          </a:p>
        </p:txBody>
      </p:sp>
      <p:pic>
        <p:nvPicPr>
          <p:cNvPr id="5" name="logo"/>
          <p:cNvPicPr preferRelativeResize="0"/>
          <p:nvPr/>
        </p:nvPicPr>
        <p:blipFill>
          <a:blip r:embed="rId2">
            <a:alphaModFix/>
          </a:blip>
          <a:stretch>
            <a:fillRect/>
          </a:stretch>
        </p:blipFill>
        <p:spPr>
          <a:xfrm>
            <a:off x="8369126" y="0"/>
            <a:ext cx="774877" cy="86717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1E2761"/>
                </a:solidFill>
                <a:latin typeface="Georgia"/>
              </a:rPr>
              <a:t>Evaluation Program Overview</a:t>
            </a:r>
          </a:p>
        </p:txBody>
      </p:sp>
      <p:sp>
        <p:nvSpPr>
          <p:cNvPr id="20" name="TextBox 20"/>
          <p:cNvSpPr txBox="1"/>
          <p:nvPr/>
        </p:nvSpPr>
        <p:spPr>
          <a:xfrm>
            <a:off x="461700" y="1065000"/>
            <a:ext cx="8220600" cy="300000"/>
          </a:xfrm>
          <a:prstGeom prst="rect">
            <a:avLst/>
          </a:prstGeom>
          <a:noFill/>
          <a:ln>
            <a:noFill/>
          </a:ln>
        </p:spPr>
        <p:txBody>
          <a:bodyPr wrap="square" lIns="0" tIns="0" rIns="0" bIns="0" anchor="t">
            <a:noAutofit/>
          </a:bodyPr>
          <a:lstStyle/>
          <a:p>
            <a:pPr>
              <a:lnSpc>
                <a:spcPct val="115000"/>
              </a:lnSpc>
              <a:buNone/>
            </a:pPr>
            <a:r>
              <a:rPr lang="en-US" sz="1200" i="1" dirty="0">
                <a:solidFill>
                  <a:srgbClr val="1A1F36"/>
                </a:solidFill>
                <a:latin typeface="Calibri"/>
              </a:rPr>
              <a:t>Evaluates 3 QA prompt designs against a local Qwen3 model via Ollama's OpenAI-compatible API</a:t>
            </a:r>
          </a:p>
        </p:txBody>
      </p:sp>
      <p:sp>
        <p:nvSpPr>
          <p:cNvPr id="30" name="TextBox 30"/>
          <p:cNvSpPr txBox="1"/>
          <p:nvPr/>
        </p:nvSpPr>
        <p:spPr>
          <a:xfrm>
            <a:off x="461700" y="1462500"/>
            <a:ext cx="2250000" cy="540000"/>
          </a:xfrm>
          <a:prstGeom prst="rect">
            <a:avLst/>
          </a:prstGeom>
          <a:noFill/>
          <a:ln>
            <a:noFill/>
          </a:ln>
        </p:spPr>
        <p:txBody>
          <a:bodyPr wrap="square" lIns="0" tIns="0" rIns="0" bIns="0" anchor="t">
            <a:noAutofit/>
          </a:bodyPr>
          <a:lstStyle/>
          <a:p>
            <a:pPr>
              <a:lnSpc>
                <a:spcPct val="115000"/>
              </a:lnSpc>
              <a:buNone/>
            </a:pPr>
            <a:r>
              <a:rPr lang="en-US" b="1" dirty="0">
                <a:solidFill>
                  <a:srgbClr val="1E2761"/>
                </a:solidFill>
                <a:latin typeface="Calibri"/>
              </a:rPr>
              <a:t>Configuration &amp; Defaults</a:t>
            </a:r>
          </a:p>
        </p:txBody>
      </p:sp>
      <p:sp>
        <p:nvSpPr>
          <p:cNvPr id="50" name="TextBox 50"/>
          <p:cNvSpPr txBox="1"/>
          <p:nvPr/>
        </p:nvSpPr>
        <p:spPr>
          <a:xfrm>
            <a:off x="2812500" y="1462500"/>
            <a:ext cx="5869800" cy="540000"/>
          </a:xfrm>
          <a:prstGeom prst="rect">
            <a:avLst/>
          </a:prstGeom>
          <a:noFill/>
          <a:ln>
            <a:noFill/>
          </a:ln>
        </p:spPr>
        <p:txBody>
          <a:bodyPr wrap="square" lIns="0" tIns="0" rIns="0" bIns="0" anchor="t">
            <a:noAutofit/>
          </a:bodyPr>
          <a:lstStyle/>
          <a:p>
            <a:pPr>
              <a:lnSpc>
                <a:spcPct val="112000"/>
              </a:lnSpc>
              <a:buNone/>
            </a:pPr>
            <a:r>
              <a:rPr lang="en-US" sz="1100" dirty="0">
                <a:solidFill>
                  <a:srgbClr val="1A1F36"/>
                </a:solidFill>
                <a:latin typeface="Calibri"/>
              </a:rPr>
              <a:t>DEFAULT_BASE_URL / DEFAULT_API_KEY / DEFAULT_MODEL, each overridable via environment variables or CLI flags, plus a </a:t>
            </a:r>
            <a:r>
              <a:rPr lang="en-US" sz="1100" dirty="0">
                <a:solidFill>
                  <a:srgbClr val="0070C0"/>
                </a:solidFill>
                <a:latin typeface="Calibri"/>
              </a:rPr>
              <a:t>DISABLE_THINKING</a:t>
            </a:r>
            <a:r>
              <a:rPr lang="en-US" sz="1100" dirty="0">
                <a:solidFill>
                  <a:srgbClr val="1A1F36"/>
                </a:solidFill>
                <a:latin typeface="Calibri"/>
              </a:rPr>
              <a:t> toggle for Qwen3's reasoning mode.</a:t>
            </a:r>
          </a:p>
        </p:txBody>
      </p:sp>
      <p:sp>
        <p:nvSpPr>
          <p:cNvPr id="31" name="TextBox 31"/>
          <p:cNvSpPr txBox="1"/>
          <p:nvPr/>
        </p:nvSpPr>
        <p:spPr>
          <a:xfrm>
            <a:off x="461700" y="2002500"/>
            <a:ext cx="2250000" cy="540000"/>
          </a:xfrm>
          <a:prstGeom prst="rect">
            <a:avLst/>
          </a:prstGeom>
          <a:noFill/>
          <a:ln>
            <a:noFill/>
          </a:ln>
        </p:spPr>
        <p:txBody>
          <a:bodyPr wrap="square" lIns="0" tIns="0" rIns="0" bIns="0" anchor="t">
            <a:noAutofit/>
          </a:bodyPr>
          <a:lstStyle/>
          <a:p>
            <a:pPr>
              <a:lnSpc>
                <a:spcPct val="115000"/>
              </a:lnSpc>
              <a:buNone/>
            </a:pPr>
            <a:r>
              <a:rPr lang="en-US" b="1" dirty="0">
                <a:solidFill>
                  <a:srgbClr val="1E2761"/>
                </a:solidFill>
                <a:latin typeface="Calibri"/>
              </a:rPr>
              <a:t>Prompt Templates (A / B / C)</a:t>
            </a:r>
          </a:p>
        </p:txBody>
      </p:sp>
      <p:sp>
        <p:nvSpPr>
          <p:cNvPr id="51" name="TextBox 51"/>
          <p:cNvSpPr txBox="1"/>
          <p:nvPr/>
        </p:nvSpPr>
        <p:spPr>
          <a:xfrm>
            <a:off x="2812500" y="2002500"/>
            <a:ext cx="5869800" cy="540000"/>
          </a:xfrm>
          <a:prstGeom prst="rect">
            <a:avLst/>
          </a:prstGeom>
          <a:noFill/>
          <a:ln>
            <a:noFill/>
          </a:ln>
        </p:spPr>
        <p:txBody>
          <a:bodyPr wrap="square" lIns="0" tIns="0" rIns="0" bIns="0" anchor="t">
            <a:noAutofit/>
          </a:bodyPr>
          <a:lstStyle/>
          <a:p>
            <a:pPr>
              <a:lnSpc>
                <a:spcPct val="112000"/>
              </a:lnSpc>
              <a:buNone/>
            </a:pPr>
            <a:r>
              <a:rPr lang="en-US" sz="1100" dirty="0">
                <a:solidFill>
                  <a:srgbClr val="0070C0"/>
                </a:solidFill>
                <a:latin typeface="Calibri"/>
              </a:rPr>
              <a:t>prompt_a / prompt_b / prompt_c</a:t>
            </a:r>
            <a:r>
              <a:rPr lang="en-US" sz="1100" dirty="0">
                <a:solidFill>
                  <a:srgbClr val="1A1F36"/>
                </a:solidFill>
                <a:latin typeface="Calibri"/>
              </a:rPr>
              <a:t> build the three prompt variants from the MCQ slides — constrained+fallback, open-ended reasoning, and bare — sharing a common format_options() helper.</a:t>
            </a:r>
          </a:p>
        </p:txBody>
      </p:sp>
      <p:sp>
        <p:nvSpPr>
          <p:cNvPr id="32" name="TextBox 32"/>
          <p:cNvSpPr txBox="1"/>
          <p:nvPr/>
        </p:nvSpPr>
        <p:spPr>
          <a:xfrm>
            <a:off x="461700" y="2542500"/>
            <a:ext cx="2250000" cy="540000"/>
          </a:xfrm>
          <a:prstGeom prst="rect">
            <a:avLst/>
          </a:prstGeom>
          <a:noFill/>
          <a:ln>
            <a:noFill/>
          </a:ln>
        </p:spPr>
        <p:txBody>
          <a:bodyPr wrap="square" lIns="0" tIns="0" rIns="0" bIns="0" anchor="t">
            <a:noAutofit/>
          </a:bodyPr>
          <a:lstStyle/>
          <a:p>
            <a:pPr>
              <a:lnSpc>
                <a:spcPct val="115000"/>
              </a:lnSpc>
              <a:buNone/>
            </a:pPr>
            <a:r>
              <a:rPr lang="en-US" b="1" dirty="0">
                <a:solidFill>
                  <a:srgbClr val="1E2761"/>
                </a:solidFill>
                <a:latin typeface="Calibri"/>
              </a:rPr>
              <a:t>Data Loading</a:t>
            </a:r>
          </a:p>
        </p:txBody>
      </p:sp>
      <p:sp>
        <p:nvSpPr>
          <p:cNvPr id="52" name="TextBox 52"/>
          <p:cNvSpPr txBox="1"/>
          <p:nvPr/>
        </p:nvSpPr>
        <p:spPr>
          <a:xfrm>
            <a:off x="2812500" y="2542500"/>
            <a:ext cx="5869800" cy="540000"/>
          </a:xfrm>
          <a:prstGeom prst="rect">
            <a:avLst/>
          </a:prstGeom>
          <a:noFill/>
          <a:ln>
            <a:noFill/>
          </a:ln>
        </p:spPr>
        <p:txBody>
          <a:bodyPr wrap="square" lIns="0" tIns="0" rIns="0" bIns="0" anchor="t">
            <a:noAutofit/>
          </a:bodyPr>
          <a:lstStyle/>
          <a:p>
            <a:pPr>
              <a:lnSpc>
                <a:spcPct val="112000"/>
              </a:lnSpc>
              <a:buNone/>
            </a:pPr>
            <a:r>
              <a:rPr lang="en-US" sz="1100" dirty="0">
                <a:solidFill>
                  <a:srgbClr val="1A1F36"/>
                </a:solidFill>
                <a:latin typeface="Calibri"/>
              </a:rPr>
              <a:t>load_arc_easy_subset() pulls a reproducible random subset of ARC-Easy's test split via Hugging Face datasets, filtered to standard 4-option questions.</a:t>
            </a:r>
          </a:p>
        </p:txBody>
      </p:sp>
      <p:sp>
        <p:nvSpPr>
          <p:cNvPr id="33" name="TextBox 33"/>
          <p:cNvSpPr txBox="1"/>
          <p:nvPr/>
        </p:nvSpPr>
        <p:spPr>
          <a:xfrm>
            <a:off x="461700" y="3082500"/>
            <a:ext cx="2250000" cy="540000"/>
          </a:xfrm>
          <a:prstGeom prst="rect">
            <a:avLst/>
          </a:prstGeom>
          <a:noFill/>
          <a:ln>
            <a:noFill/>
          </a:ln>
        </p:spPr>
        <p:txBody>
          <a:bodyPr wrap="square" lIns="0" tIns="0" rIns="0" bIns="0" anchor="t">
            <a:noAutofit/>
          </a:bodyPr>
          <a:lstStyle/>
          <a:p>
            <a:pPr>
              <a:lnSpc>
                <a:spcPct val="115000"/>
              </a:lnSpc>
              <a:buNone/>
            </a:pPr>
            <a:r>
              <a:rPr lang="en-US" b="1" dirty="0">
                <a:solidFill>
                  <a:srgbClr val="1E2761"/>
                </a:solidFill>
                <a:latin typeface="Calibri"/>
              </a:rPr>
              <a:t>Model Query</a:t>
            </a:r>
          </a:p>
        </p:txBody>
      </p:sp>
      <p:sp>
        <p:nvSpPr>
          <p:cNvPr id="53" name="TextBox 53"/>
          <p:cNvSpPr txBox="1"/>
          <p:nvPr/>
        </p:nvSpPr>
        <p:spPr>
          <a:xfrm>
            <a:off x="2812500" y="3082500"/>
            <a:ext cx="5869800" cy="540000"/>
          </a:xfrm>
          <a:prstGeom prst="rect">
            <a:avLst/>
          </a:prstGeom>
          <a:noFill/>
          <a:ln>
            <a:noFill/>
          </a:ln>
        </p:spPr>
        <p:txBody>
          <a:bodyPr wrap="square" lIns="0" tIns="0" rIns="0" bIns="0" anchor="t">
            <a:noAutofit/>
          </a:bodyPr>
          <a:lstStyle/>
          <a:p>
            <a:pPr>
              <a:lnSpc>
                <a:spcPct val="112000"/>
              </a:lnSpc>
              <a:buNone/>
            </a:pPr>
            <a:r>
              <a:rPr lang="en-US" sz="1100" dirty="0">
                <a:solidFill>
                  <a:srgbClr val="1A1F36"/>
                </a:solidFill>
                <a:latin typeface="Calibri"/>
              </a:rPr>
              <a:t>query_model() calls the OpenAI-compatible chat.completions endpoint, passing extra_body={"think": False} to skip Qwen3's reasoning pass.</a:t>
            </a:r>
          </a:p>
        </p:txBody>
      </p:sp>
      <p:sp>
        <p:nvSpPr>
          <p:cNvPr id="34" name="TextBox 34"/>
          <p:cNvSpPr txBox="1"/>
          <p:nvPr/>
        </p:nvSpPr>
        <p:spPr>
          <a:xfrm>
            <a:off x="461700" y="3622500"/>
            <a:ext cx="2250000" cy="540000"/>
          </a:xfrm>
          <a:prstGeom prst="rect">
            <a:avLst/>
          </a:prstGeom>
          <a:noFill/>
          <a:ln>
            <a:noFill/>
          </a:ln>
        </p:spPr>
        <p:txBody>
          <a:bodyPr wrap="square" lIns="0" tIns="0" rIns="0" bIns="0" anchor="t">
            <a:noAutofit/>
          </a:bodyPr>
          <a:lstStyle/>
          <a:p>
            <a:pPr>
              <a:lnSpc>
                <a:spcPct val="115000"/>
              </a:lnSpc>
              <a:buNone/>
            </a:pPr>
            <a:r>
              <a:rPr lang="en-US" b="1" dirty="0">
                <a:solidFill>
                  <a:srgbClr val="1E2761"/>
                </a:solidFill>
                <a:latin typeface="Calibri"/>
              </a:rPr>
              <a:t>Answer Extraction</a:t>
            </a:r>
          </a:p>
        </p:txBody>
      </p:sp>
      <p:sp>
        <p:nvSpPr>
          <p:cNvPr id="54" name="TextBox 54"/>
          <p:cNvSpPr txBox="1"/>
          <p:nvPr/>
        </p:nvSpPr>
        <p:spPr>
          <a:xfrm>
            <a:off x="2812500" y="3622500"/>
            <a:ext cx="5869800" cy="540000"/>
          </a:xfrm>
          <a:prstGeom prst="rect">
            <a:avLst/>
          </a:prstGeom>
          <a:noFill/>
          <a:ln>
            <a:noFill/>
          </a:ln>
        </p:spPr>
        <p:txBody>
          <a:bodyPr wrap="square" lIns="0" tIns="0" rIns="0" bIns="0" anchor="t">
            <a:noAutofit/>
          </a:bodyPr>
          <a:lstStyle/>
          <a:p>
            <a:pPr>
              <a:lnSpc>
                <a:spcPct val="112000"/>
              </a:lnSpc>
              <a:buNone/>
            </a:pPr>
            <a:r>
              <a:rPr lang="en-US" sz="1100" dirty="0">
                <a:solidFill>
                  <a:srgbClr val="1A1F36"/>
                </a:solidFill>
                <a:latin typeface="Calibri"/>
              </a:rPr>
              <a:t>extract_letter() pulls an A/B/C/D answer out of raw model text with a layered fallback: exact match, then “answer is X” patterns, then last standalone letter.</a:t>
            </a:r>
          </a:p>
        </p:txBody>
      </p:sp>
      <p:sp>
        <p:nvSpPr>
          <p:cNvPr id="35" name="TextBox 35"/>
          <p:cNvSpPr txBox="1"/>
          <p:nvPr/>
        </p:nvSpPr>
        <p:spPr>
          <a:xfrm>
            <a:off x="461700" y="4162500"/>
            <a:ext cx="2250000" cy="540000"/>
          </a:xfrm>
          <a:prstGeom prst="rect">
            <a:avLst/>
          </a:prstGeom>
          <a:noFill/>
          <a:ln>
            <a:noFill/>
          </a:ln>
        </p:spPr>
        <p:txBody>
          <a:bodyPr wrap="square" lIns="0" tIns="0" rIns="0" bIns="0" anchor="t">
            <a:noAutofit/>
          </a:bodyPr>
          <a:lstStyle/>
          <a:p>
            <a:pPr>
              <a:lnSpc>
                <a:spcPct val="115000"/>
              </a:lnSpc>
              <a:buNone/>
            </a:pPr>
            <a:r>
              <a:rPr lang="en-US" b="1" dirty="0">
                <a:solidFill>
                  <a:srgbClr val="1E2761"/>
                </a:solidFill>
                <a:latin typeface="Calibri"/>
              </a:rPr>
              <a:t>Evaluation Loop &amp; Reporting</a:t>
            </a:r>
          </a:p>
        </p:txBody>
      </p:sp>
      <p:sp>
        <p:nvSpPr>
          <p:cNvPr id="55" name="TextBox 55"/>
          <p:cNvSpPr txBox="1"/>
          <p:nvPr/>
        </p:nvSpPr>
        <p:spPr>
          <a:xfrm>
            <a:off x="2812500" y="4162500"/>
            <a:ext cx="5869800" cy="540000"/>
          </a:xfrm>
          <a:prstGeom prst="rect">
            <a:avLst/>
          </a:prstGeom>
          <a:noFill/>
          <a:ln>
            <a:noFill/>
          </a:ln>
        </p:spPr>
        <p:txBody>
          <a:bodyPr wrap="square" lIns="0" tIns="0" rIns="0" bIns="0" anchor="t">
            <a:noAutofit/>
          </a:bodyPr>
          <a:lstStyle/>
          <a:p>
            <a:pPr>
              <a:lnSpc>
                <a:spcPct val="112000"/>
              </a:lnSpc>
              <a:buNone/>
            </a:pPr>
            <a:r>
              <a:rPr lang="en-US" sz="1100" dirty="0">
                <a:solidFill>
                  <a:srgbClr val="1A1F36"/>
                </a:solidFill>
                <a:latin typeface="Calibri"/>
              </a:rPr>
              <a:t>run_evaluation() runs every example through all three prompts and grades them; print_report() summarizes accuracy and parse rate per prompt.</a:t>
            </a:r>
          </a:p>
        </p:txBody>
      </p:sp>
      <p:pic>
        <p:nvPicPr>
          <p:cNvPr id="5" name="logo"/>
          <p:cNvPicPr preferRelativeResize="0"/>
          <p:nvPr/>
        </p:nvPicPr>
        <p:blipFill>
          <a:blip r:embed="rId2">
            <a:alphaModFix/>
          </a:blip>
          <a:stretch>
            <a:fillRect/>
          </a:stretch>
        </p:blipFill>
        <p:spPr>
          <a:xfrm>
            <a:off x="8369126" y="0"/>
            <a:ext cx="774877" cy="86717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1E2761"/>
                </a:solidFill>
                <a:latin typeface="Georgia"/>
              </a:rPr>
              <a:t>Code Walkthrough</a:t>
            </a:r>
          </a:p>
        </p:txBody>
      </p:sp>
      <p:sp>
        <p:nvSpPr>
          <p:cNvPr id="20" name="TextBox 20"/>
          <p:cNvSpPr txBox="1"/>
          <p:nvPr/>
        </p:nvSpPr>
        <p:spPr>
          <a:xfrm>
            <a:off x="461700" y="1065000"/>
            <a:ext cx="8220600" cy="262500"/>
          </a:xfrm>
          <a:prstGeom prst="rect">
            <a:avLst/>
          </a:prstGeom>
          <a:noFill/>
          <a:ln>
            <a:noFill/>
          </a:ln>
        </p:spPr>
        <p:txBody>
          <a:bodyPr wrap="square" lIns="0" tIns="0" rIns="0" bIns="0" anchor="t">
            <a:noAutofit/>
          </a:bodyPr>
          <a:lstStyle/>
          <a:p>
            <a:pPr>
              <a:lnSpc>
                <a:spcPct val="115000"/>
              </a:lnSpc>
              <a:buNone/>
            </a:pPr>
            <a:r>
              <a:rPr lang="en-US" sz="1000" b="1" dirty="0">
                <a:solidFill>
                  <a:srgbClr val="1E2761"/>
                </a:solidFill>
                <a:latin typeface="Georgia"/>
              </a:rPr>
              <a:t>Data Loading &amp; Evaluation Loop</a:t>
            </a:r>
            <a:endParaRPr lang="en-US" sz="975" i="1" dirty="0">
              <a:solidFill>
                <a:srgbClr val="1A1F36"/>
              </a:solidFill>
              <a:latin typeface="Calibri"/>
            </a:endParaRPr>
          </a:p>
        </p:txBody>
      </p:sp>
      <p:sp>
        <p:nvSpPr>
          <p:cNvPr id="30" name="Code 30"/>
          <p:cNvSpPr/>
          <p:nvPr/>
        </p:nvSpPr>
        <p:spPr>
          <a:xfrm>
            <a:off x="398090" y="1425000"/>
            <a:ext cx="3633222" cy="3487500"/>
          </a:xfrm>
          <a:prstGeom prst="roundRect">
            <a:avLst>
              <a:gd name="adj" fmla="val 4000"/>
            </a:avLst>
          </a:prstGeom>
          <a:solidFill>
            <a:srgbClr val="182046"/>
          </a:solidFill>
          <a:ln>
            <a:noFill/>
          </a:ln>
        </p:spPr>
        <p:txBody>
          <a:bodyPr wrap="square" lIns="137160" tIns="102870" rIns="102870" bIns="102870" anchor="t">
            <a:normAutofit/>
          </a:bodyPr>
          <a:lstStyle/>
          <a:p>
            <a:pPr>
              <a:buNone/>
            </a:pPr>
            <a:r>
              <a:rPr lang="en-US" sz="1100" b="1" dirty="0">
                <a:solidFill>
                  <a:srgbClr val="D9B84A"/>
                </a:solidFill>
                <a:latin typeface="Consolas"/>
              </a:rPr>
              <a:t>load_arc_easy_subset()</a:t>
            </a:r>
          </a:p>
          <a:p>
            <a:pPr>
              <a:lnSpc>
                <a:spcPct val="112000"/>
              </a:lnSpc>
              <a:buNone/>
            </a:pPr>
            <a:r>
              <a:rPr lang="en-US" sz="1000" dirty="0">
                <a:solidFill>
                  <a:srgbClr val="EAF0FF"/>
                </a:solidFill>
                <a:latin typeface="Consolas"/>
              </a:rPr>
              <a:t>def load_arc_easy_subset(n, seed):</a:t>
            </a:r>
          </a:p>
          <a:p>
            <a:pPr>
              <a:lnSpc>
                <a:spcPct val="112000"/>
              </a:lnSpc>
              <a:buNone/>
            </a:pPr>
            <a:r>
              <a:rPr lang="en-US" sz="1000" dirty="0">
                <a:solidFill>
                  <a:srgbClr val="EAF0FF"/>
                </a:solidFill>
                <a:latin typeface="Consolas"/>
              </a:rPr>
              <a:t>    """Load a random n-question subset</a:t>
            </a:r>
          </a:p>
          <a:p>
            <a:pPr>
              <a:lnSpc>
                <a:spcPct val="112000"/>
              </a:lnSpc>
              <a:buNone/>
            </a:pPr>
            <a:r>
              <a:rPr lang="en-US" sz="1000" dirty="0">
                <a:solidFill>
                  <a:srgbClr val="EAF0FF"/>
                </a:solidFill>
                <a:latin typeface="Consolas"/>
              </a:rPr>
              <a:t>    of ARC-Easy (test split), keeping</a:t>
            </a:r>
          </a:p>
          <a:p>
            <a:pPr>
              <a:lnSpc>
                <a:spcPct val="112000"/>
              </a:lnSpc>
              <a:buNone/>
            </a:pPr>
            <a:r>
              <a:rPr lang="en-US" sz="1000" dirty="0">
                <a:solidFill>
                  <a:srgbClr val="EAF0FF"/>
                </a:solidFill>
                <a:latin typeface="Consolas"/>
              </a:rPr>
              <a:t>    only 4-option questions so A-D</a:t>
            </a:r>
          </a:p>
          <a:p>
            <a:pPr>
              <a:lnSpc>
                <a:spcPct val="112000"/>
              </a:lnSpc>
              <a:buNone/>
            </a:pPr>
            <a:r>
              <a:rPr lang="en-US" sz="1000" dirty="0">
                <a:solidFill>
                  <a:srgbClr val="EAF0FF"/>
                </a:solidFill>
                <a:latin typeface="Consolas"/>
              </a:rPr>
              <a:t>    formatting stays clean."""</a:t>
            </a:r>
          </a:p>
          <a:p>
            <a:pPr>
              <a:lnSpc>
                <a:spcPct val="112000"/>
              </a:lnSpc>
              <a:buNone/>
            </a:pPr>
            <a:r>
              <a:rPr lang="en-US" sz="1000" dirty="0">
                <a:solidFill>
                  <a:srgbClr val="EAF0FF"/>
                </a:solidFill>
                <a:latin typeface="Consolas"/>
              </a:rPr>
              <a:t>    dataset = load_dataset(</a:t>
            </a:r>
          </a:p>
          <a:p>
            <a:pPr>
              <a:lnSpc>
                <a:spcPct val="112000"/>
              </a:lnSpc>
              <a:buNone/>
            </a:pPr>
            <a:r>
              <a:rPr lang="en-US" sz="1000" dirty="0">
                <a:solidFill>
                  <a:srgbClr val="EAF0FF"/>
                </a:solidFill>
                <a:latin typeface="Consolas"/>
              </a:rPr>
              <a:t>        "allenai/ai2_arc", "ARC-Easy",</a:t>
            </a:r>
          </a:p>
          <a:p>
            <a:pPr>
              <a:lnSpc>
                <a:spcPct val="112000"/>
              </a:lnSpc>
              <a:buNone/>
            </a:pPr>
            <a:r>
              <a:rPr lang="en-US" sz="1000" dirty="0">
                <a:solidFill>
                  <a:srgbClr val="EAF0FF"/>
                </a:solidFill>
                <a:latin typeface="Consolas"/>
              </a:rPr>
              <a:t>        split="test")</a:t>
            </a:r>
          </a:p>
          <a:p>
            <a:pPr>
              <a:lnSpc>
                <a:spcPct val="112000"/>
              </a:lnSpc>
              <a:buNone/>
            </a:pPr>
            <a:r>
              <a:rPr lang="en-US" sz="1000" dirty="0">
                <a:solidFill>
                  <a:srgbClr val="EAF0FF"/>
                </a:solidFill>
                <a:latin typeface="Consolas"/>
              </a:rPr>
              <a:t>    dataset = dataset.filter(</a:t>
            </a:r>
          </a:p>
          <a:p>
            <a:pPr>
              <a:lnSpc>
                <a:spcPct val="112000"/>
              </a:lnSpc>
              <a:buNone/>
            </a:pPr>
            <a:r>
              <a:rPr lang="en-US" sz="1000" dirty="0">
                <a:solidFill>
                  <a:srgbClr val="EAF0FF"/>
                </a:solidFill>
                <a:latin typeface="Consolas"/>
              </a:rPr>
              <a:t>        lambda ex: len(</a:t>
            </a:r>
          </a:p>
          <a:p>
            <a:pPr>
              <a:lnSpc>
                <a:spcPct val="112000"/>
              </a:lnSpc>
              <a:buNone/>
            </a:pPr>
            <a:r>
              <a:rPr lang="en-US" sz="1000" dirty="0">
                <a:solidFill>
                  <a:srgbClr val="EAF0FF"/>
                </a:solidFill>
                <a:latin typeface="Consolas"/>
              </a:rPr>
              <a:t>            ex["choices"]["text"]) == 4)</a:t>
            </a:r>
          </a:p>
          <a:p>
            <a:pPr>
              <a:lnSpc>
                <a:spcPct val="112000"/>
              </a:lnSpc>
              <a:buNone/>
            </a:pPr>
            <a:r>
              <a:rPr lang="en-US" sz="1000" dirty="0">
                <a:solidFill>
                  <a:srgbClr val="EAF0FF"/>
                </a:solidFill>
                <a:latin typeface="Consolas"/>
              </a:rPr>
              <a:t>    rng = random.Random(seed)</a:t>
            </a:r>
          </a:p>
          <a:p>
            <a:pPr>
              <a:lnSpc>
                <a:spcPct val="112000"/>
              </a:lnSpc>
              <a:buNone/>
            </a:pPr>
            <a:r>
              <a:rPr lang="en-US" sz="1000" dirty="0">
                <a:solidFill>
                  <a:srgbClr val="EAF0FF"/>
                </a:solidFill>
                <a:latin typeface="Consolas"/>
              </a:rPr>
              <a:t>    indices = rng.sample(</a:t>
            </a:r>
          </a:p>
          <a:p>
            <a:pPr>
              <a:lnSpc>
                <a:spcPct val="112000"/>
              </a:lnSpc>
              <a:buNone/>
            </a:pPr>
            <a:r>
              <a:rPr lang="en-US" sz="1000" dirty="0">
                <a:solidFill>
                  <a:srgbClr val="EAF0FF"/>
                </a:solidFill>
                <a:latin typeface="Consolas"/>
              </a:rPr>
              <a:t>        range(len(dataset)),</a:t>
            </a:r>
          </a:p>
          <a:p>
            <a:pPr>
              <a:lnSpc>
                <a:spcPct val="112000"/>
              </a:lnSpc>
              <a:buNone/>
            </a:pPr>
            <a:r>
              <a:rPr lang="en-US" sz="1000" dirty="0">
                <a:solidFill>
                  <a:srgbClr val="EAF0FF"/>
                </a:solidFill>
                <a:latin typeface="Consolas"/>
              </a:rPr>
              <a:t>        k=min(n, len(dataset)))</a:t>
            </a:r>
          </a:p>
          <a:p>
            <a:pPr>
              <a:lnSpc>
                <a:spcPct val="112000"/>
              </a:lnSpc>
              <a:buNone/>
            </a:pPr>
            <a:r>
              <a:rPr lang="en-US" sz="1000" dirty="0">
                <a:solidFill>
                  <a:srgbClr val="EAF0FF"/>
                </a:solidFill>
                <a:latin typeface="Consolas"/>
              </a:rPr>
              <a:t>    return dataset.select(indices)</a:t>
            </a:r>
          </a:p>
        </p:txBody>
      </p:sp>
      <p:sp>
        <p:nvSpPr>
          <p:cNvPr id="31" name="Code 31"/>
          <p:cNvSpPr/>
          <p:nvPr/>
        </p:nvSpPr>
        <p:spPr>
          <a:xfrm>
            <a:off x="4320996" y="620203"/>
            <a:ext cx="4048130" cy="4397070"/>
          </a:xfrm>
          <a:prstGeom prst="roundRect">
            <a:avLst>
              <a:gd name="adj" fmla="val 4000"/>
            </a:avLst>
          </a:prstGeom>
          <a:solidFill>
            <a:srgbClr val="182046"/>
          </a:solidFill>
          <a:ln>
            <a:noFill/>
          </a:ln>
        </p:spPr>
        <p:txBody>
          <a:bodyPr wrap="square" lIns="137160" tIns="102870" rIns="102870" bIns="102870" anchor="t">
            <a:normAutofit/>
          </a:bodyPr>
          <a:lstStyle/>
          <a:p>
            <a:pPr>
              <a:buNone/>
            </a:pPr>
            <a:r>
              <a:rPr lang="en-US" sz="975" b="1" dirty="0">
                <a:solidFill>
                  <a:srgbClr val="D9B84A"/>
                </a:solidFill>
                <a:latin typeface="Consolas"/>
              </a:rPr>
              <a:t>run_evaluation()</a:t>
            </a:r>
          </a:p>
          <a:p>
            <a:pPr>
              <a:lnSpc>
                <a:spcPct val="108000"/>
              </a:lnSpc>
              <a:buNone/>
            </a:pPr>
            <a:r>
              <a:rPr lang="en-US" sz="788" dirty="0">
                <a:solidFill>
                  <a:srgbClr val="EAF0FF"/>
                </a:solidFill>
                <a:latin typeface="Consolas"/>
              </a:rPr>
              <a:t>def run_evaluation(client, model, examples):</a:t>
            </a:r>
          </a:p>
          <a:p>
            <a:pPr>
              <a:lnSpc>
                <a:spcPct val="108000"/>
              </a:lnSpc>
              <a:buNone/>
            </a:pPr>
            <a:r>
              <a:rPr lang="en-US" sz="788" dirty="0">
                <a:solidFill>
                  <a:srgbClr val="EAF0FF"/>
                </a:solidFill>
                <a:latin typeface="Consolas"/>
              </a:rPr>
              <a:t>    results = {name: PromptResult(name)</a:t>
            </a:r>
          </a:p>
          <a:p>
            <a:pPr>
              <a:lnSpc>
                <a:spcPct val="108000"/>
              </a:lnSpc>
              <a:buNone/>
            </a:pPr>
            <a:r>
              <a:rPr lang="en-US" sz="788" dirty="0">
                <a:solidFill>
                  <a:srgbClr val="EAF0FF"/>
                </a:solidFill>
                <a:latin typeface="Consolas"/>
              </a:rPr>
              <a:t>               for name in PROMPTS}</a:t>
            </a:r>
          </a:p>
          <a:p>
            <a:pPr>
              <a:lnSpc>
                <a:spcPct val="108000"/>
              </a:lnSpc>
              <a:buNone/>
            </a:pPr>
            <a:r>
              <a:rPr lang="en-US" sz="788" dirty="0">
                <a:solidFill>
                  <a:srgbClr val="EAF0FF"/>
                </a:solidFill>
                <a:latin typeface="Consolas"/>
              </a:rPr>
              <a:t>    for example in tqdm(examples):</a:t>
            </a:r>
          </a:p>
          <a:p>
            <a:pPr>
              <a:lnSpc>
                <a:spcPct val="108000"/>
              </a:lnSpc>
              <a:buNone/>
            </a:pPr>
            <a:r>
              <a:rPr lang="en-US" sz="788" dirty="0">
                <a:solidFill>
                  <a:srgbClr val="EAF0FF"/>
                </a:solidFill>
                <a:latin typeface="Consolas"/>
              </a:rPr>
              <a:t>        question = example["question"]</a:t>
            </a:r>
          </a:p>
          <a:p>
            <a:pPr>
              <a:lnSpc>
                <a:spcPct val="108000"/>
              </a:lnSpc>
              <a:buNone/>
            </a:pPr>
            <a:r>
              <a:rPr lang="en-US" sz="788" dirty="0">
                <a:solidFill>
                  <a:srgbClr val="EAF0FF"/>
                </a:solidFill>
                <a:latin typeface="Consolas"/>
              </a:rPr>
              <a:t>        choices = example["choices"]</a:t>
            </a:r>
          </a:p>
          <a:p>
            <a:pPr>
              <a:lnSpc>
                <a:spcPct val="108000"/>
              </a:lnSpc>
              <a:buNone/>
            </a:pPr>
            <a:r>
              <a:rPr lang="en-US" sz="788" dirty="0">
                <a:solidFill>
                  <a:srgbClr val="EAF0FF"/>
                </a:solidFill>
                <a:latin typeface="Consolas"/>
              </a:rPr>
              <a:t>        correct_letter = example["answerKey"]</a:t>
            </a:r>
          </a:p>
          <a:p>
            <a:pPr>
              <a:lnSpc>
                <a:spcPct val="108000"/>
              </a:lnSpc>
              <a:buNone/>
            </a:pPr>
            <a:r>
              <a:rPr lang="en-US" sz="788" dirty="0">
                <a:solidFill>
                  <a:srgbClr val="EAF0FF"/>
                </a:solidFill>
                <a:latin typeface="Consolas"/>
              </a:rPr>
              <a:t>        for name, (build_prompt, max_tok)</a:t>
            </a:r>
          </a:p>
          <a:p>
            <a:pPr>
              <a:lnSpc>
                <a:spcPct val="108000"/>
              </a:lnSpc>
              <a:buNone/>
            </a:pPr>
            <a:r>
              <a:rPr lang="en-US" sz="788" dirty="0">
                <a:solidFill>
                  <a:srgbClr val="EAF0FF"/>
                </a:solidFill>
                <a:latin typeface="Consolas"/>
              </a:rPr>
              <a:t>                in PROMPTS.items():</a:t>
            </a:r>
          </a:p>
          <a:p>
            <a:pPr>
              <a:lnSpc>
                <a:spcPct val="108000"/>
              </a:lnSpc>
              <a:buNone/>
            </a:pPr>
            <a:r>
              <a:rPr lang="en-US" sz="788" dirty="0">
                <a:solidFill>
                  <a:srgbClr val="EAF0FF"/>
                </a:solidFill>
                <a:latin typeface="Consolas"/>
              </a:rPr>
              <a:t>            result = results[name]</a:t>
            </a:r>
          </a:p>
          <a:p>
            <a:pPr>
              <a:lnSpc>
                <a:spcPct val="108000"/>
              </a:lnSpc>
              <a:buNone/>
            </a:pPr>
            <a:r>
              <a:rPr lang="en-US" sz="788" dirty="0">
                <a:solidFill>
                  <a:srgbClr val="EAF0FF"/>
                </a:solidFill>
                <a:latin typeface="Consolas"/>
              </a:rPr>
              <a:t>            result.total += 1</a:t>
            </a:r>
          </a:p>
          <a:p>
            <a:pPr>
              <a:lnSpc>
                <a:spcPct val="108000"/>
              </a:lnSpc>
              <a:buNone/>
            </a:pPr>
            <a:r>
              <a:rPr lang="en-US" sz="788" dirty="0">
                <a:solidFill>
                  <a:srgbClr val="EAF0FF"/>
                </a:solidFill>
                <a:latin typeface="Consolas"/>
              </a:rPr>
              <a:t>            prompt = build_prompt(</a:t>
            </a:r>
          </a:p>
          <a:p>
            <a:pPr>
              <a:lnSpc>
                <a:spcPct val="108000"/>
              </a:lnSpc>
              <a:buNone/>
            </a:pPr>
            <a:r>
              <a:rPr lang="en-US" sz="788" dirty="0">
                <a:solidFill>
                  <a:srgbClr val="EAF0FF"/>
                </a:solidFill>
                <a:latin typeface="Consolas"/>
              </a:rPr>
              <a:t>                question, choices)</a:t>
            </a:r>
          </a:p>
          <a:p>
            <a:pPr>
              <a:lnSpc>
                <a:spcPct val="108000"/>
              </a:lnSpc>
              <a:buNone/>
            </a:pPr>
            <a:r>
              <a:rPr lang="en-US" sz="788" dirty="0">
                <a:solidFill>
                  <a:srgbClr val="EAF0FF"/>
                </a:solidFill>
                <a:latin typeface="Consolas"/>
              </a:rPr>
              <a:t>            raw = query_model(</a:t>
            </a:r>
          </a:p>
          <a:p>
            <a:pPr>
              <a:lnSpc>
                <a:spcPct val="108000"/>
              </a:lnSpc>
              <a:buNone/>
            </a:pPr>
            <a:r>
              <a:rPr lang="en-US" sz="788" dirty="0">
                <a:solidFill>
                  <a:srgbClr val="EAF0FF"/>
                </a:solidFill>
                <a:latin typeface="Consolas"/>
              </a:rPr>
              <a:t>                client, model,</a:t>
            </a:r>
          </a:p>
          <a:p>
            <a:pPr>
              <a:lnSpc>
                <a:spcPct val="108000"/>
              </a:lnSpc>
              <a:buNone/>
            </a:pPr>
            <a:r>
              <a:rPr lang="en-US" sz="788" dirty="0">
                <a:solidFill>
                  <a:srgbClr val="EAF0FF"/>
                </a:solidFill>
                <a:latin typeface="Consolas"/>
              </a:rPr>
              <a:t>                prompt, max_tok)</a:t>
            </a:r>
          </a:p>
          <a:p>
            <a:pPr>
              <a:lnSpc>
                <a:spcPct val="108000"/>
              </a:lnSpc>
              <a:buNone/>
            </a:pPr>
            <a:r>
              <a:rPr lang="en-US" sz="788" dirty="0">
                <a:solidFill>
                  <a:srgbClr val="EAF0FF"/>
                </a:solidFill>
                <a:latin typeface="Consolas"/>
              </a:rPr>
              <a:t>            pred = extract_letter(raw)</a:t>
            </a:r>
          </a:p>
          <a:p>
            <a:pPr>
              <a:lnSpc>
                <a:spcPct val="108000"/>
              </a:lnSpc>
              <a:buNone/>
            </a:pPr>
            <a:r>
              <a:rPr lang="en-US" sz="788" dirty="0">
                <a:solidFill>
                  <a:srgbClr val="EAF0FF"/>
                </a:solidFill>
                <a:latin typeface="Consolas"/>
              </a:rPr>
              <a:t>            </a:t>
            </a:r>
            <a:r>
              <a:rPr lang="en-US" sz="788" dirty="0">
                <a:solidFill>
                  <a:srgbClr val="FFC000"/>
                </a:solidFill>
                <a:latin typeface="Consolas"/>
              </a:rPr>
              <a:t>if pred is None:</a:t>
            </a:r>
          </a:p>
          <a:p>
            <a:pPr>
              <a:lnSpc>
                <a:spcPct val="108000"/>
              </a:lnSpc>
              <a:buNone/>
            </a:pPr>
            <a:r>
              <a:rPr lang="en-US" sz="788" dirty="0">
                <a:solidFill>
                  <a:srgbClr val="FFC000"/>
                </a:solidFill>
                <a:latin typeface="Consolas"/>
              </a:rPr>
              <a:t>                result.failures.append(</a:t>
            </a:r>
          </a:p>
          <a:p>
            <a:pPr>
              <a:lnSpc>
                <a:spcPct val="108000"/>
              </a:lnSpc>
              <a:buNone/>
            </a:pPr>
            <a:r>
              <a:rPr lang="en-US" sz="788" dirty="0">
                <a:solidFill>
                  <a:srgbClr val="FFC000"/>
                </a:solidFill>
                <a:latin typeface="Consolas"/>
              </a:rPr>
              <a:t>                    (question, "unparseable"))</a:t>
            </a:r>
          </a:p>
          <a:p>
            <a:pPr>
              <a:lnSpc>
                <a:spcPct val="108000"/>
              </a:lnSpc>
              <a:buNone/>
            </a:pPr>
            <a:r>
              <a:rPr lang="en-US" sz="788" dirty="0">
                <a:solidFill>
                  <a:srgbClr val="EAF0FF"/>
                </a:solidFill>
                <a:latin typeface="Consolas"/>
              </a:rPr>
              <a:t>            else:</a:t>
            </a:r>
          </a:p>
          <a:p>
            <a:pPr>
              <a:lnSpc>
                <a:spcPct val="108000"/>
              </a:lnSpc>
              <a:buNone/>
            </a:pPr>
            <a:r>
              <a:rPr lang="en-US" sz="788" dirty="0">
                <a:solidFill>
                  <a:srgbClr val="EAF0FF"/>
                </a:solidFill>
                <a:latin typeface="Consolas"/>
              </a:rPr>
              <a:t>                result.parsed += 1</a:t>
            </a:r>
          </a:p>
          <a:p>
            <a:pPr>
              <a:lnSpc>
                <a:spcPct val="108000"/>
              </a:lnSpc>
              <a:buNone/>
            </a:pPr>
            <a:r>
              <a:rPr lang="en-US" sz="788" dirty="0">
                <a:solidFill>
                  <a:srgbClr val="EAF0FF"/>
                </a:solidFill>
                <a:latin typeface="Consolas"/>
              </a:rPr>
              <a:t>                if pred == correct_letter:</a:t>
            </a:r>
          </a:p>
          <a:p>
            <a:pPr>
              <a:lnSpc>
                <a:spcPct val="108000"/>
              </a:lnSpc>
              <a:buNone/>
            </a:pPr>
            <a:r>
              <a:rPr lang="en-US" sz="788" dirty="0">
                <a:solidFill>
                  <a:srgbClr val="EAF0FF"/>
                </a:solidFill>
                <a:latin typeface="Consolas"/>
              </a:rPr>
              <a:t>                    result.correct += 1</a:t>
            </a:r>
          </a:p>
          <a:p>
            <a:pPr>
              <a:lnSpc>
                <a:spcPct val="108000"/>
              </a:lnSpc>
              <a:buNone/>
            </a:pPr>
            <a:r>
              <a:rPr lang="en-US" sz="788" dirty="0">
                <a:solidFill>
                  <a:srgbClr val="EAF0FF"/>
                </a:solidFill>
                <a:latin typeface="Consolas"/>
              </a:rPr>
              <a:t>                else:</a:t>
            </a:r>
          </a:p>
          <a:p>
            <a:pPr>
              <a:lnSpc>
                <a:spcPct val="108000"/>
              </a:lnSpc>
              <a:buNone/>
            </a:pPr>
            <a:r>
              <a:rPr lang="en-US" sz="788" dirty="0">
                <a:solidFill>
                  <a:srgbClr val="EAF0FF"/>
                </a:solidFill>
                <a:latin typeface="Consolas"/>
              </a:rPr>
              <a:t>                    result.failures.append(</a:t>
            </a:r>
          </a:p>
          <a:p>
            <a:pPr>
              <a:lnSpc>
                <a:spcPct val="108000"/>
              </a:lnSpc>
              <a:buNone/>
            </a:pPr>
            <a:r>
              <a:rPr lang="en-US" sz="788" dirty="0">
                <a:solidFill>
                  <a:srgbClr val="EAF0FF"/>
                </a:solidFill>
                <a:latin typeface="Consolas"/>
              </a:rPr>
              <a:t>                        (question, "mismatch"))</a:t>
            </a:r>
          </a:p>
          <a:p>
            <a:pPr>
              <a:lnSpc>
                <a:spcPct val="108000"/>
              </a:lnSpc>
              <a:buNone/>
            </a:pPr>
            <a:r>
              <a:rPr lang="en-US" sz="788" dirty="0">
                <a:solidFill>
                  <a:srgbClr val="EAF0FF"/>
                </a:solidFill>
                <a:latin typeface="Consolas"/>
              </a:rPr>
              <a:t>    return results</a:t>
            </a:r>
          </a:p>
        </p:txBody>
      </p:sp>
      <p:pic>
        <p:nvPicPr>
          <p:cNvPr id="5" name="logo"/>
          <p:cNvPicPr preferRelativeResize="0"/>
          <p:nvPr/>
        </p:nvPicPr>
        <p:blipFill>
          <a:blip r:embed="rId2">
            <a:alphaModFix/>
          </a:blip>
          <a:stretch>
            <a:fillRect/>
          </a:stretch>
        </p:blipFill>
        <p:spPr>
          <a:xfrm>
            <a:off x="8369126" y="0"/>
            <a:ext cx="774877" cy="86717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1E2761"/>
                </a:solidFill>
                <a:latin typeface="Georgia"/>
              </a:rPr>
              <a:t>Code Walkthrough: Querying the Model</a:t>
            </a:r>
          </a:p>
        </p:txBody>
      </p:sp>
      <p:sp>
        <p:nvSpPr>
          <p:cNvPr id="20" name="TextBox 20"/>
          <p:cNvSpPr txBox="1"/>
          <p:nvPr/>
        </p:nvSpPr>
        <p:spPr>
          <a:xfrm>
            <a:off x="461700" y="1065000"/>
            <a:ext cx="8220600" cy="262500"/>
          </a:xfrm>
          <a:prstGeom prst="rect">
            <a:avLst/>
          </a:prstGeom>
          <a:noFill/>
          <a:ln>
            <a:noFill/>
          </a:ln>
        </p:spPr>
        <p:txBody>
          <a:bodyPr wrap="square" lIns="0" tIns="0" rIns="0" bIns="0" anchor="t">
            <a:noAutofit/>
          </a:bodyPr>
          <a:lstStyle/>
          <a:p>
            <a:pPr>
              <a:lnSpc>
                <a:spcPct val="115000"/>
              </a:lnSpc>
              <a:buNone/>
            </a:pPr>
            <a:r>
              <a:rPr lang="en-US" sz="975" i="1" dirty="0">
                <a:solidFill>
                  <a:srgbClr val="1A1F36"/>
                </a:solidFill>
                <a:latin typeface="Calibri"/>
              </a:rPr>
              <a:t>test-prompts-test.py</a:t>
            </a:r>
          </a:p>
        </p:txBody>
      </p:sp>
      <p:sp>
        <p:nvSpPr>
          <p:cNvPr id="30" name="Code 30"/>
          <p:cNvSpPr/>
          <p:nvPr/>
        </p:nvSpPr>
        <p:spPr>
          <a:xfrm>
            <a:off x="461700" y="1425000"/>
            <a:ext cx="4035300" cy="3487500"/>
          </a:xfrm>
          <a:prstGeom prst="roundRect">
            <a:avLst>
              <a:gd name="adj" fmla="val 4000"/>
            </a:avLst>
          </a:prstGeom>
          <a:solidFill>
            <a:srgbClr val="182046"/>
          </a:solidFill>
          <a:ln>
            <a:noFill/>
          </a:ln>
        </p:spPr>
        <p:txBody>
          <a:bodyPr wrap="square" lIns="137160" tIns="102870" rIns="102870" bIns="102870" anchor="t">
            <a:normAutofit/>
          </a:bodyPr>
          <a:lstStyle/>
          <a:p>
            <a:pPr>
              <a:buNone/>
            </a:pPr>
            <a:r>
              <a:rPr lang="en-US" sz="975" b="1" dirty="0">
                <a:solidFill>
                  <a:srgbClr val="D9B84A"/>
                </a:solidFill>
                <a:latin typeface="Consolas"/>
              </a:rPr>
              <a:t>query_model()</a:t>
            </a:r>
          </a:p>
          <a:p>
            <a:pPr>
              <a:lnSpc>
                <a:spcPct val="112000"/>
              </a:lnSpc>
              <a:buNone/>
            </a:pPr>
            <a:r>
              <a:rPr lang="en-US" sz="938" dirty="0">
                <a:solidFill>
                  <a:srgbClr val="EAF0FF"/>
                </a:solidFill>
                <a:latin typeface="Consolas"/>
              </a:rPr>
              <a:t>def query_model(client, model,</a:t>
            </a:r>
          </a:p>
          <a:p>
            <a:pPr>
              <a:lnSpc>
                <a:spcPct val="112000"/>
              </a:lnSpc>
              <a:buNone/>
            </a:pPr>
            <a:r>
              <a:rPr lang="en-US" sz="938" dirty="0">
                <a:solidFill>
                  <a:srgbClr val="EAF0FF"/>
                </a:solidFill>
                <a:latin typeface="Consolas"/>
              </a:rPr>
              <a:t>                 user_prompt, max_tokens):</a:t>
            </a:r>
          </a:p>
          <a:p>
            <a:pPr>
              <a:lnSpc>
                <a:spcPct val="112000"/>
              </a:lnSpc>
              <a:buNone/>
            </a:pPr>
            <a:r>
              <a:rPr lang="en-US" sz="938" dirty="0">
                <a:solidFill>
                  <a:srgbClr val="EAF0FF"/>
                </a:solidFill>
                <a:latin typeface="Consolas"/>
              </a:rPr>
              <a:t>    extra_body = {}</a:t>
            </a:r>
          </a:p>
          <a:p>
            <a:pPr>
              <a:lnSpc>
                <a:spcPct val="112000"/>
              </a:lnSpc>
              <a:buNone/>
            </a:pPr>
            <a:r>
              <a:rPr lang="en-US" sz="938" dirty="0">
                <a:solidFill>
                  <a:srgbClr val="EAF0FF"/>
                </a:solidFill>
                <a:latin typeface="Consolas"/>
              </a:rPr>
              <a:t>    if DISABLE_THINKING:</a:t>
            </a:r>
          </a:p>
          <a:p>
            <a:pPr>
              <a:lnSpc>
                <a:spcPct val="112000"/>
              </a:lnSpc>
              <a:buNone/>
            </a:pPr>
            <a:r>
              <a:rPr lang="en-US" sz="938" dirty="0">
                <a:solidFill>
                  <a:srgbClr val="EAF0FF"/>
                </a:solidFill>
                <a:latin typeface="Consolas"/>
              </a:rPr>
              <a:t>        # Ollama: skip Qwen3's reasoning</a:t>
            </a:r>
          </a:p>
          <a:p>
            <a:pPr>
              <a:lnSpc>
                <a:spcPct val="112000"/>
              </a:lnSpc>
              <a:buNone/>
            </a:pPr>
            <a:r>
              <a:rPr lang="en-US" sz="938" dirty="0">
                <a:solidFill>
                  <a:srgbClr val="EAF0FF"/>
                </a:solidFill>
                <a:latin typeface="Consolas"/>
              </a:rPr>
              <a:t>        # pass for hybrid-reasoning models</a:t>
            </a:r>
          </a:p>
          <a:p>
            <a:pPr>
              <a:lnSpc>
                <a:spcPct val="112000"/>
              </a:lnSpc>
              <a:buNone/>
            </a:pPr>
            <a:r>
              <a:rPr lang="en-US" sz="938" dirty="0">
                <a:solidFill>
                  <a:srgbClr val="EAF0FF"/>
                </a:solidFill>
                <a:latin typeface="Consolas"/>
              </a:rPr>
              <a:t>        extra_body["think"] = False</a:t>
            </a:r>
          </a:p>
          <a:p>
            <a:pPr>
              <a:lnSpc>
                <a:spcPct val="112000"/>
              </a:lnSpc>
              <a:buNone/>
            </a:pPr>
            <a:r>
              <a:rPr lang="en-US" sz="938" dirty="0">
                <a:solidFill>
                  <a:srgbClr val="EAF0FF"/>
                </a:solidFill>
                <a:latin typeface="Consolas"/>
              </a:rPr>
              <a:t>    response = client.chat.completions.create(</a:t>
            </a:r>
          </a:p>
          <a:p>
            <a:pPr>
              <a:lnSpc>
                <a:spcPct val="112000"/>
              </a:lnSpc>
              <a:buNone/>
            </a:pPr>
            <a:r>
              <a:rPr lang="en-US" sz="938" dirty="0">
                <a:solidFill>
                  <a:srgbClr val="EAF0FF"/>
                </a:solidFill>
                <a:latin typeface="Consolas"/>
              </a:rPr>
              <a:t>        model=model,</a:t>
            </a:r>
          </a:p>
          <a:p>
            <a:pPr>
              <a:lnSpc>
                <a:spcPct val="112000"/>
              </a:lnSpc>
              <a:buNone/>
            </a:pPr>
            <a:r>
              <a:rPr lang="en-US" sz="938" dirty="0">
                <a:solidFill>
                  <a:srgbClr val="EAF0FF"/>
                </a:solidFill>
                <a:latin typeface="Consolas"/>
              </a:rPr>
              <a:t>        messages=[{"role": "user",</a:t>
            </a:r>
          </a:p>
          <a:p>
            <a:pPr>
              <a:lnSpc>
                <a:spcPct val="112000"/>
              </a:lnSpc>
              <a:buNone/>
            </a:pPr>
            <a:r>
              <a:rPr lang="en-US" sz="938" dirty="0">
                <a:solidFill>
                  <a:srgbClr val="EAF0FF"/>
                </a:solidFill>
                <a:latin typeface="Consolas"/>
              </a:rPr>
              <a:t>                   "content": user_prompt}],</a:t>
            </a:r>
          </a:p>
          <a:p>
            <a:pPr>
              <a:lnSpc>
                <a:spcPct val="112000"/>
              </a:lnSpc>
              <a:buNone/>
            </a:pPr>
            <a:r>
              <a:rPr lang="en-US" sz="938" dirty="0">
                <a:solidFill>
                  <a:srgbClr val="EAF0FF"/>
                </a:solidFill>
                <a:latin typeface="Consolas"/>
              </a:rPr>
              <a:t>        temperature=0.0,</a:t>
            </a:r>
          </a:p>
          <a:p>
            <a:pPr>
              <a:lnSpc>
                <a:spcPct val="112000"/>
              </a:lnSpc>
              <a:buNone/>
            </a:pPr>
            <a:r>
              <a:rPr lang="en-US" sz="938" dirty="0">
                <a:solidFill>
                  <a:srgbClr val="EAF0FF"/>
                </a:solidFill>
                <a:latin typeface="Consolas"/>
              </a:rPr>
              <a:t>        max_tokens=max_tokens,</a:t>
            </a:r>
          </a:p>
          <a:p>
            <a:pPr>
              <a:lnSpc>
                <a:spcPct val="112000"/>
              </a:lnSpc>
              <a:buNone/>
            </a:pPr>
            <a:r>
              <a:rPr lang="en-US" sz="938" dirty="0">
                <a:solidFill>
                  <a:srgbClr val="EAF0FF"/>
                </a:solidFill>
                <a:latin typeface="Consolas"/>
              </a:rPr>
              <a:t>        extra_body=extra_body)</a:t>
            </a:r>
          </a:p>
          <a:p>
            <a:pPr>
              <a:lnSpc>
                <a:spcPct val="112000"/>
              </a:lnSpc>
              <a:buNone/>
            </a:pPr>
            <a:r>
              <a:rPr lang="en-US" sz="938" dirty="0">
                <a:solidFill>
                  <a:srgbClr val="EAF0FF"/>
                </a:solidFill>
                <a:latin typeface="Consolas"/>
              </a:rPr>
              <a:t>    return response.choices[0]</a:t>
            </a:r>
          </a:p>
          <a:p>
            <a:pPr>
              <a:lnSpc>
                <a:spcPct val="112000"/>
              </a:lnSpc>
              <a:buNone/>
            </a:pPr>
            <a:r>
              <a:rPr lang="en-US" sz="938" dirty="0">
                <a:solidFill>
                  <a:srgbClr val="EAF0FF"/>
                </a:solidFill>
                <a:latin typeface="Consolas"/>
              </a:rPr>
              <a:t>        .message.content</a:t>
            </a:r>
          </a:p>
        </p:txBody>
      </p:sp>
      <p:sp>
        <p:nvSpPr>
          <p:cNvPr id="31" name="Code 31"/>
          <p:cNvSpPr/>
          <p:nvPr/>
        </p:nvSpPr>
        <p:spPr>
          <a:xfrm>
            <a:off x="4647000" y="1425000"/>
            <a:ext cx="4035300" cy="3487500"/>
          </a:xfrm>
          <a:prstGeom prst="roundRect">
            <a:avLst>
              <a:gd name="adj" fmla="val 4000"/>
            </a:avLst>
          </a:prstGeom>
          <a:solidFill>
            <a:srgbClr val="182046"/>
          </a:solidFill>
          <a:ln>
            <a:noFill/>
          </a:ln>
        </p:spPr>
        <p:txBody>
          <a:bodyPr wrap="square" lIns="137160" tIns="102870" rIns="102870" bIns="102870" anchor="t">
            <a:normAutofit/>
          </a:bodyPr>
          <a:lstStyle/>
          <a:p>
            <a:pPr>
              <a:buNone/>
            </a:pPr>
            <a:r>
              <a:rPr lang="en-US" sz="975" b="1" dirty="0">
                <a:solidFill>
                  <a:srgbClr val="D9B84A"/>
                </a:solidFill>
                <a:latin typeface="Consolas"/>
              </a:rPr>
              <a:t>format_options()</a:t>
            </a:r>
          </a:p>
          <a:p>
            <a:pPr>
              <a:lnSpc>
                <a:spcPct val="112000"/>
              </a:lnSpc>
              <a:buNone/>
            </a:pPr>
            <a:r>
              <a:rPr lang="en-US" sz="938" dirty="0">
                <a:solidFill>
                  <a:srgbClr val="EAF0FF"/>
                </a:solidFill>
                <a:latin typeface="Consolas"/>
              </a:rPr>
              <a:t>def format_options(choices):</a:t>
            </a:r>
          </a:p>
          <a:p>
            <a:pPr>
              <a:lnSpc>
                <a:spcPct val="112000"/>
              </a:lnSpc>
              <a:buNone/>
            </a:pPr>
            <a:r>
              <a:rPr lang="en-US" sz="938" dirty="0">
                <a:solidFill>
                  <a:srgbClr val="EAF0FF"/>
                </a:solidFill>
                <a:latin typeface="Consolas"/>
              </a:rPr>
              <a:t>    # ARC-Easy choices are a dict</a:t>
            </a:r>
          </a:p>
          <a:p>
            <a:pPr>
              <a:lnSpc>
                <a:spcPct val="112000"/>
              </a:lnSpc>
              <a:buNone/>
            </a:pPr>
            <a:r>
              <a:rPr lang="en-US" sz="938" dirty="0">
                <a:solidFill>
                  <a:srgbClr val="EAF0FF"/>
                </a:solidFill>
                <a:latin typeface="Consolas"/>
              </a:rPr>
              <a:t>    # with "text"/"label" keys</a:t>
            </a:r>
          </a:p>
          <a:p>
            <a:pPr>
              <a:lnSpc>
                <a:spcPct val="112000"/>
              </a:lnSpc>
              <a:buNone/>
            </a:pPr>
            <a:r>
              <a:rPr lang="en-US" sz="938" dirty="0">
                <a:solidFill>
                  <a:srgbClr val="EAF0FF"/>
                </a:solidFill>
                <a:latin typeface="Consolas"/>
              </a:rPr>
              <a:t>    option_texts = choices["text"]</a:t>
            </a:r>
          </a:p>
          <a:p>
            <a:pPr>
              <a:lnSpc>
                <a:spcPct val="112000"/>
              </a:lnSpc>
              <a:buNone/>
            </a:pPr>
            <a:r>
              <a:rPr lang="en-US" sz="938" dirty="0">
                <a:solidFill>
                  <a:srgbClr val="EAF0FF"/>
                </a:solidFill>
                <a:latin typeface="Consolas"/>
              </a:rPr>
              <a:t>    labels = (choices["label"]</a:t>
            </a:r>
          </a:p>
          <a:p>
            <a:pPr>
              <a:lnSpc>
                <a:spcPct val="112000"/>
              </a:lnSpc>
              <a:buNone/>
            </a:pPr>
            <a:r>
              <a:rPr lang="en-US" sz="938" dirty="0">
                <a:solidFill>
                  <a:srgbClr val="EAF0FF"/>
                </a:solidFill>
                <a:latin typeface="Consolas"/>
              </a:rPr>
              <a:t>              if "label" in choices</a:t>
            </a:r>
          </a:p>
          <a:p>
            <a:pPr>
              <a:lnSpc>
                <a:spcPct val="112000"/>
              </a:lnSpc>
              <a:buNone/>
            </a:pPr>
            <a:r>
              <a:rPr lang="en-US" sz="938" dirty="0">
                <a:solidFill>
                  <a:srgbClr val="EAF0FF"/>
                </a:solidFill>
                <a:latin typeface="Consolas"/>
              </a:rPr>
              <a:t>              else LETTERS)</a:t>
            </a:r>
          </a:p>
          <a:p>
            <a:pPr>
              <a:lnSpc>
                <a:spcPct val="112000"/>
              </a:lnSpc>
              <a:buNone/>
            </a:pPr>
            <a:r>
              <a:rPr lang="en-US" sz="938" dirty="0">
                <a:solidFill>
                  <a:srgbClr val="EAF0FF"/>
                </a:solidFill>
                <a:latin typeface="Consolas"/>
              </a:rPr>
              <a:t>    return "\n".join(</a:t>
            </a:r>
          </a:p>
          <a:p>
            <a:pPr>
              <a:lnSpc>
                <a:spcPct val="112000"/>
              </a:lnSpc>
              <a:buNone/>
            </a:pPr>
            <a:r>
              <a:rPr lang="en-US" sz="938" dirty="0">
                <a:solidFill>
                  <a:srgbClr val="EAF0FF"/>
                </a:solidFill>
                <a:latin typeface="Consolas"/>
              </a:rPr>
              <a:t>        f"{label}. {text}"</a:t>
            </a:r>
          </a:p>
          <a:p>
            <a:pPr>
              <a:lnSpc>
                <a:spcPct val="112000"/>
              </a:lnSpc>
              <a:buNone/>
            </a:pPr>
            <a:r>
              <a:rPr lang="en-US" sz="938" dirty="0">
                <a:solidFill>
                  <a:srgbClr val="EAF0FF"/>
                </a:solidFill>
                <a:latin typeface="Consolas"/>
              </a:rPr>
              <a:t>        for label, text in</a:t>
            </a:r>
          </a:p>
          <a:p>
            <a:pPr>
              <a:lnSpc>
                <a:spcPct val="112000"/>
              </a:lnSpc>
              <a:buNone/>
            </a:pPr>
            <a:r>
              <a:rPr lang="en-US" sz="938" dirty="0">
                <a:solidFill>
                  <a:srgbClr val="EAF0FF"/>
                </a:solidFill>
                <a:latin typeface="Consolas"/>
              </a:rPr>
              <a:t>        zip(labels, option_texts))</a:t>
            </a:r>
          </a:p>
        </p:txBody>
      </p:sp>
      <p:pic>
        <p:nvPicPr>
          <p:cNvPr id="5" name="logo"/>
          <p:cNvPicPr preferRelativeResize="0"/>
          <p:nvPr/>
        </p:nvPicPr>
        <p:blipFill>
          <a:blip r:embed="rId2">
            <a:alphaModFix/>
          </a:blip>
          <a:stretch>
            <a:fillRect/>
          </a:stretch>
        </p:blipFill>
        <p:spPr>
          <a:xfrm>
            <a:off x="8369126" y="0"/>
            <a:ext cx="774877" cy="86717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1E2761"/>
                </a:solidFill>
                <a:latin typeface="Georgia"/>
              </a:rPr>
              <a:t>Code Walkthrough: Querying &amp; Reporting</a:t>
            </a:r>
          </a:p>
        </p:txBody>
      </p:sp>
      <p:sp>
        <p:nvSpPr>
          <p:cNvPr id="20" name="TextBox 20"/>
          <p:cNvSpPr txBox="1"/>
          <p:nvPr/>
        </p:nvSpPr>
        <p:spPr>
          <a:xfrm>
            <a:off x="461700" y="1065000"/>
            <a:ext cx="8220600" cy="262500"/>
          </a:xfrm>
          <a:prstGeom prst="rect">
            <a:avLst/>
          </a:prstGeom>
          <a:noFill/>
          <a:ln>
            <a:noFill/>
          </a:ln>
        </p:spPr>
        <p:txBody>
          <a:bodyPr wrap="square" lIns="0" tIns="0" rIns="0" bIns="0" anchor="t">
            <a:noAutofit/>
          </a:bodyPr>
          <a:lstStyle/>
          <a:p>
            <a:pPr>
              <a:lnSpc>
                <a:spcPct val="115000"/>
              </a:lnSpc>
              <a:buNone/>
            </a:pPr>
            <a:r>
              <a:rPr lang="en-US" sz="975" i="1" dirty="0">
                <a:solidFill>
                  <a:srgbClr val="1A1F36"/>
                </a:solidFill>
                <a:latin typeface="Calibri"/>
              </a:rPr>
              <a:t>test-prompts-test.py</a:t>
            </a:r>
          </a:p>
        </p:txBody>
      </p:sp>
      <p:sp>
        <p:nvSpPr>
          <p:cNvPr id="30" name="Code 30"/>
          <p:cNvSpPr/>
          <p:nvPr/>
        </p:nvSpPr>
        <p:spPr>
          <a:xfrm>
            <a:off x="461700" y="1425000"/>
            <a:ext cx="4035300" cy="3487500"/>
          </a:xfrm>
          <a:prstGeom prst="roundRect">
            <a:avLst>
              <a:gd name="adj" fmla="val 4000"/>
            </a:avLst>
          </a:prstGeom>
          <a:solidFill>
            <a:srgbClr val="182046"/>
          </a:solidFill>
          <a:ln>
            <a:noFill/>
          </a:ln>
        </p:spPr>
        <p:txBody>
          <a:bodyPr wrap="square" lIns="137160" tIns="102870" rIns="102870" bIns="102870" anchor="t">
            <a:normAutofit/>
          </a:bodyPr>
          <a:lstStyle/>
          <a:p>
            <a:pPr>
              <a:buNone/>
            </a:pPr>
            <a:r>
              <a:rPr lang="en-US" sz="975" b="1" dirty="0">
                <a:solidFill>
                  <a:srgbClr val="D9B84A"/>
                </a:solidFill>
                <a:latin typeface="Consolas"/>
              </a:rPr>
              <a:t>query_model()</a:t>
            </a:r>
          </a:p>
          <a:p>
            <a:pPr>
              <a:lnSpc>
                <a:spcPct val="112000"/>
              </a:lnSpc>
              <a:buNone/>
            </a:pPr>
            <a:r>
              <a:rPr lang="en-US" sz="938" dirty="0">
                <a:solidFill>
                  <a:srgbClr val="EAF0FF"/>
                </a:solidFill>
                <a:latin typeface="Consolas"/>
              </a:rPr>
              <a:t>def query_model(client, model,</a:t>
            </a:r>
          </a:p>
          <a:p>
            <a:pPr>
              <a:lnSpc>
                <a:spcPct val="112000"/>
              </a:lnSpc>
              <a:buNone/>
            </a:pPr>
            <a:r>
              <a:rPr lang="en-US" sz="938" dirty="0">
                <a:solidFill>
                  <a:srgbClr val="EAF0FF"/>
                </a:solidFill>
                <a:latin typeface="Consolas"/>
              </a:rPr>
              <a:t>                 user_prompt, max_tokens):</a:t>
            </a:r>
          </a:p>
          <a:p>
            <a:pPr>
              <a:lnSpc>
                <a:spcPct val="112000"/>
              </a:lnSpc>
              <a:buNone/>
            </a:pPr>
            <a:r>
              <a:rPr lang="en-US" sz="938" dirty="0">
                <a:solidFill>
                  <a:srgbClr val="EAF0FF"/>
                </a:solidFill>
                <a:latin typeface="Consolas"/>
              </a:rPr>
              <a:t>    extra_body = {}</a:t>
            </a:r>
          </a:p>
          <a:p>
            <a:pPr>
              <a:lnSpc>
                <a:spcPct val="112000"/>
              </a:lnSpc>
              <a:buNone/>
            </a:pPr>
            <a:r>
              <a:rPr lang="en-US" sz="938" dirty="0">
                <a:solidFill>
                  <a:srgbClr val="EAF0FF"/>
                </a:solidFill>
                <a:latin typeface="Consolas"/>
              </a:rPr>
              <a:t>    if DISABLE_THINKING:</a:t>
            </a:r>
          </a:p>
          <a:p>
            <a:pPr>
              <a:lnSpc>
                <a:spcPct val="112000"/>
              </a:lnSpc>
              <a:buNone/>
            </a:pPr>
            <a:r>
              <a:rPr lang="en-US" sz="938" dirty="0">
                <a:solidFill>
                  <a:srgbClr val="EAF0FF"/>
                </a:solidFill>
                <a:latin typeface="Consolas"/>
              </a:rPr>
              <a:t>        # Ollama: skip Qwen3's reasoning</a:t>
            </a:r>
          </a:p>
          <a:p>
            <a:pPr>
              <a:lnSpc>
                <a:spcPct val="112000"/>
              </a:lnSpc>
              <a:buNone/>
            </a:pPr>
            <a:r>
              <a:rPr lang="en-US" sz="938" dirty="0">
                <a:solidFill>
                  <a:srgbClr val="EAF0FF"/>
                </a:solidFill>
                <a:latin typeface="Consolas"/>
              </a:rPr>
              <a:t>        # pass for hybrid-reasoning models</a:t>
            </a:r>
          </a:p>
          <a:p>
            <a:pPr>
              <a:lnSpc>
                <a:spcPct val="112000"/>
              </a:lnSpc>
              <a:buNone/>
            </a:pPr>
            <a:r>
              <a:rPr lang="en-US" sz="938" dirty="0">
                <a:solidFill>
                  <a:srgbClr val="EAF0FF"/>
                </a:solidFill>
                <a:latin typeface="Consolas"/>
              </a:rPr>
              <a:t>        extra_body["think"] = False</a:t>
            </a:r>
          </a:p>
          <a:p>
            <a:pPr>
              <a:lnSpc>
                <a:spcPct val="112000"/>
              </a:lnSpc>
              <a:buNone/>
            </a:pPr>
            <a:r>
              <a:rPr lang="en-US" sz="938" dirty="0">
                <a:solidFill>
                  <a:srgbClr val="EAF0FF"/>
                </a:solidFill>
                <a:latin typeface="Consolas"/>
              </a:rPr>
              <a:t>    response = client.chat.completions.create(</a:t>
            </a:r>
          </a:p>
          <a:p>
            <a:pPr>
              <a:lnSpc>
                <a:spcPct val="112000"/>
              </a:lnSpc>
              <a:buNone/>
            </a:pPr>
            <a:r>
              <a:rPr lang="en-US" sz="938" dirty="0">
                <a:solidFill>
                  <a:srgbClr val="EAF0FF"/>
                </a:solidFill>
                <a:latin typeface="Consolas"/>
              </a:rPr>
              <a:t>        model=model,</a:t>
            </a:r>
          </a:p>
          <a:p>
            <a:pPr>
              <a:lnSpc>
                <a:spcPct val="112000"/>
              </a:lnSpc>
              <a:buNone/>
            </a:pPr>
            <a:r>
              <a:rPr lang="en-US" sz="938" dirty="0">
                <a:solidFill>
                  <a:srgbClr val="EAF0FF"/>
                </a:solidFill>
                <a:latin typeface="Consolas"/>
              </a:rPr>
              <a:t>        messages=[{"role": "user",</a:t>
            </a:r>
          </a:p>
          <a:p>
            <a:pPr>
              <a:lnSpc>
                <a:spcPct val="112000"/>
              </a:lnSpc>
              <a:buNone/>
            </a:pPr>
            <a:r>
              <a:rPr lang="en-US" sz="938" dirty="0">
                <a:solidFill>
                  <a:srgbClr val="EAF0FF"/>
                </a:solidFill>
                <a:latin typeface="Consolas"/>
              </a:rPr>
              <a:t>                   "content": user_prompt}],</a:t>
            </a:r>
          </a:p>
          <a:p>
            <a:pPr>
              <a:lnSpc>
                <a:spcPct val="112000"/>
              </a:lnSpc>
              <a:buNone/>
            </a:pPr>
            <a:r>
              <a:rPr lang="en-US" sz="938" dirty="0">
                <a:solidFill>
                  <a:srgbClr val="EAF0FF"/>
                </a:solidFill>
                <a:latin typeface="Consolas"/>
              </a:rPr>
              <a:t>        temperature=0.0,</a:t>
            </a:r>
          </a:p>
          <a:p>
            <a:pPr>
              <a:lnSpc>
                <a:spcPct val="112000"/>
              </a:lnSpc>
              <a:buNone/>
            </a:pPr>
            <a:r>
              <a:rPr lang="en-US" sz="938" dirty="0">
                <a:solidFill>
                  <a:srgbClr val="EAF0FF"/>
                </a:solidFill>
                <a:latin typeface="Consolas"/>
              </a:rPr>
              <a:t>        max_tokens=max_tokens,</a:t>
            </a:r>
          </a:p>
          <a:p>
            <a:pPr>
              <a:lnSpc>
                <a:spcPct val="112000"/>
              </a:lnSpc>
              <a:buNone/>
            </a:pPr>
            <a:r>
              <a:rPr lang="en-US" sz="938" dirty="0">
                <a:solidFill>
                  <a:srgbClr val="EAF0FF"/>
                </a:solidFill>
                <a:latin typeface="Consolas"/>
              </a:rPr>
              <a:t>        extra_body=extra_body)</a:t>
            </a:r>
          </a:p>
          <a:p>
            <a:pPr>
              <a:lnSpc>
                <a:spcPct val="112000"/>
              </a:lnSpc>
              <a:buNone/>
            </a:pPr>
            <a:r>
              <a:rPr lang="en-US" sz="938" dirty="0">
                <a:solidFill>
                  <a:srgbClr val="EAF0FF"/>
                </a:solidFill>
                <a:latin typeface="Consolas"/>
              </a:rPr>
              <a:t>    return response.choices[0]</a:t>
            </a:r>
          </a:p>
          <a:p>
            <a:pPr>
              <a:lnSpc>
                <a:spcPct val="112000"/>
              </a:lnSpc>
              <a:buNone/>
            </a:pPr>
            <a:r>
              <a:rPr lang="en-US" sz="938" dirty="0">
                <a:solidFill>
                  <a:srgbClr val="EAF0FF"/>
                </a:solidFill>
                <a:latin typeface="Consolas"/>
              </a:rPr>
              <a:t>        .message.content</a:t>
            </a:r>
          </a:p>
        </p:txBody>
      </p:sp>
      <p:sp>
        <p:nvSpPr>
          <p:cNvPr id="31" name="Code 31"/>
          <p:cNvSpPr/>
          <p:nvPr/>
        </p:nvSpPr>
        <p:spPr>
          <a:xfrm>
            <a:off x="4647000" y="1425000"/>
            <a:ext cx="4035300" cy="3487500"/>
          </a:xfrm>
          <a:prstGeom prst="roundRect">
            <a:avLst>
              <a:gd name="adj" fmla="val 4000"/>
            </a:avLst>
          </a:prstGeom>
          <a:solidFill>
            <a:srgbClr val="182046"/>
          </a:solidFill>
          <a:ln>
            <a:noFill/>
          </a:ln>
        </p:spPr>
        <p:txBody>
          <a:bodyPr wrap="square" lIns="137160" tIns="102870" rIns="102870" bIns="102870" anchor="t">
            <a:normAutofit/>
          </a:bodyPr>
          <a:lstStyle/>
          <a:p>
            <a:pPr>
              <a:buNone/>
            </a:pPr>
            <a:r>
              <a:rPr lang="en-US" sz="975" b="1" dirty="0">
                <a:solidFill>
                  <a:srgbClr val="D9B84A"/>
                </a:solidFill>
                <a:latin typeface="Consolas"/>
              </a:rPr>
              <a:t>print_report()</a:t>
            </a:r>
          </a:p>
          <a:p>
            <a:pPr>
              <a:lnSpc>
                <a:spcPct val="112000"/>
              </a:lnSpc>
              <a:buNone/>
            </a:pPr>
            <a:r>
              <a:rPr lang="en-US" sz="938" dirty="0">
                <a:solidFill>
                  <a:srgbClr val="EAF0FF"/>
                </a:solidFill>
                <a:latin typeface="Consolas"/>
              </a:rPr>
              <a:t>def print_report(results, n_examples):</a:t>
            </a:r>
          </a:p>
          <a:p>
            <a:pPr>
              <a:lnSpc>
                <a:spcPct val="112000"/>
              </a:lnSpc>
              <a:buNone/>
            </a:pPr>
            <a:r>
              <a:rPr lang="en-US" sz="938" dirty="0">
                <a:solidFill>
                  <a:srgbClr val="EAF0FF"/>
                </a:solidFill>
                <a:latin typeface="Consolas"/>
              </a:rPr>
              <a:t>    print(f"\nResults over {n_examples}</a:t>
            </a:r>
          </a:p>
          <a:p>
            <a:pPr>
              <a:lnSpc>
                <a:spcPct val="112000"/>
              </a:lnSpc>
              <a:buNone/>
            </a:pPr>
            <a:r>
              <a:rPr lang="en-US" sz="938" dirty="0">
                <a:solidFill>
                  <a:srgbClr val="EAF0FF"/>
                </a:solidFill>
                <a:latin typeface="Consolas"/>
              </a:rPr>
              <a:t>        random questions\n")</a:t>
            </a:r>
          </a:p>
          <a:p>
            <a:pPr>
              <a:lnSpc>
                <a:spcPct val="112000"/>
              </a:lnSpc>
              <a:buNone/>
            </a:pPr>
            <a:r>
              <a:rPr lang="en-US" sz="938" dirty="0">
                <a:solidFill>
                  <a:srgbClr val="EAF0FF"/>
                </a:solidFill>
                <a:latin typeface="Consolas"/>
              </a:rPr>
              <a:t>    header = (f"{'Prompt':40s}"</a:t>
            </a:r>
          </a:p>
          <a:p>
            <a:pPr>
              <a:lnSpc>
                <a:spcPct val="112000"/>
              </a:lnSpc>
              <a:buNone/>
            </a:pPr>
            <a:r>
              <a:rPr lang="en-US" sz="938" dirty="0">
                <a:solidFill>
                  <a:srgbClr val="EAF0FF"/>
                </a:solidFill>
                <a:latin typeface="Consolas"/>
              </a:rPr>
              <a:t>        f"{'Accuracy':&gt;12s}</a:t>
            </a:r>
          </a:p>
          <a:p>
            <a:pPr>
              <a:lnSpc>
                <a:spcPct val="112000"/>
              </a:lnSpc>
              <a:buNone/>
            </a:pPr>
            <a:r>
              <a:rPr lang="en-US" sz="938" dirty="0">
                <a:solidFill>
                  <a:srgbClr val="EAF0FF"/>
                </a:solidFill>
                <a:latin typeface="Consolas"/>
              </a:rPr>
              <a:t>        {'Parse Rate':&gt;14s}")</a:t>
            </a:r>
          </a:p>
          <a:p>
            <a:pPr>
              <a:lnSpc>
                <a:spcPct val="112000"/>
              </a:lnSpc>
              <a:buNone/>
            </a:pPr>
            <a:r>
              <a:rPr lang="en-US" sz="938" dirty="0">
                <a:solidFill>
                  <a:srgbClr val="EAF0FF"/>
                </a:solidFill>
                <a:latin typeface="Consolas"/>
              </a:rPr>
              <a:t>    print(header)</a:t>
            </a:r>
          </a:p>
          <a:p>
            <a:pPr>
              <a:lnSpc>
                <a:spcPct val="112000"/>
              </a:lnSpc>
              <a:buNone/>
            </a:pPr>
            <a:r>
              <a:rPr lang="en-US" sz="938" dirty="0">
                <a:solidFill>
                  <a:srgbClr val="EAF0FF"/>
                </a:solidFill>
                <a:latin typeface="Consolas"/>
              </a:rPr>
              <a:t>    print("-" * len(header))</a:t>
            </a:r>
          </a:p>
          <a:p>
            <a:pPr>
              <a:lnSpc>
                <a:spcPct val="112000"/>
              </a:lnSpc>
              <a:buNone/>
            </a:pPr>
            <a:r>
              <a:rPr lang="en-US" sz="938" dirty="0">
                <a:solidFill>
                  <a:srgbClr val="EAF0FF"/>
                </a:solidFill>
                <a:latin typeface="Consolas"/>
              </a:rPr>
              <a:t>    for name, result in results.items():</a:t>
            </a:r>
          </a:p>
          <a:p>
            <a:pPr>
              <a:lnSpc>
                <a:spcPct val="112000"/>
              </a:lnSpc>
              <a:buNone/>
            </a:pPr>
            <a:r>
              <a:rPr lang="en-US" sz="938" dirty="0">
                <a:solidFill>
                  <a:srgbClr val="EAF0FF"/>
                </a:solidFill>
                <a:latin typeface="Consolas"/>
              </a:rPr>
              <a:t>        print(f"{name:40s}</a:t>
            </a:r>
          </a:p>
          <a:p>
            <a:pPr>
              <a:lnSpc>
                <a:spcPct val="112000"/>
              </a:lnSpc>
              <a:buNone/>
            </a:pPr>
            <a:r>
              <a:rPr lang="en-US" sz="938" dirty="0">
                <a:solidFill>
                  <a:srgbClr val="EAF0FF"/>
                </a:solidFill>
                <a:latin typeface="Consolas"/>
              </a:rPr>
              <a:t>            {result.accuracy:&gt;11.1%}</a:t>
            </a:r>
          </a:p>
          <a:p>
            <a:pPr>
              <a:lnSpc>
                <a:spcPct val="112000"/>
              </a:lnSpc>
              <a:buNone/>
            </a:pPr>
            <a:r>
              <a:rPr lang="en-US" sz="938" dirty="0">
                <a:solidFill>
                  <a:srgbClr val="EAF0FF"/>
                </a:solidFill>
                <a:latin typeface="Consolas"/>
              </a:rPr>
              <a:t>            {result.parse_rate:&gt;13.1%}")</a:t>
            </a:r>
          </a:p>
        </p:txBody>
      </p:sp>
      <p:pic>
        <p:nvPicPr>
          <p:cNvPr id="5" name="logo"/>
          <p:cNvPicPr preferRelativeResize="0"/>
          <p:nvPr/>
        </p:nvPicPr>
        <p:blipFill>
          <a:blip r:embed="rId2">
            <a:alphaModFix/>
          </a:blip>
          <a:stretch>
            <a:fillRect/>
          </a:stretch>
        </p:blipFill>
        <p:spPr>
          <a:xfrm>
            <a:off x="8369126" y="0"/>
            <a:ext cx="774877" cy="867174"/>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1E2761"/>
                </a:solidFill>
                <a:latin typeface="Georgia"/>
              </a:rPr>
              <a:t>Evaluation Results</a:t>
            </a:r>
          </a:p>
        </p:txBody>
      </p:sp>
      <p:sp>
        <p:nvSpPr>
          <p:cNvPr id="20" name="TextBox 20"/>
          <p:cNvSpPr txBox="1"/>
          <p:nvPr/>
        </p:nvSpPr>
        <p:spPr>
          <a:xfrm>
            <a:off x="461700" y="1050000"/>
            <a:ext cx="8220600" cy="285000"/>
          </a:xfrm>
          <a:prstGeom prst="rect">
            <a:avLst/>
          </a:prstGeom>
          <a:noFill/>
          <a:ln>
            <a:noFill/>
          </a:ln>
        </p:spPr>
        <p:txBody>
          <a:bodyPr wrap="square" lIns="0" tIns="0" rIns="0" bIns="0" anchor="t">
            <a:noAutofit/>
          </a:bodyPr>
          <a:lstStyle/>
          <a:p>
            <a:pPr>
              <a:lnSpc>
                <a:spcPct val="115000"/>
              </a:lnSpc>
              <a:buNone/>
            </a:pPr>
            <a:r>
              <a:rPr lang="en-US" sz="975" i="1" dirty="0">
                <a:solidFill>
                  <a:srgbClr val="1A1F36"/>
                </a:solidFill>
                <a:latin typeface="Calibri"/>
              </a:rPr>
              <a:t>20-question ARC-Easy subset, per-prompt accuracy and parse rate by model</a:t>
            </a:r>
          </a:p>
        </p:txBody>
      </p:sp>
      <p:sp>
        <p:nvSpPr>
          <p:cNvPr id="21" name="TextBox 21"/>
          <p:cNvSpPr txBox="1"/>
          <p:nvPr/>
        </p:nvSpPr>
        <p:spPr>
          <a:xfrm>
            <a:off x="461700" y="1462500"/>
            <a:ext cx="4050000" cy="300000"/>
          </a:xfrm>
          <a:prstGeom prst="rect">
            <a:avLst/>
          </a:prstGeom>
          <a:noFill/>
          <a:ln>
            <a:noFill/>
          </a:ln>
        </p:spPr>
        <p:txBody>
          <a:bodyPr wrap="square" lIns="0" tIns="0" rIns="0" bIns="0" anchor="t">
            <a:noAutofit/>
          </a:bodyPr>
          <a:lstStyle/>
          <a:p>
            <a:pPr>
              <a:lnSpc>
                <a:spcPct val="115000"/>
              </a:lnSpc>
              <a:buNone/>
            </a:pPr>
            <a:r>
              <a:rPr lang="en-US" sz="1088" b="1" dirty="0">
                <a:solidFill>
                  <a:srgbClr val="1E2761"/>
                </a:solidFill>
                <a:latin typeface="Calibri"/>
              </a:rPr>
              <a:t>Qwen3-1.5B (context length 2000)</a:t>
            </a:r>
          </a:p>
        </p:txBody>
      </p:sp>
      <p:sp>
        <p:nvSpPr>
          <p:cNvPr id="22" name="TextBox 22"/>
          <p:cNvSpPr txBox="1"/>
          <p:nvPr/>
        </p:nvSpPr>
        <p:spPr>
          <a:xfrm>
            <a:off x="4736700" y="1462500"/>
            <a:ext cx="4050000" cy="300000"/>
          </a:xfrm>
          <a:prstGeom prst="rect">
            <a:avLst/>
          </a:prstGeom>
          <a:noFill/>
          <a:ln>
            <a:noFill/>
          </a:ln>
        </p:spPr>
        <p:txBody>
          <a:bodyPr wrap="square" lIns="0" tIns="0" rIns="0" bIns="0" anchor="t">
            <a:noAutofit/>
          </a:bodyPr>
          <a:lstStyle/>
          <a:p>
            <a:pPr>
              <a:lnSpc>
                <a:spcPct val="115000"/>
              </a:lnSpc>
              <a:buNone/>
            </a:pPr>
            <a:r>
              <a:rPr lang="en-US" sz="1088" b="1" dirty="0">
                <a:solidFill>
                  <a:srgbClr val="1E2761"/>
                </a:solidFill>
                <a:latin typeface="Calibri"/>
              </a:rPr>
              <a:t>Phi-4-mini (3.8B)</a:t>
            </a:r>
          </a:p>
        </p:txBody>
      </p:sp>
      <p:graphicFrame>
        <p:nvGraphicFramePr>
          <p:cNvPr id="30" name="Table 30"/>
          <p:cNvGraphicFramePr>
            <a:graphicFrameLocks noGrp="1"/>
          </p:cNvGraphicFramePr>
          <p:nvPr/>
        </p:nvGraphicFramePr>
        <p:xfrm>
          <a:off x="461700" y="1785000"/>
          <a:ext cx="4050000" cy="1380000"/>
        </p:xfrm>
        <a:graphic>
          <a:graphicData uri="http://schemas.openxmlformats.org/drawingml/2006/table">
            <a:tbl>
              <a:tblPr/>
              <a:tblGrid>
                <a:gridCol w="1987500">
                  <a:extLst>
                    <a:ext uri="{9D8B030D-6E8A-4147-A177-3AD203B41FA5}">
                      <a16:colId xmlns:a16="http://schemas.microsoft.com/office/drawing/2014/main" val="20000"/>
                    </a:ext>
                  </a:extLst>
                </a:gridCol>
                <a:gridCol w="1012500">
                  <a:extLst>
                    <a:ext uri="{9D8B030D-6E8A-4147-A177-3AD203B41FA5}">
                      <a16:colId xmlns:a16="http://schemas.microsoft.com/office/drawing/2014/main" val="20001"/>
                    </a:ext>
                  </a:extLst>
                </a:gridCol>
                <a:gridCol w="1050000">
                  <a:extLst>
                    <a:ext uri="{9D8B030D-6E8A-4147-A177-3AD203B41FA5}">
                      <a16:colId xmlns:a16="http://schemas.microsoft.com/office/drawing/2014/main" val="20002"/>
                    </a:ext>
                  </a:extLst>
                </a:gridCol>
              </a:tblGrid>
              <a:tr h="345000">
                <a:tc>
                  <a:txBody>
                    <a:bodyPr/>
                    <a:lstStyle/>
                    <a:p>
                      <a:pPr algn="l"/>
                      <a:r>
                        <a:rPr lang="en-US" sz="900" b="1" dirty="0">
                          <a:solidFill>
                            <a:srgbClr val="FFFFFF"/>
                          </a:solidFill>
                          <a:latin typeface="Calibri"/>
                        </a:rPr>
                        <a:t>Prompt</a:t>
                      </a:r>
                    </a:p>
                  </a:txBody>
                  <a:tcPr marL="68580" marR="68580" marT="20574" marB="20574" anchor="ctr">
                    <a:solidFill>
                      <a:srgbClr val="1E2761"/>
                    </a:solidFill>
                  </a:tcPr>
                </a:tc>
                <a:tc>
                  <a:txBody>
                    <a:bodyPr/>
                    <a:lstStyle/>
                    <a:p>
                      <a:pPr algn="ctr"/>
                      <a:r>
                        <a:rPr lang="en-US" sz="900" b="1" dirty="0">
                          <a:solidFill>
                            <a:srgbClr val="FFFFFF"/>
                          </a:solidFill>
                          <a:latin typeface="Calibri"/>
                        </a:rPr>
                        <a:t>Accuracy</a:t>
                      </a:r>
                    </a:p>
                  </a:txBody>
                  <a:tcPr marL="68580" marR="68580" marT="20574" marB="20574" anchor="ctr">
                    <a:solidFill>
                      <a:srgbClr val="1E2761"/>
                    </a:solidFill>
                  </a:tcPr>
                </a:tc>
                <a:tc>
                  <a:txBody>
                    <a:bodyPr/>
                    <a:lstStyle/>
                    <a:p>
                      <a:pPr algn="ctr"/>
                      <a:r>
                        <a:rPr lang="en-US" sz="900" b="1" dirty="0">
                          <a:solidFill>
                            <a:srgbClr val="FFFFFF"/>
                          </a:solidFill>
                          <a:latin typeface="Calibri"/>
                        </a:rPr>
                        <a:t>Parse Rate</a:t>
                      </a:r>
                    </a:p>
                  </a:txBody>
                  <a:tcPr marL="68580" marR="68580" marT="20574" marB="20574" anchor="ctr">
                    <a:solidFill>
                      <a:srgbClr val="1E2761"/>
                    </a:solidFill>
                  </a:tcPr>
                </a:tc>
                <a:extLst>
                  <a:ext uri="{0D108BD9-81ED-4DB2-BD59-A6C34878D82A}">
                    <a16:rowId xmlns:a16="http://schemas.microsoft.com/office/drawing/2014/main" val="10000"/>
                  </a:ext>
                </a:extLst>
              </a:tr>
              <a:tr h="345000">
                <a:tc>
                  <a:txBody>
                    <a:bodyPr/>
                    <a:lstStyle/>
                    <a:p>
                      <a:pPr algn="l"/>
                      <a:r>
                        <a:rPr lang="en-US" sz="900" b="0" dirty="0">
                          <a:solidFill>
                            <a:srgbClr val="1A1F36"/>
                          </a:solidFill>
                          <a:latin typeface="Calibri"/>
                        </a:rPr>
                        <a:t>A — constrained + fallback</a:t>
                      </a:r>
                    </a:p>
                  </a:txBody>
                  <a:tcPr marL="68580" marR="68580" marT="20574" marB="20574" anchor="ctr">
                    <a:solidFill>
                      <a:srgbClr val="FFFFFF"/>
                    </a:solidFill>
                  </a:tcPr>
                </a:tc>
                <a:tc>
                  <a:txBody>
                    <a:bodyPr/>
                    <a:lstStyle/>
                    <a:p>
                      <a:pPr algn="ctr"/>
                      <a:r>
                        <a:rPr lang="en-US" sz="900" b="0" dirty="0">
                          <a:solidFill>
                            <a:srgbClr val="1A1F36"/>
                          </a:solidFill>
                          <a:latin typeface="Calibri"/>
                        </a:rPr>
                        <a:t>95.0%</a:t>
                      </a:r>
                    </a:p>
                  </a:txBody>
                  <a:tcPr marL="68580" marR="68580" marT="20574" marB="20574" anchor="ctr">
                    <a:solidFill>
                      <a:srgbClr val="FFFFFF"/>
                    </a:solidFill>
                  </a:tcPr>
                </a:tc>
                <a:tc>
                  <a:txBody>
                    <a:bodyPr/>
                    <a:lstStyle/>
                    <a:p>
                      <a:pPr algn="ctr"/>
                      <a:r>
                        <a:rPr lang="en-US" sz="900" b="0" dirty="0">
                          <a:solidFill>
                            <a:srgbClr val="1A1F36"/>
                          </a:solidFill>
                          <a:latin typeface="Calibri"/>
                        </a:rPr>
                        <a:t>95.0%</a:t>
                      </a:r>
                    </a:p>
                  </a:txBody>
                  <a:tcPr marL="68580" marR="68580" marT="20574" marB="20574" anchor="ctr">
                    <a:solidFill>
                      <a:srgbClr val="FFFFFF"/>
                    </a:solidFill>
                  </a:tcPr>
                </a:tc>
                <a:extLst>
                  <a:ext uri="{0D108BD9-81ED-4DB2-BD59-A6C34878D82A}">
                    <a16:rowId xmlns:a16="http://schemas.microsoft.com/office/drawing/2014/main" val="10001"/>
                  </a:ext>
                </a:extLst>
              </a:tr>
              <a:tr h="345000">
                <a:tc>
                  <a:txBody>
                    <a:bodyPr/>
                    <a:lstStyle/>
                    <a:p>
                      <a:pPr algn="l"/>
                      <a:r>
                        <a:rPr lang="en-US" sz="900" b="1" dirty="0">
                          <a:solidFill>
                            <a:srgbClr val="C0392B"/>
                          </a:solidFill>
                          <a:latin typeface="Calibri"/>
                        </a:rPr>
                        <a:t>B — open-ended reasoning</a:t>
                      </a:r>
                    </a:p>
                  </a:txBody>
                  <a:tcPr marL="68580" marR="68580" marT="20574" marB="20574" anchor="ctr">
                    <a:solidFill>
                      <a:srgbClr val="FBE4E4"/>
                    </a:solidFill>
                  </a:tcPr>
                </a:tc>
                <a:tc>
                  <a:txBody>
                    <a:bodyPr/>
                    <a:lstStyle/>
                    <a:p>
                      <a:pPr algn="ctr"/>
                      <a:r>
                        <a:rPr lang="en-US" sz="900" b="1" dirty="0">
                          <a:solidFill>
                            <a:srgbClr val="C0392B"/>
                          </a:solidFill>
                          <a:latin typeface="Calibri"/>
                        </a:rPr>
                        <a:t>55.0%</a:t>
                      </a:r>
                    </a:p>
                  </a:txBody>
                  <a:tcPr marL="68580" marR="68580" marT="20574" marB="20574" anchor="ctr">
                    <a:solidFill>
                      <a:srgbClr val="FBE4E4"/>
                    </a:solidFill>
                  </a:tcPr>
                </a:tc>
                <a:tc>
                  <a:txBody>
                    <a:bodyPr/>
                    <a:lstStyle/>
                    <a:p>
                      <a:pPr algn="ctr"/>
                      <a:r>
                        <a:rPr lang="en-US" sz="900" b="1" dirty="0">
                          <a:solidFill>
                            <a:srgbClr val="C0392B"/>
                          </a:solidFill>
                          <a:latin typeface="Calibri"/>
                        </a:rPr>
                        <a:t>95.0%</a:t>
                      </a:r>
                    </a:p>
                  </a:txBody>
                  <a:tcPr marL="68580" marR="68580" marT="20574" marB="20574" anchor="ctr">
                    <a:solidFill>
                      <a:srgbClr val="FBE4E4"/>
                    </a:solidFill>
                  </a:tcPr>
                </a:tc>
                <a:extLst>
                  <a:ext uri="{0D108BD9-81ED-4DB2-BD59-A6C34878D82A}">
                    <a16:rowId xmlns:a16="http://schemas.microsoft.com/office/drawing/2014/main" val="10002"/>
                  </a:ext>
                </a:extLst>
              </a:tr>
              <a:tr h="345000">
                <a:tc>
                  <a:txBody>
                    <a:bodyPr/>
                    <a:lstStyle/>
                    <a:p>
                      <a:pPr algn="l"/>
                      <a:r>
                        <a:rPr lang="en-US" sz="900" b="0" dirty="0">
                          <a:solidFill>
                            <a:srgbClr val="1A1F36"/>
                          </a:solidFill>
                          <a:latin typeface="Calibri"/>
                        </a:rPr>
                        <a:t>C — bare, no format</a:t>
                      </a:r>
                    </a:p>
                  </a:txBody>
                  <a:tcPr marL="68580" marR="68580" marT="20574" marB="20574" anchor="ctr">
                    <a:solidFill>
                      <a:srgbClr val="FFFFFF"/>
                    </a:solidFill>
                  </a:tcPr>
                </a:tc>
                <a:tc>
                  <a:txBody>
                    <a:bodyPr/>
                    <a:lstStyle/>
                    <a:p>
                      <a:pPr algn="ctr"/>
                      <a:r>
                        <a:rPr lang="en-US" sz="900" b="0" dirty="0">
                          <a:solidFill>
                            <a:srgbClr val="1A1F36"/>
                          </a:solidFill>
                          <a:latin typeface="Calibri"/>
                        </a:rPr>
                        <a:t>95.0%</a:t>
                      </a:r>
                    </a:p>
                  </a:txBody>
                  <a:tcPr marL="68580" marR="68580" marT="20574" marB="20574" anchor="ctr">
                    <a:solidFill>
                      <a:srgbClr val="FFFFFF"/>
                    </a:solidFill>
                  </a:tcPr>
                </a:tc>
                <a:tc>
                  <a:txBody>
                    <a:bodyPr/>
                    <a:lstStyle/>
                    <a:p>
                      <a:pPr algn="ctr"/>
                      <a:r>
                        <a:rPr lang="en-US" sz="900" b="0" dirty="0">
                          <a:solidFill>
                            <a:srgbClr val="1A1F36"/>
                          </a:solidFill>
                          <a:latin typeface="Calibri"/>
                        </a:rPr>
                        <a:t>100.0%</a:t>
                      </a:r>
                    </a:p>
                  </a:txBody>
                  <a:tcPr marL="68580" marR="68580" marT="20574" marB="20574" anchor="ctr">
                    <a:solidFill>
                      <a:srgbClr val="FFFFFF"/>
                    </a:solidFill>
                  </a:tcPr>
                </a:tc>
                <a:extLst>
                  <a:ext uri="{0D108BD9-81ED-4DB2-BD59-A6C34878D82A}">
                    <a16:rowId xmlns:a16="http://schemas.microsoft.com/office/drawing/2014/main" val="10003"/>
                  </a:ext>
                </a:extLst>
              </a:tr>
            </a:tbl>
          </a:graphicData>
        </a:graphic>
      </p:graphicFrame>
      <p:graphicFrame>
        <p:nvGraphicFramePr>
          <p:cNvPr id="31" name="Table 31"/>
          <p:cNvGraphicFramePr>
            <a:graphicFrameLocks noGrp="1"/>
          </p:cNvGraphicFramePr>
          <p:nvPr/>
        </p:nvGraphicFramePr>
        <p:xfrm>
          <a:off x="4736700" y="1785000"/>
          <a:ext cx="4050000" cy="1380000"/>
        </p:xfrm>
        <a:graphic>
          <a:graphicData uri="http://schemas.openxmlformats.org/drawingml/2006/table">
            <a:tbl>
              <a:tblPr/>
              <a:tblGrid>
                <a:gridCol w="1987500">
                  <a:extLst>
                    <a:ext uri="{9D8B030D-6E8A-4147-A177-3AD203B41FA5}">
                      <a16:colId xmlns:a16="http://schemas.microsoft.com/office/drawing/2014/main" val="20000"/>
                    </a:ext>
                  </a:extLst>
                </a:gridCol>
                <a:gridCol w="1012500">
                  <a:extLst>
                    <a:ext uri="{9D8B030D-6E8A-4147-A177-3AD203B41FA5}">
                      <a16:colId xmlns:a16="http://schemas.microsoft.com/office/drawing/2014/main" val="20001"/>
                    </a:ext>
                  </a:extLst>
                </a:gridCol>
                <a:gridCol w="1050000">
                  <a:extLst>
                    <a:ext uri="{9D8B030D-6E8A-4147-A177-3AD203B41FA5}">
                      <a16:colId xmlns:a16="http://schemas.microsoft.com/office/drawing/2014/main" val="20002"/>
                    </a:ext>
                  </a:extLst>
                </a:gridCol>
              </a:tblGrid>
              <a:tr h="345000">
                <a:tc>
                  <a:txBody>
                    <a:bodyPr/>
                    <a:lstStyle/>
                    <a:p>
                      <a:pPr algn="l"/>
                      <a:r>
                        <a:rPr lang="en-US" sz="900" b="1" dirty="0">
                          <a:solidFill>
                            <a:srgbClr val="FFFFFF"/>
                          </a:solidFill>
                          <a:latin typeface="Calibri"/>
                        </a:rPr>
                        <a:t>Prompt</a:t>
                      </a:r>
                    </a:p>
                  </a:txBody>
                  <a:tcPr marL="68580" marR="68580" marT="20574" marB="20574" anchor="ctr">
                    <a:solidFill>
                      <a:srgbClr val="1E2761"/>
                    </a:solidFill>
                  </a:tcPr>
                </a:tc>
                <a:tc>
                  <a:txBody>
                    <a:bodyPr/>
                    <a:lstStyle/>
                    <a:p>
                      <a:pPr algn="ctr"/>
                      <a:r>
                        <a:rPr lang="en-US" sz="900" b="1" dirty="0">
                          <a:solidFill>
                            <a:srgbClr val="FFFFFF"/>
                          </a:solidFill>
                          <a:latin typeface="Calibri"/>
                        </a:rPr>
                        <a:t>Accuracy</a:t>
                      </a:r>
                    </a:p>
                  </a:txBody>
                  <a:tcPr marL="68580" marR="68580" marT="20574" marB="20574" anchor="ctr">
                    <a:solidFill>
                      <a:srgbClr val="1E2761"/>
                    </a:solidFill>
                  </a:tcPr>
                </a:tc>
                <a:tc>
                  <a:txBody>
                    <a:bodyPr/>
                    <a:lstStyle/>
                    <a:p>
                      <a:pPr algn="ctr"/>
                      <a:r>
                        <a:rPr lang="en-US" sz="900" b="1" dirty="0">
                          <a:solidFill>
                            <a:srgbClr val="FFFFFF"/>
                          </a:solidFill>
                          <a:latin typeface="Calibri"/>
                        </a:rPr>
                        <a:t>Parse Rate</a:t>
                      </a:r>
                    </a:p>
                  </a:txBody>
                  <a:tcPr marL="68580" marR="68580" marT="20574" marB="20574" anchor="ctr">
                    <a:solidFill>
                      <a:srgbClr val="1E2761"/>
                    </a:solidFill>
                  </a:tcPr>
                </a:tc>
                <a:extLst>
                  <a:ext uri="{0D108BD9-81ED-4DB2-BD59-A6C34878D82A}">
                    <a16:rowId xmlns:a16="http://schemas.microsoft.com/office/drawing/2014/main" val="10000"/>
                  </a:ext>
                </a:extLst>
              </a:tr>
              <a:tr h="345000">
                <a:tc>
                  <a:txBody>
                    <a:bodyPr/>
                    <a:lstStyle/>
                    <a:p>
                      <a:pPr algn="l"/>
                      <a:r>
                        <a:rPr lang="en-US" sz="900" b="0" dirty="0">
                          <a:solidFill>
                            <a:srgbClr val="1A1F36"/>
                          </a:solidFill>
                          <a:latin typeface="Calibri"/>
                        </a:rPr>
                        <a:t>A — constrained + fallback</a:t>
                      </a:r>
                    </a:p>
                  </a:txBody>
                  <a:tcPr marL="68580" marR="68580" marT="20574" marB="20574" anchor="ctr">
                    <a:solidFill>
                      <a:srgbClr val="FFFFFF"/>
                    </a:solidFill>
                  </a:tcPr>
                </a:tc>
                <a:tc>
                  <a:txBody>
                    <a:bodyPr/>
                    <a:lstStyle/>
                    <a:p>
                      <a:pPr algn="ctr"/>
                      <a:r>
                        <a:rPr lang="en-US" sz="900" b="0" dirty="0">
                          <a:solidFill>
                            <a:srgbClr val="1A1F36"/>
                          </a:solidFill>
                          <a:latin typeface="Calibri"/>
                        </a:rPr>
                        <a:t>90.0%</a:t>
                      </a:r>
                    </a:p>
                  </a:txBody>
                  <a:tcPr marL="68580" marR="68580" marT="20574" marB="20574" anchor="ctr">
                    <a:solidFill>
                      <a:srgbClr val="FFFFFF"/>
                    </a:solidFill>
                  </a:tcPr>
                </a:tc>
                <a:tc>
                  <a:txBody>
                    <a:bodyPr/>
                    <a:lstStyle/>
                    <a:p>
                      <a:pPr algn="ctr"/>
                      <a:r>
                        <a:rPr lang="en-US" sz="900" b="0" dirty="0">
                          <a:solidFill>
                            <a:srgbClr val="1A1F36"/>
                          </a:solidFill>
                          <a:latin typeface="Calibri"/>
                        </a:rPr>
                        <a:t>100.0%</a:t>
                      </a:r>
                    </a:p>
                  </a:txBody>
                  <a:tcPr marL="68580" marR="68580" marT="20574" marB="20574" anchor="ctr">
                    <a:solidFill>
                      <a:srgbClr val="FFFFFF"/>
                    </a:solidFill>
                  </a:tcPr>
                </a:tc>
                <a:extLst>
                  <a:ext uri="{0D108BD9-81ED-4DB2-BD59-A6C34878D82A}">
                    <a16:rowId xmlns:a16="http://schemas.microsoft.com/office/drawing/2014/main" val="10001"/>
                  </a:ext>
                </a:extLst>
              </a:tr>
              <a:tr h="345000">
                <a:tc>
                  <a:txBody>
                    <a:bodyPr/>
                    <a:lstStyle/>
                    <a:p>
                      <a:pPr algn="l"/>
                      <a:r>
                        <a:rPr lang="en-US" sz="900" b="0" dirty="0">
                          <a:solidFill>
                            <a:srgbClr val="1A1F36"/>
                          </a:solidFill>
                          <a:latin typeface="Calibri"/>
                        </a:rPr>
                        <a:t>B — open-ended reasoning</a:t>
                      </a:r>
                    </a:p>
                  </a:txBody>
                  <a:tcPr marL="68580" marR="68580" marT="20574" marB="20574" anchor="ctr">
                    <a:solidFill>
                      <a:srgbClr val="F2F4FA"/>
                    </a:solidFill>
                  </a:tcPr>
                </a:tc>
                <a:tc>
                  <a:txBody>
                    <a:bodyPr/>
                    <a:lstStyle/>
                    <a:p>
                      <a:pPr algn="ctr"/>
                      <a:r>
                        <a:rPr lang="en-US" sz="900" b="0" dirty="0">
                          <a:solidFill>
                            <a:srgbClr val="1A1F36"/>
                          </a:solidFill>
                          <a:latin typeface="Calibri"/>
                        </a:rPr>
                        <a:t>85.0%</a:t>
                      </a:r>
                    </a:p>
                  </a:txBody>
                  <a:tcPr marL="68580" marR="68580" marT="20574" marB="20574" anchor="ctr">
                    <a:solidFill>
                      <a:srgbClr val="F2F4FA"/>
                    </a:solidFill>
                  </a:tcPr>
                </a:tc>
                <a:tc>
                  <a:txBody>
                    <a:bodyPr/>
                    <a:lstStyle/>
                    <a:p>
                      <a:pPr algn="ctr"/>
                      <a:r>
                        <a:rPr lang="en-US" sz="900" b="0" dirty="0">
                          <a:solidFill>
                            <a:srgbClr val="1A1F36"/>
                          </a:solidFill>
                          <a:latin typeface="Calibri"/>
                        </a:rPr>
                        <a:t>100.0%</a:t>
                      </a:r>
                    </a:p>
                  </a:txBody>
                  <a:tcPr marL="68580" marR="68580" marT="20574" marB="20574" anchor="ctr">
                    <a:solidFill>
                      <a:srgbClr val="F2F4FA"/>
                    </a:solidFill>
                  </a:tcPr>
                </a:tc>
                <a:extLst>
                  <a:ext uri="{0D108BD9-81ED-4DB2-BD59-A6C34878D82A}">
                    <a16:rowId xmlns:a16="http://schemas.microsoft.com/office/drawing/2014/main" val="10002"/>
                  </a:ext>
                </a:extLst>
              </a:tr>
              <a:tr h="345000">
                <a:tc>
                  <a:txBody>
                    <a:bodyPr/>
                    <a:lstStyle/>
                    <a:p>
                      <a:pPr algn="l"/>
                      <a:r>
                        <a:rPr lang="en-US" sz="900" b="0" dirty="0">
                          <a:solidFill>
                            <a:srgbClr val="1A1F36"/>
                          </a:solidFill>
                          <a:latin typeface="Calibri"/>
                        </a:rPr>
                        <a:t>C — bare, no format</a:t>
                      </a:r>
                    </a:p>
                  </a:txBody>
                  <a:tcPr marL="68580" marR="68580" marT="20574" marB="20574" anchor="ctr">
                    <a:solidFill>
                      <a:srgbClr val="FFFFFF"/>
                    </a:solidFill>
                  </a:tcPr>
                </a:tc>
                <a:tc>
                  <a:txBody>
                    <a:bodyPr/>
                    <a:lstStyle/>
                    <a:p>
                      <a:pPr algn="ctr"/>
                      <a:r>
                        <a:rPr lang="en-US" sz="900" b="0" dirty="0">
                          <a:solidFill>
                            <a:srgbClr val="1A1F36"/>
                          </a:solidFill>
                          <a:latin typeface="Calibri"/>
                        </a:rPr>
                        <a:t>80.0%</a:t>
                      </a:r>
                    </a:p>
                  </a:txBody>
                  <a:tcPr marL="68580" marR="68580" marT="20574" marB="20574" anchor="ctr">
                    <a:solidFill>
                      <a:srgbClr val="FFFFFF"/>
                    </a:solidFill>
                  </a:tcPr>
                </a:tc>
                <a:tc>
                  <a:txBody>
                    <a:bodyPr/>
                    <a:lstStyle/>
                    <a:p>
                      <a:pPr algn="ctr"/>
                      <a:r>
                        <a:rPr lang="en-US" sz="900" b="0" dirty="0">
                          <a:solidFill>
                            <a:srgbClr val="1A1F36"/>
                          </a:solidFill>
                          <a:latin typeface="Calibri"/>
                        </a:rPr>
                        <a:t>100.0%</a:t>
                      </a:r>
                    </a:p>
                  </a:txBody>
                  <a:tcPr marL="68580" marR="68580" marT="20574" marB="20574" anchor="ctr">
                    <a:solidFill>
                      <a:srgbClr val="FFFFFF"/>
                    </a:solidFill>
                  </a:tcPr>
                </a:tc>
                <a:extLst>
                  <a:ext uri="{0D108BD9-81ED-4DB2-BD59-A6C34878D82A}">
                    <a16:rowId xmlns:a16="http://schemas.microsoft.com/office/drawing/2014/main" val="10003"/>
                  </a:ext>
                </a:extLst>
              </a:tr>
            </a:tbl>
          </a:graphicData>
        </a:graphic>
      </p:graphicFrame>
      <p:sp>
        <p:nvSpPr>
          <p:cNvPr id="40" name="Card 40"/>
          <p:cNvSpPr/>
          <p:nvPr/>
        </p:nvSpPr>
        <p:spPr>
          <a:xfrm>
            <a:off x="461700" y="3427500"/>
            <a:ext cx="8220600" cy="1087500"/>
          </a:xfrm>
          <a:prstGeom prst="roundRect">
            <a:avLst>
              <a:gd name="adj" fmla="val 6000"/>
            </a:avLst>
          </a:prstGeom>
          <a:solidFill>
            <a:srgbClr val="EDF1FA"/>
          </a:solidFill>
          <a:ln>
            <a:noFill/>
          </a:ln>
        </p:spPr>
        <p:txBody>
          <a:bodyPr wrap="square" lIns="171450" tIns="102870" rIns="171450" bIns="102870" anchor="t">
            <a:noAutofit/>
          </a:bodyPr>
          <a:lstStyle/>
          <a:p>
            <a:pPr>
              <a:lnSpc>
                <a:spcPct val="115000"/>
              </a:lnSpc>
              <a:spcBef>
                <a:spcPts val="300"/>
              </a:spcBef>
            </a:pPr>
            <a:r>
              <a:rPr lang="en-US" sz="1050" b="1" dirty="0">
                <a:solidFill>
                  <a:srgbClr val="1E2761"/>
                </a:solidFill>
                <a:latin typeface="Calibri"/>
              </a:rPr>
              <a:t>Takeaway</a:t>
            </a:r>
          </a:p>
          <a:p>
            <a:pPr>
              <a:lnSpc>
                <a:spcPct val="118000"/>
              </a:lnSpc>
              <a:spcBef>
                <a:spcPts val="300"/>
              </a:spcBef>
            </a:pPr>
            <a:r>
              <a:rPr lang="en-US" sz="938" dirty="0">
                <a:solidFill>
                  <a:srgbClr val="1A1F36"/>
                </a:solidFill>
                <a:latin typeface="Calibri"/>
              </a:rPr>
              <a:t>Prompt A's constrained-format-plus-fallback design holds up consistently well across both model sizes. Prompt B (open-ended reasoning) hits the smaller Qwen3-1.5B hardest — accuracy drops to 55% even though the parse rate stays at 95%, meaning the model still answers cleanly, it just reasons its way to the wrong option more often when asked to elaborate before committing. Phi-4-mini, being larger, is more robust to that same prompt weakness.</a:t>
            </a:r>
          </a:p>
        </p:txBody>
      </p:sp>
      <p:pic>
        <p:nvPicPr>
          <p:cNvPr id="5" name="logo"/>
          <p:cNvPicPr preferRelativeResize="0"/>
          <p:nvPr/>
        </p:nvPicPr>
        <p:blipFill>
          <a:blip r:embed="rId2">
            <a:alphaModFix/>
          </a:blip>
          <a:stretch>
            <a:fillRect/>
          </a:stretch>
        </p:blipFill>
        <p:spPr>
          <a:xfrm>
            <a:off x="8369126" y="0"/>
            <a:ext cx="774877" cy="86717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1E2761"/>
                </a:solidFill>
                <a:latin typeface="Georgia"/>
              </a:rPr>
              <a:t>Text Summarization</a:t>
            </a:r>
          </a:p>
        </p:txBody>
      </p:sp>
      <p:sp>
        <p:nvSpPr>
          <p:cNvPr id="20" name="Card 20"/>
          <p:cNvSpPr/>
          <p:nvPr/>
        </p:nvSpPr>
        <p:spPr>
          <a:xfrm>
            <a:off x="461700" y="1064999"/>
            <a:ext cx="4035300" cy="1940593"/>
          </a:xfrm>
          <a:prstGeom prst="roundRect">
            <a:avLst>
              <a:gd name="adj" fmla="val 4500"/>
            </a:avLst>
          </a:prstGeom>
          <a:solidFill>
            <a:srgbClr val="EDF1FA"/>
          </a:solidFill>
          <a:ln>
            <a:noFill/>
          </a:ln>
        </p:spPr>
        <p:txBody>
          <a:bodyPr wrap="square" lIns="171450" tIns="102870" rIns="171450" bIns="102870" anchor="t">
            <a:noAutofit/>
          </a:bodyPr>
          <a:lstStyle/>
          <a:p>
            <a:pPr>
              <a:lnSpc>
                <a:spcPct val="115000"/>
              </a:lnSpc>
              <a:buNone/>
            </a:pPr>
            <a:r>
              <a:rPr lang="en-US" sz="1200" b="1" dirty="0">
                <a:solidFill>
                  <a:srgbClr val="1E2761"/>
                </a:solidFill>
                <a:latin typeface="Calibri"/>
              </a:rPr>
              <a:t>Key Challenges</a:t>
            </a:r>
          </a:p>
          <a:p>
            <a:pPr marL="171450" indent="-171450">
              <a:lnSpc>
                <a:spcPct val="114000"/>
              </a:lnSpc>
              <a:spcBef>
                <a:spcPts val="300"/>
              </a:spcBef>
              <a:buFont typeface="Arial"/>
              <a:buChar char="•"/>
            </a:pPr>
            <a:r>
              <a:rPr lang="en-US" sz="1000" dirty="0">
                <a:solidFill>
                  <a:srgbClr val="1A1F36"/>
                </a:solidFill>
                <a:latin typeface="Calibri"/>
              </a:rPr>
              <a:t>Faithfulness / hallucination — the summary states facts not actually present in the source text.</a:t>
            </a:r>
          </a:p>
          <a:p>
            <a:pPr marL="171450" indent="-171450">
              <a:lnSpc>
                <a:spcPct val="114000"/>
              </a:lnSpc>
              <a:spcBef>
                <a:spcPts val="300"/>
              </a:spcBef>
              <a:buFont typeface="Arial"/>
              <a:buChar char="•"/>
            </a:pPr>
            <a:r>
              <a:rPr lang="en-US" sz="1000" dirty="0">
                <a:solidFill>
                  <a:srgbClr val="1A1F36"/>
                </a:solidFill>
                <a:latin typeface="Calibri"/>
              </a:rPr>
              <a:t>Balancing brevity vs. coverage — omitting details the reader needs, or barely shortening the original.</a:t>
            </a:r>
          </a:p>
          <a:p>
            <a:pPr marL="171450" indent="-171450">
              <a:lnSpc>
                <a:spcPct val="114000"/>
              </a:lnSpc>
              <a:spcBef>
                <a:spcPts val="300"/>
              </a:spcBef>
              <a:buFont typeface="Arial"/>
              <a:buChar char="•"/>
            </a:pPr>
            <a:r>
              <a:rPr lang="en-US" sz="1000" dirty="0">
                <a:solidFill>
                  <a:srgbClr val="1A1F36"/>
                </a:solidFill>
                <a:latin typeface="Calibri"/>
              </a:rPr>
              <a:t>Extractive vs. abstractive trade-off — copying source sentences is safe but rigid; paraphrasing risks factual drift.</a:t>
            </a:r>
          </a:p>
          <a:p>
            <a:pPr marL="171450" indent="-171450">
              <a:lnSpc>
                <a:spcPct val="114000"/>
              </a:lnSpc>
              <a:spcBef>
                <a:spcPts val="300"/>
              </a:spcBef>
              <a:buFont typeface="Arial"/>
              <a:buChar char="•"/>
            </a:pPr>
            <a:r>
              <a:rPr lang="en-US" sz="1000" dirty="0">
                <a:solidFill>
                  <a:srgbClr val="1A1F36"/>
                </a:solidFill>
                <a:latin typeface="Calibri"/>
              </a:rPr>
              <a:t>Weak automatic evaluation — metrics like ROUGE reward word overlap, not whether the summary is actually correct.</a:t>
            </a:r>
          </a:p>
        </p:txBody>
      </p:sp>
      <p:sp>
        <p:nvSpPr>
          <p:cNvPr id="21" name="Card 21"/>
          <p:cNvSpPr/>
          <p:nvPr/>
        </p:nvSpPr>
        <p:spPr>
          <a:xfrm>
            <a:off x="4647000" y="1065000"/>
            <a:ext cx="4035300" cy="1813372"/>
          </a:xfrm>
          <a:prstGeom prst="roundRect">
            <a:avLst>
              <a:gd name="adj" fmla="val 4500"/>
            </a:avLst>
          </a:prstGeom>
          <a:solidFill>
            <a:srgbClr val="EDF1FA"/>
          </a:solidFill>
          <a:ln>
            <a:noFill/>
          </a:ln>
        </p:spPr>
        <p:txBody>
          <a:bodyPr wrap="square" lIns="171450" tIns="102870" rIns="171450" bIns="102870" anchor="t">
            <a:noAutofit/>
          </a:bodyPr>
          <a:lstStyle/>
          <a:p>
            <a:pPr>
              <a:lnSpc>
                <a:spcPct val="115000"/>
              </a:lnSpc>
              <a:buNone/>
            </a:pPr>
            <a:r>
              <a:rPr lang="en-US" sz="1200" b="1" dirty="0">
                <a:solidFill>
                  <a:srgbClr val="1E2761"/>
                </a:solidFill>
                <a:latin typeface="Calibri"/>
              </a:rPr>
              <a:t>Example</a:t>
            </a:r>
          </a:p>
          <a:p>
            <a:pPr>
              <a:lnSpc>
                <a:spcPct val="114000"/>
              </a:lnSpc>
              <a:buNone/>
            </a:pPr>
            <a:r>
              <a:rPr lang="en-US" sz="1000" dirty="0">
                <a:solidFill>
                  <a:srgbClr val="1A1F36"/>
                </a:solidFill>
                <a:latin typeface="Calibri"/>
              </a:rPr>
              <a:t>Input: “Apple reported Q3 2024 revenue of $85.8B, up 5% YoY, driven by strong iPhone 15 sales and Services growth. Regulatory pressure in the EU and China remains a headwind.”</a:t>
            </a:r>
          </a:p>
          <a:p>
            <a:pPr>
              <a:lnSpc>
                <a:spcPct val="114000"/>
              </a:lnSpc>
              <a:spcBef>
                <a:spcPts val="300"/>
              </a:spcBef>
            </a:pPr>
            <a:r>
              <a:rPr lang="en-US" sz="1000" i="1" dirty="0">
                <a:solidFill>
                  <a:srgbClr val="1A1F36"/>
                </a:solidFill>
                <a:latin typeface="Calibri"/>
              </a:rPr>
              <a:t>Prompt: Summarize for a retail investor in under 30 words, focusing on revenue growth and risks.</a:t>
            </a:r>
          </a:p>
          <a:p>
            <a:pPr>
              <a:lnSpc>
                <a:spcPct val="114000"/>
              </a:lnSpc>
              <a:spcBef>
                <a:spcPts val="300"/>
              </a:spcBef>
            </a:pPr>
            <a:r>
              <a:rPr lang="en-US" sz="1000" b="1" dirty="0">
                <a:solidFill>
                  <a:srgbClr val="2E7D32"/>
                </a:solidFill>
                <a:latin typeface="Calibri"/>
              </a:rPr>
              <a:t>Output: “Apple’s Q3 revenue grew 5% YoY to $85.8B on strong iPhone and Services sales; EU/China regulatory pressure is a key risk ahead.”</a:t>
            </a:r>
          </a:p>
        </p:txBody>
      </p:sp>
      <p:sp>
        <p:nvSpPr>
          <p:cNvPr id="22" name="Card 22"/>
          <p:cNvSpPr/>
          <p:nvPr/>
        </p:nvSpPr>
        <p:spPr>
          <a:xfrm>
            <a:off x="461700" y="3123328"/>
            <a:ext cx="4035300" cy="1733400"/>
          </a:xfrm>
          <a:prstGeom prst="roundRect">
            <a:avLst>
              <a:gd name="adj" fmla="val 4500"/>
            </a:avLst>
          </a:prstGeom>
          <a:solidFill>
            <a:srgbClr val="EDF1FA"/>
          </a:solidFill>
          <a:ln>
            <a:noFill/>
          </a:ln>
        </p:spPr>
        <p:txBody>
          <a:bodyPr wrap="square" lIns="171450" tIns="102870" rIns="171450" bIns="102870" anchor="t">
            <a:noAutofit/>
          </a:bodyPr>
          <a:lstStyle/>
          <a:p>
            <a:pPr>
              <a:lnSpc>
                <a:spcPct val="115000"/>
              </a:lnSpc>
              <a:buNone/>
            </a:pPr>
            <a:r>
              <a:rPr lang="en-US" sz="1200" b="1" dirty="0">
                <a:solidFill>
                  <a:srgbClr val="1E2761"/>
                </a:solidFill>
                <a:latin typeface="Calibri"/>
              </a:rPr>
              <a:t>Popular Dataset</a:t>
            </a:r>
          </a:p>
          <a:p>
            <a:pPr>
              <a:lnSpc>
                <a:spcPct val="114000"/>
              </a:lnSpc>
              <a:buNone/>
            </a:pPr>
            <a:r>
              <a:rPr lang="en-US" sz="1000" b="1" dirty="0">
                <a:solidFill>
                  <a:srgbClr val="1E2761"/>
                </a:solidFill>
                <a:latin typeface="Calibri"/>
              </a:rPr>
              <a:t>CNN/DailyMail</a:t>
            </a:r>
          </a:p>
          <a:p>
            <a:pPr marL="171450" indent="-171450">
              <a:lnSpc>
                <a:spcPct val="114000"/>
              </a:lnSpc>
              <a:spcBef>
                <a:spcPts val="300"/>
              </a:spcBef>
              <a:buFont typeface="Arial"/>
              <a:buChar char="•"/>
            </a:pPr>
            <a:r>
              <a:rPr lang="en-US" sz="1000" dirty="0">
                <a:solidFill>
                  <a:srgbClr val="1A1F36"/>
                </a:solidFill>
                <a:latin typeface="Calibri"/>
              </a:rPr>
              <a:t>~300K news article–summary pairs: 287K train / 13K val / 11K test</a:t>
            </a:r>
          </a:p>
          <a:p>
            <a:pPr marL="171450" indent="-171450">
              <a:lnSpc>
                <a:spcPct val="114000"/>
              </a:lnSpc>
              <a:spcBef>
                <a:spcPts val="300"/>
              </a:spcBef>
              <a:buFont typeface="Arial"/>
              <a:buChar char="•"/>
            </a:pPr>
            <a:r>
              <a:rPr lang="en-US" sz="1000" dirty="0">
                <a:solidFill>
                  <a:srgbClr val="1A1F36"/>
                </a:solidFill>
                <a:latin typeface="Calibri"/>
              </a:rPr>
              <a:t>Articles paired with human-written “highlight” bullet summaries</a:t>
            </a:r>
          </a:p>
          <a:p>
            <a:pPr marL="171450" indent="-171450">
              <a:lnSpc>
                <a:spcPct val="114000"/>
              </a:lnSpc>
              <a:spcBef>
                <a:spcPts val="300"/>
              </a:spcBef>
              <a:buFont typeface="Arial"/>
              <a:buChar char="•"/>
            </a:pPr>
            <a:r>
              <a:rPr lang="en-US" sz="1000" dirty="0">
                <a:solidFill>
                  <a:srgbClr val="1A1F36"/>
                </a:solidFill>
                <a:latin typeface="Calibri"/>
              </a:rPr>
              <a:t>The standard benchmark for extractive &amp; abstractive summarization, scored with ROUGE</a:t>
            </a:r>
          </a:p>
        </p:txBody>
      </p:sp>
      <p:sp>
        <p:nvSpPr>
          <p:cNvPr id="23" name="Card 23"/>
          <p:cNvSpPr/>
          <p:nvPr/>
        </p:nvSpPr>
        <p:spPr>
          <a:xfrm>
            <a:off x="4647000" y="3099474"/>
            <a:ext cx="4035300" cy="1733400"/>
          </a:xfrm>
          <a:prstGeom prst="roundRect">
            <a:avLst>
              <a:gd name="adj" fmla="val 4500"/>
            </a:avLst>
          </a:prstGeom>
          <a:solidFill>
            <a:srgbClr val="EDF1FA"/>
          </a:solidFill>
          <a:ln>
            <a:noFill/>
          </a:ln>
        </p:spPr>
        <p:txBody>
          <a:bodyPr wrap="square" lIns="171450" tIns="102870" rIns="171450" bIns="102870" anchor="t">
            <a:noAutofit/>
          </a:bodyPr>
          <a:lstStyle/>
          <a:p>
            <a:pPr>
              <a:lnSpc>
                <a:spcPct val="115000"/>
              </a:lnSpc>
              <a:buNone/>
            </a:pPr>
            <a:r>
              <a:rPr lang="en-US" sz="1200" b="1" dirty="0">
                <a:solidFill>
                  <a:srgbClr val="1E2761"/>
                </a:solidFill>
                <a:latin typeface="Calibri"/>
              </a:rPr>
              <a:t>Industrial Applications</a:t>
            </a:r>
          </a:p>
          <a:p>
            <a:pPr marL="171450" indent="-171450">
              <a:lnSpc>
                <a:spcPct val="114000"/>
              </a:lnSpc>
              <a:spcBef>
                <a:spcPts val="300"/>
              </a:spcBef>
              <a:buFont typeface="Arial"/>
              <a:buChar char="•"/>
            </a:pPr>
            <a:r>
              <a:rPr lang="en-US" sz="1000" dirty="0">
                <a:solidFill>
                  <a:srgbClr val="1A1F36"/>
                </a:solidFill>
                <a:latin typeface="Calibri"/>
              </a:rPr>
              <a:t>News aggregation &amp; personalized briefings</a:t>
            </a:r>
          </a:p>
          <a:p>
            <a:pPr marL="171450" indent="-171450">
              <a:lnSpc>
                <a:spcPct val="114000"/>
              </a:lnSpc>
              <a:spcBef>
                <a:spcPts val="300"/>
              </a:spcBef>
              <a:buFont typeface="Arial"/>
              <a:buChar char="•"/>
            </a:pPr>
            <a:r>
              <a:rPr lang="en-US" sz="1000" dirty="0">
                <a:solidFill>
                  <a:srgbClr val="1A1F36"/>
                </a:solidFill>
                <a:latin typeface="Calibri"/>
              </a:rPr>
              <a:t>Meeting / earnings-call transcript summarization</a:t>
            </a:r>
          </a:p>
          <a:p>
            <a:pPr marL="171450" indent="-171450">
              <a:lnSpc>
                <a:spcPct val="114000"/>
              </a:lnSpc>
              <a:spcBef>
                <a:spcPts val="300"/>
              </a:spcBef>
              <a:buFont typeface="Arial"/>
              <a:buChar char="•"/>
            </a:pPr>
            <a:r>
              <a:rPr lang="en-US" sz="1000" dirty="0">
                <a:solidFill>
                  <a:srgbClr val="1A1F36"/>
                </a:solidFill>
                <a:latin typeface="Calibri"/>
              </a:rPr>
              <a:t>Legal &amp; compliance document digests</a:t>
            </a:r>
          </a:p>
          <a:p>
            <a:pPr marL="171450" indent="-171450">
              <a:lnSpc>
                <a:spcPct val="114000"/>
              </a:lnSpc>
              <a:spcBef>
                <a:spcPts val="300"/>
              </a:spcBef>
              <a:buFont typeface="Arial"/>
              <a:buChar char="•"/>
            </a:pPr>
            <a:r>
              <a:rPr lang="en-US" sz="1000" dirty="0">
                <a:solidFill>
                  <a:srgbClr val="1A1F36"/>
                </a:solidFill>
                <a:latin typeface="Calibri"/>
              </a:rPr>
              <a:t>Customer support ticket/thread summarization</a:t>
            </a:r>
          </a:p>
          <a:p>
            <a:pPr marL="171450" indent="-171450">
              <a:lnSpc>
                <a:spcPct val="114000"/>
              </a:lnSpc>
              <a:spcBef>
                <a:spcPts val="300"/>
              </a:spcBef>
              <a:buFont typeface="Arial"/>
              <a:buChar char="•"/>
            </a:pPr>
            <a:r>
              <a:rPr lang="en-US" sz="1000" dirty="0">
                <a:solidFill>
                  <a:srgbClr val="1A1F36"/>
                </a:solidFill>
                <a:latin typeface="Calibri"/>
              </a:rPr>
              <a:t>Email and inbox thread summarization</a:t>
            </a:r>
          </a:p>
        </p:txBody>
      </p:sp>
      <p:pic>
        <p:nvPicPr>
          <p:cNvPr id="5" name="logo"/>
          <p:cNvPicPr preferRelativeResize="0"/>
          <p:nvPr/>
        </p:nvPicPr>
        <p:blipFill>
          <a:blip r:embed="rId2">
            <a:alphaModFix/>
          </a:blip>
          <a:stretch>
            <a:fillRect/>
          </a:stretch>
        </p:blipFill>
        <p:spPr>
          <a:xfrm>
            <a:off x="8369126" y="0"/>
            <a:ext cx="774877" cy="86717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grpSp>
        <p:nvGrpSpPr>
          <p:cNvPr id="2" name="Group 1">
            <a:extLst>
              <a:ext uri="{FF2B5EF4-FFF2-40B4-BE49-F238E27FC236}">
                <a16:creationId xmlns:a16="http://schemas.microsoft.com/office/drawing/2014/main" id="{C5B86FEA-31D1-BF79-E065-A3EBB5B7C3CE}"/>
              </a:ext>
            </a:extLst>
          </p:cNvPr>
          <p:cNvGrpSpPr/>
          <p:nvPr/>
        </p:nvGrpSpPr>
        <p:grpSpPr>
          <a:xfrm>
            <a:off x="548640" y="1059128"/>
            <a:ext cx="3474719" cy="3059649"/>
            <a:chOff x="1665071" y="1671379"/>
            <a:chExt cx="2823725" cy="2732500"/>
          </a:xfrm>
        </p:grpSpPr>
        <p:pic>
          <p:nvPicPr>
            <p:cNvPr id="180" name="Google Shape;180;p11" descr="image.png"/>
            <p:cNvPicPr preferRelativeResize="0"/>
            <p:nvPr/>
          </p:nvPicPr>
          <p:blipFill rotWithShape="1">
            <a:blip r:embed="rId3">
              <a:alphaModFix/>
            </a:blip>
            <a:srcRect/>
            <a:stretch/>
          </p:blipFill>
          <p:spPr>
            <a:xfrm>
              <a:off x="1665071" y="1671379"/>
              <a:ext cx="2823725" cy="2732500"/>
            </a:xfrm>
            <a:prstGeom prst="rect">
              <a:avLst/>
            </a:prstGeom>
            <a:noFill/>
            <a:ln>
              <a:noFill/>
            </a:ln>
          </p:spPr>
        </p:pic>
        <p:sp>
          <p:nvSpPr>
            <p:cNvPr id="182" name="Google Shape;182;p11"/>
            <p:cNvSpPr txBox="1"/>
            <p:nvPr/>
          </p:nvSpPr>
          <p:spPr>
            <a:xfrm>
              <a:off x="1977086" y="1797668"/>
              <a:ext cx="2303702" cy="215444"/>
            </a:xfrm>
            <a:prstGeom prst="rect">
              <a:avLst/>
            </a:prstGeom>
            <a:noFill/>
            <a:ln>
              <a:noFill/>
            </a:ln>
          </p:spPr>
          <p:txBody>
            <a:bodyPr spcFirstLastPara="1" wrap="square" lIns="0" tIns="0" rIns="0" bIns="0" anchor="ctr" anchorCtr="0">
              <a:spAutoFit/>
            </a:bodyPr>
            <a:lstStyle/>
            <a:p>
              <a:r>
                <a:rPr lang="en-US" dirty="0">
                  <a:solidFill>
                    <a:srgbClr val="1A1F36"/>
                  </a:solidFill>
                  <a:sym typeface="Calibri"/>
                </a:rPr>
                <a:t>INPUT PROMPT (ZERO-SHOT)</a:t>
              </a:r>
              <a:endParaRPr dirty="0"/>
            </a:p>
          </p:txBody>
        </p:sp>
        <p:pic>
          <p:nvPicPr>
            <p:cNvPr id="184" name="Google Shape;184;p11" descr="image.png"/>
            <p:cNvPicPr preferRelativeResize="0"/>
            <p:nvPr/>
          </p:nvPicPr>
          <p:blipFill rotWithShape="1">
            <a:blip r:embed="rId4">
              <a:alphaModFix/>
            </a:blip>
            <a:srcRect/>
            <a:stretch/>
          </p:blipFill>
          <p:spPr>
            <a:xfrm>
              <a:off x="1852280" y="1868988"/>
              <a:ext cx="83204" cy="72803"/>
            </a:xfrm>
            <a:prstGeom prst="rect">
              <a:avLst/>
            </a:prstGeom>
            <a:noFill/>
            <a:ln>
              <a:noFill/>
            </a:ln>
          </p:spPr>
        </p:pic>
        <p:sp>
          <p:nvSpPr>
            <p:cNvPr id="185" name="Google Shape;185;p11"/>
            <p:cNvSpPr txBox="1"/>
            <p:nvPr/>
          </p:nvSpPr>
          <p:spPr>
            <a:xfrm>
              <a:off x="1852280" y="2134199"/>
              <a:ext cx="2428507" cy="1723549"/>
            </a:xfrm>
            <a:prstGeom prst="rect">
              <a:avLst/>
            </a:prstGeom>
            <a:noFill/>
            <a:ln>
              <a:noFill/>
            </a:ln>
          </p:spPr>
          <p:txBody>
            <a:bodyPr spcFirstLastPara="1" wrap="square" lIns="0" tIns="0" rIns="0" bIns="0" anchor="t" anchorCtr="0">
              <a:spAutoFit/>
            </a:bodyPr>
            <a:lstStyle/>
            <a:p>
              <a:pPr>
                <a:lnSpc>
                  <a:spcPct val="160000"/>
                </a:lnSpc>
              </a:pPr>
              <a:r>
                <a:rPr lang="en-US" dirty="0">
                  <a:solidFill>
                    <a:srgbClr val="1A1F36"/>
                  </a:solidFill>
                  <a:sym typeface="Calibri"/>
                </a:rPr>
                <a:t>Summarize the following earnings call transcript for a retail investor. </a:t>
              </a:r>
              <a:r>
                <a:rPr lang="en-US" b="1" dirty="0">
                  <a:solidFill>
                    <a:srgbClr val="1A1F36"/>
                  </a:solidFill>
                  <a:sym typeface="Calibri"/>
                </a:rPr>
                <a:t>Focus on quarterly revenue growth and forward-looking risks.</a:t>
              </a:r>
              <a:r>
                <a:rPr lang="en-US" dirty="0">
                  <a:solidFill>
                    <a:srgbClr val="1A1F36"/>
                  </a:solidFill>
                  <a:sym typeface="Calibri"/>
                </a:rPr>
                <a:t> Keep it under 100 words.</a:t>
              </a:r>
              <a:endParaRPr dirty="0"/>
            </a:p>
          </p:txBody>
        </p:sp>
        <p:sp>
          <p:nvSpPr>
            <p:cNvPr id="186" name="Google Shape;186;p11"/>
            <p:cNvSpPr txBox="1"/>
            <p:nvPr/>
          </p:nvSpPr>
          <p:spPr>
            <a:xfrm>
              <a:off x="1852279" y="3784079"/>
              <a:ext cx="2428507" cy="270843"/>
            </a:xfrm>
            <a:prstGeom prst="rect">
              <a:avLst/>
            </a:prstGeom>
            <a:noFill/>
            <a:ln>
              <a:noFill/>
            </a:ln>
          </p:spPr>
          <p:txBody>
            <a:bodyPr spcFirstLastPara="1" wrap="square" lIns="0" tIns="0" rIns="0" bIns="0" anchor="t" anchorCtr="0">
              <a:spAutoFit/>
            </a:bodyPr>
            <a:lstStyle/>
            <a:p>
              <a:pPr>
                <a:lnSpc>
                  <a:spcPct val="160000"/>
                </a:lnSpc>
              </a:pPr>
              <a:r>
                <a:rPr lang="en-US" sz="1100" i="1" dirty="0">
                  <a:solidFill>
                    <a:srgbClr val="1A1F36"/>
                  </a:solidFill>
                  <a:sym typeface="Calibri"/>
                </a:rPr>
                <a:t>[Transcript: Apple Q3 2024 Call...]</a:t>
              </a:r>
              <a:endParaRPr sz="1100" dirty="0"/>
            </a:p>
          </p:txBody>
        </p:sp>
      </p:grpSp>
      <p:grpSp>
        <p:nvGrpSpPr>
          <p:cNvPr id="3" name="Group 2">
            <a:extLst>
              <a:ext uri="{FF2B5EF4-FFF2-40B4-BE49-F238E27FC236}">
                <a16:creationId xmlns:a16="http://schemas.microsoft.com/office/drawing/2014/main" id="{854581E2-C878-BB6C-DC2A-A5FA34EAB253}"/>
              </a:ext>
            </a:extLst>
          </p:cNvPr>
          <p:cNvGrpSpPr/>
          <p:nvPr/>
        </p:nvGrpSpPr>
        <p:grpSpPr>
          <a:xfrm>
            <a:off x="4501078" y="1051175"/>
            <a:ext cx="3243491" cy="3059649"/>
            <a:chOff x="4676005" y="1671378"/>
            <a:chExt cx="2802924" cy="2732501"/>
          </a:xfrm>
        </p:grpSpPr>
        <p:pic>
          <p:nvPicPr>
            <p:cNvPr id="181" name="Google Shape;181;p11" descr="image.png"/>
            <p:cNvPicPr preferRelativeResize="0"/>
            <p:nvPr/>
          </p:nvPicPr>
          <p:blipFill rotWithShape="1">
            <a:blip r:embed="rId3">
              <a:alphaModFix/>
            </a:blip>
            <a:srcRect/>
            <a:stretch/>
          </p:blipFill>
          <p:spPr>
            <a:xfrm>
              <a:off x="4676005" y="1671378"/>
              <a:ext cx="2802924" cy="2732501"/>
            </a:xfrm>
            <a:prstGeom prst="rect">
              <a:avLst/>
            </a:prstGeom>
            <a:noFill/>
            <a:ln>
              <a:noFill/>
            </a:ln>
          </p:spPr>
        </p:pic>
        <p:sp>
          <p:nvSpPr>
            <p:cNvPr id="183" name="Google Shape;183;p11"/>
            <p:cNvSpPr txBox="1"/>
            <p:nvPr/>
          </p:nvSpPr>
          <p:spPr>
            <a:xfrm>
              <a:off x="4998420" y="1813057"/>
              <a:ext cx="2293301" cy="184666"/>
            </a:xfrm>
            <a:prstGeom prst="rect">
              <a:avLst/>
            </a:prstGeom>
            <a:noFill/>
            <a:ln>
              <a:noFill/>
            </a:ln>
          </p:spPr>
          <p:txBody>
            <a:bodyPr spcFirstLastPara="1" wrap="square" lIns="0" tIns="0" rIns="0" bIns="0" anchor="ctr" anchorCtr="0">
              <a:spAutoFit/>
            </a:bodyPr>
            <a:lstStyle/>
            <a:p>
              <a:r>
                <a:rPr lang="en-US" sz="1200" dirty="0">
                  <a:solidFill>
                    <a:srgbClr val="1A1F36"/>
                  </a:solidFill>
                  <a:sym typeface="Calibri"/>
                </a:rPr>
                <a:t>MODEL RESPONSE</a:t>
              </a:r>
              <a:endParaRPr sz="1200" dirty="0"/>
            </a:p>
          </p:txBody>
        </p:sp>
        <p:pic>
          <p:nvPicPr>
            <p:cNvPr id="187" name="Google Shape;187;p11" descr="image.png"/>
            <p:cNvPicPr preferRelativeResize="0"/>
            <p:nvPr/>
          </p:nvPicPr>
          <p:blipFill rotWithShape="1">
            <a:blip r:embed="rId5">
              <a:alphaModFix/>
            </a:blip>
            <a:srcRect/>
            <a:stretch/>
          </p:blipFill>
          <p:spPr>
            <a:xfrm>
              <a:off x="4863213" y="1868988"/>
              <a:ext cx="93604" cy="72803"/>
            </a:xfrm>
            <a:prstGeom prst="rect">
              <a:avLst/>
            </a:prstGeom>
            <a:noFill/>
            <a:ln>
              <a:noFill/>
            </a:ln>
          </p:spPr>
        </p:pic>
        <p:sp>
          <p:nvSpPr>
            <p:cNvPr id="188" name="Google Shape;188;p11"/>
            <p:cNvSpPr txBox="1"/>
            <p:nvPr/>
          </p:nvSpPr>
          <p:spPr>
            <a:xfrm>
              <a:off x="4863213" y="2030194"/>
              <a:ext cx="2549932" cy="276999"/>
            </a:xfrm>
            <a:prstGeom prst="rect">
              <a:avLst/>
            </a:prstGeom>
            <a:noFill/>
            <a:ln>
              <a:noFill/>
            </a:ln>
          </p:spPr>
          <p:txBody>
            <a:bodyPr spcFirstLastPara="1" wrap="square" lIns="0" tIns="0" rIns="0" bIns="0" anchor="t" anchorCtr="0">
              <a:spAutoFit/>
            </a:bodyPr>
            <a:lstStyle/>
            <a:p>
              <a:pPr>
                <a:lnSpc>
                  <a:spcPct val="150000"/>
                </a:lnSpc>
              </a:pPr>
              <a:r>
                <a:rPr lang="en-US" sz="1200" dirty="0">
                  <a:solidFill>
                    <a:srgbClr val="1A1F36"/>
                  </a:solidFill>
                  <a:sym typeface="Calibri"/>
                </a:rPr>
                <a:t>Q3 Summary</a:t>
              </a:r>
              <a:endParaRPr sz="1200" dirty="0"/>
            </a:p>
          </p:txBody>
        </p:sp>
        <p:sp>
          <p:nvSpPr>
            <p:cNvPr id="189" name="Google Shape;189;p11"/>
            <p:cNvSpPr txBox="1"/>
            <p:nvPr/>
          </p:nvSpPr>
          <p:spPr>
            <a:xfrm>
              <a:off x="4863214" y="2321407"/>
              <a:ext cx="2428507" cy="2068259"/>
            </a:xfrm>
            <a:prstGeom prst="rect">
              <a:avLst/>
            </a:prstGeom>
            <a:noFill/>
            <a:ln>
              <a:noFill/>
            </a:ln>
          </p:spPr>
          <p:txBody>
            <a:bodyPr spcFirstLastPara="1" wrap="square" lIns="0" tIns="0" rIns="0" bIns="0" anchor="t" anchorCtr="0">
              <a:spAutoFit/>
            </a:bodyPr>
            <a:lstStyle/>
            <a:p>
              <a:pPr>
                <a:lnSpc>
                  <a:spcPct val="160000"/>
                </a:lnSpc>
              </a:pPr>
              <a:r>
                <a:rPr lang="en-US" sz="1200" dirty="0">
                  <a:solidFill>
                    <a:srgbClr val="1A1F36"/>
                  </a:solidFill>
                  <a:sym typeface="Calibri"/>
                </a:rPr>
                <a:t>Apple reported a 5% YoY revenue increase, driven by strong iPhone 15 sales and services growth. Key forward-looking risks include regulatory challenges in the EU and competitive pressure in the Chinese smartphone market.</a:t>
              </a:r>
              <a:endParaRPr sz="1200" dirty="0"/>
            </a:p>
          </p:txBody>
        </p:sp>
      </p:grpSp>
      <p:sp>
        <p:nvSpPr>
          <p:cNvPr id="190" name="Google Shape;190;p11"/>
          <p:cNvSpPr txBox="1"/>
          <p:nvPr/>
        </p:nvSpPr>
        <p:spPr>
          <a:xfrm>
            <a:off x="437929" y="301514"/>
            <a:ext cx="6694391" cy="430887"/>
          </a:xfrm>
          <a:prstGeom prst="rect">
            <a:avLst/>
          </a:prstGeom>
          <a:noFill/>
          <a:ln>
            <a:noFill/>
          </a:ln>
        </p:spPr>
        <p:txBody>
          <a:bodyPr spcFirstLastPara="1" wrap="square" lIns="0" tIns="0" rIns="0" bIns="0" anchor="t" anchorCtr="0">
            <a:spAutoFit/>
          </a:bodyPr>
          <a:lstStyle/>
          <a:p>
            <a:r>
              <a:rPr lang="en-US" sz="2800" b="1" dirty="0">
                <a:solidFill>
                  <a:srgbClr val="1E2761"/>
                </a:solidFill>
                <a:sym typeface="Calibri"/>
              </a:rPr>
              <a:t>Text Summarization: Executive</a:t>
            </a:r>
            <a:endParaRPr lang="en-US" sz="1800" dirty="0"/>
          </a:p>
        </p:txBody>
      </p:sp>
      <p:pic>
        <p:nvPicPr>
          <p:cNvPr id="4" name="Google Shape;109;p20">
            <a:extLst>
              <a:ext uri="{FF2B5EF4-FFF2-40B4-BE49-F238E27FC236}">
                <a16:creationId xmlns:a16="http://schemas.microsoft.com/office/drawing/2014/main" id="{C4C740AF-540B-8A1D-10B5-930D7F486829}"/>
              </a:ext>
            </a:extLst>
          </p:cNvPr>
          <p:cNvPicPr preferRelativeResize="0"/>
          <p:nvPr/>
        </p:nvPicPr>
        <p:blipFill>
          <a:blip r:embed="rId6">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70348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1E2761"/>
                </a:solidFill>
                <a:latin typeface="Georgia"/>
              </a:rPr>
              <a:t>Text Summarization</a:t>
            </a:r>
          </a:p>
        </p:txBody>
      </p:sp>
      <p:sp>
        <p:nvSpPr>
          <p:cNvPr id="10" name="Stem"/>
          <p:cNvSpPr txBox="1"/>
          <p:nvPr/>
        </p:nvSpPr>
        <p:spPr>
          <a:xfrm>
            <a:off x="461700" y="1065000"/>
            <a:ext cx="8220600" cy="390000"/>
          </a:xfrm>
          <a:prstGeom prst="rect">
            <a:avLst/>
          </a:prstGeom>
          <a:noFill/>
          <a:ln>
            <a:noFill/>
          </a:ln>
        </p:spPr>
        <p:txBody>
          <a:bodyPr wrap="square" lIns="0" tIns="0" rIns="0" bIns="0" anchor="t">
            <a:noAutofit/>
          </a:bodyPr>
          <a:lstStyle/>
          <a:p>
            <a:r>
              <a:rPr lang="en-US" sz="1200" i="1" dirty="0">
                <a:solidFill>
                  <a:srgbClr val="1A1F36"/>
                </a:solidFill>
                <a:latin typeface="Calibri"/>
              </a:rPr>
              <a:t>You need a concise, investor-focused summary of an earnings call, under 100 words. Which prompt fits best?</a:t>
            </a:r>
          </a:p>
        </p:txBody>
      </p:sp>
      <p:sp>
        <p:nvSpPr>
          <p:cNvPr id="20" name="Card Prompt A"/>
          <p:cNvSpPr/>
          <p:nvPr/>
        </p:nvSpPr>
        <p:spPr>
          <a:xfrm>
            <a:off x="461700" y="1537500"/>
            <a:ext cx="5001052" cy="1027000"/>
          </a:xfrm>
          <a:prstGeom prst="roundRect">
            <a:avLst>
              <a:gd name="adj" fmla="val 6000"/>
            </a:avLst>
          </a:prstGeom>
          <a:solidFill>
            <a:srgbClr val="EDF1FA"/>
          </a:solidFill>
          <a:ln>
            <a:noFill/>
          </a:ln>
        </p:spPr>
        <p:txBody>
          <a:bodyPr wrap="square" lIns="171450" tIns="102870" rIns="171450" bIns="102870" anchor="t">
            <a:noAutofit/>
          </a:bodyPr>
          <a:lstStyle/>
          <a:p>
            <a:pPr>
              <a:lnSpc>
                <a:spcPct val="110000"/>
              </a:lnSpc>
            </a:pPr>
            <a:r>
              <a:rPr lang="en-US" sz="1050" b="1" dirty="0">
                <a:solidFill>
                  <a:srgbClr val="1E2761"/>
                </a:solidFill>
                <a:latin typeface="Calibri"/>
              </a:rPr>
              <a:t>Prompt A</a:t>
            </a:r>
          </a:p>
          <a:p>
            <a:pPr>
              <a:lnSpc>
                <a:spcPct val="115000"/>
              </a:lnSpc>
              <a:spcBef>
                <a:spcPts val="300"/>
              </a:spcBef>
            </a:pPr>
            <a:r>
              <a:rPr lang="en-US" sz="1050" dirty="0">
                <a:solidFill>
                  <a:srgbClr val="1A1F36"/>
                </a:solidFill>
                <a:latin typeface="Calibri"/>
              </a:rPr>
              <a:t>Summarize the following earnings call transcript. [Transcript: ...]</a:t>
            </a:r>
          </a:p>
        </p:txBody>
      </p:sp>
      <p:sp>
        <p:nvSpPr>
          <p:cNvPr id="21" name="Card Prompt B"/>
          <p:cNvSpPr/>
          <p:nvPr/>
        </p:nvSpPr>
        <p:spPr>
          <a:xfrm>
            <a:off x="461700" y="2677000"/>
            <a:ext cx="5001052" cy="1027000"/>
          </a:xfrm>
          <a:prstGeom prst="roundRect">
            <a:avLst>
              <a:gd name="adj" fmla="val 6000"/>
            </a:avLst>
          </a:prstGeom>
          <a:solidFill>
            <a:srgbClr val="EDF1FA"/>
          </a:solidFill>
          <a:ln>
            <a:noFill/>
          </a:ln>
        </p:spPr>
        <p:txBody>
          <a:bodyPr wrap="square" lIns="171450" tIns="102870" rIns="171450" bIns="102870" anchor="t">
            <a:noAutofit/>
          </a:bodyPr>
          <a:lstStyle/>
          <a:p>
            <a:pPr>
              <a:lnSpc>
                <a:spcPct val="110000"/>
              </a:lnSpc>
            </a:pPr>
            <a:r>
              <a:rPr lang="en-US" sz="1050" b="1" dirty="0">
                <a:solidFill>
                  <a:srgbClr val="1E2761"/>
                </a:solidFill>
                <a:latin typeface="Calibri"/>
              </a:rPr>
              <a:t>Prompt B</a:t>
            </a:r>
          </a:p>
          <a:p>
            <a:pPr>
              <a:lnSpc>
                <a:spcPct val="115000"/>
              </a:lnSpc>
              <a:spcBef>
                <a:spcPts val="300"/>
              </a:spcBef>
            </a:pPr>
            <a:r>
              <a:rPr lang="en-US" sz="1050" dirty="0">
                <a:solidFill>
                  <a:srgbClr val="1A1F36"/>
                </a:solidFill>
                <a:latin typeface="Calibri"/>
              </a:rPr>
              <a:t>Summarize the earnings call transcript in as much detail as possible, including every number mentioned, for a retail investor. [Transcript: ...]</a:t>
            </a:r>
          </a:p>
        </p:txBody>
      </p:sp>
      <p:sp>
        <p:nvSpPr>
          <p:cNvPr id="22" name="Card Prompt C"/>
          <p:cNvSpPr/>
          <p:nvPr/>
        </p:nvSpPr>
        <p:spPr>
          <a:xfrm>
            <a:off x="461700" y="3816500"/>
            <a:ext cx="5001052" cy="1027000"/>
          </a:xfrm>
          <a:prstGeom prst="roundRect">
            <a:avLst>
              <a:gd name="adj" fmla="val 6000"/>
            </a:avLst>
          </a:prstGeom>
          <a:solidFill>
            <a:srgbClr val="EDF1FA"/>
          </a:solidFill>
          <a:ln>
            <a:noFill/>
          </a:ln>
        </p:spPr>
        <p:txBody>
          <a:bodyPr wrap="square" lIns="171450" tIns="102870" rIns="171450" bIns="102870" anchor="t">
            <a:noAutofit/>
          </a:bodyPr>
          <a:lstStyle/>
          <a:p>
            <a:pPr>
              <a:lnSpc>
                <a:spcPct val="110000"/>
              </a:lnSpc>
            </a:pPr>
            <a:r>
              <a:rPr lang="en-US" sz="1050" b="1" dirty="0">
                <a:solidFill>
                  <a:srgbClr val="1E2761"/>
                </a:solidFill>
                <a:latin typeface="Calibri"/>
              </a:rPr>
              <a:t>Prompt C</a:t>
            </a:r>
          </a:p>
          <a:p>
            <a:pPr>
              <a:lnSpc>
                <a:spcPct val="115000"/>
              </a:lnSpc>
              <a:spcBef>
                <a:spcPts val="300"/>
              </a:spcBef>
            </a:pPr>
            <a:r>
              <a:rPr lang="en-US" sz="1050" dirty="0">
                <a:solidFill>
                  <a:srgbClr val="1A1F36"/>
                </a:solidFill>
                <a:latin typeface="Calibri"/>
              </a:rPr>
              <a:t>Summarize the following earnings call transcript for a retail investor. Focus on quarterly revenue growth and forward-looking risks. Keep it under 100 words. [Transcript: ...]</a:t>
            </a:r>
          </a:p>
        </p:txBody>
      </p:sp>
      <p:pic>
        <p:nvPicPr>
          <p:cNvPr id="5" name="logo"/>
          <p:cNvPicPr preferRelativeResize="0"/>
          <p:nvPr/>
        </p:nvPicPr>
        <p:blipFill>
          <a:blip r:embed="rId2">
            <a:alphaModFix/>
          </a:blip>
          <a:stretch>
            <a:fillRect/>
          </a:stretch>
        </p:blipFill>
        <p:spPr>
          <a:xfrm>
            <a:off x="8369126" y="0"/>
            <a:ext cx="774877" cy="86717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0DC26-E508-DDE0-D8F1-DCFE014976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320246-D99E-C1BD-1C28-CFCFE45A9DA0}"/>
              </a:ext>
            </a:extLst>
          </p:cNvPr>
          <p:cNvSpPr>
            <a:spLocks noGrp="1"/>
          </p:cNvSpPr>
          <p:nvPr>
            <p:ph type="title"/>
          </p:nvPr>
        </p:nvSpPr>
        <p:spPr/>
        <p:txBody>
          <a:bodyPr>
            <a:normAutofit fontScale="90000"/>
          </a:bodyPr>
          <a:lstStyle/>
          <a:p>
            <a:r>
              <a:rPr lang="en-US" b="1" dirty="0">
                <a:solidFill>
                  <a:srgbClr val="1E2761"/>
                </a:solidFill>
                <a:latin typeface="Georgia"/>
              </a:rPr>
              <a:t>Text Summarization</a:t>
            </a:r>
          </a:p>
        </p:txBody>
      </p:sp>
      <p:sp>
        <p:nvSpPr>
          <p:cNvPr id="10" name="Stem">
            <a:extLst>
              <a:ext uri="{FF2B5EF4-FFF2-40B4-BE49-F238E27FC236}">
                <a16:creationId xmlns:a16="http://schemas.microsoft.com/office/drawing/2014/main" id="{1FB0016C-1972-1887-63C1-76491C8CCF36}"/>
              </a:ext>
            </a:extLst>
          </p:cNvPr>
          <p:cNvSpPr txBox="1"/>
          <p:nvPr/>
        </p:nvSpPr>
        <p:spPr>
          <a:xfrm>
            <a:off x="461700" y="1065000"/>
            <a:ext cx="8220600" cy="390000"/>
          </a:xfrm>
          <a:prstGeom prst="rect">
            <a:avLst/>
          </a:prstGeom>
          <a:noFill/>
          <a:ln>
            <a:noFill/>
          </a:ln>
        </p:spPr>
        <p:txBody>
          <a:bodyPr wrap="square" lIns="0" tIns="0" rIns="0" bIns="0" anchor="t">
            <a:noAutofit/>
          </a:bodyPr>
          <a:lstStyle/>
          <a:p>
            <a:r>
              <a:rPr lang="en-US" sz="1200" i="1" dirty="0">
                <a:solidFill>
                  <a:srgbClr val="1A1F36"/>
                </a:solidFill>
                <a:latin typeface="Calibri"/>
              </a:rPr>
              <a:t>Answer &amp; Explanation</a:t>
            </a:r>
          </a:p>
        </p:txBody>
      </p:sp>
      <p:sp>
        <p:nvSpPr>
          <p:cNvPr id="20" name="Card Prompt A">
            <a:extLst>
              <a:ext uri="{FF2B5EF4-FFF2-40B4-BE49-F238E27FC236}">
                <a16:creationId xmlns:a16="http://schemas.microsoft.com/office/drawing/2014/main" id="{592524EC-F89F-0140-A53A-B48D6D8AACC5}"/>
              </a:ext>
            </a:extLst>
          </p:cNvPr>
          <p:cNvSpPr/>
          <p:nvPr/>
        </p:nvSpPr>
        <p:spPr>
          <a:xfrm>
            <a:off x="461700" y="1537500"/>
            <a:ext cx="8220600" cy="1027000"/>
          </a:xfrm>
          <a:prstGeom prst="roundRect">
            <a:avLst>
              <a:gd name="adj" fmla="val 6000"/>
            </a:avLst>
          </a:prstGeom>
          <a:solidFill>
            <a:srgbClr val="EDF1FA"/>
          </a:solidFill>
          <a:ln>
            <a:noFill/>
          </a:ln>
        </p:spPr>
        <p:txBody>
          <a:bodyPr wrap="square" lIns="171450" tIns="102870" rIns="171450" bIns="102870" anchor="t">
            <a:noAutofit/>
          </a:bodyPr>
          <a:lstStyle/>
          <a:p>
            <a:pPr>
              <a:lnSpc>
                <a:spcPct val="110000"/>
              </a:lnSpc>
            </a:pPr>
            <a:r>
              <a:rPr lang="en-US" sz="1050" b="1" dirty="0">
                <a:solidFill>
                  <a:srgbClr val="1E2761"/>
                </a:solidFill>
                <a:latin typeface="Calibri"/>
              </a:rPr>
              <a:t>Prompt A</a:t>
            </a:r>
          </a:p>
          <a:p>
            <a:pPr>
              <a:lnSpc>
                <a:spcPct val="115000"/>
              </a:lnSpc>
              <a:spcBef>
                <a:spcPts val="300"/>
              </a:spcBef>
            </a:pPr>
            <a:r>
              <a:rPr lang="en-US" sz="1050" dirty="0">
                <a:solidFill>
                  <a:srgbClr val="1A1F36"/>
                </a:solidFill>
                <a:latin typeface="Calibri"/>
              </a:rPr>
              <a:t>Summarize the following earnings call transcript. [Transcript: ...]</a:t>
            </a:r>
          </a:p>
          <a:p>
            <a:pPr>
              <a:lnSpc>
                <a:spcPct val="115000"/>
              </a:lnSpc>
              <a:spcBef>
                <a:spcPts val="450"/>
              </a:spcBef>
            </a:pPr>
            <a:r>
              <a:rPr lang="en-US" sz="975" b="1" dirty="0">
                <a:solidFill>
                  <a:srgbClr val="C0392B"/>
                </a:solidFill>
                <a:latin typeface="Calibri"/>
              </a:rPr>
              <a:t>✗ Needs improvement — no audience, focus, or length constraint; the summary could run long, skip key risks, or stay overly technical.</a:t>
            </a:r>
          </a:p>
        </p:txBody>
      </p:sp>
      <p:sp>
        <p:nvSpPr>
          <p:cNvPr id="21" name="Card Prompt B">
            <a:extLst>
              <a:ext uri="{FF2B5EF4-FFF2-40B4-BE49-F238E27FC236}">
                <a16:creationId xmlns:a16="http://schemas.microsoft.com/office/drawing/2014/main" id="{B08AF738-CBEA-83C4-3FEB-FD31F6338EDE}"/>
              </a:ext>
            </a:extLst>
          </p:cNvPr>
          <p:cNvSpPr/>
          <p:nvPr/>
        </p:nvSpPr>
        <p:spPr>
          <a:xfrm>
            <a:off x="461700" y="2677000"/>
            <a:ext cx="8220600" cy="1027000"/>
          </a:xfrm>
          <a:prstGeom prst="roundRect">
            <a:avLst>
              <a:gd name="adj" fmla="val 6000"/>
            </a:avLst>
          </a:prstGeom>
          <a:solidFill>
            <a:srgbClr val="EDF1FA"/>
          </a:solidFill>
          <a:ln>
            <a:noFill/>
          </a:ln>
        </p:spPr>
        <p:txBody>
          <a:bodyPr wrap="square" lIns="171450" tIns="102870" rIns="171450" bIns="102870" anchor="t">
            <a:noAutofit/>
          </a:bodyPr>
          <a:lstStyle/>
          <a:p>
            <a:pPr>
              <a:lnSpc>
                <a:spcPct val="110000"/>
              </a:lnSpc>
            </a:pPr>
            <a:r>
              <a:rPr lang="en-US" sz="1050" b="1" dirty="0">
                <a:solidFill>
                  <a:srgbClr val="1E2761"/>
                </a:solidFill>
                <a:latin typeface="Calibri"/>
              </a:rPr>
              <a:t>Prompt B</a:t>
            </a:r>
          </a:p>
          <a:p>
            <a:pPr>
              <a:lnSpc>
                <a:spcPct val="115000"/>
              </a:lnSpc>
              <a:spcBef>
                <a:spcPts val="300"/>
              </a:spcBef>
            </a:pPr>
            <a:r>
              <a:rPr lang="en-US" sz="1050" dirty="0">
                <a:solidFill>
                  <a:srgbClr val="1A1F36"/>
                </a:solidFill>
                <a:latin typeface="Calibri"/>
              </a:rPr>
              <a:t>Summarize the earnings call transcript in as much detail as possible, including every number mentioned, for a retail investor. [Transcript: ...]</a:t>
            </a:r>
          </a:p>
          <a:p>
            <a:pPr>
              <a:lnSpc>
                <a:spcPct val="115000"/>
              </a:lnSpc>
              <a:spcBef>
                <a:spcPts val="450"/>
              </a:spcBef>
            </a:pPr>
            <a:r>
              <a:rPr lang="en-US" sz="975" b="1" dirty="0">
                <a:solidFill>
                  <a:srgbClr val="C0392B"/>
                </a:solidFill>
                <a:latin typeface="Calibri"/>
              </a:rPr>
              <a:t>✗ Needs improvement — “as much detail as possible” and “every number” work against the goal of a summary, likely producing a long, unfocused reply.</a:t>
            </a:r>
          </a:p>
        </p:txBody>
      </p:sp>
      <p:sp>
        <p:nvSpPr>
          <p:cNvPr id="22" name="Card Prompt C">
            <a:extLst>
              <a:ext uri="{FF2B5EF4-FFF2-40B4-BE49-F238E27FC236}">
                <a16:creationId xmlns:a16="http://schemas.microsoft.com/office/drawing/2014/main" id="{8E59E634-CA68-E77C-D38A-EC9ABFA1FEE3}"/>
              </a:ext>
            </a:extLst>
          </p:cNvPr>
          <p:cNvSpPr/>
          <p:nvPr/>
        </p:nvSpPr>
        <p:spPr>
          <a:xfrm>
            <a:off x="461700" y="3816500"/>
            <a:ext cx="8220600" cy="1027000"/>
          </a:xfrm>
          <a:prstGeom prst="roundRect">
            <a:avLst>
              <a:gd name="adj" fmla="val 6000"/>
            </a:avLst>
          </a:prstGeom>
          <a:solidFill>
            <a:srgbClr val="EDF1FA"/>
          </a:solidFill>
          <a:ln>
            <a:noFill/>
          </a:ln>
        </p:spPr>
        <p:txBody>
          <a:bodyPr wrap="square" lIns="171450" tIns="102870" rIns="171450" bIns="102870" anchor="t">
            <a:noAutofit/>
          </a:bodyPr>
          <a:lstStyle/>
          <a:p>
            <a:pPr>
              <a:lnSpc>
                <a:spcPct val="110000"/>
              </a:lnSpc>
            </a:pPr>
            <a:r>
              <a:rPr lang="en-US" sz="1050" b="1" dirty="0">
                <a:solidFill>
                  <a:srgbClr val="1E2761"/>
                </a:solidFill>
                <a:latin typeface="Calibri"/>
              </a:rPr>
              <a:t>Prompt C</a:t>
            </a:r>
          </a:p>
          <a:p>
            <a:pPr>
              <a:lnSpc>
                <a:spcPct val="115000"/>
              </a:lnSpc>
              <a:spcBef>
                <a:spcPts val="300"/>
              </a:spcBef>
            </a:pPr>
            <a:r>
              <a:rPr lang="en-US" sz="1050" dirty="0">
                <a:solidFill>
                  <a:srgbClr val="1A1F36"/>
                </a:solidFill>
                <a:latin typeface="Calibri"/>
              </a:rPr>
              <a:t>Summarize the following earnings call transcript for a retail investor. Focus on quarterly revenue growth and forward-looking risks. Keep it under 100 words. [Transcript: ...]</a:t>
            </a:r>
          </a:p>
          <a:p>
            <a:pPr>
              <a:lnSpc>
                <a:spcPct val="115000"/>
              </a:lnSpc>
              <a:spcBef>
                <a:spcPts val="450"/>
              </a:spcBef>
            </a:pPr>
            <a:r>
              <a:rPr lang="en-US" sz="975" b="1" dirty="0">
                <a:solidFill>
                  <a:srgbClr val="2E7D32"/>
                </a:solidFill>
                <a:latin typeface="Calibri"/>
              </a:rPr>
              <a:t>✓ Best choice — specifies the audience, the focus areas, and a firm length limit, so the output stays concise and relevant.</a:t>
            </a:r>
          </a:p>
        </p:txBody>
      </p:sp>
      <p:pic>
        <p:nvPicPr>
          <p:cNvPr id="5" name="logo">
            <a:extLst>
              <a:ext uri="{FF2B5EF4-FFF2-40B4-BE49-F238E27FC236}">
                <a16:creationId xmlns:a16="http://schemas.microsoft.com/office/drawing/2014/main" id="{77F152B9-1A22-86FD-3DC5-5C337D7A6EEC}"/>
              </a:ext>
            </a:extLst>
          </p:cNvPr>
          <p:cNvPicPr preferRelativeResize="0"/>
          <p:nvPr/>
        </p:nvPicPr>
        <p:blipFill>
          <a:blip r:embed="rId2">
            <a:alphaModFix/>
          </a:blip>
          <a:stretch>
            <a:fillRect/>
          </a:stretch>
        </p:blipFill>
        <p:spPr>
          <a:xfrm>
            <a:off x="8369126" y="0"/>
            <a:ext cx="774877" cy="867174"/>
          </a:xfrm>
          <a:prstGeom prst="rect">
            <a:avLst/>
          </a:prstGeom>
          <a:noFill/>
          <a:ln>
            <a:noFill/>
          </a:ln>
        </p:spPr>
      </p:pic>
    </p:spTree>
    <p:extLst>
      <p:ext uri="{BB962C8B-B14F-4D97-AF65-F5344CB8AC3E}">
        <p14:creationId xmlns:p14="http://schemas.microsoft.com/office/powerpoint/2010/main" val="39168451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1E2761"/>
                </a:solidFill>
                <a:latin typeface="Georgia"/>
              </a:rPr>
              <a:t>Text Classification</a:t>
            </a:r>
          </a:p>
        </p:txBody>
      </p:sp>
      <p:sp>
        <p:nvSpPr>
          <p:cNvPr id="20" name="Card 20"/>
          <p:cNvSpPr/>
          <p:nvPr/>
        </p:nvSpPr>
        <p:spPr>
          <a:xfrm>
            <a:off x="461700" y="1065000"/>
            <a:ext cx="4035300" cy="1883400"/>
          </a:xfrm>
          <a:prstGeom prst="roundRect">
            <a:avLst>
              <a:gd name="adj" fmla="val 4500"/>
            </a:avLst>
          </a:prstGeom>
          <a:solidFill>
            <a:srgbClr val="EDF1FA"/>
          </a:solidFill>
          <a:ln>
            <a:noFill/>
          </a:ln>
        </p:spPr>
        <p:txBody>
          <a:bodyPr wrap="square" lIns="171450" tIns="102870" rIns="171450" bIns="102870" anchor="t">
            <a:noAutofit/>
          </a:bodyPr>
          <a:lstStyle/>
          <a:p>
            <a:pPr>
              <a:lnSpc>
                <a:spcPct val="115000"/>
              </a:lnSpc>
              <a:buNone/>
            </a:pPr>
            <a:r>
              <a:rPr lang="en-US" sz="1200" b="1" dirty="0">
                <a:solidFill>
                  <a:srgbClr val="1E2761"/>
                </a:solidFill>
                <a:latin typeface="Calibri"/>
              </a:rPr>
              <a:t>Key Challenges</a:t>
            </a:r>
          </a:p>
          <a:p>
            <a:pPr marL="171450" indent="-171450">
              <a:lnSpc>
                <a:spcPct val="114000"/>
              </a:lnSpc>
              <a:spcBef>
                <a:spcPts val="300"/>
              </a:spcBef>
              <a:buFont typeface="Arial"/>
              <a:buChar char="•"/>
            </a:pPr>
            <a:r>
              <a:rPr lang="en-US" sz="1000" dirty="0">
                <a:solidFill>
                  <a:srgbClr val="1A1F36"/>
                </a:solidFill>
                <a:latin typeface="Calibri"/>
              </a:rPr>
              <a:t>Class imbalance — rare categories (e.g., fraud, abuse) get under-predicted since most examples are “normal.”</a:t>
            </a:r>
          </a:p>
          <a:p>
            <a:pPr marL="171450" indent="-171450">
              <a:lnSpc>
                <a:spcPct val="114000"/>
              </a:lnSpc>
              <a:spcBef>
                <a:spcPts val="300"/>
              </a:spcBef>
              <a:buFont typeface="Arial"/>
              <a:buChar char="•"/>
            </a:pPr>
            <a:r>
              <a:rPr lang="en-US" sz="1000" dirty="0">
                <a:solidFill>
                  <a:srgbClr val="1A1F36"/>
                </a:solidFill>
                <a:latin typeface="Calibri"/>
              </a:rPr>
              <a:t>Ambiguous / overlapping labels — a single piece of text can genuinely belong to more than one category.</a:t>
            </a:r>
          </a:p>
          <a:p>
            <a:pPr marL="171450" indent="-171450">
              <a:lnSpc>
                <a:spcPct val="114000"/>
              </a:lnSpc>
              <a:spcBef>
                <a:spcPts val="300"/>
              </a:spcBef>
              <a:buFont typeface="Arial"/>
              <a:buChar char="•"/>
            </a:pPr>
            <a:r>
              <a:rPr lang="en-US" sz="1000" dirty="0">
                <a:solidFill>
                  <a:srgbClr val="1A1F36"/>
                </a:solidFill>
                <a:latin typeface="Calibri"/>
              </a:rPr>
              <a:t>Domain shift — a classifier trained on one domain (movie reviews) degrades on another (product reviews).</a:t>
            </a:r>
          </a:p>
          <a:p>
            <a:pPr marL="171450" indent="-171450">
              <a:lnSpc>
                <a:spcPct val="114000"/>
              </a:lnSpc>
              <a:spcBef>
                <a:spcPts val="300"/>
              </a:spcBef>
              <a:buFont typeface="Arial"/>
              <a:buChar char="•"/>
            </a:pPr>
            <a:r>
              <a:rPr lang="en-US" sz="1000" dirty="0">
                <a:solidFill>
                  <a:srgbClr val="1A1F36"/>
                </a:solidFill>
                <a:latin typeface="Calibri"/>
              </a:rPr>
              <a:t>Consistent, machine-readable output — open-ended labels break downstream automation expecting a fixed label set.</a:t>
            </a:r>
          </a:p>
        </p:txBody>
      </p:sp>
      <p:sp>
        <p:nvSpPr>
          <p:cNvPr id="21" name="Card 21"/>
          <p:cNvSpPr/>
          <p:nvPr/>
        </p:nvSpPr>
        <p:spPr>
          <a:xfrm>
            <a:off x="4647000" y="1065000"/>
            <a:ext cx="4035300" cy="1733400"/>
          </a:xfrm>
          <a:prstGeom prst="roundRect">
            <a:avLst>
              <a:gd name="adj" fmla="val 4500"/>
            </a:avLst>
          </a:prstGeom>
          <a:solidFill>
            <a:srgbClr val="EDF1FA"/>
          </a:solidFill>
          <a:ln>
            <a:noFill/>
          </a:ln>
        </p:spPr>
        <p:txBody>
          <a:bodyPr wrap="square" lIns="171450" tIns="102870" rIns="171450" bIns="102870" anchor="t">
            <a:noAutofit/>
          </a:bodyPr>
          <a:lstStyle/>
          <a:p>
            <a:pPr>
              <a:lnSpc>
                <a:spcPct val="115000"/>
              </a:lnSpc>
              <a:buNone/>
            </a:pPr>
            <a:r>
              <a:rPr lang="en-US" sz="1200" b="1" dirty="0">
                <a:solidFill>
                  <a:srgbClr val="1E2761"/>
                </a:solidFill>
                <a:latin typeface="Calibri"/>
              </a:rPr>
              <a:t>Example</a:t>
            </a:r>
          </a:p>
          <a:p>
            <a:pPr>
              <a:lnSpc>
                <a:spcPct val="114000"/>
              </a:lnSpc>
              <a:buNone/>
            </a:pPr>
            <a:r>
              <a:rPr lang="en-US" sz="1000" dirty="0">
                <a:solidFill>
                  <a:srgbClr val="1A1F36"/>
                </a:solidFill>
                <a:latin typeface="Calibri"/>
              </a:rPr>
              <a:t>Input: “The delivery took forever, but the food was amazing.”</a:t>
            </a:r>
          </a:p>
          <a:p>
            <a:pPr>
              <a:lnSpc>
                <a:spcPct val="114000"/>
              </a:lnSpc>
              <a:spcBef>
                <a:spcPts val="300"/>
              </a:spcBef>
            </a:pPr>
            <a:r>
              <a:rPr lang="en-US" sz="1000" i="1" dirty="0">
                <a:solidFill>
                  <a:srgbClr val="1A1F36"/>
                </a:solidFill>
                <a:latin typeface="Calibri"/>
              </a:rPr>
              <a:t>Task: Sentiment classification (Positive / Negative / Mixed)</a:t>
            </a:r>
          </a:p>
          <a:p>
            <a:pPr>
              <a:lnSpc>
                <a:spcPct val="114000"/>
              </a:lnSpc>
              <a:spcBef>
                <a:spcPts val="300"/>
              </a:spcBef>
            </a:pPr>
            <a:r>
              <a:rPr lang="en-US" sz="1000" b="1" dirty="0">
                <a:solidFill>
                  <a:srgbClr val="2E7D32"/>
                </a:solidFill>
                <a:latin typeface="Calibri"/>
              </a:rPr>
              <a:t>Output: Mixed — negative delivery experience, positive food quality; a single Positive/Negative label would lose real information here.</a:t>
            </a:r>
          </a:p>
        </p:txBody>
      </p:sp>
      <p:sp>
        <p:nvSpPr>
          <p:cNvPr id="22" name="Card 22"/>
          <p:cNvSpPr/>
          <p:nvPr/>
        </p:nvSpPr>
        <p:spPr>
          <a:xfrm>
            <a:off x="461700" y="3131280"/>
            <a:ext cx="4035300" cy="1733400"/>
          </a:xfrm>
          <a:prstGeom prst="roundRect">
            <a:avLst>
              <a:gd name="adj" fmla="val 4500"/>
            </a:avLst>
          </a:prstGeom>
          <a:solidFill>
            <a:srgbClr val="EDF1FA"/>
          </a:solidFill>
          <a:ln>
            <a:noFill/>
          </a:ln>
        </p:spPr>
        <p:txBody>
          <a:bodyPr wrap="square" lIns="171450" tIns="102870" rIns="171450" bIns="102870" anchor="t">
            <a:noAutofit/>
          </a:bodyPr>
          <a:lstStyle/>
          <a:p>
            <a:pPr>
              <a:lnSpc>
                <a:spcPct val="115000"/>
              </a:lnSpc>
              <a:buNone/>
            </a:pPr>
            <a:r>
              <a:rPr lang="en-US" sz="1200" b="1" dirty="0">
                <a:solidFill>
                  <a:srgbClr val="1E2761"/>
                </a:solidFill>
                <a:latin typeface="Calibri"/>
              </a:rPr>
              <a:t>Popular Dataset</a:t>
            </a:r>
          </a:p>
          <a:p>
            <a:pPr>
              <a:lnSpc>
                <a:spcPct val="114000"/>
              </a:lnSpc>
              <a:buNone/>
            </a:pPr>
            <a:r>
              <a:rPr lang="en-US" sz="1000" b="1" dirty="0">
                <a:solidFill>
                  <a:srgbClr val="1E2761"/>
                </a:solidFill>
                <a:latin typeface="Calibri"/>
              </a:rPr>
              <a:t>SST-2 (Stanford Sentiment Treebank, GLUE)</a:t>
            </a:r>
          </a:p>
          <a:p>
            <a:pPr marL="171450" indent="-171450">
              <a:lnSpc>
                <a:spcPct val="114000"/>
              </a:lnSpc>
              <a:spcBef>
                <a:spcPts val="300"/>
              </a:spcBef>
              <a:buFont typeface="Arial"/>
              <a:buChar char="•"/>
            </a:pPr>
            <a:r>
              <a:rPr lang="en-US" sz="1000" dirty="0">
                <a:solidFill>
                  <a:srgbClr val="1A1F36"/>
                </a:solidFill>
                <a:latin typeface="Calibri"/>
              </a:rPr>
              <a:t>~67,349 train / 872 dev / 1,821 test sentences</a:t>
            </a:r>
          </a:p>
          <a:p>
            <a:pPr marL="171450" indent="-171450">
              <a:lnSpc>
                <a:spcPct val="114000"/>
              </a:lnSpc>
              <a:spcBef>
                <a:spcPts val="300"/>
              </a:spcBef>
              <a:buFont typeface="Arial"/>
              <a:buChar char="•"/>
            </a:pPr>
            <a:r>
              <a:rPr lang="en-US" sz="1000" dirty="0">
                <a:solidFill>
                  <a:srgbClr val="1A1F36"/>
                </a:solidFill>
                <a:latin typeface="Calibri"/>
              </a:rPr>
              <a:t>Movie-review sentences labeled Positive / Negative (binary)</a:t>
            </a:r>
          </a:p>
          <a:p>
            <a:pPr marL="171450" indent="-171450">
              <a:lnSpc>
                <a:spcPct val="114000"/>
              </a:lnSpc>
              <a:spcBef>
                <a:spcPts val="300"/>
              </a:spcBef>
              <a:buFont typeface="Arial"/>
              <a:buChar char="•"/>
            </a:pPr>
            <a:r>
              <a:rPr lang="en-US" sz="1000" dirty="0">
                <a:solidFill>
                  <a:srgbClr val="1A1F36"/>
                </a:solidFill>
                <a:latin typeface="Calibri"/>
              </a:rPr>
              <a:t>A standard sentiment-classification benchmark within the GLUE suite</a:t>
            </a:r>
          </a:p>
        </p:txBody>
      </p:sp>
      <p:sp>
        <p:nvSpPr>
          <p:cNvPr id="23" name="Card 23"/>
          <p:cNvSpPr/>
          <p:nvPr/>
        </p:nvSpPr>
        <p:spPr>
          <a:xfrm>
            <a:off x="4647000" y="3027912"/>
            <a:ext cx="4035300" cy="1733400"/>
          </a:xfrm>
          <a:prstGeom prst="roundRect">
            <a:avLst>
              <a:gd name="adj" fmla="val 4500"/>
            </a:avLst>
          </a:prstGeom>
          <a:solidFill>
            <a:srgbClr val="EDF1FA"/>
          </a:solidFill>
          <a:ln>
            <a:noFill/>
          </a:ln>
        </p:spPr>
        <p:txBody>
          <a:bodyPr wrap="square" lIns="171450" tIns="102870" rIns="171450" bIns="102870" anchor="t">
            <a:noAutofit/>
          </a:bodyPr>
          <a:lstStyle/>
          <a:p>
            <a:pPr>
              <a:lnSpc>
                <a:spcPct val="115000"/>
              </a:lnSpc>
              <a:buNone/>
            </a:pPr>
            <a:r>
              <a:rPr lang="en-US" sz="1200" b="1" dirty="0">
                <a:solidFill>
                  <a:srgbClr val="1E2761"/>
                </a:solidFill>
                <a:latin typeface="Calibri"/>
              </a:rPr>
              <a:t>Industrial Applications</a:t>
            </a:r>
          </a:p>
          <a:p>
            <a:pPr marL="171450" indent="-171450">
              <a:lnSpc>
                <a:spcPct val="114000"/>
              </a:lnSpc>
              <a:spcBef>
                <a:spcPts val="300"/>
              </a:spcBef>
              <a:buFont typeface="Arial"/>
              <a:buChar char="•"/>
            </a:pPr>
            <a:r>
              <a:rPr lang="en-US" sz="1000" dirty="0">
                <a:solidFill>
                  <a:srgbClr val="1A1F36"/>
                </a:solidFill>
                <a:latin typeface="Calibri"/>
              </a:rPr>
              <a:t>Spam &amp; content-moderation filtering</a:t>
            </a:r>
          </a:p>
          <a:p>
            <a:pPr marL="171450" indent="-171450">
              <a:lnSpc>
                <a:spcPct val="114000"/>
              </a:lnSpc>
              <a:spcBef>
                <a:spcPts val="300"/>
              </a:spcBef>
              <a:buFont typeface="Arial"/>
              <a:buChar char="•"/>
            </a:pPr>
            <a:r>
              <a:rPr lang="en-US" sz="1000" dirty="0">
                <a:solidFill>
                  <a:srgbClr val="1A1F36"/>
                </a:solidFill>
                <a:latin typeface="Calibri"/>
              </a:rPr>
              <a:t>Customer support ticket routing / triage</a:t>
            </a:r>
          </a:p>
          <a:p>
            <a:pPr marL="171450" indent="-171450">
              <a:lnSpc>
                <a:spcPct val="114000"/>
              </a:lnSpc>
              <a:spcBef>
                <a:spcPts val="300"/>
              </a:spcBef>
              <a:buFont typeface="Arial"/>
              <a:buChar char="•"/>
            </a:pPr>
            <a:r>
              <a:rPr lang="en-US" sz="1000" dirty="0">
                <a:solidFill>
                  <a:srgbClr val="1A1F36"/>
                </a:solidFill>
                <a:latin typeface="Calibri"/>
              </a:rPr>
              <a:t>Brand &amp; social-media sentiment monitoring</a:t>
            </a:r>
          </a:p>
          <a:p>
            <a:pPr marL="171450" indent="-171450">
              <a:lnSpc>
                <a:spcPct val="114000"/>
              </a:lnSpc>
              <a:spcBef>
                <a:spcPts val="300"/>
              </a:spcBef>
              <a:buFont typeface="Arial"/>
              <a:buChar char="•"/>
            </a:pPr>
            <a:r>
              <a:rPr lang="en-US" sz="1000" dirty="0">
                <a:solidFill>
                  <a:srgbClr val="1A1F36"/>
                </a:solidFill>
                <a:latin typeface="Calibri"/>
              </a:rPr>
              <a:t>Email / document categorization for records management</a:t>
            </a:r>
          </a:p>
          <a:p>
            <a:pPr marL="171450" indent="-171450">
              <a:lnSpc>
                <a:spcPct val="114000"/>
              </a:lnSpc>
              <a:spcBef>
                <a:spcPts val="300"/>
              </a:spcBef>
              <a:buFont typeface="Arial"/>
              <a:buChar char="•"/>
            </a:pPr>
            <a:r>
              <a:rPr lang="en-US" sz="1000" dirty="0">
                <a:solidFill>
                  <a:srgbClr val="1A1F36"/>
                </a:solidFill>
                <a:latin typeface="Calibri"/>
              </a:rPr>
              <a:t>Intent detection in chatbots and voice assistants</a:t>
            </a:r>
          </a:p>
        </p:txBody>
      </p:sp>
      <p:pic>
        <p:nvPicPr>
          <p:cNvPr id="5" name="logo"/>
          <p:cNvPicPr preferRelativeResize="0"/>
          <p:nvPr/>
        </p:nvPicPr>
        <p:blipFill>
          <a:blip r:embed="rId2">
            <a:alphaModFix/>
          </a:blip>
          <a:stretch>
            <a:fillRect/>
          </a:stretch>
        </p:blipFill>
        <p:spPr>
          <a:xfrm>
            <a:off x="8369126" y="0"/>
            <a:ext cx="774877" cy="867174"/>
          </a:xfrm>
          <a:prstGeom prst="rect">
            <a:avLst/>
          </a:prstGeom>
          <a:noFill/>
          <a:ln>
            <a:noFill/>
          </a:ln>
        </p:spPr>
      </p:pic>
    </p:spTree>
    <p:extLst>
      <p:ext uri="{BB962C8B-B14F-4D97-AF65-F5344CB8AC3E}">
        <p14:creationId xmlns:p14="http://schemas.microsoft.com/office/powerpoint/2010/main" val="6758300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1E2761"/>
                </a:solidFill>
                <a:latin typeface="Georgia"/>
              </a:rPr>
              <a:t>Text Classification</a:t>
            </a:r>
          </a:p>
        </p:txBody>
      </p:sp>
      <p:sp>
        <p:nvSpPr>
          <p:cNvPr id="10" name="Stem"/>
          <p:cNvSpPr txBox="1"/>
          <p:nvPr/>
        </p:nvSpPr>
        <p:spPr>
          <a:xfrm>
            <a:off x="461700" y="1065000"/>
            <a:ext cx="8220600" cy="390000"/>
          </a:xfrm>
          <a:prstGeom prst="rect">
            <a:avLst/>
          </a:prstGeom>
          <a:noFill/>
          <a:ln>
            <a:noFill/>
          </a:ln>
        </p:spPr>
        <p:txBody>
          <a:bodyPr wrap="square" lIns="0" tIns="0" rIns="0" bIns="0" anchor="t">
            <a:noAutofit/>
          </a:bodyPr>
          <a:lstStyle/>
          <a:p>
            <a:r>
              <a:rPr lang="en-US" sz="1200" i="1" dirty="0">
                <a:solidFill>
                  <a:srgbClr val="1A1F36"/>
                </a:solidFill>
                <a:latin typeface="Calibri"/>
              </a:rPr>
              <a:t>You're auto-tagging support tickets and need consistent, machine-readable labels. Which prompt fits best?</a:t>
            </a:r>
          </a:p>
        </p:txBody>
      </p:sp>
      <p:sp>
        <p:nvSpPr>
          <p:cNvPr id="20" name="Card Prompt A"/>
          <p:cNvSpPr/>
          <p:nvPr/>
        </p:nvSpPr>
        <p:spPr>
          <a:xfrm>
            <a:off x="461701" y="1537500"/>
            <a:ext cx="4859162" cy="1027000"/>
          </a:xfrm>
          <a:prstGeom prst="roundRect">
            <a:avLst>
              <a:gd name="adj" fmla="val 6000"/>
            </a:avLst>
          </a:prstGeom>
          <a:solidFill>
            <a:srgbClr val="EDF1FA"/>
          </a:solidFill>
          <a:ln>
            <a:noFill/>
          </a:ln>
        </p:spPr>
        <p:txBody>
          <a:bodyPr wrap="square" lIns="171450" tIns="102870" rIns="171450" bIns="102870" anchor="t">
            <a:noAutofit/>
          </a:bodyPr>
          <a:lstStyle/>
          <a:p>
            <a:pPr>
              <a:lnSpc>
                <a:spcPct val="110000"/>
              </a:lnSpc>
            </a:pPr>
            <a:r>
              <a:rPr lang="en-US" sz="1050" b="1" dirty="0">
                <a:solidFill>
                  <a:srgbClr val="1E2761"/>
                </a:solidFill>
                <a:latin typeface="Calibri"/>
              </a:rPr>
              <a:t>Prompt A</a:t>
            </a:r>
          </a:p>
          <a:p>
            <a:pPr>
              <a:lnSpc>
                <a:spcPct val="115000"/>
              </a:lnSpc>
              <a:spcBef>
                <a:spcPts val="300"/>
              </a:spcBef>
            </a:pPr>
            <a:r>
              <a:rPr lang="en-US" sz="1050" dirty="0">
                <a:solidFill>
                  <a:srgbClr val="1A1F36"/>
                </a:solidFill>
                <a:latin typeface="Calibri"/>
              </a:rPr>
              <a:t>Assign relevant tags to this support ticket from this list only: [Auth, Billing, Technical, Urgent]. Output only the matching tag names as a comma-separated list. Ticket: {ticket}</a:t>
            </a:r>
          </a:p>
        </p:txBody>
      </p:sp>
      <p:sp>
        <p:nvSpPr>
          <p:cNvPr id="21" name="Card Prompt B"/>
          <p:cNvSpPr/>
          <p:nvPr/>
        </p:nvSpPr>
        <p:spPr>
          <a:xfrm>
            <a:off x="461701" y="2677000"/>
            <a:ext cx="4859162" cy="1027000"/>
          </a:xfrm>
          <a:prstGeom prst="roundRect">
            <a:avLst>
              <a:gd name="adj" fmla="val 6000"/>
            </a:avLst>
          </a:prstGeom>
          <a:solidFill>
            <a:srgbClr val="EDF1FA"/>
          </a:solidFill>
          <a:ln>
            <a:noFill/>
          </a:ln>
        </p:spPr>
        <p:txBody>
          <a:bodyPr wrap="square" lIns="171450" tIns="102870" rIns="171450" bIns="102870" anchor="t">
            <a:noAutofit/>
          </a:bodyPr>
          <a:lstStyle/>
          <a:p>
            <a:pPr>
              <a:lnSpc>
                <a:spcPct val="110000"/>
              </a:lnSpc>
            </a:pPr>
            <a:r>
              <a:rPr lang="en-US" sz="1050" b="1" dirty="0">
                <a:solidFill>
                  <a:srgbClr val="1E2761"/>
                </a:solidFill>
                <a:latin typeface="Calibri"/>
              </a:rPr>
              <a:t>Prompt B</a:t>
            </a:r>
          </a:p>
          <a:p>
            <a:pPr>
              <a:lnSpc>
                <a:spcPct val="115000"/>
              </a:lnSpc>
              <a:spcBef>
                <a:spcPts val="300"/>
              </a:spcBef>
            </a:pPr>
            <a:r>
              <a:rPr lang="en-US" sz="1050" dirty="0">
                <a:solidFill>
                  <a:srgbClr val="1A1F36"/>
                </a:solidFill>
                <a:latin typeface="Calibri"/>
              </a:rPr>
              <a:t>Read this support ticket and assign tags that describe the issue. Ticket: {ticket}</a:t>
            </a:r>
          </a:p>
        </p:txBody>
      </p:sp>
      <p:sp>
        <p:nvSpPr>
          <p:cNvPr id="22" name="Card Prompt C"/>
          <p:cNvSpPr/>
          <p:nvPr/>
        </p:nvSpPr>
        <p:spPr>
          <a:xfrm>
            <a:off x="461701" y="3816500"/>
            <a:ext cx="4859162" cy="1027000"/>
          </a:xfrm>
          <a:prstGeom prst="roundRect">
            <a:avLst>
              <a:gd name="adj" fmla="val 6000"/>
            </a:avLst>
          </a:prstGeom>
          <a:solidFill>
            <a:srgbClr val="EDF1FA"/>
          </a:solidFill>
          <a:ln>
            <a:noFill/>
          </a:ln>
        </p:spPr>
        <p:txBody>
          <a:bodyPr wrap="square" lIns="171450" tIns="102870" rIns="171450" bIns="102870" anchor="t">
            <a:noAutofit/>
          </a:bodyPr>
          <a:lstStyle/>
          <a:p>
            <a:pPr>
              <a:lnSpc>
                <a:spcPct val="110000"/>
              </a:lnSpc>
            </a:pPr>
            <a:r>
              <a:rPr lang="en-US" sz="1050" b="1" dirty="0">
                <a:solidFill>
                  <a:srgbClr val="1E2761"/>
                </a:solidFill>
                <a:latin typeface="Calibri"/>
              </a:rPr>
              <a:t>Prompt C</a:t>
            </a:r>
          </a:p>
          <a:p>
            <a:pPr>
              <a:lnSpc>
                <a:spcPct val="115000"/>
              </a:lnSpc>
              <a:spcBef>
                <a:spcPts val="300"/>
              </a:spcBef>
            </a:pPr>
            <a:r>
              <a:rPr lang="en-US" sz="1050" dirty="0">
                <a:solidFill>
                  <a:srgbClr val="1A1F36"/>
                </a:solidFill>
                <a:latin typeface="Calibri"/>
              </a:rPr>
              <a:t>Assign relevant tags to this support ticket from this list: [Auth, Billing, Technical, Urgent]. Explain your reasoning for each tag you choose. Ticket: {ticket}</a:t>
            </a:r>
          </a:p>
        </p:txBody>
      </p:sp>
      <p:pic>
        <p:nvPicPr>
          <p:cNvPr id="5" name="logo"/>
          <p:cNvPicPr preferRelativeResize="0"/>
          <p:nvPr/>
        </p:nvPicPr>
        <p:blipFill>
          <a:blip r:embed="rId2">
            <a:alphaModFix/>
          </a:blip>
          <a:stretch>
            <a:fillRect/>
          </a:stretch>
        </p:blipFill>
        <p:spPr>
          <a:xfrm>
            <a:off x="8369126" y="0"/>
            <a:ext cx="774877" cy="867174"/>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1E2761"/>
                </a:solidFill>
                <a:latin typeface="Georgia"/>
              </a:rPr>
              <a:t>Text Classification</a:t>
            </a:r>
          </a:p>
        </p:txBody>
      </p:sp>
      <p:sp>
        <p:nvSpPr>
          <p:cNvPr id="10" name="Stem"/>
          <p:cNvSpPr txBox="1"/>
          <p:nvPr/>
        </p:nvSpPr>
        <p:spPr>
          <a:xfrm>
            <a:off x="461700" y="1065000"/>
            <a:ext cx="8220600" cy="390000"/>
          </a:xfrm>
          <a:prstGeom prst="rect">
            <a:avLst/>
          </a:prstGeom>
          <a:noFill/>
          <a:ln>
            <a:noFill/>
          </a:ln>
        </p:spPr>
        <p:txBody>
          <a:bodyPr wrap="square" lIns="0" tIns="0" rIns="0" bIns="0" anchor="t">
            <a:noAutofit/>
          </a:bodyPr>
          <a:lstStyle/>
          <a:p>
            <a:r>
              <a:rPr lang="en-US" sz="1200" i="1" dirty="0">
                <a:solidFill>
                  <a:srgbClr val="1A1F36"/>
                </a:solidFill>
                <a:latin typeface="Calibri"/>
              </a:rPr>
              <a:t>Answer &amp; Explanation</a:t>
            </a:r>
          </a:p>
        </p:txBody>
      </p:sp>
      <p:sp>
        <p:nvSpPr>
          <p:cNvPr id="20" name="Card Prompt A"/>
          <p:cNvSpPr/>
          <p:nvPr/>
        </p:nvSpPr>
        <p:spPr>
          <a:xfrm>
            <a:off x="461700" y="1537500"/>
            <a:ext cx="8220600" cy="1027000"/>
          </a:xfrm>
          <a:prstGeom prst="roundRect">
            <a:avLst>
              <a:gd name="adj" fmla="val 6000"/>
            </a:avLst>
          </a:prstGeom>
          <a:solidFill>
            <a:srgbClr val="EDF1FA"/>
          </a:solidFill>
          <a:ln>
            <a:noFill/>
          </a:ln>
        </p:spPr>
        <p:txBody>
          <a:bodyPr wrap="square" lIns="171450" tIns="102870" rIns="171450" bIns="102870" anchor="t">
            <a:noAutofit/>
          </a:bodyPr>
          <a:lstStyle/>
          <a:p>
            <a:pPr>
              <a:lnSpc>
                <a:spcPct val="110000"/>
              </a:lnSpc>
            </a:pPr>
            <a:r>
              <a:rPr lang="en-US" sz="1050" b="1" dirty="0">
                <a:solidFill>
                  <a:srgbClr val="1E2761"/>
                </a:solidFill>
                <a:latin typeface="Calibri"/>
              </a:rPr>
              <a:t>Prompt A</a:t>
            </a:r>
          </a:p>
          <a:p>
            <a:pPr>
              <a:lnSpc>
                <a:spcPct val="115000"/>
              </a:lnSpc>
              <a:spcBef>
                <a:spcPts val="300"/>
              </a:spcBef>
            </a:pPr>
            <a:r>
              <a:rPr lang="en-US" sz="1050" dirty="0">
                <a:solidFill>
                  <a:srgbClr val="1A1F36"/>
                </a:solidFill>
                <a:latin typeface="Calibri"/>
              </a:rPr>
              <a:t>Assign relevant tags to this support ticket from this list only: [Auth, Billing, Technical, Urgent]. Output only the matching tag names as a comma-separated list. Ticket: {ticket}</a:t>
            </a:r>
          </a:p>
          <a:p>
            <a:pPr>
              <a:lnSpc>
                <a:spcPct val="115000"/>
              </a:lnSpc>
              <a:spcBef>
                <a:spcPts val="450"/>
              </a:spcBef>
            </a:pPr>
            <a:r>
              <a:rPr lang="en-US" sz="975" b="1" dirty="0">
                <a:solidFill>
                  <a:srgbClr val="2E7D32"/>
                </a:solidFill>
                <a:latin typeface="Calibri"/>
              </a:rPr>
              <a:t>✓ Best choice — fixes the label set and the output format, so results stay consistent and easy to parse downstream.</a:t>
            </a:r>
          </a:p>
        </p:txBody>
      </p:sp>
      <p:sp>
        <p:nvSpPr>
          <p:cNvPr id="21" name="Card Prompt B"/>
          <p:cNvSpPr/>
          <p:nvPr/>
        </p:nvSpPr>
        <p:spPr>
          <a:xfrm>
            <a:off x="461700" y="2677000"/>
            <a:ext cx="8220600" cy="1027000"/>
          </a:xfrm>
          <a:prstGeom prst="roundRect">
            <a:avLst>
              <a:gd name="adj" fmla="val 6000"/>
            </a:avLst>
          </a:prstGeom>
          <a:solidFill>
            <a:srgbClr val="EDF1FA"/>
          </a:solidFill>
          <a:ln>
            <a:noFill/>
          </a:ln>
        </p:spPr>
        <p:txBody>
          <a:bodyPr wrap="square" lIns="171450" tIns="102870" rIns="171450" bIns="102870" anchor="t">
            <a:noAutofit/>
          </a:bodyPr>
          <a:lstStyle/>
          <a:p>
            <a:pPr>
              <a:lnSpc>
                <a:spcPct val="110000"/>
              </a:lnSpc>
            </a:pPr>
            <a:r>
              <a:rPr lang="en-US" sz="1050" b="1" dirty="0">
                <a:solidFill>
                  <a:srgbClr val="1E2761"/>
                </a:solidFill>
                <a:latin typeface="Calibri"/>
              </a:rPr>
              <a:t>Prompt B</a:t>
            </a:r>
          </a:p>
          <a:p>
            <a:pPr>
              <a:lnSpc>
                <a:spcPct val="115000"/>
              </a:lnSpc>
              <a:spcBef>
                <a:spcPts val="300"/>
              </a:spcBef>
            </a:pPr>
            <a:r>
              <a:rPr lang="en-US" sz="1050" dirty="0">
                <a:solidFill>
                  <a:srgbClr val="1A1F36"/>
                </a:solidFill>
                <a:latin typeface="Calibri"/>
              </a:rPr>
              <a:t>Read this support ticket and assign tags that describe the issue. Ticket: {ticket}</a:t>
            </a:r>
          </a:p>
          <a:p>
            <a:pPr>
              <a:lnSpc>
                <a:spcPct val="115000"/>
              </a:lnSpc>
              <a:spcBef>
                <a:spcPts val="450"/>
              </a:spcBef>
            </a:pPr>
            <a:r>
              <a:rPr lang="en-US" sz="975" b="1" dirty="0">
                <a:solidFill>
                  <a:srgbClr val="C0392B"/>
                </a:solidFill>
                <a:latin typeface="Calibri"/>
              </a:rPr>
              <a:t>✗ Needs improvement — no fixed label set, so the model can invent new categories each time, breaking consistency across tickets.</a:t>
            </a:r>
          </a:p>
        </p:txBody>
      </p:sp>
      <p:sp>
        <p:nvSpPr>
          <p:cNvPr id="22" name="Card Prompt C"/>
          <p:cNvSpPr/>
          <p:nvPr/>
        </p:nvSpPr>
        <p:spPr>
          <a:xfrm>
            <a:off x="461700" y="3816500"/>
            <a:ext cx="8220600" cy="1027000"/>
          </a:xfrm>
          <a:prstGeom prst="roundRect">
            <a:avLst>
              <a:gd name="adj" fmla="val 6000"/>
            </a:avLst>
          </a:prstGeom>
          <a:solidFill>
            <a:srgbClr val="EDF1FA"/>
          </a:solidFill>
          <a:ln>
            <a:noFill/>
          </a:ln>
        </p:spPr>
        <p:txBody>
          <a:bodyPr wrap="square" lIns="171450" tIns="102870" rIns="171450" bIns="102870" anchor="t">
            <a:noAutofit/>
          </a:bodyPr>
          <a:lstStyle/>
          <a:p>
            <a:pPr>
              <a:lnSpc>
                <a:spcPct val="110000"/>
              </a:lnSpc>
            </a:pPr>
            <a:r>
              <a:rPr lang="en-US" sz="1050" b="1" dirty="0">
                <a:solidFill>
                  <a:srgbClr val="1E2761"/>
                </a:solidFill>
                <a:latin typeface="Calibri"/>
              </a:rPr>
              <a:t>Prompt C</a:t>
            </a:r>
          </a:p>
          <a:p>
            <a:pPr>
              <a:lnSpc>
                <a:spcPct val="115000"/>
              </a:lnSpc>
              <a:spcBef>
                <a:spcPts val="300"/>
              </a:spcBef>
            </a:pPr>
            <a:r>
              <a:rPr lang="en-US" sz="1050" dirty="0">
                <a:solidFill>
                  <a:srgbClr val="1A1F36"/>
                </a:solidFill>
                <a:latin typeface="Calibri"/>
              </a:rPr>
              <a:t>Assign relevant tags to this support ticket from this list: [Auth, Billing, Technical, Urgent]. Explain your reasoning for each tag you choose. Ticket: {ticket}</a:t>
            </a:r>
          </a:p>
          <a:p>
            <a:pPr>
              <a:lnSpc>
                <a:spcPct val="115000"/>
              </a:lnSpc>
              <a:spcBef>
                <a:spcPts val="450"/>
              </a:spcBef>
            </a:pPr>
            <a:r>
              <a:rPr lang="en-US" sz="975" b="1" dirty="0">
                <a:solidFill>
                  <a:srgbClr val="C0392B"/>
                </a:solidFill>
                <a:latin typeface="Calibri"/>
              </a:rPr>
              <a:t>✗ Needs improvement — the label set is fine, but open-ended reasoning turns the output into free text instead of a clean, parseable list.</a:t>
            </a:r>
          </a:p>
        </p:txBody>
      </p:sp>
      <p:pic>
        <p:nvPicPr>
          <p:cNvPr id="5" name="logo"/>
          <p:cNvPicPr preferRelativeResize="0"/>
          <p:nvPr/>
        </p:nvPicPr>
        <p:blipFill>
          <a:blip r:embed="rId2">
            <a:alphaModFix/>
          </a:blip>
          <a:stretch>
            <a:fillRect/>
          </a:stretch>
        </p:blipFill>
        <p:spPr>
          <a:xfrm>
            <a:off x="8369126" y="0"/>
            <a:ext cx="774877" cy="867174"/>
          </a:xfrm>
          <a:prstGeom prst="rect">
            <a:avLst/>
          </a:prstGeom>
          <a:noFill/>
          <a:ln>
            <a:noFill/>
          </a:ln>
        </p:spPr>
      </p:pic>
    </p:spTree>
    <p:extLst>
      <p:ext uri="{BB962C8B-B14F-4D97-AF65-F5344CB8AC3E}">
        <p14:creationId xmlns:p14="http://schemas.microsoft.com/office/powerpoint/2010/main" val="2813168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1E2761"/>
                </a:solidFill>
                <a:latin typeface="Georgia"/>
              </a:rPr>
              <a:t>Code Generation</a:t>
            </a:r>
          </a:p>
        </p:txBody>
      </p:sp>
      <p:sp>
        <p:nvSpPr>
          <p:cNvPr id="20" name="Card 20"/>
          <p:cNvSpPr/>
          <p:nvPr/>
        </p:nvSpPr>
        <p:spPr>
          <a:xfrm>
            <a:off x="461700" y="1065000"/>
            <a:ext cx="4035300" cy="1883400"/>
          </a:xfrm>
          <a:prstGeom prst="roundRect">
            <a:avLst>
              <a:gd name="adj" fmla="val 4500"/>
            </a:avLst>
          </a:prstGeom>
          <a:solidFill>
            <a:srgbClr val="EDF1FA"/>
          </a:solidFill>
          <a:ln>
            <a:noFill/>
          </a:ln>
        </p:spPr>
        <p:txBody>
          <a:bodyPr wrap="square" lIns="171450" tIns="102870" rIns="171450" bIns="102870" anchor="t">
            <a:noAutofit/>
          </a:bodyPr>
          <a:lstStyle/>
          <a:p>
            <a:pPr>
              <a:lnSpc>
                <a:spcPct val="115000"/>
              </a:lnSpc>
              <a:buNone/>
            </a:pPr>
            <a:r>
              <a:rPr lang="en-US" sz="1200" b="1" dirty="0">
                <a:solidFill>
                  <a:srgbClr val="1E2761"/>
                </a:solidFill>
                <a:latin typeface="Calibri"/>
              </a:rPr>
              <a:t>Key Challenges</a:t>
            </a:r>
          </a:p>
          <a:p>
            <a:pPr marL="171450" indent="-171450">
              <a:lnSpc>
                <a:spcPct val="114000"/>
              </a:lnSpc>
              <a:spcBef>
                <a:spcPts val="300"/>
              </a:spcBef>
              <a:buFont typeface="Arial"/>
              <a:buChar char="•"/>
            </a:pPr>
            <a:r>
              <a:rPr lang="en-US" sz="1000" dirty="0">
                <a:solidFill>
                  <a:srgbClr val="1A1F36"/>
                </a:solidFill>
                <a:latin typeface="Calibri"/>
              </a:rPr>
              <a:t>Functional correctness — code that looks right can still fail on edge cases or produce subtly wrong output.</a:t>
            </a:r>
          </a:p>
          <a:p>
            <a:pPr marL="171450" indent="-171450">
              <a:lnSpc>
                <a:spcPct val="114000"/>
              </a:lnSpc>
              <a:spcBef>
                <a:spcPts val="300"/>
              </a:spcBef>
              <a:buFont typeface="Arial"/>
              <a:buChar char="•"/>
            </a:pPr>
            <a:r>
              <a:rPr lang="en-US" sz="1000" dirty="0">
                <a:solidFill>
                  <a:srgbClr val="1A1F36"/>
                </a:solidFill>
                <a:latin typeface="Calibri"/>
              </a:rPr>
              <a:t>Hallucinated APIs — models sometimes call functions, libraries, or parameters that don’t actually exist.</a:t>
            </a:r>
          </a:p>
          <a:p>
            <a:pPr marL="171450" indent="-171450">
              <a:lnSpc>
                <a:spcPct val="114000"/>
              </a:lnSpc>
              <a:spcBef>
                <a:spcPts val="300"/>
              </a:spcBef>
              <a:buFont typeface="Arial"/>
              <a:buChar char="•"/>
            </a:pPr>
            <a:r>
              <a:rPr lang="en-US" sz="1000" dirty="0">
                <a:solidFill>
                  <a:srgbClr val="1A1F36"/>
                </a:solidFill>
                <a:latin typeface="Calibri"/>
              </a:rPr>
              <a:t>Security vulnerabilities — generated code can include insecure patterns without being flagged as such.</a:t>
            </a:r>
          </a:p>
          <a:p>
            <a:pPr marL="171450" indent="-171450">
              <a:lnSpc>
                <a:spcPct val="114000"/>
              </a:lnSpc>
              <a:spcBef>
                <a:spcPts val="300"/>
              </a:spcBef>
              <a:buFont typeface="Arial"/>
              <a:buChar char="•"/>
            </a:pPr>
            <a:r>
              <a:rPr lang="en-US" sz="1000" dirty="0">
                <a:solidFill>
                  <a:srgbClr val="1A1F36"/>
                </a:solidFill>
                <a:latin typeface="Calibri"/>
              </a:rPr>
              <a:t>Evaluation is hard — text-similarity metrics like BLEU correlate poorly with whether the code actually runs.</a:t>
            </a:r>
          </a:p>
        </p:txBody>
      </p:sp>
      <p:sp>
        <p:nvSpPr>
          <p:cNvPr id="21" name="Card 21"/>
          <p:cNvSpPr/>
          <p:nvPr/>
        </p:nvSpPr>
        <p:spPr>
          <a:xfrm>
            <a:off x="4647000" y="1064999"/>
            <a:ext cx="4035300" cy="1883399"/>
          </a:xfrm>
          <a:prstGeom prst="roundRect">
            <a:avLst>
              <a:gd name="adj" fmla="val 4500"/>
            </a:avLst>
          </a:prstGeom>
          <a:solidFill>
            <a:srgbClr val="EDF1FA"/>
          </a:solidFill>
          <a:ln>
            <a:noFill/>
          </a:ln>
        </p:spPr>
        <p:txBody>
          <a:bodyPr wrap="square" lIns="171450" tIns="102870" rIns="171450" bIns="102870" anchor="t">
            <a:noAutofit/>
          </a:bodyPr>
          <a:lstStyle/>
          <a:p>
            <a:pPr>
              <a:lnSpc>
                <a:spcPct val="115000"/>
              </a:lnSpc>
              <a:buNone/>
            </a:pPr>
            <a:r>
              <a:rPr lang="en-US" sz="1200" b="1" dirty="0">
                <a:solidFill>
                  <a:srgbClr val="1E2761"/>
                </a:solidFill>
                <a:latin typeface="Calibri"/>
              </a:rPr>
              <a:t>Example</a:t>
            </a:r>
          </a:p>
          <a:p>
            <a:pPr>
              <a:lnSpc>
                <a:spcPct val="114000"/>
              </a:lnSpc>
              <a:buNone/>
            </a:pPr>
            <a:r>
              <a:rPr lang="en-US" sz="1000" dirty="0">
                <a:solidFill>
                  <a:srgbClr val="1A1F36"/>
                </a:solidFill>
                <a:latin typeface="Calibri"/>
              </a:rPr>
              <a:t>Prompt: Write a Python function to calculate the Fibonacci sequence up to n terms using an iterative approach. Include basic comments.</a:t>
            </a:r>
          </a:p>
          <a:p>
            <a:pPr>
              <a:lnSpc>
                <a:spcPct val="114000"/>
              </a:lnSpc>
              <a:spcBef>
                <a:spcPts val="150"/>
              </a:spcBef>
            </a:pPr>
            <a:r>
              <a:rPr lang="en-US" sz="900" dirty="0">
                <a:solidFill>
                  <a:srgbClr val="C00000"/>
                </a:solidFill>
                <a:latin typeface="Consolas"/>
              </a:rPr>
              <a:t>def fibonacci(n):</a:t>
            </a:r>
          </a:p>
          <a:p>
            <a:pPr>
              <a:lnSpc>
                <a:spcPct val="114000"/>
              </a:lnSpc>
              <a:spcBef>
                <a:spcPts val="150"/>
              </a:spcBef>
            </a:pPr>
            <a:r>
              <a:rPr lang="en-US" sz="900" dirty="0">
                <a:solidFill>
                  <a:srgbClr val="C00000"/>
                </a:solidFill>
                <a:latin typeface="Consolas"/>
              </a:rPr>
              <a:t>    a, b, result = 0, 1, []</a:t>
            </a:r>
          </a:p>
          <a:p>
            <a:pPr>
              <a:lnSpc>
                <a:spcPct val="114000"/>
              </a:lnSpc>
              <a:spcBef>
                <a:spcPts val="150"/>
              </a:spcBef>
            </a:pPr>
            <a:r>
              <a:rPr lang="en-US" sz="900" dirty="0">
                <a:solidFill>
                  <a:srgbClr val="C00000"/>
                </a:solidFill>
                <a:latin typeface="Consolas"/>
              </a:rPr>
              <a:t>    for _ in range(n):</a:t>
            </a:r>
          </a:p>
          <a:p>
            <a:pPr>
              <a:lnSpc>
                <a:spcPct val="114000"/>
              </a:lnSpc>
              <a:spcBef>
                <a:spcPts val="150"/>
              </a:spcBef>
            </a:pPr>
            <a:r>
              <a:rPr lang="en-US" sz="900" dirty="0">
                <a:solidFill>
                  <a:srgbClr val="C00000"/>
                </a:solidFill>
                <a:latin typeface="Consolas"/>
              </a:rPr>
              <a:t>        result.append(a)</a:t>
            </a:r>
          </a:p>
          <a:p>
            <a:pPr>
              <a:lnSpc>
                <a:spcPct val="114000"/>
              </a:lnSpc>
              <a:spcBef>
                <a:spcPts val="150"/>
              </a:spcBef>
            </a:pPr>
            <a:r>
              <a:rPr lang="en-US" sz="900" dirty="0">
                <a:solidFill>
                  <a:srgbClr val="C00000"/>
                </a:solidFill>
                <a:latin typeface="Consolas"/>
              </a:rPr>
              <a:t>        a, b = b, a + b</a:t>
            </a:r>
          </a:p>
          <a:p>
            <a:pPr>
              <a:lnSpc>
                <a:spcPct val="114000"/>
              </a:lnSpc>
              <a:spcBef>
                <a:spcPts val="150"/>
              </a:spcBef>
            </a:pPr>
            <a:r>
              <a:rPr lang="en-US" sz="900" dirty="0">
                <a:solidFill>
                  <a:srgbClr val="C00000"/>
                </a:solidFill>
                <a:latin typeface="Consolas"/>
              </a:rPr>
              <a:t>    return result</a:t>
            </a:r>
          </a:p>
        </p:txBody>
      </p:sp>
      <p:sp>
        <p:nvSpPr>
          <p:cNvPr id="22" name="Card 22"/>
          <p:cNvSpPr/>
          <p:nvPr/>
        </p:nvSpPr>
        <p:spPr>
          <a:xfrm>
            <a:off x="461700" y="3099475"/>
            <a:ext cx="4035300" cy="1733400"/>
          </a:xfrm>
          <a:prstGeom prst="roundRect">
            <a:avLst>
              <a:gd name="adj" fmla="val 4500"/>
            </a:avLst>
          </a:prstGeom>
          <a:solidFill>
            <a:srgbClr val="EDF1FA"/>
          </a:solidFill>
          <a:ln>
            <a:noFill/>
          </a:ln>
        </p:spPr>
        <p:txBody>
          <a:bodyPr wrap="square" lIns="171450" tIns="102870" rIns="171450" bIns="102870" anchor="t">
            <a:noAutofit/>
          </a:bodyPr>
          <a:lstStyle/>
          <a:p>
            <a:pPr>
              <a:lnSpc>
                <a:spcPct val="115000"/>
              </a:lnSpc>
              <a:buNone/>
            </a:pPr>
            <a:r>
              <a:rPr lang="en-US" sz="1200" b="1" dirty="0">
                <a:solidFill>
                  <a:srgbClr val="1E2761"/>
                </a:solidFill>
                <a:latin typeface="Calibri"/>
              </a:rPr>
              <a:t>Popular Dataset</a:t>
            </a:r>
          </a:p>
          <a:p>
            <a:pPr>
              <a:lnSpc>
                <a:spcPct val="114000"/>
              </a:lnSpc>
              <a:buNone/>
            </a:pPr>
            <a:r>
              <a:rPr lang="en-US" sz="1000" b="1" dirty="0">
                <a:solidFill>
                  <a:srgbClr val="1E2761"/>
                </a:solidFill>
                <a:latin typeface="Calibri"/>
              </a:rPr>
              <a:t>HumanEval (OpenAI, 2021)</a:t>
            </a:r>
          </a:p>
          <a:p>
            <a:pPr marL="171450" indent="-171450">
              <a:lnSpc>
                <a:spcPct val="114000"/>
              </a:lnSpc>
              <a:spcBef>
                <a:spcPts val="300"/>
              </a:spcBef>
              <a:buFont typeface="Arial"/>
              <a:buChar char="•"/>
            </a:pPr>
            <a:r>
              <a:rPr lang="en-US" sz="1000" dirty="0">
                <a:solidFill>
                  <a:srgbClr val="1A1F36"/>
                </a:solidFill>
                <a:latin typeface="Calibri"/>
              </a:rPr>
              <a:t>164 hand-written Python problems, each with a docstring and ~7.7 unit tests on average</a:t>
            </a:r>
          </a:p>
          <a:p>
            <a:pPr marL="171450" indent="-171450">
              <a:lnSpc>
                <a:spcPct val="114000"/>
              </a:lnSpc>
              <a:spcBef>
                <a:spcPts val="300"/>
              </a:spcBef>
              <a:buFont typeface="Arial"/>
              <a:buChar char="•"/>
            </a:pPr>
            <a:r>
              <a:rPr lang="en-US" sz="1000" dirty="0">
                <a:solidFill>
                  <a:srgbClr val="1A1F36"/>
                </a:solidFill>
                <a:latin typeface="Calibri"/>
              </a:rPr>
              <a:t>Evaluated with pass@k — probability at least one of k samples passes all tests</a:t>
            </a:r>
          </a:p>
          <a:p>
            <a:pPr marL="171450" indent="-171450">
              <a:lnSpc>
                <a:spcPct val="114000"/>
              </a:lnSpc>
              <a:spcBef>
                <a:spcPts val="300"/>
              </a:spcBef>
              <a:buFont typeface="Arial"/>
              <a:buChar char="•"/>
            </a:pPr>
            <a:r>
              <a:rPr lang="en-US" sz="1000" dirty="0">
                <a:solidFill>
                  <a:srgbClr val="1A1F36"/>
                </a:solidFill>
                <a:latin typeface="Calibri"/>
              </a:rPr>
              <a:t>Original Codex model: ~28.8% pass@1, rising to ~72% pass@100</a:t>
            </a:r>
          </a:p>
        </p:txBody>
      </p:sp>
      <p:sp>
        <p:nvSpPr>
          <p:cNvPr id="23" name="Card 23"/>
          <p:cNvSpPr/>
          <p:nvPr/>
        </p:nvSpPr>
        <p:spPr>
          <a:xfrm>
            <a:off x="4647000" y="3226693"/>
            <a:ext cx="4035300" cy="1733400"/>
          </a:xfrm>
          <a:prstGeom prst="roundRect">
            <a:avLst>
              <a:gd name="adj" fmla="val 4500"/>
            </a:avLst>
          </a:prstGeom>
          <a:solidFill>
            <a:srgbClr val="EDF1FA"/>
          </a:solidFill>
          <a:ln>
            <a:noFill/>
          </a:ln>
        </p:spPr>
        <p:txBody>
          <a:bodyPr wrap="square" lIns="171450" tIns="102870" rIns="171450" bIns="102870" anchor="t">
            <a:noAutofit/>
          </a:bodyPr>
          <a:lstStyle/>
          <a:p>
            <a:pPr>
              <a:lnSpc>
                <a:spcPct val="115000"/>
              </a:lnSpc>
              <a:buNone/>
            </a:pPr>
            <a:r>
              <a:rPr lang="en-US" sz="1200" b="1" dirty="0">
                <a:solidFill>
                  <a:srgbClr val="1E2761"/>
                </a:solidFill>
                <a:latin typeface="Calibri"/>
              </a:rPr>
              <a:t>Industrial Applications</a:t>
            </a:r>
          </a:p>
          <a:p>
            <a:pPr marL="171450" indent="-171450">
              <a:lnSpc>
                <a:spcPct val="114000"/>
              </a:lnSpc>
              <a:spcBef>
                <a:spcPts val="300"/>
              </a:spcBef>
              <a:buFont typeface="Arial"/>
              <a:buChar char="•"/>
            </a:pPr>
            <a:r>
              <a:rPr lang="en-US" sz="1000" dirty="0">
                <a:solidFill>
                  <a:srgbClr val="1A1F36"/>
                </a:solidFill>
                <a:latin typeface="Calibri"/>
              </a:rPr>
              <a:t>AI pair-programming / in-IDE code completion</a:t>
            </a:r>
          </a:p>
          <a:p>
            <a:pPr marL="171450" indent="-171450">
              <a:lnSpc>
                <a:spcPct val="114000"/>
              </a:lnSpc>
              <a:spcBef>
                <a:spcPts val="300"/>
              </a:spcBef>
              <a:buFont typeface="Arial"/>
              <a:buChar char="•"/>
            </a:pPr>
            <a:r>
              <a:rPr lang="en-US" sz="1000" dirty="0">
                <a:solidFill>
                  <a:srgbClr val="1A1F36"/>
                </a:solidFill>
                <a:latin typeface="Calibri"/>
              </a:rPr>
              <a:t>Automated test case generation</a:t>
            </a:r>
          </a:p>
          <a:p>
            <a:pPr marL="171450" indent="-171450">
              <a:lnSpc>
                <a:spcPct val="114000"/>
              </a:lnSpc>
              <a:spcBef>
                <a:spcPts val="300"/>
              </a:spcBef>
              <a:buFont typeface="Arial"/>
              <a:buChar char="•"/>
            </a:pPr>
            <a:r>
              <a:rPr lang="en-US" sz="1000" dirty="0">
                <a:solidFill>
                  <a:srgbClr val="1A1F36"/>
                </a:solidFill>
                <a:latin typeface="Calibri"/>
              </a:rPr>
              <a:t>Boilerplate &amp; scaffolding generation for new services</a:t>
            </a:r>
          </a:p>
          <a:p>
            <a:pPr marL="171450" indent="-171450">
              <a:lnSpc>
                <a:spcPct val="114000"/>
              </a:lnSpc>
              <a:spcBef>
                <a:spcPts val="300"/>
              </a:spcBef>
              <a:buFont typeface="Arial"/>
              <a:buChar char="•"/>
            </a:pPr>
            <a:r>
              <a:rPr lang="en-US" sz="1000" dirty="0">
                <a:solidFill>
                  <a:srgbClr val="1A1F36"/>
                </a:solidFill>
                <a:latin typeface="Calibri"/>
              </a:rPr>
              <a:t>Natural-language-to-SQL query generation</a:t>
            </a:r>
          </a:p>
          <a:p>
            <a:pPr marL="171450" indent="-171450">
              <a:lnSpc>
                <a:spcPct val="114000"/>
              </a:lnSpc>
              <a:spcBef>
                <a:spcPts val="300"/>
              </a:spcBef>
              <a:buFont typeface="Arial"/>
              <a:buChar char="•"/>
            </a:pPr>
            <a:r>
              <a:rPr lang="en-US" sz="1000" dirty="0">
                <a:solidFill>
                  <a:srgbClr val="1A1F36"/>
                </a:solidFill>
                <a:latin typeface="Calibri"/>
              </a:rPr>
              <a:t>Code review assistance &amp; refactoring suggestions</a:t>
            </a:r>
          </a:p>
        </p:txBody>
      </p:sp>
      <p:pic>
        <p:nvPicPr>
          <p:cNvPr id="5" name="logo"/>
          <p:cNvPicPr preferRelativeResize="0"/>
          <p:nvPr/>
        </p:nvPicPr>
        <p:blipFill>
          <a:blip r:embed="rId2">
            <a:alphaModFix/>
          </a:blip>
          <a:stretch>
            <a:fillRect/>
          </a:stretch>
        </p:blipFill>
        <p:spPr>
          <a:xfrm>
            <a:off x="8369126" y="0"/>
            <a:ext cx="774877" cy="867174"/>
          </a:xfrm>
          <a:prstGeom prst="rect">
            <a:avLst/>
          </a:prstGeom>
          <a:noFill/>
          <a:ln>
            <a:noFill/>
          </a:ln>
        </p:spPr>
      </p:pic>
    </p:spTree>
    <p:extLst>
      <p:ext uri="{BB962C8B-B14F-4D97-AF65-F5344CB8AC3E}">
        <p14:creationId xmlns:p14="http://schemas.microsoft.com/office/powerpoint/2010/main" val="20648302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1E2761"/>
                </a:solidFill>
                <a:latin typeface="Georgia"/>
              </a:rPr>
              <a:t>Code Generation</a:t>
            </a:r>
          </a:p>
        </p:txBody>
      </p:sp>
      <p:sp>
        <p:nvSpPr>
          <p:cNvPr id="10" name="Stem"/>
          <p:cNvSpPr txBox="1"/>
          <p:nvPr/>
        </p:nvSpPr>
        <p:spPr>
          <a:xfrm>
            <a:off x="461700" y="1065000"/>
            <a:ext cx="8220600" cy="390000"/>
          </a:xfrm>
          <a:prstGeom prst="rect">
            <a:avLst/>
          </a:prstGeom>
          <a:noFill/>
          <a:ln>
            <a:noFill/>
          </a:ln>
        </p:spPr>
        <p:txBody>
          <a:bodyPr wrap="square" lIns="0" tIns="0" rIns="0" bIns="0" anchor="t">
            <a:noAutofit/>
          </a:bodyPr>
          <a:lstStyle/>
          <a:p>
            <a:r>
              <a:rPr lang="en-US" sz="1200" i="1" dirty="0">
                <a:solidFill>
                  <a:srgbClr val="1A1F36"/>
                </a:solidFill>
                <a:latin typeface="Calibri"/>
              </a:rPr>
              <a:t>You need a simple, well-documented iterative Python function. Which prompt fits best?</a:t>
            </a:r>
          </a:p>
        </p:txBody>
      </p:sp>
      <p:sp>
        <p:nvSpPr>
          <p:cNvPr id="20" name="Card Prompt A"/>
          <p:cNvSpPr/>
          <p:nvPr/>
        </p:nvSpPr>
        <p:spPr>
          <a:xfrm>
            <a:off x="461700" y="1537500"/>
            <a:ext cx="4803983" cy="1027000"/>
          </a:xfrm>
          <a:prstGeom prst="roundRect">
            <a:avLst>
              <a:gd name="adj" fmla="val 6000"/>
            </a:avLst>
          </a:prstGeom>
          <a:solidFill>
            <a:srgbClr val="EDF1FA"/>
          </a:solidFill>
          <a:ln>
            <a:noFill/>
          </a:ln>
        </p:spPr>
        <p:txBody>
          <a:bodyPr wrap="square" lIns="171450" tIns="102870" rIns="171450" bIns="102870" anchor="t">
            <a:noAutofit/>
          </a:bodyPr>
          <a:lstStyle/>
          <a:p>
            <a:pPr>
              <a:lnSpc>
                <a:spcPct val="110000"/>
              </a:lnSpc>
            </a:pPr>
            <a:r>
              <a:rPr lang="en-US" sz="1050" b="1" dirty="0">
                <a:solidFill>
                  <a:srgbClr val="1E2761"/>
                </a:solidFill>
                <a:latin typeface="Calibri"/>
              </a:rPr>
              <a:t>Prompt A</a:t>
            </a:r>
          </a:p>
          <a:p>
            <a:pPr>
              <a:lnSpc>
                <a:spcPct val="115000"/>
              </a:lnSpc>
              <a:spcBef>
                <a:spcPts val="300"/>
              </a:spcBef>
            </a:pPr>
            <a:r>
              <a:rPr lang="en-US" sz="1050" dirty="0">
                <a:solidFill>
                  <a:srgbClr val="1A1F36"/>
                </a:solidFill>
                <a:latin typeface="Calibri"/>
              </a:rPr>
              <a:t>Write code to calculate Fibonacci.</a:t>
            </a:r>
          </a:p>
        </p:txBody>
      </p:sp>
      <p:sp>
        <p:nvSpPr>
          <p:cNvPr id="21" name="Card Prompt B"/>
          <p:cNvSpPr/>
          <p:nvPr/>
        </p:nvSpPr>
        <p:spPr>
          <a:xfrm>
            <a:off x="461700" y="2677000"/>
            <a:ext cx="4803983" cy="1027000"/>
          </a:xfrm>
          <a:prstGeom prst="roundRect">
            <a:avLst>
              <a:gd name="adj" fmla="val 6000"/>
            </a:avLst>
          </a:prstGeom>
          <a:solidFill>
            <a:srgbClr val="EDF1FA"/>
          </a:solidFill>
          <a:ln>
            <a:noFill/>
          </a:ln>
        </p:spPr>
        <p:txBody>
          <a:bodyPr wrap="square" lIns="171450" tIns="102870" rIns="171450" bIns="102870" anchor="t">
            <a:noAutofit/>
          </a:bodyPr>
          <a:lstStyle/>
          <a:p>
            <a:pPr>
              <a:lnSpc>
                <a:spcPct val="110000"/>
              </a:lnSpc>
            </a:pPr>
            <a:r>
              <a:rPr lang="en-US" sz="1050" b="1" dirty="0">
                <a:solidFill>
                  <a:srgbClr val="1E2761"/>
                </a:solidFill>
                <a:latin typeface="Calibri"/>
              </a:rPr>
              <a:t>Prompt B</a:t>
            </a:r>
          </a:p>
          <a:p>
            <a:pPr>
              <a:lnSpc>
                <a:spcPct val="115000"/>
              </a:lnSpc>
              <a:spcBef>
                <a:spcPts val="300"/>
              </a:spcBef>
            </a:pPr>
            <a:r>
              <a:rPr lang="en-US" sz="1050" dirty="0">
                <a:solidFill>
                  <a:srgbClr val="1A1F36"/>
                </a:solidFill>
                <a:latin typeface="Calibri"/>
              </a:rPr>
              <a:t>Write a Python function to calculate the Fibonacci sequence up to n terms using an iterative approach. Include basic comments.</a:t>
            </a:r>
          </a:p>
        </p:txBody>
      </p:sp>
      <p:sp>
        <p:nvSpPr>
          <p:cNvPr id="22" name="Card Prompt C"/>
          <p:cNvSpPr/>
          <p:nvPr/>
        </p:nvSpPr>
        <p:spPr>
          <a:xfrm>
            <a:off x="461700" y="3816500"/>
            <a:ext cx="4803983" cy="1027000"/>
          </a:xfrm>
          <a:prstGeom prst="roundRect">
            <a:avLst>
              <a:gd name="adj" fmla="val 6000"/>
            </a:avLst>
          </a:prstGeom>
          <a:solidFill>
            <a:srgbClr val="EDF1FA"/>
          </a:solidFill>
          <a:ln>
            <a:noFill/>
          </a:ln>
        </p:spPr>
        <p:txBody>
          <a:bodyPr wrap="square" lIns="171450" tIns="102870" rIns="171450" bIns="102870" anchor="t">
            <a:noAutofit/>
          </a:bodyPr>
          <a:lstStyle/>
          <a:p>
            <a:pPr>
              <a:lnSpc>
                <a:spcPct val="110000"/>
              </a:lnSpc>
            </a:pPr>
            <a:r>
              <a:rPr lang="en-US" sz="1050" b="1" dirty="0">
                <a:solidFill>
                  <a:srgbClr val="1E2761"/>
                </a:solidFill>
                <a:latin typeface="Calibri"/>
              </a:rPr>
              <a:t>Prompt C</a:t>
            </a:r>
          </a:p>
          <a:p>
            <a:pPr>
              <a:lnSpc>
                <a:spcPct val="115000"/>
              </a:lnSpc>
              <a:spcBef>
                <a:spcPts val="300"/>
              </a:spcBef>
            </a:pPr>
            <a:r>
              <a:rPr lang="en-US" sz="1050" dirty="0">
                <a:solidFill>
                  <a:srgbClr val="1A1F36"/>
                </a:solidFill>
                <a:latin typeface="Calibri"/>
              </a:rPr>
              <a:t>Write the most optimized, production-grade Python implementation of Fibonacci possible, and explain every optimization technique used in detail.</a:t>
            </a:r>
          </a:p>
        </p:txBody>
      </p:sp>
      <p:pic>
        <p:nvPicPr>
          <p:cNvPr id="5" name="logo"/>
          <p:cNvPicPr preferRelativeResize="0"/>
          <p:nvPr/>
        </p:nvPicPr>
        <p:blipFill>
          <a:blip r:embed="rId2">
            <a:alphaModFix/>
          </a:blip>
          <a:stretch>
            <a:fillRect/>
          </a:stretch>
        </p:blipFill>
        <p:spPr>
          <a:xfrm>
            <a:off x="8369126" y="0"/>
            <a:ext cx="774877" cy="867174"/>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1E2761"/>
                </a:solidFill>
                <a:latin typeface="Georgia"/>
              </a:rPr>
              <a:t>Code Generation</a:t>
            </a:r>
          </a:p>
        </p:txBody>
      </p:sp>
      <p:sp>
        <p:nvSpPr>
          <p:cNvPr id="10" name="Stem"/>
          <p:cNvSpPr txBox="1"/>
          <p:nvPr/>
        </p:nvSpPr>
        <p:spPr>
          <a:xfrm>
            <a:off x="461700" y="1065000"/>
            <a:ext cx="8220600" cy="390000"/>
          </a:xfrm>
          <a:prstGeom prst="rect">
            <a:avLst/>
          </a:prstGeom>
          <a:noFill/>
          <a:ln>
            <a:noFill/>
          </a:ln>
        </p:spPr>
        <p:txBody>
          <a:bodyPr wrap="square" lIns="0" tIns="0" rIns="0" bIns="0" anchor="t">
            <a:noAutofit/>
          </a:bodyPr>
          <a:lstStyle/>
          <a:p>
            <a:r>
              <a:rPr lang="en-US" sz="1200" i="1" dirty="0">
                <a:solidFill>
                  <a:srgbClr val="1A1F36"/>
                </a:solidFill>
                <a:latin typeface="Calibri"/>
              </a:rPr>
              <a:t>Answer &amp; Explanation</a:t>
            </a:r>
          </a:p>
        </p:txBody>
      </p:sp>
      <p:sp>
        <p:nvSpPr>
          <p:cNvPr id="20" name="Card Prompt A"/>
          <p:cNvSpPr/>
          <p:nvPr/>
        </p:nvSpPr>
        <p:spPr>
          <a:xfrm>
            <a:off x="461700" y="1537500"/>
            <a:ext cx="8220600" cy="1027000"/>
          </a:xfrm>
          <a:prstGeom prst="roundRect">
            <a:avLst>
              <a:gd name="adj" fmla="val 6000"/>
            </a:avLst>
          </a:prstGeom>
          <a:solidFill>
            <a:srgbClr val="EDF1FA"/>
          </a:solidFill>
          <a:ln>
            <a:noFill/>
          </a:ln>
        </p:spPr>
        <p:txBody>
          <a:bodyPr wrap="square" lIns="171450" tIns="102870" rIns="171450" bIns="102870" anchor="t">
            <a:noAutofit/>
          </a:bodyPr>
          <a:lstStyle/>
          <a:p>
            <a:pPr>
              <a:lnSpc>
                <a:spcPct val="110000"/>
              </a:lnSpc>
            </a:pPr>
            <a:r>
              <a:rPr lang="en-US" sz="1050" b="1" dirty="0">
                <a:solidFill>
                  <a:srgbClr val="1E2761"/>
                </a:solidFill>
                <a:latin typeface="Calibri"/>
              </a:rPr>
              <a:t>Prompt A</a:t>
            </a:r>
          </a:p>
          <a:p>
            <a:pPr>
              <a:lnSpc>
                <a:spcPct val="115000"/>
              </a:lnSpc>
              <a:spcBef>
                <a:spcPts val="300"/>
              </a:spcBef>
            </a:pPr>
            <a:r>
              <a:rPr lang="en-US" sz="1050" dirty="0">
                <a:solidFill>
                  <a:srgbClr val="1A1F36"/>
                </a:solidFill>
                <a:latin typeface="Calibri"/>
              </a:rPr>
              <a:t>Write code to calculate Fibonacci.</a:t>
            </a:r>
          </a:p>
          <a:p>
            <a:pPr>
              <a:lnSpc>
                <a:spcPct val="115000"/>
              </a:lnSpc>
              <a:spcBef>
                <a:spcPts val="450"/>
              </a:spcBef>
            </a:pPr>
            <a:r>
              <a:rPr lang="en-US" sz="975" b="1" dirty="0">
                <a:solidFill>
                  <a:srgbClr val="C0392B"/>
                </a:solidFill>
                <a:latin typeface="Calibri"/>
              </a:rPr>
              <a:t>✗ Needs improvement — no language, approach, or documentation requested; output is unpredictable and may default to an undocumented recursive version.</a:t>
            </a:r>
          </a:p>
        </p:txBody>
      </p:sp>
      <p:sp>
        <p:nvSpPr>
          <p:cNvPr id="21" name="Card Prompt B"/>
          <p:cNvSpPr/>
          <p:nvPr/>
        </p:nvSpPr>
        <p:spPr>
          <a:xfrm>
            <a:off x="461700" y="2677000"/>
            <a:ext cx="8220600" cy="1027000"/>
          </a:xfrm>
          <a:prstGeom prst="roundRect">
            <a:avLst>
              <a:gd name="adj" fmla="val 6000"/>
            </a:avLst>
          </a:prstGeom>
          <a:solidFill>
            <a:srgbClr val="EDF1FA"/>
          </a:solidFill>
          <a:ln>
            <a:noFill/>
          </a:ln>
        </p:spPr>
        <p:txBody>
          <a:bodyPr wrap="square" lIns="171450" tIns="102870" rIns="171450" bIns="102870" anchor="t">
            <a:noAutofit/>
          </a:bodyPr>
          <a:lstStyle/>
          <a:p>
            <a:pPr>
              <a:lnSpc>
                <a:spcPct val="110000"/>
              </a:lnSpc>
            </a:pPr>
            <a:r>
              <a:rPr lang="en-US" sz="1050" b="1" dirty="0">
                <a:solidFill>
                  <a:srgbClr val="1E2761"/>
                </a:solidFill>
                <a:latin typeface="Calibri"/>
              </a:rPr>
              <a:t>Prompt B</a:t>
            </a:r>
          </a:p>
          <a:p>
            <a:pPr>
              <a:lnSpc>
                <a:spcPct val="115000"/>
              </a:lnSpc>
              <a:spcBef>
                <a:spcPts val="300"/>
              </a:spcBef>
            </a:pPr>
            <a:r>
              <a:rPr lang="en-US" sz="1050" dirty="0">
                <a:solidFill>
                  <a:srgbClr val="1A1F36"/>
                </a:solidFill>
                <a:latin typeface="Calibri"/>
              </a:rPr>
              <a:t>Write a Python function to calculate the Fibonacci sequence up to n terms using an iterative approach. Include basic comments.</a:t>
            </a:r>
          </a:p>
          <a:p>
            <a:pPr>
              <a:lnSpc>
                <a:spcPct val="115000"/>
              </a:lnSpc>
              <a:spcBef>
                <a:spcPts val="450"/>
              </a:spcBef>
            </a:pPr>
            <a:r>
              <a:rPr lang="en-US" sz="975" b="1" dirty="0">
                <a:solidFill>
                  <a:srgbClr val="2E7D32"/>
                </a:solidFill>
                <a:latin typeface="Calibri"/>
              </a:rPr>
              <a:t>✓ Best choice — specifies the language, the approach (iterative), and asks for comments, leaving little room for ambiguity.</a:t>
            </a:r>
          </a:p>
        </p:txBody>
      </p:sp>
      <p:sp>
        <p:nvSpPr>
          <p:cNvPr id="22" name="Card Prompt C"/>
          <p:cNvSpPr/>
          <p:nvPr/>
        </p:nvSpPr>
        <p:spPr>
          <a:xfrm>
            <a:off x="461700" y="3816500"/>
            <a:ext cx="8220600" cy="1027000"/>
          </a:xfrm>
          <a:prstGeom prst="roundRect">
            <a:avLst>
              <a:gd name="adj" fmla="val 6000"/>
            </a:avLst>
          </a:prstGeom>
          <a:solidFill>
            <a:srgbClr val="EDF1FA"/>
          </a:solidFill>
          <a:ln>
            <a:noFill/>
          </a:ln>
        </p:spPr>
        <p:txBody>
          <a:bodyPr wrap="square" lIns="171450" tIns="102870" rIns="171450" bIns="102870" anchor="t">
            <a:noAutofit/>
          </a:bodyPr>
          <a:lstStyle/>
          <a:p>
            <a:pPr>
              <a:lnSpc>
                <a:spcPct val="110000"/>
              </a:lnSpc>
            </a:pPr>
            <a:r>
              <a:rPr lang="en-US" sz="1050" b="1" dirty="0">
                <a:solidFill>
                  <a:srgbClr val="1E2761"/>
                </a:solidFill>
                <a:latin typeface="Calibri"/>
              </a:rPr>
              <a:t>Prompt C</a:t>
            </a:r>
          </a:p>
          <a:p>
            <a:pPr>
              <a:lnSpc>
                <a:spcPct val="115000"/>
              </a:lnSpc>
              <a:spcBef>
                <a:spcPts val="300"/>
              </a:spcBef>
            </a:pPr>
            <a:r>
              <a:rPr lang="en-US" sz="1050" dirty="0">
                <a:solidFill>
                  <a:srgbClr val="1A1F36"/>
                </a:solidFill>
                <a:latin typeface="Calibri"/>
              </a:rPr>
              <a:t>Write the most optimized, production-grade Python implementation of Fibonacci possible, and explain every optimization technique used in detail.</a:t>
            </a:r>
          </a:p>
          <a:p>
            <a:pPr>
              <a:lnSpc>
                <a:spcPct val="115000"/>
              </a:lnSpc>
              <a:spcBef>
                <a:spcPts val="450"/>
              </a:spcBef>
            </a:pPr>
            <a:r>
              <a:rPr lang="en-US" sz="975" b="1" dirty="0">
                <a:solidFill>
                  <a:srgbClr val="C0392B"/>
                </a:solidFill>
                <a:latin typeface="Calibri"/>
              </a:rPr>
              <a:t>✗ Needs improvement — over-specifies scope for a simple example, likely producing a bloated, overly complex response instead of a clear solution.</a:t>
            </a:r>
          </a:p>
        </p:txBody>
      </p:sp>
      <p:pic>
        <p:nvPicPr>
          <p:cNvPr id="5" name="logo"/>
          <p:cNvPicPr preferRelativeResize="0"/>
          <p:nvPr/>
        </p:nvPicPr>
        <p:blipFill>
          <a:blip r:embed="rId2">
            <a:alphaModFix/>
          </a:blip>
          <a:stretch>
            <a:fillRect/>
          </a:stretch>
        </p:blipFill>
        <p:spPr>
          <a:xfrm>
            <a:off x="8369126" y="0"/>
            <a:ext cx="774877" cy="867174"/>
          </a:xfrm>
          <a:prstGeom prst="rect">
            <a:avLst/>
          </a:prstGeom>
          <a:noFill/>
          <a:ln>
            <a:noFill/>
          </a:ln>
        </p:spPr>
      </p:pic>
    </p:spTree>
    <p:extLst>
      <p:ext uri="{BB962C8B-B14F-4D97-AF65-F5344CB8AC3E}">
        <p14:creationId xmlns:p14="http://schemas.microsoft.com/office/powerpoint/2010/main" val="338236524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1E2761"/>
                </a:solidFill>
                <a:latin typeface="Georgia"/>
              </a:rPr>
              <a:t>Reasoning</a:t>
            </a:r>
          </a:p>
        </p:txBody>
      </p:sp>
      <p:sp>
        <p:nvSpPr>
          <p:cNvPr id="20" name="Card 20"/>
          <p:cNvSpPr/>
          <p:nvPr/>
        </p:nvSpPr>
        <p:spPr>
          <a:xfrm>
            <a:off x="461700" y="1065000"/>
            <a:ext cx="4035300" cy="1733400"/>
          </a:xfrm>
          <a:prstGeom prst="roundRect">
            <a:avLst>
              <a:gd name="adj" fmla="val 4500"/>
            </a:avLst>
          </a:prstGeom>
          <a:solidFill>
            <a:srgbClr val="EDF1FA"/>
          </a:solidFill>
          <a:ln>
            <a:noFill/>
          </a:ln>
        </p:spPr>
        <p:txBody>
          <a:bodyPr wrap="square" lIns="171450" tIns="102870" rIns="171450" bIns="102870" anchor="t">
            <a:noAutofit/>
          </a:bodyPr>
          <a:lstStyle/>
          <a:p>
            <a:pPr>
              <a:lnSpc>
                <a:spcPct val="115000"/>
              </a:lnSpc>
              <a:buNone/>
            </a:pPr>
            <a:r>
              <a:rPr lang="en-US" sz="1050" b="1" dirty="0">
                <a:solidFill>
                  <a:srgbClr val="1E2761"/>
                </a:solidFill>
                <a:latin typeface="Calibri"/>
              </a:rPr>
              <a:t>Key Challenges</a:t>
            </a:r>
          </a:p>
          <a:p>
            <a:pPr marL="171450" indent="-171450">
              <a:lnSpc>
                <a:spcPct val="114000"/>
              </a:lnSpc>
              <a:spcBef>
                <a:spcPts val="300"/>
              </a:spcBef>
              <a:buFont typeface="Arial"/>
              <a:buChar char="•"/>
            </a:pPr>
            <a:r>
              <a:rPr lang="en-US" sz="863" dirty="0">
                <a:solidFill>
                  <a:srgbClr val="1A1F36"/>
                </a:solidFill>
                <a:latin typeface="Calibri"/>
              </a:rPr>
              <a:t>Error propagation — one wrong intermediate step derails every step that follows it.</a:t>
            </a:r>
          </a:p>
          <a:p>
            <a:pPr marL="171450" indent="-171450">
              <a:lnSpc>
                <a:spcPct val="114000"/>
              </a:lnSpc>
              <a:spcBef>
                <a:spcPts val="300"/>
              </a:spcBef>
              <a:buFont typeface="Arial"/>
              <a:buChar char="•"/>
            </a:pPr>
            <a:r>
              <a:rPr lang="en-US" sz="863" dirty="0">
                <a:solidFill>
                  <a:srgbClr val="1A1F36"/>
                </a:solidFill>
                <a:latin typeface="Calibri"/>
              </a:rPr>
              <a:t>Unfaithful chain-of-thought — written reasoning doesn’t always reflect what actually determined the answer.</a:t>
            </a:r>
          </a:p>
          <a:p>
            <a:pPr marL="171450" indent="-171450">
              <a:lnSpc>
                <a:spcPct val="114000"/>
              </a:lnSpc>
              <a:spcBef>
                <a:spcPts val="300"/>
              </a:spcBef>
              <a:buFont typeface="Arial"/>
              <a:buChar char="•"/>
            </a:pPr>
            <a:r>
              <a:rPr lang="en-US" sz="863" dirty="0">
                <a:solidFill>
                  <a:srgbClr val="1A1F36"/>
                </a:solidFill>
                <a:latin typeface="Calibri"/>
              </a:rPr>
              <a:t>Arithmetic / logical slips — small computational errors inside an otherwise sound reasoning chain.</a:t>
            </a:r>
          </a:p>
          <a:p>
            <a:pPr marL="171450" indent="-171450">
              <a:lnSpc>
                <a:spcPct val="114000"/>
              </a:lnSpc>
              <a:spcBef>
                <a:spcPts val="300"/>
              </a:spcBef>
              <a:buFont typeface="Arial"/>
              <a:buChar char="•"/>
            </a:pPr>
            <a:r>
              <a:rPr lang="en-US" sz="863" dirty="0">
                <a:solidFill>
                  <a:srgbClr val="1A1F36"/>
                </a:solidFill>
                <a:latin typeface="Calibri"/>
              </a:rPr>
              <a:t>Latency &amp; cost — longer reasoning chains improve accuracy but multiply token usage and response time.</a:t>
            </a:r>
          </a:p>
        </p:txBody>
      </p:sp>
      <p:sp>
        <p:nvSpPr>
          <p:cNvPr id="21" name="Card 21"/>
          <p:cNvSpPr/>
          <p:nvPr/>
        </p:nvSpPr>
        <p:spPr>
          <a:xfrm>
            <a:off x="4647000" y="1065000"/>
            <a:ext cx="4035300" cy="1733400"/>
          </a:xfrm>
          <a:prstGeom prst="roundRect">
            <a:avLst>
              <a:gd name="adj" fmla="val 4500"/>
            </a:avLst>
          </a:prstGeom>
          <a:solidFill>
            <a:srgbClr val="EDF1FA"/>
          </a:solidFill>
          <a:ln>
            <a:noFill/>
          </a:ln>
        </p:spPr>
        <p:txBody>
          <a:bodyPr wrap="square" lIns="171450" tIns="102870" rIns="171450" bIns="102870" anchor="t">
            <a:noAutofit/>
          </a:bodyPr>
          <a:lstStyle/>
          <a:p>
            <a:pPr>
              <a:lnSpc>
                <a:spcPct val="115000"/>
              </a:lnSpc>
              <a:buNone/>
            </a:pPr>
            <a:r>
              <a:rPr lang="en-US" sz="1050" b="1" dirty="0">
                <a:solidFill>
                  <a:srgbClr val="1E2761"/>
                </a:solidFill>
                <a:latin typeface="Calibri"/>
              </a:rPr>
              <a:t>Example</a:t>
            </a:r>
          </a:p>
          <a:p>
            <a:pPr>
              <a:lnSpc>
                <a:spcPct val="114000"/>
              </a:lnSpc>
              <a:buNone/>
            </a:pPr>
            <a:r>
              <a:rPr lang="en-US" sz="863" dirty="0">
                <a:solidFill>
                  <a:srgbClr val="1A1F36"/>
                </a:solidFill>
                <a:latin typeface="Calibri"/>
              </a:rPr>
              <a:t>Prompt: Sally has 3 brothers. Each brother has 2 sisters. How many sisters does Sally have? Think step by step.</a:t>
            </a:r>
          </a:p>
          <a:p>
            <a:pPr>
              <a:lnSpc>
                <a:spcPct val="114000"/>
              </a:lnSpc>
              <a:spcBef>
                <a:spcPts val="300"/>
              </a:spcBef>
            </a:pPr>
            <a:r>
              <a:rPr lang="en-US" sz="863" b="1" dirty="0">
                <a:solidFill>
                  <a:srgbClr val="2E7D32"/>
                </a:solidFill>
                <a:latin typeface="Calibri"/>
              </a:rPr>
              <a:t>Output: Sally is one of the sisters. Each brother has 2 sisters — that’s 2 sisters total, including Sally. So Sally has 1 sister.</a:t>
            </a:r>
          </a:p>
        </p:txBody>
      </p:sp>
      <p:sp>
        <p:nvSpPr>
          <p:cNvPr id="22" name="Card 22"/>
          <p:cNvSpPr/>
          <p:nvPr/>
        </p:nvSpPr>
        <p:spPr>
          <a:xfrm>
            <a:off x="461700" y="2948400"/>
            <a:ext cx="4035300" cy="1733400"/>
          </a:xfrm>
          <a:prstGeom prst="roundRect">
            <a:avLst>
              <a:gd name="adj" fmla="val 4500"/>
            </a:avLst>
          </a:prstGeom>
          <a:solidFill>
            <a:srgbClr val="EDF1FA"/>
          </a:solidFill>
          <a:ln>
            <a:noFill/>
          </a:ln>
        </p:spPr>
        <p:txBody>
          <a:bodyPr wrap="square" lIns="171450" tIns="102870" rIns="171450" bIns="102870" anchor="t">
            <a:noAutofit/>
          </a:bodyPr>
          <a:lstStyle/>
          <a:p>
            <a:pPr>
              <a:lnSpc>
                <a:spcPct val="115000"/>
              </a:lnSpc>
              <a:buNone/>
            </a:pPr>
            <a:r>
              <a:rPr lang="en-US" sz="1050" b="1" dirty="0">
                <a:solidFill>
                  <a:srgbClr val="1E2761"/>
                </a:solidFill>
                <a:latin typeface="Calibri"/>
              </a:rPr>
              <a:t>Popular Dataset</a:t>
            </a:r>
          </a:p>
          <a:p>
            <a:pPr>
              <a:lnSpc>
                <a:spcPct val="114000"/>
              </a:lnSpc>
              <a:buNone/>
            </a:pPr>
            <a:r>
              <a:rPr lang="en-US" sz="863" b="1" dirty="0">
                <a:solidFill>
                  <a:srgbClr val="1E2761"/>
                </a:solidFill>
                <a:latin typeface="Calibri"/>
              </a:rPr>
              <a:t>GSM8K (Grade School Math 8K)</a:t>
            </a:r>
          </a:p>
          <a:p>
            <a:pPr marL="171450" indent="-171450">
              <a:lnSpc>
                <a:spcPct val="114000"/>
              </a:lnSpc>
              <a:spcBef>
                <a:spcPts val="300"/>
              </a:spcBef>
              <a:buFont typeface="Arial"/>
              <a:buChar char="•"/>
            </a:pPr>
            <a:r>
              <a:rPr lang="en-US" sz="863" dirty="0">
                <a:solidFill>
                  <a:srgbClr val="1A1F36"/>
                </a:solidFill>
                <a:latin typeface="Calibri"/>
              </a:rPr>
              <a:t>~8,500 grade-school math word problems: 7,473 train / 1,319 test</a:t>
            </a:r>
          </a:p>
          <a:p>
            <a:pPr marL="171450" indent="-171450">
              <a:lnSpc>
                <a:spcPct val="114000"/>
              </a:lnSpc>
              <a:spcBef>
                <a:spcPts val="300"/>
              </a:spcBef>
              <a:buFont typeface="Arial"/>
              <a:buChar char="•"/>
            </a:pPr>
            <a:r>
              <a:rPr lang="en-US" sz="863" dirty="0">
                <a:solidFill>
                  <a:srgbClr val="1A1F36"/>
                </a:solidFill>
                <a:latin typeface="Calibri"/>
              </a:rPr>
              <a:t>Each problem needs 2–8 steps of basic arithmetic reasoning to solve</a:t>
            </a:r>
          </a:p>
          <a:p>
            <a:pPr marL="171450" indent="-171450">
              <a:lnSpc>
                <a:spcPct val="114000"/>
              </a:lnSpc>
              <a:spcBef>
                <a:spcPts val="300"/>
              </a:spcBef>
              <a:buFont typeface="Arial"/>
              <a:buChar char="•"/>
            </a:pPr>
            <a:r>
              <a:rPr lang="en-US" sz="863" dirty="0">
                <a:solidFill>
                  <a:srgbClr val="1A1F36"/>
                </a:solidFill>
                <a:latin typeface="Calibri"/>
              </a:rPr>
              <a:t>A standard benchmark for evaluating chain-of-thought / multi-step reasoning</a:t>
            </a:r>
          </a:p>
        </p:txBody>
      </p:sp>
      <p:sp>
        <p:nvSpPr>
          <p:cNvPr id="23" name="Card 23"/>
          <p:cNvSpPr/>
          <p:nvPr/>
        </p:nvSpPr>
        <p:spPr>
          <a:xfrm>
            <a:off x="4647000" y="2948400"/>
            <a:ext cx="4035300" cy="1733400"/>
          </a:xfrm>
          <a:prstGeom prst="roundRect">
            <a:avLst>
              <a:gd name="adj" fmla="val 4500"/>
            </a:avLst>
          </a:prstGeom>
          <a:solidFill>
            <a:srgbClr val="EDF1FA"/>
          </a:solidFill>
          <a:ln>
            <a:noFill/>
          </a:ln>
        </p:spPr>
        <p:txBody>
          <a:bodyPr wrap="square" lIns="171450" tIns="102870" rIns="171450" bIns="102870" anchor="t">
            <a:noAutofit/>
          </a:bodyPr>
          <a:lstStyle/>
          <a:p>
            <a:pPr>
              <a:lnSpc>
                <a:spcPct val="115000"/>
              </a:lnSpc>
              <a:buNone/>
            </a:pPr>
            <a:r>
              <a:rPr lang="en-US" sz="1050" b="1" dirty="0">
                <a:solidFill>
                  <a:srgbClr val="1E2761"/>
                </a:solidFill>
                <a:latin typeface="Calibri"/>
              </a:rPr>
              <a:t>Industrial Applications</a:t>
            </a:r>
          </a:p>
          <a:p>
            <a:pPr marL="171450" indent="-171450">
              <a:lnSpc>
                <a:spcPct val="114000"/>
              </a:lnSpc>
              <a:spcBef>
                <a:spcPts val="300"/>
              </a:spcBef>
              <a:buFont typeface="Arial"/>
              <a:buChar char="•"/>
            </a:pPr>
            <a:r>
              <a:rPr lang="en-US" sz="863" dirty="0">
                <a:solidFill>
                  <a:srgbClr val="1A1F36"/>
                </a:solidFill>
                <a:latin typeface="Calibri"/>
              </a:rPr>
              <a:t>Financial analysis &amp; forecasting tools</a:t>
            </a:r>
          </a:p>
          <a:p>
            <a:pPr marL="171450" indent="-171450">
              <a:lnSpc>
                <a:spcPct val="114000"/>
              </a:lnSpc>
              <a:spcBef>
                <a:spcPts val="300"/>
              </a:spcBef>
              <a:buFont typeface="Arial"/>
              <a:buChar char="•"/>
            </a:pPr>
            <a:r>
              <a:rPr lang="en-US" sz="863" dirty="0">
                <a:solidFill>
                  <a:srgbClr val="1A1F36"/>
                </a:solidFill>
                <a:latin typeface="Calibri"/>
              </a:rPr>
              <a:t>Multi-step customer troubleshooting / technical support</a:t>
            </a:r>
          </a:p>
          <a:p>
            <a:pPr marL="171450" indent="-171450">
              <a:lnSpc>
                <a:spcPct val="114000"/>
              </a:lnSpc>
              <a:spcBef>
                <a:spcPts val="300"/>
              </a:spcBef>
              <a:buFont typeface="Arial"/>
              <a:buChar char="•"/>
            </a:pPr>
            <a:r>
              <a:rPr lang="en-US" sz="863" dirty="0">
                <a:solidFill>
                  <a:srgbClr val="1A1F36"/>
                </a:solidFill>
                <a:latin typeface="Calibri"/>
              </a:rPr>
              <a:t>Scientific research assistants (hypothesis + derivation support)</a:t>
            </a:r>
          </a:p>
          <a:p>
            <a:pPr marL="171450" indent="-171450">
              <a:lnSpc>
                <a:spcPct val="114000"/>
              </a:lnSpc>
              <a:spcBef>
                <a:spcPts val="300"/>
              </a:spcBef>
              <a:buFont typeface="Arial"/>
              <a:buChar char="•"/>
            </a:pPr>
            <a:r>
              <a:rPr lang="en-US" sz="863" dirty="0">
                <a:solidFill>
                  <a:srgbClr val="1A1F36"/>
                </a:solidFill>
                <a:latin typeface="Calibri"/>
              </a:rPr>
              <a:t>Strategic planning &amp; decision-support tools</a:t>
            </a:r>
          </a:p>
          <a:p>
            <a:pPr marL="171450" indent="-171450">
              <a:lnSpc>
                <a:spcPct val="114000"/>
              </a:lnSpc>
              <a:spcBef>
                <a:spcPts val="300"/>
              </a:spcBef>
              <a:buFont typeface="Arial"/>
              <a:buChar char="•"/>
            </a:pPr>
            <a:r>
              <a:rPr lang="en-US" sz="863" dirty="0">
                <a:solidFill>
                  <a:srgbClr val="1A1F36"/>
                </a:solidFill>
                <a:latin typeface="Calibri"/>
              </a:rPr>
              <a:t>Math / logic tutoring systems</a:t>
            </a:r>
          </a:p>
        </p:txBody>
      </p:sp>
      <p:pic>
        <p:nvPicPr>
          <p:cNvPr id="5" name="logo"/>
          <p:cNvPicPr preferRelativeResize="0"/>
          <p:nvPr/>
        </p:nvPicPr>
        <p:blipFill>
          <a:blip r:embed="rId2">
            <a:alphaModFix/>
          </a:blip>
          <a:stretch>
            <a:fillRect/>
          </a:stretch>
        </p:blipFill>
        <p:spPr>
          <a:xfrm>
            <a:off x="8369126" y="0"/>
            <a:ext cx="774877" cy="867174"/>
          </a:xfrm>
          <a:prstGeom prst="rect">
            <a:avLst/>
          </a:prstGeom>
          <a:noFill/>
          <a:ln>
            <a:noFill/>
          </a:ln>
        </p:spPr>
      </p:pic>
    </p:spTree>
    <p:extLst>
      <p:ext uri="{BB962C8B-B14F-4D97-AF65-F5344CB8AC3E}">
        <p14:creationId xmlns:p14="http://schemas.microsoft.com/office/powerpoint/2010/main" val="38253709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1E2761"/>
                </a:solidFill>
                <a:latin typeface="Georgia"/>
              </a:rPr>
              <a:t>Reasoning</a:t>
            </a:r>
          </a:p>
        </p:txBody>
      </p:sp>
      <p:sp>
        <p:nvSpPr>
          <p:cNvPr id="10" name="Stem"/>
          <p:cNvSpPr txBox="1"/>
          <p:nvPr/>
        </p:nvSpPr>
        <p:spPr>
          <a:xfrm>
            <a:off x="461700" y="1065000"/>
            <a:ext cx="8220600" cy="390000"/>
          </a:xfrm>
          <a:prstGeom prst="rect">
            <a:avLst/>
          </a:prstGeom>
          <a:noFill/>
          <a:ln>
            <a:noFill/>
          </a:ln>
        </p:spPr>
        <p:txBody>
          <a:bodyPr wrap="square" lIns="0" tIns="0" rIns="0" bIns="0" anchor="t">
            <a:noAutofit/>
          </a:bodyPr>
          <a:lstStyle/>
          <a:p>
            <a:r>
              <a:rPr lang="en-US" sz="1200" i="1" dirty="0">
                <a:solidFill>
                  <a:srgbClr val="1A1F36"/>
                </a:solidFill>
                <a:latin typeface="Calibri"/>
              </a:rPr>
              <a:t>You want the model to reliably work through a multi-step problem instead of jumping to an answer. Which prompt fits best?</a:t>
            </a:r>
          </a:p>
        </p:txBody>
      </p:sp>
      <p:sp>
        <p:nvSpPr>
          <p:cNvPr id="20" name="Card Prompt A"/>
          <p:cNvSpPr/>
          <p:nvPr/>
        </p:nvSpPr>
        <p:spPr>
          <a:xfrm>
            <a:off x="461701" y="1537500"/>
            <a:ext cx="4457141" cy="1027000"/>
          </a:xfrm>
          <a:prstGeom prst="roundRect">
            <a:avLst>
              <a:gd name="adj" fmla="val 6000"/>
            </a:avLst>
          </a:prstGeom>
          <a:solidFill>
            <a:srgbClr val="EDF1FA"/>
          </a:solidFill>
          <a:ln>
            <a:noFill/>
          </a:ln>
        </p:spPr>
        <p:txBody>
          <a:bodyPr wrap="square" lIns="171450" tIns="102870" rIns="171450" bIns="102870" anchor="t">
            <a:noAutofit/>
          </a:bodyPr>
          <a:lstStyle/>
          <a:p>
            <a:pPr>
              <a:lnSpc>
                <a:spcPct val="110000"/>
              </a:lnSpc>
            </a:pPr>
            <a:r>
              <a:rPr lang="en-US" sz="1050" b="1" dirty="0">
                <a:solidFill>
                  <a:srgbClr val="1E2761"/>
                </a:solidFill>
                <a:latin typeface="Calibri"/>
              </a:rPr>
              <a:t>Prompt A</a:t>
            </a:r>
          </a:p>
          <a:p>
            <a:pPr>
              <a:lnSpc>
                <a:spcPct val="115000"/>
              </a:lnSpc>
              <a:spcBef>
                <a:spcPts val="300"/>
              </a:spcBef>
            </a:pPr>
            <a:r>
              <a:rPr lang="en-US" sz="1050" dirty="0">
                <a:solidFill>
                  <a:srgbClr val="1A1F36"/>
                </a:solidFill>
                <a:latin typeface="Calibri"/>
              </a:rPr>
              <a:t>Sally has 3 brothers. Each brother has 2 sisters. How many sisters does Sally have?</a:t>
            </a:r>
          </a:p>
        </p:txBody>
      </p:sp>
      <p:sp>
        <p:nvSpPr>
          <p:cNvPr id="21" name="Card Prompt B"/>
          <p:cNvSpPr/>
          <p:nvPr/>
        </p:nvSpPr>
        <p:spPr>
          <a:xfrm>
            <a:off x="461701" y="2677000"/>
            <a:ext cx="4457141" cy="1027000"/>
          </a:xfrm>
          <a:prstGeom prst="roundRect">
            <a:avLst>
              <a:gd name="adj" fmla="val 6000"/>
            </a:avLst>
          </a:prstGeom>
          <a:solidFill>
            <a:srgbClr val="EDF1FA"/>
          </a:solidFill>
          <a:ln>
            <a:noFill/>
          </a:ln>
        </p:spPr>
        <p:txBody>
          <a:bodyPr wrap="square" lIns="171450" tIns="102870" rIns="171450" bIns="102870" anchor="t">
            <a:noAutofit/>
          </a:bodyPr>
          <a:lstStyle/>
          <a:p>
            <a:pPr>
              <a:lnSpc>
                <a:spcPct val="110000"/>
              </a:lnSpc>
            </a:pPr>
            <a:r>
              <a:rPr lang="en-US" sz="1050" b="1" dirty="0">
                <a:solidFill>
                  <a:srgbClr val="1E2761"/>
                </a:solidFill>
                <a:latin typeface="Calibri"/>
              </a:rPr>
              <a:t>Prompt B</a:t>
            </a:r>
          </a:p>
          <a:p>
            <a:pPr>
              <a:lnSpc>
                <a:spcPct val="115000"/>
              </a:lnSpc>
              <a:spcBef>
                <a:spcPts val="300"/>
              </a:spcBef>
            </a:pPr>
            <a:r>
              <a:rPr lang="en-US" sz="1050" dirty="0">
                <a:solidFill>
                  <a:srgbClr val="1A1F36"/>
                </a:solidFill>
                <a:latin typeface="Calibri"/>
              </a:rPr>
              <a:t>Think step by step to solve this, but only output the final answer — don't show any of your reasoning. Sally has 3 brothers. Each brother has 2 sisters. How many sisters does Sally have?</a:t>
            </a:r>
          </a:p>
        </p:txBody>
      </p:sp>
      <p:sp>
        <p:nvSpPr>
          <p:cNvPr id="22" name="Card Prompt C"/>
          <p:cNvSpPr/>
          <p:nvPr/>
        </p:nvSpPr>
        <p:spPr>
          <a:xfrm>
            <a:off x="461701" y="3816500"/>
            <a:ext cx="4457141" cy="1027000"/>
          </a:xfrm>
          <a:prstGeom prst="roundRect">
            <a:avLst>
              <a:gd name="adj" fmla="val 6000"/>
            </a:avLst>
          </a:prstGeom>
          <a:solidFill>
            <a:srgbClr val="EDF1FA"/>
          </a:solidFill>
          <a:ln>
            <a:noFill/>
          </a:ln>
        </p:spPr>
        <p:txBody>
          <a:bodyPr wrap="square" lIns="171450" tIns="102870" rIns="171450" bIns="102870" anchor="t">
            <a:noAutofit/>
          </a:bodyPr>
          <a:lstStyle/>
          <a:p>
            <a:pPr>
              <a:lnSpc>
                <a:spcPct val="110000"/>
              </a:lnSpc>
            </a:pPr>
            <a:r>
              <a:rPr lang="en-US" sz="1050" b="1" dirty="0">
                <a:solidFill>
                  <a:srgbClr val="1E2761"/>
                </a:solidFill>
                <a:latin typeface="Calibri"/>
              </a:rPr>
              <a:t>Prompt C</a:t>
            </a:r>
          </a:p>
          <a:p>
            <a:pPr>
              <a:lnSpc>
                <a:spcPct val="115000"/>
              </a:lnSpc>
              <a:spcBef>
                <a:spcPts val="300"/>
              </a:spcBef>
            </a:pPr>
            <a:r>
              <a:rPr lang="en-US" sz="1050" dirty="0">
                <a:solidFill>
                  <a:srgbClr val="1A1F36"/>
                </a:solidFill>
                <a:latin typeface="Calibri"/>
              </a:rPr>
              <a:t>Sally has 3 brothers. Each brother has 2 sisters. How many sisters does Sally have? Think step by step.</a:t>
            </a:r>
          </a:p>
        </p:txBody>
      </p:sp>
      <p:pic>
        <p:nvPicPr>
          <p:cNvPr id="5" name="logo"/>
          <p:cNvPicPr preferRelativeResize="0"/>
          <p:nvPr/>
        </p:nvPicPr>
        <p:blipFill>
          <a:blip r:embed="rId2">
            <a:alphaModFix/>
          </a:blip>
          <a:stretch>
            <a:fillRect/>
          </a:stretch>
        </p:blipFill>
        <p:spPr>
          <a:xfrm>
            <a:off x="8369126" y="0"/>
            <a:ext cx="774877" cy="867174"/>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1E2761"/>
                </a:solidFill>
                <a:latin typeface="Georgia"/>
              </a:rPr>
              <a:t>Reasoning</a:t>
            </a:r>
          </a:p>
        </p:txBody>
      </p:sp>
      <p:sp>
        <p:nvSpPr>
          <p:cNvPr id="10" name="Stem"/>
          <p:cNvSpPr txBox="1"/>
          <p:nvPr/>
        </p:nvSpPr>
        <p:spPr>
          <a:xfrm>
            <a:off x="461700" y="1065000"/>
            <a:ext cx="8220600" cy="390000"/>
          </a:xfrm>
          <a:prstGeom prst="rect">
            <a:avLst/>
          </a:prstGeom>
          <a:noFill/>
          <a:ln>
            <a:noFill/>
          </a:ln>
        </p:spPr>
        <p:txBody>
          <a:bodyPr wrap="square" lIns="0" tIns="0" rIns="0" bIns="0" anchor="t">
            <a:noAutofit/>
          </a:bodyPr>
          <a:lstStyle/>
          <a:p>
            <a:r>
              <a:rPr lang="en-US" sz="1200" i="1" dirty="0">
                <a:solidFill>
                  <a:srgbClr val="1A1F36"/>
                </a:solidFill>
                <a:latin typeface="Calibri"/>
              </a:rPr>
              <a:t>Answer &amp; Explanation</a:t>
            </a:r>
          </a:p>
        </p:txBody>
      </p:sp>
      <p:sp>
        <p:nvSpPr>
          <p:cNvPr id="20" name="Card Prompt A"/>
          <p:cNvSpPr/>
          <p:nvPr/>
        </p:nvSpPr>
        <p:spPr>
          <a:xfrm>
            <a:off x="461700" y="1537500"/>
            <a:ext cx="8220600" cy="1027000"/>
          </a:xfrm>
          <a:prstGeom prst="roundRect">
            <a:avLst>
              <a:gd name="adj" fmla="val 6000"/>
            </a:avLst>
          </a:prstGeom>
          <a:solidFill>
            <a:srgbClr val="EDF1FA"/>
          </a:solidFill>
          <a:ln>
            <a:noFill/>
          </a:ln>
        </p:spPr>
        <p:txBody>
          <a:bodyPr wrap="square" lIns="171450" tIns="102870" rIns="171450" bIns="102870" anchor="t">
            <a:noAutofit/>
          </a:bodyPr>
          <a:lstStyle/>
          <a:p>
            <a:pPr>
              <a:lnSpc>
                <a:spcPct val="110000"/>
              </a:lnSpc>
            </a:pPr>
            <a:r>
              <a:rPr lang="en-US" sz="1050" b="1" dirty="0">
                <a:solidFill>
                  <a:srgbClr val="1E2761"/>
                </a:solidFill>
                <a:latin typeface="Calibri"/>
              </a:rPr>
              <a:t>Prompt A</a:t>
            </a:r>
          </a:p>
          <a:p>
            <a:pPr>
              <a:lnSpc>
                <a:spcPct val="115000"/>
              </a:lnSpc>
              <a:spcBef>
                <a:spcPts val="300"/>
              </a:spcBef>
            </a:pPr>
            <a:r>
              <a:rPr lang="en-US" sz="1050" dirty="0">
                <a:solidFill>
                  <a:srgbClr val="1A1F36"/>
                </a:solidFill>
                <a:latin typeface="Calibri"/>
              </a:rPr>
              <a:t>Sally has 3 brothers. Each brother has 2 sisters. How many sisters does Sally have?</a:t>
            </a:r>
          </a:p>
          <a:p>
            <a:pPr>
              <a:lnSpc>
                <a:spcPct val="115000"/>
              </a:lnSpc>
              <a:spcBef>
                <a:spcPts val="450"/>
              </a:spcBef>
            </a:pPr>
            <a:r>
              <a:rPr lang="en-US" sz="975" b="1" dirty="0">
                <a:solidFill>
                  <a:srgbClr val="C0392B"/>
                </a:solidFill>
                <a:latin typeface="Calibri"/>
              </a:rPr>
              <a:t>✗ Needs improvement — without a step-by-step cue, the model is more likely to pattern-match to a quick answer instead of reasoning carefully.</a:t>
            </a:r>
          </a:p>
        </p:txBody>
      </p:sp>
      <p:sp>
        <p:nvSpPr>
          <p:cNvPr id="21" name="Card Prompt B"/>
          <p:cNvSpPr/>
          <p:nvPr/>
        </p:nvSpPr>
        <p:spPr>
          <a:xfrm>
            <a:off x="461700" y="2677000"/>
            <a:ext cx="8220600" cy="1027000"/>
          </a:xfrm>
          <a:prstGeom prst="roundRect">
            <a:avLst>
              <a:gd name="adj" fmla="val 6000"/>
            </a:avLst>
          </a:prstGeom>
          <a:solidFill>
            <a:srgbClr val="EDF1FA"/>
          </a:solidFill>
          <a:ln>
            <a:noFill/>
          </a:ln>
        </p:spPr>
        <p:txBody>
          <a:bodyPr wrap="square" lIns="171450" tIns="102870" rIns="171450" bIns="102870" anchor="t">
            <a:noAutofit/>
          </a:bodyPr>
          <a:lstStyle/>
          <a:p>
            <a:pPr>
              <a:lnSpc>
                <a:spcPct val="110000"/>
              </a:lnSpc>
            </a:pPr>
            <a:r>
              <a:rPr lang="en-US" sz="1050" b="1" dirty="0">
                <a:solidFill>
                  <a:srgbClr val="1E2761"/>
                </a:solidFill>
                <a:latin typeface="Calibri"/>
              </a:rPr>
              <a:t>Prompt B</a:t>
            </a:r>
          </a:p>
          <a:p>
            <a:pPr>
              <a:lnSpc>
                <a:spcPct val="115000"/>
              </a:lnSpc>
              <a:spcBef>
                <a:spcPts val="300"/>
              </a:spcBef>
            </a:pPr>
            <a:r>
              <a:rPr lang="en-US" sz="1050" dirty="0">
                <a:solidFill>
                  <a:srgbClr val="1A1F36"/>
                </a:solidFill>
                <a:latin typeface="Calibri"/>
              </a:rPr>
              <a:t>Think step by step to solve this, but only output the final answer — don't show any of your reasoning. Sally has 3 brothers. Each brother has 2 sisters. How many sisters does Sally have?</a:t>
            </a:r>
          </a:p>
          <a:p>
            <a:pPr>
              <a:lnSpc>
                <a:spcPct val="115000"/>
              </a:lnSpc>
              <a:spcBef>
                <a:spcPts val="450"/>
              </a:spcBef>
            </a:pPr>
            <a:r>
              <a:rPr lang="en-US" sz="975" b="1" dirty="0">
                <a:solidFill>
                  <a:srgbClr val="C0392B"/>
                </a:solidFill>
                <a:latin typeface="Calibri"/>
              </a:rPr>
              <a:t>✗ Needs improvement — self-contradictory: it asks for step-by-step reasoning while suppressing the reasoning output, losing the accuracy benefit.</a:t>
            </a:r>
          </a:p>
        </p:txBody>
      </p:sp>
      <p:sp>
        <p:nvSpPr>
          <p:cNvPr id="22" name="Card Prompt C"/>
          <p:cNvSpPr/>
          <p:nvPr/>
        </p:nvSpPr>
        <p:spPr>
          <a:xfrm>
            <a:off x="461700" y="3816500"/>
            <a:ext cx="8220600" cy="1027000"/>
          </a:xfrm>
          <a:prstGeom prst="roundRect">
            <a:avLst>
              <a:gd name="adj" fmla="val 6000"/>
            </a:avLst>
          </a:prstGeom>
          <a:solidFill>
            <a:srgbClr val="EDF1FA"/>
          </a:solidFill>
          <a:ln>
            <a:noFill/>
          </a:ln>
        </p:spPr>
        <p:txBody>
          <a:bodyPr wrap="square" lIns="171450" tIns="102870" rIns="171450" bIns="102870" anchor="t">
            <a:noAutofit/>
          </a:bodyPr>
          <a:lstStyle/>
          <a:p>
            <a:pPr>
              <a:lnSpc>
                <a:spcPct val="110000"/>
              </a:lnSpc>
            </a:pPr>
            <a:r>
              <a:rPr lang="en-US" sz="1050" b="1" dirty="0">
                <a:solidFill>
                  <a:srgbClr val="1E2761"/>
                </a:solidFill>
                <a:latin typeface="Calibri"/>
              </a:rPr>
              <a:t>Prompt C</a:t>
            </a:r>
          </a:p>
          <a:p>
            <a:pPr>
              <a:lnSpc>
                <a:spcPct val="115000"/>
              </a:lnSpc>
              <a:spcBef>
                <a:spcPts val="300"/>
              </a:spcBef>
            </a:pPr>
            <a:r>
              <a:rPr lang="en-US" sz="1050" dirty="0">
                <a:solidFill>
                  <a:srgbClr val="1A1F36"/>
                </a:solidFill>
                <a:latin typeface="Calibri"/>
              </a:rPr>
              <a:t>Sally has 3 brothers. Each brother has 2 sisters. How many sisters does Sally have? Think step by step.</a:t>
            </a:r>
          </a:p>
          <a:p>
            <a:pPr>
              <a:lnSpc>
                <a:spcPct val="115000"/>
              </a:lnSpc>
              <a:spcBef>
                <a:spcPts val="450"/>
              </a:spcBef>
            </a:pPr>
            <a:r>
              <a:rPr lang="en-US" sz="975" b="1" dirty="0">
                <a:solidFill>
                  <a:srgbClr val="2E7D32"/>
                </a:solidFill>
                <a:latin typeface="Calibri"/>
              </a:rPr>
              <a:t>✓ Best choice — the “think step by step” cue prompts the model to reason through the relationships before answering, improving accuracy.</a:t>
            </a:r>
          </a:p>
        </p:txBody>
      </p:sp>
      <p:pic>
        <p:nvPicPr>
          <p:cNvPr id="5" name="logo"/>
          <p:cNvPicPr preferRelativeResize="0"/>
          <p:nvPr/>
        </p:nvPicPr>
        <p:blipFill>
          <a:blip r:embed="rId2">
            <a:alphaModFix/>
          </a:blip>
          <a:stretch>
            <a:fillRect/>
          </a:stretch>
        </p:blipFill>
        <p:spPr>
          <a:xfrm>
            <a:off x="8369126" y="0"/>
            <a:ext cx="774877" cy="867174"/>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B0974064-5155-BD3D-39E1-616986791249}"/>
              </a:ext>
            </a:extLst>
          </p:cNvPr>
          <p:cNvGrpSpPr/>
          <p:nvPr/>
        </p:nvGrpSpPr>
        <p:grpSpPr>
          <a:xfrm>
            <a:off x="292607" y="1208343"/>
            <a:ext cx="4175353" cy="2572767"/>
            <a:chOff x="1665000" y="1671480"/>
            <a:chExt cx="2802600" cy="2454840"/>
          </a:xfrm>
        </p:grpSpPr>
        <p:pic>
          <p:nvPicPr>
            <p:cNvPr id="1358" name="Google Shape;406;p24" descr="image.png"/>
            <p:cNvPicPr/>
            <p:nvPr/>
          </p:nvPicPr>
          <p:blipFill>
            <a:blip r:embed="rId2"/>
            <a:stretch/>
          </p:blipFill>
          <p:spPr>
            <a:xfrm>
              <a:off x="1665000" y="1671480"/>
              <a:ext cx="2802600" cy="2454840"/>
            </a:xfrm>
            <a:prstGeom prst="rect">
              <a:avLst/>
            </a:prstGeom>
            <a:ln w="0">
              <a:noFill/>
            </a:ln>
          </p:spPr>
        </p:pic>
        <p:sp>
          <p:nvSpPr>
            <p:cNvPr id="1360" name="Google Shape;408;p24"/>
            <p:cNvSpPr/>
            <p:nvPr/>
          </p:nvSpPr>
          <p:spPr>
            <a:xfrm>
              <a:off x="1977120" y="1787654"/>
              <a:ext cx="2303280" cy="234935"/>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nSpc>
                  <a:spcPct val="100000"/>
                </a:lnSpc>
              </a:pPr>
              <a:r>
                <a:rPr lang="en-US" sz="1600" b="0" strike="noStrike" spc="-1" dirty="0">
                  <a:ln>
                    <a:solidFill>
                      <a:schemeClr val="accent1"/>
                    </a:solidFill>
                  </a:ln>
                  <a:solidFill>
                    <a:srgbClr val="1A1F36"/>
                  </a:solidFill>
                  <a:latin typeface="Calibri"/>
                </a:rPr>
                <a:t>INPUT PROMPT (LOGIC)</a:t>
              </a:r>
              <a:endParaRPr lang="en-IN" sz="1600" b="0" strike="noStrike" spc="-1" dirty="0">
                <a:ln>
                  <a:solidFill>
                    <a:schemeClr val="accent1"/>
                  </a:solidFill>
                </a:ln>
                <a:solidFill>
                  <a:srgbClr val="1A1F36"/>
                </a:solidFill>
                <a:latin typeface="Calibri"/>
              </a:endParaRPr>
            </a:p>
          </p:txBody>
        </p:sp>
        <p:pic>
          <p:nvPicPr>
            <p:cNvPr id="1362" name="Google Shape;410;p24" descr="image.png"/>
            <p:cNvPicPr/>
            <p:nvPr/>
          </p:nvPicPr>
          <p:blipFill>
            <a:blip r:embed="rId3"/>
            <a:stretch/>
          </p:blipFill>
          <p:spPr>
            <a:xfrm>
              <a:off x="1852200" y="1869120"/>
              <a:ext cx="82800" cy="72360"/>
            </a:xfrm>
            <a:prstGeom prst="rect">
              <a:avLst/>
            </a:prstGeom>
            <a:ln w="0">
              <a:noFill/>
            </a:ln>
          </p:spPr>
        </p:pic>
        <p:sp>
          <p:nvSpPr>
            <p:cNvPr id="1363" name="Google Shape;411;p24"/>
            <p:cNvSpPr/>
            <p:nvPr/>
          </p:nvSpPr>
          <p:spPr>
            <a:xfrm>
              <a:off x="1852200" y="2134080"/>
              <a:ext cx="2428200" cy="1277277"/>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nSpc>
                  <a:spcPct val="160000"/>
                </a:lnSpc>
              </a:pPr>
              <a:r>
                <a:rPr lang="en-US" b="0" strike="noStrike" spc="-1" dirty="0">
                  <a:solidFill>
                    <a:srgbClr val="1A1F36"/>
                  </a:solidFill>
                  <a:latin typeface="Calibri"/>
                </a:rPr>
                <a:t>A farmer needs to cross a river with a fox, a chicken, and a bag of grain. He can only carry one at a time. If left alone, fox eats chicken; chicken eats grain. How can he cross?</a:t>
              </a:r>
              <a:endParaRPr lang="en-IN" b="0" strike="noStrike" spc="-1" dirty="0">
                <a:solidFill>
                  <a:srgbClr val="1A1F36"/>
                </a:solidFill>
                <a:latin typeface="Calibri"/>
              </a:endParaRPr>
            </a:p>
          </p:txBody>
        </p:sp>
      </p:grpSp>
      <p:grpSp>
        <p:nvGrpSpPr>
          <p:cNvPr id="3" name="Group 2">
            <a:extLst>
              <a:ext uri="{FF2B5EF4-FFF2-40B4-BE49-F238E27FC236}">
                <a16:creationId xmlns:a16="http://schemas.microsoft.com/office/drawing/2014/main" id="{3DCA508C-89B4-A722-1826-D024CE39E0E6}"/>
              </a:ext>
            </a:extLst>
          </p:cNvPr>
          <p:cNvGrpSpPr/>
          <p:nvPr/>
        </p:nvGrpSpPr>
        <p:grpSpPr>
          <a:xfrm>
            <a:off x="4251818" y="1024128"/>
            <a:ext cx="4134574" cy="3504405"/>
            <a:chOff x="4676040" y="1677960"/>
            <a:chExt cx="2802600" cy="2768108"/>
          </a:xfrm>
        </p:grpSpPr>
        <p:pic>
          <p:nvPicPr>
            <p:cNvPr id="1359" name="Google Shape;407;p24" descr="image.png"/>
            <p:cNvPicPr/>
            <p:nvPr/>
          </p:nvPicPr>
          <p:blipFill>
            <a:blip r:embed="rId2"/>
            <a:stretch/>
          </p:blipFill>
          <p:spPr>
            <a:xfrm>
              <a:off x="4676040" y="1677960"/>
              <a:ext cx="2802600" cy="2454840"/>
            </a:xfrm>
            <a:prstGeom prst="rect">
              <a:avLst/>
            </a:prstGeom>
            <a:ln w="0">
              <a:noFill/>
            </a:ln>
          </p:spPr>
        </p:pic>
        <p:sp>
          <p:nvSpPr>
            <p:cNvPr id="1361" name="Google Shape;409;p24"/>
            <p:cNvSpPr/>
            <p:nvPr/>
          </p:nvSpPr>
          <p:spPr>
            <a:xfrm>
              <a:off x="4998600" y="1807877"/>
              <a:ext cx="2292840" cy="194488"/>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nSpc>
                  <a:spcPct val="100000"/>
                </a:lnSpc>
              </a:pPr>
              <a:r>
                <a:rPr lang="en-US" sz="1600" b="0" strike="noStrike" spc="-1" dirty="0">
                  <a:ln>
                    <a:solidFill>
                      <a:schemeClr val="accent1"/>
                    </a:solidFill>
                  </a:ln>
                  <a:solidFill>
                    <a:srgbClr val="1A1F36"/>
                  </a:solidFill>
                  <a:latin typeface="Calibri"/>
                </a:rPr>
                <a:t>MODEL RESPONSE</a:t>
              </a:r>
              <a:endParaRPr lang="en-IN" sz="1600" b="0" strike="noStrike" spc="-1" dirty="0">
                <a:ln>
                  <a:solidFill>
                    <a:schemeClr val="accent1"/>
                  </a:solidFill>
                </a:ln>
                <a:solidFill>
                  <a:srgbClr val="1A1F36"/>
                </a:solidFill>
                <a:latin typeface="Calibri"/>
              </a:endParaRPr>
            </a:p>
          </p:txBody>
        </p:sp>
        <p:pic>
          <p:nvPicPr>
            <p:cNvPr id="1364" name="Google Shape;412;p24" descr="image.png"/>
            <p:cNvPicPr/>
            <p:nvPr/>
          </p:nvPicPr>
          <p:blipFill>
            <a:blip r:embed="rId4"/>
            <a:stretch/>
          </p:blipFill>
          <p:spPr>
            <a:xfrm>
              <a:off x="4863240" y="1869120"/>
              <a:ext cx="93240" cy="72360"/>
            </a:xfrm>
            <a:prstGeom prst="rect">
              <a:avLst/>
            </a:prstGeom>
            <a:ln w="0">
              <a:noFill/>
            </a:ln>
          </p:spPr>
        </p:pic>
        <p:sp>
          <p:nvSpPr>
            <p:cNvPr id="1365" name="Google Shape;413;p24"/>
            <p:cNvSpPr/>
            <p:nvPr/>
          </p:nvSpPr>
          <p:spPr>
            <a:xfrm>
              <a:off x="4748760" y="2088589"/>
              <a:ext cx="2549520" cy="1755413"/>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nSpc>
                  <a:spcPct val="150000"/>
                </a:lnSpc>
              </a:pPr>
              <a:r>
                <a:rPr lang="en-US" sz="1800" b="0" strike="noStrike" spc="-1" dirty="0">
                  <a:solidFill>
                    <a:srgbClr val="1A1F36"/>
                  </a:solidFill>
                  <a:latin typeface="Calibri"/>
                </a:rPr>
                <a:t>The Solution</a:t>
              </a:r>
              <a:endParaRPr lang="en-IN" sz="1800" b="0" strike="noStrike" spc="-1" dirty="0">
                <a:solidFill>
                  <a:srgbClr val="1A1F36"/>
                </a:solidFill>
                <a:latin typeface="Calibri"/>
              </a:endParaRPr>
            </a:p>
            <a:p>
              <a:pPr>
                <a:lnSpc>
                  <a:spcPct val="150000"/>
                </a:lnSpc>
              </a:pPr>
              <a:r>
                <a:rPr lang="en-US" sz="1600" b="0" strike="noStrike" spc="-1" dirty="0">
                  <a:solidFill>
                    <a:srgbClr val="1A1F36"/>
                  </a:solidFill>
                  <a:latin typeface="Calibri"/>
                </a:rPr>
                <a:t>1. Take Chicken across</a:t>
              </a:r>
              <a:endParaRPr lang="en-IN" sz="1600" b="0" strike="noStrike" spc="-1" dirty="0">
                <a:solidFill>
                  <a:srgbClr val="1A1F36"/>
                </a:solidFill>
                <a:latin typeface="Calibri"/>
              </a:endParaRPr>
            </a:p>
            <a:p>
              <a:pPr>
                <a:lnSpc>
                  <a:spcPct val="150000"/>
                </a:lnSpc>
              </a:pPr>
              <a:r>
                <a:rPr lang="en-US" sz="1600" b="0" strike="noStrike" spc="-1" dirty="0">
                  <a:solidFill>
                    <a:srgbClr val="1A1F36"/>
                  </a:solidFill>
                  <a:latin typeface="Calibri"/>
                </a:rPr>
                <a:t>2. Return alone; take Fox across</a:t>
              </a:r>
              <a:endParaRPr lang="en-IN" sz="1600" b="0" strike="noStrike" spc="-1" dirty="0">
                <a:solidFill>
                  <a:srgbClr val="1A1F36"/>
                </a:solidFill>
                <a:latin typeface="Calibri"/>
              </a:endParaRPr>
            </a:p>
            <a:p>
              <a:pPr>
                <a:lnSpc>
                  <a:spcPct val="150000"/>
                </a:lnSpc>
              </a:pPr>
              <a:r>
                <a:rPr lang="en-US" sz="1600" b="0" strike="noStrike" spc="-1" dirty="0">
                  <a:solidFill>
                    <a:srgbClr val="1A1F36"/>
                  </a:solidFill>
                  <a:latin typeface="Calibri"/>
                </a:rPr>
                <a:t>3. Take </a:t>
              </a:r>
              <a:r>
                <a:rPr lang="en-US" sz="1600" b="1" strike="noStrike" spc="-1" dirty="0">
                  <a:solidFill>
                    <a:srgbClr val="1A1F36"/>
                  </a:solidFill>
                  <a:latin typeface="Calibri"/>
                </a:rPr>
                <a:t>Chicken back; </a:t>
              </a:r>
              <a:r>
                <a:rPr lang="en-US" sz="1600" b="0" strike="noStrike" spc="-1" dirty="0">
                  <a:solidFill>
                    <a:srgbClr val="1A1F36"/>
                  </a:solidFill>
                  <a:latin typeface="Calibri"/>
                </a:rPr>
                <a:t>take Grain across</a:t>
              </a:r>
              <a:endParaRPr lang="en-IN" sz="1600" b="0" strike="noStrike" spc="-1" dirty="0">
                <a:solidFill>
                  <a:srgbClr val="1A1F36"/>
                </a:solidFill>
                <a:latin typeface="Calibri"/>
              </a:endParaRPr>
            </a:p>
            <a:p>
              <a:pPr>
                <a:lnSpc>
                  <a:spcPct val="150000"/>
                </a:lnSpc>
              </a:pPr>
              <a:r>
                <a:rPr lang="en-US" sz="1600" b="0" strike="noStrike" spc="-1" dirty="0">
                  <a:solidFill>
                    <a:srgbClr val="1A1F36"/>
                  </a:solidFill>
                  <a:latin typeface="Calibri"/>
                </a:rPr>
                <a:t>4. Return alone; take Chicken across</a:t>
              </a:r>
              <a:endParaRPr lang="en-IN" sz="1600" b="0" strike="noStrike" spc="-1" dirty="0">
                <a:solidFill>
                  <a:srgbClr val="1A1F36"/>
                </a:solidFill>
                <a:latin typeface="Calibri"/>
              </a:endParaRPr>
            </a:p>
          </p:txBody>
        </p:sp>
        <p:sp>
          <p:nvSpPr>
            <p:cNvPr id="1366" name="Google Shape;414;p24"/>
            <p:cNvSpPr/>
            <p:nvPr/>
          </p:nvSpPr>
          <p:spPr>
            <a:xfrm>
              <a:off x="4771800" y="3860019"/>
              <a:ext cx="2428200" cy="586049"/>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nSpc>
                  <a:spcPct val="160000"/>
                </a:lnSpc>
              </a:pPr>
              <a:r>
                <a:rPr lang="en-US" sz="1600" b="0" i="1" strike="noStrike" spc="-1" dirty="0">
                  <a:solidFill>
                    <a:srgbClr val="1A1F36"/>
                  </a:solidFill>
                  <a:latin typeface="Calibri"/>
                </a:rPr>
                <a:t>Reasoning: Key move is returning with the chicken to prevent loss.</a:t>
              </a:r>
              <a:endParaRPr lang="en-IN" sz="1600" b="0" strike="noStrike" spc="-1" dirty="0">
                <a:solidFill>
                  <a:srgbClr val="1A1F36"/>
                </a:solidFill>
                <a:latin typeface="Calibri"/>
              </a:endParaRPr>
            </a:p>
          </p:txBody>
        </p:sp>
        <p:sp>
          <p:nvSpPr>
            <p:cNvPr id="1367" name="Google Shape;417;p24"/>
            <p:cNvSpPr/>
            <p:nvPr/>
          </p:nvSpPr>
          <p:spPr>
            <a:xfrm>
              <a:off x="4993200" y="2425320"/>
              <a:ext cx="77760" cy="243111"/>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nSpc>
                  <a:spcPct val="100000"/>
                </a:lnSpc>
              </a:pPr>
              <a:endParaRPr lang="en-IN" sz="2000" b="0" strike="noStrike" spc="-1">
                <a:solidFill>
                  <a:srgbClr val="1A1F36"/>
                </a:solidFill>
                <a:latin typeface="Calibri"/>
              </a:endParaRPr>
            </a:p>
          </p:txBody>
        </p:sp>
        <p:sp>
          <p:nvSpPr>
            <p:cNvPr id="1368" name="Google Shape;421;p24"/>
            <p:cNvSpPr/>
            <p:nvPr/>
          </p:nvSpPr>
          <p:spPr>
            <a:xfrm flipV="1">
              <a:off x="4998240" y="2841840"/>
              <a:ext cx="72360" cy="194488"/>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nSpc>
                  <a:spcPct val="100000"/>
                </a:lnSpc>
              </a:pPr>
              <a:endParaRPr lang="en-IN" sz="1600" b="0" strike="noStrike" spc="-1">
                <a:solidFill>
                  <a:srgbClr val="1A1F36"/>
                </a:solidFill>
                <a:latin typeface="Calibri"/>
              </a:endParaRPr>
            </a:p>
          </p:txBody>
        </p:sp>
      </p:grpSp>
      <p:sp>
        <p:nvSpPr>
          <p:cNvPr id="1369" name="Google Shape;423;p24"/>
          <p:cNvSpPr/>
          <p:nvPr/>
        </p:nvSpPr>
        <p:spPr>
          <a:xfrm>
            <a:off x="434016" y="375120"/>
            <a:ext cx="5995080" cy="430887"/>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nSpc>
                <a:spcPct val="100000"/>
              </a:lnSpc>
            </a:pPr>
            <a:r>
              <a:rPr lang="en-US" sz="2800" b="1" strike="noStrike" spc="-1" dirty="0">
                <a:solidFill>
                  <a:srgbClr val="1E2761"/>
                </a:solidFill>
                <a:latin typeface="Georgia"/>
              </a:rPr>
              <a:t>Reasoning: Strategy</a:t>
            </a:r>
            <a:endParaRPr lang="en-IN" sz="2800" b="0" strike="noStrike" spc="-1" dirty="0">
              <a:solidFill>
                <a:srgbClr val="1A1F36"/>
              </a:solidFill>
              <a:latin typeface="Calibri"/>
            </a:endParaRPr>
          </a:p>
        </p:txBody>
      </p:sp>
      <p:pic>
        <p:nvPicPr>
          <p:cNvPr id="4" name="Google Shape;109;p20">
            <a:extLst>
              <a:ext uri="{FF2B5EF4-FFF2-40B4-BE49-F238E27FC236}">
                <a16:creationId xmlns:a16="http://schemas.microsoft.com/office/drawing/2014/main" id="{F963B5AF-52D5-86AA-3BB4-91DF2EF28650}"/>
              </a:ext>
            </a:extLst>
          </p:cNvPr>
          <p:cNvPicPr preferRelativeResize="0"/>
          <p:nvPr/>
        </p:nvPicPr>
        <p:blipFill>
          <a:blip r:embed="rId5">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323334743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6472A-6ABF-49BC-301B-18FCF15F8B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332A16-071C-9555-6679-03F36C59FA67}"/>
              </a:ext>
            </a:extLst>
          </p:cNvPr>
          <p:cNvSpPr>
            <a:spLocks noGrp="1"/>
          </p:cNvSpPr>
          <p:nvPr>
            <p:ph type="title"/>
          </p:nvPr>
        </p:nvSpPr>
        <p:spPr/>
        <p:txBody>
          <a:bodyPr>
            <a:normAutofit fontScale="90000"/>
          </a:bodyPr>
          <a:lstStyle/>
          <a:p>
            <a:r>
              <a:rPr lang="en-US" b="1" dirty="0">
                <a:solidFill>
                  <a:srgbClr val="1E2761"/>
                </a:solidFill>
                <a:latin typeface="Georgia"/>
              </a:rPr>
              <a:t>Question</a:t>
            </a:r>
          </a:p>
        </p:txBody>
      </p:sp>
      <p:sp>
        <p:nvSpPr>
          <p:cNvPr id="3" name="Text Placeholder 2">
            <a:extLst>
              <a:ext uri="{FF2B5EF4-FFF2-40B4-BE49-F238E27FC236}">
                <a16:creationId xmlns:a16="http://schemas.microsoft.com/office/drawing/2014/main" id="{EB6603FB-E2BA-5B73-F11C-29466C76BFCB}"/>
              </a:ext>
            </a:extLst>
          </p:cNvPr>
          <p:cNvSpPr>
            <a:spLocks noGrp="1"/>
          </p:cNvSpPr>
          <p:nvPr>
            <p:ph type="body" idx="1"/>
          </p:nvPr>
        </p:nvSpPr>
        <p:spPr/>
        <p:txBody>
          <a:bodyPr/>
          <a:lstStyle/>
          <a:p>
            <a:r>
              <a:rPr lang="en-US" dirty="0">
                <a:solidFill>
                  <a:srgbClr val="1A1F36"/>
                </a:solidFill>
                <a:latin typeface="Calibri"/>
              </a:rPr>
              <a:t>Which of the following tasks is not suitable to be performed by prompting LLMs?</a:t>
            </a:r>
          </a:p>
          <a:p>
            <a:pPr lvl="1"/>
            <a:r>
              <a:rPr lang="en-US" dirty="0">
                <a:solidFill>
                  <a:srgbClr val="1A1F36"/>
                </a:solidFill>
                <a:latin typeface="Calibri"/>
              </a:rPr>
              <a:t>Classifying resumes of individuals into different skillsets.</a:t>
            </a:r>
          </a:p>
          <a:p>
            <a:pPr lvl="1"/>
            <a:r>
              <a:rPr lang="en-US" dirty="0">
                <a:solidFill>
                  <a:srgbClr val="1A1F36"/>
                </a:solidFill>
                <a:latin typeface="Calibri"/>
              </a:rPr>
              <a:t>Forecasting stock prices</a:t>
            </a:r>
          </a:p>
          <a:p>
            <a:pPr lvl="1"/>
            <a:r>
              <a:rPr lang="en-US" dirty="0">
                <a:solidFill>
                  <a:srgbClr val="1A1F36"/>
                </a:solidFill>
                <a:latin typeface="Calibri"/>
              </a:rPr>
              <a:t>Generating a summary of US – Iran war updates.</a:t>
            </a:r>
          </a:p>
          <a:p>
            <a:pPr lvl="1"/>
            <a:r>
              <a:rPr lang="en-US" dirty="0">
                <a:solidFill>
                  <a:srgbClr val="1A1F36"/>
                </a:solidFill>
                <a:latin typeface="Calibri"/>
              </a:rPr>
              <a:t>Creating a resume for a job application</a:t>
            </a:r>
            <a:endParaRPr lang="en-US" dirty="0"/>
          </a:p>
        </p:txBody>
      </p:sp>
      <p:pic>
        <p:nvPicPr>
          <p:cNvPr id="5" name="Google Shape;328;p29">
            <a:extLst>
              <a:ext uri="{FF2B5EF4-FFF2-40B4-BE49-F238E27FC236}">
                <a16:creationId xmlns:a16="http://schemas.microsoft.com/office/drawing/2014/main" id="{808F9433-F925-5C42-3E4C-5D9471DD4380}"/>
              </a:ext>
            </a:extLst>
          </p:cNvPr>
          <p:cNvPicPr preferRelativeResize="0"/>
          <p:nvPr/>
        </p:nvPicPr>
        <p:blipFill>
          <a:blip r:embed="rId2">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295649627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logo.png"/>
          <p:cNvPicPr>
            <a:picLocks noChangeAspect="1"/>
          </p:cNvPicPr>
          <p:nvPr/>
        </p:nvPicPr>
        <p:blipFill>
          <a:blip r:embed="rId3"/>
          <a:stretch>
            <a:fillRect/>
          </a:stretch>
        </p:blipFill>
        <p:spPr>
          <a:xfrm>
            <a:off x="8001000" y="164592"/>
            <a:ext cx="868680" cy="833933"/>
          </a:xfrm>
          <a:prstGeom prst="rect">
            <a:avLst/>
          </a:prstGeom>
        </p:spPr>
      </p:pic>
      <p:sp>
        <p:nvSpPr>
          <p:cNvPr id="3" name="Text 0"/>
          <p:cNvSpPr/>
          <p:nvPr/>
        </p:nvSpPr>
        <p:spPr>
          <a:xfrm>
            <a:off x="457200" y="256032"/>
            <a:ext cx="5943600" cy="548640"/>
          </a:xfrm>
          <a:prstGeom prst="rect">
            <a:avLst/>
          </a:prstGeom>
          <a:noFill/>
          <a:ln/>
        </p:spPr>
        <p:txBody>
          <a:bodyPr wrap="square" lIns="0" tIns="0" rIns="0" bIns="0" rtlCol="0" anchor="ctr"/>
          <a:lstStyle/>
          <a:p>
            <a:pPr marL="0" indent="0">
              <a:buNone/>
            </a:pPr>
            <a:r>
              <a:rPr lang="en-US" sz="3400" b="1" dirty="0">
                <a:solidFill>
                  <a:srgbClr val="1E2761"/>
                </a:solidFill>
                <a:latin typeface="Cambria" pitchFamily="34" charset="0"/>
                <a:ea typeface="Cambria" pitchFamily="34" charset="-122"/>
                <a:cs typeface="Cambria" pitchFamily="34" charset="-120"/>
              </a:rPr>
              <a:t>Answer</a:t>
            </a:r>
            <a:endParaRPr lang="en-US" sz="3400" dirty="0"/>
          </a:p>
        </p:txBody>
      </p:sp>
      <p:sp>
        <p:nvSpPr>
          <p:cNvPr id="4" name="Text 1"/>
          <p:cNvSpPr/>
          <p:nvPr/>
        </p:nvSpPr>
        <p:spPr>
          <a:xfrm>
            <a:off x="457200" y="841248"/>
            <a:ext cx="8229600" cy="365760"/>
          </a:xfrm>
          <a:prstGeom prst="rect">
            <a:avLst/>
          </a:prstGeom>
          <a:noFill/>
          <a:ln/>
        </p:spPr>
        <p:txBody>
          <a:bodyPr wrap="square" lIns="0" tIns="0" rIns="0" bIns="0" rtlCol="0" anchor="t"/>
          <a:lstStyle/>
          <a:p>
            <a:pPr marL="0" indent="0">
              <a:buNone/>
            </a:pPr>
            <a:r>
              <a:rPr lang="en-US" sz="1350" i="1" dirty="0">
                <a:solidFill>
                  <a:srgbClr val="5A5A5A"/>
                </a:solidFill>
                <a:latin typeface="Calibri" pitchFamily="34" charset="0"/>
                <a:ea typeface="Calibri" pitchFamily="34" charset="-122"/>
                <a:cs typeface="Calibri" pitchFamily="34" charset="-120"/>
              </a:rPr>
              <a:t>Which of the following tasks is not suitable to be performed by prompting LLMs?</a:t>
            </a:r>
            <a:endParaRPr lang="en-US" sz="1350" dirty="0"/>
          </a:p>
        </p:txBody>
      </p:sp>
      <p:sp>
        <p:nvSpPr>
          <p:cNvPr id="5" name="Shape 2"/>
          <p:cNvSpPr/>
          <p:nvPr/>
        </p:nvSpPr>
        <p:spPr>
          <a:xfrm>
            <a:off x="457200" y="1481328"/>
            <a:ext cx="8229600" cy="457200"/>
          </a:xfrm>
          <a:prstGeom prst="roundRect">
            <a:avLst>
              <a:gd name="adj" fmla="val 12000"/>
            </a:avLst>
          </a:prstGeom>
          <a:solidFill>
            <a:srgbClr val="F4F4F6"/>
          </a:solidFill>
          <a:ln/>
        </p:spPr>
      </p:sp>
      <p:sp>
        <p:nvSpPr>
          <p:cNvPr id="6" name="Shape 3"/>
          <p:cNvSpPr/>
          <p:nvPr/>
        </p:nvSpPr>
        <p:spPr>
          <a:xfrm>
            <a:off x="603504" y="1581912"/>
            <a:ext cx="256032" cy="256032"/>
          </a:xfrm>
          <a:prstGeom prst="ellipse">
            <a:avLst/>
          </a:prstGeom>
          <a:solidFill>
            <a:srgbClr val="D9D9DC"/>
          </a:solidFill>
          <a:ln/>
        </p:spPr>
      </p:sp>
      <p:pic>
        <p:nvPicPr>
          <p:cNvPr id="7" name="Image 1" descr="preencoded.png"/>
          <p:cNvPicPr>
            <a:picLocks noChangeAspect="1"/>
          </p:cNvPicPr>
          <p:nvPr/>
        </p:nvPicPr>
        <p:blipFill>
          <a:blip r:embed="rId4"/>
          <a:stretch>
            <a:fillRect/>
          </a:stretch>
        </p:blipFill>
        <p:spPr>
          <a:xfrm>
            <a:off x="672084" y="1636776"/>
            <a:ext cx="146304" cy="146304"/>
          </a:xfrm>
          <a:prstGeom prst="rect">
            <a:avLst/>
          </a:prstGeom>
        </p:spPr>
      </p:pic>
      <p:sp>
        <p:nvSpPr>
          <p:cNvPr id="8" name="Text 4"/>
          <p:cNvSpPr/>
          <p:nvPr/>
        </p:nvSpPr>
        <p:spPr>
          <a:xfrm>
            <a:off x="1005840" y="1481328"/>
            <a:ext cx="7543800" cy="457200"/>
          </a:xfrm>
          <a:prstGeom prst="rect">
            <a:avLst/>
          </a:prstGeom>
          <a:noFill/>
          <a:ln/>
        </p:spPr>
        <p:txBody>
          <a:bodyPr wrap="square" lIns="0" tIns="0" rIns="0" bIns="0" rtlCol="0" anchor="ctr"/>
          <a:lstStyle/>
          <a:p>
            <a:pPr marL="0" indent="0">
              <a:buNone/>
            </a:pPr>
            <a:r>
              <a:rPr lang="en-US" sz="1350" dirty="0">
                <a:solidFill>
                  <a:srgbClr val="3A3A3A"/>
                </a:solidFill>
                <a:latin typeface="Calibri" pitchFamily="34" charset="0"/>
                <a:ea typeface="Calibri" pitchFamily="34" charset="-122"/>
                <a:cs typeface="Calibri" pitchFamily="34" charset="-120"/>
              </a:rPr>
              <a:t>Classifying resumes of individuals into different skillsets.</a:t>
            </a:r>
            <a:endParaRPr lang="en-US" sz="1350" dirty="0"/>
          </a:p>
        </p:txBody>
      </p:sp>
      <p:sp>
        <p:nvSpPr>
          <p:cNvPr id="9" name="Shape 5"/>
          <p:cNvSpPr/>
          <p:nvPr/>
        </p:nvSpPr>
        <p:spPr>
          <a:xfrm>
            <a:off x="457200" y="2048256"/>
            <a:ext cx="8229600" cy="457200"/>
          </a:xfrm>
          <a:prstGeom prst="roundRect">
            <a:avLst>
              <a:gd name="adj" fmla="val 12000"/>
            </a:avLst>
          </a:prstGeom>
          <a:solidFill>
            <a:srgbClr val="E8F5EC"/>
          </a:solidFill>
          <a:ln/>
          <a:effectLst>
            <a:outerShdw blurRad="63500" dist="25400" dir="2700000" algn="bl" rotWithShape="0">
              <a:srgbClr val="000000">
                <a:alpha val="12000"/>
              </a:srgbClr>
            </a:outerShdw>
          </a:effectLst>
        </p:spPr>
      </p:sp>
      <p:sp>
        <p:nvSpPr>
          <p:cNvPr id="10" name="Shape 6"/>
          <p:cNvSpPr/>
          <p:nvPr/>
        </p:nvSpPr>
        <p:spPr>
          <a:xfrm>
            <a:off x="603504" y="2148840"/>
            <a:ext cx="256032" cy="256032"/>
          </a:xfrm>
          <a:prstGeom prst="ellipse">
            <a:avLst/>
          </a:prstGeom>
          <a:solidFill>
            <a:srgbClr val="1E7A3C"/>
          </a:solidFill>
          <a:ln/>
        </p:spPr>
      </p:sp>
      <p:pic>
        <p:nvPicPr>
          <p:cNvPr id="11" name="Image 2" descr="preencoded.png"/>
          <p:cNvPicPr>
            <a:picLocks noChangeAspect="1"/>
          </p:cNvPicPr>
          <p:nvPr/>
        </p:nvPicPr>
        <p:blipFill>
          <a:blip r:embed="rId5"/>
          <a:stretch>
            <a:fillRect/>
          </a:stretch>
        </p:blipFill>
        <p:spPr>
          <a:xfrm>
            <a:off x="672084" y="2203704"/>
            <a:ext cx="146304" cy="146304"/>
          </a:xfrm>
          <a:prstGeom prst="rect">
            <a:avLst/>
          </a:prstGeom>
        </p:spPr>
      </p:pic>
      <p:sp>
        <p:nvSpPr>
          <p:cNvPr id="12" name="Text 7"/>
          <p:cNvSpPr/>
          <p:nvPr/>
        </p:nvSpPr>
        <p:spPr>
          <a:xfrm>
            <a:off x="1005840" y="2048256"/>
            <a:ext cx="7543800" cy="457200"/>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Forecasting stock prices.</a:t>
            </a:r>
            <a:endParaRPr lang="en-US" sz="1350" dirty="0"/>
          </a:p>
        </p:txBody>
      </p:sp>
      <p:sp>
        <p:nvSpPr>
          <p:cNvPr id="13" name="Shape 8"/>
          <p:cNvSpPr/>
          <p:nvPr/>
        </p:nvSpPr>
        <p:spPr>
          <a:xfrm>
            <a:off x="457200" y="2615184"/>
            <a:ext cx="8229600" cy="457200"/>
          </a:xfrm>
          <a:prstGeom prst="roundRect">
            <a:avLst>
              <a:gd name="adj" fmla="val 12000"/>
            </a:avLst>
          </a:prstGeom>
          <a:solidFill>
            <a:srgbClr val="F4F4F6"/>
          </a:solidFill>
          <a:ln/>
        </p:spPr>
      </p:sp>
      <p:sp>
        <p:nvSpPr>
          <p:cNvPr id="14" name="Shape 9"/>
          <p:cNvSpPr/>
          <p:nvPr/>
        </p:nvSpPr>
        <p:spPr>
          <a:xfrm>
            <a:off x="603504" y="2715768"/>
            <a:ext cx="256032" cy="256032"/>
          </a:xfrm>
          <a:prstGeom prst="ellipse">
            <a:avLst/>
          </a:prstGeom>
          <a:solidFill>
            <a:srgbClr val="D9D9DC"/>
          </a:solidFill>
          <a:ln/>
        </p:spPr>
      </p:sp>
      <p:pic>
        <p:nvPicPr>
          <p:cNvPr id="15" name="Image 3" descr="preencoded.png"/>
          <p:cNvPicPr>
            <a:picLocks noChangeAspect="1"/>
          </p:cNvPicPr>
          <p:nvPr/>
        </p:nvPicPr>
        <p:blipFill>
          <a:blip r:embed="rId4"/>
          <a:stretch>
            <a:fillRect/>
          </a:stretch>
        </p:blipFill>
        <p:spPr>
          <a:xfrm>
            <a:off x="672084" y="2770632"/>
            <a:ext cx="146304" cy="146304"/>
          </a:xfrm>
          <a:prstGeom prst="rect">
            <a:avLst/>
          </a:prstGeom>
        </p:spPr>
      </p:pic>
      <p:sp>
        <p:nvSpPr>
          <p:cNvPr id="16" name="Text 10"/>
          <p:cNvSpPr/>
          <p:nvPr/>
        </p:nvSpPr>
        <p:spPr>
          <a:xfrm>
            <a:off x="1005840" y="2615184"/>
            <a:ext cx="7543800" cy="457200"/>
          </a:xfrm>
          <a:prstGeom prst="rect">
            <a:avLst/>
          </a:prstGeom>
          <a:noFill/>
          <a:ln/>
        </p:spPr>
        <p:txBody>
          <a:bodyPr wrap="square" lIns="0" tIns="0" rIns="0" bIns="0" rtlCol="0" anchor="ctr"/>
          <a:lstStyle/>
          <a:p>
            <a:pPr marL="0" indent="0">
              <a:buNone/>
            </a:pPr>
            <a:r>
              <a:rPr lang="en-US" sz="1350" dirty="0">
                <a:solidFill>
                  <a:srgbClr val="3A3A3A"/>
                </a:solidFill>
                <a:latin typeface="Calibri" pitchFamily="34" charset="0"/>
                <a:ea typeface="Calibri" pitchFamily="34" charset="-122"/>
                <a:cs typeface="Calibri" pitchFamily="34" charset="-120"/>
              </a:rPr>
              <a:t>Generating a summary of US – Iran war updates.</a:t>
            </a:r>
            <a:endParaRPr lang="en-US" sz="1350" dirty="0"/>
          </a:p>
        </p:txBody>
      </p:sp>
      <p:sp>
        <p:nvSpPr>
          <p:cNvPr id="17" name="Shape 11"/>
          <p:cNvSpPr/>
          <p:nvPr/>
        </p:nvSpPr>
        <p:spPr>
          <a:xfrm>
            <a:off x="457200" y="3182112"/>
            <a:ext cx="8229600" cy="457200"/>
          </a:xfrm>
          <a:prstGeom prst="roundRect">
            <a:avLst>
              <a:gd name="adj" fmla="val 12000"/>
            </a:avLst>
          </a:prstGeom>
          <a:solidFill>
            <a:srgbClr val="F4F4F6"/>
          </a:solidFill>
          <a:ln/>
        </p:spPr>
      </p:sp>
      <p:sp>
        <p:nvSpPr>
          <p:cNvPr id="18" name="Shape 12"/>
          <p:cNvSpPr/>
          <p:nvPr/>
        </p:nvSpPr>
        <p:spPr>
          <a:xfrm>
            <a:off x="603504" y="3282696"/>
            <a:ext cx="256032" cy="256032"/>
          </a:xfrm>
          <a:prstGeom prst="ellipse">
            <a:avLst/>
          </a:prstGeom>
          <a:solidFill>
            <a:srgbClr val="D9D9DC"/>
          </a:solidFill>
          <a:ln/>
        </p:spPr>
      </p:sp>
      <p:pic>
        <p:nvPicPr>
          <p:cNvPr id="19" name="Image 4" descr="preencoded.png"/>
          <p:cNvPicPr>
            <a:picLocks noChangeAspect="1"/>
          </p:cNvPicPr>
          <p:nvPr/>
        </p:nvPicPr>
        <p:blipFill>
          <a:blip r:embed="rId4"/>
          <a:stretch>
            <a:fillRect/>
          </a:stretch>
        </p:blipFill>
        <p:spPr>
          <a:xfrm>
            <a:off x="672084" y="3337560"/>
            <a:ext cx="146304" cy="146304"/>
          </a:xfrm>
          <a:prstGeom prst="rect">
            <a:avLst/>
          </a:prstGeom>
        </p:spPr>
      </p:pic>
      <p:sp>
        <p:nvSpPr>
          <p:cNvPr id="20" name="Text 13"/>
          <p:cNvSpPr/>
          <p:nvPr/>
        </p:nvSpPr>
        <p:spPr>
          <a:xfrm>
            <a:off x="1005840" y="3182112"/>
            <a:ext cx="7543800" cy="457200"/>
          </a:xfrm>
          <a:prstGeom prst="rect">
            <a:avLst/>
          </a:prstGeom>
          <a:noFill/>
          <a:ln/>
        </p:spPr>
        <p:txBody>
          <a:bodyPr wrap="square" lIns="0" tIns="0" rIns="0" bIns="0" rtlCol="0" anchor="ctr"/>
          <a:lstStyle/>
          <a:p>
            <a:pPr marL="0" indent="0">
              <a:buNone/>
            </a:pPr>
            <a:r>
              <a:rPr lang="en-US" sz="1350" dirty="0">
                <a:solidFill>
                  <a:srgbClr val="3A3A3A"/>
                </a:solidFill>
                <a:latin typeface="Calibri" pitchFamily="34" charset="0"/>
                <a:ea typeface="Calibri" pitchFamily="34" charset="-122"/>
                <a:cs typeface="Calibri" pitchFamily="34" charset="-120"/>
              </a:rPr>
              <a:t>Creating a resume for a job application.</a:t>
            </a:r>
            <a:endParaRPr lang="en-US" sz="1350" dirty="0"/>
          </a:p>
        </p:txBody>
      </p:sp>
      <p:sp>
        <p:nvSpPr>
          <p:cNvPr id="21" name="Shape 14"/>
          <p:cNvSpPr/>
          <p:nvPr/>
        </p:nvSpPr>
        <p:spPr>
          <a:xfrm>
            <a:off x="457200" y="3803904"/>
            <a:ext cx="8229600" cy="996696"/>
          </a:xfrm>
          <a:prstGeom prst="roundRect">
            <a:avLst>
              <a:gd name="adj" fmla="val 5505"/>
            </a:avLst>
          </a:prstGeom>
          <a:solidFill>
            <a:srgbClr val="F5F6FA"/>
          </a:solidFill>
          <a:ln/>
        </p:spPr>
      </p:sp>
      <p:sp>
        <p:nvSpPr>
          <p:cNvPr id="22" name="Text 15"/>
          <p:cNvSpPr/>
          <p:nvPr/>
        </p:nvSpPr>
        <p:spPr>
          <a:xfrm>
            <a:off x="640080" y="3931920"/>
            <a:ext cx="7863840" cy="740664"/>
          </a:xfrm>
          <a:prstGeom prst="rect">
            <a:avLst/>
          </a:prstGeom>
          <a:noFill/>
          <a:ln/>
        </p:spPr>
        <p:txBody>
          <a:bodyPr wrap="square" lIns="0" tIns="0" rIns="0" bIns="0" rtlCol="0" anchor="t"/>
          <a:lstStyle/>
          <a:p>
            <a:pPr marL="0" indent="0">
              <a:lnSpc>
                <a:spcPct val="115000"/>
              </a:lnSpc>
              <a:buNone/>
            </a:pPr>
            <a:r>
              <a:rPr lang="en-US" sz="1300" b="1" dirty="0">
                <a:solidFill>
                  <a:srgbClr val="1E2761"/>
                </a:solidFill>
                <a:latin typeface="Calibri" pitchFamily="34" charset="0"/>
                <a:ea typeface="Calibri" pitchFamily="34" charset="-122"/>
                <a:cs typeface="Calibri" pitchFamily="34" charset="-120"/>
              </a:rPr>
              <a:t>Why: </a:t>
            </a:r>
            <a:r>
              <a:rPr lang="en-US" sz="1300" dirty="0">
                <a:solidFill>
                  <a:srgbClr val="2E2E2E"/>
                </a:solidFill>
                <a:latin typeface="Calibri" pitchFamily="34" charset="0"/>
                <a:ea typeface="Calibri" pitchFamily="34" charset="-122"/>
                <a:cs typeface="Calibri" pitchFamily="34" charset="-120"/>
              </a:rPr>
              <a:t>Forecasting stock prices is a quantitative time-series prediction task — it depends on modelling numerical patterns, volatility, and market signals over time, not on reasoning over or generating language. LLMs are prompted with text and produce text; they have no real access to live market data and no built-in numerical forecasting mechanism, so prompting alone cannot reliably predict future prices. The other three tasks (classification, summarization, generation) are all language-understanding or language-generation tasks that LLMs are well suited to handle via prompting.</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DE35840E-3270-827B-D7CD-F4139394E2D6}"/>
            </a:ext>
          </a:extLst>
        </p:cNvPr>
        <p:cNvGrpSpPr/>
        <p:nvPr/>
      </p:nvGrpSpPr>
      <p:grpSpPr>
        <a:xfrm>
          <a:off x="0" y="0"/>
          <a:ext cx="0" cy="0"/>
          <a:chOff x="0" y="0"/>
          <a:chExt cx="0" cy="0"/>
        </a:xfrm>
      </p:grpSpPr>
      <p:pic>
        <p:nvPicPr>
          <p:cNvPr id="109" name="Google Shape;109;p20">
            <a:extLst>
              <a:ext uri="{FF2B5EF4-FFF2-40B4-BE49-F238E27FC236}">
                <a16:creationId xmlns:a16="http://schemas.microsoft.com/office/drawing/2014/main" id="{236E8D76-CEBE-98EA-DDF4-5CDE57EBE8C5}"/>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
        <p:nvSpPr>
          <p:cNvPr id="110" name="Google Shape;110;p20">
            <a:extLst>
              <a:ext uri="{FF2B5EF4-FFF2-40B4-BE49-F238E27FC236}">
                <a16:creationId xmlns:a16="http://schemas.microsoft.com/office/drawing/2014/main" id="{92DEE216-CB31-1966-EE9D-DAA882283314}"/>
              </a:ext>
            </a:extLst>
          </p:cNvPr>
          <p:cNvSpPr txBox="1">
            <a:spLocks noGrp="1"/>
          </p:cNvSpPr>
          <p:nvPr>
            <p:ph type="ctrTitle" idx="4294967295"/>
          </p:nvPr>
        </p:nvSpPr>
        <p:spPr>
          <a:xfrm>
            <a:off x="418813" y="1507259"/>
            <a:ext cx="7772400" cy="8673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C00000"/>
              </a:buClr>
              <a:buSzPts val="4400"/>
              <a:buFont typeface="Calibri"/>
              <a:buNone/>
            </a:pPr>
            <a:r>
              <a:rPr lang="en" sz="4000" b="1" dirty="0"/>
              <a:t>Tool Calling and </a:t>
            </a:r>
            <a:r>
              <a:rPr lang="en" sz="4000" b="1" dirty="0">
                <a:sym typeface="Calibri"/>
              </a:rPr>
              <a:t>Structured Outputs </a:t>
            </a:r>
            <a:endParaRPr sz="4000" dirty="0">
              <a:latin typeface="Calibri"/>
              <a:ea typeface="Calibri"/>
              <a:cs typeface="Calibri"/>
              <a:sym typeface="Calibri"/>
            </a:endParaRPr>
          </a:p>
        </p:txBody>
      </p:sp>
      <p:sp>
        <p:nvSpPr>
          <p:cNvPr id="3" name="TextBox 2">
            <a:extLst>
              <a:ext uri="{FF2B5EF4-FFF2-40B4-BE49-F238E27FC236}">
                <a16:creationId xmlns:a16="http://schemas.microsoft.com/office/drawing/2014/main" id="{86274D93-7708-584D-0CB7-D334A924AFAE}"/>
              </a:ext>
            </a:extLst>
          </p:cNvPr>
          <p:cNvSpPr txBox="1"/>
          <p:nvPr/>
        </p:nvSpPr>
        <p:spPr>
          <a:xfrm>
            <a:off x="2957884" y="2768942"/>
            <a:ext cx="3399183" cy="400110"/>
          </a:xfrm>
          <a:prstGeom prst="rect">
            <a:avLst/>
          </a:prstGeom>
          <a:noFill/>
        </p:spPr>
        <p:txBody>
          <a:bodyPr wrap="square" rtlCol="0">
            <a:spAutoFit/>
          </a:bodyPr>
          <a:lstStyle/>
          <a:p>
            <a:r>
              <a:rPr lang="en-US" sz="2000" dirty="0">
                <a:solidFill>
                  <a:srgbClr val="1A1F36"/>
                </a:solidFill>
                <a:latin typeface="Calibri"/>
              </a:rPr>
              <a:t>Output Validation</a:t>
            </a:r>
          </a:p>
        </p:txBody>
      </p:sp>
    </p:spTree>
    <p:extLst>
      <p:ext uri="{BB962C8B-B14F-4D97-AF65-F5344CB8AC3E}">
        <p14:creationId xmlns:p14="http://schemas.microsoft.com/office/powerpoint/2010/main" val="40705400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7" name="Google Shape;297;p29"/>
          <p:cNvSpPr/>
          <p:nvPr/>
        </p:nvSpPr>
        <p:spPr>
          <a:xfrm>
            <a:off x="0" y="502920"/>
            <a:ext cx="9144000" cy="36600"/>
          </a:xfrm>
          <a:prstGeom prst="rect">
            <a:avLst/>
          </a:prstGeom>
          <a:solidFill>
            <a:srgbClr val="FFFFFF"/>
          </a:solidFill>
          <a:ln w="127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98" name="Google Shape;298;p29" descr="preencoded.png"/>
          <p:cNvPicPr preferRelativeResize="0"/>
          <p:nvPr/>
        </p:nvPicPr>
        <p:blipFill rotWithShape="1">
          <a:blip r:embed="rId3">
            <a:alphaModFix/>
          </a:blip>
          <a:srcRect/>
          <a:stretch/>
        </p:blipFill>
        <p:spPr>
          <a:xfrm>
            <a:off x="274320" y="64008"/>
            <a:ext cx="365760" cy="365760"/>
          </a:xfrm>
          <a:prstGeom prst="rect">
            <a:avLst/>
          </a:prstGeom>
          <a:noFill/>
          <a:ln>
            <a:noFill/>
          </a:ln>
        </p:spPr>
      </p:pic>
      <p:sp>
        <p:nvSpPr>
          <p:cNvPr id="299" name="Google Shape;299;p29"/>
          <p:cNvSpPr/>
          <p:nvPr/>
        </p:nvSpPr>
        <p:spPr>
          <a:xfrm>
            <a:off x="571500" y="210318"/>
            <a:ext cx="7315200" cy="4389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1200"/>
              </a:spcBef>
              <a:spcAft>
                <a:spcPts val="1200"/>
              </a:spcAft>
              <a:buClr>
                <a:schemeClr val="dk1"/>
              </a:buClr>
              <a:buSzPts val="1100"/>
              <a:buFont typeface="Arial"/>
              <a:buNone/>
            </a:pPr>
            <a:r>
              <a:rPr lang="en" sz="2300" b="1" dirty="0">
                <a:solidFill>
                  <a:srgbClr val="1E2761"/>
                </a:solidFill>
                <a:latin typeface="Georgia"/>
              </a:rPr>
              <a:t>Tool Calling </a:t>
            </a:r>
            <a:endParaRPr sz="2300" b="1" dirty="0">
              <a:solidFill>
                <a:schemeClr val="tx1"/>
              </a:solidFill>
              <a:latin typeface="Calibri"/>
              <a:ea typeface="Calibri"/>
              <a:cs typeface="Calibri"/>
              <a:sym typeface="Calibri"/>
            </a:endParaRPr>
          </a:p>
        </p:txBody>
      </p:sp>
      <p:sp>
        <p:nvSpPr>
          <p:cNvPr id="300" name="Google Shape;300;p29"/>
          <p:cNvSpPr txBox="1"/>
          <p:nvPr/>
        </p:nvSpPr>
        <p:spPr>
          <a:xfrm>
            <a:off x="274320" y="867174"/>
            <a:ext cx="6264600" cy="92329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dirty="0">
                <a:solidFill>
                  <a:srgbClr val="1A1F36"/>
                </a:solidFill>
                <a:latin typeface="Calibri"/>
              </a:rPr>
              <a:t>Model can call external functions via structured outputs</a:t>
            </a:r>
            <a:endParaRPr sz="1600" dirty="0"/>
          </a:p>
          <a:p>
            <a:pPr marL="0" lvl="0" indent="0" algn="l" rtl="0">
              <a:spcBef>
                <a:spcPts val="0"/>
              </a:spcBef>
              <a:spcAft>
                <a:spcPts val="0"/>
              </a:spcAft>
              <a:buNone/>
            </a:pPr>
            <a:endParaRPr lang="en" sz="1600" dirty="0"/>
          </a:p>
          <a:p>
            <a:pPr marL="0" lvl="0" indent="0" algn="l" rtl="0">
              <a:spcBef>
                <a:spcPts val="0"/>
              </a:spcBef>
              <a:spcAft>
                <a:spcPts val="0"/>
              </a:spcAft>
              <a:buNone/>
            </a:pPr>
            <a:r>
              <a:rPr lang="en" sz="1600" dirty="0">
                <a:solidFill>
                  <a:srgbClr val="1A1F36"/>
                </a:solidFill>
                <a:latin typeface="Calibri"/>
              </a:rPr>
              <a:t>Converts natural language → function arguments</a:t>
            </a:r>
            <a:endParaRPr sz="1600" dirty="0"/>
          </a:p>
        </p:txBody>
      </p:sp>
      <p:sp>
        <p:nvSpPr>
          <p:cNvPr id="301" name="Google Shape;301;p29"/>
          <p:cNvSpPr txBox="1"/>
          <p:nvPr/>
        </p:nvSpPr>
        <p:spPr>
          <a:xfrm>
            <a:off x="571500" y="1734877"/>
            <a:ext cx="6533400" cy="952538"/>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200" b="1" dirty="0">
                <a:solidFill>
                  <a:srgbClr val="1A1F36"/>
                </a:solidFill>
                <a:latin typeface="Calibri"/>
              </a:rPr>
              <a:t>Flow:</a:t>
            </a:r>
            <a:endParaRPr sz="1200" b="1" dirty="0">
              <a:solidFill>
                <a:schemeClr val="dk1"/>
              </a:solidFill>
            </a:endParaRPr>
          </a:p>
          <a:p>
            <a:pPr marL="457200" lvl="0" indent="-317500" algn="l" rtl="0">
              <a:lnSpc>
                <a:spcPct val="115000"/>
              </a:lnSpc>
              <a:spcBef>
                <a:spcPts val="1200"/>
              </a:spcBef>
              <a:spcAft>
                <a:spcPts val="0"/>
              </a:spcAft>
              <a:buClr>
                <a:schemeClr val="dk1"/>
              </a:buClr>
              <a:buSzPts val="1400"/>
              <a:buChar char="●"/>
            </a:pPr>
            <a:r>
              <a:rPr lang="en" dirty="0">
                <a:solidFill>
                  <a:srgbClr val="1A1F36"/>
                </a:solidFill>
                <a:latin typeface="Calibri"/>
              </a:rPr>
              <a:t>User query  →  Model  →  Tool selection  →  Function call  →  Response</a:t>
            </a:r>
            <a:endParaRPr dirty="0">
              <a:solidFill>
                <a:schemeClr val="dk1"/>
              </a:solidFill>
            </a:endParaRPr>
          </a:p>
        </p:txBody>
      </p:sp>
      <p:sp>
        <p:nvSpPr>
          <p:cNvPr id="302" name="Google Shape;302;p29"/>
          <p:cNvSpPr txBox="1"/>
          <p:nvPr/>
        </p:nvSpPr>
        <p:spPr>
          <a:xfrm>
            <a:off x="640080" y="2658176"/>
            <a:ext cx="5204700" cy="1545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b="1" dirty="0">
                <a:solidFill>
                  <a:srgbClr val="1A1F36"/>
                </a:solidFill>
                <a:latin typeface="Calibri"/>
              </a:rPr>
              <a:t>Key Features:</a:t>
            </a:r>
            <a:endParaRPr b="1" dirty="0">
              <a:solidFill>
                <a:schemeClr val="dk1"/>
              </a:solidFill>
            </a:endParaRPr>
          </a:p>
          <a:p>
            <a:pPr marL="457200" lvl="0" indent="-317500" algn="l" rtl="0">
              <a:lnSpc>
                <a:spcPct val="115000"/>
              </a:lnSpc>
              <a:spcBef>
                <a:spcPts val="1200"/>
              </a:spcBef>
              <a:spcAft>
                <a:spcPts val="0"/>
              </a:spcAft>
              <a:buClr>
                <a:schemeClr val="dk1"/>
              </a:buClr>
              <a:buSzPts val="1400"/>
              <a:buChar char="●"/>
            </a:pPr>
            <a:r>
              <a:rPr lang="en" dirty="0">
                <a:solidFill>
                  <a:srgbClr val="1A1F36"/>
                </a:solidFill>
                <a:latin typeface="Calibri"/>
              </a:rPr>
              <a:t>JSON schema-based inputs</a:t>
            </a:r>
            <a:endParaRPr dirty="0">
              <a:solidFill>
                <a:schemeClr val="dk1"/>
              </a:solidFill>
            </a:endParaRPr>
          </a:p>
          <a:p>
            <a:pPr marL="457200" lvl="0" indent="-317500" algn="l" rtl="0">
              <a:lnSpc>
                <a:spcPct val="115000"/>
              </a:lnSpc>
              <a:spcBef>
                <a:spcPts val="0"/>
              </a:spcBef>
              <a:spcAft>
                <a:spcPts val="0"/>
              </a:spcAft>
              <a:buClr>
                <a:schemeClr val="dk1"/>
              </a:buClr>
              <a:buSzPts val="1400"/>
              <a:buChar char="●"/>
            </a:pPr>
            <a:r>
              <a:rPr lang="en" dirty="0">
                <a:solidFill>
                  <a:srgbClr val="1A1F36"/>
                </a:solidFill>
                <a:latin typeface="Calibri"/>
              </a:rPr>
              <a:t>Automatic tool selection</a:t>
            </a:r>
            <a:endParaRPr dirty="0">
              <a:solidFill>
                <a:schemeClr val="dk1"/>
              </a:solidFill>
            </a:endParaRPr>
          </a:p>
          <a:p>
            <a:pPr marL="457200" lvl="0" indent="-317500" algn="l" rtl="0">
              <a:lnSpc>
                <a:spcPct val="115000"/>
              </a:lnSpc>
              <a:spcBef>
                <a:spcPts val="0"/>
              </a:spcBef>
              <a:spcAft>
                <a:spcPts val="0"/>
              </a:spcAft>
              <a:buClr>
                <a:schemeClr val="dk1"/>
              </a:buClr>
              <a:buSzPts val="1400"/>
              <a:buChar char="●"/>
            </a:pPr>
            <a:r>
              <a:rPr lang="en" dirty="0">
                <a:solidFill>
                  <a:srgbClr val="1A1F36"/>
                </a:solidFill>
                <a:latin typeface="Calibri"/>
              </a:rPr>
              <a:t>Reliable structured outputs</a:t>
            </a:r>
            <a:endParaRPr dirty="0">
              <a:solidFill>
                <a:schemeClr val="dk1"/>
              </a:solidFill>
            </a:endParaRPr>
          </a:p>
          <a:p>
            <a:pPr marL="457200" lvl="0" indent="-317500" algn="l" rtl="0">
              <a:lnSpc>
                <a:spcPct val="115000"/>
              </a:lnSpc>
              <a:spcBef>
                <a:spcPts val="0"/>
              </a:spcBef>
              <a:spcAft>
                <a:spcPts val="0"/>
              </a:spcAft>
              <a:buClr>
                <a:schemeClr val="dk1"/>
              </a:buClr>
              <a:buSzPts val="1400"/>
              <a:buChar char="●"/>
            </a:pPr>
            <a:r>
              <a:rPr lang="en" dirty="0">
                <a:solidFill>
                  <a:srgbClr val="1A1F36"/>
                </a:solidFill>
                <a:latin typeface="Calibri"/>
              </a:rPr>
              <a:t>Integrates APIs · databases · services </a:t>
            </a:r>
            <a:endParaRPr dirty="0">
              <a:solidFill>
                <a:schemeClr val="dk1"/>
              </a:solidFill>
            </a:endParaRPr>
          </a:p>
        </p:txBody>
      </p:sp>
      <p:pic>
        <p:nvPicPr>
          <p:cNvPr id="2" name="Google Shape;109;p20">
            <a:extLst>
              <a:ext uri="{FF2B5EF4-FFF2-40B4-BE49-F238E27FC236}">
                <a16:creationId xmlns:a16="http://schemas.microsoft.com/office/drawing/2014/main" id="{E599199B-AA73-436D-551D-F555F35018A0}"/>
              </a:ext>
            </a:extLst>
          </p:cNvPr>
          <p:cNvPicPr preferRelativeResize="0"/>
          <p:nvPr/>
        </p:nvPicPr>
        <p:blipFill>
          <a:blip r:embed="rId4">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13572562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66" name="Google Shape;166;p19"/>
          <p:cNvSpPr/>
          <p:nvPr/>
        </p:nvSpPr>
        <p:spPr>
          <a:xfrm>
            <a:off x="320040" y="2697480"/>
            <a:ext cx="3931800" cy="2286000"/>
          </a:xfrm>
          <a:prstGeom prst="rect">
            <a:avLst/>
          </a:prstGeom>
          <a:solidFill>
            <a:srgbClr val="0F172A"/>
          </a:solidFill>
          <a:ln w="12700" cap="flat" cmpd="sng">
            <a:solidFill>
              <a:srgbClr val="1E3A5F"/>
            </a:solidFill>
            <a:prstDash val="solid"/>
            <a:round/>
            <a:headEnd type="none" w="sm" len="sm"/>
            <a:tailEnd type="none" w="sm" len="sm"/>
          </a:ln>
          <a:effectLst>
            <a:outerShdw blurRad="76200" dist="25400" dir="8100000" algn="bl" rotWithShape="0">
              <a:srgbClr val="94A3B8">
                <a:alpha val="149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19"/>
          <p:cNvSpPr/>
          <p:nvPr/>
        </p:nvSpPr>
        <p:spPr>
          <a:xfrm>
            <a:off x="0" y="502920"/>
            <a:ext cx="9144000" cy="36600"/>
          </a:xfrm>
          <a:prstGeom prst="rect">
            <a:avLst/>
          </a:prstGeom>
          <a:solidFill>
            <a:srgbClr val="FFFFFF"/>
          </a:solidFill>
          <a:ln w="127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60" name="Google Shape;160;p19" descr="preencoded.png"/>
          <p:cNvPicPr preferRelativeResize="0"/>
          <p:nvPr/>
        </p:nvPicPr>
        <p:blipFill rotWithShape="1">
          <a:blip r:embed="rId3">
            <a:alphaModFix/>
          </a:blip>
          <a:srcRect/>
          <a:stretch/>
        </p:blipFill>
        <p:spPr>
          <a:xfrm>
            <a:off x="274320" y="64008"/>
            <a:ext cx="365760" cy="365760"/>
          </a:xfrm>
          <a:prstGeom prst="rect">
            <a:avLst/>
          </a:prstGeom>
          <a:noFill/>
          <a:ln>
            <a:noFill/>
          </a:ln>
        </p:spPr>
      </p:pic>
      <p:sp>
        <p:nvSpPr>
          <p:cNvPr id="161" name="Google Shape;161;p19"/>
          <p:cNvSpPr/>
          <p:nvPr/>
        </p:nvSpPr>
        <p:spPr>
          <a:xfrm>
            <a:off x="777240" y="45720"/>
            <a:ext cx="7315200" cy="438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000"/>
              <a:buFont typeface="Calibri"/>
              <a:buNone/>
            </a:pPr>
            <a:r>
              <a:rPr lang="en" sz="2400" b="1" dirty="0">
                <a:solidFill>
                  <a:srgbClr val="1E2761"/>
                </a:solidFill>
                <a:sym typeface="Calibri"/>
              </a:rPr>
              <a:t>OpenAI API</a:t>
            </a:r>
            <a:endParaRPr sz="2400" dirty="0">
              <a:solidFill>
                <a:schemeClr val="tx1"/>
              </a:solidFill>
              <a:latin typeface="Calibri"/>
              <a:ea typeface="Calibri"/>
              <a:cs typeface="Calibri"/>
              <a:sym typeface="Calibri"/>
            </a:endParaRPr>
          </a:p>
        </p:txBody>
      </p:sp>
      <p:sp>
        <p:nvSpPr>
          <p:cNvPr id="162" name="Google Shape;162;p19"/>
          <p:cNvSpPr/>
          <p:nvPr/>
        </p:nvSpPr>
        <p:spPr>
          <a:xfrm>
            <a:off x="274320" y="678248"/>
            <a:ext cx="4051190" cy="274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64748B"/>
              </a:buClr>
              <a:buSzPts val="1000"/>
              <a:buFont typeface="Calibri"/>
              <a:buNone/>
            </a:pPr>
            <a:r>
              <a:rPr lang="en" dirty="0">
                <a:solidFill>
                  <a:srgbClr val="1A1F36"/>
                </a:solidFill>
                <a:sym typeface="Calibri"/>
              </a:rPr>
              <a:t>GPT- 4*, 5* — the industry-standard REST API</a:t>
            </a:r>
            <a:endParaRPr dirty="0">
              <a:solidFill>
                <a:schemeClr val="dk1"/>
              </a:solidFill>
              <a:latin typeface="Calibri"/>
              <a:ea typeface="Calibri"/>
              <a:cs typeface="Calibri"/>
              <a:sym typeface="Calibri"/>
            </a:endParaRPr>
          </a:p>
        </p:txBody>
      </p:sp>
      <p:grpSp>
        <p:nvGrpSpPr>
          <p:cNvPr id="3" name="Group 2">
            <a:extLst>
              <a:ext uri="{FF2B5EF4-FFF2-40B4-BE49-F238E27FC236}">
                <a16:creationId xmlns:a16="http://schemas.microsoft.com/office/drawing/2014/main" id="{706A6C05-6ABE-C125-1441-C74EFE38CF78}"/>
              </a:ext>
            </a:extLst>
          </p:cNvPr>
          <p:cNvGrpSpPr/>
          <p:nvPr/>
        </p:nvGrpSpPr>
        <p:grpSpPr>
          <a:xfrm>
            <a:off x="471114" y="999879"/>
            <a:ext cx="3200400" cy="1302893"/>
            <a:chOff x="320040" y="1111195"/>
            <a:chExt cx="3200400" cy="1302893"/>
          </a:xfrm>
        </p:grpSpPr>
        <p:sp>
          <p:nvSpPr>
            <p:cNvPr id="163" name="Google Shape;163;p19"/>
            <p:cNvSpPr/>
            <p:nvPr/>
          </p:nvSpPr>
          <p:spPr>
            <a:xfrm>
              <a:off x="320040" y="1111195"/>
              <a:ext cx="32004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172A"/>
                </a:buClr>
                <a:buSzPts val="1000"/>
                <a:buFont typeface="Calibri"/>
                <a:buNone/>
              </a:pPr>
              <a:r>
                <a:rPr lang="en" b="1" dirty="0">
                  <a:solidFill>
                    <a:srgbClr val="0F172A"/>
                  </a:solidFill>
                  <a:sym typeface="Calibri"/>
                </a:rPr>
                <a:t>Key Features</a:t>
              </a:r>
              <a:endParaRPr dirty="0">
                <a:solidFill>
                  <a:schemeClr val="dk1"/>
                </a:solidFill>
                <a:latin typeface="Calibri"/>
                <a:ea typeface="Calibri"/>
                <a:cs typeface="Calibri"/>
                <a:sym typeface="Calibri"/>
              </a:endParaRPr>
            </a:p>
          </p:txBody>
        </p:sp>
        <p:sp>
          <p:nvSpPr>
            <p:cNvPr id="164" name="Google Shape;164;p19"/>
            <p:cNvSpPr/>
            <p:nvPr/>
          </p:nvSpPr>
          <p:spPr>
            <a:xfrm>
              <a:off x="320040" y="1385515"/>
              <a:ext cx="3200400" cy="1028573"/>
            </a:xfrm>
            <a:prstGeom prst="rect">
              <a:avLst/>
            </a:prstGeom>
            <a:noFill/>
            <a:ln>
              <a:noFill/>
            </a:ln>
          </p:spPr>
          <p:txBody>
            <a:bodyPr spcFirstLastPara="1" wrap="square" lIns="0" tIns="0" rIns="0" bIns="0" anchor="t" anchorCtr="0">
              <a:noAutofit/>
            </a:bodyPr>
            <a:lstStyle/>
            <a:p>
              <a:pPr marL="342900" marR="0" lvl="0" indent="-342900" algn="l" rtl="0">
                <a:spcBef>
                  <a:spcPts val="0"/>
                </a:spcBef>
                <a:spcAft>
                  <a:spcPts val="0"/>
                </a:spcAft>
                <a:buClr>
                  <a:srgbClr val="1E293B"/>
                </a:buClr>
                <a:buSzPts val="950"/>
                <a:buFont typeface="Calibri"/>
                <a:buChar char="•"/>
              </a:pPr>
              <a:r>
                <a:rPr lang="en" sz="1200" dirty="0">
                  <a:solidFill>
                    <a:srgbClr val="1A1F36"/>
                  </a:solidFill>
                  <a:sym typeface="Calibri"/>
                </a:rPr>
                <a:t>Proprietary · Pay-per-token</a:t>
              </a:r>
              <a:endParaRPr sz="1200" dirty="0">
                <a:solidFill>
                  <a:schemeClr val="dk1"/>
                </a:solidFill>
                <a:latin typeface="Calibri"/>
                <a:ea typeface="Calibri"/>
                <a:cs typeface="Calibri"/>
                <a:sym typeface="Calibri"/>
              </a:endParaRPr>
            </a:p>
            <a:p>
              <a:pPr marL="342900" marR="0" lvl="0" indent="-342900" algn="l" rtl="0">
                <a:spcBef>
                  <a:spcPts val="0"/>
                </a:spcBef>
                <a:spcAft>
                  <a:spcPts val="0"/>
                </a:spcAft>
                <a:buClr>
                  <a:srgbClr val="1E293B"/>
                </a:buClr>
                <a:buSzPts val="950"/>
                <a:buFont typeface="Calibri"/>
                <a:buChar char="•"/>
              </a:pPr>
              <a:r>
                <a:rPr lang="en" sz="1200" dirty="0">
                  <a:solidFill>
                    <a:srgbClr val="1A1F36"/>
                  </a:solidFill>
                  <a:sym typeface="Calibri"/>
                </a:rPr>
                <a:t>JSON mode &amp; Structured Outputs</a:t>
              </a:r>
              <a:endParaRPr sz="1200" dirty="0">
                <a:solidFill>
                  <a:schemeClr val="dk1"/>
                </a:solidFill>
                <a:latin typeface="Calibri"/>
                <a:ea typeface="Calibri"/>
                <a:cs typeface="Calibri"/>
                <a:sym typeface="Calibri"/>
              </a:endParaRPr>
            </a:p>
            <a:p>
              <a:pPr marL="342900" marR="0" lvl="0" indent="-342900" algn="l" rtl="0">
                <a:spcBef>
                  <a:spcPts val="0"/>
                </a:spcBef>
                <a:spcAft>
                  <a:spcPts val="0"/>
                </a:spcAft>
                <a:buClr>
                  <a:srgbClr val="1E293B"/>
                </a:buClr>
                <a:buSzPts val="950"/>
                <a:buFont typeface="Calibri"/>
                <a:buChar char="•"/>
              </a:pPr>
              <a:r>
                <a:rPr lang="en" sz="1200" dirty="0">
                  <a:solidFill>
                    <a:srgbClr val="1A1F36"/>
                  </a:solidFill>
                  <a:sym typeface="Calibri"/>
                </a:rPr>
                <a:t>Function / tool calling</a:t>
              </a:r>
              <a:endParaRPr sz="1200" dirty="0">
                <a:solidFill>
                  <a:schemeClr val="dk1"/>
                </a:solidFill>
                <a:latin typeface="Calibri"/>
                <a:ea typeface="Calibri"/>
                <a:cs typeface="Calibri"/>
                <a:sym typeface="Calibri"/>
              </a:endParaRPr>
            </a:p>
            <a:p>
              <a:pPr marL="342900" marR="0" lvl="0" indent="-342900" algn="l" rtl="0">
                <a:spcBef>
                  <a:spcPts val="0"/>
                </a:spcBef>
                <a:spcAft>
                  <a:spcPts val="0"/>
                </a:spcAft>
                <a:buClr>
                  <a:srgbClr val="1E293B"/>
                </a:buClr>
                <a:buSzPts val="950"/>
                <a:buFont typeface="Calibri"/>
                <a:buChar char="•"/>
              </a:pPr>
              <a:r>
                <a:rPr lang="en" sz="1200" dirty="0">
                  <a:solidFill>
                    <a:srgbClr val="1A1F36"/>
                  </a:solidFill>
                  <a:sym typeface="Calibri"/>
                </a:rPr>
                <a:t>Vision, audio, embeddings</a:t>
              </a:r>
              <a:endParaRPr sz="1200" dirty="0">
                <a:solidFill>
                  <a:schemeClr val="dk1"/>
                </a:solidFill>
                <a:latin typeface="Calibri"/>
                <a:ea typeface="Calibri"/>
                <a:cs typeface="Calibri"/>
                <a:sym typeface="Calibri"/>
              </a:endParaRPr>
            </a:p>
            <a:p>
              <a:pPr marL="342900" marR="0" lvl="0" indent="-342900" algn="l" rtl="0">
                <a:spcBef>
                  <a:spcPts val="0"/>
                </a:spcBef>
                <a:spcAft>
                  <a:spcPts val="0"/>
                </a:spcAft>
                <a:buClr>
                  <a:srgbClr val="1E293B"/>
                </a:buClr>
                <a:buSzPts val="950"/>
                <a:buFont typeface="Calibri"/>
                <a:buChar char="•"/>
              </a:pPr>
              <a:r>
                <a:rPr lang="en" sz="1200" dirty="0">
                  <a:solidFill>
                    <a:srgbClr val="1A1F36"/>
                  </a:solidFill>
                  <a:sym typeface="Calibri"/>
                </a:rPr>
                <a:t>Fine-tuning support</a:t>
              </a:r>
              <a:endParaRPr sz="1200" dirty="0">
                <a:solidFill>
                  <a:schemeClr val="dk1"/>
                </a:solidFill>
                <a:latin typeface="Calibri"/>
                <a:ea typeface="Calibri"/>
                <a:cs typeface="Calibri"/>
                <a:sym typeface="Calibri"/>
              </a:endParaRPr>
            </a:p>
          </p:txBody>
        </p:sp>
      </p:grpSp>
      <p:sp>
        <p:nvSpPr>
          <p:cNvPr id="165" name="Google Shape;165;p19"/>
          <p:cNvSpPr/>
          <p:nvPr/>
        </p:nvSpPr>
        <p:spPr>
          <a:xfrm>
            <a:off x="320040" y="2487168"/>
            <a:ext cx="3931800" cy="201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900"/>
              <a:buFont typeface="Calibri"/>
              <a:buNone/>
            </a:pPr>
            <a:r>
              <a:rPr lang="en" sz="1200" b="1" dirty="0">
                <a:solidFill>
                  <a:srgbClr val="1A1F36"/>
                </a:solidFill>
                <a:sym typeface="Calibri"/>
              </a:rPr>
              <a:t>Basic Chat Completion</a:t>
            </a:r>
            <a:endParaRPr sz="1200" dirty="0">
              <a:solidFill>
                <a:schemeClr val="dk1"/>
              </a:solidFill>
              <a:latin typeface="Calibri"/>
              <a:ea typeface="Calibri"/>
              <a:cs typeface="Calibri"/>
              <a:sym typeface="Calibri"/>
            </a:endParaRPr>
          </a:p>
        </p:txBody>
      </p:sp>
      <p:sp>
        <p:nvSpPr>
          <p:cNvPr id="171" name="Google Shape;171;p19"/>
          <p:cNvSpPr/>
          <p:nvPr/>
        </p:nvSpPr>
        <p:spPr>
          <a:xfrm>
            <a:off x="393192" y="2872864"/>
            <a:ext cx="3785700" cy="206496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7DD3FC"/>
              </a:buClr>
              <a:buSzPts val="850"/>
              <a:buFont typeface="Consolas"/>
              <a:buNone/>
            </a:pPr>
            <a:r>
              <a:rPr lang="en" sz="1000" dirty="0">
                <a:solidFill>
                  <a:srgbClr val="7DD3FC"/>
                </a:solidFill>
                <a:sym typeface="Consolas"/>
              </a:rPr>
              <a:t>from</a:t>
            </a:r>
            <a:r>
              <a:rPr lang="en" sz="1000" dirty="0">
                <a:solidFill>
                  <a:srgbClr val="E2E8F0"/>
                </a:solidFill>
                <a:sym typeface="Consolas"/>
              </a:rPr>
              <a:t> </a:t>
            </a:r>
            <a:r>
              <a:rPr lang="en" sz="1000" dirty="0" err="1">
                <a:solidFill>
                  <a:srgbClr val="E2E8F0"/>
                </a:solidFill>
                <a:sym typeface="Consolas"/>
              </a:rPr>
              <a:t>openai</a:t>
            </a:r>
            <a:r>
              <a:rPr lang="en" sz="1000" dirty="0">
                <a:solidFill>
                  <a:srgbClr val="E2E8F0"/>
                </a:solidFill>
                <a:sym typeface="Consolas"/>
              </a:rPr>
              <a:t> </a:t>
            </a:r>
            <a:r>
              <a:rPr lang="en" sz="1000" dirty="0">
                <a:solidFill>
                  <a:srgbClr val="7DD3FC"/>
                </a:solidFill>
                <a:sym typeface="Consolas"/>
              </a:rPr>
              <a:t>import</a:t>
            </a:r>
            <a:r>
              <a:rPr lang="en" sz="1000" dirty="0">
                <a:solidFill>
                  <a:srgbClr val="E2E8F0"/>
                </a:solidFill>
                <a:sym typeface="Consolas"/>
              </a:rPr>
              <a:t> OpenAI</a:t>
            </a:r>
            <a:endParaRPr sz="1000" dirty="0">
              <a:solidFill>
                <a:schemeClr val="dk1"/>
              </a:solidFill>
              <a:latin typeface="Calibri"/>
              <a:ea typeface="Calibri"/>
              <a:cs typeface="Calibri"/>
              <a:sym typeface="Calibri"/>
            </a:endParaRPr>
          </a:p>
          <a:p>
            <a:pPr marL="0" marR="0" lvl="0" indent="0" algn="l" rtl="0">
              <a:spcBef>
                <a:spcPts val="0"/>
              </a:spcBef>
              <a:spcAft>
                <a:spcPts val="0"/>
              </a:spcAft>
              <a:buClr>
                <a:srgbClr val="E2E8F0"/>
              </a:buClr>
              <a:buSzPts val="850"/>
              <a:buFont typeface="Consolas"/>
              <a:buNone/>
            </a:pPr>
            <a:r>
              <a:rPr lang="en" sz="1000" dirty="0">
                <a:solidFill>
                  <a:srgbClr val="E2E8F0"/>
                </a:solidFill>
                <a:sym typeface="Consolas"/>
              </a:rPr>
              <a:t>client = OpenAI()  # reads OPENAI_API_KEY</a:t>
            </a:r>
            <a:endParaRPr sz="1000" dirty="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850"/>
              <a:buFont typeface="Calibri"/>
              <a:buNone/>
            </a:pPr>
            <a:endParaRPr sz="1000" dirty="0">
              <a:solidFill>
                <a:schemeClr val="dk1"/>
              </a:solidFill>
              <a:latin typeface="Calibri"/>
              <a:ea typeface="Calibri"/>
              <a:cs typeface="Calibri"/>
              <a:sym typeface="Calibri"/>
            </a:endParaRPr>
          </a:p>
          <a:p>
            <a:pPr marL="0" marR="0" lvl="0" indent="0" algn="l" rtl="0">
              <a:spcBef>
                <a:spcPts val="0"/>
              </a:spcBef>
              <a:spcAft>
                <a:spcPts val="0"/>
              </a:spcAft>
              <a:buClr>
                <a:srgbClr val="E2E8F0"/>
              </a:buClr>
              <a:buSzPts val="850"/>
              <a:buFont typeface="Consolas"/>
              <a:buNone/>
            </a:pPr>
            <a:r>
              <a:rPr lang="en" sz="1000" dirty="0">
                <a:solidFill>
                  <a:srgbClr val="E2E8F0"/>
                </a:solidFill>
                <a:sym typeface="Consolas"/>
              </a:rPr>
              <a:t>response = </a:t>
            </a:r>
            <a:r>
              <a:rPr lang="en" sz="1000" dirty="0" err="1">
                <a:solidFill>
                  <a:srgbClr val="E2E8F0"/>
                </a:solidFill>
                <a:sym typeface="Consolas"/>
              </a:rPr>
              <a:t>client.chat.completions.create</a:t>
            </a:r>
            <a:r>
              <a:rPr lang="en" sz="1000" dirty="0">
                <a:solidFill>
                  <a:srgbClr val="E2E8F0"/>
                </a:solidFill>
                <a:sym typeface="Consolas"/>
              </a:rPr>
              <a:t>(</a:t>
            </a:r>
            <a:endParaRPr sz="1000" dirty="0">
              <a:solidFill>
                <a:schemeClr val="dk1"/>
              </a:solidFill>
              <a:latin typeface="Calibri"/>
              <a:ea typeface="Calibri"/>
              <a:cs typeface="Calibri"/>
              <a:sym typeface="Calibri"/>
            </a:endParaRPr>
          </a:p>
          <a:p>
            <a:pPr marL="0" marR="0" lvl="0" indent="0" algn="l" rtl="0">
              <a:spcBef>
                <a:spcPts val="0"/>
              </a:spcBef>
              <a:spcAft>
                <a:spcPts val="0"/>
              </a:spcAft>
              <a:buClr>
                <a:srgbClr val="E2E8F0"/>
              </a:buClr>
              <a:buSzPts val="850"/>
              <a:buFont typeface="Consolas"/>
              <a:buNone/>
            </a:pPr>
            <a:r>
              <a:rPr lang="en" sz="1000" dirty="0">
                <a:solidFill>
                  <a:srgbClr val="E2E8F0"/>
                </a:solidFill>
                <a:sym typeface="Consolas"/>
              </a:rPr>
              <a:t>  </a:t>
            </a:r>
            <a:r>
              <a:rPr lang="en" sz="1000" dirty="0">
                <a:solidFill>
                  <a:srgbClr val="7DD3FC"/>
                </a:solidFill>
                <a:sym typeface="Consolas"/>
              </a:rPr>
              <a:t>model</a:t>
            </a:r>
            <a:r>
              <a:rPr lang="en" sz="1000" dirty="0">
                <a:solidFill>
                  <a:srgbClr val="E2E8F0"/>
                </a:solidFill>
                <a:sym typeface="Consolas"/>
              </a:rPr>
              <a:t>=</a:t>
            </a:r>
            <a:r>
              <a:rPr lang="en" sz="1000" dirty="0">
                <a:solidFill>
                  <a:srgbClr val="86EFAC"/>
                </a:solidFill>
                <a:sym typeface="Consolas"/>
              </a:rPr>
              <a:t>"gpt-4o"</a:t>
            </a:r>
            <a:r>
              <a:rPr lang="en" sz="1000" dirty="0">
                <a:solidFill>
                  <a:srgbClr val="E2E8F0"/>
                </a:solidFill>
                <a:sym typeface="Consolas"/>
              </a:rPr>
              <a:t>,</a:t>
            </a:r>
            <a:endParaRPr sz="1000" dirty="0">
              <a:solidFill>
                <a:schemeClr val="dk1"/>
              </a:solidFill>
              <a:latin typeface="Calibri"/>
              <a:ea typeface="Calibri"/>
              <a:cs typeface="Calibri"/>
              <a:sym typeface="Calibri"/>
            </a:endParaRPr>
          </a:p>
          <a:p>
            <a:pPr marL="0" marR="0" lvl="0" indent="0" algn="l" rtl="0">
              <a:spcBef>
                <a:spcPts val="0"/>
              </a:spcBef>
              <a:spcAft>
                <a:spcPts val="0"/>
              </a:spcAft>
              <a:buClr>
                <a:srgbClr val="E2E8F0"/>
              </a:buClr>
              <a:buSzPts val="850"/>
              <a:buFont typeface="Consolas"/>
              <a:buNone/>
            </a:pPr>
            <a:r>
              <a:rPr lang="en" sz="1000" dirty="0">
                <a:solidFill>
                  <a:srgbClr val="E2E8F0"/>
                </a:solidFill>
                <a:sym typeface="Consolas"/>
              </a:rPr>
              <a:t>  </a:t>
            </a:r>
            <a:r>
              <a:rPr lang="en" sz="1000" dirty="0">
                <a:solidFill>
                  <a:srgbClr val="7DD3FC"/>
                </a:solidFill>
                <a:sym typeface="Consolas"/>
              </a:rPr>
              <a:t>messages</a:t>
            </a:r>
            <a:r>
              <a:rPr lang="en" sz="1000" dirty="0">
                <a:solidFill>
                  <a:srgbClr val="E2E8F0"/>
                </a:solidFill>
                <a:sym typeface="Consolas"/>
              </a:rPr>
              <a:t>=[</a:t>
            </a:r>
            <a:endParaRPr sz="1000" dirty="0">
              <a:solidFill>
                <a:schemeClr val="dk1"/>
              </a:solidFill>
              <a:latin typeface="Calibri"/>
              <a:ea typeface="Calibri"/>
              <a:cs typeface="Calibri"/>
              <a:sym typeface="Calibri"/>
            </a:endParaRPr>
          </a:p>
          <a:p>
            <a:pPr marL="0" marR="0" lvl="0" indent="0" algn="l" rtl="0">
              <a:spcBef>
                <a:spcPts val="0"/>
              </a:spcBef>
              <a:spcAft>
                <a:spcPts val="0"/>
              </a:spcAft>
              <a:buClr>
                <a:srgbClr val="E2E8F0"/>
              </a:buClr>
              <a:buSzPts val="850"/>
              <a:buFont typeface="Consolas"/>
              <a:buNone/>
            </a:pPr>
            <a:r>
              <a:rPr lang="en" sz="1000" dirty="0">
                <a:solidFill>
                  <a:srgbClr val="E2E8F0"/>
                </a:solidFill>
                <a:sym typeface="Consolas"/>
              </a:rPr>
              <a:t>    {</a:t>
            </a:r>
            <a:r>
              <a:rPr lang="en" sz="1000" dirty="0">
                <a:solidFill>
                  <a:srgbClr val="86EFAC"/>
                </a:solidFill>
                <a:sym typeface="Consolas"/>
              </a:rPr>
              <a:t>"role"</a:t>
            </a:r>
            <a:r>
              <a:rPr lang="en" sz="1000" dirty="0">
                <a:solidFill>
                  <a:srgbClr val="E2E8F0"/>
                </a:solidFill>
                <a:sym typeface="Consolas"/>
              </a:rPr>
              <a:t>: </a:t>
            </a:r>
            <a:r>
              <a:rPr lang="en" sz="1000" dirty="0">
                <a:solidFill>
                  <a:srgbClr val="86EFAC"/>
                </a:solidFill>
                <a:sym typeface="Consolas"/>
              </a:rPr>
              <a:t>"system"</a:t>
            </a:r>
            <a:r>
              <a:rPr lang="en" sz="1000" dirty="0">
                <a:solidFill>
                  <a:srgbClr val="E2E8F0"/>
                </a:solidFill>
                <a:sym typeface="Consolas"/>
              </a:rPr>
              <a:t>,</a:t>
            </a:r>
            <a:endParaRPr sz="1000" dirty="0">
              <a:solidFill>
                <a:schemeClr val="dk1"/>
              </a:solidFill>
              <a:latin typeface="Calibri"/>
              <a:ea typeface="Calibri"/>
              <a:cs typeface="Calibri"/>
              <a:sym typeface="Calibri"/>
            </a:endParaRPr>
          </a:p>
          <a:p>
            <a:pPr marL="0" marR="0" lvl="0" indent="0" algn="l" rtl="0">
              <a:spcBef>
                <a:spcPts val="0"/>
              </a:spcBef>
              <a:spcAft>
                <a:spcPts val="0"/>
              </a:spcAft>
              <a:buClr>
                <a:srgbClr val="E2E8F0"/>
              </a:buClr>
              <a:buSzPts val="850"/>
              <a:buFont typeface="Consolas"/>
              <a:buNone/>
            </a:pPr>
            <a:r>
              <a:rPr lang="en" sz="1000" dirty="0">
                <a:solidFill>
                  <a:srgbClr val="E2E8F0"/>
                </a:solidFill>
                <a:sym typeface="Consolas"/>
              </a:rPr>
              <a:t>     </a:t>
            </a:r>
            <a:r>
              <a:rPr lang="en" sz="1000" dirty="0">
                <a:solidFill>
                  <a:srgbClr val="86EFAC"/>
                </a:solidFill>
                <a:sym typeface="Consolas"/>
              </a:rPr>
              <a:t>"content"</a:t>
            </a:r>
            <a:r>
              <a:rPr lang="en" sz="1000" dirty="0">
                <a:solidFill>
                  <a:srgbClr val="E2E8F0"/>
                </a:solidFill>
                <a:sym typeface="Consolas"/>
              </a:rPr>
              <a:t>: </a:t>
            </a:r>
            <a:r>
              <a:rPr lang="en" sz="1000" dirty="0">
                <a:solidFill>
                  <a:srgbClr val="86EFAC"/>
                </a:solidFill>
                <a:sym typeface="Consolas"/>
              </a:rPr>
              <a:t>"You are a helpful assistant."</a:t>
            </a:r>
            <a:r>
              <a:rPr lang="en" sz="1000" dirty="0">
                <a:solidFill>
                  <a:srgbClr val="E2E8F0"/>
                </a:solidFill>
                <a:sym typeface="Consolas"/>
              </a:rPr>
              <a:t>},</a:t>
            </a:r>
            <a:endParaRPr sz="1000" dirty="0">
              <a:solidFill>
                <a:schemeClr val="dk1"/>
              </a:solidFill>
              <a:latin typeface="Calibri"/>
              <a:ea typeface="Calibri"/>
              <a:cs typeface="Calibri"/>
              <a:sym typeface="Calibri"/>
            </a:endParaRPr>
          </a:p>
          <a:p>
            <a:pPr marL="0" marR="0" lvl="0" indent="0" algn="l" rtl="0">
              <a:spcBef>
                <a:spcPts val="0"/>
              </a:spcBef>
              <a:spcAft>
                <a:spcPts val="0"/>
              </a:spcAft>
              <a:buClr>
                <a:srgbClr val="E2E8F0"/>
              </a:buClr>
              <a:buSzPts val="850"/>
              <a:buFont typeface="Consolas"/>
              <a:buNone/>
            </a:pPr>
            <a:r>
              <a:rPr lang="en" sz="1000" dirty="0">
                <a:solidFill>
                  <a:srgbClr val="E2E8F0"/>
                </a:solidFill>
                <a:sym typeface="Consolas"/>
              </a:rPr>
              <a:t>    {</a:t>
            </a:r>
            <a:r>
              <a:rPr lang="en" sz="1000" dirty="0">
                <a:solidFill>
                  <a:srgbClr val="86EFAC"/>
                </a:solidFill>
                <a:sym typeface="Consolas"/>
              </a:rPr>
              <a:t>"role"</a:t>
            </a:r>
            <a:r>
              <a:rPr lang="en" sz="1000" dirty="0">
                <a:solidFill>
                  <a:srgbClr val="E2E8F0"/>
                </a:solidFill>
                <a:sym typeface="Consolas"/>
              </a:rPr>
              <a:t>: </a:t>
            </a:r>
            <a:r>
              <a:rPr lang="en" sz="1000" dirty="0">
                <a:solidFill>
                  <a:srgbClr val="86EFAC"/>
                </a:solidFill>
                <a:sym typeface="Consolas"/>
              </a:rPr>
              <a:t>"user"</a:t>
            </a:r>
            <a:r>
              <a:rPr lang="en" sz="1000" dirty="0">
                <a:solidFill>
                  <a:srgbClr val="E2E8F0"/>
                </a:solidFill>
                <a:sym typeface="Consolas"/>
              </a:rPr>
              <a:t>,</a:t>
            </a:r>
            <a:endParaRPr sz="1000" dirty="0">
              <a:solidFill>
                <a:schemeClr val="dk1"/>
              </a:solidFill>
              <a:latin typeface="Calibri"/>
              <a:ea typeface="Calibri"/>
              <a:cs typeface="Calibri"/>
              <a:sym typeface="Calibri"/>
            </a:endParaRPr>
          </a:p>
          <a:p>
            <a:pPr marL="0" marR="0" lvl="0" indent="0" algn="l" rtl="0">
              <a:spcBef>
                <a:spcPts val="0"/>
              </a:spcBef>
              <a:spcAft>
                <a:spcPts val="0"/>
              </a:spcAft>
              <a:buClr>
                <a:srgbClr val="E2E8F0"/>
              </a:buClr>
              <a:buSzPts val="850"/>
              <a:buFont typeface="Consolas"/>
              <a:buNone/>
            </a:pPr>
            <a:r>
              <a:rPr lang="en" sz="1000" dirty="0">
                <a:solidFill>
                  <a:srgbClr val="E2E8F0"/>
                </a:solidFill>
                <a:sym typeface="Consolas"/>
              </a:rPr>
              <a:t>     </a:t>
            </a:r>
            <a:r>
              <a:rPr lang="en" sz="1000" dirty="0">
                <a:solidFill>
                  <a:srgbClr val="86EFAC"/>
                </a:solidFill>
                <a:sym typeface="Consolas"/>
              </a:rPr>
              <a:t>"content"</a:t>
            </a:r>
            <a:r>
              <a:rPr lang="en" sz="1000" dirty="0">
                <a:solidFill>
                  <a:srgbClr val="E2E8F0"/>
                </a:solidFill>
                <a:sym typeface="Consolas"/>
              </a:rPr>
              <a:t>: </a:t>
            </a:r>
            <a:r>
              <a:rPr lang="en" sz="1000" dirty="0">
                <a:solidFill>
                  <a:srgbClr val="86EFAC"/>
                </a:solidFill>
                <a:sym typeface="Consolas"/>
              </a:rPr>
              <a:t>"Explain RAG in one sentence."</a:t>
            </a:r>
            <a:r>
              <a:rPr lang="en" sz="1000" dirty="0">
                <a:solidFill>
                  <a:srgbClr val="E2E8F0"/>
                </a:solidFill>
                <a:sym typeface="Consolas"/>
              </a:rPr>
              <a:t>}</a:t>
            </a:r>
            <a:endParaRPr sz="1000" dirty="0">
              <a:solidFill>
                <a:schemeClr val="dk1"/>
              </a:solidFill>
              <a:latin typeface="Calibri"/>
              <a:ea typeface="Calibri"/>
              <a:cs typeface="Calibri"/>
              <a:sym typeface="Calibri"/>
            </a:endParaRPr>
          </a:p>
          <a:p>
            <a:pPr marL="0" marR="0" lvl="0" indent="0" algn="l" rtl="0">
              <a:spcBef>
                <a:spcPts val="0"/>
              </a:spcBef>
              <a:spcAft>
                <a:spcPts val="0"/>
              </a:spcAft>
              <a:buClr>
                <a:srgbClr val="E2E8F0"/>
              </a:buClr>
              <a:buSzPts val="850"/>
              <a:buFont typeface="Consolas"/>
              <a:buNone/>
            </a:pPr>
            <a:r>
              <a:rPr lang="en" sz="1000" dirty="0">
                <a:solidFill>
                  <a:srgbClr val="E2E8F0"/>
                </a:solidFill>
                <a:sym typeface="Consolas"/>
              </a:rPr>
              <a:t>  ],</a:t>
            </a:r>
            <a:endParaRPr sz="1000" dirty="0">
              <a:solidFill>
                <a:schemeClr val="dk1"/>
              </a:solidFill>
              <a:latin typeface="Calibri"/>
              <a:ea typeface="Calibri"/>
              <a:cs typeface="Calibri"/>
              <a:sym typeface="Calibri"/>
            </a:endParaRPr>
          </a:p>
          <a:p>
            <a:pPr marL="0" marR="0" lvl="0" indent="0" algn="l" rtl="0">
              <a:spcBef>
                <a:spcPts val="0"/>
              </a:spcBef>
              <a:spcAft>
                <a:spcPts val="0"/>
              </a:spcAft>
              <a:buClr>
                <a:srgbClr val="E2E8F0"/>
              </a:buClr>
              <a:buSzPts val="850"/>
              <a:buFont typeface="Consolas"/>
              <a:buNone/>
            </a:pPr>
            <a:r>
              <a:rPr lang="en" sz="1000" dirty="0">
                <a:solidFill>
                  <a:srgbClr val="E2E8F0"/>
                </a:solidFill>
                <a:sym typeface="Consolas"/>
              </a:rPr>
              <a:t>  temperature=0.7,</a:t>
            </a:r>
            <a:endParaRPr sz="1000" dirty="0">
              <a:solidFill>
                <a:schemeClr val="dk1"/>
              </a:solidFill>
              <a:latin typeface="Calibri"/>
              <a:ea typeface="Calibri"/>
              <a:cs typeface="Calibri"/>
              <a:sym typeface="Calibri"/>
            </a:endParaRPr>
          </a:p>
          <a:p>
            <a:pPr marL="0" marR="0" lvl="0" indent="0" algn="l" rtl="0">
              <a:spcBef>
                <a:spcPts val="0"/>
              </a:spcBef>
              <a:spcAft>
                <a:spcPts val="0"/>
              </a:spcAft>
              <a:buClr>
                <a:srgbClr val="E2E8F0"/>
              </a:buClr>
              <a:buSzPts val="850"/>
              <a:buFont typeface="Consolas"/>
              <a:buNone/>
            </a:pPr>
            <a:r>
              <a:rPr lang="en" sz="1000" dirty="0">
                <a:solidFill>
                  <a:srgbClr val="E2E8F0"/>
                </a:solidFill>
                <a:sym typeface="Consolas"/>
              </a:rPr>
              <a:t>  </a:t>
            </a:r>
            <a:r>
              <a:rPr lang="en" sz="1000" dirty="0" err="1">
                <a:solidFill>
                  <a:srgbClr val="E2E8F0"/>
                </a:solidFill>
                <a:sym typeface="Consolas"/>
              </a:rPr>
              <a:t>max_tokens</a:t>
            </a:r>
            <a:r>
              <a:rPr lang="en" sz="1000" dirty="0">
                <a:solidFill>
                  <a:srgbClr val="E2E8F0"/>
                </a:solidFill>
                <a:sym typeface="Consolas"/>
              </a:rPr>
              <a:t>=200</a:t>
            </a:r>
            <a:endParaRPr sz="1000" dirty="0">
              <a:solidFill>
                <a:schemeClr val="dk1"/>
              </a:solidFill>
              <a:latin typeface="Calibri"/>
              <a:ea typeface="Calibri"/>
              <a:cs typeface="Calibri"/>
              <a:sym typeface="Calibri"/>
            </a:endParaRPr>
          </a:p>
          <a:p>
            <a:pPr marL="0" marR="0" lvl="0" indent="0" algn="l" rtl="0">
              <a:spcBef>
                <a:spcPts val="0"/>
              </a:spcBef>
              <a:spcAft>
                <a:spcPts val="0"/>
              </a:spcAft>
              <a:buClr>
                <a:srgbClr val="E2E8F0"/>
              </a:buClr>
              <a:buSzPts val="850"/>
              <a:buFont typeface="Consolas"/>
              <a:buNone/>
            </a:pPr>
            <a:r>
              <a:rPr lang="en" sz="1000" dirty="0">
                <a:solidFill>
                  <a:srgbClr val="E2E8F0"/>
                </a:solidFill>
                <a:sym typeface="Consolas"/>
              </a:rPr>
              <a:t>)</a:t>
            </a:r>
            <a:endParaRPr sz="1000" dirty="0">
              <a:solidFill>
                <a:schemeClr val="dk1"/>
              </a:solidFill>
              <a:latin typeface="Calibri"/>
              <a:ea typeface="Calibri"/>
              <a:cs typeface="Calibri"/>
              <a:sym typeface="Calibri"/>
            </a:endParaRPr>
          </a:p>
          <a:p>
            <a:pPr marL="0" marR="0" lvl="0" indent="0" algn="l" rtl="0">
              <a:spcBef>
                <a:spcPts val="0"/>
              </a:spcBef>
              <a:spcAft>
                <a:spcPts val="0"/>
              </a:spcAft>
              <a:buClr>
                <a:srgbClr val="E2E8F0"/>
              </a:buClr>
              <a:buSzPts val="850"/>
              <a:buFont typeface="Consolas"/>
              <a:buNone/>
            </a:pPr>
            <a:r>
              <a:rPr lang="en" sz="1000" dirty="0">
                <a:solidFill>
                  <a:srgbClr val="E2E8F0"/>
                </a:solidFill>
                <a:sym typeface="Consolas"/>
              </a:rPr>
              <a:t>print(</a:t>
            </a:r>
            <a:r>
              <a:rPr lang="en" sz="1000" dirty="0" err="1">
                <a:solidFill>
                  <a:srgbClr val="E2E8F0"/>
                </a:solidFill>
                <a:sym typeface="Consolas"/>
              </a:rPr>
              <a:t>response.choices</a:t>
            </a:r>
            <a:r>
              <a:rPr lang="en" sz="1000" dirty="0">
                <a:solidFill>
                  <a:srgbClr val="E2E8F0"/>
                </a:solidFill>
                <a:sym typeface="Consolas"/>
              </a:rPr>
              <a:t>[0].</a:t>
            </a:r>
            <a:r>
              <a:rPr lang="en" sz="1000" dirty="0" err="1">
                <a:solidFill>
                  <a:srgbClr val="E2E8F0"/>
                </a:solidFill>
                <a:sym typeface="Consolas"/>
              </a:rPr>
              <a:t>message.</a:t>
            </a:r>
            <a:r>
              <a:rPr lang="en" sz="1000" dirty="0" err="1">
                <a:solidFill>
                  <a:srgbClr val="7DD3FC"/>
                </a:solidFill>
                <a:sym typeface="Consolas"/>
              </a:rPr>
              <a:t>content</a:t>
            </a:r>
            <a:r>
              <a:rPr lang="en" sz="1000" dirty="0">
                <a:solidFill>
                  <a:srgbClr val="E2E8F0"/>
                </a:solidFill>
                <a:sym typeface="Consolas"/>
              </a:rPr>
              <a:t>)</a:t>
            </a:r>
            <a:endParaRPr sz="1000" dirty="0">
              <a:solidFill>
                <a:schemeClr val="dk1"/>
              </a:solidFill>
              <a:latin typeface="Calibri"/>
              <a:ea typeface="Calibri"/>
              <a:cs typeface="Calibri"/>
              <a:sym typeface="Calibri"/>
            </a:endParaRPr>
          </a:p>
        </p:txBody>
      </p:sp>
      <p:sp>
        <p:nvSpPr>
          <p:cNvPr id="172" name="Google Shape;172;p19"/>
          <p:cNvSpPr/>
          <p:nvPr/>
        </p:nvSpPr>
        <p:spPr>
          <a:xfrm>
            <a:off x="4480560" y="658368"/>
            <a:ext cx="4297800" cy="201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900"/>
              <a:buFont typeface="Calibri"/>
              <a:buNone/>
            </a:pPr>
            <a:r>
              <a:rPr lang="en" sz="1200" b="1" dirty="0">
                <a:solidFill>
                  <a:srgbClr val="1A1F36"/>
                </a:solidFill>
                <a:sym typeface="Calibri"/>
              </a:rPr>
              <a:t>Function / Tool Calling</a:t>
            </a:r>
            <a:endParaRPr sz="1200" dirty="0">
              <a:solidFill>
                <a:schemeClr val="dk1"/>
              </a:solidFill>
              <a:latin typeface="Calibri"/>
              <a:ea typeface="Calibri"/>
              <a:cs typeface="Calibri"/>
              <a:sym typeface="Calibri"/>
            </a:endParaRPr>
          </a:p>
        </p:txBody>
      </p:sp>
      <p:sp>
        <p:nvSpPr>
          <p:cNvPr id="173" name="Google Shape;173;p19"/>
          <p:cNvSpPr/>
          <p:nvPr/>
        </p:nvSpPr>
        <p:spPr>
          <a:xfrm>
            <a:off x="4480560" y="868680"/>
            <a:ext cx="4297800" cy="2926200"/>
          </a:xfrm>
          <a:prstGeom prst="rect">
            <a:avLst/>
          </a:prstGeom>
          <a:solidFill>
            <a:srgbClr val="0F172A"/>
          </a:solidFill>
          <a:ln w="12700" cap="flat" cmpd="sng">
            <a:solidFill>
              <a:srgbClr val="1E3A5F"/>
            </a:solidFill>
            <a:prstDash val="solid"/>
            <a:round/>
            <a:headEnd type="none" w="sm" len="sm"/>
            <a:tailEnd type="none" w="sm" len="sm"/>
          </a:ln>
          <a:effectLst>
            <a:outerShdw blurRad="76200" dist="25400" dir="8100000" algn="bl" rotWithShape="0">
              <a:srgbClr val="94A3B8">
                <a:alpha val="149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19"/>
          <p:cNvSpPr/>
          <p:nvPr/>
        </p:nvSpPr>
        <p:spPr>
          <a:xfrm>
            <a:off x="4553712" y="915991"/>
            <a:ext cx="4151400" cy="2578500"/>
          </a:xfrm>
          <a:prstGeom prst="rect">
            <a:avLst/>
          </a:prstGeom>
          <a:noFill/>
          <a:ln>
            <a:noFill/>
          </a:ln>
        </p:spPr>
        <p:txBody>
          <a:bodyPr spcFirstLastPara="1" wrap="square" lIns="0" tIns="0" rIns="0" bIns="0" anchor="t" anchorCtr="0">
            <a:noAutofit/>
          </a:bodyPr>
          <a:lstStyle/>
          <a:p>
            <a:r>
              <a:rPr lang="en-IN" sz="1000" dirty="0">
                <a:solidFill>
                  <a:srgbClr val="FFC000"/>
                </a:solidFill>
                <a:latin typeface="Andale Mono" panose="020B0509000000000004" pitchFamily="49" charset="0"/>
              </a:rPr>
              <a:t>tools = [{</a:t>
            </a:r>
          </a:p>
          <a:p>
            <a:r>
              <a:rPr lang="en-IN" sz="1000" dirty="0">
                <a:solidFill>
                  <a:srgbClr val="FFC000"/>
                </a:solidFill>
                <a:latin typeface="Andale Mono" panose="020B0509000000000004" pitchFamily="49" charset="0"/>
              </a:rPr>
              <a:t>    "type": "function",</a:t>
            </a:r>
          </a:p>
          <a:p>
            <a:r>
              <a:rPr lang="en-IN" sz="1000" dirty="0">
                <a:solidFill>
                  <a:srgbClr val="FFC000"/>
                </a:solidFill>
                <a:latin typeface="Andale Mono" panose="020B0509000000000004" pitchFamily="49" charset="0"/>
              </a:rPr>
              <a:t>    "name": "</a:t>
            </a:r>
            <a:r>
              <a:rPr lang="en-IN" sz="1000" dirty="0" err="1">
                <a:solidFill>
                  <a:srgbClr val="FFC000"/>
                </a:solidFill>
                <a:latin typeface="Andale Mono" panose="020B0509000000000004" pitchFamily="49" charset="0"/>
              </a:rPr>
              <a:t>get_weather</a:t>
            </a:r>
            <a:r>
              <a:rPr lang="en-IN" sz="1000" dirty="0">
                <a:solidFill>
                  <a:srgbClr val="FFC000"/>
                </a:solidFill>
                <a:latin typeface="Andale Mono" panose="020B0509000000000004" pitchFamily="49" charset="0"/>
              </a:rPr>
              <a:t>",</a:t>
            </a:r>
          </a:p>
          <a:p>
            <a:r>
              <a:rPr lang="en-IN" sz="1000" dirty="0">
                <a:solidFill>
                  <a:srgbClr val="FFC000"/>
                </a:solidFill>
                <a:latin typeface="Andale Mono" panose="020B0509000000000004" pitchFamily="49" charset="0"/>
              </a:rPr>
              <a:t>    "description": "Get current weather",</a:t>
            </a:r>
          </a:p>
          <a:p>
            <a:r>
              <a:rPr lang="en-IN" sz="1000" dirty="0">
                <a:solidFill>
                  <a:srgbClr val="FFC000"/>
                </a:solidFill>
                <a:latin typeface="Andale Mono" panose="020B0509000000000004" pitchFamily="49" charset="0"/>
              </a:rPr>
              <a:t>    "parameters": {</a:t>
            </a:r>
          </a:p>
          <a:p>
            <a:r>
              <a:rPr lang="en-IN" sz="1000" dirty="0">
                <a:solidFill>
                  <a:srgbClr val="FFC000"/>
                </a:solidFill>
                <a:latin typeface="Andale Mono" panose="020B0509000000000004" pitchFamily="49" charset="0"/>
              </a:rPr>
              <a:t>        "type": "object",</a:t>
            </a:r>
          </a:p>
          <a:p>
            <a:r>
              <a:rPr lang="en-IN" sz="1000" dirty="0">
                <a:solidFill>
                  <a:srgbClr val="FFC000"/>
                </a:solidFill>
                <a:latin typeface="Andale Mono" panose="020B0509000000000004" pitchFamily="49" charset="0"/>
              </a:rPr>
              <a:t>        "properties": {</a:t>
            </a:r>
          </a:p>
          <a:p>
            <a:r>
              <a:rPr lang="en-IN" sz="1000" dirty="0">
                <a:solidFill>
                  <a:srgbClr val="FFC000"/>
                </a:solidFill>
                <a:latin typeface="Andale Mono" panose="020B0509000000000004" pitchFamily="49" charset="0"/>
              </a:rPr>
              <a:t>            "location": {"type": "string"}</a:t>
            </a:r>
          </a:p>
          <a:p>
            <a:r>
              <a:rPr lang="en-IN" sz="1000" dirty="0">
                <a:solidFill>
                  <a:srgbClr val="FFC000"/>
                </a:solidFill>
                <a:latin typeface="Andale Mono" panose="020B0509000000000004" pitchFamily="49" charset="0"/>
              </a:rPr>
              <a:t>        },</a:t>
            </a:r>
          </a:p>
          <a:p>
            <a:r>
              <a:rPr lang="en-IN" sz="1000" dirty="0">
                <a:solidFill>
                  <a:srgbClr val="FFC000"/>
                </a:solidFill>
                <a:latin typeface="Andale Mono" panose="020B0509000000000004" pitchFamily="49" charset="0"/>
              </a:rPr>
              <a:t>        "required": ["location"]</a:t>
            </a:r>
          </a:p>
          <a:p>
            <a:r>
              <a:rPr lang="en-IN" sz="1000" dirty="0">
                <a:solidFill>
                  <a:srgbClr val="FFC000"/>
                </a:solidFill>
                <a:latin typeface="Andale Mono" panose="020B0509000000000004" pitchFamily="49" charset="0"/>
              </a:rPr>
              <a:t>    }</a:t>
            </a:r>
          </a:p>
          <a:p>
            <a:r>
              <a:rPr lang="en-IN" sz="1000" dirty="0">
                <a:solidFill>
                  <a:srgbClr val="FFC000"/>
                </a:solidFill>
                <a:latin typeface="Andale Mono" panose="020B0509000000000004" pitchFamily="49" charset="0"/>
              </a:rPr>
              <a:t>}]</a:t>
            </a:r>
          </a:p>
          <a:p>
            <a:r>
              <a:rPr lang="en-IN" sz="1000" dirty="0" err="1">
                <a:solidFill>
                  <a:srgbClr val="FFC000"/>
                </a:solidFill>
                <a:latin typeface="Andale Mono" panose="020B0509000000000004" pitchFamily="49" charset="0"/>
              </a:rPr>
              <a:t>resp</a:t>
            </a:r>
            <a:r>
              <a:rPr lang="en-IN" sz="1000" dirty="0">
                <a:solidFill>
                  <a:srgbClr val="FFC000"/>
                </a:solidFill>
                <a:latin typeface="Andale Mono" panose="020B0509000000000004" pitchFamily="49" charset="0"/>
              </a:rPr>
              <a:t> = </a:t>
            </a:r>
            <a:r>
              <a:rPr lang="en-IN" sz="1000" dirty="0" err="1">
                <a:solidFill>
                  <a:srgbClr val="FFC000"/>
                </a:solidFill>
                <a:latin typeface="Andale Mono" panose="020B0509000000000004" pitchFamily="49" charset="0"/>
              </a:rPr>
              <a:t>client.responses.create</a:t>
            </a:r>
            <a:r>
              <a:rPr lang="en-IN" sz="1000" dirty="0">
                <a:solidFill>
                  <a:srgbClr val="FFC000"/>
                </a:solidFill>
                <a:latin typeface="Andale Mono" panose="020B0509000000000004" pitchFamily="49" charset="0"/>
              </a:rPr>
              <a:t>(</a:t>
            </a:r>
          </a:p>
          <a:p>
            <a:r>
              <a:rPr lang="en-IN" sz="1000" dirty="0">
                <a:solidFill>
                  <a:srgbClr val="FFC000"/>
                </a:solidFill>
                <a:latin typeface="Andale Mono" panose="020B0509000000000004" pitchFamily="49" charset="0"/>
              </a:rPr>
              <a:t>    model="gpt-4o",</a:t>
            </a:r>
          </a:p>
          <a:p>
            <a:r>
              <a:rPr lang="en-IN" sz="1000" dirty="0">
                <a:solidFill>
                  <a:srgbClr val="FFC000"/>
                </a:solidFill>
                <a:latin typeface="Andale Mono" panose="020B0509000000000004" pitchFamily="49" charset="0"/>
              </a:rPr>
              <a:t>    input=</a:t>
            </a:r>
            <a:r>
              <a:rPr lang="en-IN" sz="1000" dirty="0" err="1">
                <a:solidFill>
                  <a:srgbClr val="FFC000"/>
                </a:solidFill>
                <a:latin typeface="Andale Mono" panose="020B0509000000000004" pitchFamily="49" charset="0"/>
              </a:rPr>
              <a:t>msgs</a:t>
            </a:r>
            <a:r>
              <a:rPr lang="en-IN" sz="1000" dirty="0">
                <a:solidFill>
                  <a:srgbClr val="FFC000"/>
                </a:solidFill>
                <a:latin typeface="Andale Mono" panose="020B0509000000000004" pitchFamily="49" charset="0"/>
              </a:rPr>
              <a:t>,</a:t>
            </a:r>
          </a:p>
          <a:p>
            <a:r>
              <a:rPr lang="en-IN" sz="1000" dirty="0">
                <a:solidFill>
                  <a:srgbClr val="FFC000"/>
                </a:solidFill>
                <a:latin typeface="Andale Mono" panose="020B0509000000000004" pitchFamily="49" charset="0"/>
              </a:rPr>
              <a:t>    tools=tools,</a:t>
            </a:r>
          </a:p>
          <a:p>
            <a:r>
              <a:rPr lang="en-IN" sz="1000" dirty="0">
                <a:solidFill>
                  <a:srgbClr val="FFC000"/>
                </a:solidFill>
                <a:latin typeface="Andale Mono" panose="020B0509000000000004" pitchFamily="49" charset="0"/>
              </a:rPr>
              <a:t>    </a:t>
            </a:r>
            <a:r>
              <a:rPr lang="en-IN" sz="1000" dirty="0" err="1">
                <a:solidFill>
                  <a:srgbClr val="FFC000"/>
                </a:solidFill>
                <a:latin typeface="Andale Mono" panose="020B0509000000000004" pitchFamily="49" charset="0"/>
              </a:rPr>
              <a:t>tool_choice</a:t>
            </a:r>
            <a:r>
              <a:rPr lang="en-IN" sz="1000" dirty="0">
                <a:solidFill>
                  <a:srgbClr val="FFC000"/>
                </a:solidFill>
                <a:latin typeface="Andale Mono" panose="020B0509000000000004" pitchFamily="49" charset="0"/>
              </a:rPr>
              <a:t>="auto"</a:t>
            </a:r>
          </a:p>
          <a:p>
            <a:r>
              <a:rPr lang="en-IN" sz="1000" dirty="0">
                <a:solidFill>
                  <a:srgbClr val="FFC000"/>
                </a:solidFill>
                <a:latin typeface="Andale Mono" panose="020B0509000000000004" pitchFamily="49" charset="0"/>
              </a:rPr>
              <a:t>)</a:t>
            </a:r>
          </a:p>
        </p:txBody>
      </p:sp>
      <p:sp>
        <p:nvSpPr>
          <p:cNvPr id="179" name="Google Shape;179;p19"/>
          <p:cNvSpPr/>
          <p:nvPr/>
        </p:nvSpPr>
        <p:spPr>
          <a:xfrm>
            <a:off x="4480560" y="3886200"/>
            <a:ext cx="4297800" cy="749700"/>
          </a:xfrm>
          <a:prstGeom prst="rect">
            <a:avLst/>
          </a:prstGeom>
          <a:solidFill>
            <a:srgbClr val="CCFBF1"/>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p>
        </p:txBody>
      </p:sp>
      <p:sp>
        <p:nvSpPr>
          <p:cNvPr id="180" name="Google Shape;180;p19"/>
          <p:cNvSpPr/>
          <p:nvPr/>
        </p:nvSpPr>
        <p:spPr>
          <a:xfrm>
            <a:off x="4617720" y="3931920"/>
            <a:ext cx="4023300" cy="658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850"/>
              <a:buFont typeface="Calibri"/>
              <a:buNone/>
            </a:pPr>
            <a:r>
              <a:rPr lang="en" sz="1000" b="1" dirty="0">
                <a:solidFill>
                  <a:srgbClr val="0D9488"/>
                </a:solidFill>
                <a:sym typeface="Calibri"/>
              </a:rPr>
              <a:t>JSON mode: </a:t>
            </a:r>
            <a:r>
              <a:rPr lang="en" sz="1000" dirty="0">
                <a:solidFill>
                  <a:srgbClr val="1A1F36"/>
                </a:solidFill>
                <a:sym typeface="Calibri"/>
              </a:rPr>
              <a:t>Set </a:t>
            </a:r>
            <a:r>
              <a:rPr lang="en" sz="1000" dirty="0" err="1">
                <a:solidFill>
                  <a:srgbClr val="1A1F36"/>
                </a:solidFill>
                <a:sym typeface="Calibri"/>
              </a:rPr>
              <a:t>response_format</a:t>
            </a:r>
            <a:r>
              <a:rPr lang="en" sz="1000" dirty="0">
                <a:solidFill>
                  <a:srgbClr val="1A1F36"/>
                </a:solidFill>
                <a:sym typeface="Calibri"/>
              </a:rPr>
              <a:t>={"type":"</a:t>
            </a:r>
            <a:r>
              <a:rPr lang="en" sz="1000" dirty="0" err="1">
                <a:solidFill>
                  <a:srgbClr val="1A1F36"/>
                </a:solidFill>
                <a:sym typeface="Calibri"/>
              </a:rPr>
              <a:t>json_object</a:t>
            </a:r>
            <a:r>
              <a:rPr lang="en" sz="1000" dirty="0">
                <a:solidFill>
                  <a:srgbClr val="1A1F36"/>
                </a:solidFill>
                <a:sym typeface="Calibri"/>
              </a:rPr>
              <a:t>"} — model always returns valid JSON. </a:t>
            </a:r>
            <a:endParaRPr sz="1000" dirty="0">
              <a:solidFill>
                <a:schemeClr val="dk1"/>
              </a:solidFill>
              <a:latin typeface="Calibri"/>
              <a:ea typeface="Calibri"/>
              <a:cs typeface="Calibri"/>
              <a:sym typeface="Calibri"/>
            </a:endParaRPr>
          </a:p>
        </p:txBody>
      </p:sp>
      <p:pic>
        <p:nvPicPr>
          <p:cNvPr id="2" name="Google Shape;109;p20">
            <a:extLst>
              <a:ext uri="{FF2B5EF4-FFF2-40B4-BE49-F238E27FC236}">
                <a16:creationId xmlns:a16="http://schemas.microsoft.com/office/drawing/2014/main" id="{E22A0143-D119-5550-9CE0-4BBAB21BAFAA}"/>
              </a:ext>
            </a:extLst>
          </p:cNvPr>
          <p:cNvPicPr preferRelativeResize="0"/>
          <p:nvPr/>
        </p:nvPicPr>
        <p:blipFill>
          <a:blip r:embed="rId4">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299166259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07">
          <a:extLst>
            <a:ext uri="{FF2B5EF4-FFF2-40B4-BE49-F238E27FC236}">
              <a16:creationId xmlns:a16="http://schemas.microsoft.com/office/drawing/2014/main" id="{9067788B-4778-0347-D5DE-628C1E14FACE}"/>
            </a:ext>
          </a:extLst>
        </p:cNvPr>
        <p:cNvGrpSpPr/>
        <p:nvPr/>
      </p:nvGrpSpPr>
      <p:grpSpPr>
        <a:xfrm>
          <a:off x="0" y="0"/>
          <a:ext cx="0" cy="0"/>
          <a:chOff x="0" y="0"/>
          <a:chExt cx="0" cy="0"/>
        </a:xfrm>
      </p:grpSpPr>
      <p:sp>
        <p:nvSpPr>
          <p:cNvPr id="309" name="Google Shape;309;p30">
            <a:extLst>
              <a:ext uri="{FF2B5EF4-FFF2-40B4-BE49-F238E27FC236}">
                <a16:creationId xmlns:a16="http://schemas.microsoft.com/office/drawing/2014/main" id="{7B9BFEF9-E308-43BF-403F-478E8011612C}"/>
              </a:ext>
            </a:extLst>
          </p:cNvPr>
          <p:cNvSpPr/>
          <p:nvPr/>
        </p:nvSpPr>
        <p:spPr>
          <a:xfrm>
            <a:off x="0" y="502920"/>
            <a:ext cx="9144000" cy="36600"/>
          </a:xfrm>
          <a:prstGeom prst="rect">
            <a:avLst/>
          </a:prstGeom>
          <a:solidFill>
            <a:srgbClr val="FFFFFF"/>
          </a:solidFill>
          <a:ln w="127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10" name="Google Shape;310;p30" descr="preencoded.png">
            <a:extLst>
              <a:ext uri="{FF2B5EF4-FFF2-40B4-BE49-F238E27FC236}">
                <a16:creationId xmlns:a16="http://schemas.microsoft.com/office/drawing/2014/main" id="{F5DB1300-0CF6-FAE3-1DB8-E4BE3623F221}"/>
              </a:ext>
            </a:extLst>
          </p:cNvPr>
          <p:cNvPicPr preferRelativeResize="0"/>
          <p:nvPr/>
        </p:nvPicPr>
        <p:blipFill rotWithShape="1">
          <a:blip r:embed="rId3">
            <a:alphaModFix/>
          </a:blip>
          <a:srcRect/>
          <a:stretch/>
        </p:blipFill>
        <p:spPr>
          <a:xfrm>
            <a:off x="274320" y="64008"/>
            <a:ext cx="365760" cy="365760"/>
          </a:xfrm>
          <a:prstGeom prst="rect">
            <a:avLst/>
          </a:prstGeom>
          <a:noFill/>
          <a:ln>
            <a:noFill/>
          </a:ln>
        </p:spPr>
      </p:pic>
      <p:sp>
        <p:nvSpPr>
          <p:cNvPr id="311" name="Google Shape;311;p30">
            <a:extLst>
              <a:ext uri="{FF2B5EF4-FFF2-40B4-BE49-F238E27FC236}">
                <a16:creationId xmlns:a16="http://schemas.microsoft.com/office/drawing/2014/main" id="{1771CEF5-C7F8-ADA4-60D2-0B2BBD12CF08}"/>
              </a:ext>
            </a:extLst>
          </p:cNvPr>
          <p:cNvSpPr/>
          <p:nvPr/>
        </p:nvSpPr>
        <p:spPr>
          <a:xfrm>
            <a:off x="640080" y="118510"/>
            <a:ext cx="7315200" cy="4389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1200"/>
              </a:spcBef>
              <a:spcAft>
                <a:spcPts val="1200"/>
              </a:spcAft>
              <a:buClr>
                <a:schemeClr val="dk1"/>
              </a:buClr>
              <a:buSzPts val="1100"/>
              <a:buFont typeface="Arial"/>
              <a:buNone/>
            </a:pPr>
            <a:r>
              <a:rPr lang="en" sz="2300" b="1" dirty="0">
                <a:solidFill>
                  <a:srgbClr val="1E2761"/>
                </a:solidFill>
                <a:latin typeface="Georgia"/>
              </a:rPr>
              <a:t>Tool Calling Example – LCM calculation</a:t>
            </a:r>
            <a:endParaRPr sz="2300" b="1" dirty="0">
              <a:solidFill>
                <a:schemeClr val="tx1"/>
              </a:solidFill>
              <a:latin typeface="Calibri"/>
              <a:ea typeface="Calibri"/>
              <a:cs typeface="Calibri"/>
              <a:sym typeface="Calibri"/>
            </a:endParaRPr>
          </a:p>
        </p:txBody>
      </p:sp>
      <p:pic>
        <p:nvPicPr>
          <p:cNvPr id="2" name="Google Shape;109;p20">
            <a:extLst>
              <a:ext uri="{FF2B5EF4-FFF2-40B4-BE49-F238E27FC236}">
                <a16:creationId xmlns:a16="http://schemas.microsoft.com/office/drawing/2014/main" id="{C9E3C9B3-001B-A8B1-CC0B-B1A81AB8DF0C}"/>
              </a:ext>
            </a:extLst>
          </p:cNvPr>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id="3" name="TextBox 2">
            <a:extLst>
              <a:ext uri="{FF2B5EF4-FFF2-40B4-BE49-F238E27FC236}">
                <a16:creationId xmlns:a16="http://schemas.microsoft.com/office/drawing/2014/main" id="{C47EA98E-9606-9A9B-6C88-514A417E3958}"/>
              </a:ext>
            </a:extLst>
          </p:cNvPr>
          <p:cNvSpPr txBox="1"/>
          <p:nvPr/>
        </p:nvSpPr>
        <p:spPr>
          <a:xfrm>
            <a:off x="640080" y="723567"/>
            <a:ext cx="5775940" cy="738664"/>
          </a:xfrm>
          <a:prstGeom prst="rect">
            <a:avLst/>
          </a:prstGeom>
          <a:noFill/>
        </p:spPr>
        <p:txBody>
          <a:bodyPr wrap="none" rtlCol="0">
            <a:spAutoFit/>
          </a:bodyPr>
          <a:lstStyle/>
          <a:p>
            <a:r>
              <a:rPr lang="en-US" dirty="0">
                <a:solidFill>
                  <a:srgbClr val="1A1F36"/>
                </a:solidFill>
                <a:latin typeface="Calibri"/>
              </a:rPr>
              <a:t>How to compute LCM (lowest common multiple) of two given integers?</a:t>
            </a:r>
          </a:p>
          <a:p>
            <a:endParaRPr lang="en-US" dirty="0"/>
          </a:p>
          <a:p>
            <a:r>
              <a:rPr lang="en-US" dirty="0">
                <a:solidFill>
                  <a:srgbClr val="1A1F36"/>
                </a:solidFill>
                <a:latin typeface="Calibri"/>
              </a:rPr>
              <a:t>Input: “</a:t>
            </a:r>
            <a:r>
              <a:rPr lang="en-US" dirty="0">
                <a:solidFill>
                  <a:srgbClr val="00B0F0"/>
                </a:solidFill>
                <a:latin typeface="Calibri"/>
              </a:rPr>
              <a:t>What is the LCM of 84 and 120?</a:t>
            </a:r>
            <a:r>
              <a:rPr lang="en-US" dirty="0">
                <a:solidFill>
                  <a:srgbClr val="1A1F36"/>
                </a:solidFill>
                <a:latin typeface="Calibri"/>
              </a:rPr>
              <a:t>”</a:t>
            </a:r>
          </a:p>
        </p:txBody>
      </p:sp>
      <p:sp>
        <p:nvSpPr>
          <p:cNvPr id="4" name="TextBox 3">
            <a:extLst>
              <a:ext uri="{FF2B5EF4-FFF2-40B4-BE49-F238E27FC236}">
                <a16:creationId xmlns:a16="http://schemas.microsoft.com/office/drawing/2014/main" id="{C174D47F-41AD-7494-B94D-70FEA6D080F2}"/>
              </a:ext>
            </a:extLst>
          </p:cNvPr>
          <p:cNvSpPr txBox="1"/>
          <p:nvPr/>
        </p:nvSpPr>
        <p:spPr>
          <a:xfrm>
            <a:off x="5640006" y="1154454"/>
            <a:ext cx="1552028" cy="307777"/>
          </a:xfrm>
          <a:prstGeom prst="rect">
            <a:avLst/>
          </a:prstGeom>
          <a:noFill/>
        </p:spPr>
        <p:txBody>
          <a:bodyPr wrap="none" rtlCol="0">
            <a:spAutoFit/>
          </a:bodyPr>
          <a:lstStyle/>
          <a:p>
            <a:r>
              <a:rPr lang="en-US" dirty="0" err="1">
                <a:solidFill>
                  <a:srgbClr val="FF0000"/>
                </a:solidFill>
                <a:latin typeface="Calibri"/>
              </a:rPr>
              <a:t>total_tokens</a:t>
            </a:r>
            <a:r>
              <a:rPr lang="en-US" dirty="0">
                <a:solidFill>
                  <a:srgbClr val="FF0000"/>
                </a:solidFill>
                <a:latin typeface="Calibri"/>
              </a:rPr>
              <a:t>=425</a:t>
            </a:r>
          </a:p>
        </p:txBody>
      </p:sp>
      <p:pic>
        <p:nvPicPr>
          <p:cNvPr id="6" name="Picture 5">
            <a:extLst>
              <a:ext uri="{FF2B5EF4-FFF2-40B4-BE49-F238E27FC236}">
                <a16:creationId xmlns:a16="http://schemas.microsoft.com/office/drawing/2014/main" id="{24AD5490-D976-D7BA-16EB-A95404DD9A49}"/>
              </a:ext>
            </a:extLst>
          </p:cNvPr>
          <p:cNvPicPr>
            <a:picLocks noChangeAspect="1"/>
          </p:cNvPicPr>
          <p:nvPr/>
        </p:nvPicPr>
        <p:blipFill>
          <a:blip r:embed="rId5"/>
          <a:stretch>
            <a:fillRect/>
          </a:stretch>
        </p:blipFill>
        <p:spPr>
          <a:xfrm>
            <a:off x="274320" y="1751294"/>
            <a:ext cx="3805141" cy="2787249"/>
          </a:xfrm>
          <a:prstGeom prst="rect">
            <a:avLst/>
          </a:prstGeom>
        </p:spPr>
      </p:pic>
      <p:pic>
        <p:nvPicPr>
          <p:cNvPr id="8" name="Picture 7">
            <a:extLst>
              <a:ext uri="{FF2B5EF4-FFF2-40B4-BE49-F238E27FC236}">
                <a16:creationId xmlns:a16="http://schemas.microsoft.com/office/drawing/2014/main" id="{D65DC122-81D8-1EAB-EA12-19E3B723FD23}"/>
              </a:ext>
            </a:extLst>
          </p:cNvPr>
          <p:cNvPicPr>
            <a:picLocks noChangeAspect="1"/>
          </p:cNvPicPr>
          <p:nvPr/>
        </p:nvPicPr>
        <p:blipFill>
          <a:blip r:embed="rId6"/>
          <a:stretch>
            <a:fillRect/>
          </a:stretch>
        </p:blipFill>
        <p:spPr>
          <a:xfrm>
            <a:off x="4572000" y="1628388"/>
            <a:ext cx="3897904" cy="3392206"/>
          </a:xfrm>
          <a:prstGeom prst="rect">
            <a:avLst/>
          </a:prstGeom>
        </p:spPr>
      </p:pic>
    </p:spTree>
    <p:extLst>
      <p:ext uri="{BB962C8B-B14F-4D97-AF65-F5344CB8AC3E}">
        <p14:creationId xmlns:p14="http://schemas.microsoft.com/office/powerpoint/2010/main" val="79212356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07">
          <a:extLst>
            <a:ext uri="{FF2B5EF4-FFF2-40B4-BE49-F238E27FC236}">
              <a16:creationId xmlns:a16="http://schemas.microsoft.com/office/drawing/2014/main" id="{1C96855F-BA88-3CC7-BB81-4EDABA729716}"/>
            </a:ext>
          </a:extLst>
        </p:cNvPr>
        <p:cNvGrpSpPr/>
        <p:nvPr/>
      </p:nvGrpSpPr>
      <p:grpSpPr>
        <a:xfrm>
          <a:off x="0" y="0"/>
          <a:ext cx="0" cy="0"/>
          <a:chOff x="0" y="0"/>
          <a:chExt cx="0" cy="0"/>
        </a:xfrm>
      </p:grpSpPr>
      <p:sp>
        <p:nvSpPr>
          <p:cNvPr id="309" name="Google Shape;309;p30">
            <a:extLst>
              <a:ext uri="{FF2B5EF4-FFF2-40B4-BE49-F238E27FC236}">
                <a16:creationId xmlns:a16="http://schemas.microsoft.com/office/drawing/2014/main" id="{028FD599-A950-60E1-2883-10AD9135DF7A}"/>
              </a:ext>
            </a:extLst>
          </p:cNvPr>
          <p:cNvSpPr/>
          <p:nvPr/>
        </p:nvSpPr>
        <p:spPr>
          <a:xfrm>
            <a:off x="0" y="502920"/>
            <a:ext cx="9144000" cy="36600"/>
          </a:xfrm>
          <a:prstGeom prst="rect">
            <a:avLst/>
          </a:prstGeom>
          <a:solidFill>
            <a:srgbClr val="FFFFFF"/>
          </a:solidFill>
          <a:ln w="127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10" name="Google Shape;310;p30" descr="preencoded.png">
            <a:extLst>
              <a:ext uri="{FF2B5EF4-FFF2-40B4-BE49-F238E27FC236}">
                <a16:creationId xmlns:a16="http://schemas.microsoft.com/office/drawing/2014/main" id="{8BC3760C-ACFE-7382-C13D-B1465F321DB2}"/>
              </a:ext>
            </a:extLst>
          </p:cNvPr>
          <p:cNvPicPr preferRelativeResize="0"/>
          <p:nvPr/>
        </p:nvPicPr>
        <p:blipFill rotWithShape="1">
          <a:blip r:embed="rId3">
            <a:alphaModFix/>
          </a:blip>
          <a:srcRect/>
          <a:stretch/>
        </p:blipFill>
        <p:spPr>
          <a:xfrm>
            <a:off x="274320" y="64008"/>
            <a:ext cx="365760" cy="365760"/>
          </a:xfrm>
          <a:prstGeom prst="rect">
            <a:avLst/>
          </a:prstGeom>
          <a:noFill/>
          <a:ln>
            <a:noFill/>
          </a:ln>
        </p:spPr>
      </p:pic>
      <p:sp>
        <p:nvSpPr>
          <p:cNvPr id="311" name="Google Shape;311;p30">
            <a:extLst>
              <a:ext uri="{FF2B5EF4-FFF2-40B4-BE49-F238E27FC236}">
                <a16:creationId xmlns:a16="http://schemas.microsoft.com/office/drawing/2014/main" id="{5D3730CD-7D8D-345A-7261-28E70DB4CBB8}"/>
              </a:ext>
            </a:extLst>
          </p:cNvPr>
          <p:cNvSpPr/>
          <p:nvPr/>
        </p:nvSpPr>
        <p:spPr>
          <a:xfrm>
            <a:off x="640080" y="118510"/>
            <a:ext cx="7315200" cy="438900"/>
          </a:xfrm>
          <a:prstGeom prst="rect">
            <a:avLst/>
          </a:prstGeom>
          <a:noFill/>
          <a:ln>
            <a:noFill/>
          </a:ln>
        </p:spPr>
        <p:txBody>
          <a:bodyPr spcFirstLastPara="1" wrap="square" lIns="0" tIns="0" rIns="0" bIns="0" anchor="ctr" anchorCtr="0">
            <a:noAutofit/>
          </a:bodyPr>
          <a:lstStyle/>
          <a:p>
            <a:pPr lvl="0">
              <a:lnSpc>
                <a:spcPct val="115000"/>
              </a:lnSpc>
              <a:spcBef>
                <a:spcPts val="1200"/>
              </a:spcBef>
              <a:spcAft>
                <a:spcPts val="1200"/>
              </a:spcAft>
              <a:buClr>
                <a:schemeClr val="dk1"/>
              </a:buClr>
              <a:buSzPts val="1100"/>
            </a:pPr>
            <a:r>
              <a:rPr lang="en-IN" sz="2300" b="1" dirty="0">
                <a:solidFill>
                  <a:srgbClr val="1E2761"/>
                </a:solidFill>
                <a:latin typeface="Georgia"/>
              </a:rPr>
              <a:t>Tool Calling Example – LCM calculation</a:t>
            </a:r>
            <a:endParaRPr lang="en-IN" sz="2300" b="1" dirty="0">
              <a:solidFill>
                <a:schemeClr val="tx1"/>
              </a:solidFill>
              <a:latin typeface="Calibri"/>
              <a:ea typeface="Calibri"/>
              <a:cs typeface="Calibri"/>
              <a:sym typeface="Calibri"/>
            </a:endParaRPr>
          </a:p>
        </p:txBody>
      </p:sp>
      <p:pic>
        <p:nvPicPr>
          <p:cNvPr id="2" name="Google Shape;109;p20">
            <a:extLst>
              <a:ext uri="{FF2B5EF4-FFF2-40B4-BE49-F238E27FC236}">
                <a16:creationId xmlns:a16="http://schemas.microsoft.com/office/drawing/2014/main" id="{A6862312-1B9E-ACC8-1F9B-DD332A0C0E0B}"/>
              </a:ext>
            </a:extLst>
          </p:cNvPr>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id="3" name="TextBox 2">
            <a:extLst>
              <a:ext uri="{FF2B5EF4-FFF2-40B4-BE49-F238E27FC236}">
                <a16:creationId xmlns:a16="http://schemas.microsoft.com/office/drawing/2014/main" id="{C647EC61-E85D-F71D-F24C-50A89EAE2DA5}"/>
              </a:ext>
            </a:extLst>
          </p:cNvPr>
          <p:cNvSpPr txBox="1"/>
          <p:nvPr/>
        </p:nvSpPr>
        <p:spPr>
          <a:xfrm>
            <a:off x="640080" y="723567"/>
            <a:ext cx="3018775" cy="307777"/>
          </a:xfrm>
          <a:prstGeom prst="rect">
            <a:avLst/>
          </a:prstGeom>
          <a:noFill/>
        </p:spPr>
        <p:txBody>
          <a:bodyPr wrap="none" rtlCol="0">
            <a:spAutoFit/>
          </a:bodyPr>
          <a:lstStyle/>
          <a:p>
            <a:r>
              <a:rPr lang="en-US" dirty="0">
                <a:solidFill>
                  <a:srgbClr val="1A1F36"/>
                </a:solidFill>
                <a:latin typeface="Calibri"/>
              </a:rPr>
              <a:t>: “</a:t>
            </a:r>
            <a:r>
              <a:rPr lang="en-US" dirty="0">
                <a:solidFill>
                  <a:srgbClr val="00B0F0"/>
                </a:solidFill>
                <a:latin typeface="Calibri"/>
              </a:rPr>
              <a:t>What is the LCM of 84 and 120?</a:t>
            </a:r>
            <a:r>
              <a:rPr lang="en-US" dirty="0">
                <a:solidFill>
                  <a:srgbClr val="1A1F36"/>
                </a:solidFill>
                <a:latin typeface="Calibri"/>
              </a:rPr>
              <a:t>”</a:t>
            </a:r>
          </a:p>
        </p:txBody>
      </p:sp>
      <p:pic>
        <p:nvPicPr>
          <p:cNvPr id="7" name="Picture 6">
            <a:extLst>
              <a:ext uri="{FF2B5EF4-FFF2-40B4-BE49-F238E27FC236}">
                <a16:creationId xmlns:a16="http://schemas.microsoft.com/office/drawing/2014/main" id="{833699FA-5EC8-B607-32B8-C2E47F33E183}"/>
              </a:ext>
            </a:extLst>
          </p:cNvPr>
          <p:cNvPicPr>
            <a:picLocks noChangeAspect="1"/>
          </p:cNvPicPr>
          <p:nvPr/>
        </p:nvPicPr>
        <p:blipFill>
          <a:blip r:embed="rId5"/>
          <a:stretch>
            <a:fillRect/>
          </a:stretch>
        </p:blipFill>
        <p:spPr>
          <a:xfrm>
            <a:off x="481937" y="1197501"/>
            <a:ext cx="5258906" cy="3805079"/>
          </a:xfrm>
          <a:prstGeom prst="rect">
            <a:avLst/>
          </a:prstGeom>
        </p:spPr>
      </p:pic>
      <p:sp>
        <p:nvSpPr>
          <p:cNvPr id="9" name="TextBox 8">
            <a:extLst>
              <a:ext uri="{FF2B5EF4-FFF2-40B4-BE49-F238E27FC236}">
                <a16:creationId xmlns:a16="http://schemas.microsoft.com/office/drawing/2014/main" id="{718286F1-C678-7A22-3803-7E91B0A756E4}"/>
              </a:ext>
            </a:extLst>
          </p:cNvPr>
          <p:cNvSpPr txBox="1"/>
          <p:nvPr/>
        </p:nvSpPr>
        <p:spPr>
          <a:xfrm>
            <a:off x="6408069" y="1844702"/>
            <a:ext cx="2044149" cy="369332"/>
          </a:xfrm>
          <a:prstGeom prst="rect">
            <a:avLst/>
          </a:prstGeom>
          <a:noFill/>
        </p:spPr>
        <p:txBody>
          <a:bodyPr wrap="none" rtlCol="0">
            <a:spAutoFit/>
          </a:bodyPr>
          <a:lstStyle/>
          <a:p>
            <a:r>
              <a:rPr lang="en-US" sz="1800" dirty="0">
                <a:solidFill>
                  <a:srgbClr val="FF0000"/>
                </a:solidFill>
                <a:latin typeface="Calibri"/>
              </a:rPr>
              <a:t>Setup the function</a:t>
            </a:r>
          </a:p>
        </p:txBody>
      </p:sp>
    </p:spTree>
    <p:extLst>
      <p:ext uri="{BB962C8B-B14F-4D97-AF65-F5344CB8AC3E}">
        <p14:creationId xmlns:p14="http://schemas.microsoft.com/office/powerpoint/2010/main" val="271736853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07">
          <a:extLst>
            <a:ext uri="{FF2B5EF4-FFF2-40B4-BE49-F238E27FC236}">
              <a16:creationId xmlns:a16="http://schemas.microsoft.com/office/drawing/2014/main" id="{CD95A709-A925-5991-69E7-A7A6A7E021B3}"/>
            </a:ext>
          </a:extLst>
        </p:cNvPr>
        <p:cNvGrpSpPr/>
        <p:nvPr/>
      </p:nvGrpSpPr>
      <p:grpSpPr>
        <a:xfrm>
          <a:off x="0" y="0"/>
          <a:ext cx="0" cy="0"/>
          <a:chOff x="0" y="0"/>
          <a:chExt cx="0" cy="0"/>
        </a:xfrm>
      </p:grpSpPr>
      <p:sp>
        <p:nvSpPr>
          <p:cNvPr id="309" name="Google Shape;309;p30">
            <a:extLst>
              <a:ext uri="{FF2B5EF4-FFF2-40B4-BE49-F238E27FC236}">
                <a16:creationId xmlns:a16="http://schemas.microsoft.com/office/drawing/2014/main" id="{24A73B43-037F-7934-FC33-5A5E4CCE9086}"/>
              </a:ext>
            </a:extLst>
          </p:cNvPr>
          <p:cNvSpPr/>
          <p:nvPr/>
        </p:nvSpPr>
        <p:spPr>
          <a:xfrm>
            <a:off x="0" y="502920"/>
            <a:ext cx="9144000" cy="36600"/>
          </a:xfrm>
          <a:prstGeom prst="rect">
            <a:avLst/>
          </a:prstGeom>
          <a:solidFill>
            <a:srgbClr val="FFFFFF"/>
          </a:solidFill>
          <a:ln w="127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10" name="Google Shape;310;p30" descr="preencoded.png">
            <a:extLst>
              <a:ext uri="{FF2B5EF4-FFF2-40B4-BE49-F238E27FC236}">
                <a16:creationId xmlns:a16="http://schemas.microsoft.com/office/drawing/2014/main" id="{ECF314B5-DC9F-8FE3-2A20-48F707166DCD}"/>
              </a:ext>
            </a:extLst>
          </p:cNvPr>
          <p:cNvPicPr preferRelativeResize="0"/>
          <p:nvPr/>
        </p:nvPicPr>
        <p:blipFill rotWithShape="1">
          <a:blip r:embed="rId3">
            <a:alphaModFix/>
          </a:blip>
          <a:srcRect/>
          <a:stretch/>
        </p:blipFill>
        <p:spPr>
          <a:xfrm>
            <a:off x="274320" y="64008"/>
            <a:ext cx="365760" cy="365760"/>
          </a:xfrm>
          <a:prstGeom prst="rect">
            <a:avLst/>
          </a:prstGeom>
          <a:noFill/>
          <a:ln>
            <a:noFill/>
          </a:ln>
        </p:spPr>
      </p:pic>
      <p:sp>
        <p:nvSpPr>
          <p:cNvPr id="311" name="Google Shape;311;p30">
            <a:extLst>
              <a:ext uri="{FF2B5EF4-FFF2-40B4-BE49-F238E27FC236}">
                <a16:creationId xmlns:a16="http://schemas.microsoft.com/office/drawing/2014/main" id="{5C85C900-96E3-FFC0-22BC-60DF640A444E}"/>
              </a:ext>
            </a:extLst>
          </p:cNvPr>
          <p:cNvSpPr/>
          <p:nvPr/>
        </p:nvSpPr>
        <p:spPr>
          <a:xfrm>
            <a:off x="640080" y="118510"/>
            <a:ext cx="7315200" cy="438900"/>
          </a:xfrm>
          <a:prstGeom prst="rect">
            <a:avLst/>
          </a:prstGeom>
          <a:noFill/>
          <a:ln>
            <a:noFill/>
          </a:ln>
        </p:spPr>
        <p:txBody>
          <a:bodyPr spcFirstLastPara="1" wrap="square" lIns="0" tIns="0" rIns="0" bIns="0" anchor="ctr" anchorCtr="0">
            <a:noAutofit/>
          </a:bodyPr>
          <a:lstStyle/>
          <a:p>
            <a:pPr lvl="0">
              <a:lnSpc>
                <a:spcPct val="115000"/>
              </a:lnSpc>
              <a:spcBef>
                <a:spcPts val="1200"/>
              </a:spcBef>
              <a:spcAft>
                <a:spcPts val="1200"/>
              </a:spcAft>
              <a:buClr>
                <a:schemeClr val="dk1"/>
              </a:buClr>
              <a:buSzPts val="1100"/>
            </a:pPr>
            <a:r>
              <a:rPr lang="en-IN" sz="2300" b="1" dirty="0">
                <a:solidFill>
                  <a:srgbClr val="1E2761"/>
                </a:solidFill>
                <a:latin typeface="Georgia"/>
              </a:rPr>
              <a:t>Tool Calling Example – LCM calculation</a:t>
            </a:r>
            <a:endParaRPr lang="en-IN" sz="2300" b="1" dirty="0">
              <a:solidFill>
                <a:schemeClr val="tx1"/>
              </a:solidFill>
              <a:latin typeface="Calibri"/>
              <a:ea typeface="Calibri"/>
              <a:cs typeface="Calibri"/>
              <a:sym typeface="Calibri"/>
            </a:endParaRPr>
          </a:p>
        </p:txBody>
      </p:sp>
      <p:pic>
        <p:nvPicPr>
          <p:cNvPr id="2" name="Google Shape;109;p20">
            <a:extLst>
              <a:ext uri="{FF2B5EF4-FFF2-40B4-BE49-F238E27FC236}">
                <a16:creationId xmlns:a16="http://schemas.microsoft.com/office/drawing/2014/main" id="{4F0763C7-477C-1A56-C0E9-79BFC6324BE6}"/>
              </a:ext>
            </a:extLst>
          </p:cNvPr>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id="9" name="TextBox 8">
            <a:extLst>
              <a:ext uri="{FF2B5EF4-FFF2-40B4-BE49-F238E27FC236}">
                <a16:creationId xmlns:a16="http://schemas.microsoft.com/office/drawing/2014/main" id="{68867B93-9858-3A42-90A7-963B5030B6EB}"/>
              </a:ext>
            </a:extLst>
          </p:cNvPr>
          <p:cNvSpPr txBox="1"/>
          <p:nvPr/>
        </p:nvSpPr>
        <p:spPr>
          <a:xfrm>
            <a:off x="5745743" y="1251584"/>
            <a:ext cx="3038011" cy="1815882"/>
          </a:xfrm>
          <a:prstGeom prst="rect">
            <a:avLst/>
          </a:prstGeom>
          <a:noFill/>
        </p:spPr>
        <p:txBody>
          <a:bodyPr wrap="none" rtlCol="0">
            <a:spAutoFit/>
          </a:bodyPr>
          <a:lstStyle/>
          <a:p>
            <a:r>
              <a:rPr lang="en-US" dirty="0">
                <a:solidFill>
                  <a:srgbClr val="1A1F36"/>
                </a:solidFill>
                <a:latin typeface="Calibri"/>
              </a:rPr>
              <a:t>Create the first set of function calls</a:t>
            </a:r>
          </a:p>
          <a:p>
            <a:r>
              <a:rPr lang="en-US" dirty="0">
                <a:solidFill>
                  <a:srgbClr val="1A1F36"/>
                </a:solidFill>
                <a:latin typeface="Calibri"/>
              </a:rPr>
              <a:t>Using an LLM call</a:t>
            </a:r>
          </a:p>
          <a:p>
            <a:endParaRPr lang="en-US" dirty="0"/>
          </a:p>
          <a:p>
            <a:r>
              <a:rPr lang="en-US" dirty="0">
                <a:solidFill>
                  <a:srgbClr val="1A1F36"/>
                </a:solidFill>
                <a:latin typeface="Calibri"/>
              </a:rPr>
              <a:t>Execute the function</a:t>
            </a:r>
          </a:p>
          <a:p>
            <a:endParaRPr lang="en-US" dirty="0"/>
          </a:p>
          <a:p>
            <a:r>
              <a:rPr lang="en-US" dirty="0">
                <a:solidFill>
                  <a:srgbClr val="1A1F36"/>
                </a:solidFill>
                <a:latin typeface="Calibri"/>
              </a:rPr>
              <a:t>Create the input for the second LLM</a:t>
            </a:r>
          </a:p>
          <a:p>
            <a:r>
              <a:rPr lang="en-US" dirty="0">
                <a:solidFill>
                  <a:srgbClr val="1A1F36"/>
                </a:solidFill>
                <a:latin typeface="Calibri"/>
              </a:rPr>
              <a:t>Call using the output from the</a:t>
            </a:r>
          </a:p>
          <a:p>
            <a:r>
              <a:rPr lang="en-US" dirty="0">
                <a:solidFill>
                  <a:srgbClr val="1A1F36"/>
                </a:solidFill>
                <a:latin typeface="Calibri"/>
              </a:rPr>
              <a:t>Function call</a:t>
            </a:r>
          </a:p>
        </p:txBody>
      </p:sp>
      <p:pic>
        <p:nvPicPr>
          <p:cNvPr id="5" name="Picture 4">
            <a:extLst>
              <a:ext uri="{FF2B5EF4-FFF2-40B4-BE49-F238E27FC236}">
                <a16:creationId xmlns:a16="http://schemas.microsoft.com/office/drawing/2014/main" id="{7581077B-1291-FC57-F386-9B0EE681C85D}"/>
              </a:ext>
            </a:extLst>
          </p:cNvPr>
          <p:cNvPicPr>
            <a:picLocks noChangeAspect="1"/>
          </p:cNvPicPr>
          <p:nvPr/>
        </p:nvPicPr>
        <p:blipFill>
          <a:blip r:embed="rId5"/>
          <a:stretch>
            <a:fillRect/>
          </a:stretch>
        </p:blipFill>
        <p:spPr>
          <a:xfrm>
            <a:off x="640080" y="611912"/>
            <a:ext cx="4630953" cy="4461871"/>
          </a:xfrm>
          <a:prstGeom prst="rect">
            <a:avLst/>
          </a:prstGeom>
        </p:spPr>
      </p:pic>
    </p:spTree>
    <p:extLst>
      <p:ext uri="{BB962C8B-B14F-4D97-AF65-F5344CB8AC3E}">
        <p14:creationId xmlns:p14="http://schemas.microsoft.com/office/powerpoint/2010/main" val="264295232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07">
          <a:extLst>
            <a:ext uri="{FF2B5EF4-FFF2-40B4-BE49-F238E27FC236}">
              <a16:creationId xmlns:a16="http://schemas.microsoft.com/office/drawing/2014/main" id="{45FC9D31-650E-2D23-44DE-0A0C79A34320}"/>
            </a:ext>
          </a:extLst>
        </p:cNvPr>
        <p:cNvGrpSpPr/>
        <p:nvPr/>
      </p:nvGrpSpPr>
      <p:grpSpPr>
        <a:xfrm>
          <a:off x="0" y="0"/>
          <a:ext cx="0" cy="0"/>
          <a:chOff x="0" y="0"/>
          <a:chExt cx="0" cy="0"/>
        </a:xfrm>
      </p:grpSpPr>
      <p:sp>
        <p:nvSpPr>
          <p:cNvPr id="309" name="Google Shape;309;p30">
            <a:extLst>
              <a:ext uri="{FF2B5EF4-FFF2-40B4-BE49-F238E27FC236}">
                <a16:creationId xmlns:a16="http://schemas.microsoft.com/office/drawing/2014/main" id="{BABD5A04-7B18-6CF3-FBF3-BA04ECC51CB0}"/>
              </a:ext>
            </a:extLst>
          </p:cNvPr>
          <p:cNvSpPr/>
          <p:nvPr/>
        </p:nvSpPr>
        <p:spPr>
          <a:xfrm>
            <a:off x="0" y="502920"/>
            <a:ext cx="9144000" cy="36600"/>
          </a:xfrm>
          <a:prstGeom prst="rect">
            <a:avLst/>
          </a:prstGeom>
          <a:solidFill>
            <a:srgbClr val="FFFFFF"/>
          </a:solidFill>
          <a:ln w="127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10" name="Google Shape;310;p30" descr="preencoded.png">
            <a:extLst>
              <a:ext uri="{FF2B5EF4-FFF2-40B4-BE49-F238E27FC236}">
                <a16:creationId xmlns:a16="http://schemas.microsoft.com/office/drawing/2014/main" id="{89435E12-197C-0D6F-2A5E-D94E943526FF}"/>
              </a:ext>
            </a:extLst>
          </p:cNvPr>
          <p:cNvPicPr preferRelativeResize="0"/>
          <p:nvPr/>
        </p:nvPicPr>
        <p:blipFill rotWithShape="1">
          <a:blip r:embed="rId3">
            <a:alphaModFix/>
          </a:blip>
          <a:srcRect/>
          <a:stretch/>
        </p:blipFill>
        <p:spPr>
          <a:xfrm>
            <a:off x="274320" y="64008"/>
            <a:ext cx="365760" cy="365760"/>
          </a:xfrm>
          <a:prstGeom prst="rect">
            <a:avLst/>
          </a:prstGeom>
          <a:noFill/>
          <a:ln>
            <a:noFill/>
          </a:ln>
        </p:spPr>
      </p:pic>
      <p:sp>
        <p:nvSpPr>
          <p:cNvPr id="311" name="Google Shape;311;p30">
            <a:extLst>
              <a:ext uri="{FF2B5EF4-FFF2-40B4-BE49-F238E27FC236}">
                <a16:creationId xmlns:a16="http://schemas.microsoft.com/office/drawing/2014/main" id="{E76521FA-2F5E-B771-53D6-1518918BE257}"/>
              </a:ext>
            </a:extLst>
          </p:cNvPr>
          <p:cNvSpPr/>
          <p:nvPr/>
        </p:nvSpPr>
        <p:spPr>
          <a:xfrm>
            <a:off x="640080" y="118510"/>
            <a:ext cx="7315200" cy="438900"/>
          </a:xfrm>
          <a:prstGeom prst="rect">
            <a:avLst/>
          </a:prstGeom>
          <a:noFill/>
          <a:ln>
            <a:noFill/>
          </a:ln>
        </p:spPr>
        <p:txBody>
          <a:bodyPr spcFirstLastPara="1" wrap="square" lIns="0" tIns="0" rIns="0" bIns="0" anchor="ctr" anchorCtr="0">
            <a:noAutofit/>
          </a:bodyPr>
          <a:lstStyle/>
          <a:p>
            <a:pPr lvl="0">
              <a:lnSpc>
                <a:spcPct val="115000"/>
              </a:lnSpc>
              <a:spcBef>
                <a:spcPts val="1200"/>
              </a:spcBef>
              <a:spcAft>
                <a:spcPts val="1200"/>
              </a:spcAft>
              <a:buClr>
                <a:schemeClr val="dk1"/>
              </a:buClr>
              <a:buSzPts val="1100"/>
            </a:pPr>
            <a:r>
              <a:rPr lang="en-IN" sz="2300" b="1" dirty="0">
                <a:solidFill>
                  <a:srgbClr val="1E2761"/>
                </a:solidFill>
                <a:latin typeface="Georgia"/>
              </a:rPr>
              <a:t>Tool Calling Example – LCM calculation</a:t>
            </a:r>
            <a:endParaRPr lang="en-IN" sz="2300" b="1" dirty="0">
              <a:solidFill>
                <a:schemeClr val="tx1"/>
              </a:solidFill>
              <a:latin typeface="Calibri"/>
              <a:ea typeface="Calibri"/>
              <a:cs typeface="Calibri"/>
              <a:sym typeface="Calibri"/>
            </a:endParaRPr>
          </a:p>
        </p:txBody>
      </p:sp>
      <p:pic>
        <p:nvPicPr>
          <p:cNvPr id="2" name="Google Shape;109;p20">
            <a:extLst>
              <a:ext uri="{FF2B5EF4-FFF2-40B4-BE49-F238E27FC236}">
                <a16:creationId xmlns:a16="http://schemas.microsoft.com/office/drawing/2014/main" id="{136CF9DC-D661-6949-3745-F95B8E9C4E05}"/>
              </a:ext>
            </a:extLst>
          </p:cNvPr>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id="9" name="TextBox 8">
            <a:extLst>
              <a:ext uri="{FF2B5EF4-FFF2-40B4-BE49-F238E27FC236}">
                <a16:creationId xmlns:a16="http://schemas.microsoft.com/office/drawing/2014/main" id="{65F6D5DC-F5D4-FCFE-3D6B-22053F9ACB08}"/>
              </a:ext>
            </a:extLst>
          </p:cNvPr>
          <p:cNvSpPr txBox="1"/>
          <p:nvPr/>
        </p:nvSpPr>
        <p:spPr>
          <a:xfrm>
            <a:off x="7079990" y="1654834"/>
            <a:ext cx="1885453" cy="1384995"/>
          </a:xfrm>
          <a:prstGeom prst="rect">
            <a:avLst/>
          </a:prstGeom>
          <a:noFill/>
        </p:spPr>
        <p:txBody>
          <a:bodyPr wrap="none" rtlCol="0">
            <a:spAutoFit/>
          </a:bodyPr>
          <a:lstStyle/>
          <a:p>
            <a:r>
              <a:rPr lang="en-US" dirty="0">
                <a:solidFill>
                  <a:srgbClr val="1A1F36"/>
                </a:solidFill>
                <a:latin typeface="Calibri"/>
              </a:rPr>
              <a:t>Use the output from</a:t>
            </a:r>
          </a:p>
          <a:p>
            <a:r>
              <a:rPr lang="en-US" dirty="0">
                <a:solidFill>
                  <a:srgbClr val="1A1F36"/>
                </a:solidFill>
                <a:latin typeface="Calibri"/>
              </a:rPr>
              <a:t>Function execution to</a:t>
            </a:r>
          </a:p>
          <a:p>
            <a:r>
              <a:rPr lang="en-US" dirty="0">
                <a:solidFill>
                  <a:srgbClr val="1A1F36"/>
                </a:solidFill>
                <a:latin typeface="Calibri"/>
              </a:rPr>
              <a:t>Ask LLM for the final</a:t>
            </a:r>
            <a:br>
              <a:rPr lang="en-US" dirty="0"/>
            </a:br>
            <a:r>
              <a:rPr lang="en-US" dirty="0">
                <a:solidFill>
                  <a:srgbClr val="1A1F36"/>
                </a:solidFill>
                <a:latin typeface="Calibri"/>
              </a:rPr>
              <a:t>answer.</a:t>
            </a:r>
          </a:p>
          <a:p>
            <a:endParaRPr lang="en-US" dirty="0"/>
          </a:p>
          <a:p>
            <a:r>
              <a:rPr lang="en-US" dirty="0">
                <a:solidFill>
                  <a:srgbClr val="0070C0"/>
                </a:solidFill>
                <a:latin typeface="Calibri"/>
              </a:rPr>
              <a:t>Total tokens: 123</a:t>
            </a:r>
          </a:p>
        </p:txBody>
      </p:sp>
      <p:pic>
        <p:nvPicPr>
          <p:cNvPr id="4" name="Picture 3">
            <a:extLst>
              <a:ext uri="{FF2B5EF4-FFF2-40B4-BE49-F238E27FC236}">
                <a16:creationId xmlns:a16="http://schemas.microsoft.com/office/drawing/2014/main" id="{110B42A0-AB65-B1D1-4CAE-F95E4D59E135}"/>
              </a:ext>
            </a:extLst>
          </p:cNvPr>
          <p:cNvPicPr>
            <a:picLocks noChangeAspect="1"/>
          </p:cNvPicPr>
          <p:nvPr/>
        </p:nvPicPr>
        <p:blipFill>
          <a:blip r:embed="rId5"/>
          <a:stretch>
            <a:fillRect/>
          </a:stretch>
        </p:blipFill>
        <p:spPr>
          <a:xfrm>
            <a:off x="118872" y="1103435"/>
            <a:ext cx="6702552" cy="2687616"/>
          </a:xfrm>
          <a:prstGeom prst="rect">
            <a:avLst/>
          </a:prstGeom>
        </p:spPr>
      </p:pic>
    </p:spTree>
    <p:extLst>
      <p:ext uri="{BB962C8B-B14F-4D97-AF65-F5344CB8AC3E}">
        <p14:creationId xmlns:p14="http://schemas.microsoft.com/office/powerpoint/2010/main" val="39482341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C6E82-D09B-40B2-5EAF-935B94FA34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E887BF-F705-A1B7-0DDA-6EF1291CE977}"/>
              </a:ext>
            </a:extLst>
          </p:cNvPr>
          <p:cNvSpPr>
            <a:spLocks noGrp="1"/>
          </p:cNvSpPr>
          <p:nvPr>
            <p:ph type="title"/>
          </p:nvPr>
        </p:nvSpPr>
        <p:spPr/>
        <p:txBody>
          <a:bodyPr>
            <a:normAutofit fontScale="90000"/>
          </a:bodyPr>
          <a:lstStyle/>
          <a:p>
            <a:r>
              <a:rPr lang="en-US" b="1" dirty="0">
                <a:solidFill>
                  <a:srgbClr val="1E2761"/>
                </a:solidFill>
                <a:latin typeface="Georgia"/>
              </a:rPr>
              <a:t>Question</a:t>
            </a:r>
          </a:p>
        </p:txBody>
      </p:sp>
      <p:sp>
        <p:nvSpPr>
          <p:cNvPr id="3" name="Text Placeholder 2">
            <a:extLst>
              <a:ext uri="{FF2B5EF4-FFF2-40B4-BE49-F238E27FC236}">
                <a16:creationId xmlns:a16="http://schemas.microsoft.com/office/drawing/2014/main" id="{00B5770B-69A9-58F7-327E-A2B8C43B08DB}"/>
              </a:ext>
            </a:extLst>
          </p:cNvPr>
          <p:cNvSpPr>
            <a:spLocks noGrp="1"/>
          </p:cNvSpPr>
          <p:nvPr>
            <p:ph type="body" idx="1"/>
          </p:nvPr>
        </p:nvSpPr>
        <p:spPr/>
        <p:txBody>
          <a:bodyPr/>
          <a:lstStyle/>
          <a:p>
            <a:r>
              <a:rPr lang="en-US" dirty="0">
                <a:solidFill>
                  <a:srgbClr val="1A1F36"/>
                </a:solidFill>
                <a:latin typeface="Calibri"/>
              </a:rPr>
              <a:t>When we execute functions using OpenAI’s response API using the “tools” option, where the does the function actually gets executed? </a:t>
            </a:r>
            <a:br>
              <a:rPr lang="en-US" dirty="0"/>
            </a:br>
            <a:endParaRPr lang="en-US" dirty="0"/>
          </a:p>
          <a:p>
            <a:pPr lvl="1"/>
            <a:r>
              <a:rPr lang="en-US" dirty="0">
                <a:solidFill>
                  <a:srgbClr val="1A1F36"/>
                </a:solidFill>
                <a:latin typeface="Calibri"/>
              </a:rPr>
              <a:t>On the user’s machine.</a:t>
            </a:r>
          </a:p>
          <a:p>
            <a:pPr lvl="1"/>
            <a:r>
              <a:rPr lang="en-US" dirty="0">
                <a:solidFill>
                  <a:srgbClr val="1A1F36"/>
                </a:solidFill>
                <a:latin typeface="Calibri"/>
              </a:rPr>
              <a:t>On the OpenAI servers.</a:t>
            </a:r>
          </a:p>
          <a:p>
            <a:pPr lvl="1"/>
            <a:r>
              <a:rPr lang="en-US" dirty="0">
                <a:solidFill>
                  <a:srgbClr val="1A1F36"/>
                </a:solidFill>
                <a:latin typeface="Calibri"/>
              </a:rPr>
              <a:t>On a combination of the user’s machine and </a:t>
            </a:r>
            <a:br>
              <a:rPr lang="en-US" dirty="0">
                <a:solidFill>
                  <a:srgbClr val="1A1F36"/>
                </a:solidFill>
                <a:latin typeface="Calibri"/>
              </a:rPr>
            </a:br>
            <a:r>
              <a:rPr lang="en-US" dirty="0">
                <a:solidFill>
                  <a:srgbClr val="1A1F36"/>
                </a:solidFill>
                <a:latin typeface="Calibri"/>
              </a:rPr>
              <a:t>some other (third party) servers.</a:t>
            </a:r>
          </a:p>
          <a:p>
            <a:pPr lvl="1"/>
            <a:r>
              <a:rPr lang="en-US" dirty="0">
                <a:solidFill>
                  <a:srgbClr val="1A1F36"/>
                </a:solidFill>
                <a:latin typeface="Calibri"/>
              </a:rPr>
              <a:t>On a combination of the user’s machine and </a:t>
            </a:r>
            <a:br>
              <a:rPr lang="en-US" dirty="0">
                <a:solidFill>
                  <a:srgbClr val="1A1F36"/>
                </a:solidFill>
                <a:latin typeface="Calibri"/>
              </a:rPr>
            </a:br>
            <a:r>
              <a:rPr lang="en-US" dirty="0">
                <a:solidFill>
                  <a:srgbClr val="1A1F36"/>
                </a:solidFill>
                <a:latin typeface="Calibri"/>
              </a:rPr>
              <a:t>OpenAI servers.</a:t>
            </a:r>
          </a:p>
        </p:txBody>
      </p:sp>
      <p:pic>
        <p:nvPicPr>
          <p:cNvPr id="4" name="Google Shape;328;p29">
            <a:extLst>
              <a:ext uri="{FF2B5EF4-FFF2-40B4-BE49-F238E27FC236}">
                <a16:creationId xmlns:a16="http://schemas.microsoft.com/office/drawing/2014/main" id="{A318DCD3-94C4-5E50-6F67-89BDC239ED0E}"/>
              </a:ext>
            </a:extLst>
          </p:cNvPr>
          <p:cNvPicPr preferRelativeResize="0"/>
          <p:nvPr/>
        </p:nvPicPr>
        <p:blipFill>
          <a:blip r:embed="rId2">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372418720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logo.png"/>
          <p:cNvPicPr>
            <a:picLocks noChangeAspect="1"/>
          </p:cNvPicPr>
          <p:nvPr/>
        </p:nvPicPr>
        <p:blipFill>
          <a:blip r:embed="rId3"/>
          <a:stretch>
            <a:fillRect/>
          </a:stretch>
        </p:blipFill>
        <p:spPr>
          <a:xfrm>
            <a:off x="8001000" y="164592"/>
            <a:ext cx="868680" cy="833933"/>
          </a:xfrm>
          <a:prstGeom prst="rect">
            <a:avLst/>
          </a:prstGeom>
        </p:spPr>
      </p:pic>
      <p:sp>
        <p:nvSpPr>
          <p:cNvPr id="3" name="Text 0"/>
          <p:cNvSpPr/>
          <p:nvPr/>
        </p:nvSpPr>
        <p:spPr>
          <a:xfrm>
            <a:off x="457200" y="256032"/>
            <a:ext cx="5943600" cy="548640"/>
          </a:xfrm>
          <a:prstGeom prst="rect">
            <a:avLst/>
          </a:prstGeom>
          <a:noFill/>
          <a:ln/>
        </p:spPr>
        <p:txBody>
          <a:bodyPr wrap="square" lIns="0" tIns="0" rIns="0" bIns="0" rtlCol="0" anchor="ctr"/>
          <a:lstStyle/>
          <a:p>
            <a:pPr marL="0" indent="0">
              <a:buNone/>
            </a:pPr>
            <a:r>
              <a:rPr lang="en-US" sz="3400" b="1" dirty="0">
                <a:solidFill>
                  <a:srgbClr val="1E2761"/>
                </a:solidFill>
                <a:latin typeface="Cambria" pitchFamily="34" charset="0"/>
                <a:ea typeface="Cambria" pitchFamily="34" charset="-122"/>
                <a:cs typeface="Cambria" pitchFamily="34" charset="-120"/>
              </a:rPr>
              <a:t>Answer</a:t>
            </a:r>
            <a:endParaRPr lang="en-US" sz="3400" dirty="0"/>
          </a:p>
        </p:txBody>
      </p:sp>
      <p:sp>
        <p:nvSpPr>
          <p:cNvPr id="4" name="Text 1"/>
          <p:cNvSpPr/>
          <p:nvPr/>
        </p:nvSpPr>
        <p:spPr>
          <a:xfrm>
            <a:off x="457200" y="841248"/>
            <a:ext cx="8229600" cy="502920"/>
          </a:xfrm>
          <a:prstGeom prst="rect">
            <a:avLst/>
          </a:prstGeom>
          <a:noFill/>
          <a:ln/>
        </p:spPr>
        <p:txBody>
          <a:bodyPr wrap="square" lIns="0" tIns="0" rIns="0" bIns="0" rtlCol="0" anchor="t"/>
          <a:lstStyle/>
          <a:p>
            <a:pPr marL="0" indent="0">
              <a:buNone/>
            </a:pPr>
            <a:r>
              <a:rPr lang="en-US" sz="1350" i="1" dirty="0">
                <a:solidFill>
                  <a:srgbClr val="5A5A5A"/>
                </a:solidFill>
                <a:latin typeface="Calibri" pitchFamily="34" charset="0"/>
                <a:ea typeface="Calibri" pitchFamily="34" charset="-122"/>
                <a:cs typeface="Calibri" pitchFamily="34" charset="-120"/>
              </a:rPr>
              <a:t>When we execute functions using OpenAI’s response API using the “tools” option, where does the function actually get executed?</a:t>
            </a:r>
            <a:endParaRPr lang="en-US" sz="1350" dirty="0"/>
          </a:p>
        </p:txBody>
      </p:sp>
      <p:sp>
        <p:nvSpPr>
          <p:cNvPr id="5" name="Shape 2"/>
          <p:cNvSpPr/>
          <p:nvPr/>
        </p:nvSpPr>
        <p:spPr>
          <a:xfrm>
            <a:off x="457200" y="1481328"/>
            <a:ext cx="8229600" cy="457200"/>
          </a:xfrm>
          <a:prstGeom prst="roundRect">
            <a:avLst>
              <a:gd name="adj" fmla="val 12000"/>
            </a:avLst>
          </a:prstGeom>
          <a:solidFill>
            <a:srgbClr val="E8F5EC"/>
          </a:solidFill>
          <a:ln/>
          <a:effectLst>
            <a:outerShdw blurRad="63500" dist="25400" dir="2700000" algn="bl" rotWithShape="0">
              <a:srgbClr val="000000">
                <a:alpha val="12000"/>
              </a:srgbClr>
            </a:outerShdw>
          </a:effectLst>
        </p:spPr>
      </p:sp>
      <p:sp>
        <p:nvSpPr>
          <p:cNvPr id="6" name="Shape 3"/>
          <p:cNvSpPr/>
          <p:nvPr/>
        </p:nvSpPr>
        <p:spPr>
          <a:xfrm>
            <a:off x="603504" y="1581912"/>
            <a:ext cx="256032" cy="256032"/>
          </a:xfrm>
          <a:prstGeom prst="ellipse">
            <a:avLst/>
          </a:prstGeom>
          <a:solidFill>
            <a:srgbClr val="1E7A3C"/>
          </a:solidFill>
          <a:ln/>
        </p:spPr>
      </p:sp>
      <p:pic>
        <p:nvPicPr>
          <p:cNvPr id="7" name="Image 1" descr="preencoded.png"/>
          <p:cNvPicPr>
            <a:picLocks noChangeAspect="1"/>
          </p:cNvPicPr>
          <p:nvPr/>
        </p:nvPicPr>
        <p:blipFill>
          <a:blip r:embed="rId4"/>
          <a:stretch>
            <a:fillRect/>
          </a:stretch>
        </p:blipFill>
        <p:spPr>
          <a:xfrm>
            <a:off x="672084" y="1636776"/>
            <a:ext cx="146304" cy="146304"/>
          </a:xfrm>
          <a:prstGeom prst="rect">
            <a:avLst/>
          </a:prstGeom>
        </p:spPr>
      </p:pic>
      <p:sp>
        <p:nvSpPr>
          <p:cNvPr id="8" name="Text 4"/>
          <p:cNvSpPr/>
          <p:nvPr/>
        </p:nvSpPr>
        <p:spPr>
          <a:xfrm>
            <a:off x="1005840" y="1481328"/>
            <a:ext cx="7543800" cy="457200"/>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On the user’s machine.</a:t>
            </a:r>
            <a:endParaRPr lang="en-US" sz="1350" dirty="0"/>
          </a:p>
        </p:txBody>
      </p:sp>
      <p:sp>
        <p:nvSpPr>
          <p:cNvPr id="9" name="Shape 5"/>
          <p:cNvSpPr/>
          <p:nvPr/>
        </p:nvSpPr>
        <p:spPr>
          <a:xfrm>
            <a:off x="457200" y="2048256"/>
            <a:ext cx="8229600" cy="457200"/>
          </a:xfrm>
          <a:prstGeom prst="roundRect">
            <a:avLst>
              <a:gd name="adj" fmla="val 12000"/>
            </a:avLst>
          </a:prstGeom>
          <a:solidFill>
            <a:srgbClr val="F4F4F6"/>
          </a:solidFill>
          <a:ln/>
        </p:spPr>
      </p:sp>
      <p:sp>
        <p:nvSpPr>
          <p:cNvPr id="10" name="Shape 6"/>
          <p:cNvSpPr/>
          <p:nvPr/>
        </p:nvSpPr>
        <p:spPr>
          <a:xfrm>
            <a:off x="603504" y="2148840"/>
            <a:ext cx="256032" cy="256032"/>
          </a:xfrm>
          <a:prstGeom prst="ellipse">
            <a:avLst/>
          </a:prstGeom>
          <a:solidFill>
            <a:srgbClr val="D9D9DC"/>
          </a:solidFill>
          <a:ln/>
        </p:spPr>
      </p:sp>
      <p:pic>
        <p:nvPicPr>
          <p:cNvPr id="11" name="Image 2" descr="preencoded.png"/>
          <p:cNvPicPr>
            <a:picLocks noChangeAspect="1"/>
          </p:cNvPicPr>
          <p:nvPr/>
        </p:nvPicPr>
        <p:blipFill>
          <a:blip r:embed="rId5"/>
          <a:stretch>
            <a:fillRect/>
          </a:stretch>
        </p:blipFill>
        <p:spPr>
          <a:xfrm>
            <a:off x="672084" y="2203704"/>
            <a:ext cx="146304" cy="146304"/>
          </a:xfrm>
          <a:prstGeom prst="rect">
            <a:avLst/>
          </a:prstGeom>
        </p:spPr>
      </p:pic>
      <p:sp>
        <p:nvSpPr>
          <p:cNvPr id="12" name="Text 7"/>
          <p:cNvSpPr/>
          <p:nvPr/>
        </p:nvSpPr>
        <p:spPr>
          <a:xfrm>
            <a:off x="1005840" y="2048256"/>
            <a:ext cx="7543800" cy="457200"/>
          </a:xfrm>
          <a:prstGeom prst="rect">
            <a:avLst/>
          </a:prstGeom>
          <a:noFill/>
          <a:ln/>
        </p:spPr>
        <p:txBody>
          <a:bodyPr wrap="square" lIns="0" tIns="0" rIns="0" bIns="0" rtlCol="0" anchor="ctr"/>
          <a:lstStyle/>
          <a:p>
            <a:pPr marL="0" indent="0">
              <a:buNone/>
            </a:pPr>
            <a:r>
              <a:rPr lang="en-US" sz="1350" dirty="0">
                <a:solidFill>
                  <a:srgbClr val="3A3A3A"/>
                </a:solidFill>
                <a:latin typeface="Calibri" pitchFamily="34" charset="0"/>
                <a:ea typeface="Calibri" pitchFamily="34" charset="-122"/>
                <a:cs typeface="Calibri" pitchFamily="34" charset="-120"/>
              </a:rPr>
              <a:t>On the OpenAI servers.</a:t>
            </a:r>
            <a:endParaRPr lang="en-US" sz="1350" dirty="0"/>
          </a:p>
        </p:txBody>
      </p:sp>
      <p:sp>
        <p:nvSpPr>
          <p:cNvPr id="13" name="Shape 8"/>
          <p:cNvSpPr/>
          <p:nvPr/>
        </p:nvSpPr>
        <p:spPr>
          <a:xfrm>
            <a:off x="457200" y="2615184"/>
            <a:ext cx="8229600" cy="457200"/>
          </a:xfrm>
          <a:prstGeom prst="roundRect">
            <a:avLst>
              <a:gd name="adj" fmla="val 12000"/>
            </a:avLst>
          </a:prstGeom>
          <a:solidFill>
            <a:srgbClr val="F4F4F6"/>
          </a:solidFill>
          <a:ln/>
        </p:spPr>
      </p:sp>
      <p:sp>
        <p:nvSpPr>
          <p:cNvPr id="14" name="Shape 9"/>
          <p:cNvSpPr/>
          <p:nvPr/>
        </p:nvSpPr>
        <p:spPr>
          <a:xfrm>
            <a:off x="603504" y="2715768"/>
            <a:ext cx="256032" cy="256032"/>
          </a:xfrm>
          <a:prstGeom prst="ellipse">
            <a:avLst/>
          </a:prstGeom>
          <a:solidFill>
            <a:srgbClr val="D9D9DC"/>
          </a:solidFill>
          <a:ln/>
        </p:spPr>
      </p:sp>
      <p:pic>
        <p:nvPicPr>
          <p:cNvPr id="15" name="Image 3" descr="preencoded.png"/>
          <p:cNvPicPr>
            <a:picLocks noChangeAspect="1"/>
          </p:cNvPicPr>
          <p:nvPr/>
        </p:nvPicPr>
        <p:blipFill>
          <a:blip r:embed="rId5"/>
          <a:stretch>
            <a:fillRect/>
          </a:stretch>
        </p:blipFill>
        <p:spPr>
          <a:xfrm>
            <a:off x="672084" y="2770632"/>
            <a:ext cx="146304" cy="146304"/>
          </a:xfrm>
          <a:prstGeom prst="rect">
            <a:avLst/>
          </a:prstGeom>
        </p:spPr>
      </p:pic>
      <p:sp>
        <p:nvSpPr>
          <p:cNvPr id="16" name="Text 10"/>
          <p:cNvSpPr/>
          <p:nvPr/>
        </p:nvSpPr>
        <p:spPr>
          <a:xfrm>
            <a:off x="1005840" y="2615184"/>
            <a:ext cx="7543800" cy="457200"/>
          </a:xfrm>
          <a:prstGeom prst="rect">
            <a:avLst/>
          </a:prstGeom>
          <a:noFill/>
          <a:ln/>
        </p:spPr>
        <p:txBody>
          <a:bodyPr wrap="square" lIns="0" tIns="0" rIns="0" bIns="0" rtlCol="0" anchor="ctr"/>
          <a:lstStyle/>
          <a:p>
            <a:pPr marL="0" indent="0">
              <a:buNone/>
            </a:pPr>
            <a:r>
              <a:rPr lang="en-US" sz="1350" dirty="0">
                <a:solidFill>
                  <a:srgbClr val="3A3A3A"/>
                </a:solidFill>
                <a:latin typeface="Calibri" pitchFamily="34" charset="0"/>
                <a:ea typeface="Calibri" pitchFamily="34" charset="-122"/>
                <a:cs typeface="Calibri" pitchFamily="34" charset="-120"/>
              </a:rPr>
              <a:t>On a combination of the user’s machine and some other (third party) servers.</a:t>
            </a:r>
            <a:endParaRPr lang="en-US" sz="1350" dirty="0"/>
          </a:p>
        </p:txBody>
      </p:sp>
      <p:sp>
        <p:nvSpPr>
          <p:cNvPr id="17" name="Shape 11"/>
          <p:cNvSpPr/>
          <p:nvPr/>
        </p:nvSpPr>
        <p:spPr>
          <a:xfrm>
            <a:off x="457200" y="3182112"/>
            <a:ext cx="8229600" cy="457200"/>
          </a:xfrm>
          <a:prstGeom prst="roundRect">
            <a:avLst>
              <a:gd name="adj" fmla="val 12000"/>
            </a:avLst>
          </a:prstGeom>
          <a:solidFill>
            <a:srgbClr val="F4F4F6"/>
          </a:solidFill>
          <a:ln/>
        </p:spPr>
      </p:sp>
      <p:sp>
        <p:nvSpPr>
          <p:cNvPr id="18" name="Shape 12"/>
          <p:cNvSpPr/>
          <p:nvPr/>
        </p:nvSpPr>
        <p:spPr>
          <a:xfrm>
            <a:off x="603504" y="3282696"/>
            <a:ext cx="256032" cy="256032"/>
          </a:xfrm>
          <a:prstGeom prst="ellipse">
            <a:avLst/>
          </a:prstGeom>
          <a:solidFill>
            <a:srgbClr val="D9D9DC"/>
          </a:solidFill>
          <a:ln/>
        </p:spPr>
      </p:sp>
      <p:pic>
        <p:nvPicPr>
          <p:cNvPr id="19" name="Image 4" descr="preencoded.png"/>
          <p:cNvPicPr>
            <a:picLocks noChangeAspect="1"/>
          </p:cNvPicPr>
          <p:nvPr/>
        </p:nvPicPr>
        <p:blipFill>
          <a:blip r:embed="rId5"/>
          <a:stretch>
            <a:fillRect/>
          </a:stretch>
        </p:blipFill>
        <p:spPr>
          <a:xfrm>
            <a:off x="672084" y="3337560"/>
            <a:ext cx="146304" cy="146304"/>
          </a:xfrm>
          <a:prstGeom prst="rect">
            <a:avLst/>
          </a:prstGeom>
        </p:spPr>
      </p:pic>
      <p:sp>
        <p:nvSpPr>
          <p:cNvPr id="20" name="Text 13"/>
          <p:cNvSpPr/>
          <p:nvPr/>
        </p:nvSpPr>
        <p:spPr>
          <a:xfrm>
            <a:off x="1005840" y="3182112"/>
            <a:ext cx="7543800" cy="457200"/>
          </a:xfrm>
          <a:prstGeom prst="rect">
            <a:avLst/>
          </a:prstGeom>
          <a:noFill/>
          <a:ln/>
        </p:spPr>
        <p:txBody>
          <a:bodyPr wrap="square" lIns="0" tIns="0" rIns="0" bIns="0" rtlCol="0" anchor="ctr"/>
          <a:lstStyle/>
          <a:p>
            <a:pPr marL="0" indent="0">
              <a:buNone/>
            </a:pPr>
            <a:r>
              <a:rPr lang="en-US" sz="1350" dirty="0">
                <a:solidFill>
                  <a:srgbClr val="3A3A3A"/>
                </a:solidFill>
                <a:latin typeface="Calibri" pitchFamily="34" charset="0"/>
                <a:ea typeface="Calibri" pitchFamily="34" charset="-122"/>
                <a:cs typeface="Calibri" pitchFamily="34" charset="-120"/>
              </a:rPr>
              <a:t>On a combination of the user’s machine and OpenAI servers.</a:t>
            </a:r>
            <a:endParaRPr lang="en-US" sz="1350" dirty="0"/>
          </a:p>
        </p:txBody>
      </p:sp>
      <p:sp>
        <p:nvSpPr>
          <p:cNvPr id="21" name="Shape 14"/>
          <p:cNvSpPr/>
          <p:nvPr/>
        </p:nvSpPr>
        <p:spPr>
          <a:xfrm>
            <a:off x="457200" y="3803904"/>
            <a:ext cx="8229600" cy="996696"/>
          </a:xfrm>
          <a:prstGeom prst="roundRect">
            <a:avLst>
              <a:gd name="adj" fmla="val 5505"/>
            </a:avLst>
          </a:prstGeom>
          <a:solidFill>
            <a:srgbClr val="F5F6FA"/>
          </a:solidFill>
          <a:ln/>
        </p:spPr>
      </p:sp>
      <p:sp>
        <p:nvSpPr>
          <p:cNvPr id="22" name="Text 15"/>
          <p:cNvSpPr/>
          <p:nvPr/>
        </p:nvSpPr>
        <p:spPr>
          <a:xfrm>
            <a:off x="640080" y="3931920"/>
            <a:ext cx="7863840" cy="740664"/>
          </a:xfrm>
          <a:prstGeom prst="rect">
            <a:avLst/>
          </a:prstGeom>
          <a:noFill/>
          <a:ln/>
        </p:spPr>
        <p:txBody>
          <a:bodyPr wrap="square" lIns="0" tIns="0" rIns="0" bIns="0" rtlCol="0" anchor="t"/>
          <a:lstStyle/>
          <a:p>
            <a:pPr marL="0" indent="0">
              <a:lnSpc>
                <a:spcPct val="115000"/>
              </a:lnSpc>
              <a:buNone/>
            </a:pPr>
            <a:r>
              <a:rPr lang="en-US" sz="1300" b="1" dirty="0">
                <a:solidFill>
                  <a:srgbClr val="1E2761"/>
                </a:solidFill>
                <a:latin typeface="Calibri" pitchFamily="34" charset="0"/>
                <a:ea typeface="Calibri" pitchFamily="34" charset="-122"/>
                <a:cs typeface="Calibri" pitchFamily="34" charset="-120"/>
              </a:rPr>
              <a:t>Why: </a:t>
            </a:r>
            <a:r>
              <a:rPr lang="en-US" sz="1300" dirty="0">
                <a:solidFill>
                  <a:srgbClr val="2E2E2E"/>
                </a:solidFill>
                <a:latin typeface="Calibri" pitchFamily="34" charset="0"/>
                <a:ea typeface="Calibri" pitchFamily="34" charset="-122"/>
                <a:cs typeface="Calibri" pitchFamily="34" charset="-120"/>
              </a:rPr>
              <a:t>OpenAI’s “tools” option does not execute anything on OpenAI’s servers. The model only decides that a function should be called and returns the function name plus arguments as structured output. It is the calling application — running on the user’s / developer’s own machine or infrastructure — that must actually run the function and, if needed, send the result back to the model in a follow-up API call.</a:t>
            </a:r>
            <a:endParaRPr lang="en-US" sz="1300" dirty="0"/>
          </a:p>
        </p:txBody>
      </p:sp>
    </p:spTree>
    <p:extLst>
      <p:ext uri="{BB962C8B-B14F-4D97-AF65-F5344CB8AC3E}">
        <p14:creationId xmlns:p14="http://schemas.microsoft.com/office/powerpoint/2010/main" val="355095311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11480" y="146304"/>
            <a:ext cx="8321040" cy="566928"/>
          </a:xfrm>
          <a:prstGeom prst="rect">
            <a:avLst/>
          </a:prstGeom>
          <a:noFill/>
          <a:ln/>
        </p:spPr>
        <p:txBody>
          <a:bodyPr wrap="square" lIns="0" tIns="0" rIns="0" bIns="0" rtlCol="0" anchor="ctr"/>
          <a:lstStyle/>
          <a:p>
            <a:r>
              <a:rPr lang="en-US" sz="2500" b="1" dirty="0">
                <a:solidFill>
                  <a:srgbClr val="1A1F36"/>
                </a:solidFill>
                <a:latin typeface="Georgia" pitchFamily="34" charset="0"/>
                <a:ea typeface="Georgia" pitchFamily="34" charset="-122"/>
                <a:cs typeface="Georgia" pitchFamily="34" charset="-120"/>
              </a:rPr>
              <a:t>Where Structured Output Is Required</a:t>
            </a:r>
            <a:endParaRPr lang="en-US" sz="2500" dirty="0"/>
          </a:p>
        </p:txBody>
      </p:sp>
      <p:sp>
        <p:nvSpPr>
          <p:cNvPr id="4" name="Text 2"/>
          <p:cNvSpPr/>
          <p:nvPr/>
        </p:nvSpPr>
        <p:spPr>
          <a:xfrm>
            <a:off x="411480" y="768096"/>
            <a:ext cx="8321040" cy="402336"/>
          </a:xfrm>
          <a:prstGeom prst="rect">
            <a:avLst/>
          </a:prstGeom>
          <a:noFill/>
          <a:ln/>
        </p:spPr>
        <p:txBody>
          <a:bodyPr wrap="square" rtlCol="0" anchor="ctr"/>
          <a:lstStyle/>
          <a:p>
            <a:r>
              <a:rPr lang="en-US" sz="1300" dirty="0">
                <a:solidFill>
                  <a:srgbClr val="1A1F36"/>
                </a:solidFill>
                <a:latin typeface="Calibri" pitchFamily="34" charset="0"/>
                <a:ea typeface="Calibri" pitchFamily="34" charset="-122"/>
                <a:cs typeface="Calibri" pitchFamily="34" charset="-120"/>
              </a:rPr>
              <a:t>Three everyday LLM tasks where free-form text breaks downstream systems — and the exact shape each one needs:</a:t>
            </a:r>
            <a:endParaRPr lang="en-US" sz="1300" dirty="0"/>
          </a:p>
        </p:txBody>
      </p:sp>
      <p:sp>
        <p:nvSpPr>
          <p:cNvPr id="5" name="Shape 3"/>
          <p:cNvSpPr/>
          <p:nvPr/>
        </p:nvSpPr>
        <p:spPr>
          <a:xfrm>
            <a:off x="320040" y="1243584"/>
            <a:ext cx="2651760" cy="3000000"/>
          </a:xfrm>
          <a:prstGeom prst="rect">
            <a:avLst/>
          </a:prstGeom>
          <a:solidFill>
            <a:srgbClr val="D6E4F7"/>
          </a:solidFill>
          <a:ln w="15240">
            <a:solidFill>
              <a:srgbClr val="3D5A80"/>
            </a:solidFill>
            <a:prstDash val="solid"/>
          </a:ln>
          <a:effectLst>
            <a:outerShdw blurRad="63500" dist="25400" dir="8100000" algn="bl" rotWithShape="0">
              <a:srgbClr val="1A1F36">
                <a:alpha val="12000"/>
              </a:srgbClr>
            </a:outerShdw>
          </a:effectLst>
        </p:spPr>
      </p:sp>
      <p:sp>
        <p:nvSpPr>
          <p:cNvPr id="6" name="Shape 4"/>
          <p:cNvSpPr/>
          <p:nvPr/>
        </p:nvSpPr>
        <p:spPr>
          <a:xfrm>
            <a:off x="320040" y="1243584"/>
            <a:ext cx="64008" cy="3000000"/>
          </a:xfrm>
          <a:prstGeom prst="rect">
            <a:avLst/>
          </a:prstGeom>
          <a:solidFill>
            <a:srgbClr val="3D5A80"/>
          </a:solidFill>
          <a:ln w="12700">
            <a:solidFill>
              <a:srgbClr val="3D5A80"/>
            </a:solidFill>
            <a:prstDash val="solid"/>
          </a:ln>
        </p:spPr>
      </p:sp>
      <p:sp>
        <p:nvSpPr>
          <p:cNvPr id="7" name="Text 5"/>
          <p:cNvSpPr/>
          <p:nvPr/>
        </p:nvSpPr>
        <p:spPr>
          <a:xfrm>
            <a:off x="475488" y="1316736"/>
            <a:ext cx="2423160" cy="256032"/>
          </a:xfrm>
          <a:prstGeom prst="rect">
            <a:avLst/>
          </a:prstGeom>
          <a:noFill/>
          <a:ln/>
        </p:spPr>
        <p:txBody>
          <a:bodyPr wrap="square" lIns="0" tIns="0" rIns="0" bIns="0" rtlCol="0" anchor="ctr"/>
          <a:lstStyle/>
          <a:p>
            <a:r>
              <a:rPr lang="en-US" sz="1200" b="1" dirty="0">
                <a:solidFill>
                  <a:srgbClr val="1A1F36"/>
                </a:solidFill>
                <a:latin typeface="Calibri" pitchFamily="34" charset="0"/>
                <a:ea typeface="Calibri" pitchFamily="34" charset="-122"/>
                <a:cs typeface="Calibri" pitchFamily="34" charset="-120"/>
              </a:rPr>
              <a:t>Tool / Function Calling</a:t>
            </a:r>
            <a:endParaRPr lang="en-US" sz="1200" dirty="0"/>
          </a:p>
        </p:txBody>
      </p:sp>
      <p:sp>
        <p:nvSpPr>
          <p:cNvPr id="8" name="Text 6"/>
          <p:cNvSpPr/>
          <p:nvPr/>
        </p:nvSpPr>
        <p:spPr>
          <a:xfrm>
            <a:off x="475488" y="1572768"/>
            <a:ext cx="2423160" cy="2550000"/>
          </a:xfrm>
          <a:prstGeom prst="rect">
            <a:avLst/>
          </a:prstGeom>
          <a:noFill/>
          <a:ln/>
        </p:spPr>
        <p:txBody>
          <a:bodyPr wrap="square" lIns="0" tIns="0" rIns="0" bIns="0" rtlCol="0" anchor="ctr"/>
          <a:lstStyle/>
          <a:p>
            <a:r>
              <a:rPr lang="en-US" sz="1200" dirty="0">
                <a:solidFill>
                  <a:srgbClr val="1A1F36"/>
                </a:solidFill>
                <a:latin typeface="Calibri" pitchFamily="34" charset="0"/>
                <a:ea typeface="Calibri" pitchFamily="34" charset="-122"/>
                <a:cs typeface="Calibri" pitchFamily="34" charset="-120"/>
              </a:rPr>
              <a:t>An agent’s chosen function and its arguments must match that function’s exact signature so your code can call it directly.</a:t>
            </a:r>
            <a:endParaRPr lang="en-US" sz="1200" dirty="0"/>
          </a:p>
          <a:p>
            <a:endParaRPr lang="en-US" sz="1200" dirty="0"/>
          </a:p>
          <a:p>
            <a:r>
              <a:rPr lang="en-US" sz="1100" b="1" dirty="0">
                <a:solidFill>
                  <a:srgbClr val="3D5A80"/>
                </a:solidFill>
                <a:latin typeface="Calibri" pitchFamily="34" charset="0"/>
                <a:ea typeface="Calibri" pitchFamily="34" charset="-122"/>
                <a:cs typeface="Calibri" pitchFamily="34" charset="-120"/>
              </a:rPr>
              <a:t>Format needed:</a:t>
            </a:r>
            <a:endParaRPr lang="en-US" sz="1100" dirty="0"/>
          </a:p>
          <a:p>
            <a:r>
              <a:rPr lang="en-US" sz="1000" dirty="0">
                <a:solidFill>
                  <a:srgbClr val="1A1F36"/>
                </a:solidFill>
                <a:latin typeface="Consolas" pitchFamily="34" charset="0"/>
                <a:ea typeface="Consolas" pitchFamily="34" charset="-122"/>
                <a:cs typeface="Consolas" pitchFamily="34" charset="-120"/>
              </a:rPr>
              <a:t>{"name": "get_weather",</a:t>
            </a:r>
            <a:endParaRPr lang="en-US" sz="1000" dirty="0"/>
          </a:p>
          <a:p>
            <a:r>
              <a:rPr lang="en-US" sz="1000" dirty="0">
                <a:solidFill>
                  <a:srgbClr val="1A1F36"/>
                </a:solidFill>
                <a:latin typeface="Consolas" pitchFamily="34" charset="0"/>
                <a:ea typeface="Consolas" pitchFamily="34" charset="-122"/>
                <a:cs typeface="Consolas" pitchFamily="34" charset="-120"/>
              </a:rPr>
              <a:t> "arguments": {"city": "Mumbai",</a:t>
            </a:r>
            <a:endParaRPr lang="en-US" sz="1000" dirty="0"/>
          </a:p>
          <a:p>
            <a:r>
              <a:rPr lang="en-US" sz="1000" dirty="0">
                <a:solidFill>
                  <a:srgbClr val="1A1F36"/>
                </a:solidFill>
                <a:latin typeface="Consolas" pitchFamily="34" charset="0"/>
                <a:ea typeface="Consolas" pitchFamily="34" charset="-122"/>
                <a:cs typeface="Consolas" pitchFamily="34" charset="-120"/>
              </a:rPr>
              <a:t>   "unit": "celsius"}}</a:t>
            </a:r>
            <a:endParaRPr lang="en-US" sz="1000" dirty="0"/>
          </a:p>
          <a:p>
            <a:endParaRPr lang="en-US" sz="900" dirty="0"/>
          </a:p>
          <a:p>
            <a:r>
              <a:rPr lang="en-US" sz="1000" i="1" dirty="0">
                <a:solidFill>
                  <a:srgbClr val="78909C"/>
                </a:solidFill>
                <a:latin typeface="Calibri" pitchFamily="34" charset="0"/>
                <a:ea typeface="Calibri" pitchFamily="34" charset="-122"/>
                <a:cs typeface="Calibri" pitchFamily="34" charset="-120"/>
              </a:rPr>
              <a:t>Benchmark challenge: on BFCL and tau-bench, models ace single-turn calls but still struggle to track context across multi-turn tool use.</a:t>
            </a:r>
            <a:endParaRPr lang="en-US" sz="1000" i="1" dirty="0"/>
          </a:p>
        </p:txBody>
      </p:sp>
      <p:sp>
        <p:nvSpPr>
          <p:cNvPr id="9" name="Shape 7"/>
          <p:cNvSpPr/>
          <p:nvPr/>
        </p:nvSpPr>
        <p:spPr>
          <a:xfrm>
            <a:off x="3246120" y="1243584"/>
            <a:ext cx="2651760" cy="3000000"/>
          </a:xfrm>
          <a:prstGeom prst="rect">
            <a:avLst/>
          </a:prstGeom>
          <a:solidFill>
            <a:srgbClr val="D6E4F7"/>
          </a:solidFill>
          <a:ln w="15240">
            <a:solidFill>
              <a:srgbClr val="3D5A80"/>
            </a:solidFill>
            <a:prstDash val="solid"/>
          </a:ln>
          <a:effectLst>
            <a:outerShdw blurRad="63500" dist="25400" dir="8100000" algn="bl" rotWithShape="0">
              <a:srgbClr val="1A1F36">
                <a:alpha val="12000"/>
              </a:srgbClr>
            </a:outerShdw>
          </a:effectLst>
        </p:spPr>
      </p:sp>
      <p:sp>
        <p:nvSpPr>
          <p:cNvPr id="10" name="Shape 8"/>
          <p:cNvSpPr/>
          <p:nvPr/>
        </p:nvSpPr>
        <p:spPr>
          <a:xfrm>
            <a:off x="3246120" y="1243584"/>
            <a:ext cx="64008" cy="3000000"/>
          </a:xfrm>
          <a:prstGeom prst="rect">
            <a:avLst/>
          </a:prstGeom>
          <a:solidFill>
            <a:srgbClr val="3D5A80"/>
          </a:solidFill>
          <a:ln w="12700">
            <a:solidFill>
              <a:srgbClr val="3D5A80"/>
            </a:solidFill>
            <a:prstDash val="solid"/>
          </a:ln>
        </p:spPr>
      </p:sp>
      <p:sp>
        <p:nvSpPr>
          <p:cNvPr id="11" name="Text 9"/>
          <p:cNvSpPr/>
          <p:nvPr/>
        </p:nvSpPr>
        <p:spPr>
          <a:xfrm>
            <a:off x="3401568" y="1316736"/>
            <a:ext cx="2423160" cy="256032"/>
          </a:xfrm>
          <a:prstGeom prst="rect">
            <a:avLst/>
          </a:prstGeom>
          <a:noFill/>
          <a:ln/>
        </p:spPr>
        <p:txBody>
          <a:bodyPr wrap="square" lIns="0" tIns="0" rIns="0" bIns="0" rtlCol="0" anchor="ctr"/>
          <a:lstStyle/>
          <a:p>
            <a:r>
              <a:rPr lang="en-US" sz="1200" b="1" dirty="0">
                <a:solidFill>
                  <a:srgbClr val="1A1F36"/>
                </a:solidFill>
                <a:latin typeface="Calibri" pitchFamily="34" charset="0"/>
                <a:ea typeface="Calibri" pitchFamily="34" charset="-122"/>
                <a:cs typeface="Calibri" pitchFamily="34" charset="-120"/>
              </a:rPr>
              <a:t>Document &amp; Form Extraction</a:t>
            </a:r>
            <a:endParaRPr lang="en-US" sz="1200" dirty="0"/>
          </a:p>
        </p:txBody>
      </p:sp>
      <p:sp>
        <p:nvSpPr>
          <p:cNvPr id="12" name="Text 10"/>
          <p:cNvSpPr/>
          <p:nvPr/>
        </p:nvSpPr>
        <p:spPr>
          <a:xfrm>
            <a:off x="3401568" y="1572768"/>
            <a:ext cx="2423160" cy="2550000"/>
          </a:xfrm>
          <a:prstGeom prst="rect">
            <a:avLst/>
          </a:prstGeom>
          <a:noFill/>
          <a:ln/>
        </p:spPr>
        <p:txBody>
          <a:bodyPr wrap="square" lIns="0" tIns="0" rIns="0" bIns="0" rtlCol="0" anchor="ctr"/>
          <a:lstStyle/>
          <a:p>
            <a:r>
              <a:rPr lang="en-US" sz="1200" dirty="0">
                <a:solidFill>
                  <a:srgbClr val="1A1F36"/>
                </a:solidFill>
                <a:latin typeface="Calibri" pitchFamily="34" charset="0"/>
                <a:ea typeface="Calibri" pitchFamily="34" charset="-122"/>
                <a:cs typeface="Calibri" pitchFamily="34" charset="-120"/>
              </a:rPr>
              <a:t>Invoices, resumes, and scanned forms must be converted into the fixed fields a database or workflow expects.</a:t>
            </a:r>
            <a:endParaRPr lang="en-US" sz="1200" dirty="0"/>
          </a:p>
          <a:p>
            <a:endParaRPr lang="en-US" sz="1200" dirty="0"/>
          </a:p>
          <a:p>
            <a:r>
              <a:rPr lang="en-US" sz="1100" b="1" dirty="0">
                <a:solidFill>
                  <a:srgbClr val="3D5A80"/>
                </a:solidFill>
                <a:latin typeface="Calibri" pitchFamily="34" charset="0"/>
                <a:ea typeface="Calibri" pitchFamily="34" charset="-122"/>
                <a:cs typeface="Calibri" pitchFamily="34" charset="-120"/>
              </a:rPr>
              <a:t>Format needed:</a:t>
            </a:r>
            <a:endParaRPr lang="en-US" sz="1100" dirty="0"/>
          </a:p>
          <a:p>
            <a:r>
              <a:rPr lang="en-US" sz="1000" dirty="0">
                <a:solidFill>
                  <a:srgbClr val="1A1F36"/>
                </a:solidFill>
                <a:latin typeface="Consolas" pitchFamily="34" charset="0"/>
                <a:ea typeface="Consolas" pitchFamily="34" charset="-122"/>
                <a:cs typeface="Consolas" pitchFamily="34" charset="-120"/>
              </a:rPr>
              <a:t>{"vendor": "Acme Corp",</a:t>
            </a:r>
            <a:endParaRPr lang="en-US" sz="1000" dirty="0"/>
          </a:p>
          <a:p>
            <a:r>
              <a:rPr lang="en-US" sz="1000" dirty="0">
                <a:solidFill>
                  <a:srgbClr val="1A1F36"/>
                </a:solidFill>
                <a:latin typeface="Consolas" pitchFamily="34" charset="0"/>
                <a:ea typeface="Consolas" pitchFamily="34" charset="-122"/>
                <a:cs typeface="Consolas" pitchFamily="34" charset="-120"/>
              </a:rPr>
              <a:t> "invoice_date": "2026-03-14",</a:t>
            </a:r>
            <a:endParaRPr lang="en-US" sz="1000" dirty="0"/>
          </a:p>
          <a:p>
            <a:r>
              <a:rPr lang="en-US" sz="1000" dirty="0">
                <a:solidFill>
                  <a:srgbClr val="1A1F36"/>
                </a:solidFill>
                <a:latin typeface="Consolas" pitchFamily="34" charset="0"/>
                <a:ea typeface="Consolas" pitchFamily="34" charset="-122"/>
                <a:cs typeface="Consolas" pitchFamily="34" charset="-120"/>
              </a:rPr>
              <a:t> "line_items": [...],</a:t>
            </a:r>
            <a:endParaRPr lang="en-US" sz="1000" dirty="0"/>
          </a:p>
          <a:p>
            <a:r>
              <a:rPr lang="en-US" sz="1000" dirty="0">
                <a:solidFill>
                  <a:srgbClr val="1A1F36"/>
                </a:solidFill>
                <a:latin typeface="Consolas" pitchFamily="34" charset="0"/>
                <a:ea typeface="Consolas" pitchFamily="34" charset="-122"/>
                <a:cs typeface="Consolas" pitchFamily="34" charset="-120"/>
              </a:rPr>
              <a:t> "total": 452.10}</a:t>
            </a:r>
            <a:endParaRPr lang="en-US" sz="1000" dirty="0"/>
          </a:p>
          <a:p>
            <a:endParaRPr lang="en-US" sz="900" dirty="0"/>
          </a:p>
          <a:p>
            <a:r>
              <a:rPr lang="en-US" sz="1000" i="1" dirty="0">
                <a:solidFill>
                  <a:srgbClr val="78909C"/>
                </a:solidFill>
                <a:latin typeface="Calibri" pitchFamily="34" charset="0"/>
                <a:ea typeface="Calibri" pitchFamily="34" charset="-122"/>
                <a:cs typeface="Calibri" pitchFamily="34" charset="-120"/>
              </a:rPr>
              <a:t>Benchmark challenge: CORD and SROIE (receipts), FUNSD/</a:t>
            </a:r>
            <a:r>
              <a:rPr lang="en-US" sz="1000" i="1" dirty="0" err="1">
                <a:solidFill>
                  <a:srgbClr val="78909C"/>
                </a:solidFill>
                <a:latin typeface="Calibri" pitchFamily="34" charset="0"/>
                <a:ea typeface="Calibri" pitchFamily="34" charset="-122"/>
                <a:cs typeface="Calibri" pitchFamily="34" charset="-120"/>
              </a:rPr>
              <a:t>Kleister</a:t>
            </a:r>
            <a:r>
              <a:rPr lang="en-US" sz="1000" i="1" dirty="0">
                <a:solidFill>
                  <a:srgbClr val="78909C"/>
                </a:solidFill>
                <a:latin typeface="Calibri" pitchFamily="34" charset="0"/>
                <a:ea typeface="Calibri" pitchFamily="34" charset="-122"/>
                <a:cs typeface="Calibri" pitchFamily="34" charset="-120"/>
              </a:rPr>
              <a:t> (forms), </a:t>
            </a:r>
            <a:r>
              <a:rPr lang="en-US" sz="1000" i="1" dirty="0" err="1">
                <a:solidFill>
                  <a:srgbClr val="78909C"/>
                </a:solidFill>
                <a:latin typeface="Calibri" pitchFamily="34" charset="0"/>
                <a:ea typeface="Calibri" pitchFamily="34" charset="-122"/>
                <a:cs typeface="Calibri" pitchFamily="34" charset="-120"/>
              </a:rPr>
              <a:t>DocILE</a:t>
            </a:r>
            <a:r>
              <a:rPr lang="en-US" sz="1000" i="1" dirty="0">
                <a:solidFill>
                  <a:srgbClr val="78909C"/>
                </a:solidFill>
                <a:latin typeface="Calibri" pitchFamily="34" charset="0"/>
                <a:ea typeface="Calibri" pitchFamily="34" charset="-122"/>
                <a:cs typeface="Calibri" pitchFamily="34" charset="-120"/>
              </a:rPr>
              <a:t> (invoice </a:t>
            </a:r>
            <a:r>
              <a:rPr lang="en-US" sz="1000" i="1" dirty="0" err="1">
                <a:solidFill>
                  <a:srgbClr val="78909C"/>
                </a:solidFill>
                <a:latin typeface="Calibri" pitchFamily="34" charset="0"/>
                <a:ea typeface="Calibri" pitchFamily="34" charset="-122"/>
                <a:cs typeface="Calibri" pitchFamily="34" charset="-120"/>
              </a:rPr>
              <a:t>localization+extraction</a:t>
            </a:r>
            <a:r>
              <a:rPr lang="en-US" sz="1000" i="1" dirty="0">
                <a:solidFill>
                  <a:srgbClr val="78909C"/>
                </a:solidFill>
                <a:latin typeface="Calibri" pitchFamily="34" charset="0"/>
                <a:ea typeface="Calibri" pitchFamily="34" charset="-122"/>
                <a:cs typeface="Calibri" pitchFamily="34" charset="-120"/>
              </a:rPr>
              <a:t>). Nested fields like line items are hard to score, and hallucinated fields cost as much as missed ones.</a:t>
            </a:r>
            <a:endParaRPr lang="en-US" sz="1000" i="1" dirty="0"/>
          </a:p>
        </p:txBody>
      </p:sp>
      <p:sp>
        <p:nvSpPr>
          <p:cNvPr id="13" name="Shape 11"/>
          <p:cNvSpPr/>
          <p:nvPr/>
        </p:nvSpPr>
        <p:spPr>
          <a:xfrm>
            <a:off x="6172200" y="1243584"/>
            <a:ext cx="2651760" cy="3000000"/>
          </a:xfrm>
          <a:prstGeom prst="rect">
            <a:avLst/>
          </a:prstGeom>
          <a:solidFill>
            <a:srgbClr val="D6E4F7"/>
          </a:solidFill>
          <a:ln w="15240">
            <a:solidFill>
              <a:srgbClr val="3D5A80"/>
            </a:solidFill>
            <a:prstDash val="solid"/>
          </a:ln>
          <a:effectLst>
            <a:outerShdw blurRad="63500" dist="25400" dir="8100000" algn="bl" rotWithShape="0">
              <a:srgbClr val="1A1F36">
                <a:alpha val="12000"/>
              </a:srgbClr>
            </a:outerShdw>
          </a:effectLst>
        </p:spPr>
      </p:sp>
      <p:sp>
        <p:nvSpPr>
          <p:cNvPr id="14" name="Shape 12"/>
          <p:cNvSpPr/>
          <p:nvPr/>
        </p:nvSpPr>
        <p:spPr>
          <a:xfrm>
            <a:off x="6172200" y="1243584"/>
            <a:ext cx="64008" cy="3000000"/>
          </a:xfrm>
          <a:prstGeom prst="rect">
            <a:avLst/>
          </a:prstGeom>
          <a:solidFill>
            <a:srgbClr val="3D5A80"/>
          </a:solidFill>
          <a:ln w="12700">
            <a:solidFill>
              <a:srgbClr val="3D5A80"/>
            </a:solidFill>
            <a:prstDash val="solid"/>
          </a:ln>
        </p:spPr>
      </p:sp>
      <p:sp>
        <p:nvSpPr>
          <p:cNvPr id="15" name="Text 13"/>
          <p:cNvSpPr/>
          <p:nvPr/>
        </p:nvSpPr>
        <p:spPr>
          <a:xfrm>
            <a:off x="6327648" y="1316736"/>
            <a:ext cx="2423160" cy="256032"/>
          </a:xfrm>
          <a:prstGeom prst="rect">
            <a:avLst/>
          </a:prstGeom>
          <a:noFill/>
          <a:ln/>
        </p:spPr>
        <p:txBody>
          <a:bodyPr wrap="square" lIns="0" tIns="0" rIns="0" bIns="0" rtlCol="0" anchor="ctr"/>
          <a:lstStyle/>
          <a:p>
            <a:r>
              <a:rPr lang="en-US" sz="1200" b="1" dirty="0">
                <a:solidFill>
                  <a:srgbClr val="1A1F36"/>
                </a:solidFill>
                <a:latin typeface="Calibri" pitchFamily="34" charset="0"/>
                <a:ea typeface="Calibri" pitchFamily="34" charset="-122"/>
                <a:cs typeface="Calibri" pitchFamily="34" charset="-120"/>
              </a:rPr>
              <a:t>Agent Action Selection</a:t>
            </a:r>
            <a:endParaRPr lang="en-US" sz="1200" dirty="0"/>
          </a:p>
        </p:txBody>
      </p:sp>
      <p:sp>
        <p:nvSpPr>
          <p:cNvPr id="16" name="Text 14"/>
          <p:cNvSpPr/>
          <p:nvPr/>
        </p:nvSpPr>
        <p:spPr>
          <a:xfrm>
            <a:off x="6327648" y="1572768"/>
            <a:ext cx="2423160" cy="2550000"/>
          </a:xfrm>
          <a:prstGeom prst="rect">
            <a:avLst/>
          </a:prstGeom>
          <a:noFill/>
          <a:ln/>
        </p:spPr>
        <p:txBody>
          <a:bodyPr wrap="square" lIns="0" tIns="0" rIns="0" bIns="0" rtlCol="0" anchor="ctr"/>
          <a:lstStyle/>
          <a:p>
            <a:r>
              <a:rPr lang="en-US" sz="1200" dirty="0">
                <a:solidFill>
                  <a:srgbClr val="1A1F36"/>
                </a:solidFill>
                <a:latin typeface="Calibri" pitchFamily="34" charset="0"/>
                <a:ea typeface="Calibri" pitchFamily="34" charset="-122"/>
                <a:cs typeface="Calibri" pitchFamily="34" charset="-120"/>
              </a:rPr>
              <a:t>A ReAct-style agent must pick one action from a fixed set and supply well-typed arguments to it.</a:t>
            </a:r>
            <a:endParaRPr lang="en-US" sz="1200" dirty="0"/>
          </a:p>
          <a:p>
            <a:endParaRPr lang="en-US" sz="1200" dirty="0"/>
          </a:p>
          <a:p>
            <a:r>
              <a:rPr lang="en-US" sz="1100" b="1" dirty="0">
                <a:solidFill>
                  <a:srgbClr val="3D5A80"/>
                </a:solidFill>
                <a:latin typeface="Calibri" pitchFamily="34" charset="0"/>
                <a:ea typeface="Calibri" pitchFamily="34" charset="-122"/>
                <a:cs typeface="Calibri" pitchFamily="34" charset="-120"/>
              </a:rPr>
              <a:t>Format needed:</a:t>
            </a:r>
            <a:endParaRPr lang="en-US" sz="1100" dirty="0"/>
          </a:p>
          <a:p>
            <a:r>
              <a:rPr lang="en-US" sz="1000" dirty="0">
                <a:solidFill>
                  <a:srgbClr val="1A1F36"/>
                </a:solidFill>
                <a:latin typeface="Consolas" pitchFamily="34" charset="0"/>
                <a:ea typeface="Consolas" pitchFamily="34" charset="-122"/>
                <a:cs typeface="Consolas" pitchFamily="34" charset="-120"/>
              </a:rPr>
              <a:t>{"action": "search_web",</a:t>
            </a:r>
            <a:endParaRPr lang="en-US" sz="1000" dirty="0"/>
          </a:p>
          <a:p>
            <a:r>
              <a:rPr lang="en-US" sz="1000" dirty="0">
                <a:solidFill>
                  <a:srgbClr val="1A1F36"/>
                </a:solidFill>
                <a:latin typeface="Consolas" pitchFamily="34" charset="0"/>
                <a:ea typeface="Consolas" pitchFamily="34" charset="-122"/>
                <a:cs typeface="Consolas" pitchFamily="34" charset="-120"/>
              </a:rPr>
              <a:t> "action_input":</a:t>
            </a:r>
            <a:endParaRPr lang="en-US" sz="1000" dirty="0"/>
          </a:p>
          <a:p>
            <a:r>
              <a:rPr lang="en-US" sz="1000" dirty="0">
                <a:solidFill>
                  <a:srgbClr val="1A1F36"/>
                </a:solidFill>
                <a:latin typeface="Consolas" pitchFamily="34" charset="0"/>
                <a:ea typeface="Consolas" pitchFamily="34" charset="-122"/>
                <a:cs typeface="Consolas" pitchFamily="34" charset="-120"/>
              </a:rPr>
              <a:t>   "IIT KGP admissions"}</a:t>
            </a:r>
            <a:endParaRPr lang="en-US" sz="1000" dirty="0"/>
          </a:p>
          <a:p>
            <a:endParaRPr lang="en-US" sz="900" dirty="0"/>
          </a:p>
          <a:p>
            <a:r>
              <a:rPr lang="en-US" sz="1000" i="1" dirty="0">
                <a:solidFill>
                  <a:srgbClr val="78909C"/>
                </a:solidFill>
                <a:latin typeface="Calibri" pitchFamily="34" charset="0"/>
                <a:ea typeface="Calibri" pitchFamily="34" charset="-122"/>
                <a:cs typeface="Calibri" pitchFamily="34" charset="-120"/>
              </a:rPr>
              <a:t>Benchmark challenge: on MCP-Bench and similar multi-hop tests, 5–15% error per call compounds fast across long action chains.</a:t>
            </a:r>
            <a:endParaRPr lang="en-US" sz="1000" i="1" dirty="0"/>
          </a:p>
        </p:txBody>
      </p:sp>
      <p:sp>
        <p:nvSpPr>
          <p:cNvPr id="25" name="Text 23"/>
          <p:cNvSpPr/>
          <p:nvPr/>
        </p:nvSpPr>
        <p:spPr>
          <a:xfrm>
            <a:off x="8046720" y="4800600"/>
            <a:ext cx="914400" cy="256032"/>
          </a:xfrm>
          <a:prstGeom prst="rect">
            <a:avLst/>
          </a:prstGeom>
          <a:noFill/>
          <a:ln/>
        </p:spPr>
        <p:txBody>
          <a:bodyPr wrap="square" rtlCol="0" anchor="ctr"/>
          <a:lstStyle/>
          <a:p>
            <a:pPr algn="r"/>
            <a:r>
              <a:rPr lang="en-US" sz="900" dirty="0">
                <a:solidFill>
                  <a:srgbClr val="78909C"/>
                </a:solidFill>
              </a:rPr>
              <a:t>3 / 15</a:t>
            </a:r>
            <a:endParaRPr lang="en-US" sz="900" dirty="0"/>
          </a:p>
        </p:txBody>
      </p:sp>
      <p:pic>
        <p:nvPicPr>
          <p:cNvPr id="26" name="Google Shape;109;p20">
            <a:extLst>
              <a:ext uri="{FF2B5EF4-FFF2-40B4-BE49-F238E27FC236}">
                <a16:creationId xmlns:a16="http://schemas.microsoft.com/office/drawing/2014/main" id="{6517594E-CA73-953E-79AB-2DFD9EF67080}"/>
              </a:ext>
            </a:extLst>
          </p:cNvPr>
          <p:cNvPicPr preferRelativeResize="0"/>
          <p:nvPr/>
        </p:nvPicPr>
        <p:blipFill>
          <a:blip r:embed="rId2">
            <a:alphaModFix/>
          </a:blip>
          <a:stretch>
            <a:fillRect/>
          </a:stretch>
        </p:blipFill>
        <p:spPr>
          <a:xfrm>
            <a:off x="8369126" y="0"/>
            <a:ext cx="774877" cy="867174"/>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11480" y="146304"/>
            <a:ext cx="8321040" cy="566928"/>
          </a:xfrm>
          <a:prstGeom prst="rect">
            <a:avLst/>
          </a:prstGeom>
          <a:noFill/>
          <a:ln/>
        </p:spPr>
        <p:txBody>
          <a:bodyPr wrap="square" lIns="0" tIns="0" rIns="0" bIns="0" rtlCol="0" anchor="ctr"/>
          <a:lstStyle/>
          <a:p>
            <a:r>
              <a:rPr lang="en-US" sz="2500" b="1" dirty="0">
                <a:solidFill>
                  <a:srgbClr val="1A1F36"/>
                </a:solidFill>
                <a:latin typeface="Georgia" pitchFamily="34" charset="0"/>
                <a:ea typeface="Georgia" pitchFamily="34" charset="-122"/>
                <a:cs typeface="Georgia" pitchFamily="34" charset="-120"/>
              </a:rPr>
              <a:t>More Places Structured Output Shows Up</a:t>
            </a:r>
            <a:endParaRPr lang="en-US" sz="2500" dirty="0"/>
          </a:p>
        </p:txBody>
      </p:sp>
      <p:sp>
        <p:nvSpPr>
          <p:cNvPr id="4" name="Text 2"/>
          <p:cNvSpPr/>
          <p:nvPr/>
        </p:nvSpPr>
        <p:spPr>
          <a:xfrm>
            <a:off x="411480" y="768096"/>
            <a:ext cx="8321040" cy="402336"/>
          </a:xfrm>
          <a:prstGeom prst="rect">
            <a:avLst/>
          </a:prstGeom>
          <a:noFill/>
          <a:ln/>
        </p:spPr>
        <p:txBody>
          <a:bodyPr wrap="square" rtlCol="0" anchor="ctr"/>
          <a:lstStyle/>
          <a:p>
            <a:r>
              <a:rPr lang="en-US" sz="1300" dirty="0">
                <a:solidFill>
                  <a:srgbClr val="1A1F36"/>
                </a:solidFill>
                <a:latin typeface="Calibri" pitchFamily="34" charset="0"/>
                <a:ea typeface="Calibri" pitchFamily="34" charset="-122"/>
                <a:cs typeface="Calibri" pitchFamily="34" charset="-120"/>
              </a:rPr>
              <a:t>Three more tasks that demand a fixed schema, not prose:</a:t>
            </a:r>
            <a:endParaRPr lang="en-US" sz="1300" dirty="0"/>
          </a:p>
        </p:txBody>
      </p:sp>
      <p:sp>
        <p:nvSpPr>
          <p:cNvPr id="5" name="Shape 3"/>
          <p:cNvSpPr/>
          <p:nvPr/>
        </p:nvSpPr>
        <p:spPr>
          <a:xfrm>
            <a:off x="320040" y="1243584"/>
            <a:ext cx="2651760" cy="3000000"/>
          </a:xfrm>
          <a:prstGeom prst="rect">
            <a:avLst/>
          </a:prstGeom>
          <a:solidFill>
            <a:srgbClr val="D6E4F7"/>
          </a:solidFill>
          <a:ln w="15240">
            <a:solidFill>
              <a:srgbClr val="3D5A80"/>
            </a:solidFill>
            <a:prstDash val="solid"/>
          </a:ln>
          <a:effectLst>
            <a:outerShdw blurRad="63500" dist="25400" dir="8100000" algn="bl" rotWithShape="0">
              <a:srgbClr val="1A1F36">
                <a:alpha val="12000"/>
              </a:srgbClr>
            </a:outerShdw>
          </a:effectLst>
        </p:spPr>
      </p:sp>
      <p:sp>
        <p:nvSpPr>
          <p:cNvPr id="6" name="Shape 4"/>
          <p:cNvSpPr/>
          <p:nvPr/>
        </p:nvSpPr>
        <p:spPr>
          <a:xfrm>
            <a:off x="320040" y="1243584"/>
            <a:ext cx="64008" cy="3000000"/>
          </a:xfrm>
          <a:prstGeom prst="rect">
            <a:avLst/>
          </a:prstGeom>
          <a:solidFill>
            <a:srgbClr val="3D5A80"/>
          </a:solidFill>
          <a:ln w="12700">
            <a:solidFill>
              <a:srgbClr val="3D5A80"/>
            </a:solidFill>
            <a:prstDash val="solid"/>
          </a:ln>
        </p:spPr>
      </p:sp>
      <p:sp>
        <p:nvSpPr>
          <p:cNvPr id="7" name="Text 5"/>
          <p:cNvSpPr/>
          <p:nvPr/>
        </p:nvSpPr>
        <p:spPr>
          <a:xfrm>
            <a:off x="475488" y="1316736"/>
            <a:ext cx="2423160" cy="256032"/>
          </a:xfrm>
          <a:prstGeom prst="rect">
            <a:avLst/>
          </a:prstGeom>
          <a:noFill/>
          <a:ln/>
        </p:spPr>
        <p:txBody>
          <a:bodyPr wrap="square" lIns="0" tIns="0" rIns="0" bIns="0" rtlCol="0" anchor="ctr"/>
          <a:lstStyle/>
          <a:p>
            <a:r>
              <a:rPr lang="en-US" sz="1200" b="1" dirty="0">
                <a:solidFill>
                  <a:srgbClr val="1A1F36"/>
                </a:solidFill>
                <a:latin typeface="Calibri" pitchFamily="34" charset="0"/>
                <a:ea typeface="Calibri" pitchFamily="34" charset="-122"/>
                <a:cs typeface="Calibri" pitchFamily="34" charset="-120"/>
              </a:rPr>
              <a:t>Database Writes &amp; ETL</a:t>
            </a:r>
            <a:endParaRPr lang="en-US" sz="1200" dirty="0"/>
          </a:p>
        </p:txBody>
      </p:sp>
      <p:sp>
        <p:nvSpPr>
          <p:cNvPr id="8" name="Text 6"/>
          <p:cNvSpPr/>
          <p:nvPr/>
        </p:nvSpPr>
        <p:spPr>
          <a:xfrm>
            <a:off x="475488" y="1572768"/>
            <a:ext cx="2423160" cy="2550000"/>
          </a:xfrm>
          <a:prstGeom prst="rect">
            <a:avLst/>
          </a:prstGeom>
          <a:noFill/>
          <a:ln/>
        </p:spPr>
        <p:txBody>
          <a:bodyPr wrap="square" lIns="0" tIns="0" rIns="0" bIns="0" rtlCol="0" anchor="ctr"/>
          <a:lstStyle/>
          <a:p>
            <a:r>
              <a:rPr lang="en-US" sz="1200" dirty="0">
                <a:solidFill>
                  <a:srgbClr val="1A1F36"/>
                </a:solidFill>
                <a:latin typeface="Calibri" pitchFamily="34" charset="0"/>
                <a:ea typeface="Calibri" pitchFamily="34" charset="-122"/>
                <a:cs typeface="Calibri" pitchFamily="34" charset="-120"/>
              </a:rPr>
              <a:t>An LLM-parsed record must match a database table’s column names and types exactly before it can be inserted.</a:t>
            </a:r>
            <a:endParaRPr lang="en-US" sz="1200" dirty="0"/>
          </a:p>
          <a:p>
            <a:endParaRPr lang="en-US" sz="1200" dirty="0"/>
          </a:p>
          <a:p>
            <a:r>
              <a:rPr lang="en-US" sz="1100" b="1" dirty="0">
                <a:solidFill>
                  <a:srgbClr val="3D5A80"/>
                </a:solidFill>
                <a:latin typeface="Calibri" pitchFamily="34" charset="0"/>
                <a:ea typeface="Calibri" pitchFamily="34" charset="-122"/>
                <a:cs typeface="Calibri" pitchFamily="34" charset="-120"/>
              </a:rPr>
              <a:t>Format needed:</a:t>
            </a:r>
            <a:endParaRPr lang="en-US" sz="1100" dirty="0"/>
          </a:p>
          <a:p>
            <a:r>
              <a:rPr lang="en-US" sz="1000" dirty="0">
                <a:solidFill>
                  <a:srgbClr val="1A1F36"/>
                </a:solidFill>
                <a:latin typeface="Consolas" pitchFamily="34" charset="0"/>
                <a:ea typeface="Consolas" pitchFamily="34" charset="-122"/>
                <a:cs typeface="Consolas" pitchFamily="34" charset="-120"/>
              </a:rPr>
              <a:t>{"customer_id": 4821,</a:t>
            </a:r>
            <a:endParaRPr lang="en-US" sz="1000" dirty="0"/>
          </a:p>
          <a:p>
            <a:r>
              <a:rPr lang="en-US" sz="1000" dirty="0">
                <a:solidFill>
                  <a:srgbClr val="1A1F36"/>
                </a:solidFill>
                <a:latin typeface="Consolas" pitchFamily="34" charset="0"/>
                <a:ea typeface="Consolas" pitchFamily="34" charset="-122"/>
                <a:cs typeface="Consolas" pitchFamily="34" charset="-120"/>
              </a:rPr>
              <a:t> "sku": "SKU-2291",</a:t>
            </a:r>
            <a:endParaRPr lang="en-US" sz="1000" dirty="0"/>
          </a:p>
          <a:p>
            <a:r>
              <a:rPr lang="en-US" sz="1000" dirty="0">
                <a:solidFill>
                  <a:srgbClr val="1A1F36"/>
                </a:solidFill>
                <a:latin typeface="Consolas" pitchFamily="34" charset="0"/>
                <a:ea typeface="Consolas" pitchFamily="34" charset="-122"/>
                <a:cs typeface="Consolas" pitchFamily="34" charset="-120"/>
              </a:rPr>
              <a:t> "qty": 3}</a:t>
            </a:r>
            <a:endParaRPr lang="en-US" sz="1000" dirty="0"/>
          </a:p>
          <a:p>
            <a:endParaRPr lang="en-US" sz="900" dirty="0"/>
          </a:p>
          <a:p>
            <a:r>
              <a:rPr lang="en-US" sz="1000" i="1" dirty="0">
                <a:solidFill>
                  <a:srgbClr val="78909C"/>
                </a:solidFill>
                <a:latin typeface="Calibri" pitchFamily="34" charset="0"/>
                <a:ea typeface="Calibri" pitchFamily="34" charset="-122"/>
                <a:cs typeface="Calibri" pitchFamily="34" charset="-120"/>
              </a:rPr>
              <a:t>Benchmark challenge: on Spider, accuracy nears 85%, but on messy, ambiguous real schemas like BIRD-Interact it drops to about 33%.</a:t>
            </a:r>
            <a:endParaRPr lang="en-US" sz="1000" i="1" dirty="0"/>
          </a:p>
        </p:txBody>
      </p:sp>
      <p:sp>
        <p:nvSpPr>
          <p:cNvPr id="9" name="Shape 7"/>
          <p:cNvSpPr/>
          <p:nvPr/>
        </p:nvSpPr>
        <p:spPr>
          <a:xfrm>
            <a:off x="3246120" y="1243584"/>
            <a:ext cx="2651760" cy="3000000"/>
          </a:xfrm>
          <a:prstGeom prst="rect">
            <a:avLst/>
          </a:prstGeom>
          <a:solidFill>
            <a:srgbClr val="D6E4F7"/>
          </a:solidFill>
          <a:ln w="15240">
            <a:solidFill>
              <a:srgbClr val="3D5A80"/>
            </a:solidFill>
            <a:prstDash val="solid"/>
          </a:ln>
          <a:effectLst>
            <a:outerShdw blurRad="63500" dist="25400" dir="8100000" algn="bl" rotWithShape="0">
              <a:srgbClr val="1A1F36">
                <a:alpha val="12000"/>
              </a:srgbClr>
            </a:outerShdw>
          </a:effectLst>
        </p:spPr>
      </p:sp>
      <p:sp>
        <p:nvSpPr>
          <p:cNvPr id="10" name="Shape 8"/>
          <p:cNvSpPr/>
          <p:nvPr/>
        </p:nvSpPr>
        <p:spPr>
          <a:xfrm>
            <a:off x="3246120" y="1243584"/>
            <a:ext cx="64008" cy="3000000"/>
          </a:xfrm>
          <a:prstGeom prst="rect">
            <a:avLst/>
          </a:prstGeom>
          <a:solidFill>
            <a:srgbClr val="3D5A80"/>
          </a:solidFill>
          <a:ln w="12700">
            <a:solidFill>
              <a:srgbClr val="3D5A80"/>
            </a:solidFill>
            <a:prstDash val="solid"/>
          </a:ln>
        </p:spPr>
      </p:sp>
      <p:sp>
        <p:nvSpPr>
          <p:cNvPr id="11" name="Text 9"/>
          <p:cNvSpPr/>
          <p:nvPr/>
        </p:nvSpPr>
        <p:spPr>
          <a:xfrm>
            <a:off x="3401568" y="1316736"/>
            <a:ext cx="2423160" cy="256032"/>
          </a:xfrm>
          <a:prstGeom prst="rect">
            <a:avLst/>
          </a:prstGeom>
          <a:noFill/>
          <a:ln/>
        </p:spPr>
        <p:txBody>
          <a:bodyPr wrap="square" lIns="0" tIns="0" rIns="0" bIns="0" rtlCol="0" anchor="ctr"/>
          <a:lstStyle/>
          <a:p>
            <a:r>
              <a:rPr lang="en-US" sz="1200" b="1" dirty="0">
                <a:solidFill>
                  <a:srgbClr val="1A1F36"/>
                </a:solidFill>
                <a:latin typeface="Calibri" pitchFamily="34" charset="0"/>
                <a:ea typeface="Calibri" pitchFamily="34" charset="-122"/>
                <a:cs typeface="Calibri" pitchFamily="34" charset="-120"/>
              </a:rPr>
              <a:t>Third-Party API Requests</a:t>
            </a:r>
            <a:endParaRPr lang="en-US" sz="1200" dirty="0"/>
          </a:p>
        </p:txBody>
      </p:sp>
      <p:sp>
        <p:nvSpPr>
          <p:cNvPr id="12" name="Text 10"/>
          <p:cNvSpPr/>
          <p:nvPr/>
        </p:nvSpPr>
        <p:spPr>
          <a:xfrm>
            <a:off x="3401568" y="1572768"/>
            <a:ext cx="2423160" cy="2550000"/>
          </a:xfrm>
          <a:prstGeom prst="rect">
            <a:avLst/>
          </a:prstGeom>
          <a:noFill/>
          <a:ln/>
        </p:spPr>
        <p:txBody>
          <a:bodyPr wrap="square" lIns="0" tIns="0" rIns="0" bIns="0" rtlCol="0" anchor="ctr"/>
          <a:lstStyle/>
          <a:p>
            <a:r>
              <a:rPr lang="en-US" sz="1200" dirty="0">
                <a:solidFill>
                  <a:srgbClr val="1A1F36"/>
                </a:solidFill>
                <a:latin typeface="Calibri" pitchFamily="34" charset="0"/>
                <a:ea typeface="Calibri" pitchFamily="34" charset="-122"/>
                <a:cs typeface="Calibri" pitchFamily="34" charset="-120"/>
              </a:rPr>
              <a:t>Calling an external API — search, maps, payments — requires a request body matching that API’s own schema, not the model’s wording.</a:t>
            </a:r>
            <a:endParaRPr lang="en-US" sz="1200" dirty="0"/>
          </a:p>
          <a:p>
            <a:endParaRPr lang="en-US" sz="1200" dirty="0"/>
          </a:p>
          <a:p>
            <a:r>
              <a:rPr lang="en-US" sz="1100" b="1" dirty="0">
                <a:solidFill>
                  <a:srgbClr val="3D5A80"/>
                </a:solidFill>
                <a:latin typeface="Calibri" pitchFamily="34" charset="0"/>
                <a:ea typeface="Calibri" pitchFamily="34" charset="-122"/>
                <a:cs typeface="Calibri" pitchFamily="34" charset="-120"/>
              </a:rPr>
              <a:t>Format needed:</a:t>
            </a:r>
            <a:endParaRPr lang="en-US" sz="1100" dirty="0"/>
          </a:p>
          <a:p>
            <a:r>
              <a:rPr lang="en-US" sz="1000" dirty="0">
                <a:solidFill>
                  <a:srgbClr val="1A1F36"/>
                </a:solidFill>
                <a:latin typeface="Consolas" pitchFamily="34" charset="0"/>
                <a:ea typeface="Consolas" pitchFamily="34" charset="-122"/>
                <a:cs typeface="Consolas" pitchFamily="34" charset="-120"/>
              </a:rPr>
              <a:t>{"rewritten_query":</a:t>
            </a:r>
            <a:endParaRPr lang="en-US" sz="1000" dirty="0"/>
          </a:p>
          <a:p>
            <a:r>
              <a:rPr lang="en-US" sz="1000" dirty="0">
                <a:solidFill>
                  <a:srgbClr val="1A1F36"/>
                </a:solidFill>
                <a:latin typeface="Consolas" pitchFamily="34" charset="0"/>
                <a:ea typeface="Consolas" pitchFamily="34" charset="-122"/>
                <a:cs typeface="Consolas" pitchFamily="34" charset="-120"/>
              </a:rPr>
              <a:t>   "AI advancements",</a:t>
            </a:r>
            <a:endParaRPr lang="en-US" sz="1000" dirty="0"/>
          </a:p>
          <a:p>
            <a:r>
              <a:rPr lang="en-US" sz="1000" dirty="0">
                <a:solidFill>
                  <a:srgbClr val="1A1F36"/>
                </a:solidFill>
                <a:latin typeface="Consolas" pitchFamily="34" charset="0"/>
                <a:ea typeface="Consolas" pitchFamily="34" charset="-122"/>
                <a:cs typeface="Consolas" pitchFamily="34" charset="-120"/>
              </a:rPr>
              <a:t> "domains_allow_list": [...]}</a:t>
            </a:r>
            <a:endParaRPr lang="en-US" sz="1000" dirty="0"/>
          </a:p>
          <a:p>
            <a:endParaRPr lang="en-US" sz="900" dirty="0"/>
          </a:p>
          <a:p>
            <a:r>
              <a:rPr lang="en-US" sz="1000" i="1" dirty="0">
                <a:solidFill>
                  <a:srgbClr val="78909C"/>
                </a:solidFill>
                <a:latin typeface="Calibri" pitchFamily="34" charset="0"/>
                <a:ea typeface="Calibri" pitchFamily="34" charset="-122"/>
                <a:cs typeface="Calibri" pitchFamily="34" charset="-120"/>
              </a:rPr>
              <a:t>Benchmark challenge: on API-Bank and ToolBench, hallucinating APIs and mis-extracting parameters are still the top failure modes.</a:t>
            </a:r>
            <a:endParaRPr lang="en-US" sz="1000" i="1" dirty="0"/>
          </a:p>
        </p:txBody>
      </p:sp>
      <p:sp>
        <p:nvSpPr>
          <p:cNvPr id="13" name="Shape 11"/>
          <p:cNvSpPr/>
          <p:nvPr/>
        </p:nvSpPr>
        <p:spPr>
          <a:xfrm>
            <a:off x="6172200" y="1243584"/>
            <a:ext cx="2651760" cy="3000000"/>
          </a:xfrm>
          <a:prstGeom prst="rect">
            <a:avLst/>
          </a:prstGeom>
          <a:solidFill>
            <a:srgbClr val="D6E4F7"/>
          </a:solidFill>
          <a:ln w="15240">
            <a:solidFill>
              <a:srgbClr val="3D5A80"/>
            </a:solidFill>
            <a:prstDash val="solid"/>
          </a:ln>
          <a:effectLst>
            <a:outerShdw blurRad="63500" dist="25400" dir="8100000" algn="bl" rotWithShape="0">
              <a:srgbClr val="1A1F36">
                <a:alpha val="12000"/>
              </a:srgbClr>
            </a:outerShdw>
          </a:effectLst>
        </p:spPr>
      </p:sp>
      <p:sp>
        <p:nvSpPr>
          <p:cNvPr id="14" name="Shape 12"/>
          <p:cNvSpPr/>
          <p:nvPr/>
        </p:nvSpPr>
        <p:spPr>
          <a:xfrm>
            <a:off x="6172200" y="1243584"/>
            <a:ext cx="64008" cy="3000000"/>
          </a:xfrm>
          <a:prstGeom prst="rect">
            <a:avLst/>
          </a:prstGeom>
          <a:solidFill>
            <a:srgbClr val="3D5A80"/>
          </a:solidFill>
          <a:ln w="12700">
            <a:solidFill>
              <a:srgbClr val="3D5A80"/>
            </a:solidFill>
            <a:prstDash val="solid"/>
          </a:ln>
        </p:spPr>
      </p:sp>
      <p:sp>
        <p:nvSpPr>
          <p:cNvPr id="15" name="Text 13"/>
          <p:cNvSpPr/>
          <p:nvPr/>
        </p:nvSpPr>
        <p:spPr>
          <a:xfrm>
            <a:off x="6327648" y="1316736"/>
            <a:ext cx="2423160" cy="256032"/>
          </a:xfrm>
          <a:prstGeom prst="rect">
            <a:avLst/>
          </a:prstGeom>
          <a:noFill/>
          <a:ln/>
        </p:spPr>
        <p:txBody>
          <a:bodyPr wrap="square" lIns="0" tIns="0" rIns="0" bIns="0" rtlCol="0" anchor="ctr"/>
          <a:lstStyle/>
          <a:p>
            <a:r>
              <a:rPr lang="en-US" sz="1200" b="1" dirty="0">
                <a:solidFill>
                  <a:srgbClr val="1A1F36"/>
                </a:solidFill>
                <a:latin typeface="Calibri" pitchFamily="34" charset="0"/>
                <a:ea typeface="Calibri" pitchFamily="34" charset="-122"/>
                <a:cs typeface="Calibri" pitchFamily="34" charset="-120"/>
              </a:rPr>
              <a:t>Classification &amp; Routing</a:t>
            </a:r>
            <a:endParaRPr lang="en-US" sz="1200" dirty="0"/>
          </a:p>
        </p:txBody>
      </p:sp>
      <p:sp>
        <p:nvSpPr>
          <p:cNvPr id="16" name="Text 14"/>
          <p:cNvSpPr/>
          <p:nvPr/>
        </p:nvSpPr>
        <p:spPr>
          <a:xfrm>
            <a:off x="6327648" y="1572768"/>
            <a:ext cx="2423160" cy="2550000"/>
          </a:xfrm>
          <a:prstGeom prst="rect">
            <a:avLst/>
          </a:prstGeom>
          <a:noFill/>
          <a:ln/>
        </p:spPr>
        <p:txBody>
          <a:bodyPr wrap="square" lIns="0" tIns="0" rIns="0" bIns="0" rtlCol="0" anchor="ctr"/>
          <a:lstStyle/>
          <a:p>
            <a:r>
              <a:rPr lang="en-US" sz="1200" dirty="0">
                <a:solidFill>
                  <a:srgbClr val="1A1F36"/>
                </a:solidFill>
                <a:latin typeface="Calibri" pitchFamily="34" charset="0"/>
                <a:ea typeface="Calibri" pitchFamily="34" charset="-122"/>
                <a:cs typeface="Calibri" pitchFamily="34" charset="-120"/>
              </a:rPr>
              <a:t>Support tickets and messages must be routed using one label from a fixed set of categories, not free text.</a:t>
            </a:r>
            <a:endParaRPr lang="en-US" sz="1200" dirty="0"/>
          </a:p>
          <a:p>
            <a:endParaRPr lang="en-US" sz="1200" dirty="0"/>
          </a:p>
          <a:p>
            <a:r>
              <a:rPr lang="en-US" sz="1100" b="1" dirty="0">
                <a:solidFill>
                  <a:srgbClr val="3D5A80"/>
                </a:solidFill>
                <a:latin typeface="Calibri" pitchFamily="34" charset="0"/>
                <a:ea typeface="Calibri" pitchFamily="34" charset="-122"/>
                <a:cs typeface="Calibri" pitchFamily="34" charset="-120"/>
              </a:rPr>
              <a:t>Format needed:</a:t>
            </a:r>
            <a:endParaRPr lang="en-US" sz="1100" dirty="0"/>
          </a:p>
          <a:p>
            <a:r>
              <a:rPr lang="en-US" sz="1000" dirty="0">
                <a:solidFill>
                  <a:srgbClr val="1A1F36"/>
                </a:solidFill>
                <a:latin typeface="Consolas" pitchFamily="34" charset="0"/>
                <a:ea typeface="Consolas" pitchFamily="34" charset="-122"/>
                <a:cs typeface="Consolas" pitchFamily="34" charset="-120"/>
              </a:rPr>
              <a:t>{"category": "billing",</a:t>
            </a:r>
            <a:endParaRPr lang="en-US" sz="1000" dirty="0"/>
          </a:p>
          <a:p>
            <a:r>
              <a:rPr lang="en-US" sz="1000" dirty="0">
                <a:solidFill>
                  <a:srgbClr val="1A1F36"/>
                </a:solidFill>
                <a:latin typeface="Consolas" pitchFamily="34" charset="0"/>
                <a:ea typeface="Consolas" pitchFamily="34" charset="-122"/>
                <a:cs typeface="Consolas" pitchFamily="34" charset="-120"/>
              </a:rPr>
              <a:t> "confidence": 0.92}</a:t>
            </a:r>
            <a:endParaRPr lang="en-US" sz="1000" dirty="0"/>
          </a:p>
          <a:p>
            <a:endParaRPr lang="en-US" sz="900" dirty="0"/>
          </a:p>
          <a:p>
            <a:r>
              <a:rPr lang="en-US" sz="1000" i="1" dirty="0">
                <a:solidFill>
                  <a:srgbClr val="78909C"/>
                </a:solidFill>
                <a:latin typeface="Calibri" pitchFamily="34" charset="0"/>
                <a:ea typeface="Calibri" pitchFamily="34" charset="-122"/>
                <a:cs typeface="Calibri" pitchFamily="34" charset="-120"/>
              </a:rPr>
              <a:t>Benchmark challenge: MTOP and CLINIC150 routing accuracy quietly falls apart on long-tail intents and cross-lingual, non-native query phrasing.</a:t>
            </a:r>
            <a:endParaRPr lang="en-US" sz="1000" i="1" dirty="0"/>
          </a:p>
        </p:txBody>
      </p:sp>
      <p:sp>
        <p:nvSpPr>
          <p:cNvPr id="25" name="Text 23"/>
          <p:cNvSpPr/>
          <p:nvPr/>
        </p:nvSpPr>
        <p:spPr>
          <a:xfrm>
            <a:off x="8046720" y="4800600"/>
            <a:ext cx="914400" cy="256032"/>
          </a:xfrm>
          <a:prstGeom prst="rect">
            <a:avLst/>
          </a:prstGeom>
          <a:noFill/>
          <a:ln/>
        </p:spPr>
        <p:txBody>
          <a:bodyPr wrap="square" rtlCol="0" anchor="ctr"/>
          <a:lstStyle/>
          <a:p>
            <a:pPr algn="r"/>
            <a:r>
              <a:rPr lang="en-US" sz="900" dirty="0">
                <a:solidFill>
                  <a:srgbClr val="78909C"/>
                </a:solidFill>
              </a:rPr>
              <a:t>4 / 15</a:t>
            </a:r>
            <a:endParaRPr lang="en-US" sz="900" dirty="0"/>
          </a:p>
        </p:txBody>
      </p:sp>
      <p:pic>
        <p:nvPicPr>
          <p:cNvPr id="26" name="Google Shape;109;p20">
            <a:extLst>
              <a:ext uri="{FF2B5EF4-FFF2-40B4-BE49-F238E27FC236}">
                <a16:creationId xmlns:a16="http://schemas.microsoft.com/office/drawing/2014/main" id="{6517594E-CA73-953E-79AB-2DFD9EF67080}"/>
              </a:ext>
            </a:extLst>
          </p:cNvPr>
          <p:cNvPicPr preferRelativeResize="0"/>
          <p:nvPr/>
        </p:nvPicPr>
        <p:blipFill>
          <a:blip r:embed="rId2">
            <a:alphaModFix/>
          </a:blip>
          <a:stretch>
            <a:fillRect/>
          </a:stretch>
        </p:blipFill>
        <p:spPr>
          <a:xfrm>
            <a:off x="8369126" y="0"/>
            <a:ext cx="774877" cy="867174"/>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11480" y="146304"/>
            <a:ext cx="8321040" cy="566928"/>
          </a:xfrm>
          <a:prstGeom prst="rect">
            <a:avLst/>
          </a:prstGeom>
          <a:noFill/>
          <a:ln/>
        </p:spPr>
        <p:txBody>
          <a:bodyPr wrap="square" lIns="0" tIns="0" rIns="0" bIns="0" rtlCol="0" anchor="ctr"/>
          <a:lstStyle/>
          <a:p>
            <a:pPr marL="0" indent="0">
              <a:buNone/>
            </a:pPr>
            <a:r>
              <a:rPr lang="en-US" sz="2500" b="1" dirty="0">
                <a:solidFill>
                  <a:srgbClr val="1A1F36"/>
                </a:solidFill>
                <a:latin typeface="Georgia" pitchFamily="34" charset="0"/>
                <a:ea typeface="Georgia" pitchFamily="34" charset="-122"/>
                <a:cs typeface="Georgia" pitchFamily="34" charset="-120"/>
              </a:rPr>
              <a:t>LLMs Don’t Always Return Clean JSON</a:t>
            </a:r>
            <a:endParaRPr lang="en-US" sz="2500" dirty="0"/>
          </a:p>
        </p:txBody>
      </p:sp>
      <p:sp>
        <p:nvSpPr>
          <p:cNvPr id="4" name="Text 2"/>
          <p:cNvSpPr/>
          <p:nvPr/>
        </p:nvSpPr>
        <p:spPr>
          <a:xfrm>
            <a:off x="411480" y="768096"/>
            <a:ext cx="8321040" cy="347472"/>
          </a:xfrm>
          <a:prstGeom prst="rect">
            <a:avLst/>
          </a:prstGeom>
          <a:noFill/>
          <a:ln/>
        </p:spPr>
        <p:txBody>
          <a:bodyPr wrap="square" rtlCol="0" anchor="ctr"/>
          <a:lstStyle/>
          <a:p>
            <a:pPr marL="0" indent="0">
              <a:buNone/>
            </a:pPr>
            <a:r>
              <a:rPr lang="en-US" sz="1300" dirty="0">
                <a:solidFill>
                  <a:srgbClr val="1A1F36"/>
                </a:solidFill>
                <a:latin typeface="Calibri" pitchFamily="34" charset="0"/>
                <a:ea typeface="Calibri" pitchFamily="34" charset="-122"/>
                <a:cs typeface="Calibri" pitchFamily="34" charset="-120"/>
              </a:rPr>
              <a:t>Asking the model to “return JSON” is fragile — two common failure modes:</a:t>
            </a:r>
            <a:endParaRPr lang="en-US" sz="1300" dirty="0"/>
          </a:p>
        </p:txBody>
      </p:sp>
      <p:sp>
        <p:nvSpPr>
          <p:cNvPr id="5" name="Shape 3"/>
          <p:cNvSpPr/>
          <p:nvPr/>
        </p:nvSpPr>
        <p:spPr>
          <a:xfrm>
            <a:off x="320040" y="1170432"/>
            <a:ext cx="4069080" cy="274320"/>
          </a:xfrm>
          <a:prstGeom prst="rect">
            <a:avLst/>
          </a:prstGeom>
          <a:solidFill>
            <a:srgbClr val="FCE4EC"/>
          </a:solidFill>
          <a:ln w="12700">
            <a:solidFill>
              <a:srgbClr val="C62828"/>
            </a:solidFill>
            <a:prstDash val="solid"/>
          </a:ln>
        </p:spPr>
      </p:sp>
      <p:sp>
        <p:nvSpPr>
          <p:cNvPr id="6" name="Text 4"/>
          <p:cNvSpPr/>
          <p:nvPr/>
        </p:nvSpPr>
        <p:spPr>
          <a:xfrm>
            <a:off x="438912" y="1197864"/>
            <a:ext cx="3840480" cy="219456"/>
          </a:xfrm>
          <a:prstGeom prst="rect">
            <a:avLst/>
          </a:prstGeom>
          <a:noFill/>
          <a:ln/>
        </p:spPr>
        <p:txBody>
          <a:bodyPr wrap="square" lIns="0" tIns="0" rIns="0" bIns="0" rtlCol="0" anchor="ctr"/>
          <a:lstStyle/>
          <a:p>
            <a:pPr marL="0" indent="0">
              <a:buNone/>
            </a:pPr>
            <a:r>
              <a:rPr lang="en-US" sz="1050" b="1" dirty="0">
                <a:solidFill>
                  <a:srgbClr val="C62828"/>
                </a:solidFill>
                <a:latin typeface="Calibri" pitchFamily="34" charset="0"/>
                <a:ea typeface="Calibri" pitchFamily="34" charset="-122"/>
                <a:cs typeface="Calibri" pitchFamily="34" charset="-120"/>
              </a:rPr>
              <a:t>✗  Markdown code block in response</a:t>
            </a:r>
            <a:endParaRPr lang="en-US" sz="1050" dirty="0"/>
          </a:p>
        </p:txBody>
      </p:sp>
      <p:sp>
        <p:nvSpPr>
          <p:cNvPr id="7" name="Shape 5"/>
          <p:cNvSpPr/>
          <p:nvPr/>
        </p:nvSpPr>
        <p:spPr>
          <a:xfrm>
            <a:off x="320040" y="1472184"/>
            <a:ext cx="4069080" cy="2084832"/>
          </a:xfrm>
          <a:prstGeom prst="rect">
            <a:avLst/>
          </a:prstGeom>
          <a:solidFill>
            <a:srgbClr val="1A1F36"/>
          </a:solidFill>
          <a:ln w="12700">
            <a:solidFill>
              <a:srgbClr val="1A1F36"/>
            </a:solidFill>
            <a:prstDash val="solid"/>
          </a:ln>
          <a:effectLst>
            <a:outerShdw blurRad="63500" dist="25400" dir="8100000" algn="bl" rotWithShape="0">
              <a:srgbClr val="1A1F36">
                <a:alpha val="12000"/>
              </a:srgbClr>
            </a:outerShdw>
          </a:effectLst>
        </p:spPr>
      </p:sp>
      <p:sp>
        <p:nvSpPr>
          <p:cNvPr id="8" name="Shape 6"/>
          <p:cNvSpPr/>
          <p:nvPr/>
        </p:nvSpPr>
        <p:spPr>
          <a:xfrm>
            <a:off x="320040" y="1472184"/>
            <a:ext cx="73152" cy="2084832"/>
          </a:xfrm>
          <a:prstGeom prst="rect">
            <a:avLst/>
          </a:prstGeom>
          <a:solidFill>
            <a:srgbClr val="3D5A80"/>
          </a:solidFill>
          <a:ln w="12700">
            <a:solidFill>
              <a:srgbClr val="3D5A80"/>
            </a:solidFill>
            <a:prstDash val="solid"/>
          </a:ln>
        </p:spPr>
      </p:sp>
      <p:sp>
        <p:nvSpPr>
          <p:cNvPr id="9" name="Text 7"/>
          <p:cNvSpPr/>
          <p:nvPr/>
        </p:nvSpPr>
        <p:spPr>
          <a:xfrm>
            <a:off x="484632" y="1563624"/>
            <a:ext cx="3813048" cy="1901952"/>
          </a:xfrm>
          <a:prstGeom prst="rect">
            <a:avLst/>
          </a:prstGeom>
          <a:noFill/>
          <a:ln/>
        </p:spPr>
        <p:txBody>
          <a:bodyPr wrap="square" lIns="0" tIns="0" rIns="0" bIns="0" rtlCol="0" anchor="t"/>
          <a:lstStyle/>
          <a:p>
            <a:pPr marL="0" indent="0">
              <a:buNone/>
            </a:pPr>
            <a:r>
              <a:rPr lang="en-US" sz="900" dirty="0">
                <a:solidFill>
                  <a:srgbClr val="CADCFC"/>
                </a:solidFill>
                <a:latin typeface="Consolas" pitchFamily="34" charset="0"/>
                <a:ea typeface="Consolas" pitchFamily="34" charset="-122"/>
                <a:cs typeface="Consolas" pitchFamily="34" charset="-120"/>
              </a:rPr>
              <a:t>resp.choices[0].message.content:</a:t>
            </a:r>
            <a:endParaRPr lang="en-US" sz="900" dirty="0"/>
          </a:p>
          <a:p>
            <a:pPr marL="0" indent="0">
              <a:buNone/>
            </a:pPr>
            <a:r>
              <a:rPr lang="en-US" sz="900" dirty="0">
                <a:solidFill>
                  <a:srgbClr val="CADCFC"/>
                </a:solidFill>
                <a:latin typeface="Consolas" pitchFamily="34" charset="0"/>
                <a:ea typeface="Consolas" pitchFamily="34" charset="-122"/>
                <a:cs typeface="Consolas" pitchFamily="34" charset="-120"/>
              </a:rPr>
              <a:t>'''</a:t>
            </a:r>
            <a:endParaRPr lang="en-US" sz="900" dirty="0"/>
          </a:p>
          <a:p>
            <a:pPr marL="0" indent="0">
              <a:buNone/>
            </a:pPr>
            <a:r>
              <a:rPr lang="en-US" sz="900" dirty="0">
                <a:solidFill>
                  <a:srgbClr val="CADCFC"/>
                </a:solidFill>
                <a:latin typeface="Consolas" pitchFamily="34" charset="0"/>
                <a:ea typeface="Consolas" pitchFamily="34" charset="-122"/>
                <a:cs typeface="Consolas" pitchFamily="34" charset="-120"/>
              </a:rPr>
              <a:t>```json</a:t>
            </a:r>
            <a:endParaRPr lang="en-US" sz="900" dirty="0"/>
          </a:p>
          <a:p>
            <a:pPr marL="0" indent="0">
              <a:buNone/>
            </a:pPr>
            <a:r>
              <a:rPr lang="en-US" sz="900" dirty="0">
                <a:solidFill>
                  <a:srgbClr val="CADCFC"/>
                </a:solidFill>
                <a:latin typeface="Consolas" pitchFamily="34" charset="0"/>
                <a:ea typeface="Consolas" pitchFamily="34" charset="-122"/>
                <a:cs typeface="Consolas" pitchFamily="34" charset="-120"/>
              </a:rPr>
              <a:t>{</a:t>
            </a:r>
            <a:endParaRPr lang="en-US" sz="900" dirty="0"/>
          </a:p>
          <a:p>
            <a:pPr marL="0" indent="0">
              <a:buNone/>
            </a:pPr>
            <a:r>
              <a:rPr lang="en-US" sz="900" dirty="0">
                <a:solidFill>
                  <a:srgbClr val="CADCFC"/>
                </a:solidFill>
                <a:latin typeface="Consolas" pitchFamily="34" charset="0"/>
                <a:ea typeface="Consolas" pitchFamily="34" charset="-122"/>
                <a:cs typeface="Consolas" pitchFamily="34" charset="-120"/>
              </a:rPr>
              <a:t>  "name": "pydantic",</a:t>
            </a:r>
            <a:endParaRPr lang="en-US" sz="900" dirty="0"/>
          </a:p>
          <a:p>
            <a:pPr marL="0" indent="0">
              <a:buNone/>
            </a:pPr>
            <a:r>
              <a:rPr lang="en-US" sz="900" dirty="0">
                <a:solidFill>
                  <a:srgbClr val="CADCFC"/>
                </a:solidFill>
                <a:latin typeface="Consolas" pitchFamily="34" charset="0"/>
                <a:ea typeface="Consolas" pitchFamily="34" charset="-122"/>
                <a:cs typeface="Consolas" pitchFamily="34" charset="-120"/>
              </a:rPr>
              <a:t>  "author": "Samuel Colvin"</a:t>
            </a:r>
            <a:endParaRPr lang="en-US" sz="900" dirty="0"/>
          </a:p>
          <a:p>
            <a:pPr marL="0" indent="0">
              <a:buNone/>
            </a:pPr>
            <a:r>
              <a:rPr lang="en-US" sz="900" dirty="0">
                <a:solidFill>
                  <a:srgbClr val="CADCFC"/>
                </a:solidFill>
                <a:latin typeface="Consolas" pitchFamily="34" charset="0"/>
                <a:ea typeface="Consolas" pitchFamily="34" charset="-122"/>
                <a:cs typeface="Consolas" pitchFamily="34" charset="-120"/>
              </a:rPr>
              <a:t>}</a:t>
            </a:r>
            <a:endParaRPr lang="en-US" sz="900" dirty="0"/>
          </a:p>
          <a:p>
            <a:pPr marL="0" indent="0">
              <a:buNone/>
            </a:pPr>
            <a:r>
              <a:rPr lang="en-US" sz="900" dirty="0">
                <a:solidFill>
                  <a:srgbClr val="CADCFC"/>
                </a:solidFill>
                <a:latin typeface="Consolas" pitchFamily="34" charset="0"/>
                <a:ea typeface="Consolas" pitchFamily="34" charset="-122"/>
                <a:cs typeface="Consolas" pitchFamily="34" charset="-120"/>
              </a:rPr>
              <a:t>```</a:t>
            </a:r>
            <a:endParaRPr lang="en-US" sz="900" dirty="0"/>
          </a:p>
          <a:p>
            <a:pPr marL="0" indent="0">
              <a:buNone/>
            </a:pPr>
            <a:r>
              <a:rPr lang="en-US" sz="900" dirty="0">
                <a:solidFill>
                  <a:srgbClr val="CADCFC"/>
                </a:solidFill>
                <a:latin typeface="Consolas" pitchFamily="34" charset="0"/>
                <a:ea typeface="Consolas" pitchFamily="34" charset="-122"/>
                <a:cs typeface="Consolas" pitchFamily="34" charset="-120"/>
              </a:rPr>
              <a:t>'''</a:t>
            </a:r>
            <a:endParaRPr lang="en-US" sz="900" dirty="0"/>
          </a:p>
          <a:p>
            <a:pPr marL="0" indent="0">
              <a:buNone/>
            </a:pPr>
            <a:endParaRPr lang="en-US" sz="900" dirty="0"/>
          </a:p>
          <a:p>
            <a:pPr marL="0" indent="0">
              <a:buNone/>
            </a:pPr>
            <a:r>
              <a:rPr lang="en-US" sz="900" dirty="0">
                <a:solidFill>
                  <a:srgbClr val="CADCFC"/>
                </a:solidFill>
                <a:latin typeface="Consolas" pitchFamily="34" charset="0"/>
                <a:ea typeface="Consolas" pitchFamily="34" charset="-122"/>
                <a:cs typeface="Consolas" pitchFamily="34" charset="-120"/>
              </a:rPr>
              <a:t>import json</a:t>
            </a:r>
            <a:endParaRPr lang="en-US" sz="900" dirty="0"/>
          </a:p>
          <a:p>
            <a:pPr marL="0" indent="0">
              <a:buNone/>
            </a:pPr>
            <a:r>
              <a:rPr lang="en-US" sz="900" dirty="0">
                <a:solidFill>
                  <a:srgbClr val="CADCFC"/>
                </a:solidFill>
                <a:latin typeface="Consolas" pitchFamily="34" charset="0"/>
                <a:ea typeface="Consolas" pitchFamily="34" charset="-122"/>
                <a:cs typeface="Consolas" pitchFamily="34" charset="-120"/>
              </a:rPr>
              <a:t>json.loads(response)</a:t>
            </a:r>
            <a:endParaRPr lang="en-US" sz="900" dirty="0"/>
          </a:p>
          <a:p>
            <a:pPr marL="0" indent="0">
              <a:buNone/>
            </a:pPr>
            <a:r>
              <a:rPr lang="en-US" sz="900" dirty="0">
                <a:solidFill>
                  <a:srgbClr val="CADCFC"/>
                </a:solidFill>
                <a:latin typeface="Consolas" pitchFamily="34" charset="0"/>
                <a:ea typeface="Consolas" pitchFamily="34" charset="-122"/>
                <a:cs typeface="Consolas" pitchFamily="34" charset="-120"/>
              </a:rPr>
              <a:t># JSONDecodeError: Expecting value</a:t>
            </a:r>
            <a:endParaRPr lang="en-US" sz="900" dirty="0"/>
          </a:p>
          <a:p>
            <a:pPr marL="0" indent="0">
              <a:buNone/>
            </a:pPr>
            <a:r>
              <a:rPr lang="en-US" sz="900" dirty="0">
                <a:solidFill>
                  <a:srgbClr val="CADCFC"/>
                </a:solidFill>
                <a:latin typeface="Consolas" pitchFamily="34" charset="0"/>
                <a:ea typeface="Consolas" pitchFamily="34" charset="-122"/>
                <a:cs typeface="Consolas" pitchFamily="34" charset="-120"/>
              </a:rPr>
              <a:t>#   line 1 column 1 (char 0)</a:t>
            </a:r>
            <a:endParaRPr lang="en-US" sz="900" dirty="0"/>
          </a:p>
        </p:txBody>
      </p:sp>
      <p:sp>
        <p:nvSpPr>
          <p:cNvPr id="10" name="Shape 8"/>
          <p:cNvSpPr/>
          <p:nvPr/>
        </p:nvSpPr>
        <p:spPr>
          <a:xfrm>
            <a:off x="4754880" y="1170432"/>
            <a:ext cx="4069080" cy="274320"/>
          </a:xfrm>
          <a:prstGeom prst="rect">
            <a:avLst/>
          </a:prstGeom>
          <a:solidFill>
            <a:srgbClr val="FCE4EC"/>
          </a:solidFill>
          <a:ln w="12700">
            <a:solidFill>
              <a:srgbClr val="C62828"/>
            </a:solidFill>
            <a:prstDash val="solid"/>
          </a:ln>
        </p:spPr>
      </p:sp>
      <p:sp>
        <p:nvSpPr>
          <p:cNvPr id="11" name="Text 9"/>
          <p:cNvSpPr/>
          <p:nvPr/>
        </p:nvSpPr>
        <p:spPr>
          <a:xfrm>
            <a:off x="4873752" y="1197864"/>
            <a:ext cx="3840480" cy="219456"/>
          </a:xfrm>
          <a:prstGeom prst="rect">
            <a:avLst/>
          </a:prstGeom>
          <a:noFill/>
          <a:ln/>
        </p:spPr>
        <p:txBody>
          <a:bodyPr wrap="square" lIns="0" tIns="0" rIns="0" bIns="0" rtlCol="0" anchor="ctr"/>
          <a:lstStyle/>
          <a:p>
            <a:pPr marL="0" indent="0">
              <a:buNone/>
            </a:pPr>
            <a:r>
              <a:rPr lang="en-US" sz="1050" b="1" dirty="0">
                <a:solidFill>
                  <a:srgbClr val="C62828"/>
                </a:solidFill>
                <a:latin typeface="Calibri" pitchFamily="34" charset="0"/>
                <a:ea typeface="Calibri" pitchFamily="34" charset="-122"/>
                <a:cs typeface="Calibri" pitchFamily="34" charset="-120"/>
              </a:rPr>
              <a:t>✗  Prose with embedded JSON</a:t>
            </a:r>
            <a:endParaRPr lang="en-US" sz="1050" dirty="0"/>
          </a:p>
        </p:txBody>
      </p:sp>
      <p:sp>
        <p:nvSpPr>
          <p:cNvPr id="12" name="Shape 10"/>
          <p:cNvSpPr/>
          <p:nvPr/>
        </p:nvSpPr>
        <p:spPr>
          <a:xfrm>
            <a:off x="4754880" y="1472184"/>
            <a:ext cx="4069080" cy="2084832"/>
          </a:xfrm>
          <a:prstGeom prst="rect">
            <a:avLst/>
          </a:prstGeom>
          <a:solidFill>
            <a:srgbClr val="1A1F36"/>
          </a:solidFill>
          <a:ln w="12700">
            <a:solidFill>
              <a:srgbClr val="1A1F36"/>
            </a:solidFill>
            <a:prstDash val="solid"/>
          </a:ln>
          <a:effectLst>
            <a:outerShdw blurRad="63500" dist="25400" dir="8100000" algn="bl" rotWithShape="0">
              <a:srgbClr val="1A1F36">
                <a:alpha val="12000"/>
              </a:srgbClr>
            </a:outerShdw>
          </a:effectLst>
        </p:spPr>
      </p:sp>
      <p:sp>
        <p:nvSpPr>
          <p:cNvPr id="13" name="Shape 11"/>
          <p:cNvSpPr/>
          <p:nvPr/>
        </p:nvSpPr>
        <p:spPr>
          <a:xfrm>
            <a:off x="4754880" y="1472184"/>
            <a:ext cx="73152" cy="2084832"/>
          </a:xfrm>
          <a:prstGeom prst="rect">
            <a:avLst/>
          </a:prstGeom>
          <a:solidFill>
            <a:srgbClr val="3D5A80"/>
          </a:solidFill>
          <a:ln w="12700">
            <a:solidFill>
              <a:srgbClr val="3D5A80"/>
            </a:solidFill>
            <a:prstDash val="solid"/>
          </a:ln>
        </p:spPr>
      </p:sp>
      <p:sp>
        <p:nvSpPr>
          <p:cNvPr id="14" name="Text 12"/>
          <p:cNvSpPr/>
          <p:nvPr/>
        </p:nvSpPr>
        <p:spPr>
          <a:xfrm>
            <a:off x="4919472" y="1563624"/>
            <a:ext cx="3813048" cy="1901952"/>
          </a:xfrm>
          <a:prstGeom prst="rect">
            <a:avLst/>
          </a:prstGeom>
          <a:noFill/>
          <a:ln/>
        </p:spPr>
        <p:txBody>
          <a:bodyPr wrap="square" lIns="0" tIns="0" rIns="0" bIns="0" rtlCol="0" anchor="t"/>
          <a:lstStyle/>
          <a:p>
            <a:pPr marL="0" indent="0">
              <a:buNone/>
            </a:pPr>
            <a:r>
              <a:rPr lang="en-US" sz="900" dirty="0">
                <a:solidFill>
                  <a:srgbClr val="CADCFC"/>
                </a:solidFill>
                <a:latin typeface="Consolas" pitchFamily="34" charset="0"/>
                <a:ea typeface="Consolas" pitchFamily="34" charset="-122"/>
                <a:cs typeface="Consolas" pitchFamily="34" charset="-120"/>
              </a:rPr>
              <a:t>resp.choices[0].message.content:</a:t>
            </a:r>
            <a:endParaRPr lang="en-US" sz="900" dirty="0"/>
          </a:p>
          <a:p>
            <a:pPr marL="0" indent="0">
              <a:buNone/>
            </a:pPr>
            <a:r>
              <a:rPr lang="en-US" sz="900" dirty="0">
                <a:solidFill>
                  <a:srgbClr val="CADCFC"/>
                </a:solidFill>
                <a:latin typeface="Consolas" pitchFamily="34" charset="0"/>
                <a:ea typeface="Consolas" pitchFamily="34" charset="-122"/>
                <a:cs typeface="Consolas" pitchFamily="34" charset="-120"/>
              </a:rPr>
              <a:t>"""</a:t>
            </a:r>
            <a:endParaRPr lang="en-US" sz="900" dirty="0"/>
          </a:p>
          <a:p>
            <a:pPr marL="0" indent="0">
              <a:buNone/>
            </a:pPr>
            <a:r>
              <a:rPr lang="en-US" sz="900" dirty="0">
                <a:solidFill>
                  <a:srgbClr val="CADCFC"/>
                </a:solidFill>
                <a:latin typeface="Consolas" pitchFamily="34" charset="0"/>
                <a:ea typeface="Consolas" pitchFamily="34" charset="-122"/>
                <a:cs typeface="Consolas" pitchFamily="34" charset="-120"/>
              </a:rPr>
              <a:t>Ok here's the author of pydantic:</a:t>
            </a:r>
            <a:endParaRPr lang="en-US" sz="900" dirty="0"/>
          </a:p>
          <a:p>
            <a:pPr marL="0" indent="0">
              <a:buNone/>
            </a:pPr>
            <a:r>
              <a:rPr lang="en-US" sz="900" dirty="0">
                <a:solidFill>
                  <a:srgbClr val="CADCFC"/>
                </a:solidFill>
                <a:latin typeface="Consolas" pitchFamily="34" charset="0"/>
                <a:ea typeface="Consolas" pitchFamily="34" charset="-122"/>
                <a:cs typeface="Consolas" pitchFamily="34" charset="-120"/>
              </a:rPr>
              <a:t>Samuel Colvin, and the name of</a:t>
            </a:r>
            <a:endParaRPr lang="en-US" sz="900" dirty="0"/>
          </a:p>
          <a:p>
            <a:pPr marL="0" indent="0">
              <a:buNone/>
            </a:pPr>
            <a:r>
              <a:rPr lang="en-US" sz="900" dirty="0">
                <a:solidFill>
                  <a:srgbClr val="CADCFC"/>
                </a:solidFill>
                <a:latin typeface="Consolas" pitchFamily="34" charset="0"/>
                <a:ea typeface="Consolas" pitchFamily="34" charset="-122"/>
                <a:cs typeface="Consolas" pitchFamily="34" charset="-120"/>
              </a:rPr>
              <a:t>this library is:</a:t>
            </a:r>
            <a:endParaRPr lang="en-US" sz="900" dirty="0"/>
          </a:p>
          <a:p>
            <a:pPr marL="0" indent="0">
              <a:buNone/>
            </a:pPr>
            <a:r>
              <a:rPr lang="en-US" sz="900" dirty="0">
                <a:solidFill>
                  <a:srgbClr val="CADCFC"/>
                </a:solidFill>
                <a:latin typeface="Consolas" pitchFamily="34" charset="0"/>
                <a:ea typeface="Consolas" pitchFamily="34" charset="-122"/>
                <a:cs typeface="Consolas" pitchFamily="34" charset="-120"/>
              </a:rPr>
              <a:t>{ "name": "pydantic",</a:t>
            </a:r>
            <a:endParaRPr lang="en-US" sz="900" dirty="0"/>
          </a:p>
          <a:p>
            <a:pPr marL="0" indent="0">
              <a:buNone/>
            </a:pPr>
            <a:r>
              <a:rPr lang="en-US" sz="900" dirty="0">
                <a:solidFill>
                  <a:srgbClr val="CADCFC"/>
                </a:solidFill>
                <a:latin typeface="Consolas" pitchFamily="34" charset="0"/>
                <a:ea typeface="Consolas" pitchFamily="34" charset="-122"/>
                <a:cs typeface="Consolas" pitchFamily="34" charset="-120"/>
              </a:rPr>
              <a:t>  "author": "Samuel Colvin" }</a:t>
            </a:r>
            <a:endParaRPr lang="en-US" sz="900" dirty="0"/>
          </a:p>
          <a:p>
            <a:pPr marL="0" indent="0">
              <a:buNone/>
            </a:pPr>
            <a:r>
              <a:rPr lang="en-US" sz="900" dirty="0">
                <a:solidFill>
                  <a:srgbClr val="CADCFC"/>
                </a:solidFill>
                <a:latin typeface="Consolas" pitchFamily="34" charset="0"/>
                <a:ea typeface="Consolas" pitchFamily="34" charset="-122"/>
                <a:cs typeface="Consolas" pitchFamily="34" charset="-120"/>
              </a:rPr>
              <a:t>"""</a:t>
            </a:r>
            <a:endParaRPr lang="en-US" sz="900" dirty="0"/>
          </a:p>
          <a:p>
            <a:pPr marL="0" indent="0">
              <a:buNone/>
            </a:pPr>
            <a:endParaRPr lang="en-US" sz="900" dirty="0"/>
          </a:p>
          <a:p>
            <a:pPr marL="0" indent="0">
              <a:buNone/>
            </a:pPr>
            <a:r>
              <a:rPr lang="en-US" sz="900" dirty="0">
                <a:solidFill>
                  <a:srgbClr val="CADCFC"/>
                </a:solidFill>
                <a:latin typeface="Consolas" pitchFamily="34" charset="0"/>
                <a:ea typeface="Consolas" pitchFamily="34" charset="-122"/>
                <a:cs typeface="Consolas" pitchFamily="34" charset="-120"/>
              </a:rPr>
              <a:t>import json</a:t>
            </a:r>
            <a:endParaRPr lang="en-US" sz="900" dirty="0"/>
          </a:p>
          <a:p>
            <a:pPr marL="0" indent="0">
              <a:buNone/>
            </a:pPr>
            <a:r>
              <a:rPr lang="en-US" sz="900" dirty="0">
                <a:solidFill>
                  <a:srgbClr val="CADCFC"/>
                </a:solidFill>
                <a:latin typeface="Consolas" pitchFamily="34" charset="0"/>
                <a:ea typeface="Consolas" pitchFamily="34" charset="-122"/>
                <a:cs typeface="Consolas" pitchFamily="34" charset="-120"/>
              </a:rPr>
              <a:t>json.loads(response)</a:t>
            </a:r>
            <a:endParaRPr lang="en-US" sz="900" dirty="0"/>
          </a:p>
          <a:p>
            <a:pPr marL="0" indent="0">
              <a:buNone/>
            </a:pPr>
            <a:r>
              <a:rPr lang="en-US" sz="900" dirty="0">
                <a:solidFill>
                  <a:srgbClr val="CADCFC"/>
                </a:solidFill>
                <a:latin typeface="Consolas" pitchFamily="34" charset="0"/>
                <a:ea typeface="Consolas" pitchFamily="34" charset="-122"/>
                <a:cs typeface="Consolas" pitchFamily="34" charset="-120"/>
              </a:rPr>
              <a:t># JSONDecodeError: Expecting value</a:t>
            </a:r>
            <a:endParaRPr lang="en-US" sz="900" dirty="0"/>
          </a:p>
          <a:p>
            <a:pPr marL="0" indent="0">
              <a:buNone/>
            </a:pPr>
            <a:r>
              <a:rPr lang="en-US" sz="900" dirty="0">
                <a:solidFill>
                  <a:srgbClr val="CADCFC"/>
                </a:solidFill>
                <a:latin typeface="Consolas" pitchFamily="34" charset="0"/>
                <a:ea typeface="Consolas" pitchFamily="34" charset="-122"/>
                <a:cs typeface="Consolas" pitchFamily="34" charset="-120"/>
              </a:rPr>
              <a:t>#   line 1 column 1 (char 0)</a:t>
            </a:r>
            <a:endParaRPr lang="en-US" sz="900" dirty="0"/>
          </a:p>
        </p:txBody>
      </p:sp>
      <p:sp>
        <p:nvSpPr>
          <p:cNvPr id="15" name="Shape 13"/>
          <p:cNvSpPr/>
          <p:nvPr/>
        </p:nvSpPr>
        <p:spPr>
          <a:xfrm>
            <a:off x="320040" y="3657600"/>
            <a:ext cx="8503920" cy="1005840"/>
          </a:xfrm>
          <a:prstGeom prst="rect">
            <a:avLst/>
          </a:prstGeom>
          <a:solidFill>
            <a:srgbClr val="E8F5E9"/>
          </a:solidFill>
          <a:ln w="19050">
            <a:solidFill>
              <a:srgbClr val="388E3C"/>
            </a:solidFill>
            <a:prstDash val="solid"/>
          </a:ln>
          <a:effectLst>
            <a:outerShdw blurRad="63500" dist="25400" dir="8100000" algn="bl" rotWithShape="0">
              <a:srgbClr val="1A1F36">
                <a:alpha val="12000"/>
              </a:srgbClr>
            </a:outerShdw>
          </a:effectLst>
        </p:spPr>
      </p:sp>
      <p:sp>
        <p:nvSpPr>
          <p:cNvPr id="16" name="Shape 14"/>
          <p:cNvSpPr/>
          <p:nvPr/>
        </p:nvSpPr>
        <p:spPr>
          <a:xfrm>
            <a:off x="320040" y="3657600"/>
            <a:ext cx="64008" cy="1005840"/>
          </a:xfrm>
          <a:prstGeom prst="rect">
            <a:avLst/>
          </a:prstGeom>
          <a:solidFill>
            <a:srgbClr val="388E3C"/>
          </a:solidFill>
          <a:ln w="12700">
            <a:solidFill>
              <a:srgbClr val="388E3C"/>
            </a:solidFill>
            <a:prstDash val="solid"/>
          </a:ln>
        </p:spPr>
      </p:sp>
      <p:sp>
        <p:nvSpPr>
          <p:cNvPr id="17" name="Text 15"/>
          <p:cNvSpPr/>
          <p:nvPr/>
        </p:nvSpPr>
        <p:spPr>
          <a:xfrm>
            <a:off x="502920" y="3730752"/>
            <a:ext cx="8092440" cy="256032"/>
          </a:xfrm>
          <a:prstGeom prst="rect">
            <a:avLst/>
          </a:prstGeom>
          <a:noFill/>
          <a:ln/>
        </p:spPr>
        <p:txBody>
          <a:bodyPr wrap="square" lIns="0" tIns="0" rIns="0" bIns="0" rtlCol="0" anchor="ctr"/>
          <a:lstStyle/>
          <a:p>
            <a:pPr marL="0" indent="0">
              <a:buNone/>
            </a:pPr>
            <a:r>
              <a:rPr lang="en-US" sz="1200" b="1" dirty="0">
                <a:solidFill>
                  <a:srgbClr val="388E3C"/>
                </a:solidFill>
                <a:latin typeface="Calibri" pitchFamily="34" charset="0"/>
                <a:ea typeface="Calibri" pitchFamily="34" charset="-122"/>
                <a:cs typeface="Calibri" pitchFamily="34" charset="-120"/>
              </a:rPr>
              <a:t>✓  Solution: Use Pydantic + OpenAI Tool Calling</a:t>
            </a:r>
            <a:endParaRPr lang="en-US" sz="1200" dirty="0"/>
          </a:p>
        </p:txBody>
      </p:sp>
      <p:sp>
        <p:nvSpPr>
          <p:cNvPr id="18" name="Text 16"/>
          <p:cNvSpPr/>
          <p:nvPr/>
        </p:nvSpPr>
        <p:spPr>
          <a:xfrm>
            <a:off x="502920" y="4005072"/>
            <a:ext cx="8092440" cy="566928"/>
          </a:xfrm>
          <a:prstGeom prst="rect">
            <a:avLst/>
          </a:prstGeom>
          <a:noFill/>
          <a:ln/>
        </p:spPr>
        <p:txBody>
          <a:bodyPr wrap="square" lIns="0" tIns="0" rIns="0" bIns="0" rtlCol="0" anchor="ctr"/>
          <a:lstStyle/>
          <a:p>
            <a:pPr marL="0" indent="0">
              <a:buNone/>
            </a:pPr>
            <a:r>
              <a:rPr lang="en-US" sz="1150" dirty="0">
                <a:solidFill>
                  <a:srgbClr val="1B5E20"/>
                </a:solidFill>
                <a:latin typeface="Calibri" pitchFamily="34" charset="0"/>
                <a:ea typeface="Calibri" pitchFamily="34" charset="-122"/>
                <a:cs typeface="Calibri" pitchFamily="34" charset="-120"/>
              </a:rPr>
              <a:t>Pydantic auto-generates a JSON Schema from your model class. Passing it via OpenAI’s tools parameter forces the model to return valid, structured JSON — guaranteed, every time.</a:t>
            </a:r>
            <a:endParaRPr lang="en-US" sz="1150" dirty="0"/>
          </a:p>
        </p:txBody>
      </p:sp>
      <p:pic>
        <p:nvPicPr>
          <p:cNvPr id="20" name="Google Shape;109;p20">
            <a:extLst>
              <a:ext uri="{FF2B5EF4-FFF2-40B4-BE49-F238E27FC236}">
                <a16:creationId xmlns:a16="http://schemas.microsoft.com/office/drawing/2014/main" id="{7DDD6E7E-FCA1-1014-DAEE-70B28BF0903C}"/>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11480" y="146304"/>
            <a:ext cx="8321040" cy="566928"/>
          </a:xfrm>
          <a:prstGeom prst="rect">
            <a:avLst/>
          </a:prstGeom>
          <a:noFill/>
          <a:ln/>
        </p:spPr>
        <p:txBody>
          <a:bodyPr wrap="square" lIns="0" tIns="0" rIns="0" bIns="0" rtlCol="0" anchor="ctr"/>
          <a:lstStyle/>
          <a:p>
            <a:pPr marL="0" indent="0">
              <a:buNone/>
            </a:pPr>
            <a:r>
              <a:rPr lang="en-US" sz="2500" b="1" dirty="0">
                <a:solidFill>
                  <a:srgbClr val="1A1F36"/>
                </a:solidFill>
                <a:latin typeface="Georgia" pitchFamily="34" charset="0"/>
                <a:ea typeface="Georgia" pitchFamily="34" charset="-122"/>
                <a:cs typeface="Georgia" pitchFamily="34" charset="-120"/>
              </a:rPr>
              <a:t>Pydantic: Schema Validation for Python</a:t>
            </a:r>
            <a:endParaRPr lang="en-US" sz="2500" dirty="0"/>
          </a:p>
        </p:txBody>
      </p:sp>
      <p:sp>
        <p:nvSpPr>
          <p:cNvPr id="4" name="Text 2"/>
          <p:cNvSpPr/>
          <p:nvPr/>
        </p:nvSpPr>
        <p:spPr>
          <a:xfrm>
            <a:off x="411480" y="768096"/>
            <a:ext cx="8321040" cy="402336"/>
          </a:xfrm>
          <a:prstGeom prst="rect">
            <a:avLst/>
          </a:prstGeom>
          <a:noFill/>
          <a:ln/>
        </p:spPr>
        <p:txBody>
          <a:bodyPr wrap="square" rtlCol="0" anchor="ctr"/>
          <a:lstStyle/>
          <a:p>
            <a:pPr marL="0" indent="0">
              <a:buNone/>
            </a:pPr>
            <a:r>
              <a:rPr lang="en-US" sz="1300" dirty="0">
                <a:solidFill>
                  <a:srgbClr val="1A1F36"/>
                </a:solidFill>
                <a:latin typeface="Calibri" pitchFamily="34" charset="0"/>
                <a:ea typeface="Calibri" pitchFamily="34" charset="-122"/>
                <a:cs typeface="Calibri" pitchFamily="34" charset="-120"/>
              </a:rPr>
              <a:t>Unlike plain dataclasses, Pydantic defines a schema that validates types, coerces values, and auto-generates JSON Schema:</a:t>
            </a:r>
            <a:endParaRPr lang="en-US" sz="1300" dirty="0"/>
          </a:p>
        </p:txBody>
      </p:sp>
      <p:sp>
        <p:nvSpPr>
          <p:cNvPr id="5" name="Shape 3"/>
          <p:cNvSpPr/>
          <p:nvPr/>
        </p:nvSpPr>
        <p:spPr>
          <a:xfrm>
            <a:off x="320040" y="1243584"/>
            <a:ext cx="2651760" cy="1353312"/>
          </a:xfrm>
          <a:prstGeom prst="rect">
            <a:avLst/>
          </a:prstGeom>
          <a:solidFill>
            <a:srgbClr val="D6E4F7"/>
          </a:solidFill>
          <a:ln w="15240">
            <a:solidFill>
              <a:srgbClr val="3D5A80"/>
            </a:solidFill>
            <a:prstDash val="solid"/>
          </a:ln>
          <a:effectLst>
            <a:outerShdw blurRad="63500" dist="25400" dir="8100000" algn="bl" rotWithShape="0">
              <a:srgbClr val="1A1F36">
                <a:alpha val="12000"/>
              </a:srgbClr>
            </a:outerShdw>
          </a:effectLst>
        </p:spPr>
      </p:sp>
      <p:sp>
        <p:nvSpPr>
          <p:cNvPr id="6" name="Shape 4"/>
          <p:cNvSpPr/>
          <p:nvPr/>
        </p:nvSpPr>
        <p:spPr>
          <a:xfrm>
            <a:off x="320040" y="1243584"/>
            <a:ext cx="64008" cy="1353312"/>
          </a:xfrm>
          <a:prstGeom prst="rect">
            <a:avLst/>
          </a:prstGeom>
          <a:solidFill>
            <a:srgbClr val="3D5A80"/>
          </a:solidFill>
          <a:ln w="12700">
            <a:solidFill>
              <a:srgbClr val="3D5A80"/>
            </a:solidFill>
            <a:prstDash val="solid"/>
          </a:ln>
        </p:spPr>
      </p:sp>
      <p:sp>
        <p:nvSpPr>
          <p:cNvPr id="7" name="Text 5"/>
          <p:cNvSpPr/>
          <p:nvPr/>
        </p:nvSpPr>
        <p:spPr>
          <a:xfrm>
            <a:off x="475488" y="1316736"/>
            <a:ext cx="2423160" cy="256032"/>
          </a:xfrm>
          <a:prstGeom prst="rect">
            <a:avLst/>
          </a:prstGeom>
          <a:noFill/>
          <a:ln/>
        </p:spPr>
        <p:txBody>
          <a:bodyPr wrap="square" lIns="0" tIns="0" rIns="0" bIns="0" rtlCol="0" anchor="ctr"/>
          <a:lstStyle/>
          <a:p>
            <a:pPr marL="0" indent="0">
              <a:buNone/>
            </a:pPr>
            <a:r>
              <a:rPr lang="en-US" sz="1150" b="1" dirty="0">
                <a:solidFill>
                  <a:srgbClr val="1A1F36"/>
                </a:solidFill>
                <a:latin typeface="Calibri" pitchFamily="34" charset="0"/>
                <a:ea typeface="Calibri" pitchFamily="34" charset="-122"/>
                <a:cs typeface="Calibri" pitchFamily="34" charset="-120"/>
              </a:rPr>
              <a:t>Type Coercion</a:t>
            </a:r>
            <a:endParaRPr lang="en-US" sz="1150" dirty="0"/>
          </a:p>
        </p:txBody>
      </p:sp>
      <p:sp>
        <p:nvSpPr>
          <p:cNvPr id="8" name="Text 6"/>
          <p:cNvSpPr/>
          <p:nvPr/>
        </p:nvSpPr>
        <p:spPr>
          <a:xfrm>
            <a:off x="475488" y="1572768"/>
            <a:ext cx="2423160" cy="950976"/>
          </a:xfrm>
          <a:prstGeom prst="rect">
            <a:avLst/>
          </a:prstGeom>
          <a:noFill/>
          <a:ln/>
        </p:spPr>
        <p:txBody>
          <a:bodyPr wrap="square" lIns="0" tIns="0" rIns="0" bIns="0" rtlCol="0" anchor="t"/>
          <a:lstStyle/>
          <a:p>
            <a:pPr marL="0" indent="0">
              <a:buNone/>
            </a:pPr>
            <a:r>
              <a:rPr lang="en-US" sz="1100" dirty="0">
                <a:solidFill>
                  <a:srgbClr val="1A1F36"/>
                </a:solidFill>
                <a:latin typeface="Calibri" pitchFamily="34" charset="0"/>
                <a:ea typeface="Calibri" pitchFamily="34" charset="-122"/>
                <a:cs typeface="Calibri" pitchFamily="34" charset="-120"/>
              </a:rPr>
              <a:t>Automatically converts compatible types — string "10" becomes integer 10. No manual casting.</a:t>
            </a:r>
            <a:endParaRPr lang="en-US" sz="1100" dirty="0"/>
          </a:p>
        </p:txBody>
      </p:sp>
      <p:sp>
        <p:nvSpPr>
          <p:cNvPr id="9" name="Shape 7"/>
          <p:cNvSpPr/>
          <p:nvPr/>
        </p:nvSpPr>
        <p:spPr>
          <a:xfrm>
            <a:off x="3246120" y="1243584"/>
            <a:ext cx="2651760" cy="1353312"/>
          </a:xfrm>
          <a:prstGeom prst="rect">
            <a:avLst/>
          </a:prstGeom>
          <a:solidFill>
            <a:srgbClr val="D6E4F7"/>
          </a:solidFill>
          <a:ln w="15240">
            <a:solidFill>
              <a:srgbClr val="3D5A80"/>
            </a:solidFill>
            <a:prstDash val="solid"/>
          </a:ln>
          <a:effectLst>
            <a:outerShdw blurRad="63500" dist="25400" dir="8100000" algn="bl" rotWithShape="0">
              <a:srgbClr val="1A1F36">
                <a:alpha val="12000"/>
              </a:srgbClr>
            </a:outerShdw>
          </a:effectLst>
        </p:spPr>
      </p:sp>
      <p:sp>
        <p:nvSpPr>
          <p:cNvPr id="10" name="Shape 8"/>
          <p:cNvSpPr/>
          <p:nvPr/>
        </p:nvSpPr>
        <p:spPr>
          <a:xfrm>
            <a:off x="3246120" y="1243584"/>
            <a:ext cx="64008" cy="1353312"/>
          </a:xfrm>
          <a:prstGeom prst="rect">
            <a:avLst/>
          </a:prstGeom>
          <a:solidFill>
            <a:srgbClr val="3D5A80"/>
          </a:solidFill>
          <a:ln w="12700">
            <a:solidFill>
              <a:srgbClr val="3D5A80"/>
            </a:solidFill>
            <a:prstDash val="solid"/>
          </a:ln>
        </p:spPr>
      </p:sp>
      <p:sp>
        <p:nvSpPr>
          <p:cNvPr id="11" name="Text 9"/>
          <p:cNvSpPr/>
          <p:nvPr/>
        </p:nvSpPr>
        <p:spPr>
          <a:xfrm>
            <a:off x="3401568" y="1316736"/>
            <a:ext cx="2423160" cy="256032"/>
          </a:xfrm>
          <a:prstGeom prst="rect">
            <a:avLst/>
          </a:prstGeom>
          <a:noFill/>
          <a:ln/>
        </p:spPr>
        <p:txBody>
          <a:bodyPr wrap="square" lIns="0" tIns="0" rIns="0" bIns="0" rtlCol="0" anchor="ctr"/>
          <a:lstStyle/>
          <a:p>
            <a:pPr marL="0" indent="0">
              <a:buNone/>
            </a:pPr>
            <a:r>
              <a:rPr lang="en-US" sz="1150" b="1" dirty="0">
                <a:solidFill>
                  <a:srgbClr val="1A1F36"/>
                </a:solidFill>
                <a:latin typeface="Calibri" pitchFamily="34" charset="0"/>
                <a:ea typeface="Calibri" pitchFamily="34" charset="-122"/>
                <a:cs typeface="Calibri" pitchFamily="34" charset="-120"/>
              </a:rPr>
              <a:t>Validation Errors</a:t>
            </a:r>
            <a:endParaRPr lang="en-US" sz="1150" dirty="0"/>
          </a:p>
        </p:txBody>
      </p:sp>
      <p:sp>
        <p:nvSpPr>
          <p:cNvPr id="12" name="Text 10"/>
          <p:cNvSpPr/>
          <p:nvPr/>
        </p:nvSpPr>
        <p:spPr>
          <a:xfrm>
            <a:off x="3401568" y="1572768"/>
            <a:ext cx="2423160" cy="950976"/>
          </a:xfrm>
          <a:prstGeom prst="rect">
            <a:avLst/>
          </a:prstGeom>
          <a:noFill/>
          <a:ln/>
        </p:spPr>
        <p:txBody>
          <a:bodyPr wrap="square" lIns="0" tIns="0" rIns="0" bIns="0" rtlCol="0" anchor="t"/>
          <a:lstStyle/>
          <a:p>
            <a:pPr marL="0" indent="0">
              <a:buNone/>
            </a:pPr>
            <a:r>
              <a:rPr lang="en-US" sz="1100" dirty="0">
                <a:solidFill>
                  <a:srgbClr val="1A1F36"/>
                </a:solidFill>
                <a:latin typeface="Calibri" pitchFamily="34" charset="0"/>
                <a:ea typeface="Calibri" pitchFamily="34" charset="-122"/>
                <a:cs typeface="Calibri" pitchFamily="34" charset="-120"/>
              </a:rPr>
              <a:t>Clear, actionable errors when data can’t be coerced. Catches LLM hallucinations before they propagate.</a:t>
            </a:r>
            <a:endParaRPr lang="en-US" sz="1100" dirty="0"/>
          </a:p>
        </p:txBody>
      </p:sp>
      <p:sp>
        <p:nvSpPr>
          <p:cNvPr id="13" name="Shape 11"/>
          <p:cNvSpPr/>
          <p:nvPr/>
        </p:nvSpPr>
        <p:spPr>
          <a:xfrm>
            <a:off x="6172200" y="1243584"/>
            <a:ext cx="2651760" cy="1353312"/>
          </a:xfrm>
          <a:prstGeom prst="rect">
            <a:avLst/>
          </a:prstGeom>
          <a:solidFill>
            <a:srgbClr val="D6E4F7"/>
          </a:solidFill>
          <a:ln w="15240">
            <a:solidFill>
              <a:srgbClr val="3D5A80"/>
            </a:solidFill>
            <a:prstDash val="solid"/>
          </a:ln>
          <a:effectLst>
            <a:outerShdw blurRad="63500" dist="25400" dir="8100000" algn="bl" rotWithShape="0">
              <a:srgbClr val="1A1F36">
                <a:alpha val="12000"/>
              </a:srgbClr>
            </a:outerShdw>
          </a:effectLst>
        </p:spPr>
      </p:sp>
      <p:sp>
        <p:nvSpPr>
          <p:cNvPr id="14" name="Shape 12"/>
          <p:cNvSpPr/>
          <p:nvPr/>
        </p:nvSpPr>
        <p:spPr>
          <a:xfrm>
            <a:off x="6172200" y="1243584"/>
            <a:ext cx="64008" cy="1353312"/>
          </a:xfrm>
          <a:prstGeom prst="rect">
            <a:avLst/>
          </a:prstGeom>
          <a:solidFill>
            <a:srgbClr val="3D5A80"/>
          </a:solidFill>
          <a:ln w="12700">
            <a:solidFill>
              <a:srgbClr val="3D5A80"/>
            </a:solidFill>
            <a:prstDash val="solid"/>
          </a:ln>
        </p:spPr>
      </p:sp>
      <p:sp>
        <p:nvSpPr>
          <p:cNvPr id="15" name="Text 13"/>
          <p:cNvSpPr/>
          <p:nvPr/>
        </p:nvSpPr>
        <p:spPr>
          <a:xfrm>
            <a:off x="6327648" y="1316736"/>
            <a:ext cx="2423160" cy="256032"/>
          </a:xfrm>
          <a:prstGeom prst="rect">
            <a:avLst/>
          </a:prstGeom>
          <a:noFill/>
          <a:ln/>
        </p:spPr>
        <p:txBody>
          <a:bodyPr wrap="square" lIns="0" tIns="0" rIns="0" bIns="0" rtlCol="0" anchor="ctr"/>
          <a:lstStyle/>
          <a:p>
            <a:pPr marL="0" indent="0">
              <a:buNone/>
            </a:pPr>
            <a:r>
              <a:rPr lang="en-US" sz="1150" b="1" dirty="0">
                <a:solidFill>
                  <a:srgbClr val="1A1F36"/>
                </a:solidFill>
                <a:latin typeface="Calibri" pitchFamily="34" charset="0"/>
                <a:ea typeface="Calibri" pitchFamily="34" charset="-122"/>
                <a:cs typeface="Calibri" pitchFamily="34" charset="-120"/>
              </a:rPr>
              <a:t>JSON Schema</a:t>
            </a:r>
            <a:endParaRPr lang="en-US" sz="1150" dirty="0"/>
          </a:p>
        </p:txBody>
      </p:sp>
      <p:sp>
        <p:nvSpPr>
          <p:cNvPr id="16" name="Text 14"/>
          <p:cNvSpPr/>
          <p:nvPr/>
        </p:nvSpPr>
        <p:spPr>
          <a:xfrm>
            <a:off x="6327648" y="1572768"/>
            <a:ext cx="2423160" cy="950976"/>
          </a:xfrm>
          <a:prstGeom prst="rect">
            <a:avLst/>
          </a:prstGeom>
          <a:noFill/>
          <a:ln/>
        </p:spPr>
        <p:txBody>
          <a:bodyPr wrap="square" lIns="0" tIns="0" rIns="0" bIns="0" rtlCol="0" anchor="t"/>
          <a:lstStyle/>
          <a:p>
            <a:pPr marL="0" indent="0">
              <a:buNone/>
            </a:pPr>
            <a:r>
              <a:rPr lang="en-US" sz="1100" dirty="0">
                <a:solidFill>
                  <a:srgbClr val="1A1F36"/>
                </a:solidFill>
                <a:latin typeface="Calibri" pitchFamily="34" charset="0"/>
                <a:ea typeface="Calibri" pitchFamily="34" charset="-122"/>
                <a:cs typeface="Calibri" pitchFamily="34" charset="-120"/>
              </a:rPr>
              <a:t>model_json_schema() generates the exact schema for OpenAI tool calling — no hand-writing JSON.</a:t>
            </a:r>
            <a:endParaRPr lang="en-US" sz="1100" dirty="0"/>
          </a:p>
        </p:txBody>
      </p:sp>
      <p:sp>
        <p:nvSpPr>
          <p:cNvPr id="17" name="Text 15"/>
          <p:cNvSpPr/>
          <p:nvPr/>
        </p:nvSpPr>
        <p:spPr>
          <a:xfrm>
            <a:off x="411480" y="2688336"/>
            <a:ext cx="4114800" cy="237744"/>
          </a:xfrm>
          <a:prstGeom prst="rect">
            <a:avLst/>
          </a:prstGeom>
          <a:noFill/>
          <a:ln/>
        </p:spPr>
        <p:txBody>
          <a:bodyPr wrap="square" rtlCol="0" anchor="ctr"/>
          <a:lstStyle/>
          <a:p>
            <a:pPr marL="0" indent="0">
              <a:buNone/>
            </a:pPr>
            <a:r>
              <a:rPr lang="en-US" sz="1200" b="1" dirty="0">
                <a:solidFill>
                  <a:srgbClr val="1A1F36"/>
                </a:solidFill>
                <a:latin typeface="Calibri" pitchFamily="34" charset="0"/>
                <a:ea typeface="Calibri" pitchFamily="34" charset="-122"/>
                <a:cs typeface="Calibri" pitchFamily="34" charset="-120"/>
              </a:rPr>
              <a:t>Defining a Pydantic model:</a:t>
            </a:r>
            <a:endParaRPr lang="en-US" sz="1200" dirty="0"/>
          </a:p>
        </p:txBody>
      </p:sp>
      <p:sp>
        <p:nvSpPr>
          <p:cNvPr id="18" name="Shape 16"/>
          <p:cNvSpPr/>
          <p:nvPr/>
        </p:nvSpPr>
        <p:spPr>
          <a:xfrm>
            <a:off x="320040" y="2962656"/>
            <a:ext cx="4160520" cy="1645920"/>
          </a:xfrm>
          <a:prstGeom prst="rect">
            <a:avLst/>
          </a:prstGeom>
          <a:solidFill>
            <a:srgbClr val="1A1F36"/>
          </a:solidFill>
          <a:ln w="12700">
            <a:solidFill>
              <a:srgbClr val="1A1F36"/>
            </a:solidFill>
            <a:prstDash val="solid"/>
          </a:ln>
          <a:effectLst>
            <a:outerShdw blurRad="63500" dist="25400" dir="8100000" algn="bl" rotWithShape="0">
              <a:srgbClr val="1A1F36">
                <a:alpha val="12000"/>
              </a:srgbClr>
            </a:outerShdw>
          </a:effectLst>
        </p:spPr>
      </p:sp>
      <p:sp>
        <p:nvSpPr>
          <p:cNvPr id="19" name="Shape 17"/>
          <p:cNvSpPr/>
          <p:nvPr/>
        </p:nvSpPr>
        <p:spPr>
          <a:xfrm>
            <a:off x="320040" y="2962656"/>
            <a:ext cx="73152" cy="1645920"/>
          </a:xfrm>
          <a:prstGeom prst="rect">
            <a:avLst/>
          </a:prstGeom>
          <a:solidFill>
            <a:srgbClr val="3D5A80"/>
          </a:solidFill>
          <a:ln w="12700">
            <a:solidFill>
              <a:srgbClr val="3D5A80"/>
            </a:solidFill>
            <a:prstDash val="solid"/>
          </a:ln>
        </p:spPr>
      </p:sp>
      <p:sp>
        <p:nvSpPr>
          <p:cNvPr id="20" name="Text 18"/>
          <p:cNvSpPr/>
          <p:nvPr/>
        </p:nvSpPr>
        <p:spPr>
          <a:xfrm>
            <a:off x="484632" y="3054096"/>
            <a:ext cx="3904488" cy="1463040"/>
          </a:xfrm>
          <a:prstGeom prst="rect">
            <a:avLst/>
          </a:prstGeom>
          <a:noFill/>
          <a:ln/>
        </p:spPr>
        <p:txBody>
          <a:bodyPr wrap="square" lIns="0" tIns="0" rIns="0" bIns="0" rtlCol="0" anchor="t"/>
          <a:lstStyle/>
          <a:p>
            <a:pPr marL="0" indent="0">
              <a:buNone/>
            </a:pPr>
            <a:r>
              <a:rPr lang="en-US" sz="950" dirty="0">
                <a:solidFill>
                  <a:srgbClr val="CADCFC"/>
                </a:solidFill>
                <a:latin typeface="Consolas" pitchFamily="34" charset="0"/>
                <a:ea typeface="Consolas" pitchFamily="34" charset="-122"/>
                <a:cs typeface="Consolas" pitchFamily="34" charset="-120"/>
              </a:rPr>
              <a:t>from pydantic import BaseModel</a:t>
            </a:r>
            <a:endParaRPr lang="en-US" sz="950" dirty="0"/>
          </a:p>
          <a:p>
            <a:pPr marL="0" indent="0">
              <a:buNone/>
            </a:pPr>
            <a:endParaRPr lang="en-US" sz="950" dirty="0"/>
          </a:p>
          <a:p>
            <a:pPr marL="0" indent="0">
              <a:buNone/>
            </a:pPr>
            <a:r>
              <a:rPr lang="en-US" sz="950" dirty="0">
                <a:solidFill>
                  <a:srgbClr val="CADCFC"/>
                </a:solidFill>
                <a:latin typeface="Consolas" pitchFamily="34" charset="0"/>
                <a:ea typeface="Consolas" pitchFamily="34" charset="-122"/>
                <a:cs typeface="Consolas" pitchFamily="34" charset="-120"/>
              </a:rPr>
              <a:t>class Person(BaseModel):</a:t>
            </a:r>
            <a:endParaRPr lang="en-US" sz="950" dirty="0"/>
          </a:p>
          <a:p>
            <a:pPr marL="0" indent="0">
              <a:buNone/>
            </a:pPr>
            <a:r>
              <a:rPr lang="en-US" sz="950" dirty="0">
                <a:solidFill>
                  <a:srgbClr val="CADCFC"/>
                </a:solidFill>
                <a:latin typeface="Consolas" pitchFamily="34" charset="0"/>
                <a:ea typeface="Consolas" pitchFamily="34" charset="-122"/>
                <a:cs typeface="Consolas" pitchFamily="34" charset="-120"/>
              </a:rPr>
              <a:t>    name: str</a:t>
            </a:r>
            <a:endParaRPr lang="en-US" sz="950" dirty="0"/>
          </a:p>
          <a:p>
            <a:pPr marL="0" indent="0">
              <a:buNone/>
            </a:pPr>
            <a:r>
              <a:rPr lang="en-US" sz="950" dirty="0">
                <a:solidFill>
                  <a:srgbClr val="CADCFC"/>
                </a:solidFill>
                <a:latin typeface="Consolas" pitchFamily="34" charset="0"/>
                <a:ea typeface="Consolas" pitchFamily="34" charset="-122"/>
                <a:cs typeface="Consolas" pitchFamily="34" charset="-120"/>
              </a:rPr>
              <a:t>    age: int</a:t>
            </a:r>
            <a:endParaRPr lang="en-US" sz="950" dirty="0"/>
          </a:p>
          <a:p>
            <a:pPr marL="0" indent="0">
              <a:buNone/>
            </a:pPr>
            <a:endParaRPr lang="en-US" sz="950" dirty="0"/>
          </a:p>
          <a:p>
            <a:pPr marL="0" indent="0">
              <a:buNone/>
            </a:pPr>
            <a:r>
              <a:rPr lang="en-US" sz="950" dirty="0">
                <a:solidFill>
                  <a:srgbClr val="CADCFC"/>
                </a:solidFill>
                <a:latin typeface="Consolas" pitchFamily="34" charset="0"/>
                <a:ea typeface="Consolas" pitchFamily="34" charset="-122"/>
                <a:cs typeface="Consolas" pitchFamily="34" charset="-120"/>
              </a:rPr>
              <a:t># Validates AND coerces types</a:t>
            </a:r>
            <a:endParaRPr lang="en-US" sz="950" dirty="0"/>
          </a:p>
          <a:p>
            <a:pPr marL="0" indent="0">
              <a:buNone/>
            </a:pPr>
            <a:r>
              <a:rPr lang="en-US" sz="950" dirty="0">
                <a:solidFill>
                  <a:srgbClr val="CADCFC"/>
                </a:solidFill>
                <a:latin typeface="Consolas" pitchFamily="34" charset="0"/>
                <a:ea typeface="Consolas" pitchFamily="34" charset="-122"/>
                <a:cs typeface="Consolas" pitchFamily="34" charset="-120"/>
              </a:rPr>
              <a:t>p = Person(name="Sam", age="10")</a:t>
            </a:r>
            <a:endParaRPr lang="en-US" sz="950" dirty="0"/>
          </a:p>
          <a:p>
            <a:pPr marL="0" indent="0">
              <a:buNone/>
            </a:pPr>
            <a:r>
              <a:rPr lang="en-US" sz="950" dirty="0">
                <a:solidFill>
                  <a:srgbClr val="CADCFC"/>
                </a:solidFill>
                <a:latin typeface="Consolas" pitchFamily="34" charset="0"/>
                <a:ea typeface="Consolas" pitchFamily="34" charset="-122"/>
                <a:cs typeface="Consolas" pitchFamily="34" charset="-120"/>
              </a:rPr>
              <a:t># Person(name='Sam', age=10)</a:t>
            </a:r>
            <a:endParaRPr lang="en-US" sz="950" dirty="0"/>
          </a:p>
          <a:p>
            <a:pPr marL="0" indent="0">
              <a:buNone/>
            </a:pPr>
            <a:r>
              <a:rPr lang="en-US" sz="950" dirty="0">
                <a:solidFill>
                  <a:srgbClr val="CADCFC"/>
                </a:solidFill>
                <a:latin typeface="Consolas" pitchFamily="34" charset="0"/>
                <a:ea typeface="Consolas" pitchFamily="34" charset="-122"/>
                <a:cs typeface="Consolas" pitchFamily="34" charset="-120"/>
              </a:rPr>
              <a:t>#   age is now int, not str!</a:t>
            </a:r>
            <a:endParaRPr lang="en-US" sz="950" dirty="0"/>
          </a:p>
        </p:txBody>
      </p:sp>
      <p:sp>
        <p:nvSpPr>
          <p:cNvPr id="21" name="Text 19"/>
          <p:cNvSpPr/>
          <p:nvPr/>
        </p:nvSpPr>
        <p:spPr>
          <a:xfrm>
            <a:off x="4663440" y="2688336"/>
            <a:ext cx="4114800" cy="237744"/>
          </a:xfrm>
          <a:prstGeom prst="rect">
            <a:avLst/>
          </a:prstGeom>
          <a:noFill/>
          <a:ln/>
        </p:spPr>
        <p:txBody>
          <a:bodyPr wrap="square" rtlCol="0" anchor="ctr"/>
          <a:lstStyle/>
          <a:p>
            <a:pPr marL="0" indent="0">
              <a:buNone/>
            </a:pPr>
            <a:r>
              <a:rPr lang="en-US" sz="1200" b="1" dirty="0">
                <a:solidFill>
                  <a:srgbClr val="1A1F36"/>
                </a:solidFill>
                <a:latin typeface="Calibri" pitchFamily="34" charset="0"/>
                <a:ea typeface="Calibri" pitchFamily="34" charset="-122"/>
                <a:cs typeface="Calibri" pitchFamily="34" charset="-120"/>
              </a:rPr>
              <a:t>Auto-generated schema:</a:t>
            </a:r>
            <a:endParaRPr lang="en-US" sz="1200" dirty="0"/>
          </a:p>
        </p:txBody>
      </p:sp>
      <p:sp>
        <p:nvSpPr>
          <p:cNvPr id="22" name="Shape 20"/>
          <p:cNvSpPr/>
          <p:nvPr/>
        </p:nvSpPr>
        <p:spPr>
          <a:xfrm>
            <a:off x="4663440" y="2962656"/>
            <a:ext cx="4160520" cy="1645920"/>
          </a:xfrm>
          <a:prstGeom prst="rect">
            <a:avLst/>
          </a:prstGeom>
          <a:solidFill>
            <a:srgbClr val="1A1F36"/>
          </a:solidFill>
          <a:ln w="12700">
            <a:solidFill>
              <a:srgbClr val="1A1F36"/>
            </a:solidFill>
            <a:prstDash val="solid"/>
          </a:ln>
          <a:effectLst>
            <a:outerShdw blurRad="63500" dist="25400" dir="8100000" algn="bl" rotWithShape="0">
              <a:srgbClr val="1A1F36">
                <a:alpha val="12000"/>
              </a:srgbClr>
            </a:outerShdw>
          </a:effectLst>
        </p:spPr>
      </p:sp>
      <p:sp>
        <p:nvSpPr>
          <p:cNvPr id="23" name="Shape 21"/>
          <p:cNvSpPr/>
          <p:nvPr/>
        </p:nvSpPr>
        <p:spPr>
          <a:xfrm>
            <a:off x="4663440" y="2962656"/>
            <a:ext cx="73152" cy="1645920"/>
          </a:xfrm>
          <a:prstGeom prst="rect">
            <a:avLst/>
          </a:prstGeom>
          <a:solidFill>
            <a:srgbClr val="3D5A80"/>
          </a:solidFill>
          <a:ln w="12700">
            <a:solidFill>
              <a:srgbClr val="3D5A80"/>
            </a:solidFill>
            <a:prstDash val="solid"/>
          </a:ln>
        </p:spPr>
      </p:sp>
      <p:sp>
        <p:nvSpPr>
          <p:cNvPr id="24" name="Text 22"/>
          <p:cNvSpPr/>
          <p:nvPr/>
        </p:nvSpPr>
        <p:spPr>
          <a:xfrm>
            <a:off x="4828032" y="3054096"/>
            <a:ext cx="3904488" cy="1463040"/>
          </a:xfrm>
          <a:prstGeom prst="rect">
            <a:avLst/>
          </a:prstGeom>
          <a:noFill/>
          <a:ln/>
        </p:spPr>
        <p:txBody>
          <a:bodyPr wrap="square" lIns="0" tIns="0" rIns="0" bIns="0" rtlCol="0" anchor="t"/>
          <a:lstStyle/>
          <a:p>
            <a:pPr marL="0" indent="0">
              <a:buNone/>
            </a:pPr>
            <a:r>
              <a:rPr lang="en-US" sz="950" dirty="0">
                <a:solidFill>
                  <a:srgbClr val="CADCFC"/>
                </a:solidFill>
                <a:latin typeface="Consolas" pitchFamily="34" charset="0"/>
                <a:ea typeface="Consolas" pitchFamily="34" charset="-122"/>
                <a:cs typeface="Consolas" pitchFamily="34" charset="-120"/>
              </a:rPr>
              <a:t>Person.model_json_schema()</a:t>
            </a:r>
            <a:endParaRPr lang="en-US" sz="950" dirty="0"/>
          </a:p>
          <a:p>
            <a:pPr marL="0" indent="0">
              <a:buNone/>
            </a:pPr>
            <a:r>
              <a:rPr lang="en-US" sz="950" dirty="0">
                <a:solidFill>
                  <a:srgbClr val="CADCFC"/>
                </a:solidFill>
                <a:latin typeface="Consolas" pitchFamily="34" charset="0"/>
                <a:ea typeface="Consolas" pitchFamily="34" charset="-122"/>
                <a:cs typeface="Consolas" pitchFamily="34" charset="-120"/>
              </a:rPr>
              <a:t># {</a:t>
            </a:r>
            <a:endParaRPr lang="en-US" sz="950" dirty="0"/>
          </a:p>
          <a:p>
            <a:pPr marL="0" indent="0">
              <a:buNone/>
            </a:pPr>
            <a:r>
              <a:rPr lang="en-US" sz="950" dirty="0">
                <a:solidFill>
                  <a:srgbClr val="CADCFC"/>
                </a:solidFill>
                <a:latin typeface="Consolas" pitchFamily="34" charset="0"/>
                <a:ea typeface="Consolas" pitchFamily="34" charset="-122"/>
                <a:cs typeface="Consolas" pitchFamily="34" charset="-120"/>
              </a:rPr>
              <a:t>#   "properties": {</a:t>
            </a:r>
            <a:endParaRPr lang="en-US" sz="950" dirty="0"/>
          </a:p>
          <a:p>
            <a:pPr marL="0" indent="0">
              <a:buNone/>
            </a:pPr>
            <a:r>
              <a:rPr lang="en-US" sz="950" dirty="0">
                <a:solidFill>
                  <a:srgbClr val="CADCFC"/>
                </a:solidFill>
                <a:latin typeface="Consolas" pitchFamily="34" charset="0"/>
                <a:ea typeface="Consolas" pitchFamily="34" charset="-122"/>
                <a:cs typeface="Consolas" pitchFamily="34" charset="-120"/>
              </a:rPr>
              <a:t>#     "name": {"title":"Name","type":"string"},</a:t>
            </a:r>
            <a:endParaRPr lang="en-US" sz="950" dirty="0"/>
          </a:p>
          <a:p>
            <a:pPr marL="0" indent="0">
              <a:buNone/>
            </a:pPr>
            <a:r>
              <a:rPr lang="en-US" sz="950" dirty="0">
                <a:solidFill>
                  <a:srgbClr val="CADCFC"/>
                </a:solidFill>
                <a:latin typeface="Consolas" pitchFamily="34" charset="0"/>
                <a:ea typeface="Consolas" pitchFamily="34" charset="-122"/>
                <a:cs typeface="Consolas" pitchFamily="34" charset="-120"/>
              </a:rPr>
              <a:t>#     "age":  {"title":"Age", "type":"integer"}</a:t>
            </a:r>
            <a:endParaRPr lang="en-US" sz="950" dirty="0"/>
          </a:p>
          <a:p>
            <a:pPr marL="0" indent="0">
              <a:buNone/>
            </a:pPr>
            <a:r>
              <a:rPr lang="en-US" sz="950" dirty="0">
                <a:solidFill>
                  <a:srgbClr val="CADCFC"/>
                </a:solidFill>
                <a:latin typeface="Consolas" pitchFamily="34" charset="0"/>
                <a:ea typeface="Consolas" pitchFamily="34" charset="-122"/>
                <a:cs typeface="Consolas" pitchFamily="34" charset="-120"/>
              </a:rPr>
              <a:t>#   },</a:t>
            </a:r>
            <a:endParaRPr lang="en-US" sz="950" dirty="0"/>
          </a:p>
          <a:p>
            <a:pPr marL="0" indent="0">
              <a:buNone/>
            </a:pPr>
            <a:r>
              <a:rPr lang="en-US" sz="950" dirty="0">
                <a:solidFill>
                  <a:srgbClr val="CADCFC"/>
                </a:solidFill>
                <a:latin typeface="Consolas" pitchFamily="34" charset="0"/>
                <a:ea typeface="Consolas" pitchFamily="34" charset="-122"/>
                <a:cs typeface="Consolas" pitchFamily="34" charset="-120"/>
              </a:rPr>
              <a:t>#   "required": ["name","age"],</a:t>
            </a:r>
            <a:endParaRPr lang="en-US" sz="950" dirty="0"/>
          </a:p>
          <a:p>
            <a:pPr marL="0" indent="0">
              <a:buNone/>
            </a:pPr>
            <a:r>
              <a:rPr lang="en-US" sz="950" dirty="0">
                <a:solidFill>
                  <a:srgbClr val="CADCFC"/>
                </a:solidFill>
                <a:latin typeface="Consolas" pitchFamily="34" charset="0"/>
                <a:ea typeface="Consolas" pitchFamily="34" charset="-122"/>
                <a:cs typeface="Consolas" pitchFamily="34" charset="-120"/>
              </a:rPr>
              <a:t>#   "title": "Person",</a:t>
            </a:r>
            <a:endParaRPr lang="en-US" sz="950" dirty="0"/>
          </a:p>
          <a:p>
            <a:pPr marL="0" indent="0">
              <a:buNone/>
            </a:pPr>
            <a:r>
              <a:rPr lang="en-US" sz="950" dirty="0">
                <a:solidFill>
                  <a:srgbClr val="CADCFC"/>
                </a:solidFill>
                <a:latin typeface="Consolas" pitchFamily="34" charset="0"/>
                <a:ea typeface="Consolas" pitchFamily="34" charset="-122"/>
                <a:cs typeface="Consolas" pitchFamily="34" charset="-120"/>
              </a:rPr>
              <a:t>#   "type": "object"</a:t>
            </a:r>
            <a:endParaRPr lang="en-US" sz="950" dirty="0"/>
          </a:p>
          <a:p>
            <a:pPr marL="0" indent="0">
              <a:buNone/>
            </a:pPr>
            <a:r>
              <a:rPr lang="en-US" sz="950" dirty="0">
                <a:solidFill>
                  <a:srgbClr val="CADCFC"/>
                </a:solidFill>
                <a:latin typeface="Consolas" pitchFamily="34" charset="0"/>
                <a:ea typeface="Consolas" pitchFamily="34" charset="-122"/>
                <a:cs typeface="Consolas" pitchFamily="34" charset="-120"/>
              </a:rPr>
              <a:t># }</a:t>
            </a:r>
            <a:endParaRPr lang="en-US" sz="950" dirty="0"/>
          </a:p>
        </p:txBody>
      </p:sp>
      <p:sp>
        <p:nvSpPr>
          <p:cNvPr id="25" name="Text 23"/>
          <p:cNvSpPr/>
          <p:nvPr/>
        </p:nvSpPr>
        <p:spPr>
          <a:xfrm>
            <a:off x="8046720" y="4800600"/>
            <a:ext cx="914400" cy="256032"/>
          </a:xfrm>
          <a:prstGeom prst="rect">
            <a:avLst/>
          </a:prstGeom>
          <a:noFill/>
          <a:ln/>
        </p:spPr>
        <p:txBody>
          <a:bodyPr wrap="square" rtlCol="0" anchor="ctr"/>
          <a:lstStyle/>
          <a:p>
            <a:pPr marL="0" indent="0" algn="r">
              <a:buNone/>
            </a:pPr>
            <a:r>
              <a:rPr lang="en-US" sz="900" dirty="0">
                <a:solidFill>
                  <a:srgbClr val="78909C"/>
                </a:solidFill>
              </a:rPr>
              <a:t>3 / 13</a:t>
            </a:r>
            <a:endParaRPr lang="en-US" sz="900" dirty="0"/>
          </a:p>
        </p:txBody>
      </p:sp>
      <p:pic>
        <p:nvPicPr>
          <p:cNvPr id="26" name="Google Shape;109;p20">
            <a:extLst>
              <a:ext uri="{FF2B5EF4-FFF2-40B4-BE49-F238E27FC236}">
                <a16:creationId xmlns:a16="http://schemas.microsoft.com/office/drawing/2014/main" id="{6517594E-CA73-953E-79AB-2DFD9EF67080}"/>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11480" y="146304"/>
            <a:ext cx="8321040" cy="566928"/>
          </a:xfrm>
          <a:prstGeom prst="rect">
            <a:avLst/>
          </a:prstGeom>
          <a:noFill/>
          <a:ln/>
        </p:spPr>
        <p:txBody>
          <a:bodyPr wrap="square" lIns="0" tIns="0" rIns="0" bIns="0" rtlCol="0" anchor="ctr"/>
          <a:lstStyle/>
          <a:p>
            <a:r>
              <a:rPr lang="en-US" sz="2500" b="1" dirty="0">
                <a:solidFill>
                  <a:srgbClr val="1A1F36"/>
                </a:solidFill>
                <a:latin typeface="Georgia" pitchFamily="34" charset="0"/>
                <a:ea typeface="Georgia" pitchFamily="34" charset="-122"/>
                <a:cs typeface="Georgia" pitchFamily="34" charset="-120"/>
              </a:rPr>
              <a:t>dataclass vs Pydantic: The Critical Difference</a:t>
            </a:r>
            <a:endParaRPr lang="en-US" sz="2500" dirty="0"/>
          </a:p>
        </p:txBody>
      </p:sp>
      <p:sp>
        <p:nvSpPr>
          <p:cNvPr id="4" name="Text 2"/>
          <p:cNvSpPr/>
          <p:nvPr/>
        </p:nvSpPr>
        <p:spPr>
          <a:xfrm>
            <a:off x="411480" y="768096"/>
            <a:ext cx="8321040" cy="365760"/>
          </a:xfrm>
          <a:prstGeom prst="rect">
            <a:avLst/>
          </a:prstGeom>
          <a:noFill/>
          <a:ln/>
        </p:spPr>
        <p:txBody>
          <a:bodyPr wrap="square" rtlCol="0" anchor="ctr"/>
          <a:lstStyle/>
          <a:p>
            <a:r>
              <a:rPr lang="en-US" sz="1300" dirty="0">
                <a:solidFill>
                  <a:srgbClr val="1A1F36"/>
                </a:solidFill>
                <a:latin typeface="Calibri" pitchFamily="34" charset="0"/>
                <a:ea typeface="Calibri" pitchFamily="34" charset="-122"/>
                <a:cs typeface="Calibri" pitchFamily="34" charset="-120"/>
              </a:rPr>
              <a:t>Dataclasses accept wrong types silently. With LLM outputs this causes hidden bugs — Pydantic catches them immediately:</a:t>
            </a:r>
            <a:endParaRPr lang="en-US" sz="1300" dirty="0"/>
          </a:p>
        </p:txBody>
      </p:sp>
      <p:sp>
        <p:nvSpPr>
          <p:cNvPr id="5" name="Shape 3"/>
          <p:cNvSpPr/>
          <p:nvPr/>
        </p:nvSpPr>
        <p:spPr>
          <a:xfrm>
            <a:off x="320040" y="1170432"/>
            <a:ext cx="4069080" cy="274320"/>
          </a:xfrm>
          <a:prstGeom prst="rect">
            <a:avLst/>
          </a:prstGeom>
          <a:solidFill>
            <a:srgbClr val="FCE4EC"/>
          </a:solidFill>
          <a:ln w="12700">
            <a:solidFill>
              <a:srgbClr val="C62828"/>
            </a:solidFill>
            <a:prstDash val="solid"/>
          </a:ln>
        </p:spPr>
      </p:sp>
      <p:sp>
        <p:nvSpPr>
          <p:cNvPr id="6" name="Text 4"/>
          <p:cNvSpPr/>
          <p:nvPr/>
        </p:nvSpPr>
        <p:spPr>
          <a:xfrm>
            <a:off x="438912" y="1197864"/>
            <a:ext cx="3840480" cy="219456"/>
          </a:xfrm>
          <a:prstGeom prst="rect">
            <a:avLst/>
          </a:prstGeom>
          <a:noFill/>
          <a:ln/>
        </p:spPr>
        <p:txBody>
          <a:bodyPr wrap="square" lIns="0" tIns="0" rIns="0" bIns="0" rtlCol="0" anchor="ctr"/>
          <a:lstStyle/>
          <a:p>
            <a:r>
              <a:rPr lang="en-US" sz="1100" b="1" dirty="0">
                <a:solidFill>
                  <a:srgbClr val="C62828"/>
                </a:solidFill>
                <a:latin typeface="Calibri" pitchFamily="34" charset="0"/>
                <a:ea typeface="Calibri" pitchFamily="34" charset="-122"/>
                <a:cs typeface="Calibri" pitchFamily="34" charset="-120"/>
              </a:rPr>
              <a:t>✗  @dataclass — Silent type failure</a:t>
            </a:r>
            <a:endParaRPr lang="en-US" sz="1100" dirty="0"/>
          </a:p>
        </p:txBody>
      </p:sp>
      <p:sp>
        <p:nvSpPr>
          <p:cNvPr id="7" name="Shape 5"/>
          <p:cNvSpPr/>
          <p:nvPr/>
        </p:nvSpPr>
        <p:spPr>
          <a:xfrm>
            <a:off x="320040" y="1472184"/>
            <a:ext cx="4069080" cy="2380907"/>
          </a:xfrm>
          <a:prstGeom prst="rect">
            <a:avLst/>
          </a:prstGeom>
          <a:solidFill>
            <a:srgbClr val="1A1F36"/>
          </a:solidFill>
          <a:ln w="12700">
            <a:solidFill>
              <a:srgbClr val="1A1F36"/>
            </a:solidFill>
            <a:prstDash val="solid"/>
          </a:ln>
          <a:effectLst>
            <a:outerShdw blurRad="63500" dist="25400" dir="8100000" algn="bl" rotWithShape="0">
              <a:srgbClr val="1A1F36">
                <a:alpha val="12000"/>
              </a:srgbClr>
            </a:outerShdw>
          </a:effectLst>
        </p:spPr>
      </p:sp>
      <p:sp>
        <p:nvSpPr>
          <p:cNvPr id="8" name="Shape 6"/>
          <p:cNvSpPr/>
          <p:nvPr/>
        </p:nvSpPr>
        <p:spPr>
          <a:xfrm>
            <a:off x="320040" y="1472184"/>
            <a:ext cx="73152" cy="2240280"/>
          </a:xfrm>
          <a:prstGeom prst="rect">
            <a:avLst/>
          </a:prstGeom>
          <a:solidFill>
            <a:srgbClr val="3D5A80"/>
          </a:solidFill>
          <a:ln w="12700">
            <a:solidFill>
              <a:srgbClr val="3D5A80"/>
            </a:solidFill>
            <a:prstDash val="solid"/>
          </a:ln>
        </p:spPr>
      </p:sp>
      <p:sp>
        <p:nvSpPr>
          <p:cNvPr id="9" name="Text 7"/>
          <p:cNvSpPr/>
          <p:nvPr/>
        </p:nvSpPr>
        <p:spPr>
          <a:xfrm>
            <a:off x="484632" y="1563624"/>
            <a:ext cx="3813048" cy="2057400"/>
          </a:xfrm>
          <a:prstGeom prst="rect">
            <a:avLst/>
          </a:prstGeom>
          <a:noFill/>
          <a:ln/>
        </p:spPr>
        <p:txBody>
          <a:bodyPr wrap="square" lIns="0" tIns="0" rIns="0" bIns="0" rtlCol="0" anchor="t"/>
          <a:lstStyle/>
          <a:p>
            <a:r>
              <a:rPr lang="en-US" sz="1050" dirty="0">
                <a:solidFill>
                  <a:srgbClr val="CADCFC"/>
                </a:solidFill>
                <a:latin typeface="Consolas" pitchFamily="34" charset="0"/>
                <a:ea typeface="Consolas" pitchFamily="34" charset="-122"/>
                <a:cs typeface="Consolas" pitchFamily="34" charset="-120"/>
              </a:rPr>
              <a:t>from dataclasses import dataclass</a:t>
            </a:r>
            <a:endParaRPr lang="en-US" sz="1050" dirty="0"/>
          </a:p>
          <a:p>
            <a:endParaRPr lang="en-US" sz="1050" dirty="0"/>
          </a:p>
          <a:p>
            <a:r>
              <a:rPr lang="en-US" sz="1050" dirty="0">
                <a:solidFill>
                  <a:srgbClr val="CADCFC"/>
                </a:solidFill>
                <a:latin typeface="Consolas" pitchFamily="34" charset="0"/>
                <a:ea typeface="Consolas" pitchFamily="34" charset="-122"/>
                <a:cs typeface="Consolas" pitchFamily="34" charset="-120"/>
              </a:rPr>
              <a:t>@dataclass</a:t>
            </a:r>
            <a:endParaRPr lang="en-US" sz="1050" dirty="0"/>
          </a:p>
          <a:p>
            <a:r>
              <a:rPr lang="en-US" sz="1050" dirty="0">
                <a:solidFill>
                  <a:srgbClr val="CADCFC"/>
                </a:solidFill>
                <a:latin typeface="Consolas" pitchFamily="34" charset="0"/>
                <a:ea typeface="Consolas" pitchFamily="34" charset="-122"/>
                <a:cs typeface="Consolas" pitchFamily="34" charset="-120"/>
              </a:rPr>
              <a:t>class Person:</a:t>
            </a:r>
            <a:endParaRPr lang="en-US" sz="1050" dirty="0"/>
          </a:p>
          <a:p>
            <a:r>
              <a:rPr lang="en-US" sz="1050" dirty="0">
                <a:solidFill>
                  <a:srgbClr val="CADCFC"/>
                </a:solidFill>
                <a:latin typeface="Consolas" pitchFamily="34" charset="0"/>
                <a:ea typeface="Consolas" pitchFamily="34" charset="-122"/>
                <a:cs typeface="Consolas" pitchFamily="34" charset="-120"/>
              </a:rPr>
              <a:t>    name: str</a:t>
            </a:r>
            <a:endParaRPr lang="en-US" sz="1050" dirty="0"/>
          </a:p>
          <a:p>
            <a:r>
              <a:rPr lang="en-US" sz="1050" dirty="0">
                <a:solidFill>
                  <a:srgbClr val="CADCFC"/>
                </a:solidFill>
                <a:latin typeface="Consolas" pitchFamily="34" charset="0"/>
                <a:ea typeface="Consolas" pitchFamily="34" charset="-122"/>
                <a:cs typeface="Consolas" pitchFamily="34" charset="-120"/>
              </a:rPr>
              <a:t>    age: int</a:t>
            </a:r>
            <a:endParaRPr lang="en-US" sz="1050" dirty="0"/>
          </a:p>
          <a:p>
            <a:endParaRPr lang="en-US" sz="1050" dirty="0"/>
          </a:p>
          <a:p>
            <a:r>
              <a:rPr lang="en-US" sz="1050" dirty="0">
                <a:solidFill>
                  <a:srgbClr val="CADCFC"/>
                </a:solidFill>
                <a:latin typeface="Consolas" pitchFamily="34" charset="0"/>
                <a:ea typeface="Consolas" pitchFamily="34" charset="-122"/>
                <a:cs typeface="Consolas" pitchFamily="34" charset="-120"/>
              </a:rPr>
              <a:t>Person(name="Sam", age="10")</a:t>
            </a:r>
            <a:endParaRPr lang="en-US" sz="1050" dirty="0"/>
          </a:p>
          <a:p>
            <a:r>
              <a:rPr lang="en-US" sz="1050" dirty="0">
                <a:solidFill>
                  <a:srgbClr val="CADCFC"/>
                </a:solidFill>
                <a:latin typeface="Consolas" pitchFamily="34" charset="0"/>
                <a:ea typeface="Consolas" pitchFamily="34" charset="-122"/>
                <a:cs typeface="Consolas" pitchFamily="34" charset="-120"/>
              </a:rPr>
              <a:t># &gt;&gt;&gt; Person(name='Sam', age='10')</a:t>
            </a:r>
            <a:endParaRPr lang="en-US" sz="1050" dirty="0"/>
          </a:p>
          <a:p>
            <a:r>
              <a:rPr lang="en-US" sz="1050" dirty="0">
                <a:solidFill>
                  <a:srgbClr val="CADCFC"/>
                </a:solidFill>
                <a:latin typeface="Consolas" pitchFamily="34" charset="0"/>
                <a:ea typeface="Consolas" pitchFamily="34" charset="-122"/>
                <a:cs typeface="Consolas" pitchFamily="34" charset="-120"/>
              </a:rPr>
              <a:t>#     age is STILL a string!</a:t>
            </a:r>
            <a:endParaRPr lang="en-US" sz="1050" dirty="0"/>
          </a:p>
          <a:p>
            <a:endParaRPr lang="en-US" sz="1050" dirty="0"/>
          </a:p>
          <a:p>
            <a:r>
              <a:rPr lang="en-US" sz="1050" dirty="0">
                <a:solidFill>
                  <a:srgbClr val="CADCFC"/>
                </a:solidFill>
                <a:latin typeface="Consolas" pitchFamily="34" charset="0"/>
                <a:ea typeface="Consolas" pitchFamily="34" charset="-122"/>
                <a:cs typeface="Consolas" pitchFamily="34" charset="-120"/>
              </a:rPr>
              <a:t>Person(name="Sam", age="10").age + 1</a:t>
            </a:r>
            <a:endParaRPr lang="en-US" sz="1050" dirty="0"/>
          </a:p>
          <a:p>
            <a:r>
              <a:rPr lang="en-US" sz="1050" dirty="0">
                <a:solidFill>
                  <a:srgbClr val="CADCFC"/>
                </a:solidFill>
                <a:latin typeface="Consolas" pitchFamily="34" charset="0"/>
                <a:ea typeface="Consolas" pitchFamily="34" charset="-122"/>
                <a:cs typeface="Consolas" pitchFamily="34" charset="-120"/>
              </a:rPr>
              <a:t># &gt;&gt;&gt; TypeError: can only concatenate</a:t>
            </a:r>
            <a:endParaRPr lang="en-US" sz="1050" dirty="0"/>
          </a:p>
          <a:p>
            <a:r>
              <a:rPr lang="en-US" sz="1050" dirty="0">
                <a:solidFill>
                  <a:srgbClr val="CADCFC"/>
                </a:solidFill>
                <a:latin typeface="Consolas" pitchFamily="34" charset="0"/>
                <a:ea typeface="Consolas" pitchFamily="34" charset="-122"/>
                <a:cs typeface="Consolas" pitchFamily="34" charset="-120"/>
              </a:rPr>
              <a:t>#     str (not "int") to str</a:t>
            </a:r>
            <a:endParaRPr lang="en-US" sz="1050" dirty="0"/>
          </a:p>
        </p:txBody>
      </p:sp>
      <p:sp>
        <p:nvSpPr>
          <p:cNvPr id="10" name="Shape 8"/>
          <p:cNvSpPr/>
          <p:nvPr/>
        </p:nvSpPr>
        <p:spPr>
          <a:xfrm>
            <a:off x="4754880" y="1170432"/>
            <a:ext cx="4069080" cy="274320"/>
          </a:xfrm>
          <a:prstGeom prst="rect">
            <a:avLst/>
          </a:prstGeom>
          <a:solidFill>
            <a:srgbClr val="E8F5E9"/>
          </a:solidFill>
          <a:ln w="12700">
            <a:solidFill>
              <a:srgbClr val="388E3C"/>
            </a:solidFill>
            <a:prstDash val="solid"/>
          </a:ln>
        </p:spPr>
      </p:sp>
      <p:sp>
        <p:nvSpPr>
          <p:cNvPr id="11" name="Text 9"/>
          <p:cNvSpPr/>
          <p:nvPr/>
        </p:nvSpPr>
        <p:spPr>
          <a:xfrm>
            <a:off x="4873752" y="1197864"/>
            <a:ext cx="3840480" cy="219456"/>
          </a:xfrm>
          <a:prstGeom prst="rect">
            <a:avLst/>
          </a:prstGeom>
          <a:noFill/>
          <a:ln/>
        </p:spPr>
        <p:txBody>
          <a:bodyPr wrap="square" lIns="0" tIns="0" rIns="0" bIns="0" rtlCol="0" anchor="ctr"/>
          <a:lstStyle/>
          <a:p>
            <a:r>
              <a:rPr lang="en-US" sz="1100" b="1" dirty="0">
                <a:solidFill>
                  <a:srgbClr val="388E3C"/>
                </a:solidFill>
                <a:latin typeface="Calibri" pitchFamily="34" charset="0"/>
                <a:ea typeface="Calibri" pitchFamily="34" charset="-122"/>
                <a:cs typeface="Calibri" pitchFamily="34" charset="-120"/>
              </a:rPr>
              <a:t>✓  BaseModel — Validates on construction</a:t>
            </a:r>
            <a:endParaRPr lang="en-US" sz="1100" dirty="0"/>
          </a:p>
        </p:txBody>
      </p:sp>
      <p:sp>
        <p:nvSpPr>
          <p:cNvPr id="12" name="Shape 10"/>
          <p:cNvSpPr/>
          <p:nvPr/>
        </p:nvSpPr>
        <p:spPr>
          <a:xfrm>
            <a:off x="4754880" y="1472184"/>
            <a:ext cx="4069080" cy="2595316"/>
          </a:xfrm>
          <a:prstGeom prst="rect">
            <a:avLst/>
          </a:prstGeom>
          <a:solidFill>
            <a:srgbClr val="1A1F36"/>
          </a:solidFill>
          <a:ln w="12700">
            <a:solidFill>
              <a:srgbClr val="1A1F36"/>
            </a:solidFill>
            <a:prstDash val="solid"/>
          </a:ln>
          <a:effectLst>
            <a:outerShdw blurRad="63500" dist="25400" dir="8100000" algn="bl" rotWithShape="0">
              <a:srgbClr val="1A1F36">
                <a:alpha val="12000"/>
              </a:srgbClr>
            </a:outerShdw>
          </a:effectLst>
        </p:spPr>
      </p:sp>
      <p:sp>
        <p:nvSpPr>
          <p:cNvPr id="13" name="Shape 11"/>
          <p:cNvSpPr/>
          <p:nvPr/>
        </p:nvSpPr>
        <p:spPr>
          <a:xfrm>
            <a:off x="4754880" y="1472184"/>
            <a:ext cx="73152" cy="2240280"/>
          </a:xfrm>
          <a:prstGeom prst="rect">
            <a:avLst/>
          </a:prstGeom>
          <a:solidFill>
            <a:srgbClr val="3D5A80"/>
          </a:solidFill>
          <a:ln w="12700">
            <a:solidFill>
              <a:srgbClr val="3D5A80"/>
            </a:solidFill>
            <a:prstDash val="solid"/>
          </a:ln>
        </p:spPr>
      </p:sp>
      <p:sp>
        <p:nvSpPr>
          <p:cNvPr id="14" name="Text 12"/>
          <p:cNvSpPr/>
          <p:nvPr/>
        </p:nvSpPr>
        <p:spPr>
          <a:xfrm>
            <a:off x="4919472" y="1563624"/>
            <a:ext cx="3813048" cy="2057400"/>
          </a:xfrm>
          <a:prstGeom prst="rect">
            <a:avLst/>
          </a:prstGeom>
          <a:noFill/>
          <a:ln/>
        </p:spPr>
        <p:txBody>
          <a:bodyPr wrap="square" lIns="0" tIns="0" rIns="0" bIns="0" rtlCol="0" anchor="t"/>
          <a:lstStyle/>
          <a:p>
            <a:r>
              <a:rPr lang="en-US" sz="1050" dirty="0">
                <a:solidFill>
                  <a:srgbClr val="CADCFC"/>
                </a:solidFill>
                <a:latin typeface="Consolas" pitchFamily="34" charset="0"/>
                <a:ea typeface="Consolas" pitchFamily="34" charset="-122"/>
                <a:cs typeface="Consolas" pitchFamily="34" charset="-120"/>
              </a:rPr>
              <a:t>from pydantic import BaseModel</a:t>
            </a:r>
            <a:endParaRPr lang="en-US" sz="1050" dirty="0"/>
          </a:p>
          <a:p>
            <a:endParaRPr lang="en-US" sz="1050" dirty="0"/>
          </a:p>
          <a:p>
            <a:r>
              <a:rPr lang="en-US" sz="1050" dirty="0">
                <a:solidFill>
                  <a:srgbClr val="CADCFC"/>
                </a:solidFill>
                <a:latin typeface="Consolas" pitchFamily="34" charset="0"/>
                <a:ea typeface="Consolas" pitchFamily="34" charset="-122"/>
                <a:cs typeface="Consolas" pitchFamily="34" charset="-120"/>
              </a:rPr>
              <a:t>class Person(BaseModel):</a:t>
            </a:r>
            <a:endParaRPr lang="en-US" sz="1050" dirty="0"/>
          </a:p>
          <a:p>
            <a:r>
              <a:rPr lang="en-US" sz="1050" dirty="0">
                <a:solidFill>
                  <a:srgbClr val="CADCFC"/>
                </a:solidFill>
                <a:latin typeface="Consolas" pitchFamily="34" charset="0"/>
                <a:ea typeface="Consolas" pitchFamily="34" charset="-122"/>
                <a:cs typeface="Consolas" pitchFamily="34" charset="-120"/>
              </a:rPr>
              <a:t>    name: str</a:t>
            </a:r>
            <a:endParaRPr lang="en-US" sz="1050" dirty="0"/>
          </a:p>
          <a:p>
            <a:r>
              <a:rPr lang="en-US" sz="1050" dirty="0">
                <a:solidFill>
                  <a:srgbClr val="CADCFC"/>
                </a:solidFill>
                <a:latin typeface="Consolas" pitchFamily="34" charset="0"/>
                <a:ea typeface="Consolas" pitchFamily="34" charset="-122"/>
                <a:cs typeface="Consolas" pitchFamily="34" charset="-120"/>
              </a:rPr>
              <a:t>    age: int</a:t>
            </a:r>
            <a:endParaRPr lang="en-US" sz="1050" dirty="0"/>
          </a:p>
          <a:p>
            <a:endParaRPr lang="en-US" sz="1050" dirty="0"/>
          </a:p>
          <a:p>
            <a:r>
              <a:rPr lang="en-US" sz="1050" dirty="0">
                <a:solidFill>
                  <a:srgbClr val="CADCFC"/>
                </a:solidFill>
                <a:latin typeface="Consolas" pitchFamily="34" charset="0"/>
                <a:ea typeface="Consolas" pitchFamily="34" charset="-122"/>
                <a:cs typeface="Consolas" pitchFamily="34" charset="-120"/>
              </a:rPr>
              <a:t>Person(name="Sam", age="10")</a:t>
            </a:r>
            <a:endParaRPr lang="en-US" sz="1050" dirty="0"/>
          </a:p>
          <a:p>
            <a:r>
              <a:rPr lang="en-US" sz="1050" dirty="0">
                <a:solidFill>
                  <a:srgbClr val="CADCFC"/>
                </a:solidFill>
                <a:latin typeface="Consolas" pitchFamily="34" charset="0"/>
                <a:ea typeface="Consolas" pitchFamily="34" charset="-122"/>
                <a:cs typeface="Consolas" pitchFamily="34" charset="-120"/>
              </a:rPr>
              <a:t># &gt;&gt;&gt; Person(name='Sam', age=10)</a:t>
            </a:r>
            <a:endParaRPr lang="en-US" sz="1050" dirty="0"/>
          </a:p>
          <a:p>
            <a:r>
              <a:rPr lang="en-US" sz="1050" dirty="0">
                <a:solidFill>
                  <a:srgbClr val="CADCFC"/>
                </a:solidFill>
                <a:latin typeface="Consolas" pitchFamily="34" charset="0"/>
                <a:ea typeface="Consolas" pitchFamily="34" charset="-122"/>
                <a:cs typeface="Consolas" pitchFamily="34" charset="-120"/>
              </a:rPr>
              <a:t>#     age coerced to int ✓</a:t>
            </a:r>
            <a:endParaRPr lang="en-US" sz="1050" dirty="0"/>
          </a:p>
          <a:p>
            <a:endParaRPr lang="en-US" sz="1050" dirty="0"/>
          </a:p>
          <a:p>
            <a:r>
              <a:rPr lang="en-US" sz="1050" dirty="0">
                <a:solidFill>
                  <a:srgbClr val="FFC000"/>
                </a:solidFill>
                <a:latin typeface="Consolas" pitchFamily="34" charset="0"/>
                <a:ea typeface="Consolas" pitchFamily="34" charset="-122"/>
                <a:cs typeface="Consolas" pitchFamily="34" charset="-120"/>
              </a:rPr>
              <a:t>Person(name="Sam", age="10").age + 1</a:t>
            </a:r>
            <a:endParaRPr lang="en-US" sz="1050" dirty="0">
              <a:solidFill>
                <a:srgbClr val="FFC000"/>
              </a:solidFill>
            </a:endParaRPr>
          </a:p>
          <a:p>
            <a:r>
              <a:rPr lang="en-US" sz="1050" dirty="0">
                <a:solidFill>
                  <a:srgbClr val="FFC000"/>
                </a:solidFill>
                <a:latin typeface="Consolas" pitchFamily="34" charset="0"/>
                <a:ea typeface="Consolas" pitchFamily="34" charset="-122"/>
                <a:cs typeface="Consolas" pitchFamily="34" charset="-120"/>
              </a:rPr>
              <a:t># &gt;&gt;&gt; 11  ✓</a:t>
            </a:r>
            <a:endParaRPr lang="en-US" sz="1050" dirty="0">
              <a:solidFill>
                <a:srgbClr val="FFC000"/>
              </a:solidFill>
            </a:endParaRPr>
          </a:p>
          <a:p>
            <a:endParaRPr lang="en-US" sz="1050" dirty="0"/>
          </a:p>
          <a:p>
            <a:r>
              <a:rPr lang="en-US" sz="1050" dirty="0">
                <a:solidFill>
                  <a:srgbClr val="CADCFC"/>
                </a:solidFill>
                <a:latin typeface="Consolas" pitchFamily="34" charset="0"/>
                <a:ea typeface="Consolas" pitchFamily="34" charset="-122"/>
                <a:cs typeface="Consolas" pitchFamily="34" charset="-120"/>
              </a:rPr>
              <a:t>Person(name="Sam", age="13.4")</a:t>
            </a:r>
            <a:endParaRPr lang="en-US" sz="1050" dirty="0"/>
          </a:p>
          <a:p>
            <a:r>
              <a:rPr lang="en-US" sz="1050" dirty="0">
                <a:solidFill>
                  <a:srgbClr val="CADCFC"/>
                </a:solidFill>
                <a:latin typeface="Consolas" pitchFamily="34" charset="0"/>
                <a:ea typeface="Consolas" pitchFamily="34" charset="-122"/>
                <a:cs typeface="Consolas" pitchFamily="34" charset="-120"/>
              </a:rPr>
              <a:t># &gt;&gt;&gt; ValidationError!</a:t>
            </a:r>
            <a:endParaRPr lang="en-US" sz="1050" dirty="0"/>
          </a:p>
        </p:txBody>
      </p:sp>
      <p:grpSp>
        <p:nvGrpSpPr>
          <p:cNvPr id="2" name="Group 1">
            <a:extLst>
              <a:ext uri="{FF2B5EF4-FFF2-40B4-BE49-F238E27FC236}">
                <a16:creationId xmlns:a16="http://schemas.microsoft.com/office/drawing/2014/main" id="{62023774-82EE-0ACE-96CE-798234A15A3A}"/>
              </a:ext>
            </a:extLst>
          </p:cNvPr>
          <p:cNvGrpSpPr/>
          <p:nvPr/>
        </p:nvGrpSpPr>
        <p:grpSpPr>
          <a:xfrm>
            <a:off x="320040" y="4219165"/>
            <a:ext cx="8503920" cy="685801"/>
            <a:chOff x="426720" y="5047488"/>
            <a:chExt cx="11338560" cy="914401"/>
          </a:xfrm>
        </p:grpSpPr>
        <p:sp>
          <p:nvSpPr>
            <p:cNvPr id="15" name="Shape 13"/>
            <p:cNvSpPr/>
            <p:nvPr/>
          </p:nvSpPr>
          <p:spPr>
            <a:xfrm>
              <a:off x="426720" y="5047489"/>
              <a:ext cx="11338560" cy="914400"/>
            </a:xfrm>
            <a:prstGeom prst="rect">
              <a:avLst/>
            </a:prstGeom>
            <a:solidFill>
              <a:srgbClr val="D6E4F7"/>
            </a:solidFill>
            <a:ln w="15240">
              <a:solidFill>
                <a:srgbClr val="3D5A80"/>
              </a:solidFill>
              <a:prstDash val="solid"/>
            </a:ln>
            <a:effectLst>
              <a:outerShdw blurRad="63500" dist="25400" dir="8100000" algn="bl" rotWithShape="0">
                <a:srgbClr val="1A1F36">
                  <a:alpha val="12000"/>
                </a:srgbClr>
              </a:outerShdw>
            </a:effectLst>
          </p:spPr>
        </p:sp>
        <p:sp>
          <p:nvSpPr>
            <p:cNvPr id="16" name="Shape 14"/>
            <p:cNvSpPr/>
            <p:nvPr/>
          </p:nvSpPr>
          <p:spPr>
            <a:xfrm>
              <a:off x="426720" y="5047488"/>
              <a:ext cx="85344" cy="914400"/>
            </a:xfrm>
            <a:prstGeom prst="rect">
              <a:avLst/>
            </a:prstGeom>
            <a:solidFill>
              <a:srgbClr val="3D5A80"/>
            </a:solidFill>
            <a:ln w="12700">
              <a:solidFill>
                <a:srgbClr val="3D5A80"/>
              </a:solidFill>
              <a:prstDash val="solid"/>
            </a:ln>
          </p:spPr>
        </p:sp>
        <p:sp>
          <p:nvSpPr>
            <p:cNvPr id="17" name="Text 15"/>
            <p:cNvSpPr/>
            <p:nvPr/>
          </p:nvSpPr>
          <p:spPr>
            <a:xfrm>
              <a:off x="670560" y="5120640"/>
              <a:ext cx="10789920" cy="731520"/>
            </a:xfrm>
            <a:prstGeom prst="rect">
              <a:avLst/>
            </a:prstGeom>
            <a:noFill/>
            <a:ln/>
          </p:spPr>
          <p:txBody>
            <a:bodyPr wrap="square" lIns="0" tIns="0" rIns="0" bIns="0" rtlCol="0" anchor="ctr"/>
            <a:lstStyle/>
            <a:p>
              <a:r>
                <a:rPr lang="en-US" sz="1150" dirty="0">
                  <a:solidFill>
                    <a:srgbClr val="1A1F36"/>
                  </a:solidFill>
                  <a:latin typeface="Calibri" pitchFamily="34" charset="0"/>
                  <a:ea typeface="Calibri" pitchFamily="34" charset="-122"/>
                  <a:cs typeface="Calibri" pitchFamily="34" charset="-120"/>
                </a:rPr>
                <a:t>When LLMs return “42” (string) instead of 42 (integer), Pydantic fixes it automatically — or raises a clear error if conversion is impossible. This is essential for reliable LLM pipelines.</a:t>
              </a:r>
              <a:endParaRPr lang="en-US" sz="1150" dirty="0"/>
            </a:p>
          </p:txBody>
        </p:sp>
      </p:grpSp>
      <p:sp>
        <p:nvSpPr>
          <p:cNvPr id="18" name="Text 16"/>
          <p:cNvSpPr/>
          <p:nvPr/>
        </p:nvSpPr>
        <p:spPr>
          <a:xfrm>
            <a:off x="8046720" y="4800600"/>
            <a:ext cx="914400" cy="256032"/>
          </a:xfrm>
          <a:prstGeom prst="rect">
            <a:avLst/>
          </a:prstGeom>
          <a:noFill/>
          <a:ln/>
        </p:spPr>
        <p:txBody>
          <a:bodyPr wrap="square" rtlCol="0" anchor="ctr"/>
          <a:lstStyle/>
          <a:p>
            <a:pPr algn="r"/>
            <a:r>
              <a:rPr lang="en-US" sz="900" dirty="0">
                <a:solidFill>
                  <a:srgbClr val="78909C"/>
                </a:solidFill>
              </a:rPr>
              <a:t>4 / 13</a:t>
            </a:r>
            <a:endParaRPr lang="en-US" sz="900" dirty="0"/>
          </a:p>
        </p:txBody>
      </p:sp>
      <p:pic>
        <p:nvPicPr>
          <p:cNvPr id="19" name="Google Shape;109;p20">
            <a:extLst>
              <a:ext uri="{FF2B5EF4-FFF2-40B4-BE49-F238E27FC236}">
                <a16:creationId xmlns:a16="http://schemas.microsoft.com/office/drawing/2014/main" id="{C718A332-022A-B6B2-585A-88E991B94993}"/>
              </a:ext>
            </a:extLst>
          </p:cNvPr>
          <p:cNvPicPr preferRelativeResize="0"/>
          <p:nvPr/>
        </p:nvPicPr>
        <p:blipFill>
          <a:blip r:embed="rId3">
            <a:alphaModFix/>
          </a:blip>
          <a:stretch>
            <a:fillRect/>
          </a:stretch>
        </p:blipFill>
        <p:spPr>
          <a:xfrm>
            <a:off x="8369126" y="0"/>
            <a:ext cx="774877" cy="867174"/>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11480" y="146304"/>
            <a:ext cx="8321040" cy="566928"/>
          </a:xfrm>
          <a:prstGeom prst="rect">
            <a:avLst/>
          </a:prstGeom>
          <a:noFill/>
          <a:ln/>
        </p:spPr>
        <p:txBody>
          <a:bodyPr wrap="square" lIns="0" tIns="0" rIns="0" bIns="0" rtlCol="0" anchor="ctr"/>
          <a:lstStyle/>
          <a:p>
            <a:r>
              <a:rPr lang="en-US" sz="2500" b="1" dirty="0">
                <a:solidFill>
                  <a:srgbClr val="1A1F36"/>
                </a:solidFill>
                <a:latin typeface="Georgia" pitchFamily="34" charset="0"/>
                <a:ea typeface="Georgia" pitchFamily="34" charset="-122"/>
                <a:cs typeface="Georgia" pitchFamily="34" charset="-120"/>
              </a:rPr>
              <a:t>Validation Errors: Catching LLM Mistakes Early</a:t>
            </a:r>
            <a:endParaRPr lang="en-US" sz="2500" dirty="0"/>
          </a:p>
        </p:txBody>
      </p:sp>
      <p:sp>
        <p:nvSpPr>
          <p:cNvPr id="4" name="Text 2"/>
          <p:cNvSpPr/>
          <p:nvPr/>
        </p:nvSpPr>
        <p:spPr>
          <a:xfrm>
            <a:off x="411480" y="768096"/>
            <a:ext cx="8321040" cy="402336"/>
          </a:xfrm>
          <a:prstGeom prst="rect">
            <a:avLst/>
          </a:prstGeom>
          <a:noFill/>
          <a:ln/>
        </p:spPr>
        <p:txBody>
          <a:bodyPr wrap="square" rtlCol="0" anchor="ctr"/>
          <a:lstStyle/>
          <a:p>
            <a:r>
              <a:rPr lang="en-US" sz="1300" dirty="0">
                <a:solidFill>
                  <a:srgbClr val="1A1F36"/>
                </a:solidFill>
                <a:latin typeface="Calibri" pitchFamily="34" charset="0"/>
                <a:ea typeface="Calibri" pitchFamily="34" charset="-122"/>
                <a:cs typeface="Calibri" pitchFamily="34" charset="-120"/>
              </a:rPr>
              <a:t>When a type cannot be coerced, Pydantic raises a detailed ValidationError — far better than a cryptic runtime crash later:</a:t>
            </a:r>
            <a:endParaRPr lang="en-US" sz="1300" dirty="0"/>
          </a:p>
        </p:txBody>
      </p:sp>
      <p:sp>
        <p:nvSpPr>
          <p:cNvPr id="5" name="Shape 3"/>
          <p:cNvSpPr/>
          <p:nvPr/>
        </p:nvSpPr>
        <p:spPr>
          <a:xfrm>
            <a:off x="320040" y="1243584"/>
            <a:ext cx="5303520" cy="2655542"/>
          </a:xfrm>
          <a:prstGeom prst="rect">
            <a:avLst/>
          </a:prstGeom>
          <a:solidFill>
            <a:srgbClr val="1A1F36"/>
          </a:solidFill>
          <a:ln w="12700">
            <a:solidFill>
              <a:srgbClr val="1A1F36"/>
            </a:solidFill>
            <a:prstDash val="solid"/>
          </a:ln>
          <a:effectLst>
            <a:outerShdw blurRad="63500" dist="25400" dir="8100000" algn="bl" rotWithShape="0">
              <a:srgbClr val="1A1F36">
                <a:alpha val="12000"/>
              </a:srgbClr>
            </a:outerShdw>
          </a:effectLst>
        </p:spPr>
      </p:sp>
      <p:sp>
        <p:nvSpPr>
          <p:cNvPr id="6" name="Shape 4"/>
          <p:cNvSpPr/>
          <p:nvPr/>
        </p:nvSpPr>
        <p:spPr>
          <a:xfrm>
            <a:off x="320040" y="1243584"/>
            <a:ext cx="73152" cy="2359152"/>
          </a:xfrm>
          <a:prstGeom prst="rect">
            <a:avLst/>
          </a:prstGeom>
          <a:solidFill>
            <a:srgbClr val="3D5A80"/>
          </a:solidFill>
          <a:ln w="12700">
            <a:solidFill>
              <a:srgbClr val="3D5A80"/>
            </a:solidFill>
            <a:prstDash val="solid"/>
          </a:ln>
        </p:spPr>
      </p:sp>
      <p:sp>
        <p:nvSpPr>
          <p:cNvPr id="7" name="Text 5"/>
          <p:cNvSpPr/>
          <p:nvPr/>
        </p:nvSpPr>
        <p:spPr>
          <a:xfrm>
            <a:off x="484632" y="1335024"/>
            <a:ext cx="5047488" cy="2176272"/>
          </a:xfrm>
          <a:prstGeom prst="rect">
            <a:avLst/>
          </a:prstGeom>
          <a:noFill/>
          <a:ln/>
        </p:spPr>
        <p:txBody>
          <a:bodyPr wrap="square" lIns="0" tIns="0" rIns="0" bIns="0" rtlCol="0" anchor="t"/>
          <a:lstStyle/>
          <a:p>
            <a:r>
              <a:rPr lang="en-US" sz="1050" dirty="0">
                <a:solidFill>
                  <a:srgbClr val="CADCFC"/>
                </a:solidFill>
                <a:latin typeface="Consolas" pitchFamily="34" charset="0"/>
                <a:ea typeface="Consolas" pitchFamily="34" charset="-122"/>
                <a:cs typeface="Consolas" pitchFamily="34" charset="-120"/>
              </a:rPr>
              <a:t>from pydantic import BaseModel</a:t>
            </a:r>
            <a:endParaRPr lang="en-US" sz="1050" dirty="0"/>
          </a:p>
          <a:p>
            <a:endParaRPr lang="en-US" sz="1050" dirty="0"/>
          </a:p>
          <a:p>
            <a:r>
              <a:rPr lang="en-US" sz="1050" dirty="0">
                <a:solidFill>
                  <a:srgbClr val="CADCFC"/>
                </a:solidFill>
                <a:latin typeface="Consolas" pitchFamily="34" charset="0"/>
                <a:ea typeface="Consolas" pitchFamily="34" charset="-122"/>
                <a:cs typeface="Consolas" pitchFamily="34" charset="-120"/>
              </a:rPr>
              <a:t>class Person(BaseModel):</a:t>
            </a:r>
            <a:endParaRPr lang="en-US" sz="1050" dirty="0"/>
          </a:p>
          <a:p>
            <a:r>
              <a:rPr lang="en-US" sz="1050" dirty="0">
                <a:solidFill>
                  <a:srgbClr val="CADCFC"/>
                </a:solidFill>
                <a:latin typeface="Consolas" pitchFamily="34" charset="0"/>
                <a:ea typeface="Consolas" pitchFamily="34" charset="-122"/>
                <a:cs typeface="Consolas" pitchFamily="34" charset="-120"/>
              </a:rPr>
              <a:t>    name: str</a:t>
            </a:r>
            <a:endParaRPr lang="en-US" sz="1050" dirty="0"/>
          </a:p>
          <a:p>
            <a:r>
              <a:rPr lang="en-US" sz="1050" dirty="0">
                <a:solidFill>
                  <a:srgbClr val="CADCFC"/>
                </a:solidFill>
                <a:latin typeface="Consolas" pitchFamily="34" charset="0"/>
                <a:ea typeface="Consolas" pitchFamily="34" charset="-122"/>
                <a:cs typeface="Consolas" pitchFamily="34" charset="-120"/>
              </a:rPr>
              <a:t>    age: int</a:t>
            </a:r>
            <a:endParaRPr lang="en-US" sz="1050" dirty="0"/>
          </a:p>
          <a:p>
            <a:endParaRPr lang="en-US" sz="1050" dirty="0"/>
          </a:p>
          <a:p>
            <a:r>
              <a:rPr lang="en-US" sz="1050" dirty="0">
                <a:solidFill>
                  <a:srgbClr val="CADCFC"/>
                </a:solidFill>
                <a:latin typeface="Consolas" pitchFamily="34" charset="0"/>
                <a:ea typeface="Consolas" pitchFamily="34" charset="-122"/>
                <a:cs typeface="Consolas" pitchFamily="34" charset="-120"/>
              </a:rPr>
              <a:t># "13.4" cannot be safely converted to int</a:t>
            </a:r>
            <a:endParaRPr lang="en-US" sz="1050" dirty="0"/>
          </a:p>
          <a:p>
            <a:r>
              <a:rPr lang="en-US" sz="1050" dirty="0">
                <a:solidFill>
                  <a:srgbClr val="CADCFC"/>
                </a:solidFill>
                <a:latin typeface="Consolas" pitchFamily="34" charset="0"/>
                <a:ea typeface="Consolas" pitchFamily="34" charset="-122"/>
                <a:cs typeface="Consolas" pitchFamily="34" charset="-120"/>
              </a:rPr>
              <a:t>Person(name="Sam", age="13.4")</a:t>
            </a:r>
            <a:endParaRPr lang="en-US" sz="1050" dirty="0"/>
          </a:p>
          <a:p>
            <a:endParaRPr lang="en-US" sz="1050" dirty="0"/>
          </a:p>
          <a:p>
            <a:r>
              <a:rPr lang="en-US" sz="1050" dirty="0">
                <a:solidFill>
                  <a:srgbClr val="CADCFC"/>
                </a:solidFill>
                <a:latin typeface="Consolas" pitchFamily="34" charset="0"/>
                <a:ea typeface="Consolas" pitchFamily="34" charset="-122"/>
                <a:cs typeface="Consolas" pitchFamily="34" charset="-120"/>
              </a:rPr>
              <a:t># ValidationError: 1 validation error for Person</a:t>
            </a:r>
            <a:endParaRPr lang="en-US" sz="1050" dirty="0"/>
          </a:p>
          <a:p>
            <a:r>
              <a:rPr lang="en-US" sz="1050" dirty="0">
                <a:solidFill>
                  <a:srgbClr val="CADCFC"/>
                </a:solidFill>
                <a:latin typeface="Consolas" pitchFamily="34" charset="0"/>
                <a:ea typeface="Consolas" pitchFamily="34" charset="-122"/>
                <a:cs typeface="Consolas" pitchFamily="34" charset="-120"/>
              </a:rPr>
              <a:t># age</a:t>
            </a:r>
            <a:endParaRPr lang="en-US" sz="1050" dirty="0"/>
          </a:p>
          <a:p>
            <a:r>
              <a:rPr lang="en-US" sz="1050" dirty="0">
                <a:solidFill>
                  <a:srgbClr val="CADCFC"/>
                </a:solidFill>
                <a:latin typeface="Consolas" pitchFamily="34" charset="0"/>
                <a:ea typeface="Consolas" pitchFamily="34" charset="-122"/>
                <a:cs typeface="Consolas" pitchFamily="34" charset="-120"/>
              </a:rPr>
              <a:t>#   Input should be a valid integer,</a:t>
            </a:r>
            <a:endParaRPr lang="en-US" sz="1050" dirty="0"/>
          </a:p>
          <a:p>
            <a:r>
              <a:rPr lang="en-US" sz="1050" dirty="0">
                <a:solidFill>
                  <a:srgbClr val="CADCFC"/>
                </a:solidFill>
                <a:latin typeface="Consolas" pitchFamily="34" charset="0"/>
                <a:ea typeface="Consolas" pitchFamily="34" charset="-122"/>
                <a:cs typeface="Consolas" pitchFamily="34" charset="-120"/>
              </a:rPr>
              <a:t>#   unable to parse string as an integer</a:t>
            </a:r>
            <a:endParaRPr lang="en-US" sz="1050" dirty="0"/>
          </a:p>
          <a:p>
            <a:r>
              <a:rPr lang="en-US" sz="1050" dirty="0">
                <a:solidFill>
                  <a:srgbClr val="CADCFC"/>
                </a:solidFill>
                <a:latin typeface="Consolas" pitchFamily="34" charset="0"/>
                <a:ea typeface="Consolas" pitchFamily="34" charset="-122"/>
                <a:cs typeface="Consolas" pitchFamily="34" charset="-120"/>
              </a:rPr>
              <a:t>#   [type=int_parsing, input_value='13.4',</a:t>
            </a:r>
            <a:endParaRPr lang="en-US" sz="1050" dirty="0"/>
          </a:p>
          <a:p>
            <a:r>
              <a:rPr lang="en-US" sz="1050" dirty="0">
                <a:solidFill>
                  <a:srgbClr val="CADCFC"/>
                </a:solidFill>
                <a:latin typeface="Consolas" pitchFamily="34" charset="0"/>
                <a:ea typeface="Consolas" pitchFamily="34" charset="-122"/>
                <a:cs typeface="Consolas" pitchFamily="34" charset="-120"/>
              </a:rPr>
              <a:t>#    input_type=str]</a:t>
            </a:r>
            <a:endParaRPr lang="en-US" sz="1050" dirty="0"/>
          </a:p>
        </p:txBody>
      </p:sp>
      <p:sp>
        <p:nvSpPr>
          <p:cNvPr id="8" name="Shape 6"/>
          <p:cNvSpPr/>
          <p:nvPr/>
        </p:nvSpPr>
        <p:spPr>
          <a:xfrm>
            <a:off x="5715000" y="1243584"/>
            <a:ext cx="3108960" cy="731520"/>
          </a:xfrm>
          <a:prstGeom prst="rect">
            <a:avLst/>
          </a:prstGeom>
          <a:solidFill>
            <a:srgbClr val="F7F3EA"/>
          </a:solidFill>
          <a:ln w="19050">
            <a:solidFill>
              <a:srgbClr val="1E2761"/>
            </a:solidFill>
            <a:prstDash val="solid"/>
          </a:ln>
          <a:effectLst>
            <a:outerShdw blurRad="63500" dist="25400" dir="8100000" algn="bl" rotWithShape="0">
              <a:srgbClr val="1A1F36">
                <a:alpha val="12000"/>
              </a:srgbClr>
            </a:outerShdw>
          </a:effectLst>
        </p:spPr>
      </p:sp>
      <p:sp>
        <p:nvSpPr>
          <p:cNvPr id="9" name="Shape 7"/>
          <p:cNvSpPr/>
          <p:nvPr/>
        </p:nvSpPr>
        <p:spPr>
          <a:xfrm>
            <a:off x="5715000" y="1243584"/>
            <a:ext cx="50292" cy="731520"/>
          </a:xfrm>
          <a:prstGeom prst="rect">
            <a:avLst/>
          </a:prstGeom>
          <a:solidFill>
            <a:srgbClr val="1E2761"/>
          </a:solidFill>
          <a:ln w="12700">
            <a:solidFill>
              <a:srgbClr val="1E2761"/>
            </a:solidFill>
            <a:prstDash val="solid"/>
          </a:ln>
        </p:spPr>
      </p:sp>
      <p:sp>
        <p:nvSpPr>
          <p:cNvPr id="10" name="Text 8"/>
          <p:cNvSpPr/>
          <p:nvPr/>
        </p:nvSpPr>
        <p:spPr>
          <a:xfrm>
            <a:off x="5833872" y="1289304"/>
            <a:ext cx="2944368" cy="237744"/>
          </a:xfrm>
          <a:prstGeom prst="rect">
            <a:avLst/>
          </a:prstGeom>
          <a:noFill/>
          <a:ln/>
        </p:spPr>
        <p:txBody>
          <a:bodyPr wrap="square" lIns="0" tIns="0" rIns="0" bIns="0" rtlCol="0" anchor="ctr"/>
          <a:lstStyle/>
          <a:p>
            <a:r>
              <a:rPr lang="en-US" sz="1200" b="1" dirty="0">
                <a:solidFill>
                  <a:srgbClr val="1E2761"/>
                </a:solidFill>
                <a:latin typeface="Calibri" pitchFamily="34" charset="0"/>
                <a:ea typeface="Calibri" pitchFamily="34" charset="-122"/>
                <a:cs typeface="Calibri" pitchFamily="34" charset="-120"/>
              </a:rPr>
              <a:t>Exact field name</a:t>
            </a:r>
            <a:endParaRPr lang="en-US" sz="1200" dirty="0"/>
          </a:p>
        </p:txBody>
      </p:sp>
      <p:sp>
        <p:nvSpPr>
          <p:cNvPr id="11" name="Text 9"/>
          <p:cNvSpPr/>
          <p:nvPr/>
        </p:nvSpPr>
        <p:spPr>
          <a:xfrm>
            <a:off x="5833872" y="1517904"/>
            <a:ext cx="2944368" cy="411480"/>
          </a:xfrm>
          <a:prstGeom prst="rect">
            <a:avLst/>
          </a:prstGeom>
          <a:noFill/>
          <a:ln/>
        </p:spPr>
        <p:txBody>
          <a:bodyPr wrap="square" lIns="0" tIns="0" rIns="0" bIns="0" rtlCol="0" anchor="t"/>
          <a:lstStyle/>
          <a:p>
            <a:r>
              <a:rPr lang="en-US" sz="1050" dirty="0">
                <a:solidFill>
                  <a:srgbClr val="1A1F36"/>
                </a:solidFill>
                <a:latin typeface="Calibri" pitchFamily="34" charset="0"/>
                <a:ea typeface="Calibri" pitchFamily="34" charset="-122"/>
                <a:cs typeface="Calibri" pitchFamily="34" charset="-120"/>
              </a:rPr>
              <a:t>The error names the failing field ('age'), not a generic message. Easy to map back to your model.</a:t>
            </a:r>
            <a:endParaRPr lang="en-US" sz="1050" dirty="0"/>
          </a:p>
        </p:txBody>
      </p:sp>
      <p:sp>
        <p:nvSpPr>
          <p:cNvPr id="12" name="Shape 10"/>
          <p:cNvSpPr/>
          <p:nvPr/>
        </p:nvSpPr>
        <p:spPr>
          <a:xfrm>
            <a:off x="5715000" y="1609344"/>
            <a:ext cx="0" cy="219456"/>
          </a:xfrm>
          <a:prstGeom prst="line">
            <a:avLst/>
          </a:prstGeom>
          <a:noFill/>
          <a:ln w="19050">
            <a:solidFill>
              <a:srgbClr val="1E2761"/>
            </a:solidFill>
            <a:prstDash val="solid"/>
            <a:tailEnd type="arrow"/>
          </a:ln>
        </p:spPr>
      </p:sp>
      <p:sp>
        <p:nvSpPr>
          <p:cNvPr id="13" name="Shape 11"/>
          <p:cNvSpPr/>
          <p:nvPr/>
        </p:nvSpPr>
        <p:spPr>
          <a:xfrm>
            <a:off x="5715000" y="2066544"/>
            <a:ext cx="3108960" cy="731520"/>
          </a:xfrm>
          <a:prstGeom prst="rect">
            <a:avLst/>
          </a:prstGeom>
          <a:solidFill>
            <a:srgbClr val="F7F3EA"/>
          </a:solidFill>
          <a:ln w="19050">
            <a:solidFill>
              <a:srgbClr val="1E2761"/>
            </a:solidFill>
            <a:prstDash val="solid"/>
          </a:ln>
          <a:effectLst>
            <a:outerShdw blurRad="63500" dist="25400" dir="8100000" algn="bl" rotWithShape="0">
              <a:srgbClr val="1A1F36">
                <a:alpha val="12000"/>
              </a:srgbClr>
            </a:outerShdw>
          </a:effectLst>
        </p:spPr>
      </p:sp>
      <p:sp>
        <p:nvSpPr>
          <p:cNvPr id="14" name="Shape 12"/>
          <p:cNvSpPr/>
          <p:nvPr/>
        </p:nvSpPr>
        <p:spPr>
          <a:xfrm>
            <a:off x="5715000" y="2066544"/>
            <a:ext cx="50292" cy="731520"/>
          </a:xfrm>
          <a:prstGeom prst="rect">
            <a:avLst/>
          </a:prstGeom>
          <a:solidFill>
            <a:srgbClr val="1E2761"/>
          </a:solidFill>
          <a:ln w="12700">
            <a:solidFill>
              <a:srgbClr val="1E2761"/>
            </a:solidFill>
            <a:prstDash val="solid"/>
          </a:ln>
        </p:spPr>
      </p:sp>
      <p:sp>
        <p:nvSpPr>
          <p:cNvPr id="15" name="Text 13"/>
          <p:cNvSpPr/>
          <p:nvPr/>
        </p:nvSpPr>
        <p:spPr>
          <a:xfrm>
            <a:off x="5833872" y="2112264"/>
            <a:ext cx="2944368" cy="237744"/>
          </a:xfrm>
          <a:prstGeom prst="rect">
            <a:avLst/>
          </a:prstGeom>
          <a:noFill/>
          <a:ln/>
        </p:spPr>
        <p:txBody>
          <a:bodyPr wrap="square" lIns="0" tIns="0" rIns="0" bIns="0" rtlCol="0" anchor="ctr"/>
          <a:lstStyle/>
          <a:p>
            <a:r>
              <a:rPr lang="en-US" sz="1200" b="1" dirty="0">
                <a:solidFill>
                  <a:srgbClr val="1E2761"/>
                </a:solidFill>
                <a:latin typeface="Calibri" pitchFamily="34" charset="0"/>
                <a:ea typeface="Calibri" pitchFamily="34" charset="-122"/>
                <a:cs typeface="Calibri" pitchFamily="34" charset="-120"/>
              </a:rPr>
              <a:t>Human-readable reason</a:t>
            </a:r>
            <a:endParaRPr lang="en-US" sz="1200" dirty="0"/>
          </a:p>
        </p:txBody>
      </p:sp>
      <p:sp>
        <p:nvSpPr>
          <p:cNvPr id="16" name="Text 14"/>
          <p:cNvSpPr/>
          <p:nvPr/>
        </p:nvSpPr>
        <p:spPr>
          <a:xfrm>
            <a:off x="5833872" y="2340864"/>
            <a:ext cx="2944368" cy="411480"/>
          </a:xfrm>
          <a:prstGeom prst="rect">
            <a:avLst/>
          </a:prstGeom>
          <a:noFill/>
          <a:ln/>
        </p:spPr>
        <p:txBody>
          <a:bodyPr wrap="square" lIns="0" tIns="0" rIns="0" bIns="0" rtlCol="0" anchor="t"/>
          <a:lstStyle/>
          <a:p>
            <a:r>
              <a:rPr lang="en-US" sz="1050" dirty="0">
                <a:solidFill>
                  <a:srgbClr val="1A1F36"/>
                </a:solidFill>
                <a:latin typeface="Calibri" pitchFamily="34" charset="0"/>
                <a:ea typeface="Calibri" pitchFamily="34" charset="-122"/>
                <a:cs typeface="Calibri" pitchFamily="34" charset="-120"/>
              </a:rPr>
              <a:t>'unable to parse string as an integer' tells you exactly what Pydantic tried and why it failed.</a:t>
            </a:r>
            <a:endParaRPr lang="en-US" sz="1050" dirty="0"/>
          </a:p>
        </p:txBody>
      </p:sp>
      <p:sp>
        <p:nvSpPr>
          <p:cNvPr id="17" name="Shape 15"/>
          <p:cNvSpPr/>
          <p:nvPr/>
        </p:nvSpPr>
        <p:spPr>
          <a:xfrm>
            <a:off x="5715000" y="2432304"/>
            <a:ext cx="0" cy="265176"/>
          </a:xfrm>
          <a:prstGeom prst="line">
            <a:avLst/>
          </a:prstGeom>
          <a:noFill/>
          <a:ln w="19050">
            <a:solidFill>
              <a:srgbClr val="1E2761"/>
            </a:solidFill>
            <a:prstDash val="solid"/>
            <a:tailEnd type="arrow"/>
          </a:ln>
        </p:spPr>
      </p:sp>
      <p:sp>
        <p:nvSpPr>
          <p:cNvPr id="18" name="Shape 16"/>
          <p:cNvSpPr/>
          <p:nvPr/>
        </p:nvSpPr>
        <p:spPr>
          <a:xfrm>
            <a:off x="5715000" y="2889504"/>
            <a:ext cx="3108960" cy="731520"/>
          </a:xfrm>
          <a:prstGeom prst="rect">
            <a:avLst/>
          </a:prstGeom>
          <a:solidFill>
            <a:srgbClr val="F7F3EA"/>
          </a:solidFill>
          <a:ln w="19050">
            <a:solidFill>
              <a:srgbClr val="1E2761"/>
            </a:solidFill>
            <a:prstDash val="solid"/>
          </a:ln>
          <a:effectLst>
            <a:outerShdw blurRad="63500" dist="25400" dir="8100000" algn="bl" rotWithShape="0">
              <a:srgbClr val="1A1F36">
                <a:alpha val="12000"/>
              </a:srgbClr>
            </a:outerShdw>
          </a:effectLst>
        </p:spPr>
      </p:sp>
      <p:sp>
        <p:nvSpPr>
          <p:cNvPr id="19" name="Shape 17"/>
          <p:cNvSpPr/>
          <p:nvPr/>
        </p:nvSpPr>
        <p:spPr>
          <a:xfrm>
            <a:off x="5715000" y="2889504"/>
            <a:ext cx="50292" cy="731520"/>
          </a:xfrm>
          <a:prstGeom prst="rect">
            <a:avLst/>
          </a:prstGeom>
          <a:solidFill>
            <a:srgbClr val="1E2761"/>
          </a:solidFill>
          <a:ln w="12700">
            <a:solidFill>
              <a:srgbClr val="1E2761"/>
            </a:solidFill>
            <a:prstDash val="solid"/>
          </a:ln>
        </p:spPr>
      </p:sp>
      <p:sp>
        <p:nvSpPr>
          <p:cNvPr id="20" name="Text 18"/>
          <p:cNvSpPr/>
          <p:nvPr/>
        </p:nvSpPr>
        <p:spPr>
          <a:xfrm>
            <a:off x="5833872" y="2935224"/>
            <a:ext cx="2944368" cy="237744"/>
          </a:xfrm>
          <a:prstGeom prst="rect">
            <a:avLst/>
          </a:prstGeom>
          <a:noFill/>
          <a:ln/>
        </p:spPr>
        <p:txBody>
          <a:bodyPr wrap="square" lIns="0" tIns="0" rIns="0" bIns="0" rtlCol="0" anchor="ctr"/>
          <a:lstStyle/>
          <a:p>
            <a:r>
              <a:rPr lang="en-US" sz="1200" b="1" dirty="0">
                <a:solidFill>
                  <a:srgbClr val="1E2761"/>
                </a:solidFill>
                <a:latin typeface="Calibri" pitchFamily="34" charset="0"/>
                <a:ea typeface="Calibri" pitchFamily="34" charset="-122"/>
                <a:cs typeface="Calibri" pitchFamily="34" charset="-120"/>
              </a:rPr>
              <a:t>Input context included</a:t>
            </a:r>
            <a:endParaRPr lang="en-US" sz="1200" dirty="0"/>
          </a:p>
        </p:txBody>
      </p:sp>
      <p:sp>
        <p:nvSpPr>
          <p:cNvPr id="21" name="Text 19"/>
          <p:cNvSpPr/>
          <p:nvPr/>
        </p:nvSpPr>
        <p:spPr>
          <a:xfrm>
            <a:off x="5833872" y="3163824"/>
            <a:ext cx="2944368" cy="411480"/>
          </a:xfrm>
          <a:prstGeom prst="rect">
            <a:avLst/>
          </a:prstGeom>
          <a:noFill/>
          <a:ln/>
        </p:spPr>
        <p:txBody>
          <a:bodyPr wrap="square" lIns="0" tIns="0" rIns="0" bIns="0" rtlCol="0" anchor="t"/>
          <a:lstStyle/>
          <a:p>
            <a:r>
              <a:rPr lang="en-US" sz="1050" dirty="0">
                <a:solidFill>
                  <a:srgbClr val="1A1F36"/>
                </a:solidFill>
                <a:latin typeface="Calibri" pitchFamily="34" charset="0"/>
                <a:ea typeface="Calibri" pitchFamily="34" charset="-122"/>
                <a:cs typeface="Calibri" pitchFamily="34" charset="-120"/>
              </a:rPr>
              <a:t>Shows input_value='13.4' and input_type=str so you can reproduce and debug instantly.</a:t>
            </a:r>
            <a:endParaRPr lang="en-US" sz="1050" dirty="0"/>
          </a:p>
        </p:txBody>
      </p:sp>
      <p:sp>
        <p:nvSpPr>
          <p:cNvPr id="22" name="Shape 20"/>
          <p:cNvSpPr/>
          <p:nvPr/>
        </p:nvSpPr>
        <p:spPr>
          <a:xfrm>
            <a:off x="5715000" y="3255264"/>
            <a:ext cx="0" cy="173736"/>
          </a:xfrm>
          <a:prstGeom prst="line">
            <a:avLst/>
          </a:prstGeom>
          <a:noFill/>
          <a:ln w="19050">
            <a:solidFill>
              <a:srgbClr val="1E2761"/>
            </a:solidFill>
            <a:prstDash val="solid"/>
            <a:tailEnd type="arrow"/>
          </a:ln>
        </p:spPr>
      </p:sp>
      <p:grpSp>
        <p:nvGrpSpPr>
          <p:cNvPr id="2" name="Group 1">
            <a:extLst>
              <a:ext uri="{FF2B5EF4-FFF2-40B4-BE49-F238E27FC236}">
                <a16:creationId xmlns:a16="http://schemas.microsoft.com/office/drawing/2014/main" id="{7AF33551-6881-05E7-38EA-CC1D48BDF56A}"/>
              </a:ext>
            </a:extLst>
          </p:cNvPr>
          <p:cNvGrpSpPr/>
          <p:nvPr/>
        </p:nvGrpSpPr>
        <p:grpSpPr>
          <a:xfrm>
            <a:off x="320040" y="3948944"/>
            <a:ext cx="8503920" cy="960120"/>
            <a:chOff x="426720" y="4949952"/>
            <a:chExt cx="11338560" cy="1280160"/>
          </a:xfrm>
        </p:grpSpPr>
        <p:sp>
          <p:nvSpPr>
            <p:cNvPr id="23" name="Shape 21"/>
            <p:cNvSpPr/>
            <p:nvPr/>
          </p:nvSpPr>
          <p:spPr>
            <a:xfrm>
              <a:off x="426720" y="4949952"/>
              <a:ext cx="11338560" cy="1280160"/>
            </a:xfrm>
            <a:prstGeom prst="rect">
              <a:avLst/>
            </a:prstGeom>
            <a:solidFill>
              <a:srgbClr val="D6E4F7"/>
            </a:solidFill>
            <a:ln w="15240">
              <a:solidFill>
                <a:srgbClr val="3D5A80"/>
              </a:solidFill>
              <a:prstDash val="solid"/>
            </a:ln>
            <a:effectLst>
              <a:outerShdw blurRad="63500" dist="25400" dir="8100000" algn="bl" rotWithShape="0">
                <a:srgbClr val="1A1F36">
                  <a:alpha val="12000"/>
                </a:srgbClr>
              </a:outerShdw>
            </a:effectLst>
          </p:spPr>
        </p:sp>
        <p:sp>
          <p:nvSpPr>
            <p:cNvPr id="24" name="Shape 22"/>
            <p:cNvSpPr/>
            <p:nvPr/>
          </p:nvSpPr>
          <p:spPr>
            <a:xfrm>
              <a:off x="426720" y="4949952"/>
              <a:ext cx="85344" cy="1280160"/>
            </a:xfrm>
            <a:prstGeom prst="rect">
              <a:avLst/>
            </a:prstGeom>
            <a:solidFill>
              <a:srgbClr val="3D5A80"/>
            </a:solidFill>
            <a:ln w="12700">
              <a:solidFill>
                <a:srgbClr val="3D5A80"/>
              </a:solidFill>
              <a:prstDash val="solid"/>
            </a:ln>
          </p:spPr>
        </p:sp>
        <p:sp>
          <p:nvSpPr>
            <p:cNvPr id="25" name="Text 23"/>
            <p:cNvSpPr/>
            <p:nvPr/>
          </p:nvSpPr>
          <p:spPr>
            <a:xfrm>
              <a:off x="670560" y="5023104"/>
              <a:ext cx="3657600" cy="316992"/>
            </a:xfrm>
            <a:prstGeom prst="rect">
              <a:avLst/>
            </a:prstGeom>
            <a:noFill/>
            <a:ln/>
          </p:spPr>
          <p:txBody>
            <a:bodyPr wrap="square" lIns="0" tIns="0" rIns="0" bIns="0" rtlCol="0" anchor="ctr"/>
            <a:lstStyle/>
            <a:p>
              <a:r>
                <a:rPr lang="en-US" sz="1150" b="1" dirty="0">
                  <a:solidFill>
                    <a:srgbClr val="1A1F36"/>
                  </a:solidFill>
                  <a:latin typeface="Calibri" pitchFamily="34" charset="0"/>
                  <a:ea typeface="Calibri" pitchFamily="34" charset="-122"/>
                  <a:cs typeface="Calibri" pitchFamily="34" charset="-120"/>
                </a:rPr>
                <a:t>Why this matters with LLMs:</a:t>
              </a:r>
              <a:endParaRPr lang="en-US" sz="1150" dirty="0"/>
            </a:p>
          </p:txBody>
        </p:sp>
        <p:sp>
          <p:nvSpPr>
            <p:cNvPr id="26" name="Text 24"/>
            <p:cNvSpPr/>
            <p:nvPr/>
          </p:nvSpPr>
          <p:spPr>
            <a:xfrm>
              <a:off x="670560" y="5364480"/>
              <a:ext cx="10789920" cy="755904"/>
            </a:xfrm>
            <a:prstGeom prst="rect">
              <a:avLst/>
            </a:prstGeom>
            <a:noFill/>
            <a:ln/>
          </p:spPr>
          <p:txBody>
            <a:bodyPr wrap="square" lIns="0" tIns="0" rIns="0" bIns="0" rtlCol="0" anchor="ctr"/>
            <a:lstStyle/>
            <a:p>
              <a:r>
                <a:rPr lang="en-US" sz="1150" dirty="0">
                  <a:solidFill>
                    <a:srgbClr val="1A1F36"/>
                  </a:solidFill>
                  <a:latin typeface="Calibri" pitchFamily="34" charset="0"/>
                  <a:ea typeface="Calibri" pitchFamily="34" charset="-122"/>
                  <a:cs typeface="Calibri" pitchFamily="34" charset="-120"/>
                </a:rPr>
                <a:t>LLMs hallucinate field values. Without validation, a string “unknown” in an integer field silently breaks downstream code. Pydantic surfaces the error at parse time, before it can propagate into your application.</a:t>
              </a:r>
              <a:endParaRPr lang="en-US" sz="1150" dirty="0"/>
            </a:p>
          </p:txBody>
        </p:sp>
      </p:grpSp>
      <p:sp>
        <p:nvSpPr>
          <p:cNvPr id="27" name="Text 25"/>
          <p:cNvSpPr/>
          <p:nvPr/>
        </p:nvSpPr>
        <p:spPr>
          <a:xfrm>
            <a:off x="8046720" y="4800600"/>
            <a:ext cx="914400" cy="256032"/>
          </a:xfrm>
          <a:prstGeom prst="rect">
            <a:avLst/>
          </a:prstGeom>
          <a:noFill/>
          <a:ln/>
        </p:spPr>
        <p:txBody>
          <a:bodyPr wrap="square" rtlCol="0" anchor="ctr"/>
          <a:lstStyle/>
          <a:p>
            <a:pPr algn="r"/>
            <a:r>
              <a:rPr lang="en-US" sz="900" dirty="0">
                <a:solidFill>
                  <a:srgbClr val="78909C"/>
                </a:solidFill>
              </a:rPr>
              <a:t>5 / 13</a:t>
            </a:r>
            <a:endParaRPr lang="en-US" sz="900" dirty="0"/>
          </a:p>
        </p:txBody>
      </p:sp>
      <p:pic>
        <p:nvPicPr>
          <p:cNvPr id="28" name="Google Shape;109;p20">
            <a:extLst>
              <a:ext uri="{FF2B5EF4-FFF2-40B4-BE49-F238E27FC236}">
                <a16:creationId xmlns:a16="http://schemas.microsoft.com/office/drawing/2014/main" id="{67FD943C-C453-D1F8-413E-6B8AC7986B88}"/>
              </a:ext>
            </a:extLst>
          </p:cNvPr>
          <p:cNvPicPr preferRelativeResize="0"/>
          <p:nvPr/>
        </p:nvPicPr>
        <p:blipFill>
          <a:blip r:embed="rId3">
            <a:alphaModFix/>
          </a:blip>
          <a:stretch>
            <a:fillRect/>
          </a:stretch>
        </p:blipFill>
        <p:spPr>
          <a:xfrm>
            <a:off x="8369126" y="0"/>
            <a:ext cx="774877" cy="867174"/>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11480" y="146304"/>
            <a:ext cx="8321040" cy="566928"/>
          </a:xfrm>
          <a:prstGeom prst="rect">
            <a:avLst/>
          </a:prstGeom>
          <a:noFill/>
          <a:ln/>
        </p:spPr>
        <p:txBody>
          <a:bodyPr wrap="square" lIns="0" tIns="0" rIns="0" bIns="0" rtlCol="0" anchor="ctr"/>
          <a:lstStyle/>
          <a:p>
            <a:r>
              <a:rPr lang="en-US" sz="2500" b="1" dirty="0">
                <a:solidFill>
                  <a:srgbClr val="1A1F36"/>
                </a:solidFill>
                <a:latin typeface="Georgia" pitchFamily="34" charset="0"/>
                <a:ea typeface="Georgia" pitchFamily="34" charset="-122"/>
                <a:cs typeface="Georgia" pitchFamily="34" charset="-120"/>
              </a:rPr>
              <a:t>The Naive Approach: Asking for JSON in Text</a:t>
            </a:r>
            <a:endParaRPr lang="en-US" sz="2500" dirty="0"/>
          </a:p>
        </p:txBody>
      </p:sp>
      <p:sp>
        <p:nvSpPr>
          <p:cNvPr id="4" name="Text 2"/>
          <p:cNvSpPr/>
          <p:nvPr/>
        </p:nvSpPr>
        <p:spPr>
          <a:xfrm>
            <a:off x="411480" y="768096"/>
            <a:ext cx="8321040" cy="365760"/>
          </a:xfrm>
          <a:prstGeom prst="rect">
            <a:avLst/>
          </a:prstGeom>
          <a:noFill/>
          <a:ln/>
        </p:spPr>
        <p:txBody>
          <a:bodyPr wrap="square" rtlCol="0" anchor="ctr"/>
          <a:lstStyle/>
          <a:p>
            <a:r>
              <a:rPr lang="en-US" sz="1300" dirty="0">
                <a:solidFill>
                  <a:srgbClr val="1A1F36"/>
                </a:solidFill>
                <a:latin typeface="Calibri" pitchFamily="34" charset="0"/>
                <a:ea typeface="Calibri" pitchFamily="34" charset="-122"/>
                <a:cs typeface="Calibri" pitchFamily="34" charset="-120"/>
              </a:rPr>
              <a:t>The simplest approach — prompting the model to return JSON in the message content — is fragile:</a:t>
            </a:r>
            <a:endParaRPr lang="en-US" sz="1300" dirty="0"/>
          </a:p>
        </p:txBody>
      </p:sp>
      <p:sp>
        <p:nvSpPr>
          <p:cNvPr id="5" name="Shape 3"/>
          <p:cNvSpPr/>
          <p:nvPr/>
        </p:nvSpPr>
        <p:spPr>
          <a:xfrm>
            <a:off x="320040" y="1188719"/>
            <a:ext cx="5120640" cy="3517287"/>
          </a:xfrm>
          <a:prstGeom prst="rect">
            <a:avLst/>
          </a:prstGeom>
          <a:solidFill>
            <a:srgbClr val="1A1F36"/>
          </a:solidFill>
          <a:ln w="12700">
            <a:solidFill>
              <a:srgbClr val="1A1F36"/>
            </a:solidFill>
            <a:prstDash val="solid"/>
          </a:ln>
          <a:effectLst>
            <a:outerShdw blurRad="63500" dist="25400" dir="8100000" algn="bl" rotWithShape="0">
              <a:srgbClr val="1A1F36">
                <a:alpha val="12000"/>
              </a:srgbClr>
            </a:outerShdw>
          </a:effectLst>
        </p:spPr>
      </p:sp>
      <p:sp>
        <p:nvSpPr>
          <p:cNvPr id="6" name="Shape 4"/>
          <p:cNvSpPr/>
          <p:nvPr/>
        </p:nvSpPr>
        <p:spPr>
          <a:xfrm>
            <a:off x="320040" y="1188720"/>
            <a:ext cx="73152" cy="3017520"/>
          </a:xfrm>
          <a:prstGeom prst="rect">
            <a:avLst/>
          </a:prstGeom>
          <a:solidFill>
            <a:srgbClr val="3D5A80"/>
          </a:solidFill>
          <a:ln w="12700">
            <a:solidFill>
              <a:srgbClr val="3D5A80"/>
            </a:solidFill>
            <a:prstDash val="solid"/>
          </a:ln>
        </p:spPr>
      </p:sp>
      <p:sp>
        <p:nvSpPr>
          <p:cNvPr id="7" name="Text 5"/>
          <p:cNvSpPr/>
          <p:nvPr/>
        </p:nvSpPr>
        <p:spPr>
          <a:xfrm>
            <a:off x="484632" y="1280160"/>
            <a:ext cx="4864608" cy="2834640"/>
          </a:xfrm>
          <a:prstGeom prst="rect">
            <a:avLst/>
          </a:prstGeom>
          <a:noFill/>
          <a:ln/>
        </p:spPr>
        <p:txBody>
          <a:bodyPr wrap="square" lIns="0" tIns="0" rIns="0" bIns="0" rtlCol="0" anchor="t"/>
          <a:lstStyle/>
          <a:p>
            <a:r>
              <a:rPr lang="en-US" sz="1050" dirty="0">
                <a:solidFill>
                  <a:srgbClr val="CADCFC"/>
                </a:solidFill>
                <a:latin typeface="Consolas" pitchFamily="34" charset="0"/>
                <a:ea typeface="Consolas" pitchFamily="34" charset="-122"/>
                <a:cs typeface="Consolas" pitchFamily="34" charset="-120"/>
              </a:rPr>
              <a:t>from pydantic import BaseModel</a:t>
            </a:r>
            <a:endParaRPr lang="en-US" sz="1050" dirty="0"/>
          </a:p>
          <a:p>
            <a:r>
              <a:rPr lang="en-US" sz="1050" dirty="0">
                <a:solidFill>
                  <a:srgbClr val="CADCFC"/>
                </a:solidFill>
                <a:latin typeface="Consolas" pitchFamily="34" charset="0"/>
                <a:ea typeface="Consolas" pitchFamily="34" charset="-122"/>
                <a:cs typeface="Consolas" pitchFamily="34" charset="-120"/>
              </a:rPr>
              <a:t>from openai import OpenAI</a:t>
            </a:r>
            <a:endParaRPr lang="en-US" sz="1050" dirty="0"/>
          </a:p>
          <a:p>
            <a:r>
              <a:rPr lang="en-US" sz="1050" dirty="0">
                <a:solidFill>
                  <a:srgbClr val="CADCFC"/>
                </a:solidFill>
                <a:latin typeface="Consolas" pitchFamily="34" charset="0"/>
                <a:ea typeface="Consolas" pitchFamily="34" charset="-122"/>
                <a:cs typeface="Consolas" pitchFamily="34" charset="-120"/>
              </a:rPr>
              <a:t>client = OpenAI()</a:t>
            </a:r>
            <a:endParaRPr lang="en-US" sz="1050" dirty="0"/>
          </a:p>
          <a:p>
            <a:endParaRPr lang="en-US" sz="1050" dirty="0"/>
          </a:p>
          <a:p>
            <a:r>
              <a:rPr lang="en-US" sz="1050" dirty="0">
                <a:solidFill>
                  <a:srgbClr val="CADCFC"/>
                </a:solidFill>
                <a:latin typeface="Consolas" pitchFamily="34" charset="0"/>
                <a:ea typeface="Consolas" pitchFamily="34" charset="-122"/>
                <a:cs typeface="Consolas" pitchFamily="34" charset="-120"/>
              </a:rPr>
              <a:t>class PythonPackage(BaseModel):</a:t>
            </a:r>
            <a:endParaRPr lang="en-US" sz="1050" dirty="0"/>
          </a:p>
          <a:p>
            <a:r>
              <a:rPr lang="en-US" sz="1050" dirty="0">
                <a:solidFill>
                  <a:srgbClr val="CADCFC"/>
                </a:solidFill>
                <a:latin typeface="Consolas" pitchFamily="34" charset="0"/>
                <a:ea typeface="Consolas" pitchFamily="34" charset="-122"/>
                <a:cs typeface="Consolas" pitchFamily="34" charset="-120"/>
              </a:rPr>
              <a:t>    name: str</a:t>
            </a:r>
            <a:endParaRPr lang="en-US" sz="1050" dirty="0"/>
          </a:p>
          <a:p>
            <a:r>
              <a:rPr lang="en-US" sz="1050" dirty="0">
                <a:solidFill>
                  <a:srgbClr val="CADCFC"/>
                </a:solidFill>
                <a:latin typeface="Consolas" pitchFamily="34" charset="0"/>
                <a:ea typeface="Consolas" pitchFamily="34" charset="-122"/>
                <a:cs typeface="Consolas" pitchFamily="34" charset="-120"/>
              </a:rPr>
              <a:t>    author: str</a:t>
            </a:r>
            <a:endParaRPr lang="en-US" sz="1050" dirty="0"/>
          </a:p>
          <a:p>
            <a:endParaRPr lang="en-US" sz="1050" dirty="0"/>
          </a:p>
          <a:p>
            <a:r>
              <a:rPr lang="en-US" sz="1050" dirty="0">
                <a:solidFill>
                  <a:srgbClr val="CADCFC"/>
                </a:solidFill>
                <a:latin typeface="Consolas" pitchFamily="34" charset="0"/>
                <a:ea typeface="Consolas" pitchFamily="34" charset="-122"/>
                <a:cs typeface="Consolas" pitchFamily="34" charset="-120"/>
              </a:rPr>
              <a:t>resp = client.chat.completions.create(</a:t>
            </a:r>
            <a:endParaRPr lang="en-US" sz="1050" dirty="0"/>
          </a:p>
          <a:p>
            <a:r>
              <a:rPr lang="en-US" sz="1050" dirty="0">
                <a:solidFill>
                  <a:srgbClr val="CADCFC"/>
                </a:solidFill>
                <a:latin typeface="Consolas" pitchFamily="34" charset="0"/>
                <a:ea typeface="Consolas" pitchFamily="34" charset="-122"/>
                <a:cs typeface="Consolas" pitchFamily="34" charset="-120"/>
              </a:rPr>
              <a:t>    model="gpt-3.5-turbo",</a:t>
            </a:r>
            <a:endParaRPr lang="en-US" sz="1050" dirty="0"/>
          </a:p>
          <a:p>
            <a:r>
              <a:rPr lang="en-US" sz="1050" dirty="0">
                <a:solidFill>
                  <a:srgbClr val="CADCFC"/>
                </a:solidFill>
                <a:latin typeface="Consolas" pitchFamily="34" charset="0"/>
                <a:ea typeface="Consolas" pitchFamily="34" charset="-122"/>
                <a:cs typeface="Consolas" pitchFamily="34" charset="-120"/>
              </a:rPr>
              <a:t>    messages=[{</a:t>
            </a:r>
            <a:endParaRPr lang="en-US" sz="1050" dirty="0"/>
          </a:p>
          <a:p>
            <a:r>
              <a:rPr lang="en-US" sz="1050" dirty="0">
                <a:solidFill>
                  <a:srgbClr val="CADCFC"/>
                </a:solidFill>
                <a:latin typeface="Consolas" pitchFamily="34" charset="0"/>
                <a:ea typeface="Consolas" pitchFamily="34" charset="-122"/>
                <a:cs typeface="Consolas" pitchFamily="34" charset="-120"/>
              </a:rPr>
              <a:t>        "role": "user",</a:t>
            </a:r>
            <a:endParaRPr lang="en-US" sz="1050" dirty="0"/>
          </a:p>
          <a:p>
            <a:r>
              <a:rPr lang="en-US" sz="1050" dirty="0">
                <a:solidFill>
                  <a:srgbClr val="CADCFC"/>
                </a:solidFill>
                <a:latin typeface="Consolas" pitchFamily="34" charset="0"/>
                <a:ea typeface="Consolas" pitchFamily="34" charset="-122"/>
                <a:cs typeface="Consolas" pitchFamily="34" charset="-120"/>
              </a:rPr>
              <a:t>        "content": "Return the name and author</a:t>
            </a:r>
            <a:endParaRPr lang="en-US" sz="1050" dirty="0"/>
          </a:p>
          <a:p>
            <a:r>
              <a:rPr lang="en-US" sz="1050" dirty="0">
                <a:solidFill>
                  <a:srgbClr val="CADCFC"/>
                </a:solidFill>
                <a:latin typeface="Consolas" pitchFamily="34" charset="0"/>
                <a:ea typeface="Consolas" pitchFamily="34" charset="-122"/>
                <a:cs typeface="Consolas" pitchFamily="34" charset="-120"/>
              </a:rPr>
              <a:t>                    of pydantic in a JSON object."</a:t>
            </a:r>
            <a:endParaRPr lang="en-US" sz="1050" dirty="0"/>
          </a:p>
          <a:p>
            <a:r>
              <a:rPr lang="en-US" sz="1050" dirty="0">
                <a:solidFill>
                  <a:srgbClr val="CADCFC"/>
                </a:solidFill>
                <a:latin typeface="Consolas" pitchFamily="34" charset="0"/>
                <a:ea typeface="Consolas" pitchFamily="34" charset="-122"/>
                <a:cs typeface="Consolas" pitchFamily="34" charset="-120"/>
              </a:rPr>
              <a:t>    }]</a:t>
            </a:r>
            <a:endParaRPr lang="en-US" sz="1050" dirty="0"/>
          </a:p>
          <a:p>
            <a:r>
              <a:rPr lang="en-US" sz="1050" dirty="0">
                <a:solidFill>
                  <a:srgbClr val="CADCFC"/>
                </a:solidFill>
                <a:latin typeface="Consolas" pitchFamily="34" charset="0"/>
                <a:ea typeface="Consolas" pitchFamily="34" charset="-122"/>
                <a:cs typeface="Consolas" pitchFamily="34" charset="-120"/>
              </a:rPr>
              <a:t>)</a:t>
            </a:r>
            <a:endParaRPr lang="en-US" sz="1050" dirty="0"/>
          </a:p>
          <a:p>
            <a:endParaRPr lang="en-US" sz="1050" dirty="0"/>
          </a:p>
          <a:p>
            <a:r>
              <a:rPr lang="en-US" sz="1050" dirty="0">
                <a:solidFill>
                  <a:srgbClr val="FFC000"/>
                </a:solidFill>
                <a:latin typeface="Consolas" pitchFamily="34" charset="0"/>
                <a:ea typeface="Consolas" pitchFamily="34" charset="-122"/>
                <a:cs typeface="Consolas" pitchFamily="34" charset="-120"/>
              </a:rPr>
              <a:t># May fail — output format is not guaranteed:</a:t>
            </a:r>
            <a:endParaRPr lang="en-US" sz="1050" dirty="0">
              <a:solidFill>
                <a:srgbClr val="FFC000"/>
              </a:solidFill>
            </a:endParaRPr>
          </a:p>
          <a:p>
            <a:r>
              <a:rPr lang="en-US" sz="1050" dirty="0">
                <a:solidFill>
                  <a:srgbClr val="FFC000"/>
                </a:solidFill>
                <a:latin typeface="Consolas" pitchFamily="34" charset="0"/>
                <a:ea typeface="Consolas" pitchFamily="34" charset="-122"/>
                <a:cs typeface="Consolas" pitchFamily="34" charset="-120"/>
              </a:rPr>
              <a:t>PythonPackage.model_validate_json(</a:t>
            </a:r>
            <a:endParaRPr lang="en-US" sz="1050" dirty="0">
              <a:solidFill>
                <a:srgbClr val="FFC000"/>
              </a:solidFill>
            </a:endParaRPr>
          </a:p>
          <a:p>
            <a:r>
              <a:rPr lang="en-US" sz="1050" dirty="0">
                <a:solidFill>
                  <a:srgbClr val="FFC000"/>
                </a:solidFill>
                <a:latin typeface="Consolas" pitchFamily="34" charset="0"/>
                <a:ea typeface="Consolas" pitchFamily="34" charset="-122"/>
                <a:cs typeface="Consolas" pitchFamily="34" charset="-120"/>
              </a:rPr>
              <a:t>    resp.choices[0].message.content</a:t>
            </a:r>
            <a:endParaRPr lang="en-US" sz="1050" dirty="0">
              <a:solidFill>
                <a:srgbClr val="FFC000"/>
              </a:solidFill>
            </a:endParaRPr>
          </a:p>
          <a:p>
            <a:r>
              <a:rPr lang="en-US" sz="1050" dirty="0">
                <a:solidFill>
                  <a:srgbClr val="FFC000"/>
                </a:solidFill>
                <a:latin typeface="Consolas" pitchFamily="34" charset="0"/>
                <a:ea typeface="Consolas" pitchFamily="34" charset="-122"/>
                <a:cs typeface="Consolas" pitchFamily="34" charset="-120"/>
              </a:rPr>
              <a:t>)</a:t>
            </a:r>
            <a:endParaRPr lang="en-US" sz="1050" dirty="0">
              <a:solidFill>
                <a:srgbClr val="FFC000"/>
              </a:solidFill>
            </a:endParaRPr>
          </a:p>
        </p:txBody>
      </p:sp>
      <p:sp>
        <p:nvSpPr>
          <p:cNvPr id="8" name="Shape 6"/>
          <p:cNvSpPr/>
          <p:nvPr/>
        </p:nvSpPr>
        <p:spPr>
          <a:xfrm>
            <a:off x="5577840" y="1188720"/>
            <a:ext cx="3246120" cy="749808"/>
          </a:xfrm>
          <a:prstGeom prst="rect">
            <a:avLst/>
          </a:prstGeom>
          <a:solidFill>
            <a:srgbClr val="F7F3EA"/>
          </a:solidFill>
          <a:ln w="19050">
            <a:solidFill>
              <a:srgbClr val="1E2761"/>
            </a:solidFill>
            <a:prstDash val="solid"/>
          </a:ln>
          <a:effectLst>
            <a:outerShdw blurRad="63500" dist="25400" dir="8100000" algn="bl" rotWithShape="0">
              <a:srgbClr val="1A1F36">
                <a:alpha val="12000"/>
              </a:srgbClr>
            </a:outerShdw>
          </a:effectLst>
        </p:spPr>
      </p:sp>
      <p:sp>
        <p:nvSpPr>
          <p:cNvPr id="9" name="Shape 7"/>
          <p:cNvSpPr/>
          <p:nvPr/>
        </p:nvSpPr>
        <p:spPr>
          <a:xfrm>
            <a:off x="5577840" y="1188720"/>
            <a:ext cx="50292" cy="749808"/>
          </a:xfrm>
          <a:prstGeom prst="rect">
            <a:avLst/>
          </a:prstGeom>
          <a:solidFill>
            <a:srgbClr val="1E2761"/>
          </a:solidFill>
          <a:ln w="12700">
            <a:solidFill>
              <a:srgbClr val="1E2761"/>
            </a:solidFill>
            <a:prstDash val="solid"/>
          </a:ln>
        </p:spPr>
      </p:sp>
      <p:sp>
        <p:nvSpPr>
          <p:cNvPr id="10" name="Text 8"/>
          <p:cNvSpPr/>
          <p:nvPr/>
        </p:nvSpPr>
        <p:spPr>
          <a:xfrm>
            <a:off x="5696712" y="1234440"/>
            <a:ext cx="3081528" cy="237744"/>
          </a:xfrm>
          <a:prstGeom prst="rect">
            <a:avLst/>
          </a:prstGeom>
          <a:noFill/>
          <a:ln/>
        </p:spPr>
        <p:txBody>
          <a:bodyPr wrap="square" lIns="0" tIns="0" rIns="0" bIns="0" rtlCol="0" anchor="ctr"/>
          <a:lstStyle/>
          <a:p>
            <a:r>
              <a:rPr lang="en-US" sz="1050" b="1" dirty="0">
                <a:solidFill>
                  <a:srgbClr val="1E2761"/>
                </a:solidFill>
                <a:latin typeface="Calibri" pitchFamily="34" charset="0"/>
                <a:ea typeface="Calibri" pitchFamily="34" charset="-122"/>
                <a:cs typeface="Calibri" pitchFamily="34" charset="-120"/>
              </a:rPr>
              <a:t>No format guarantee</a:t>
            </a:r>
            <a:endParaRPr lang="en-US" sz="1050" dirty="0"/>
          </a:p>
        </p:txBody>
      </p:sp>
      <p:sp>
        <p:nvSpPr>
          <p:cNvPr id="11" name="Text 9"/>
          <p:cNvSpPr/>
          <p:nvPr/>
        </p:nvSpPr>
        <p:spPr>
          <a:xfrm>
            <a:off x="5696712" y="1463040"/>
            <a:ext cx="3081528" cy="429768"/>
          </a:xfrm>
          <a:prstGeom prst="rect">
            <a:avLst/>
          </a:prstGeom>
          <a:noFill/>
          <a:ln/>
        </p:spPr>
        <p:txBody>
          <a:bodyPr wrap="square" lIns="0" tIns="0" rIns="0" bIns="0" rtlCol="0" anchor="t"/>
          <a:lstStyle/>
          <a:p>
            <a:r>
              <a:rPr lang="en-US" sz="1000" dirty="0">
                <a:solidFill>
                  <a:srgbClr val="1A1F36"/>
                </a:solidFill>
                <a:latin typeface="Calibri" pitchFamily="34" charset="0"/>
                <a:ea typeface="Calibri" pitchFamily="34" charset="-122"/>
                <a:cs typeface="Calibri" pitchFamily="34" charset="-120"/>
              </a:rPr>
              <a:t>Nothing forces the model to return raw JSON. It may add markdown fences, prose, or explanations.</a:t>
            </a:r>
            <a:endParaRPr lang="en-US" sz="1000" dirty="0"/>
          </a:p>
        </p:txBody>
      </p:sp>
      <p:sp>
        <p:nvSpPr>
          <p:cNvPr id="12" name="Shape 10"/>
          <p:cNvSpPr/>
          <p:nvPr/>
        </p:nvSpPr>
        <p:spPr>
          <a:xfrm>
            <a:off x="5577840" y="1563624"/>
            <a:ext cx="0" cy="356616"/>
          </a:xfrm>
          <a:prstGeom prst="line">
            <a:avLst/>
          </a:prstGeom>
          <a:noFill/>
          <a:ln w="19050">
            <a:solidFill>
              <a:srgbClr val="1E2761"/>
            </a:solidFill>
            <a:prstDash val="solid"/>
            <a:tailEnd type="arrow"/>
          </a:ln>
        </p:spPr>
      </p:sp>
      <p:sp>
        <p:nvSpPr>
          <p:cNvPr id="13" name="Shape 11"/>
          <p:cNvSpPr/>
          <p:nvPr/>
        </p:nvSpPr>
        <p:spPr>
          <a:xfrm>
            <a:off x="5577840" y="2029968"/>
            <a:ext cx="3246120" cy="749808"/>
          </a:xfrm>
          <a:prstGeom prst="rect">
            <a:avLst/>
          </a:prstGeom>
          <a:solidFill>
            <a:srgbClr val="F7F3EA"/>
          </a:solidFill>
          <a:ln w="19050">
            <a:solidFill>
              <a:srgbClr val="1E2761"/>
            </a:solidFill>
            <a:prstDash val="solid"/>
          </a:ln>
          <a:effectLst>
            <a:outerShdw blurRad="63500" dist="25400" dir="8100000" algn="bl" rotWithShape="0">
              <a:srgbClr val="1A1F36">
                <a:alpha val="12000"/>
              </a:srgbClr>
            </a:outerShdw>
          </a:effectLst>
        </p:spPr>
      </p:sp>
      <p:sp>
        <p:nvSpPr>
          <p:cNvPr id="14" name="Shape 12"/>
          <p:cNvSpPr/>
          <p:nvPr/>
        </p:nvSpPr>
        <p:spPr>
          <a:xfrm>
            <a:off x="5577840" y="2029968"/>
            <a:ext cx="50292" cy="749808"/>
          </a:xfrm>
          <a:prstGeom prst="rect">
            <a:avLst/>
          </a:prstGeom>
          <a:solidFill>
            <a:srgbClr val="1E2761"/>
          </a:solidFill>
          <a:ln w="12700">
            <a:solidFill>
              <a:srgbClr val="1E2761"/>
            </a:solidFill>
            <a:prstDash val="solid"/>
          </a:ln>
        </p:spPr>
      </p:sp>
      <p:sp>
        <p:nvSpPr>
          <p:cNvPr id="15" name="Text 13"/>
          <p:cNvSpPr/>
          <p:nvPr/>
        </p:nvSpPr>
        <p:spPr>
          <a:xfrm>
            <a:off x="5696712" y="2075688"/>
            <a:ext cx="3081528" cy="237744"/>
          </a:xfrm>
          <a:prstGeom prst="rect">
            <a:avLst/>
          </a:prstGeom>
          <a:noFill/>
          <a:ln/>
        </p:spPr>
        <p:txBody>
          <a:bodyPr wrap="square" lIns="0" tIns="0" rIns="0" bIns="0" rtlCol="0" anchor="ctr"/>
          <a:lstStyle/>
          <a:p>
            <a:r>
              <a:rPr lang="en-US" sz="1050" b="1" dirty="0">
                <a:solidFill>
                  <a:srgbClr val="1E2761"/>
                </a:solidFill>
                <a:latin typeface="Calibri" pitchFamily="34" charset="0"/>
                <a:ea typeface="Calibri" pitchFamily="34" charset="-122"/>
                <a:cs typeface="Calibri" pitchFamily="34" charset="-120"/>
              </a:rPr>
              <a:t>model_validate_json()</a:t>
            </a:r>
            <a:endParaRPr lang="en-US" sz="1050" dirty="0"/>
          </a:p>
        </p:txBody>
      </p:sp>
      <p:sp>
        <p:nvSpPr>
          <p:cNvPr id="16" name="Text 14"/>
          <p:cNvSpPr/>
          <p:nvPr/>
        </p:nvSpPr>
        <p:spPr>
          <a:xfrm>
            <a:off x="5696712" y="2304288"/>
            <a:ext cx="3081528" cy="429768"/>
          </a:xfrm>
          <a:prstGeom prst="rect">
            <a:avLst/>
          </a:prstGeom>
          <a:noFill/>
          <a:ln/>
        </p:spPr>
        <p:txBody>
          <a:bodyPr wrap="square" lIns="0" tIns="0" rIns="0" bIns="0" rtlCol="0" anchor="t"/>
          <a:lstStyle/>
          <a:p>
            <a:r>
              <a:rPr lang="en-US" sz="1000" dirty="0">
                <a:solidFill>
                  <a:srgbClr val="1A1F36"/>
                </a:solidFill>
                <a:latin typeface="Calibri" pitchFamily="34" charset="0"/>
                <a:ea typeface="Calibri" pitchFamily="34" charset="-122"/>
                <a:cs typeface="Calibri" pitchFamily="34" charset="-120"/>
              </a:rPr>
              <a:t>Parses clean JSON fine, but raises JSONDecodeError if the response contains anything extra.</a:t>
            </a:r>
            <a:endParaRPr lang="en-US" sz="1000" dirty="0"/>
          </a:p>
        </p:txBody>
      </p:sp>
      <p:sp>
        <p:nvSpPr>
          <p:cNvPr id="17" name="Shape 15"/>
          <p:cNvSpPr/>
          <p:nvPr/>
        </p:nvSpPr>
        <p:spPr>
          <a:xfrm>
            <a:off x="5577840" y="2404872"/>
            <a:ext cx="0" cy="384048"/>
          </a:xfrm>
          <a:prstGeom prst="line">
            <a:avLst/>
          </a:prstGeom>
          <a:noFill/>
          <a:ln w="19050">
            <a:solidFill>
              <a:srgbClr val="1E2761"/>
            </a:solidFill>
            <a:prstDash val="solid"/>
            <a:tailEnd type="arrow"/>
          </a:ln>
        </p:spPr>
      </p:sp>
      <p:sp>
        <p:nvSpPr>
          <p:cNvPr id="18" name="Shape 16"/>
          <p:cNvSpPr/>
          <p:nvPr/>
        </p:nvSpPr>
        <p:spPr>
          <a:xfrm>
            <a:off x="5577840" y="2871216"/>
            <a:ext cx="3246120" cy="749808"/>
          </a:xfrm>
          <a:prstGeom prst="rect">
            <a:avLst/>
          </a:prstGeom>
          <a:solidFill>
            <a:srgbClr val="F7F3EA"/>
          </a:solidFill>
          <a:ln w="19050">
            <a:solidFill>
              <a:srgbClr val="1E2761"/>
            </a:solidFill>
            <a:prstDash val="solid"/>
          </a:ln>
          <a:effectLst>
            <a:outerShdw blurRad="63500" dist="25400" dir="8100000" algn="bl" rotWithShape="0">
              <a:srgbClr val="1A1F36">
                <a:alpha val="12000"/>
              </a:srgbClr>
            </a:outerShdw>
          </a:effectLst>
        </p:spPr>
      </p:sp>
      <p:sp>
        <p:nvSpPr>
          <p:cNvPr id="19" name="Shape 17"/>
          <p:cNvSpPr/>
          <p:nvPr/>
        </p:nvSpPr>
        <p:spPr>
          <a:xfrm>
            <a:off x="5577840" y="2871216"/>
            <a:ext cx="50292" cy="749808"/>
          </a:xfrm>
          <a:prstGeom prst="rect">
            <a:avLst/>
          </a:prstGeom>
          <a:solidFill>
            <a:srgbClr val="1E2761"/>
          </a:solidFill>
          <a:ln w="12700">
            <a:solidFill>
              <a:srgbClr val="1E2761"/>
            </a:solidFill>
            <a:prstDash val="solid"/>
          </a:ln>
        </p:spPr>
      </p:sp>
      <p:sp>
        <p:nvSpPr>
          <p:cNvPr id="20" name="Text 18"/>
          <p:cNvSpPr/>
          <p:nvPr/>
        </p:nvSpPr>
        <p:spPr>
          <a:xfrm>
            <a:off x="5696712" y="2916936"/>
            <a:ext cx="3081528" cy="237744"/>
          </a:xfrm>
          <a:prstGeom prst="rect">
            <a:avLst/>
          </a:prstGeom>
          <a:noFill/>
          <a:ln/>
        </p:spPr>
        <p:txBody>
          <a:bodyPr wrap="square" lIns="0" tIns="0" rIns="0" bIns="0" rtlCol="0" anchor="ctr"/>
          <a:lstStyle/>
          <a:p>
            <a:r>
              <a:rPr lang="en-US" sz="1050" b="1" dirty="0">
                <a:solidFill>
                  <a:srgbClr val="1E2761"/>
                </a:solidFill>
                <a:latin typeface="Calibri" pitchFamily="34" charset="0"/>
                <a:ea typeface="Calibri" pitchFamily="34" charset="-122"/>
                <a:cs typeface="Calibri" pitchFamily="34" charset="-120"/>
              </a:rPr>
              <a:t>Inconsistent behavior</a:t>
            </a:r>
            <a:endParaRPr lang="en-US" sz="1050" dirty="0"/>
          </a:p>
        </p:txBody>
      </p:sp>
      <p:sp>
        <p:nvSpPr>
          <p:cNvPr id="21" name="Text 19"/>
          <p:cNvSpPr/>
          <p:nvPr/>
        </p:nvSpPr>
        <p:spPr>
          <a:xfrm>
            <a:off x="5696712" y="3145536"/>
            <a:ext cx="3081528" cy="429768"/>
          </a:xfrm>
          <a:prstGeom prst="rect">
            <a:avLst/>
          </a:prstGeom>
          <a:noFill/>
          <a:ln/>
        </p:spPr>
        <p:txBody>
          <a:bodyPr wrap="square" lIns="0" tIns="0" rIns="0" bIns="0" rtlCol="0" anchor="t"/>
          <a:lstStyle/>
          <a:p>
            <a:r>
              <a:rPr lang="en-US" sz="1000" dirty="0">
                <a:solidFill>
                  <a:srgbClr val="1A1F36"/>
                </a:solidFill>
                <a:latin typeface="Calibri" pitchFamily="34" charset="0"/>
                <a:ea typeface="Calibri" pitchFamily="34" charset="-122"/>
                <a:cs typeface="Calibri" pitchFamily="34" charset="-120"/>
              </a:rPr>
              <a:t>Sometimes works (greedy sampling returns clean JSON), sometimes not — making bugs hard to reproduce.</a:t>
            </a:r>
            <a:endParaRPr lang="en-US" sz="1000" dirty="0"/>
          </a:p>
        </p:txBody>
      </p:sp>
      <p:sp>
        <p:nvSpPr>
          <p:cNvPr id="22" name="Shape 20"/>
          <p:cNvSpPr/>
          <p:nvPr/>
        </p:nvSpPr>
        <p:spPr>
          <a:xfrm>
            <a:off x="5577840" y="3246120"/>
            <a:ext cx="0" cy="320040"/>
          </a:xfrm>
          <a:prstGeom prst="line">
            <a:avLst/>
          </a:prstGeom>
          <a:noFill/>
          <a:ln w="19050">
            <a:solidFill>
              <a:srgbClr val="1E2761"/>
            </a:solidFill>
            <a:prstDash val="solid"/>
            <a:tailEnd type="arrow"/>
          </a:ln>
        </p:spPr>
      </p:sp>
      <p:sp>
        <p:nvSpPr>
          <p:cNvPr id="23" name="Text 21"/>
          <p:cNvSpPr/>
          <p:nvPr/>
        </p:nvSpPr>
        <p:spPr>
          <a:xfrm>
            <a:off x="411480" y="4706006"/>
            <a:ext cx="8321040" cy="274320"/>
          </a:xfrm>
          <a:prstGeom prst="rect">
            <a:avLst/>
          </a:prstGeom>
          <a:noFill/>
          <a:ln/>
        </p:spPr>
        <p:txBody>
          <a:bodyPr wrap="square" rtlCol="0" anchor="ctr"/>
          <a:lstStyle/>
          <a:p>
            <a:r>
              <a:rPr lang="en-US" sz="1200" b="1" i="1" dirty="0">
                <a:solidFill>
                  <a:srgbClr val="3D5A80"/>
                </a:solidFill>
                <a:latin typeface="Calibri" pitchFamily="34" charset="0"/>
                <a:ea typeface="Calibri" pitchFamily="34" charset="-122"/>
                <a:cs typeface="Calibri" pitchFamily="34" charset="-120"/>
              </a:rPr>
              <a:t>Next: use OpenAI’s tool calling to guarantee the output format →</a:t>
            </a:r>
            <a:endParaRPr lang="en-US" sz="1200" dirty="0"/>
          </a:p>
        </p:txBody>
      </p:sp>
      <p:sp>
        <p:nvSpPr>
          <p:cNvPr id="24" name="Text 22"/>
          <p:cNvSpPr/>
          <p:nvPr/>
        </p:nvSpPr>
        <p:spPr>
          <a:xfrm>
            <a:off x="8046720" y="4800600"/>
            <a:ext cx="914400" cy="256032"/>
          </a:xfrm>
          <a:prstGeom prst="rect">
            <a:avLst/>
          </a:prstGeom>
          <a:noFill/>
          <a:ln/>
        </p:spPr>
        <p:txBody>
          <a:bodyPr wrap="square" rtlCol="0" anchor="ctr"/>
          <a:lstStyle/>
          <a:p>
            <a:pPr algn="r"/>
            <a:r>
              <a:rPr lang="en-US" sz="900" dirty="0">
                <a:solidFill>
                  <a:srgbClr val="78909C"/>
                </a:solidFill>
              </a:rPr>
              <a:t>6 / 13</a:t>
            </a:r>
            <a:endParaRPr lang="en-US" sz="900" dirty="0"/>
          </a:p>
        </p:txBody>
      </p:sp>
      <p:pic>
        <p:nvPicPr>
          <p:cNvPr id="25" name="Google Shape;109;p20">
            <a:extLst>
              <a:ext uri="{FF2B5EF4-FFF2-40B4-BE49-F238E27FC236}">
                <a16:creationId xmlns:a16="http://schemas.microsoft.com/office/drawing/2014/main" id="{13F853CA-5F46-F682-622E-887CEF62AA94}"/>
              </a:ext>
            </a:extLst>
          </p:cNvPr>
          <p:cNvPicPr preferRelativeResize="0"/>
          <p:nvPr/>
        </p:nvPicPr>
        <p:blipFill>
          <a:blip r:embed="rId3">
            <a:alphaModFix/>
          </a:blip>
          <a:stretch>
            <a:fillRect/>
          </a:stretch>
        </p:blipFill>
        <p:spPr>
          <a:xfrm>
            <a:off x="8369126" y="0"/>
            <a:ext cx="774877" cy="867174"/>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1"/>
          <p:cNvSpPr/>
          <p:nvPr/>
        </p:nvSpPr>
        <p:spPr>
          <a:xfrm>
            <a:off x="411480" y="146304"/>
            <a:ext cx="8321040" cy="566928"/>
          </a:xfrm>
          <a:prstGeom prst="rect">
            <a:avLst/>
          </a:prstGeom>
          <a:noFill/>
          <a:ln/>
        </p:spPr>
        <p:txBody>
          <a:bodyPr wrap="square" lIns="0" tIns="0" rIns="0" bIns="0" rtlCol="0" anchor="ctr"/>
          <a:lstStyle/>
          <a:p>
            <a:r>
              <a:rPr lang="en-US" sz="2500" b="1" dirty="0">
                <a:solidFill>
                  <a:srgbClr val="1A1F36"/>
                </a:solidFill>
                <a:latin typeface="Georgia" pitchFamily="34" charset="0"/>
                <a:ea typeface="Georgia" pitchFamily="34" charset="-122"/>
                <a:cs typeface="Georgia" pitchFamily="34" charset="-120"/>
              </a:rPr>
              <a:t>Tool Calling Forces Structured Output</a:t>
            </a:r>
            <a:endParaRPr lang="en-US" sz="2500" dirty="0"/>
          </a:p>
        </p:txBody>
      </p:sp>
      <p:sp>
        <p:nvSpPr>
          <p:cNvPr id="4" name="Text 2"/>
          <p:cNvSpPr/>
          <p:nvPr/>
        </p:nvSpPr>
        <p:spPr>
          <a:xfrm>
            <a:off x="411480" y="768096"/>
            <a:ext cx="8321040" cy="402336"/>
          </a:xfrm>
          <a:prstGeom prst="rect">
            <a:avLst/>
          </a:prstGeom>
          <a:noFill/>
          <a:ln/>
        </p:spPr>
        <p:txBody>
          <a:bodyPr wrap="square" rtlCol="0" anchor="ctr"/>
          <a:lstStyle/>
          <a:p>
            <a:r>
              <a:rPr lang="en-US" sz="1300" dirty="0">
                <a:solidFill>
                  <a:srgbClr val="1A1F36"/>
                </a:solidFill>
                <a:latin typeface="Calibri" pitchFamily="34" charset="0"/>
                <a:ea typeface="Calibri" pitchFamily="34" charset="-122"/>
                <a:cs typeface="Calibri" pitchFamily="34" charset="-120"/>
              </a:rPr>
              <a:t>OpenAI’s tools parameter accepts a JSON Schema and forces the model to conform — but writing it by hand is painful:</a:t>
            </a:r>
            <a:endParaRPr lang="en-US" sz="1300" dirty="0"/>
          </a:p>
        </p:txBody>
      </p:sp>
      <p:sp>
        <p:nvSpPr>
          <p:cNvPr id="5" name="Shape 3"/>
          <p:cNvSpPr/>
          <p:nvPr/>
        </p:nvSpPr>
        <p:spPr>
          <a:xfrm>
            <a:off x="320040" y="1243584"/>
            <a:ext cx="5120640" cy="3401568"/>
          </a:xfrm>
          <a:prstGeom prst="rect">
            <a:avLst/>
          </a:prstGeom>
          <a:solidFill>
            <a:srgbClr val="1A1F36"/>
          </a:solidFill>
          <a:ln w="12700">
            <a:solidFill>
              <a:srgbClr val="1A1F36"/>
            </a:solidFill>
            <a:prstDash val="solid"/>
          </a:ln>
          <a:effectLst>
            <a:outerShdw blurRad="63500" dist="25400" dir="8100000" algn="bl" rotWithShape="0">
              <a:srgbClr val="1A1F36">
                <a:alpha val="12000"/>
              </a:srgbClr>
            </a:outerShdw>
          </a:effectLst>
        </p:spPr>
      </p:sp>
      <p:sp>
        <p:nvSpPr>
          <p:cNvPr id="6" name="Shape 4"/>
          <p:cNvSpPr/>
          <p:nvPr/>
        </p:nvSpPr>
        <p:spPr>
          <a:xfrm>
            <a:off x="320040" y="1243584"/>
            <a:ext cx="73152" cy="3017520"/>
          </a:xfrm>
          <a:prstGeom prst="rect">
            <a:avLst/>
          </a:prstGeom>
          <a:solidFill>
            <a:srgbClr val="3D5A80"/>
          </a:solidFill>
          <a:ln w="12700">
            <a:solidFill>
              <a:srgbClr val="3D5A80"/>
            </a:solidFill>
            <a:prstDash val="solid"/>
          </a:ln>
        </p:spPr>
      </p:sp>
      <p:sp>
        <p:nvSpPr>
          <p:cNvPr id="7" name="Text 5"/>
          <p:cNvSpPr/>
          <p:nvPr/>
        </p:nvSpPr>
        <p:spPr>
          <a:xfrm>
            <a:off x="484632" y="1335024"/>
            <a:ext cx="4864608" cy="2834640"/>
          </a:xfrm>
          <a:prstGeom prst="rect">
            <a:avLst/>
          </a:prstGeom>
          <a:noFill/>
          <a:ln/>
        </p:spPr>
        <p:txBody>
          <a:bodyPr wrap="square" lIns="0" tIns="0" rIns="0" bIns="0" rtlCol="0" anchor="t"/>
          <a:lstStyle/>
          <a:p>
            <a:r>
              <a:rPr lang="en-US" sz="900" dirty="0">
                <a:solidFill>
                  <a:srgbClr val="CADCFC"/>
                </a:solidFill>
                <a:latin typeface="Consolas" pitchFamily="34" charset="0"/>
                <a:ea typeface="Consolas" pitchFamily="34" charset="-122"/>
                <a:cs typeface="Consolas" pitchFamily="34" charset="-120"/>
              </a:rPr>
              <a:t># Must write the full JSON schema by hand:</a:t>
            </a:r>
            <a:endParaRPr lang="en-US" sz="900" dirty="0"/>
          </a:p>
          <a:p>
            <a:r>
              <a:rPr lang="en-US" sz="900" dirty="0">
                <a:solidFill>
                  <a:srgbClr val="CADCFC"/>
                </a:solidFill>
                <a:latin typeface="Consolas" pitchFamily="34" charset="0"/>
                <a:ea typeface="Consolas" pitchFamily="34" charset="-122"/>
                <a:cs typeface="Consolas" pitchFamily="34" charset="-120"/>
              </a:rPr>
              <a:t>tools=[{</a:t>
            </a:r>
            <a:endParaRPr lang="en-US" sz="900" dirty="0"/>
          </a:p>
          <a:p>
            <a:r>
              <a:rPr lang="en-US" sz="900" dirty="0">
                <a:solidFill>
                  <a:srgbClr val="CADCFC"/>
                </a:solidFill>
                <a:latin typeface="Consolas" pitchFamily="34" charset="0"/>
                <a:ea typeface="Consolas" pitchFamily="34" charset="-122"/>
                <a:cs typeface="Consolas" pitchFamily="34" charset="-120"/>
              </a:rPr>
              <a:t>    "type": "function",</a:t>
            </a:r>
            <a:endParaRPr lang="en-US" sz="900" dirty="0"/>
          </a:p>
          <a:p>
            <a:r>
              <a:rPr lang="en-US" sz="900" dirty="0">
                <a:solidFill>
                  <a:srgbClr val="CADCFC"/>
                </a:solidFill>
                <a:latin typeface="Consolas" pitchFamily="34" charset="0"/>
                <a:ea typeface="Consolas" pitchFamily="34" charset="-122"/>
                <a:cs typeface="Consolas" pitchFamily="34" charset="-120"/>
              </a:rPr>
              <a:t>    "function": {</a:t>
            </a:r>
            <a:endParaRPr lang="en-US" sz="900" dirty="0"/>
          </a:p>
          <a:p>
            <a:r>
              <a:rPr lang="en-US" sz="900" dirty="0">
                <a:solidFill>
                  <a:srgbClr val="CADCFC"/>
                </a:solidFill>
                <a:latin typeface="Consolas" pitchFamily="34" charset="0"/>
                <a:ea typeface="Consolas" pitchFamily="34" charset="-122"/>
                <a:cs typeface="Consolas" pitchFamily="34" charset="-120"/>
              </a:rPr>
              <a:t>        "</a:t>
            </a:r>
            <a:r>
              <a:rPr lang="en-US" sz="900" dirty="0">
                <a:solidFill>
                  <a:srgbClr val="FFC000"/>
                </a:solidFill>
                <a:latin typeface="Consolas" pitchFamily="34" charset="0"/>
                <a:ea typeface="Consolas" pitchFamily="34" charset="-122"/>
                <a:cs typeface="Consolas" pitchFamily="34" charset="-120"/>
              </a:rPr>
              <a:t>name</a:t>
            </a:r>
            <a:r>
              <a:rPr lang="en-US" sz="900" dirty="0">
                <a:solidFill>
                  <a:srgbClr val="CADCFC"/>
                </a:solidFill>
                <a:latin typeface="Consolas" pitchFamily="34" charset="0"/>
                <a:ea typeface="Consolas" pitchFamily="34" charset="-122"/>
                <a:cs typeface="Consolas" pitchFamily="34" charset="-120"/>
              </a:rPr>
              <a:t>": "</a:t>
            </a:r>
            <a:r>
              <a:rPr lang="en-US" sz="900" dirty="0">
                <a:solidFill>
                  <a:srgbClr val="FFC000"/>
                </a:solidFill>
                <a:latin typeface="Consolas" pitchFamily="34" charset="0"/>
                <a:ea typeface="Consolas" pitchFamily="34" charset="-122"/>
                <a:cs typeface="Consolas" pitchFamily="34" charset="-120"/>
              </a:rPr>
              <a:t>Requirements</a:t>
            </a:r>
            <a:r>
              <a:rPr lang="en-US" sz="900" dirty="0">
                <a:solidFill>
                  <a:srgbClr val="CADCFC"/>
                </a:solidFill>
                <a:latin typeface="Consolas" pitchFamily="34" charset="0"/>
                <a:ea typeface="Consolas" pitchFamily="34" charset="-122"/>
                <a:cs typeface="Consolas" pitchFamily="34" charset="-120"/>
              </a:rPr>
              <a:t>",</a:t>
            </a:r>
            <a:endParaRPr lang="en-US" sz="900" dirty="0"/>
          </a:p>
          <a:p>
            <a:r>
              <a:rPr lang="en-US" sz="900" dirty="0">
                <a:solidFill>
                  <a:srgbClr val="CADCFC"/>
                </a:solidFill>
                <a:latin typeface="Consolas" pitchFamily="34" charset="0"/>
                <a:ea typeface="Consolas" pitchFamily="34" charset="-122"/>
                <a:cs typeface="Consolas" pitchFamily="34" charset="-120"/>
              </a:rPr>
              <a:t>        "description": "Packages and first authors.",</a:t>
            </a:r>
            <a:endParaRPr lang="en-US" sz="900" dirty="0"/>
          </a:p>
          <a:p>
            <a:r>
              <a:rPr lang="en-US" sz="900" dirty="0">
                <a:solidFill>
                  <a:srgbClr val="CADCFC"/>
                </a:solidFill>
                <a:latin typeface="Consolas" pitchFamily="34" charset="0"/>
                <a:ea typeface="Consolas" pitchFamily="34" charset="-122"/>
                <a:cs typeface="Consolas" pitchFamily="34" charset="-120"/>
              </a:rPr>
              <a:t>        "parameters": {</a:t>
            </a:r>
            <a:endParaRPr lang="en-US" sz="900" dirty="0"/>
          </a:p>
          <a:p>
            <a:r>
              <a:rPr lang="en-US" sz="900" dirty="0">
                <a:solidFill>
                  <a:srgbClr val="CADCFC"/>
                </a:solidFill>
                <a:latin typeface="Consolas" pitchFamily="34" charset="0"/>
                <a:ea typeface="Consolas" pitchFamily="34" charset="-122"/>
                <a:cs typeface="Consolas" pitchFamily="34" charset="-120"/>
              </a:rPr>
              <a:t>            "$defs": {"Package": {</a:t>
            </a:r>
            <a:endParaRPr lang="en-US" sz="900" dirty="0"/>
          </a:p>
          <a:p>
            <a:r>
              <a:rPr lang="en-US" sz="900" dirty="0">
                <a:solidFill>
                  <a:srgbClr val="CADCFC"/>
                </a:solidFill>
                <a:latin typeface="Consolas" pitchFamily="34" charset="0"/>
                <a:ea typeface="Consolas" pitchFamily="34" charset="-122"/>
                <a:cs typeface="Consolas" pitchFamily="34" charset="-120"/>
              </a:rPr>
              <a:t>                </a:t>
            </a:r>
            <a:r>
              <a:rPr lang="en-US" sz="900" dirty="0">
                <a:solidFill>
                  <a:srgbClr val="FFC000"/>
                </a:solidFill>
                <a:latin typeface="Consolas" pitchFamily="34" charset="0"/>
                <a:ea typeface="Consolas" pitchFamily="34" charset="-122"/>
                <a:cs typeface="Consolas" pitchFamily="34" charset="-120"/>
              </a:rPr>
              <a:t>"properties": {</a:t>
            </a:r>
            <a:endParaRPr lang="en-US" sz="900" dirty="0">
              <a:solidFill>
                <a:srgbClr val="FFC000"/>
              </a:solidFill>
            </a:endParaRPr>
          </a:p>
          <a:p>
            <a:r>
              <a:rPr lang="en-US" sz="900" dirty="0">
                <a:solidFill>
                  <a:srgbClr val="FFC000"/>
                </a:solidFill>
                <a:latin typeface="Consolas" pitchFamily="34" charset="0"/>
                <a:ea typeface="Consolas" pitchFamily="34" charset="-122"/>
                <a:cs typeface="Consolas" pitchFamily="34" charset="-120"/>
              </a:rPr>
              <a:t>                    "name":   {"title":"Name",  "type":"string"},</a:t>
            </a:r>
            <a:endParaRPr lang="en-US" sz="900" dirty="0">
              <a:solidFill>
                <a:srgbClr val="FFC000"/>
              </a:solidFill>
            </a:endParaRPr>
          </a:p>
          <a:p>
            <a:r>
              <a:rPr lang="en-US" sz="900" dirty="0">
                <a:solidFill>
                  <a:srgbClr val="FFC000"/>
                </a:solidFill>
                <a:latin typeface="Consolas" pitchFamily="34" charset="0"/>
                <a:ea typeface="Consolas" pitchFamily="34" charset="-122"/>
                <a:cs typeface="Consolas" pitchFamily="34" charset="-120"/>
              </a:rPr>
              <a:t>                    "author": {"title":"Author","type":"string"},</a:t>
            </a:r>
            <a:endParaRPr lang="en-US" sz="900" dirty="0">
              <a:solidFill>
                <a:srgbClr val="FFC000"/>
              </a:solidFill>
            </a:endParaRPr>
          </a:p>
          <a:p>
            <a:r>
              <a:rPr lang="en-US" sz="900" dirty="0">
                <a:solidFill>
                  <a:srgbClr val="FFC000"/>
                </a:solidFill>
                <a:latin typeface="Consolas" pitchFamily="34" charset="0"/>
                <a:ea typeface="Consolas" pitchFamily="34" charset="-122"/>
                <a:cs typeface="Consolas" pitchFamily="34" charset="-120"/>
              </a:rPr>
              <a:t>                },</a:t>
            </a:r>
            <a:endParaRPr lang="en-US" sz="900" dirty="0">
              <a:solidFill>
                <a:srgbClr val="FFC000"/>
              </a:solidFill>
            </a:endParaRPr>
          </a:p>
          <a:p>
            <a:r>
              <a:rPr lang="en-US" sz="900" dirty="0">
                <a:solidFill>
                  <a:srgbClr val="CADCFC"/>
                </a:solidFill>
                <a:latin typeface="Consolas" pitchFamily="34" charset="0"/>
                <a:ea typeface="Consolas" pitchFamily="34" charset="-122"/>
                <a:cs typeface="Consolas" pitchFamily="34" charset="-120"/>
              </a:rPr>
              <a:t>                "required": ["name","author"],</a:t>
            </a:r>
            <a:endParaRPr lang="en-US" sz="900" dirty="0"/>
          </a:p>
          <a:p>
            <a:r>
              <a:rPr lang="en-US" sz="900" dirty="0">
                <a:solidFill>
                  <a:srgbClr val="CADCFC"/>
                </a:solidFill>
                <a:latin typeface="Consolas" pitchFamily="34" charset="0"/>
                <a:ea typeface="Consolas" pitchFamily="34" charset="-122"/>
                <a:cs typeface="Consolas" pitchFamily="34" charset="-120"/>
              </a:rPr>
              <a:t>                "type": "object"</a:t>
            </a:r>
            <a:endParaRPr lang="en-US" sz="900" dirty="0"/>
          </a:p>
          <a:p>
            <a:r>
              <a:rPr lang="en-US" sz="900" dirty="0">
                <a:solidFill>
                  <a:srgbClr val="CADCFC"/>
                </a:solidFill>
                <a:latin typeface="Consolas" pitchFamily="34" charset="0"/>
                <a:ea typeface="Consolas" pitchFamily="34" charset="-122"/>
                <a:cs typeface="Consolas" pitchFamily="34" charset="-120"/>
              </a:rPr>
              <a:t>            }},</a:t>
            </a:r>
            <a:endParaRPr lang="en-US" sz="900" dirty="0"/>
          </a:p>
          <a:p>
            <a:r>
              <a:rPr lang="en-US" sz="900" dirty="0">
                <a:solidFill>
                  <a:srgbClr val="CADCFC"/>
                </a:solidFill>
                <a:latin typeface="Consolas" pitchFamily="34" charset="0"/>
                <a:ea typeface="Consolas" pitchFamily="34" charset="-122"/>
                <a:cs typeface="Consolas" pitchFamily="34" charset="-120"/>
              </a:rPr>
              <a:t>            "properties": {</a:t>
            </a:r>
            <a:endParaRPr lang="en-US" sz="900" dirty="0"/>
          </a:p>
          <a:p>
            <a:r>
              <a:rPr lang="en-US" sz="900" dirty="0">
                <a:solidFill>
                  <a:srgbClr val="CADCFC"/>
                </a:solidFill>
                <a:latin typeface="Consolas" pitchFamily="34" charset="0"/>
                <a:ea typeface="Consolas" pitchFamily="34" charset="-122"/>
                <a:cs typeface="Consolas" pitchFamily="34" charset="-120"/>
              </a:rPr>
              <a:t>                "packages": {"items":{"$ref":"#/$defs/Package"},</a:t>
            </a:r>
            <a:endParaRPr lang="en-US" sz="900" dirty="0"/>
          </a:p>
          <a:p>
            <a:r>
              <a:rPr lang="en-US" sz="900" dirty="0">
                <a:solidFill>
                  <a:srgbClr val="CADCFC"/>
                </a:solidFill>
                <a:latin typeface="Consolas" pitchFamily="34" charset="0"/>
                <a:ea typeface="Consolas" pitchFamily="34" charset="-122"/>
                <a:cs typeface="Consolas" pitchFamily="34" charset="-120"/>
              </a:rPr>
              <a:t>                             "type":"array"}</a:t>
            </a:r>
            <a:endParaRPr lang="en-US" sz="900" dirty="0"/>
          </a:p>
          <a:p>
            <a:r>
              <a:rPr lang="en-US" sz="900" dirty="0">
                <a:solidFill>
                  <a:srgbClr val="CADCFC"/>
                </a:solidFill>
                <a:latin typeface="Consolas" pitchFamily="34" charset="0"/>
                <a:ea typeface="Consolas" pitchFamily="34" charset="-122"/>
                <a:cs typeface="Consolas" pitchFamily="34" charset="-120"/>
              </a:rPr>
              <a:t>            },</a:t>
            </a:r>
            <a:endParaRPr lang="en-US" sz="900" dirty="0"/>
          </a:p>
          <a:p>
            <a:r>
              <a:rPr lang="en-US" sz="900" dirty="0">
                <a:solidFill>
                  <a:srgbClr val="CADCFC"/>
                </a:solidFill>
                <a:latin typeface="Consolas" pitchFamily="34" charset="0"/>
                <a:ea typeface="Consolas" pitchFamily="34" charset="-122"/>
                <a:cs typeface="Consolas" pitchFamily="34" charset="-120"/>
              </a:rPr>
              <a:t>            "required": ["packages"], "type": "object"</a:t>
            </a:r>
            <a:endParaRPr lang="en-US" sz="900" dirty="0"/>
          </a:p>
          <a:p>
            <a:r>
              <a:rPr lang="en-US" sz="900" dirty="0">
                <a:solidFill>
                  <a:srgbClr val="CADCFC"/>
                </a:solidFill>
                <a:latin typeface="Consolas" pitchFamily="34" charset="0"/>
                <a:ea typeface="Consolas" pitchFamily="34" charset="-122"/>
                <a:cs typeface="Consolas" pitchFamily="34" charset="-120"/>
              </a:rPr>
              <a:t>        }</a:t>
            </a:r>
            <a:endParaRPr lang="en-US" sz="900" dirty="0"/>
          </a:p>
          <a:p>
            <a:r>
              <a:rPr lang="en-US" sz="900" dirty="0">
                <a:solidFill>
                  <a:srgbClr val="CADCFC"/>
                </a:solidFill>
                <a:latin typeface="Consolas" pitchFamily="34" charset="0"/>
                <a:ea typeface="Consolas" pitchFamily="34" charset="-122"/>
                <a:cs typeface="Consolas" pitchFamily="34" charset="-120"/>
              </a:rPr>
              <a:t>    }</a:t>
            </a:r>
            <a:endParaRPr lang="en-US" sz="900" dirty="0"/>
          </a:p>
          <a:p>
            <a:r>
              <a:rPr lang="en-US" sz="900" dirty="0">
                <a:solidFill>
                  <a:srgbClr val="CADCFC"/>
                </a:solidFill>
                <a:latin typeface="Consolas" pitchFamily="34" charset="0"/>
                <a:ea typeface="Consolas" pitchFamily="34" charset="-122"/>
                <a:cs typeface="Consolas" pitchFamily="34" charset="-120"/>
              </a:rPr>
              <a:t>}]</a:t>
            </a:r>
            <a:endParaRPr lang="en-US" sz="900" dirty="0"/>
          </a:p>
          <a:p>
            <a:r>
              <a:rPr lang="en-US" sz="900" dirty="0">
                <a:solidFill>
                  <a:srgbClr val="CADCFC"/>
                </a:solidFill>
                <a:latin typeface="Consolas" pitchFamily="34" charset="0"/>
                <a:ea typeface="Consolas" pitchFamily="34" charset="-122"/>
                <a:cs typeface="Consolas" pitchFamily="34" charset="-120"/>
              </a:rPr>
              <a:t># result: json.loads(resp...tool_calls[0].function.arguments)</a:t>
            </a:r>
            <a:endParaRPr lang="en-US" sz="900" dirty="0"/>
          </a:p>
        </p:txBody>
      </p:sp>
      <p:sp>
        <p:nvSpPr>
          <p:cNvPr id="8" name="Shape 6"/>
          <p:cNvSpPr/>
          <p:nvPr/>
        </p:nvSpPr>
        <p:spPr>
          <a:xfrm>
            <a:off x="5577840" y="1243584"/>
            <a:ext cx="3246120" cy="749808"/>
          </a:xfrm>
          <a:prstGeom prst="rect">
            <a:avLst/>
          </a:prstGeom>
          <a:solidFill>
            <a:srgbClr val="F7F3EA"/>
          </a:solidFill>
          <a:ln w="19050">
            <a:solidFill>
              <a:srgbClr val="1E2761"/>
            </a:solidFill>
            <a:prstDash val="solid"/>
          </a:ln>
          <a:effectLst>
            <a:outerShdw blurRad="63500" dist="25400" dir="8100000" algn="bl" rotWithShape="0">
              <a:srgbClr val="1A1F36">
                <a:alpha val="12000"/>
              </a:srgbClr>
            </a:outerShdw>
          </a:effectLst>
        </p:spPr>
      </p:sp>
      <p:sp>
        <p:nvSpPr>
          <p:cNvPr id="9" name="Shape 7"/>
          <p:cNvSpPr/>
          <p:nvPr/>
        </p:nvSpPr>
        <p:spPr>
          <a:xfrm>
            <a:off x="5577840" y="1243584"/>
            <a:ext cx="50292" cy="749808"/>
          </a:xfrm>
          <a:prstGeom prst="rect">
            <a:avLst/>
          </a:prstGeom>
          <a:solidFill>
            <a:srgbClr val="1E2761"/>
          </a:solidFill>
          <a:ln w="12700">
            <a:solidFill>
              <a:srgbClr val="1E2761"/>
            </a:solidFill>
            <a:prstDash val="solid"/>
          </a:ln>
        </p:spPr>
      </p:sp>
      <p:sp>
        <p:nvSpPr>
          <p:cNvPr id="10" name="Text 8"/>
          <p:cNvSpPr/>
          <p:nvPr/>
        </p:nvSpPr>
        <p:spPr>
          <a:xfrm>
            <a:off x="5696712" y="1289304"/>
            <a:ext cx="3081528" cy="237744"/>
          </a:xfrm>
          <a:prstGeom prst="rect">
            <a:avLst/>
          </a:prstGeom>
          <a:noFill/>
          <a:ln/>
        </p:spPr>
        <p:txBody>
          <a:bodyPr wrap="square" lIns="0" tIns="0" rIns="0" bIns="0" rtlCol="0" anchor="ctr"/>
          <a:lstStyle/>
          <a:p>
            <a:r>
              <a:rPr lang="en-US" sz="1200" b="1" dirty="0">
                <a:solidFill>
                  <a:srgbClr val="1E2761"/>
                </a:solidFill>
                <a:latin typeface="Calibri" pitchFamily="34" charset="0"/>
                <a:ea typeface="Calibri" pitchFamily="34" charset="-122"/>
                <a:cs typeface="Calibri" pitchFamily="34" charset="-120"/>
              </a:rPr>
              <a:t>$defs for nested models</a:t>
            </a:r>
            <a:endParaRPr lang="en-US" sz="1200" dirty="0"/>
          </a:p>
        </p:txBody>
      </p:sp>
      <p:sp>
        <p:nvSpPr>
          <p:cNvPr id="11" name="Text 9"/>
          <p:cNvSpPr/>
          <p:nvPr/>
        </p:nvSpPr>
        <p:spPr>
          <a:xfrm>
            <a:off x="5696712" y="1517904"/>
            <a:ext cx="3081528" cy="429768"/>
          </a:xfrm>
          <a:prstGeom prst="rect">
            <a:avLst/>
          </a:prstGeom>
          <a:noFill/>
          <a:ln/>
        </p:spPr>
        <p:txBody>
          <a:bodyPr wrap="square" lIns="0" tIns="0" rIns="0" bIns="0" rtlCol="0" anchor="t"/>
          <a:lstStyle/>
          <a:p>
            <a:r>
              <a:rPr lang="en-US" sz="1050" dirty="0">
                <a:solidFill>
                  <a:srgbClr val="1A1F36"/>
                </a:solidFill>
                <a:latin typeface="Calibri" pitchFamily="34" charset="0"/>
                <a:ea typeface="Calibri" pitchFamily="34" charset="-122"/>
                <a:cs typeface="Calibri" pitchFamily="34" charset="-120"/>
              </a:rPr>
              <a:t>Nested structures need $defs with $ref pointers. Complex models become deeply nested JSON objects.</a:t>
            </a:r>
            <a:endParaRPr lang="en-US" sz="1050" dirty="0"/>
          </a:p>
        </p:txBody>
      </p:sp>
      <p:sp>
        <p:nvSpPr>
          <p:cNvPr id="12" name="Shape 10"/>
          <p:cNvSpPr/>
          <p:nvPr/>
        </p:nvSpPr>
        <p:spPr>
          <a:xfrm>
            <a:off x="5577840" y="1618488"/>
            <a:ext cx="0" cy="393192"/>
          </a:xfrm>
          <a:prstGeom prst="line">
            <a:avLst/>
          </a:prstGeom>
          <a:noFill/>
          <a:ln w="19050">
            <a:solidFill>
              <a:srgbClr val="1E2761"/>
            </a:solidFill>
            <a:prstDash val="solid"/>
            <a:tailEnd type="arrow"/>
          </a:ln>
        </p:spPr>
      </p:sp>
      <p:sp>
        <p:nvSpPr>
          <p:cNvPr id="13" name="Shape 11"/>
          <p:cNvSpPr/>
          <p:nvPr/>
        </p:nvSpPr>
        <p:spPr>
          <a:xfrm>
            <a:off x="5577840" y="2084832"/>
            <a:ext cx="3246120" cy="749808"/>
          </a:xfrm>
          <a:prstGeom prst="rect">
            <a:avLst/>
          </a:prstGeom>
          <a:solidFill>
            <a:srgbClr val="F7F3EA"/>
          </a:solidFill>
          <a:ln w="19050">
            <a:solidFill>
              <a:srgbClr val="1E2761"/>
            </a:solidFill>
            <a:prstDash val="solid"/>
          </a:ln>
          <a:effectLst>
            <a:outerShdw blurRad="63500" dist="25400" dir="8100000" algn="bl" rotWithShape="0">
              <a:srgbClr val="1A1F36">
                <a:alpha val="12000"/>
              </a:srgbClr>
            </a:outerShdw>
          </a:effectLst>
        </p:spPr>
      </p:sp>
      <p:sp>
        <p:nvSpPr>
          <p:cNvPr id="14" name="Shape 12"/>
          <p:cNvSpPr/>
          <p:nvPr/>
        </p:nvSpPr>
        <p:spPr>
          <a:xfrm>
            <a:off x="5577840" y="2084832"/>
            <a:ext cx="50292" cy="749808"/>
          </a:xfrm>
          <a:prstGeom prst="rect">
            <a:avLst/>
          </a:prstGeom>
          <a:solidFill>
            <a:srgbClr val="1E2761"/>
          </a:solidFill>
          <a:ln w="12700">
            <a:solidFill>
              <a:srgbClr val="1E2761"/>
            </a:solidFill>
            <a:prstDash val="solid"/>
          </a:ln>
        </p:spPr>
      </p:sp>
      <p:sp>
        <p:nvSpPr>
          <p:cNvPr id="15" name="Text 13"/>
          <p:cNvSpPr/>
          <p:nvPr/>
        </p:nvSpPr>
        <p:spPr>
          <a:xfrm>
            <a:off x="5696712" y="2130552"/>
            <a:ext cx="3081528" cy="237744"/>
          </a:xfrm>
          <a:prstGeom prst="rect">
            <a:avLst/>
          </a:prstGeom>
          <a:noFill/>
          <a:ln/>
        </p:spPr>
        <p:txBody>
          <a:bodyPr wrap="square" lIns="0" tIns="0" rIns="0" bIns="0" rtlCol="0" anchor="ctr"/>
          <a:lstStyle/>
          <a:p>
            <a:r>
              <a:rPr lang="en-US" sz="1200" b="1" dirty="0">
                <a:solidFill>
                  <a:srgbClr val="1E2761"/>
                </a:solidFill>
                <a:latin typeface="Calibri" pitchFamily="34" charset="0"/>
                <a:ea typeface="Calibri" pitchFamily="34" charset="-122"/>
                <a:cs typeface="Calibri" pitchFamily="34" charset="-120"/>
              </a:rPr>
              <a:t>Every field by hand</a:t>
            </a:r>
            <a:endParaRPr lang="en-US" sz="1200" dirty="0"/>
          </a:p>
        </p:txBody>
      </p:sp>
      <p:sp>
        <p:nvSpPr>
          <p:cNvPr id="16" name="Text 14"/>
          <p:cNvSpPr/>
          <p:nvPr/>
        </p:nvSpPr>
        <p:spPr>
          <a:xfrm>
            <a:off x="5696712" y="2359152"/>
            <a:ext cx="3081528" cy="429768"/>
          </a:xfrm>
          <a:prstGeom prst="rect">
            <a:avLst/>
          </a:prstGeom>
          <a:noFill/>
          <a:ln/>
        </p:spPr>
        <p:txBody>
          <a:bodyPr wrap="square" lIns="0" tIns="0" rIns="0" bIns="0" rtlCol="0" anchor="t"/>
          <a:lstStyle/>
          <a:p>
            <a:r>
              <a:rPr lang="en-US" sz="1050" dirty="0">
                <a:solidFill>
                  <a:srgbClr val="1A1F36"/>
                </a:solidFill>
                <a:latin typeface="Calibri" pitchFamily="34" charset="0"/>
                <a:ea typeface="Calibri" pitchFamily="34" charset="-122"/>
                <a:cs typeface="Calibri" pitchFamily="34" charset="-120"/>
              </a:rPr>
              <a:t>Each property name, type, and title must be written manually. One typo silently breaks the schema.</a:t>
            </a:r>
            <a:endParaRPr lang="en-US" sz="1050" dirty="0"/>
          </a:p>
        </p:txBody>
      </p:sp>
      <p:sp>
        <p:nvSpPr>
          <p:cNvPr id="17" name="Shape 15"/>
          <p:cNvSpPr/>
          <p:nvPr/>
        </p:nvSpPr>
        <p:spPr>
          <a:xfrm>
            <a:off x="5577840" y="2459736"/>
            <a:ext cx="0" cy="374904"/>
          </a:xfrm>
          <a:prstGeom prst="line">
            <a:avLst/>
          </a:prstGeom>
          <a:noFill/>
          <a:ln w="19050">
            <a:solidFill>
              <a:srgbClr val="1E2761"/>
            </a:solidFill>
            <a:prstDash val="solid"/>
            <a:tailEnd type="arrow"/>
          </a:ln>
        </p:spPr>
      </p:sp>
      <p:sp>
        <p:nvSpPr>
          <p:cNvPr id="18" name="Shape 16"/>
          <p:cNvSpPr/>
          <p:nvPr/>
        </p:nvSpPr>
        <p:spPr>
          <a:xfrm>
            <a:off x="5577840" y="2926080"/>
            <a:ext cx="3246120" cy="749808"/>
          </a:xfrm>
          <a:prstGeom prst="rect">
            <a:avLst/>
          </a:prstGeom>
          <a:solidFill>
            <a:srgbClr val="F7F3EA"/>
          </a:solidFill>
          <a:ln w="19050">
            <a:solidFill>
              <a:srgbClr val="1E2761"/>
            </a:solidFill>
            <a:prstDash val="solid"/>
          </a:ln>
          <a:effectLst>
            <a:outerShdw blurRad="63500" dist="25400" dir="8100000" algn="bl" rotWithShape="0">
              <a:srgbClr val="1A1F36">
                <a:alpha val="12000"/>
              </a:srgbClr>
            </a:outerShdw>
          </a:effectLst>
        </p:spPr>
      </p:sp>
      <p:sp>
        <p:nvSpPr>
          <p:cNvPr id="19" name="Shape 17"/>
          <p:cNvSpPr/>
          <p:nvPr/>
        </p:nvSpPr>
        <p:spPr>
          <a:xfrm>
            <a:off x="5577840" y="2926080"/>
            <a:ext cx="50292" cy="749808"/>
          </a:xfrm>
          <a:prstGeom prst="rect">
            <a:avLst/>
          </a:prstGeom>
          <a:solidFill>
            <a:srgbClr val="1E2761"/>
          </a:solidFill>
          <a:ln w="12700">
            <a:solidFill>
              <a:srgbClr val="1E2761"/>
            </a:solidFill>
            <a:prstDash val="solid"/>
          </a:ln>
        </p:spPr>
      </p:sp>
      <p:sp>
        <p:nvSpPr>
          <p:cNvPr id="20" name="Text 18"/>
          <p:cNvSpPr/>
          <p:nvPr/>
        </p:nvSpPr>
        <p:spPr>
          <a:xfrm>
            <a:off x="5696712" y="2971800"/>
            <a:ext cx="3081528" cy="237744"/>
          </a:xfrm>
          <a:prstGeom prst="rect">
            <a:avLst/>
          </a:prstGeom>
          <a:noFill/>
          <a:ln/>
        </p:spPr>
        <p:txBody>
          <a:bodyPr wrap="square" lIns="0" tIns="0" rIns="0" bIns="0" rtlCol="0" anchor="ctr"/>
          <a:lstStyle/>
          <a:p>
            <a:r>
              <a:rPr lang="en-US" sz="1200" b="1" dirty="0">
                <a:solidFill>
                  <a:srgbClr val="1E2761"/>
                </a:solidFill>
                <a:latin typeface="Calibri" pitchFamily="34" charset="0"/>
                <a:ea typeface="Calibri" pitchFamily="34" charset="-122"/>
                <a:cs typeface="Calibri" pitchFamily="34" charset="-120"/>
              </a:rPr>
              <a:t>Maintenance nightmare</a:t>
            </a:r>
            <a:endParaRPr lang="en-US" sz="1200" dirty="0"/>
          </a:p>
        </p:txBody>
      </p:sp>
      <p:sp>
        <p:nvSpPr>
          <p:cNvPr id="21" name="Text 19"/>
          <p:cNvSpPr/>
          <p:nvPr/>
        </p:nvSpPr>
        <p:spPr>
          <a:xfrm>
            <a:off x="5696712" y="3200400"/>
            <a:ext cx="3081528" cy="429768"/>
          </a:xfrm>
          <a:prstGeom prst="rect">
            <a:avLst/>
          </a:prstGeom>
          <a:noFill/>
          <a:ln/>
        </p:spPr>
        <p:txBody>
          <a:bodyPr wrap="square" lIns="0" tIns="0" rIns="0" bIns="0" rtlCol="0" anchor="t"/>
          <a:lstStyle/>
          <a:p>
            <a:r>
              <a:rPr lang="en-US" sz="1050" dirty="0">
                <a:solidFill>
                  <a:srgbClr val="1A1F36"/>
                </a:solidFill>
                <a:latin typeface="Calibri" pitchFamily="34" charset="0"/>
                <a:ea typeface="Calibri" pitchFamily="34" charset="-122"/>
                <a:cs typeface="Calibri" pitchFamily="34" charset="-120"/>
              </a:rPr>
              <a:t>Every field rename or type change requires updating both the Python class AND the JSON schema.</a:t>
            </a:r>
            <a:endParaRPr lang="en-US" sz="1050" dirty="0"/>
          </a:p>
        </p:txBody>
      </p:sp>
      <p:sp>
        <p:nvSpPr>
          <p:cNvPr id="22" name="Shape 20"/>
          <p:cNvSpPr/>
          <p:nvPr/>
        </p:nvSpPr>
        <p:spPr>
          <a:xfrm>
            <a:off x="5577840" y="3300984"/>
            <a:ext cx="0" cy="338328"/>
          </a:xfrm>
          <a:prstGeom prst="line">
            <a:avLst/>
          </a:prstGeom>
          <a:noFill/>
          <a:ln w="19050">
            <a:solidFill>
              <a:srgbClr val="1E2761"/>
            </a:solidFill>
            <a:prstDash val="solid"/>
            <a:tailEnd type="arrow"/>
          </a:ln>
        </p:spPr>
      </p:sp>
      <p:sp>
        <p:nvSpPr>
          <p:cNvPr id="23" name="Text 21"/>
          <p:cNvSpPr/>
          <p:nvPr/>
        </p:nvSpPr>
        <p:spPr>
          <a:xfrm>
            <a:off x="411480" y="4730599"/>
            <a:ext cx="8321040" cy="237744"/>
          </a:xfrm>
          <a:prstGeom prst="rect">
            <a:avLst/>
          </a:prstGeom>
          <a:noFill/>
          <a:ln/>
        </p:spPr>
        <p:txBody>
          <a:bodyPr wrap="square" rtlCol="0" anchor="ctr"/>
          <a:lstStyle/>
          <a:p>
            <a:r>
              <a:rPr lang="en-US" sz="1150" dirty="0">
                <a:solidFill>
                  <a:srgbClr val="C62828"/>
                </a:solidFill>
                <a:latin typeface="Calibri" pitchFamily="34" charset="0"/>
                <a:ea typeface="Calibri" pitchFamily="34" charset="-122"/>
                <a:cs typeface="Calibri" pitchFamily="34" charset="-120"/>
              </a:rPr>
              <a:t>⚠️  This is just for ONE model with TWO fields. Real schemas are far larger. There is a better way →</a:t>
            </a:r>
            <a:endParaRPr lang="en-US" sz="1150" dirty="0"/>
          </a:p>
        </p:txBody>
      </p:sp>
      <p:sp>
        <p:nvSpPr>
          <p:cNvPr id="24" name="Text 22"/>
          <p:cNvSpPr/>
          <p:nvPr/>
        </p:nvSpPr>
        <p:spPr>
          <a:xfrm>
            <a:off x="8046720" y="4800600"/>
            <a:ext cx="914400" cy="256032"/>
          </a:xfrm>
          <a:prstGeom prst="rect">
            <a:avLst/>
          </a:prstGeom>
          <a:noFill/>
          <a:ln/>
        </p:spPr>
        <p:txBody>
          <a:bodyPr wrap="square" rtlCol="0" anchor="ctr"/>
          <a:lstStyle/>
          <a:p>
            <a:pPr algn="r"/>
            <a:r>
              <a:rPr lang="en-US" sz="900" dirty="0">
                <a:solidFill>
                  <a:srgbClr val="78909C"/>
                </a:solidFill>
              </a:rPr>
              <a:t>7 / 13</a:t>
            </a:r>
            <a:endParaRPr lang="en-US" sz="900" dirty="0"/>
          </a:p>
        </p:txBody>
      </p:sp>
      <p:pic>
        <p:nvPicPr>
          <p:cNvPr id="25" name="Google Shape;109;p20">
            <a:extLst>
              <a:ext uri="{FF2B5EF4-FFF2-40B4-BE49-F238E27FC236}">
                <a16:creationId xmlns:a16="http://schemas.microsoft.com/office/drawing/2014/main" id="{E06E6742-B748-11BC-9259-DD8FD61627FF}"/>
              </a:ext>
            </a:extLst>
          </p:cNvPr>
          <p:cNvPicPr preferRelativeResize="0"/>
          <p:nvPr/>
        </p:nvPicPr>
        <p:blipFill>
          <a:blip r:embed="rId3">
            <a:alphaModFix/>
          </a:blip>
          <a:stretch>
            <a:fillRect/>
          </a:stretch>
        </p:blipFill>
        <p:spPr>
          <a:xfrm>
            <a:off x="8369126" y="0"/>
            <a:ext cx="774877" cy="867174"/>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11480" y="-4770"/>
            <a:ext cx="8321040" cy="566928"/>
          </a:xfrm>
          <a:prstGeom prst="rect">
            <a:avLst/>
          </a:prstGeom>
          <a:noFill/>
          <a:ln/>
        </p:spPr>
        <p:txBody>
          <a:bodyPr wrap="square" lIns="0" tIns="0" rIns="0" bIns="0" rtlCol="0" anchor="ctr"/>
          <a:lstStyle/>
          <a:p>
            <a:r>
              <a:rPr lang="en-US" sz="2100" b="1" dirty="0">
                <a:solidFill>
                  <a:srgbClr val="1A1F36"/>
                </a:solidFill>
                <a:latin typeface="Georgia" pitchFamily="34" charset="0"/>
                <a:ea typeface="Georgia" pitchFamily="34" charset="-122"/>
                <a:cs typeface="Georgia" pitchFamily="34" charset="-120"/>
              </a:rPr>
              <a:t>Tool Calling Forces Structured Output</a:t>
            </a:r>
            <a:endParaRPr lang="en-US" sz="2100" dirty="0"/>
          </a:p>
        </p:txBody>
      </p:sp>
      <p:sp>
        <p:nvSpPr>
          <p:cNvPr id="4" name="Text 2"/>
          <p:cNvSpPr/>
          <p:nvPr/>
        </p:nvSpPr>
        <p:spPr>
          <a:xfrm>
            <a:off x="411480" y="529764"/>
            <a:ext cx="8321040" cy="402336"/>
          </a:xfrm>
          <a:prstGeom prst="rect">
            <a:avLst/>
          </a:prstGeom>
          <a:noFill/>
          <a:ln/>
        </p:spPr>
        <p:txBody>
          <a:bodyPr wrap="square" rtlCol="0" anchor="ctr"/>
          <a:lstStyle/>
          <a:p>
            <a:r>
              <a:rPr lang="en-US" sz="1200" dirty="0">
                <a:solidFill>
                  <a:srgbClr val="1A1F36"/>
                </a:solidFill>
                <a:latin typeface="Calibri" pitchFamily="34" charset="0"/>
                <a:ea typeface="Calibri" pitchFamily="34" charset="-122"/>
                <a:cs typeface="Calibri" pitchFamily="34" charset="-120"/>
              </a:rPr>
              <a:t>OpenAI’s tools parameter accepts a JSON Schema and forces the model to conform — but writing it by hand is painful.</a:t>
            </a:r>
            <a:br>
              <a:rPr lang="en-US" sz="1200" dirty="0">
                <a:solidFill>
                  <a:srgbClr val="1A1F36"/>
                </a:solidFill>
                <a:latin typeface="Calibri" pitchFamily="34" charset="0"/>
                <a:ea typeface="Calibri" pitchFamily="34" charset="-122"/>
                <a:cs typeface="Calibri" pitchFamily="34" charset="-120"/>
              </a:rPr>
            </a:br>
            <a:endParaRPr lang="en-US" sz="1200" dirty="0">
              <a:solidFill>
                <a:srgbClr val="1A1F36"/>
              </a:solidFill>
              <a:latin typeface="Calibri" pitchFamily="34" charset="0"/>
              <a:ea typeface="Calibri" pitchFamily="34" charset="-122"/>
              <a:cs typeface="Calibri" pitchFamily="34" charset="-120"/>
            </a:endParaRPr>
          </a:p>
          <a:p>
            <a:r>
              <a:rPr lang="en-US" sz="1200" dirty="0" err="1">
                <a:solidFill>
                  <a:srgbClr val="1A1F36"/>
                </a:solidFill>
                <a:latin typeface="Calibri" pitchFamily="34" charset="0"/>
                <a:ea typeface="Calibri" pitchFamily="34" charset="-122"/>
                <a:cs typeface="Calibri" pitchFamily="34" charset="-120"/>
              </a:rPr>
              <a:t>Pydantic</a:t>
            </a:r>
            <a:r>
              <a:rPr lang="en-US" sz="1200" dirty="0">
                <a:solidFill>
                  <a:srgbClr val="1A1F36"/>
                </a:solidFill>
                <a:latin typeface="Calibri" pitchFamily="34" charset="0"/>
                <a:ea typeface="Calibri" pitchFamily="34" charset="-122"/>
                <a:cs typeface="Calibri" pitchFamily="34" charset="-120"/>
              </a:rPr>
              <a:t> generates the complete JSON schema from your model class — one call replaces 20+ lines of hand-written JSON:</a:t>
            </a:r>
            <a:endParaRPr lang="en-US" sz="1200" dirty="0"/>
          </a:p>
        </p:txBody>
      </p:sp>
      <p:grpSp>
        <p:nvGrpSpPr>
          <p:cNvPr id="28" name="Group 27">
            <a:extLst>
              <a:ext uri="{FF2B5EF4-FFF2-40B4-BE49-F238E27FC236}">
                <a16:creationId xmlns:a16="http://schemas.microsoft.com/office/drawing/2014/main" id="{DB1D29D6-3EF1-4B27-A189-321793E2A3CD}"/>
              </a:ext>
            </a:extLst>
          </p:cNvPr>
          <p:cNvGrpSpPr/>
          <p:nvPr/>
        </p:nvGrpSpPr>
        <p:grpSpPr>
          <a:xfrm>
            <a:off x="5577840" y="1298762"/>
            <a:ext cx="3246120" cy="3200400"/>
            <a:chOff x="7437120" y="1658112"/>
            <a:chExt cx="4328160" cy="4267200"/>
          </a:xfrm>
        </p:grpSpPr>
        <p:sp>
          <p:nvSpPr>
            <p:cNvPr id="8" name="Shape 6"/>
            <p:cNvSpPr/>
            <p:nvPr/>
          </p:nvSpPr>
          <p:spPr>
            <a:xfrm>
              <a:off x="7437120" y="1658112"/>
              <a:ext cx="4328160" cy="975360"/>
            </a:xfrm>
            <a:prstGeom prst="rect">
              <a:avLst/>
            </a:prstGeom>
            <a:solidFill>
              <a:srgbClr val="F7F3EA"/>
            </a:solidFill>
            <a:ln w="19050">
              <a:solidFill>
                <a:srgbClr val="1E2761"/>
              </a:solidFill>
              <a:prstDash val="solid"/>
            </a:ln>
            <a:effectLst>
              <a:outerShdw blurRad="63500" dist="25400" dir="8100000" algn="bl" rotWithShape="0">
                <a:srgbClr val="1A1F36">
                  <a:alpha val="12000"/>
                </a:srgbClr>
              </a:outerShdw>
            </a:effectLst>
          </p:spPr>
        </p:sp>
        <p:sp>
          <p:nvSpPr>
            <p:cNvPr id="9" name="Shape 7"/>
            <p:cNvSpPr/>
            <p:nvPr/>
          </p:nvSpPr>
          <p:spPr>
            <a:xfrm>
              <a:off x="7437120" y="1658112"/>
              <a:ext cx="67056" cy="975360"/>
            </a:xfrm>
            <a:prstGeom prst="rect">
              <a:avLst/>
            </a:prstGeom>
            <a:solidFill>
              <a:srgbClr val="1E2761"/>
            </a:solidFill>
            <a:ln w="12700">
              <a:solidFill>
                <a:srgbClr val="1E2761"/>
              </a:solidFill>
              <a:prstDash val="solid"/>
            </a:ln>
          </p:spPr>
        </p:sp>
        <p:sp>
          <p:nvSpPr>
            <p:cNvPr id="10" name="Text 8"/>
            <p:cNvSpPr/>
            <p:nvPr/>
          </p:nvSpPr>
          <p:spPr>
            <a:xfrm>
              <a:off x="7595616" y="1719072"/>
              <a:ext cx="4108704" cy="316992"/>
            </a:xfrm>
            <a:prstGeom prst="rect">
              <a:avLst/>
            </a:prstGeom>
            <a:noFill/>
            <a:ln/>
          </p:spPr>
          <p:txBody>
            <a:bodyPr wrap="square" lIns="0" tIns="0" rIns="0" bIns="0" rtlCol="0" anchor="ctr"/>
            <a:lstStyle/>
            <a:p>
              <a:r>
                <a:rPr lang="en-US" sz="1200" b="1" dirty="0">
                  <a:solidFill>
                    <a:srgbClr val="1E2761"/>
                  </a:solidFill>
                  <a:latin typeface="Calibri" pitchFamily="34" charset="0"/>
                  <a:ea typeface="Calibri" pitchFamily="34" charset="-122"/>
                  <a:cs typeface="Calibri" pitchFamily="34" charset="-120"/>
                </a:rPr>
                <a:t>PythonPackage</a:t>
              </a:r>
              <a:endParaRPr lang="en-US" sz="1200" dirty="0"/>
            </a:p>
          </p:txBody>
        </p:sp>
        <p:sp>
          <p:nvSpPr>
            <p:cNvPr id="11" name="Text 9"/>
            <p:cNvSpPr/>
            <p:nvPr/>
          </p:nvSpPr>
          <p:spPr>
            <a:xfrm>
              <a:off x="7595616" y="2023872"/>
              <a:ext cx="4108704" cy="548640"/>
            </a:xfrm>
            <a:prstGeom prst="rect">
              <a:avLst/>
            </a:prstGeom>
            <a:noFill/>
            <a:ln/>
          </p:spPr>
          <p:txBody>
            <a:bodyPr wrap="square" lIns="0" tIns="0" rIns="0" bIns="0" rtlCol="0" anchor="t"/>
            <a:lstStyle/>
            <a:p>
              <a:r>
                <a:rPr lang="en-US" sz="1050" dirty="0">
                  <a:solidFill>
                    <a:srgbClr val="1A1F36"/>
                  </a:solidFill>
                  <a:latin typeface="Calibri" pitchFamily="34" charset="0"/>
                  <a:ea typeface="Calibri" pitchFamily="34" charset="-122"/>
                  <a:cs typeface="Calibri" pitchFamily="34" charset="-120"/>
                </a:rPr>
                <a:t>Inner model defines the shape of each item. Pydantic handles nested $defs automatically.</a:t>
              </a:r>
              <a:endParaRPr lang="en-US" sz="1050" dirty="0"/>
            </a:p>
          </p:txBody>
        </p:sp>
        <p:sp>
          <p:nvSpPr>
            <p:cNvPr id="13" name="Shape 11"/>
            <p:cNvSpPr/>
            <p:nvPr/>
          </p:nvSpPr>
          <p:spPr>
            <a:xfrm>
              <a:off x="7437120" y="2755392"/>
              <a:ext cx="4328160" cy="975360"/>
            </a:xfrm>
            <a:prstGeom prst="rect">
              <a:avLst/>
            </a:prstGeom>
            <a:solidFill>
              <a:srgbClr val="F7F3EA"/>
            </a:solidFill>
            <a:ln w="19050">
              <a:solidFill>
                <a:srgbClr val="1E2761"/>
              </a:solidFill>
              <a:prstDash val="solid"/>
            </a:ln>
            <a:effectLst>
              <a:outerShdw blurRad="63500" dist="25400" dir="8100000" algn="bl" rotWithShape="0">
                <a:srgbClr val="1A1F36">
                  <a:alpha val="12000"/>
                </a:srgbClr>
              </a:outerShdw>
            </a:effectLst>
          </p:spPr>
        </p:sp>
        <p:sp>
          <p:nvSpPr>
            <p:cNvPr id="14" name="Shape 12"/>
            <p:cNvSpPr/>
            <p:nvPr/>
          </p:nvSpPr>
          <p:spPr>
            <a:xfrm>
              <a:off x="7437120" y="2755392"/>
              <a:ext cx="67056" cy="975360"/>
            </a:xfrm>
            <a:prstGeom prst="rect">
              <a:avLst/>
            </a:prstGeom>
            <a:solidFill>
              <a:srgbClr val="1E2761"/>
            </a:solidFill>
            <a:ln w="12700">
              <a:solidFill>
                <a:srgbClr val="1E2761"/>
              </a:solidFill>
              <a:prstDash val="solid"/>
            </a:ln>
          </p:spPr>
        </p:sp>
        <p:sp>
          <p:nvSpPr>
            <p:cNvPr id="15" name="Text 13"/>
            <p:cNvSpPr/>
            <p:nvPr/>
          </p:nvSpPr>
          <p:spPr>
            <a:xfrm>
              <a:off x="7595616" y="2816352"/>
              <a:ext cx="4108704" cy="316992"/>
            </a:xfrm>
            <a:prstGeom prst="rect">
              <a:avLst/>
            </a:prstGeom>
            <a:noFill/>
            <a:ln/>
          </p:spPr>
          <p:txBody>
            <a:bodyPr wrap="square" lIns="0" tIns="0" rIns="0" bIns="0" rtlCol="0" anchor="ctr"/>
            <a:lstStyle/>
            <a:p>
              <a:r>
                <a:rPr lang="en-US" sz="1200" b="1" dirty="0">
                  <a:solidFill>
                    <a:srgbClr val="1E2761"/>
                  </a:solidFill>
                  <a:latin typeface="Calibri" pitchFamily="34" charset="0"/>
                  <a:ea typeface="Calibri" pitchFamily="34" charset="-122"/>
                  <a:cs typeface="Calibri" pitchFamily="34" charset="-120"/>
                </a:rPr>
                <a:t>model_json_schema()</a:t>
              </a:r>
              <a:endParaRPr lang="en-US" sz="1200" dirty="0"/>
            </a:p>
          </p:txBody>
        </p:sp>
        <p:sp>
          <p:nvSpPr>
            <p:cNvPr id="16" name="Text 14"/>
            <p:cNvSpPr/>
            <p:nvPr/>
          </p:nvSpPr>
          <p:spPr>
            <a:xfrm>
              <a:off x="7595616" y="3121152"/>
              <a:ext cx="4108704" cy="548640"/>
            </a:xfrm>
            <a:prstGeom prst="rect">
              <a:avLst/>
            </a:prstGeom>
            <a:noFill/>
            <a:ln/>
          </p:spPr>
          <p:txBody>
            <a:bodyPr wrap="square" lIns="0" tIns="0" rIns="0" bIns="0" rtlCol="0" anchor="t"/>
            <a:lstStyle/>
            <a:p>
              <a:r>
                <a:rPr lang="en-US" sz="1050" dirty="0">
                  <a:solidFill>
                    <a:srgbClr val="1A1F36"/>
                  </a:solidFill>
                  <a:latin typeface="Calibri" pitchFamily="34" charset="0"/>
                  <a:ea typeface="Calibri" pitchFamily="34" charset="-122"/>
                  <a:cs typeface="Calibri" pitchFamily="34" charset="-120"/>
                </a:rPr>
                <a:t>Replaces all 20+ lines of hand-written JSON. If you rename a field in Python, the schema updates too.</a:t>
              </a:r>
              <a:endParaRPr lang="en-US" sz="1050" dirty="0"/>
            </a:p>
          </p:txBody>
        </p:sp>
        <p:sp>
          <p:nvSpPr>
            <p:cNvPr id="18" name="Shape 16"/>
            <p:cNvSpPr/>
            <p:nvPr/>
          </p:nvSpPr>
          <p:spPr>
            <a:xfrm>
              <a:off x="7437120" y="3852672"/>
              <a:ext cx="4328160" cy="975360"/>
            </a:xfrm>
            <a:prstGeom prst="rect">
              <a:avLst/>
            </a:prstGeom>
            <a:solidFill>
              <a:srgbClr val="F7F3EA"/>
            </a:solidFill>
            <a:ln w="19050">
              <a:solidFill>
                <a:srgbClr val="1E2761"/>
              </a:solidFill>
              <a:prstDash val="solid"/>
            </a:ln>
            <a:effectLst>
              <a:outerShdw blurRad="63500" dist="25400" dir="8100000" algn="bl" rotWithShape="0">
                <a:srgbClr val="1A1F36">
                  <a:alpha val="12000"/>
                </a:srgbClr>
              </a:outerShdw>
            </a:effectLst>
          </p:spPr>
        </p:sp>
        <p:sp>
          <p:nvSpPr>
            <p:cNvPr id="19" name="Shape 17"/>
            <p:cNvSpPr/>
            <p:nvPr/>
          </p:nvSpPr>
          <p:spPr>
            <a:xfrm>
              <a:off x="7437120" y="3852672"/>
              <a:ext cx="67056" cy="975360"/>
            </a:xfrm>
            <a:prstGeom prst="rect">
              <a:avLst/>
            </a:prstGeom>
            <a:solidFill>
              <a:srgbClr val="1E2761"/>
            </a:solidFill>
            <a:ln w="12700">
              <a:solidFill>
                <a:srgbClr val="1E2761"/>
              </a:solidFill>
              <a:prstDash val="solid"/>
            </a:ln>
          </p:spPr>
        </p:sp>
        <p:sp>
          <p:nvSpPr>
            <p:cNvPr id="20" name="Text 18"/>
            <p:cNvSpPr/>
            <p:nvPr/>
          </p:nvSpPr>
          <p:spPr>
            <a:xfrm>
              <a:off x="7595616" y="3913632"/>
              <a:ext cx="4108704" cy="316992"/>
            </a:xfrm>
            <a:prstGeom prst="rect">
              <a:avLst/>
            </a:prstGeom>
            <a:noFill/>
            <a:ln/>
          </p:spPr>
          <p:txBody>
            <a:bodyPr wrap="square" lIns="0" tIns="0" rIns="0" bIns="0" rtlCol="0" anchor="ctr"/>
            <a:lstStyle/>
            <a:p>
              <a:r>
                <a:rPr lang="en-US" sz="1200" b="1" dirty="0">
                  <a:solidFill>
                    <a:srgbClr val="1E2761"/>
                  </a:solidFill>
                  <a:latin typeface="Calibri" pitchFamily="34" charset="0"/>
                  <a:ea typeface="Calibri" pitchFamily="34" charset="-122"/>
                  <a:cs typeface="Calibri" pitchFamily="34" charset="-120"/>
                </a:rPr>
                <a:t>tool_choice</a:t>
              </a:r>
              <a:endParaRPr lang="en-US" sz="1200" dirty="0"/>
            </a:p>
          </p:txBody>
        </p:sp>
        <p:sp>
          <p:nvSpPr>
            <p:cNvPr id="21" name="Text 19"/>
            <p:cNvSpPr/>
            <p:nvPr/>
          </p:nvSpPr>
          <p:spPr>
            <a:xfrm>
              <a:off x="7595616" y="4218432"/>
              <a:ext cx="4108704" cy="548640"/>
            </a:xfrm>
            <a:prstGeom prst="rect">
              <a:avLst/>
            </a:prstGeom>
            <a:noFill/>
            <a:ln/>
          </p:spPr>
          <p:txBody>
            <a:bodyPr wrap="square" lIns="0" tIns="0" rIns="0" bIns="0" rtlCol="0" anchor="t"/>
            <a:lstStyle/>
            <a:p>
              <a:r>
                <a:rPr lang="en-US" sz="1050" dirty="0">
                  <a:solidFill>
                    <a:srgbClr val="1A1F36"/>
                  </a:solidFill>
                  <a:latin typeface="Calibri" pitchFamily="34" charset="0"/>
                  <a:ea typeface="Calibri" pitchFamily="34" charset="-122"/>
                  <a:cs typeface="Calibri" pitchFamily="34" charset="-120"/>
                </a:rPr>
                <a:t>Forces the model to call this specific function — guaranteeing the output is structured JSON.</a:t>
              </a:r>
              <a:endParaRPr lang="en-US" sz="1050" dirty="0"/>
            </a:p>
          </p:txBody>
        </p:sp>
        <p:sp>
          <p:nvSpPr>
            <p:cNvPr id="23" name="Shape 21"/>
            <p:cNvSpPr/>
            <p:nvPr/>
          </p:nvSpPr>
          <p:spPr>
            <a:xfrm>
              <a:off x="7437120" y="4949952"/>
              <a:ext cx="4328160" cy="975360"/>
            </a:xfrm>
            <a:prstGeom prst="rect">
              <a:avLst/>
            </a:prstGeom>
            <a:solidFill>
              <a:srgbClr val="F7F3EA"/>
            </a:solidFill>
            <a:ln w="19050">
              <a:solidFill>
                <a:srgbClr val="1E2761"/>
              </a:solidFill>
              <a:prstDash val="solid"/>
            </a:ln>
            <a:effectLst>
              <a:outerShdw blurRad="63500" dist="25400" dir="8100000" algn="bl" rotWithShape="0">
                <a:srgbClr val="1A1F36">
                  <a:alpha val="12000"/>
                </a:srgbClr>
              </a:outerShdw>
            </a:effectLst>
          </p:spPr>
        </p:sp>
        <p:sp>
          <p:nvSpPr>
            <p:cNvPr id="24" name="Shape 22"/>
            <p:cNvSpPr/>
            <p:nvPr/>
          </p:nvSpPr>
          <p:spPr>
            <a:xfrm>
              <a:off x="7437120" y="4949952"/>
              <a:ext cx="67056" cy="975360"/>
            </a:xfrm>
            <a:prstGeom prst="rect">
              <a:avLst/>
            </a:prstGeom>
            <a:solidFill>
              <a:srgbClr val="1E2761"/>
            </a:solidFill>
            <a:ln w="12700">
              <a:solidFill>
                <a:srgbClr val="1E2761"/>
              </a:solidFill>
              <a:prstDash val="solid"/>
            </a:ln>
          </p:spPr>
        </p:sp>
        <p:sp>
          <p:nvSpPr>
            <p:cNvPr id="25" name="Text 23"/>
            <p:cNvSpPr/>
            <p:nvPr/>
          </p:nvSpPr>
          <p:spPr>
            <a:xfrm>
              <a:off x="7595616" y="5010912"/>
              <a:ext cx="4108704" cy="316992"/>
            </a:xfrm>
            <a:prstGeom prst="rect">
              <a:avLst/>
            </a:prstGeom>
            <a:noFill/>
            <a:ln/>
          </p:spPr>
          <p:txBody>
            <a:bodyPr wrap="square" lIns="0" tIns="0" rIns="0" bIns="0" rtlCol="0" anchor="ctr"/>
            <a:lstStyle/>
            <a:p>
              <a:r>
                <a:rPr lang="en-US" sz="1200" b="1" dirty="0">
                  <a:solidFill>
                    <a:srgbClr val="1E2761"/>
                  </a:solidFill>
                  <a:latin typeface="Calibri" pitchFamily="34" charset="0"/>
                  <a:ea typeface="Calibri" pitchFamily="34" charset="-122"/>
                  <a:cs typeface="Calibri" pitchFamily="34" charset="-120"/>
                </a:rPr>
                <a:t>model_validate_json()</a:t>
              </a:r>
              <a:endParaRPr lang="en-US" sz="1200" dirty="0"/>
            </a:p>
          </p:txBody>
        </p:sp>
        <p:sp>
          <p:nvSpPr>
            <p:cNvPr id="26" name="Text 24"/>
            <p:cNvSpPr/>
            <p:nvPr/>
          </p:nvSpPr>
          <p:spPr>
            <a:xfrm>
              <a:off x="7595616" y="5315712"/>
              <a:ext cx="4108704" cy="548640"/>
            </a:xfrm>
            <a:prstGeom prst="rect">
              <a:avLst/>
            </a:prstGeom>
            <a:noFill/>
            <a:ln/>
          </p:spPr>
          <p:txBody>
            <a:bodyPr wrap="square" lIns="0" tIns="0" rIns="0" bIns="0" rtlCol="0" anchor="t"/>
            <a:lstStyle/>
            <a:p>
              <a:r>
                <a:rPr lang="en-US" sz="1050" dirty="0">
                  <a:solidFill>
                    <a:srgbClr val="1A1F36"/>
                  </a:solidFill>
                  <a:latin typeface="Calibri" pitchFamily="34" charset="0"/>
                  <a:ea typeface="Calibri" pitchFamily="34" charset="-122"/>
                  <a:cs typeface="Calibri" pitchFamily="34" charset="-120"/>
                </a:rPr>
                <a:t>Parses AND validates the response in one step, returning a fully typed Packages instance.</a:t>
              </a:r>
              <a:endParaRPr lang="en-US" sz="1050" dirty="0"/>
            </a:p>
          </p:txBody>
        </p:sp>
      </p:grpSp>
      <p:grpSp>
        <p:nvGrpSpPr>
          <p:cNvPr id="2" name="Group 1">
            <a:extLst>
              <a:ext uri="{FF2B5EF4-FFF2-40B4-BE49-F238E27FC236}">
                <a16:creationId xmlns:a16="http://schemas.microsoft.com/office/drawing/2014/main" id="{595EB4F2-0D43-0E94-BCEB-C5885F2C0324}"/>
              </a:ext>
            </a:extLst>
          </p:cNvPr>
          <p:cNvGrpSpPr/>
          <p:nvPr/>
        </p:nvGrpSpPr>
        <p:grpSpPr>
          <a:xfrm>
            <a:off x="320040" y="1020605"/>
            <a:ext cx="5257800" cy="4076182"/>
            <a:chOff x="426720" y="1710662"/>
            <a:chExt cx="7010400" cy="5434909"/>
          </a:xfrm>
        </p:grpSpPr>
        <p:sp>
          <p:nvSpPr>
            <p:cNvPr id="5" name="Shape 3"/>
            <p:cNvSpPr/>
            <p:nvPr/>
          </p:nvSpPr>
          <p:spPr>
            <a:xfrm>
              <a:off x="426720" y="1710662"/>
              <a:ext cx="6827520" cy="5434909"/>
            </a:xfrm>
            <a:prstGeom prst="rect">
              <a:avLst/>
            </a:prstGeom>
            <a:solidFill>
              <a:srgbClr val="1A1F36"/>
            </a:solidFill>
            <a:ln w="12700">
              <a:solidFill>
                <a:srgbClr val="1A1F36"/>
              </a:solidFill>
              <a:prstDash val="solid"/>
            </a:ln>
            <a:effectLst>
              <a:outerShdw blurRad="63500" dist="25400" dir="8100000" algn="bl" rotWithShape="0">
                <a:srgbClr val="1A1F36">
                  <a:alpha val="12000"/>
                </a:srgbClr>
              </a:outerShdw>
            </a:effectLst>
          </p:spPr>
        </p:sp>
        <p:sp>
          <p:nvSpPr>
            <p:cNvPr id="6" name="Shape 4"/>
            <p:cNvSpPr/>
            <p:nvPr/>
          </p:nvSpPr>
          <p:spPr>
            <a:xfrm>
              <a:off x="426720" y="1710662"/>
              <a:ext cx="97536" cy="4657344"/>
            </a:xfrm>
            <a:prstGeom prst="rect">
              <a:avLst/>
            </a:prstGeom>
            <a:solidFill>
              <a:srgbClr val="3D5A80"/>
            </a:solidFill>
            <a:ln w="12700">
              <a:solidFill>
                <a:srgbClr val="3D5A80"/>
              </a:solidFill>
              <a:prstDash val="solid"/>
            </a:ln>
          </p:spPr>
        </p:sp>
        <p:sp>
          <p:nvSpPr>
            <p:cNvPr id="7" name="Text 5"/>
            <p:cNvSpPr/>
            <p:nvPr/>
          </p:nvSpPr>
          <p:spPr>
            <a:xfrm>
              <a:off x="646176" y="1832582"/>
              <a:ext cx="6486144" cy="4413504"/>
            </a:xfrm>
            <a:prstGeom prst="rect">
              <a:avLst/>
            </a:prstGeom>
            <a:noFill/>
            <a:ln/>
          </p:spPr>
          <p:txBody>
            <a:bodyPr wrap="square" lIns="0" tIns="0" rIns="0" bIns="0" rtlCol="0" anchor="t"/>
            <a:lstStyle/>
            <a:p>
              <a:r>
                <a:rPr lang="en-US" sz="1000" dirty="0">
                  <a:solidFill>
                    <a:srgbClr val="CADCFC"/>
                  </a:solidFill>
                  <a:latin typeface="Consolas" pitchFamily="34" charset="0"/>
                  <a:ea typeface="Consolas" pitchFamily="34" charset="-122"/>
                  <a:cs typeface="Consolas" pitchFamily="34" charset="-120"/>
                </a:rPr>
                <a:t>from typing import List</a:t>
              </a:r>
              <a:endParaRPr lang="en-US" sz="1000" dirty="0"/>
            </a:p>
            <a:p>
              <a:r>
                <a:rPr lang="en-US" sz="1000" dirty="0">
                  <a:solidFill>
                    <a:srgbClr val="CADCFC"/>
                  </a:solidFill>
                  <a:latin typeface="Consolas" pitchFamily="34" charset="0"/>
                  <a:ea typeface="Consolas" pitchFamily="34" charset="-122"/>
                  <a:cs typeface="Consolas" pitchFamily="34" charset="-120"/>
                </a:rPr>
                <a:t>from pydantic import BaseModel</a:t>
              </a:r>
              <a:endParaRPr lang="en-US" sz="1000" dirty="0"/>
            </a:p>
            <a:p>
              <a:r>
                <a:rPr lang="en-US" sz="1000" dirty="0">
                  <a:solidFill>
                    <a:srgbClr val="CADCFC"/>
                  </a:solidFill>
                  <a:latin typeface="Consolas" pitchFamily="34" charset="0"/>
                  <a:ea typeface="Consolas" pitchFamily="34" charset="-122"/>
                  <a:cs typeface="Consolas" pitchFamily="34" charset="-120"/>
                </a:rPr>
                <a:t>from openai import OpenAI</a:t>
              </a:r>
              <a:endParaRPr lang="en-US" sz="1000" dirty="0"/>
            </a:p>
            <a:p>
              <a:endParaRPr lang="en-US" sz="1000" dirty="0"/>
            </a:p>
            <a:p>
              <a:r>
                <a:rPr lang="en-US" sz="1000" dirty="0">
                  <a:solidFill>
                    <a:srgbClr val="CADCFC"/>
                  </a:solidFill>
                  <a:latin typeface="Consolas" pitchFamily="34" charset="0"/>
                  <a:ea typeface="Consolas" pitchFamily="34" charset="-122"/>
                  <a:cs typeface="Consolas" pitchFamily="34" charset="-120"/>
                </a:rPr>
                <a:t>client = OpenAI()</a:t>
              </a:r>
              <a:endParaRPr lang="en-US" sz="1000" dirty="0"/>
            </a:p>
            <a:p>
              <a:endParaRPr lang="en-US" sz="1000" dirty="0"/>
            </a:p>
            <a:p>
              <a:r>
                <a:rPr lang="en-US" sz="1000" dirty="0">
                  <a:solidFill>
                    <a:srgbClr val="FFC000"/>
                  </a:solidFill>
                  <a:latin typeface="Consolas" pitchFamily="34" charset="0"/>
                  <a:ea typeface="Consolas" pitchFamily="34" charset="-122"/>
                  <a:cs typeface="Consolas" pitchFamily="34" charset="-120"/>
                </a:rPr>
                <a:t>class PythonPackage(BaseModel):</a:t>
              </a:r>
              <a:endParaRPr lang="en-US" sz="1000" dirty="0">
                <a:solidFill>
                  <a:srgbClr val="FFC000"/>
                </a:solidFill>
              </a:endParaRPr>
            </a:p>
            <a:p>
              <a:r>
                <a:rPr lang="en-US" sz="1000" dirty="0">
                  <a:solidFill>
                    <a:srgbClr val="FFC000"/>
                  </a:solidFill>
                  <a:latin typeface="Consolas" pitchFamily="34" charset="0"/>
                  <a:ea typeface="Consolas" pitchFamily="34" charset="-122"/>
                  <a:cs typeface="Consolas" pitchFamily="34" charset="-120"/>
                </a:rPr>
                <a:t>    name: str</a:t>
              </a:r>
              <a:endParaRPr lang="en-US" sz="1000" dirty="0">
                <a:solidFill>
                  <a:srgbClr val="FFC000"/>
                </a:solidFill>
              </a:endParaRPr>
            </a:p>
            <a:p>
              <a:r>
                <a:rPr lang="en-US" sz="1000" dirty="0">
                  <a:solidFill>
                    <a:srgbClr val="FFC000"/>
                  </a:solidFill>
                  <a:latin typeface="Consolas" pitchFamily="34" charset="0"/>
                  <a:ea typeface="Consolas" pitchFamily="34" charset="-122"/>
                  <a:cs typeface="Consolas" pitchFamily="34" charset="-120"/>
                </a:rPr>
                <a:t>    author: str</a:t>
              </a:r>
              <a:endParaRPr lang="en-US" sz="1000" dirty="0">
                <a:solidFill>
                  <a:srgbClr val="FFC000"/>
                </a:solidFill>
              </a:endParaRPr>
            </a:p>
            <a:p>
              <a:endParaRPr lang="en-US" sz="1000" dirty="0">
                <a:solidFill>
                  <a:srgbClr val="FFC000"/>
                </a:solidFill>
              </a:endParaRPr>
            </a:p>
            <a:p>
              <a:r>
                <a:rPr lang="en-US" sz="1000" dirty="0">
                  <a:solidFill>
                    <a:srgbClr val="FFC000"/>
                  </a:solidFill>
                  <a:latin typeface="Consolas" pitchFamily="34" charset="0"/>
                  <a:ea typeface="Consolas" pitchFamily="34" charset="-122"/>
                  <a:cs typeface="Consolas" pitchFamily="34" charset="-120"/>
                </a:rPr>
                <a:t>class Packages(BaseModel):</a:t>
              </a:r>
              <a:endParaRPr lang="en-US" sz="1000" dirty="0">
                <a:solidFill>
                  <a:srgbClr val="FFC000"/>
                </a:solidFill>
              </a:endParaRPr>
            </a:p>
            <a:p>
              <a:r>
                <a:rPr lang="en-US" sz="1000" dirty="0">
                  <a:solidFill>
                    <a:srgbClr val="FFC000"/>
                  </a:solidFill>
                  <a:latin typeface="Consolas" pitchFamily="34" charset="0"/>
                  <a:ea typeface="Consolas" pitchFamily="34" charset="-122"/>
                  <a:cs typeface="Consolas" pitchFamily="34" charset="-120"/>
                </a:rPr>
                <a:t>    packages: List[PythonPackage]</a:t>
              </a:r>
              <a:endParaRPr lang="en-US" sz="1000" dirty="0">
                <a:solidFill>
                  <a:srgbClr val="FFC000"/>
                </a:solidFill>
              </a:endParaRPr>
            </a:p>
            <a:p>
              <a:endParaRPr lang="en-US" sz="1000" dirty="0"/>
            </a:p>
            <a:p>
              <a:r>
                <a:rPr lang="en-US" sz="1000" dirty="0">
                  <a:solidFill>
                    <a:srgbClr val="CADCFC"/>
                  </a:solidFill>
                  <a:latin typeface="Consolas" pitchFamily="34" charset="0"/>
                  <a:ea typeface="Consolas" pitchFamily="34" charset="-122"/>
                  <a:cs typeface="Consolas" pitchFamily="34" charset="-120"/>
                </a:rPr>
                <a:t>resp = client.chat.completions.create(</a:t>
              </a:r>
              <a:endParaRPr lang="en-US" sz="1000" dirty="0"/>
            </a:p>
            <a:p>
              <a:r>
                <a:rPr lang="en-US" sz="1000" dirty="0">
                  <a:solidFill>
                    <a:srgbClr val="CADCFC"/>
                  </a:solidFill>
                  <a:latin typeface="Consolas" pitchFamily="34" charset="0"/>
                  <a:ea typeface="Consolas" pitchFamily="34" charset="-122"/>
                  <a:cs typeface="Consolas" pitchFamily="34" charset="-120"/>
                </a:rPr>
                <a:t>    model="gpt-3.5-turbo",</a:t>
              </a:r>
              <a:endParaRPr lang="en-US" sz="1000" dirty="0"/>
            </a:p>
            <a:p>
              <a:r>
                <a:rPr lang="en-US" sz="1000" dirty="0">
                  <a:solidFill>
                    <a:srgbClr val="CADCFC"/>
                  </a:solidFill>
                  <a:latin typeface="Consolas" pitchFamily="34" charset="0"/>
                  <a:ea typeface="Consolas" pitchFamily="34" charset="-122"/>
                  <a:cs typeface="Consolas" pitchFamily="34" charset="-120"/>
                </a:rPr>
                <a:t>    messages=[{"role":"user","content":"Pydantic and FastAPI?"}],</a:t>
              </a:r>
              <a:endParaRPr lang="en-US" sz="1000" dirty="0"/>
            </a:p>
            <a:p>
              <a:r>
                <a:rPr lang="en-US" sz="1000" dirty="0">
                  <a:solidFill>
                    <a:srgbClr val="CADCFC"/>
                  </a:solidFill>
                  <a:latin typeface="Consolas" pitchFamily="34" charset="0"/>
                  <a:ea typeface="Consolas" pitchFamily="34" charset="-122"/>
                  <a:cs typeface="Consolas" pitchFamily="34" charset="-120"/>
                </a:rPr>
                <a:t>    tools=[{"type":"function","function":{</a:t>
              </a:r>
              <a:endParaRPr lang="en-US" sz="1000" dirty="0"/>
            </a:p>
            <a:p>
              <a:r>
                <a:rPr lang="en-US" sz="1000" dirty="0">
                  <a:solidFill>
                    <a:srgbClr val="CADCFC"/>
                  </a:solidFill>
                  <a:latin typeface="Consolas" pitchFamily="34" charset="0"/>
                  <a:ea typeface="Consolas" pitchFamily="34" charset="-122"/>
                  <a:cs typeface="Consolas" pitchFamily="34" charset="-120"/>
                </a:rPr>
                <a:t>        "</a:t>
              </a:r>
              <a:r>
                <a:rPr lang="en-US" sz="1000" dirty="0">
                  <a:solidFill>
                    <a:srgbClr val="FFC000"/>
                  </a:solidFill>
                  <a:latin typeface="Consolas" pitchFamily="34" charset="0"/>
                  <a:ea typeface="Consolas" pitchFamily="34" charset="-122"/>
                  <a:cs typeface="Consolas" pitchFamily="34" charset="-120"/>
                </a:rPr>
                <a:t>name</a:t>
              </a:r>
              <a:r>
                <a:rPr lang="en-US" sz="1000" dirty="0">
                  <a:solidFill>
                    <a:srgbClr val="CADCFC"/>
                  </a:solidFill>
                  <a:latin typeface="Consolas" pitchFamily="34" charset="0"/>
                  <a:ea typeface="Consolas" pitchFamily="34" charset="-122"/>
                  <a:cs typeface="Consolas" pitchFamily="34" charset="-120"/>
                </a:rPr>
                <a:t>": "</a:t>
              </a:r>
              <a:r>
                <a:rPr lang="en-US" sz="1000" dirty="0">
                  <a:solidFill>
                    <a:srgbClr val="FFC000"/>
                  </a:solidFill>
                  <a:latin typeface="Consolas" pitchFamily="34" charset="0"/>
                  <a:ea typeface="Consolas" pitchFamily="34" charset="-122"/>
                  <a:cs typeface="Consolas" pitchFamily="34" charset="-120"/>
                </a:rPr>
                <a:t>Requirements</a:t>
              </a:r>
              <a:r>
                <a:rPr lang="en-US" sz="1000" dirty="0">
                  <a:solidFill>
                    <a:srgbClr val="CADCFC"/>
                  </a:solidFill>
                  <a:latin typeface="Consolas" pitchFamily="34" charset="0"/>
                  <a:ea typeface="Consolas" pitchFamily="34" charset="-122"/>
                  <a:cs typeface="Consolas" pitchFamily="34" charset="-120"/>
                </a:rPr>
                <a:t>",</a:t>
              </a:r>
              <a:endParaRPr lang="en-US" sz="1000" dirty="0"/>
            </a:p>
            <a:p>
              <a:r>
                <a:rPr lang="en-US" sz="1000" dirty="0">
                  <a:solidFill>
                    <a:srgbClr val="CADCFC"/>
                  </a:solidFill>
                  <a:latin typeface="Consolas" pitchFamily="34" charset="0"/>
                  <a:ea typeface="Consolas" pitchFamily="34" charset="-122"/>
                  <a:cs typeface="Consolas" pitchFamily="34" charset="-120"/>
                </a:rPr>
                <a:t>        "parameters": </a:t>
              </a:r>
              <a:r>
                <a:rPr lang="en-US" sz="1000" dirty="0">
                  <a:solidFill>
                    <a:srgbClr val="FFC000"/>
                  </a:solidFill>
                  <a:latin typeface="Consolas" pitchFamily="34" charset="0"/>
                  <a:ea typeface="Consolas" pitchFamily="34" charset="-122"/>
                  <a:cs typeface="Consolas" pitchFamily="34" charset="-120"/>
                </a:rPr>
                <a:t>Packages.model_json_schema(),</a:t>
              </a:r>
              <a:endParaRPr lang="en-US" sz="1000" dirty="0">
                <a:solidFill>
                  <a:srgbClr val="FFC000"/>
                </a:solidFill>
              </a:endParaRPr>
            </a:p>
            <a:p>
              <a:r>
                <a:rPr lang="en-US" sz="1000" dirty="0">
                  <a:solidFill>
                    <a:srgbClr val="CADCFC"/>
                  </a:solidFill>
                  <a:latin typeface="Consolas" pitchFamily="34" charset="0"/>
                  <a:ea typeface="Consolas" pitchFamily="34" charset="-122"/>
                  <a:cs typeface="Consolas" pitchFamily="34" charset="-120"/>
                </a:rPr>
                <a:t>    }}],</a:t>
              </a:r>
              <a:endParaRPr lang="en-US" sz="1000" dirty="0"/>
            </a:p>
            <a:p>
              <a:r>
                <a:rPr lang="en-US" sz="1000" dirty="0">
                  <a:solidFill>
                    <a:srgbClr val="CADCFC"/>
                  </a:solidFill>
                  <a:latin typeface="Consolas" pitchFamily="34" charset="0"/>
                  <a:ea typeface="Consolas" pitchFamily="34" charset="-122"/>
                  <a:cs typeface="Consolas" pitchFamily="34" charset="-120"/>
                </a:rPr>
                <a:t>    tool_choice={"type":"function","function":{"</a:t>
              </a:r>
              <a:r>
                <a:rPr lang="en-US" sz="1000" dirty="0">
                  <a:solidFill>
                    <a:srgbClr val="FFC000"/>
                  </a:solidFill>
                  <a:latin typeface="Consolas" pitchFamily="34" charset="0"/>
                  <a:ea typeface="Consolas" pitchFamily="34" charset="-122"/>
                  <a:cs typeface="Consolas" pitchFamily="34" charset="-120"/>
                </a:rPr>
                <a:t>name</a:t>
              </a:r>
              <a:r>
                <a:rPr lang="en-US" sz="1000" dirty="0">
                  <a:solidFill>
                    <a:srgbClr val="CADCFC"/>
                  </a:solidFill>
                  <a:latin typeface="Consolas" pitchFamily="34" charset="0"/>
                  <a:ea typeface="Consolas" pitchFamily="34" charset="-122"/>
                  <a:cs typeface="Consolas" pitchFamily="34" charset="-120"/>
                </a:rPr>
                <a:t>":"</a:t>
              </a:r>
              <a:r>
                <a:rPr lang="en-US" sz="1000" dirty="0">
                  <a:solidFill>
                    <a:srgbClr val="FFC000"/>
                  </a:solidFill>
                  <a:latin typeface="Consolas" pitchFamily="34" charset="0"/>
                  <a:ea typeface="Consolas" pitchFamily="34" charset="-122"/>
                  <a:cs typeface="Consolas" pitchFamily="34" charset="-120"/>
                </a:rPr>
                <a:t>Requirements</a:t>
              </a:r>
              <a:r>
                <a:rPr lang="en-US" sz="1000" dirty="0">
                  <a:solidFill>
                    <a:srgbClr val="CADCFC"/>
                  </a:solidFill>
                  <a:latin typeface="Consolas" pitchFamily="34" charset="0"/>
                  <a:ea typeface="Consolas" pitchFamily="34" charset="-122"/>
                  <a:cs typeface="Consolas" pitchFamily="34" charset="-120"/>
                </a:rPr>
                <a:t>"}},</a:t>
              </a:r>
              <a:endParaRPr lang="en-US" sz="1000" dirty="0"/>
            </a:p>
            <a:p>
              <a:r>
                <a:rPr lang="en-US" sz="1000" dirty="0">
                  <a:solidFill>
                    <a:srgbClr val="CADCFC"/>
                  </a:solidFill>
                  <a:latin typeface="Consolas" pitchFamily="34" charset="0"/>
                  <a:ea typeface="Consolas" pitchFamily="34" charset="-122"/>
                  <a:cs typeface="Consolas" pitchFamily="34" charset="-120"/>
                </a:rPr>
                <a:t>)</a:t>
              </a:r>
              <a:endParaRPr lang="en-US" sz="1000" dirty="0"/>
            </a:p>
            <a:p>
              <a:r>
                <a:rPr lang="en-US" sz="1000" dirty="0">
                  <a:solidFill>
                    <a:srgbClr val="CADCFC"/>
                  </a:solidFill>
                  <a:latin typeface="Consolas" pitchFamily="34" charset="0"/>
                  <a:ea typeface="Consolas" pitchFamily="34" charset="-122"/>
                  <a:cs typeface="Consolas" pitchFamily="34" charset="-120"/>
                </a:rPr>
                <a:t>result = Packages.model_validate_json(</a:t>
              </a:r>
              <a:endParaRPr lang="en-US" sz="1000" dirty="0"/>
            </a:p>
            <a:p>
              <a:r>
                <a:rPr lang="en-US" sz="1000" dirty="0">
                  <a:solidFill>
                    <a:srgbClr val="CADCFC"/>
                  </a:solidFill>
                  <a:latin typeface="Consolas" pitchFamily="34" charset="0"/>
                  <a:ea typeface="Consolas" pitchFamily="34" charset="-122"/>
                  <a:cs typeface="Consolas" pitchFamily="34" charset="-120"/>
                </a:rPr>
                <a:t>    resp.choices[0].message.tool_calls[0].function.arguments</a:t>
              </a:r>
              <a:endParaRPr lang="en-US" sz="1000" dirty="0"/>
            </a:p>
            <a:p>
              <a:r>
                <a:rPr lang="en-US" sz="1000" dirty="0">
                  <a:solidFill>
                    <a:srgbClr val="CADCFC"/>
                  </a:solidFill>
                  <a:latin typeface="Consolas" pitchFamily="34" charset="0"/>
                  <a:ea typeface="Consolas" pitchFamily="34" charset="-122"/>
                  <a:cs typeface="Consolas" pitchFamily="34" charset="-120"/>
                </a:rPr>
                <a:t>)</a:t>
              </a:r>
              <a:endParaRPr lang="en-US" sz="1000" dirty="0"/>
            </a:p>
          </p:txBody>
        </p:sp>
        <p:sp>
          <p:nvSpPr>
            <p:cNvPr id="12" name="Shape 10"/>
            <p:cNvSpPr/>
            <p:nvPr/>
          </p:nvSpPr>
          <p:spPr>
            <a:xfrm>
              <a:off x="7437120" y="2198342"/>
              <a:ext cx="0" cy="414528"/>
            </a:xfrm>
            <a:prstGeom prst="line">
              <a:avLst/>
            </a:prstGeom>
            <a:noFill/>
            <a:ln w="19050">
              <a:solidFill>
                <a:srgbClr val="1E2761"/>
              </a:solidFill>
              <a:prstDash val="solid"/>
              <a:tailEnd type="arrow"/>
            </a:ln>
          </p:spPr>
        </p:sp>
        <p:sp>
          <p:nvSpPr>
            <p:cNvPr id="17" name="Shape 15"/>
            <p:cNvSpPr/>
            <p:nvPr/>
          </p:nvSpPr>
          <p:spPr>
            <a:xfrm>
              <a:off x="7437120" y="3295622"/>
              <a:ext cx="0" cy="560832"/>
            </a:xfrm>
            <a:prstGeom prst="line">
              <a:avLst/>
            </a:prstGeom>
            <a:noFill/>
            <a:ln w="19050">
              <a:solidFill>
                <a:srgbClr val="1E2761"/>
              </a:solidFill>
              <a:prstDash val="solid"/>
              <a:tailEnd type="arrow"/>
            </a:ln>
          </p:spPr>
        </p:sp>
        <p:sp>
          <p:nvSpPr>
            <p:cNvPr id="22" name="Shape 20"/>
            <p:cNvSpPr/>
            <p:nvPr/>
          </p:nvSpPr>
          <p:spPr>
            <a:xfrm>
              <a:off x="7437120" y="4392902"/>
              <a:ext cx="0" cy="512064"/>
            </a:xfrm>
            <a:prstGeom prst="line">
              <a:avLst/>
            </a:prstGeom>
            <a:noFill/>
            <a:ln w="19050">
              <a:solidFill>
                <a:srgbClr val="1E2761"/>
              </a:solidFill>
              <a:prstDash val="solid"/>
              <a:tailEnd type="arrow"/>
            </a:ln>
          </p:spPr>
        </p:sp>
        <p:sp>
          <p:nvSpPr>
            <p:cNvPr id="27" name="Shape 25"/>
            <p:cNvSpPr/>
            <p:nvPr/>
          </p:nvSpPr>
          <p:spPr>
            <a:xfrm>
              <a:off x="7437120" y="5490182"/>
              <a:ext cx="0" cy="475488"/>
            </a:xfrm>
            <a:prstGeom prst="line">
              <a:avLst/>
            </a:prstGeom>
            <a:noFill/>
            <a:ln w="19050">
              <a:solidFill>
                <a:srgbClr val="1E2761"/>
              </a:solidFill>
              <a:prstDash val="solid"/>
              <a:tailEnd type="arrow"/>
            </a:ln>
          </p:spPr>
        </p:sp>
      </p:grpSp>
      <p:pic>
        <p:nvPicPr>
          <p:cNvPr id="29" name="Google Shape;109;p20">
            <a:extLst>
              <a:ext uri="{FF2B5EF4-FFF2-40B4-BE49-F238E27FC236}">
                <a16:creationId xmlns:a16="http://schemas.microsoft.com/office/drawing/2014/main" id="{4CBAD520-ADD4-ED1C-A1CF-35FA22E7C0E1}"/>
              </a:ext>
            </a:extLst>
          </p:cNvPr>
          <p:cNvPicPr preferRelativeResize="0"/>
          <p:nvPr/>
        </p:nvPicPr>
        <p:blipFill>
          <a:blip r:embed="rId3">
            <a:alphaModFix/>
          </a:blip>
          <a:stretch>
            <a:fillRect/>
          </a:stretch>
        </p:blipFill>
        <p:spPr>
          <a:xfrm>
            <a:off x="8369126" y="0"/>
            <a:ext cx="774877" cy="867174"/>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77190" y="240030"/>
            <a:ext cx="7680960" cy="411480"/>
          </a:xfrm>
          <a:prstGeom prst="rect">
            <a:avLst/>
          </a:prstGeom>
          <a:noFill/>
          <a:ln/>
        </p:spPr>
        <p:txBody>
          <a:bodyPr wrap="square" lIns="0" tIns="0" rIns="0" bIns="0" rtlCol="0" anchor="ctr"/>
          <a:lstStyle/>
          <a:p>
            <a:r>
              <a:rPr lang="en-US" sz="2400" b="1" dirty="0">
                <a:solidFill>
                  <a:srgbClr val="1E2761"/>
                </a:solidFill>
                <a:latin typeface="Cambria" pitchFamily="34" charset="0"/>
                <a:ea typeface="Cambria" pitchFamily="34" charset="-122"/>
                <a:cs typeface="Cambria" pitchFamily="34" charset="-120"/>
              </a:rPr>
              <a:t>Structured Output Works on SLMs Too</a:t>
            </a:r>
            <a:endParaRPr lang="en-US" sz="2400" dirty="0"/>
          </a:p>
        </p:txBody>
      </p:sp>
      <p:sp>
        <p:nvSpPr>
          <p:cNvPr id="3" name="Text 1"/>
          <p:cNvSpPr/>
          <p:nvPr/>
        </p:nvSpPr>
        <p:spPr>
          <a:xfrm>
            <a:off x="377190" y="630936"/>
            <a:ext cx="7680960" cy="342900"/>
          </a:xfrm>
          <a:prstGeom prst="rect">
            <a:avLst/>
          </a:prstGeom>
          <a:noFill/>
          <a:ln/>
        </p:spPr>
        <p:txBody>
          <a:bodyPr wrap="square" lIns="0" tIns="0" rIns="0" bIns="0" rtlCol="0" anchor="ctr"/>
          <a:lstStyle/>
          <a:p>
            <a:r>
              <a:rPr lang="en-US" sz="1088" dirty="0">
                <a:solidFill>
                  <a:srgbClr val="3A3A3A"/>
                </a:solidFill>
                <a:latin typeface="Calibri" pitchFamily="34" charset="0"/>
                <a:ea typeface="Calibri" pitchFamily="34" charset="-122"/>
                <a:cs typeface="Calibri" pitchFamily="34" charset="-120"/>
              </a:rPr>
              <a:t>Ollama's native format parameter forces small local models to conform to a JSON Schema — no tool-calling API needed:</a:t>
            </a:r>
            <a:endParaRPr lang="en-US" sz="1088" dirty="0"/>
          </a:p>
        </p:txBody>
      </p:sp>
      <p:sp>
        <p:nvSpPr>
          <p:cNvPr id="4" name="Shape 2"/>
          <p:cNvSpPr/>
          <p:nvPr/>
        </p:nvSpPr>
        <p:spPr>
          <a:xfrm>
            <a:off x="377190" y="1062990"/>
            <a:ext cx="4869180" cy="4080510"/>
          </a:xfrm>
          <a:prstGeom prst="roundRect">
            <a:avLst>
              <a:gd name="adj" fmla="val 1495"/>
            </a:avLst>
          </a:prstGeom>
          <a:solidFill>
            <a:srgbClr val="141B3D"/>
          </a:solidFill>
          <a:ln/>
          <a:effectLst>
            <a:outerShdw blurRad="101600" dist="38100" dir="5400000" algn="bl" rotWithShape="0">
              <a:srgbClr val="000000">
                <a:alpha val="18000"/>
              </a:srgbClr>
            </a:outerShdw>
          </a:effectLst>
        </p:spPr>
      </p:sp>
      <p:sp>
        <p:nvSpPr>
          <p:cNvPr id="5" name="Text 3"/>
          <p:cNvSpPr/>
          <p:nvPr/>
        </p:nvSpPr>
        <p:spPr>
          <a:xfrm>
            <a:off x="569214" y="1158209"/>
            <a:ext cx="4485132" cy="3394710"/>
          </a:xfrm>
          <a:prstGeom prst="rect">
            <a:avLst/>
          </a:prstGeom>
          <a:noFill/>
          <a:ln/>
        </p:spPr>
        <p:txBody>
          <a:bodyPr wrap="square" lIns="0" tIns="0" rIns="0" bIns="0" rtlCol="0" anchor="t"/>
          <a:lstStyle/>
          <a:p>
            <a:pPr>
              <a:lnSpc>
                <a:spcPct val="112000"/>
              </a:lnSpc>
            </a:pPr>
            <a:r>
              <a:rPr lang="en-US" sz="1000" dirty="0">
                <a:solidFill>
                  <a:srgbClr val="FFFFFF"/>
                </a:solidFill>
                <a:latin typeface="Courier New" pitchFamily="34" charset="0"/>
                <a:ea typeface="Courier New" pitchFamily="34" charset="-122"/>
                <a:cs typeface="Courier New" pitchFamily="34" charset="-120"/>
              </a:rPr>
              <a:t>import ollama</a:t>
            </a:r>
            <a:endParaRPr lang="en-US" sz="1000" dirty="0"/>
          </a:p>
          <a:p>
            <a:pPr>
              <a:lnSpc>
                <a:spcPct val="112000"/>
              </a:lnSpc>
            </a:pPr>
            <a:r>
              <a:rPr lang="en-US" sz="1000" dirty="0">
                <a:solidFill>
                  <a:srgbClr val="FFFFFF"/>
                </a:solidFill>
                <a:latin typeface="Courier New" pitchFamily="34" charset="0"/>
                <a:ea typeface="Courier New" pitchFamily="34" charset="-122"/>
                <a:cs typeface="Courier New" pitchFamily="34" charset="-120"/>
              </a:rPr>
              <a:t>from typing import List</a:t>
            </a:r>
            <a:endParaRPr lang="en-US" sz="1000" dirty="0"/>
          </a:p>
          <a:p>
            <a:pPr>
              <a:lnSpc>
                <a:spcPct val="112000"/>
              </a:lnSpc>
            </a:pPr>
            <a:r>
              <a:rPr lang="en-US" sz="1000" dirty="0">
                <a:solidFill>
                  <a:srgbClr val="FFFFFF"/>
                </a:solidFill>
                <a:latin typeface="Courier New" pitchFamily="34" charset="0"/>
                <a:ea typeface="Courier New" pitchFamily="34" charset="-122"/>
                <a:cs typeface="Courier New" pitchFamily="34" charset="-120"/>
              </a:rPr>
              <a:t>from pydantic import BaseModel</a:t>
            </a:r>
            <a:endParaRPr lang="en-US" sz="1000" dirty="0"/>
          </a:p>
          <a:p>
            <a:pPr>
              <a:lnSpc>
                <a:spcPct val="112000"/>
              </a:lnSpc>
            </a:pPr>
            <a:r>
              <a:rPr lang="en-US" sz="1000" dirty="0">
                <a:solidFill>
                  <a:srgbClr val="FFFFFF"/>
                </a:solidFill>
                <a:latin typeface="Courier New" pitchFamily="34" charset="0"/>
                <a:ea typeface="Courier New" pitchFamily="34" charset="-122"/>
                <a:cs typeface="Courier New" pitchFamily="34" charset="-120"/>
              </a:rPr>
              <a:t> </a:t>
            </a:r>
            <a:endParaRPr lang="en-US" sz="1000" dirty="0"/>
          </a:p>
          <a:p>
            <a:pPr>
              <a:lnSpc>
                <a:spcPct val="112000"/>
              </a:lnSpc>
            </a:pPr>
            <a:r>
              <a:rPr lang="en-US" sz="1000" dirty="0">
                <a:solidFill>
                  <a:srgbClr val="C9A648"/>
                </a:solidFill>
                <a:latin typeface="Courier New" pitchFamily="34" charset="0"/>
                <a:ea typeface="Courier New" pitchFamily="34" charset="-122"/>
                <a:cs typeface="Courier New" pitchFamily="34" charset="-120"/>
              </a:rPr>
              <a:t>class PythonPackage(BaseModel):</a:t>
            </a:r>
            <a:endParaRPr lang="en-US" sz="1000" dirty="0"/>
          </a:p>
          <a:p>
            <a:pPr>
              <a:lnSpc>
                <a:spcPct val="112000"/>
              </a:lnSpc>
            </a:pPr>
            <a:r>
              <a:rPr lang="en-US" sz="1000" dirty="0">
                <a:solidFill>
                  <a:srgbClr val="FFFFFF"/>
                </a:solidFill>
                <a:latin typeface="Courier New" pitchFamily="34" charset="0"/>
                <a:ea typeface="Courier New" pitchFamily="34" charset="-122"/>
                <a:cs typeface="Courier New" pitchFamily="34" charset="-120"/>
              </a:rPr>
              <a:t>    name: str</a:t>
            </a:r>
            <a:endParaRPr lang="en-US" sz="1000" dirty="0"/>
          </a:p>
          <a:p>
            <a:pPr>
              <a:lnSpc>
                <a:spcPct val="112000"/>
              </a:lnSpc>
            </a:pPr>
            <a:r>
              <a:rPr lang="en-US" sz="1000" dirty="0">
                <a:solidFill>
                  <a:srgbClr val="FFFFFF"/>
                </a:solidFill>
                <a:latin typeface="Courier New" pitchFamily="34" charset="0"/>
                <a:ea typeface="Courier New" pitchFamily="34" charset="-122"/>
                <a:cs typeface="Courier New" pitchFamily="34" charset="-120"/>
              </a:rPr>
              <a:t>    author: str</a:t>
            </a:r>
            <a:endParaRPr lang="en-US" sz="1000" dirty="0"/>
          </a:p>
          <a:p>
            <a:pPr>
              <a:lnSpc>
                <a:spcPct val="112000"/>
              </a:lnSpc>
            </a:pPr>
            <a:r>
              <a:rPr lang="en-US" sz="1000" dirty="0">
                <a:solidFill>
                  <a:srgbClr val="FFFFFF"/>
                </a:solidFill>
                <a:latin typeface="Courier New" pitchFamily="34" charset="0"/>
                <a:ea typeface="Courier New" pitchFamily="34" charset="-122"/>
                <a:cs typeface="Courier New" pitchFamily="34" charset="-120"/>
              </a:rPr>
              <a:t> </a:t>
            </a:r>
            <a:endParaRPr lang="en-US" sz="1000" dirty="0"/>
          </a:p>
          <a:p>
            <a:pPr>
              <a:lnSpc>
                <a:spcPct val="112000"/>
              </a:lnSpc>
            </a:pPr>
            <a:r>
              <a:rPr lang="en-US" sz="1000" dirty="0">
                <a:solidFill>
                  <a:srgbClr val="C9A648"/>
                </a:solidFill>
                <a:latin typeface="Courier New" pitchFamily="34" charset="0"/>
                <a:ea typeface="Courier New" pitchFamily="34" charset="-122"/>
                <a:cs typeface="Courier New" pitchFamily="34" charset="-120"/>
              </a:rPr>
              <a:t>class Packages(BaseModel):</a:t>
            </a:r>
            <a:endParaRPr lang="en-US" sz="1000" dirty="0"/>
          </a:p>
          <a:p>
            <a:pPr>
              <a:lnSpc>
                <a:spcPct val="112000"/>
              </a:lnSpc>
            </a:pPr>
            <a:r>
              <a:rPr lang="en-US" sz="1000" dirty="0">
                <a:solidFill>
                  <a:srgbClr val="FFFFFF"/>
                </a:solidFill>
                <a:latin typeface="Courier New" pitchFamily="34" charset="0"/>
                <a:ea typeface="Courier New" pitchFamily="34" charset="-122"/>
                <a:cs typeface="Courier New" pitchFamily="34" charset="-120"/>
              </a:rPr>
              <a:t>    packages: List[PythonPackage]</a:t>
            </a:r>
            <a:endParaRPr lang="en-US" sz="1000" dirty="0"/>
          </a:p>
          <a:p>
            <a:pPr>
              <a:lnSpc>
                <a:spcPct val="112000"/>
              </a:lnSpc>
            </a:pPr>
            <a:r>
              <a:rPr lang="en-US" sz="1000" dirty="0">
                <a:solidFill>
                  <a:srgbClr val="FFFFFF"/>
                </a:solidFill>
                <a:latin typeface="Courier New" pitchFamily="34" charset="0"/>
                <a:ea typeface="Courier New" pitchFamily="34" charset="-122"/>
                <a:cs typeface="Courier New" pitchFamily="34" charset="-120"/>
              </a:rPr>
              <a:t> </a:t>
            </a:r>
            <a:endParaRPr lang="en-US" sz="1000" dirty="0"/>
          </a:p>
          <a:p>
            <a:pPr>
              <a:lnSpc>
                <a:spcPct val="112000"/>
              </a:lnSpc>
            </a:pPr>
            <a:r>
              <a:rPr lang="en-US" sz="1000" dirty="0">
                <a:solidFill>
                  <a:srgbClr val="FFFFFF"/>
                </a:solidFill>
                <a:latin typeface="Courier New" pitchFamily="34" charset="0"/>
                <a:ea typeface="Courier New" pitchFamily="34" charset="-122"/>
                <a:cs typeface="Courier New" pitchFamily="34" charset="-120"/>
              </a:rPr>
              <a:t>resp = ollama.chat(</a:t>
            </a:r>
            <a:endParaRPr lang="en-US" sz="1000" dirty="0"/>
          </a:p>
          <a:p>
            <a:pPr>
              <a:lnSpc>
                <a:spcPct val="112000"/>
              </a:lnSpc>
            </a:pPr>
            <a:r>
              <a:rPr lang="en-US" sz="1000" dirty="0">
                <a:solidFill>
                  <a:srgbClr val="C9A648"/>
                </a:solidFill>
                <a:latin typeface="Courier New" pitchFamily="34" charset="0"/>
                <a:ea typeface="Courier New" pitchFamily="34" charset="-122"/>
                <a:cs typeface="Courier New" pitchFamily="34" charset="-120"/>
              </a:rPr>
              <a:t>    model="qwen3:4b",</a:t>
            </a:r>
            <a:endParaRPr lang="en-US" sz="1000" dirty="0"/>
          </a:p>
          <a:p>
            <a:pPr>
              <a:lnSpc>
                <a:spcPct val="112000"/>
              </a:lnSpc>
            </a:pPr>
            <a:r>
              <a:rPr lang="en-US" sz="1000" dirty="0">
                <a:solidFill>
                  <a:srgbClr val="FFFFFF"/>
                </a:solidFill>
                <a:latin typeface="Courier New" pitchFamily="34" charset="0"/>
                <a:ea typeface="Courier New" pitchFamily="34" charset="-122"/>
                <a:cs typeface="Courier New" pitchFamily="34" charset="-120"/>
              </a:rPr>
              <a:t>    messages=[{"role": "user",</a:t>
            </a:r>
            <a:endParaRPr lang="en-US" sz="1000" dirty="0"/>
          </a:p>
          <a:p>
            <a:pPr>
              <a:lnSpc>
                <a:spcPct val="112000"/>
              </a:lnSpc>
            </a:pPr>
            <a:r>
              <a:rPr lang="en-US" sz="1000" dirty="0">
                <a:solidFill>
                  <a:srgbClr val="FFFFFF"/>
                </a:solidFill>
                <a:latin typeface="Courier New" pitchFamily="34" charset="0"/>
                <a:ea typeface="Courier New" pitchFamily="34" charset="-122"/>
                <a:cs typeface="Courier New" pitchFamily="34" charset="-120"/>
              </a:rPr>
              <a:t>               "content": "Pydantic and FastAPI?"}],</a:t>
            </a:r>
            <a:endParaRPr lang="en-US" sz="1000" dirty="0"/>
          </a:p>
          <a:p>
            <a:pPr>
              <a:lnSpc>
                <a:spcPct val="112000"/>
              </a:lnSpc>
            </a:pPr>
            <a:r>
              <a:rPr lang="en-US" sz="1000" dirty="0">
                <a:solidFill>
                  <a:srgbClr val="C9A648"/>
                </a:solidFill>
                <a:latin typeface="Courier New" pitchFamily="34" charset="0"/>
                <a:ea typeface="Courier New" pitchFamily="34" charset="-122"/>
                <a:cs typeface="Courier New" pitchFamily="34" charset="-120"/>
              </a:rPr>
              <a:t>    format=Packages.model_json_schema(),</a:t>
            </a:r>
            <a:endParaRPr lang="en-US" sz="1000" dirty="0"/>
          </a:p>
          <a:p>
            <a:pPr>
              <a:lnSpc>
                <a:spcPct val="112000"/>
              </a:lnSpc>
            </a:pPr>
            <a:r>
              <a:rPr lang="en-US" sz="1000" dirty="0">
                <a:solidFill>
                  <a:srgbClr val="FFFFFF"/>
                </a:solidFill>
                <a:latin typeface="Courier New" pitchFamily="34" charset="0"/>
                <a:ea typeface="Courier New" pitchFamily="34" charset="-122"/>
                <a:cs typeface="Courier New" pitchFamily="34" charset="-120"/>
              </a:rPr>
              <a:t>)</a:t>
            </a:r>
            <a:endParaRPr lang="en-US" sz="1000" dirty="0"/>
          </a:p>
          <a:p>
            <a:pPr>
              <a:lnSpc>
                <a:spcPct val="112000"/>
              </a:lnSpc>
            </a:pPr>
            <a:r>
              <a:rPr lang="en-US" sz="1000" dirty="0">
                <a:solidFill>
                  <a:srgbClr val="FFFFFF"/>
                </a:solidFill>
                <a:latin typeface="Courier New" pitchFamily="34" charset="0"/>
                <a:ea typeface="Courier New" pitchFamily="34" charset="-122"/>
                <a:cs typeface="Courier New" pitchFamily="34" charset="-120"/>
              </a:rPr>
              <a:t>print(resp.message.content)</a:t>
            </a:r>
            <a:endParaRPr lang="en-US" sz="1000" dirty="0"/>
          </a:p>
          <a:p>
            <a:pPr>
              <a:lnSpc>
                <a:spcPct val="112000"/>
              </a:lnSpc>
            </a:pPr>
            <a:r>
              <a:rPr lang="en-US" sz="1000" dirty="0">
                <a:solidFill>
                  <a:srgbClr val="FFFFFF"/>
                </a:solidFill>
                <a:latin typeface="Courier New" pitchFamily="34" charset="0"/>
                <a:ea typeface="Courier New" pitchFamily="34" charset="-122"/>
                <a:cs typeface="Courier New" pitchFamily="34" charset="-120"/>
              </a:rPr>
              <a:t> </a:t>
            </a:r>
            <a:endParaRPr lang="en-US" sz="1000" dirty="0"/>
          </a:p>
          <a:p>
            <a:pPr>
              <a:lnSpc>
                <a:spcPct val="112000"/>
              </a:lnSpc>
            </a:pPr>
            <a:r>
              <a:rPr lang="en-US" sz="1000" dirty="0">
                <a:solidFill>
                  <a:srgbClr val="FFFFFF"/>
                </a:solidFill>
                <a:latin typeface="Courier New" pitchFamily="34" charset="0"/>
                <a:ea typeface="Courier New" pitchFamily="34" charset="-122"/>
                <a:cs typeface="Courier New" pitchFamily="34" charset="-120"/>
              </a:rPr>
              <a:t>result = Packages.model_validate_json(</a:t>
            </a:r>
            <a:endParaRPr lang="en-US" sz="1000" dirty="0"/>
          </a:p>
          <a:p>
            <a:pPr>
              <a:lnSpc>
                <a:spcPct val="112000"/>
              </a:lnSpc>
            </a:pPr>
            <a:r>
              <a:rPr lang="en-US" sz="1000" dirty="0">
                <a:solidFill>
                  <a:srgbClr val="FFFFFF"/>
                </a:solidFill>
                <a:latin typeface="Courier New" pitchFamily="34" charset="0"/>
                <a:ea typeface="Courier New" pitchFamily="34" charset="-122"/>
                <a:cs typeface="Courier New" pitchFamily="34" charset="-120"/>
              </a:rPr>
              <a:t>    resp.message.content</a:t>
            </a:r>
            <a:endParaRPr lang="en-US" sz="1000" dirty="0"/>
          </a:p>
          <a:p>
            <a:pPr>
              <a:lnSpc>
                <a:spcPct val="112000"/>
              </a:lnSpc>
            </a:pPr>
            <a:r>
              <a:rPr lang="en-US" sz="1000" dirty="0">
                <a:solidFill>
                  <a:srgbClr val="FFFFFF"/>
                </a:solidFill>
                <a:latin typeface="Courier New" pitchFamily="34" charset="0"/>
                <a:ea typeface="Courier New" pitchFamily="34" charset="-122"/>
                <a:cs typeface="Courier New" pitchFamily="34" charset="-120"/>
              </a:rPr>
              <a:t>)</a:t>
            </a:r>
            <a:endParaRPr lang="en-US" sz="1000" dirty="0"/>
          </a:p>
          <a:p>
            <a:pPr>
              <a:lnSpc>
                <a:spcPct val="112000"/>
              </a:lnSpc>
            </a:pPr>
            <a:r>
              <a:rPr lang="en-US" sz="1000" dirty="0">
                <a:solidFill>
                  <a:srgbClr val="FFFFFF"/>
                </a:solidFill>
                <a:latin typeface="Courier New" pitchFamily="34" charset="0"/>
                <a:ea typeface="Courier New" pitchFamily="34" charset="-122"/>
                <a:cs typeface="Courier New" pitchFamily="34" charset="-120"/>
              </a:rPr>
              <a:t>print(result)</a:t>
            </a:r>
            <a:endParaRPr lang="en-US" sz="1000" dirty="0"/>
          </a:p>
        </p:txBody>
      </p:sp>
      <p:sp>
        <p:nvSpPr>
          <p:cNvPr id="6" name="Shape 4"/>
          <p:cNvSpPr/>
          <p:nvPr/>
        </p:nvSpPr>
        <p:spPr>
          <a:xfrm>
            <a:off x="5452110" y="1062990"/>
            <a:ext cx="3291840" cy="809244"/>
          </a:xfrm>
          <a:prstGeom prst="roundRect">
            <a:avLst>
              <a:gd name="adj" fmla="val 5085"/>
            </a:avLst>
          </a:prstGeom>
          <a:solidFill>
            <a:srgbClr val="F4EEDD"/>
          </a:solidFill>
          <a:ln w="12700">
            <a:solidFill>
              <a:srgbClr val="1E2761"/>
            </a:solidFill>
            <a:prstDash val="solid"/>
          </a:ln>
        </p:spPr>
      </p:sp>
      <p:sp>
        <p:nvSpPr>
          <p:cNvPr id="7" name="Text 5"/>
          <p:cNvSpPr/>
          <p:nvPr/>
        </p:nvSpPr>
        <p:spPr>
          <a:xfrm>
            <a:off x="5602986" y="1131570"/>
            <a:ext cx="2990088" cy="219456"/>
          </a:xfrm>
          <a:prstGeom prst="rect">
            <a:avLst/>
          </a:prstGeom>
          <a:noFill/>
          <a:ln/>
        </p:spPr>
        <p:txBody>
          <a:bodyPr wrap="square" lIns="0" tIns="0" rIns="0" bIns="0" rtlCol="0" anchor="ctr"/>
          <a:lstStyle/>
          <a:p>
            <a:r>
              <a:rPr lang="en-US" sz="1100" b="1" dirty="0">
                <a:solidFill>
                  <a:srgbClr val="1E2761"/>
                </a:solidFill>
                <a:latin typeface="Courier New" pitchFamily="34" charset="0"/>
                <a:ea typeface="Courier New" pitchFamily="34" charset="-122"/>
                <a:cs typeface="Courier New" pitchFamily="34" charset="-120"/>
              </a:rPr>
              <a:t>qwen3:4b</a:t>
            </a:r>
            <a:endParaRPr lang="en-US" sz="1100" dirty="0"/>
          </a:p>
        </p:txBody>
      </p:sp>
      <p:sp>
        <p:nvSpPr>
          <p:cNvPr id="8" name="Text 6"/>
          <p:cNvSpPr/>
          <p:nvPr/>
        </p:nvSpPr>
        <p:spPr>
          <a:xfrm>
            <a:off x="5602986" y="1351026"/>
            <a:ext cx="2990088" cy="466344"/>
          </a:xfrm>
          <a:prstGeom prst="rect">
            <a:avLst/>
          </a:prstGeom>
          <a:noFill/>
          <a:ln/>
        </p:spPr>
        <p:txBody>
          <a:bodyPr wrap="square" lIns="0" tIns="0" rIns="0" bIns="0" rtlCol="0" anchor="t"/>
          <a:lstStyle/>
          <a:p>
            <a:r>
              <a:rPr lang="en-US" sz="1000" dirty="0">
                <a:solidFill>
                  <a:srgbClr val="2B2B2B"/>
                </a:solidFill>
                <a:latin typeface="Calibri" pitchFamily="34" charset="0"/>
                <a:ea typeface="Calibri" pitchFamily="34" charset="-122"/>
                <a:cs typeface="Calibri" pitchFamily="34" charset="-120"/>
              </a:rPr>
              <a:t>Only 4B parameters, running fully local via Ollama — no OpenAI-scale model or cloud API required.</a:t>
            </a:r>
            <a:endParaRPr lang="en-US" sz="1000" dirty="0"/>
          </a:p>
        </p:txBody>
      </p:sp>
      <p:sp>
        <p:nvSpPr>
          <p:cNvPr id="9" name="Shape 7"/>
          <p:cNvSpPr/>
          <p:nvPr/>
        </p:nvSpPr>
        <p:spPr>
          <a:xfrm>
            <a:off x="5452110" y="1964817"/>
            <a:ext cx="3291840" cy="809244"/>
          </a:xfrm>
          <a:prstGeom prst="roundRect">
            <a:avLst>
              <a:gd name="adj" fmla="val 5085"/>
            </a:avLst>
          </a:prstGeom>
          <a:solidFill>
            <a:srgbClr val="F4EEDD"/>
          </a:solidFill>
          <a:ln w="12700">
            <a:solidFill>
              <a:srgbClr val="1E2761"/>
            </a:solidFill>
            <a:prstDash val="solid"/>
          </a:ln>
        </p:spPr>
      </p:sp>
      <p:sp>
        <p:nvSpPr>
          <p:cNvPr id="10" name="Text 8"/>
          <p:cNvSpPr/>
          <p:nvPr/>
        </p:nvSpPr>
        <p:spPr>
          <a:xfrm>
            <a:off x="5602986" y="2033397"/>
            <a:ext cx="2990088" cy="219456"/>
          </a:xfrm>
          <a:prstGeom prst="rect">
            <a:avLst/>
          </a:prstGeom>
          <a:noFill/>
          <a:ln/>
        </p:spPr>
        <p:txBody>
          <a:bodyPr wrap="square" lIns="0" tIns="0" rIns="0" bIns="0" rtlCol="0" anchor="ctr"/>
          <a:lstStyle/>
          <a:p>
            <a:r>
              <a:rPr lang="en-US" sz="1100" b="1" dirty="0">
                <a:solidFill>
                  <a:srgbClr val="1E2761"/>
                </a:solidFill>
                <a:latin typeface="Courier New" pitchFamily="34" charset="0"/>
                <a:ea typeface="Courier New" pitchFamily="34" charset="-122"/>
                <a:cs typeface="Courier New" pitchFamily="34" charset="-120"/>
              </a:rPr>
              <a:t>Packages.model_json_schema()</a:t>
            </a:r>
            <a:endParaRPr lang="en-US" sz="1100" dirty="0"/>
          </a:p>
        </p:txBody>
      </p:sp>
      <p:sp>
        <p:nvSpPr>
          <p:cNvPr id="11" name="Text 9"/>
          <p:cNvSpPr/>
          <p:nvPr/>
        </p:nvSpPr>
        <p:spPr>
          <a:xfrm>
            <a:off x="5602986" y="2252853"/>
            <a:ext cx="2990088" cy="466344"/>
          </a:xfrm>
          <a:prstGeom prst="rect">
            <a:avLst/>
          </a:prstGeom>
          <a:noFill/>
          <a:ln/>
        </p:spPr>
        <p:txBody>
          <a:bodyPr wrap="square" lIns="0" tIns="0" rIns="0" bIns="0" rtlCol="0" anchor="t"/>
          <a:lstStyle/>
          <a:p>
            <a:r>
              <a:rPr lang="en-US" sz="1000" dirty="0">
                <a:solidFill>
                  <a:srgbClr val="2B2B2B"/>
                </a:solidFill>
                <a:latin typeface="Calibri" pitchFamily="34" charset="0"/>
                <a:ea typeface="Calibri" pitchFamily="34" charset="-122"/>
                <a:cs typeface="Calibri" pitchFamily="34" charset="-120"/>
              </a:rPr>
              <a:t>Pydantic still generates the schema. Nested $defs for the inner PythonPackage list are handled automatically.</a:t>
            </a:r>
            <a:endParaRPr lang="en-US" sz="1000" dirty="0"/>
          </a:p>
        </p:txBody>
      </p:sp>
      <p:sp>
        <p:nvSpPr>
          <p:cNvPr id="12" name="Shape 10"/>
          <p:cNvSpPr/>
          <p:nvPr/>
        </p:nvSpPr>
        <p:spPr>
          <a:xfrm>
            <a:off x="5452110" y="2866644"/>
            <a:ext cx="3291840" cy="809244"/>
          </a:xfrm>
          <a:prstGeom prst="roundRect">
            <a:avLst>
              <a:gd name="adj" fmla="val 5085"/>
            </a:avLst>
          </a:prstGeom>
          <a:solidFill>
            <a:srgbClr val="F4EEDD"/>
          </a:solidFill>
          <a:ln w="12700">
            <a:solidFill>
              <a:srgbClr val="1E2761"/>
            </a:solidFill>
            <a:prstDash val="solid"/>
          </a:ln>
        </p:spPr>
      </p:sp>
      <p:sp>
        <p:nvSpPr>
          <p:cNvPr id="13" name="Text 11"/>
          <p:cNvSpPr/>
          <p:nvPr/>
        </p:nvSpPr>
        <p:spPr>
          <a:xfrm>
            <a:off x="5602986" y="2935224"/>
            <a:ext cx="2990088" cy="219456"/>
          </a:xfrm>
          <a:prstGeom prst="rect">
            <a:avLst/>
          </a:prstGeom>
          <a:noFill/>
          <a:ln/>
        </p:spPr>
        <p:txBody>
          <a:bodyPr wrap="square" lIns="0" tIns="0" rIns="0" bIns="0" rtlCol="0" anchor="ctr"/>
          <a:lstStyle/>
          <a:p>
            <a:r>
              <a:rPr lang="en-US" sz="1100" b="1" dirty="0">
                <a:solidFill>
                  <a:srgbClr val="1E2761"/>
                </a:solidFill>
                <a:latin typeface="Courier New" pitchFamily="34" charset="0"/>
                <a:ea typeface="Courier New" pitchFamily="34" charset="-122"/>
                <a:cs typeface="Courier New" pitchFamily="34" charset="-120"/>
              </a:rPr>
              <a:t>format=schema</a:t>
            </a:r>
            <a:endParaRPr lang="en-US" sz="1100" dirty="0"/>
          </a:p>
        </p:txBody>
      </p:sp>
      <p:sp>
        <p:nvSpPr>
          <p:cNvPr id="14" name="Text 12"/>
          <p:cNvSpPr/>
          <p:nvPr/>
        </p:nvSpPr>
        <p:spPr>
          <a:xfrm>
            <a:off x="5602986" y="3154680"/>
            <a:ext cx="2990088" cy="466344"/>
          </a:xfrm>
          <a:prstGeom prst="rect">
            <a:avLst/>
          </a:prstGeom>
          <a:noFill/>
          <a:ln/>
        </p:spPr>
        <p:txBody>
          <a:bodyPr wrap="square" lIns="0" tIns="0" rIns="0" bIns="0" rtlCol="0" anchor="t"/>
          <a:lstStyle/>
          <a:p>
            <a:r>
              <a:rPr lang="en-US" sz="1000" dirty="0">
                <a:solidFill>
                  <a:srgbClr val="2B2B2B"/>
                </a:solidFill>
                <a:latin typeface="Calibri" pitchFamily="34" charset="0"/>
                <a:ea typeface="Calibri" pitchFamily="34" charset="-122"/>
                <a:cs typeface="Calibri" pitchFamily="34" charset="-120"/>
              </a:rPr>
              <a:t>Ollama's native structured-output hook — constrains decoding directly, more reliable on small models than forced tool_choice.</a:t>
            </a:r>
            <a:endParaRPr lang="en-US" sz="1000" dirty="0"/>
          </a:p>
        </p:txBody>
      </p:sp>
      <p:sp>
        <p:nvSpPr>
          <p:cNvPr id="15" name="Shape 13"/>
          <p:cNvSpPr/>
          <p:nvPr/>
        </p:nvSpPr>
        <p:spPr>
          <a:xfrm>
            <a:off x="5452110" y="3768471"/>
            <a:ext cx="3291840" cy="809244"/>
          </a:xfrm>
          <a:prstGeom prst="roundRect">
            <a:avLst>
              <a:gd name="adj" fmla="val 5085"/>
            </a:avLst>
          </a:prstGeom>
          <a:solidFill>
            <a:srgbClr val="F4EEDD"/>
          </a:solidFill>
          <a:ln w="12700">
            <a:solidFill>
              <a:srgbClr val="1E2761"/>
            </a:solidFill>
            <a:prstDash val="solid"/>
          </a:ln>
        </p:spPr>
      </p:sp>
      <p:sp>
        <p:nvSpPr>
          <p:cNvPr id="16" name="Text 14"/>
          <p:cNvSpPr/>
          <p:nvPr/>
        </p:nvSpPr>
        <p:spPr>
          <a:xfrm>
            <a:off x="5602986" y="3837051"/>
            <a:ext cx="2990088" cy="219456"/>
          </a:xfrm>
          <a:prstGeom prst="rect">
            <a:avLst/>
          </a:prstGeom>
          <a:noFill/>
          <a:ln/>
        </p:spPr>
        <p:txBody>
          <a:bodyPr wrap="square" lIns="0" tIns="0" rIns="0" bIns="0" rtlCol="0" anchor="ctr"/>
          <a:lstStyle/>
          <a:p>
            <a:r>
              <a:rPr lang="en-US" sz="1100" b="1" dirty="0">
                <a:solidFill>
                  <a:srgbClr val="1E2761"/>
                </a:solidFill>
                <a:latin typeface="Courier New" pitchFamily="34" charset="0"/>
                <a:ea typeface="Courier New" pitchFamily="34" charset="-122"/>
                <a:cs typeface="Courier New" pitchFamily="34" charset="-120"/>
              </a:rPr>
              <a:t>model_validate_json()</a:t>
            </a:r>
            <a:endParaRPr lang="en-US" sz="1100" dirty="0"/>
          </a:p>
        </p:txBody>
      </p:sp>
      <p:sp>
        <p:nvSpPr>
          <p:cNvPr id="17" name="Text 15"/>
          <p:cNvSpPr/>
          <p:nvPr/>
        </p:nvSpPr>
        <p:spPr>
          <a:xfrm>
            <a:off x="5602986" y="4056507"/>
            <a:ext cx="2990088" cy="466344"/>
          </a:xfrm>
          <a:prstGeom prst="rect">
            <a:avLst/>
          </a:prstGeom>
          <a:noFill/>
          <a:ln/>
        </p:spPr>
        <p:txBody>
          <a:bodyPr wrap="square" lIns="0" tIns="0" rIns="0" bIns="0" rtlCol="0" anchor="t"/>
          <a:lstStyle/>
          <a:p>
            <a:r>
              <a:rPr lang="en-US" sz="1000" dirty="0">
                <a:solidFill>
                  <a:srgbClr val="2B2B2B"/>
                </a:solidFill>
                <a:latin typeface="Calibri" pitchFamily="34" charset="0"/>
                <a:ea typeface="Calibri" pitchFamily="34" charset="-122"/>
                <a:cs typeface="Calibri" pitchFamily="34" charset="-120"/>
              </a:rPr>
              <a:t>Same validation step as the cloud version: parses and type-checks the SLM's output into a real Packages instance.</a:t>
            </a:r>
            <a:endParaRPr lang="en-US" sz="10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11480" y="146304"/>
            <a:ext cx="8321040" cy="566928"/>
          </a:xfrm>
          <a:prstGeom prst="rect">
            <a:avLst/>
          </a:prstGeom>
          <a:noFill/>
          <a:ln/>
        </p:spPr>
        <p:txBody>
          <a:bodyPr wrap="square" lIns="0" tIns="0" rIns="0" bIns="0" rtlCol="0" anchor="ctr"/>
          <a:lstStyle/>
          <a:p>
            <a:r>
              <a:rPr lang="en-US" sz="2500" b="1" dirty="0">
                <a:solidFill>
                  <a:srgbClr val="1A1F36"/>
                </a:solidFill>
                <a:latin typeface="Georgia" pitchFamily="34" charset="0"/>
                <a:ea typeface="Georgia" pitchFamily="34" charset="-122"/>
                <a:cs typeface="Georgia" pitchFamily="34" charset="-120"/>
              </a:rPr>
              <a:t>Instructor: The Cleanest API</a:t>
            </a:r>
            <a:endParaRPr lang="en-US" sz="2500" dirty="0"/>
          </a:p>
        </p:txBody>
      </p:sp>
      <p:sp>
        <p:nvSpPr>
          <p:cNvPr id="4" name="Text 2"/>
          <p:cNvSpPr/>
          <p:nvPr/>
        </p:nvSpPr>
        <p:spPr>
          <a:xfrm>
            <a:off x="411480" y="641972"/>
            <a:ext cx="8321040" cy="402336"/>
          </a:xfrm>
          <a:prstGeom prst="rect">
            <a:avLst/>
          </a:prstGeom>
          <a:noFill/>
          <a:ln/>
        </p:spPr>
        <p:txBody>
          <a:bodyPr wrap="square" rtlCol="0" anchor="ctr"/>
          <a:lstStyle/>
          <a:p>
            <a:r>
              <a:rPr lang="en-US" sz="1300" dirty="0">
                <a:solidFill>
                  <a:srgbClr val="1A1F36"/>
                </a:solidFill>
                <a:latin typeface="Calibri" pitchFamily="34" charset="0"/>
                <a:ea typeface="Calibri" pitchFamily="34" charset="-122"/>
                <a:cs typeface="Calibri" pitchFamily="34" charset="-120"/>
              </a:rPr>
              <a:t>The instructor library wraps OpenAI to handle schema generation, tool calling, and validation automatically:</a:t>
            </a:r>
            <a:endParaRPr lang="en-US" sz="1300" dirty="0"/>
          </a:p>
        </p:txBody>
      </p:sp>
      <p:sp>
        <p:nvSpPr>
          <p:cNvPr id="8" name="Shape 6"/>
          <p:cNvSpPr/>
          <p:nvPr/>
        </p:nvSpPr>
        <p:spPr>
          <a:xfrm>
            <a:off x="5577840" y="1243584"/>
            <a:ext cx="3246120" cy="731520"/>
          </a:xfrm>
          <a:prstGeom prst="rect">
            <a:avLst/>
          </a:prstGeom>
          <a:solidFill>
            <a:srgbClr val="F7F3EA"/>
          </a:solidFill>
          <a:ln w="19050">
            <a:solidFill>
              <a:srgbClr val="1E2761"/>
            </a:solidFill>
            <a:prstDash val="solid"/>
          </a:ln>
          <a:effectLst>
            <a:outerShdw blurRad="63500" dist="25400" dir="8100000" algn="bl" rotWithShape="0">
              <a:srgbClr val="1A1F36">
                <a:alpha val="12000"/>
              </a:srgbClr>
            </a:outerShdw>
          </a:effectLst>
        </p:spPr>
      </p:sp>
      <p:sp>
        <p:nvSpPr>
          <p:cNvPr id="9" name="Shape 7"/>
          <p:cNvSpPr/>
          <p:nvPr/>
        </p:nvSpPr>
        <p:spPr>
          <a:xfrm>
            <a:off x="5577840" y="1243584"/>
            <a:ext cx="50292" cy="731520"/>
          </a:xfrm>
          <a:prstGeom prst="rect">
            <a:avLst/>
          </a:prstGeom>
          <a:solidFill>
            <a:srgbClr val="1E2761"/>
          </a:solidFill>
          <a:ln w="12700">
            <a:solidFill>
              <a:srgbClr val="1E2761"/>
            </a:solidFill>
            <a:prstDash val="solid"/>
          </a:ln>
        </p:spPr>
      </p:sp>
      <p:sp>
        <p:nvSpPr>
          <p:cNvPr id="10" name="Text 8"/>
          <p:cNvSpPr/>
          <p:nvPr/>
        </p:nvSpPr>
        <p:spPr>
          <a:xfrm>
            <a:off x="5696712" y="1289304"/>
            <a:ext cx="3081528" cy="237744"/>
          </a:xfrm>
          <a:prstGeom prst="rect">
            <a:avLst/>
          </a:prstGeom>
          <a:noFill/>
          <a:ln/>
        </p:spPr>
        <p:txBody>
          <a:bodyPr wrap="square" lIns="0" tIns="0" rIns="0" bIns="0" rtlCol="0" anchor="ctr"/>
          <a:lstStyle/>
          <a:p>
            <a:r>
              <a:rPr lang="en-US" sz="1050" b="1" dirty="0">
                <a:solidFill>
                  <a:srgbClr val="1E2761"/>
                </a:solidFill>
                <a:latin typeface="Calibri" pitchFamily="34" charset="0"/>
                <a:ea typeface="Calibri" pitchFamily="34" charset="-122"/>
                <a:cs typeface="Calibri" pitchFamily="34" charset="-120"/>
              </a:rPr>
              <a:t>instructor.patch()</a:t>
            </a:r>
            <a:endParaRPr lang="en-US" sz="1050" dirty="0"/>
          </a:p>
        </p:txBody>
      </p:sp>
      <p:sp>
        <p:nvSpPr>
          <p:cNvPr id="11" name="Text 9"/>
          <p:cNvSpPr/>
          <p:nvPr/>
        </p:nvSpPr>
        <p:spPr>
          <a:xfrm>
            <a:off x="5696712" y="1517904"/>
            <a:ext cx="3081528" cy="411480"/>
          </a:xfrm>
          <a:prstGeom prst="rect">
            <a:avLst/>
          </a:prstGeom>
          <a:noFill/>
          <a:ln/>
        </p:spPr>
        <p:txBody>
          <a:bodyPr wrap="square" lIns="0" tIns="0" rIns="0" bIns="0" rtlCol="0" anchor="t"/>
          <a:lstStyle/>
          <a:p>
            <a:r>
              <a:rPr lang="en-US" sz="1000" dirty="0">
                <a:solidFill>
                  <a:srgbClr val="1A1F36"/>
                </a:solidFill>
                <a:latin typeface="Calibri" pitchFamily="34" charset="0"/>
                <a:ea typeface="Calibri" pitchFamily="34" charset="-122"/>
                <a:cs typeface="Calibri" pitchFamily="34" charset="-120"/>
              </a:rPr>
              <a:t>Wraps the OpenAI client. Adds response_model support and handles retries. One-time setup.</a:t>
            </a:r>
            <a:endParaRPr lang="en-US" sz="1000" dirty="0"/>
          </a:p>
        </p:txBody>
      </p:sp>
      <p:sp>
        <p:nvSpPr>
          <p:cNvPr id="13" name="Shape 11"/>
          <p:cNvSpPr/>
          <p:nvPr/>
        </p:nvSpPr>
        <p:spPr>
          <a:xfrm>
            <a:off x="5577840" y="2066544"/>
            <a:ext cx="3246120" cy="731520"/>
          </a:xfrm>
          <a:prstGeom prst="rect">
            <a:avLst/>
          </a:prstGeom>
          <a:solidFill>
            <a:srgbClr val="F7F3EA"/>
          </a:solidFill>
          <a:ln w="19050">
            <a:solidFill>
              <a:srgbClr val="1E2761"/>
            </a:solidFill>
            <a:prstDash val="solid"/>
          </a:ln>
          <a:effectLst>
            <a:outerShdw blurRad="63500" dist="25400" dir="8100000" algn="bl" rotWithShape="0">
              <a:srgbClr val="1A1F36">
                <a:alpha val="12000"/>
              </a:srgbClr>
            </a:outerShdw>
          </a:effectLst>
        </p:spPr>
      </p:sp>
      <p:sp>
        <p:nvSpPr>
          <p:cNvPr id="14" name="Shape 12"/>
          <p:cNvSpPr/>
          <p:nvPr/>
        </p:nvSpPr>
        <p:spPr>
          <a:xfrm>
            <a:off x="5577840" y="2066544"/>
            <a:ext cx="50292" cy="731520"/>
          </a:xfrm>
          <a:prstGeom prst="rect">
            <a:avLst/>
          </a:prstGeom>
          <a:solidFill>
            <a:srgbClr val="1E2761"/>
          </a:solidFill>
          <a:ln w="12700">
            <a:solidFill>
              <a:srgbClr val="1E2761"/>
            </a:solidFill>
            <a:prstDash val="solid"/>
          </a:ln>
        </p:spPr>
      </p:sp>
      <p:sp>
        <p:nvSpPr>
          <p:cNvPr id="15" name="Text 13"/>
          <p:cNvSpPr/>
          <p:nvPr/>
        </p:nvSpPr>
        <p:spPr>
          <a:xfrm>
            <a:off x="5696712" y="2112264"/>
            <a:ext cx="3081528" cy="237744"/>
          </a:xfrm>
          <a:prstGeom prst="rect">
            <a:avLst/>
          </a:prstGeom>
          <a:noFill/>
          <a:ln/>
        </p:spPr>
        <p:txBody>
          <a:bodyPr wrap="square" lIns="0" tIns="0" rIns="0" bIns="0" rtlCol="0" anchor="ctr"/>
          <a:lstStyle/>
          <a:p>
            <a:r>
              <a:rPr lang="en-US" sz="1050" b="1" dirty="0">
                <a:solidFill>
                  <a:srgbClr val="1E2761"/>
                </a:solidFill>
                <a:latin typeface="Calibri" pitchFamily="34" charset="0"/>
                <a:ea typeface="Calibri" pitchFamily="34" charset="-122"/>
                <a:cs typeface="Calibri" pitchFamily="34" charset="-120"/>
              </a:rPr>
              <a:t>response_model=</a:t>
            </a:r>
            <a:endParaRPr lang="en-US" sz="1050" dirty="0"/>
          </a:p>
        </p:txBody>
      </p:sp>
      <p:sp>
        <p:nvSpPr>
          <p:cNvPr id="16" name="Text 14"/>
          <p:cNvSpPr/>
          <p:nvPr/>
        </p:nvSpPr>
        <p:spPr>
          <a:xfrm>
            <a:off x="5696712" y="2340864"/>
            <a:ext cx="3081528" cy="411480"/>
          </a:xfrm>
          <a:prstGeom prst="rect">
            <a:avLst/>
          </a:prstGeom>
          <a:noFill/>
          <a:ln/>
        </p:spPr>
        <p:txBody>
          <a:bodyPr wrap="square" lIns="0" tIns="0" rIns="0" bIns="0" rtlCol="0" anchor="t"/>
          <a:lstStyle/>
          <a:p>
            <a:r>
              <a:rPr lang="en-US" sz="1000" dirty="0">
                <a:solidFill>
                  <a:srgbClr val="1A1F36"/>
                </a:solidFill>
                <a:latin typeface="Calibri" pitchFamily="34" charset="0"/>
                <a:ea typeface="Calibri" pitchFamily="34" charset="-122"/>
                <a:cs typeface="Calibri" pitchFamily="34" charset="-120"/>
              </a:rPr>
              <a:t>The key parameter — pass any Pydantic class. Instructor handles schema generation and tool calling.</a:t>
            </a:r>
            <a:endParaRPr lang="en-US" sz="1000" dirty="0"/>
          </a:p>
        </p:txBody>
      </p:sp>
      <p:sp>
        <p:nvSpPr>
          <p:cNvPr id="18" name="Shape 16"/>
          <p:cNvSpPr/>
          <p:nvPr/>
        </p:nvSpPr>
        <p:spPr>
          <a:xfrm>
            <a:off x="5577840" y="2889504"/>
            <a:ext cx="3246120" cy="731520"/>
          </a:xfrm>
          <a:prstGeom prst="rect">
            <a:avLst/>
          </a:prstGeom>
          <a:solidFill>
            <a:srgbClr val="F7F3EA"/>
          </a:solidFill>
          <a:ln w="19050">
            <a:solidFill>
              <a:srgbClr val="1E2761"/>
            </a:solidFill>
            <a:prstDash val="solid"/>
          </a:ln>
          <a:effectLst>
            <a:outerShdw blurRad="63500" dist="25400" dir="8100000" algn="bl" rotWithShape="0">
              <a:srgbClr val="1A1F36">
                <a:alpha val="12000"/>
              </a:srgbClr>
            </a:outerShdw>
          </a:effectLst>
        </p:spPr>
      </p:sp>
      <p:sp>
        <p:nvSpPr>
          <p:cNvPr id="19" name="Shape 17"/>
          <p:cNvSpPr/>
          <p:nvPr/>
        </p:nvSpPr>
        <p:spPr>
          <a:xfrm>
            <a:off x="5577840" y="2889504"/>
            <a:ext cx="50292" cy="731520"/>
          </a:xfrm>
          <a:prstGeom prst="rect">
            <a:avLst/>
          </a:prstGeom>
          <a:solidFill>
            <a:srgbClr val="1E2761"/>
          </a:solidFill>
          <a:ln w="12700">
            <a:solidFill>
              <a:srgbClr val="1E2761"/>
            </a:solidFill>
            <a:prstDash val="solid"/>
          </a:ln>
        </p:spPr>
      </p:sp>
      <p:sp>
        <p:nvSpPr>
          <p:cNvPr id="20" name="Text 18"/>
          <p:cNvSpPr/>
          <p:nvPr/>
        </p:nvSpPr>
        <p:spPr>
          <a:xfrm>
            <a:off x="5696712" y="2935224"/>
            <a:ext cx="3081528" cy="237744"/>
          </a:xfrm>
          <a:prstGeom prst="rect">
            <a:avLst/>
          </a:prstGeom>
          <a:noFill/>
          <a:ln/>
        </p:spPr>
        <p:txBody>
          <a:bodyPr wrap="square" lIns="0" tIns="0" rIns="0" bIns="0" rtlCol="0" anchor="ctr"/>
          <a:lstStyle/>
          <a:p>
            <a:r>
              <a:rPr lang="en-US" sz="1050" b="1" dirty="0">
                <a:solidFill>
                  <a:srgbClr val="1E2761"/>
                </a:solidFill>
                <a:latin typeface="Calibri" pitchFamily="34" charset="0"/>
                <a:ea typeface="Calibri" pitchFamily="34" charset="-122"/>
                <a:cs typeface="Calibri" pitchFamily="34" charset="-120"/>
              </a:rPr>
              <a:t>Typed return value</a:t>
            </a:r>
            <a:endParaRPr lang="en-US" sz="1050" dirty="0"/>
          </a:p>
        </p:txBody>
      </p:sp>
      <p:sp>
        <p:nvSpPr>
          <p:cNvPr id="21" name="Text 19"/>
          <p:cNvSpPr/>
          <p:nvPr/>
        </p:nvSpPr>
        <p:spPr>
          <a:xfrm>
            <a:off x="5696712" y="3163824"/>
            <a:ext cx="3081528" cy="411480"/>
          </a:xfrm>
          <a:prstGeom prst="rect">
            <a:avLst/>
          </a:prstGeom>
          <a:noFill/>
          <a:ln/>
        </p:spPr>
        <p:txBody>
          <a:bodyPr wrap="square" lIns="0" tIns="0" rIns="0" bIns="0" rtlCol="0" anchor="t"/>
          <a:lstStyle/>
          <a:p>
            <a:r>
              <a:rPr lang="en-US" sz="1000" dirty="0">
                <a:solidFill>
                  <a:srgbClr val="1A1F36"/>
                </a:solidFill>
                <a:latin typeface="Calibri" pitchFamily="34" charset="0"/>
                <a:ea typeface="Calibri" pitchFamily="34" charset="-122"/>
                <a:cs typeface="Calibri" pitchFamily="34" charset="-120"/>
              </a:rPr>
              <a:t>The return IS the Pydantic object. No parsing step, no json.loads(). Fully type-safe.</a:t>
            </a:r>
            <a:endParaRPr lang="en-US" sz="1000" dirty="0"/>
          </a:p>
        </p:txBody>
      </p:sp>
      <p:grpSp>
        <p:nvGrpSpPr>
          <p:cNvPr id="29" name="Group 28">
            <a:extLst>
              <a:ext uri="{FF2B5EF4-FFF2-40B4-BE49-F238E27FC236}">
                <a16:creationId xmlns:a16="http://schemas.microsoft.com/office/drawing/2014/main" id="{15A725BE-8549-D9F0-16B8-659636D4B45D}"/>
              </a:ext>
            </a:extLst>
          </p:cNvPr>
          <p:cNvGrpSpPr/>
          <p:nvPr/>
        </p:nvGrpSpPr>
        <p:grpSpPr>
          <a:xfrm>
            <a:off x="320040" y="1099173"/>
            <a:ext cx="5257800" cy="2770945"/>
            <a:chOff x="426720" y="1465563"/>
            <a:chExt cx="7010400" cy="3694593"/>
          </a:xfrm>
        </p:grpSpPr>
        <p:sp>
          <p:nvSpPr>
            <p:cNvPr id="5" name="Shape 3"/>
            <p:cNvSpPr/>
            <p:nvPr/>
          </p:nvSpPr>
          <p:spPr>
            <a:xfrm>
              <a:off x="426720" y="1465563"/>
              <a:ext cx="6827520" cy="3694593"/>
            </a:xfrm>
            <a:prstGeom prst="rect">
              <a:avLst/>
            </a:prstGeom>
            <a:solidFill>
              <a:srgbClr val="1A1F36"/>
            </a:solidFill>
            <a:ln w="12700">
              <a:solidFill>
                <a:srgbClr val="1A1F36"/>
              </a:solidFill>
              <a:prstDash val="solid"/>
            </a:ln>
            <a:effectLst>
              <a:outerShdw blurRad="63500" dist="25400" dir="8100000" algn="bl" rotWithShape="0">
                <a:srgbClr val="1A1F36">
                  <a:alpha val="12000"/>
                </a:srgbClr>
              </a:outerShdw>
            </a:effectLst>
          </p:spPr>
        </p:sp>
        <p:sp>
          <p:nvSpPr>
            <p:cNvPr id="6" name="Shape 4"/>
            <p:cNvSpPr/>
            <p:nvPr/>
          </p:nvSpPr>
          <p:spPr>
            <a:xfrm>
              <a:off x="426720" y="1658112"/>
              <a:ext cx="97536" cy="3291840"/>
            </a:xfrm>
            <a:prstGeom prst="rect">
              <a:avLst/>
            </a:prstGeom>
            <a:solidFill>
              <a:srgbClr val="3D5A80"/>
            </a:solidFill>
            <a:ln w="12700">
              <a:solidFill>
                <a:srgbClr val="3D5A80"/>
              </a:solidFill>
              <a:prstDash val="solid"/>
            </a:ln>
          </p:spPr>
        </p:sp>
        <p:sp>
          <p:nvSpPr>
            <p:cNvPr id="7" name="Text 5"/>
            <p:cNvSpPr/>
            <p:nvPr/>
          </p:nvSpPr>
          <p:spPr>
            <a:xfrm>
              <a:off x="646176" y="1632888"/>
              <a:ext cx="6486144" cy="3048000"/>
            </a:xfrm>
            <a:prstGeom prst="rect">
              <a:avLst/>
            </a:prstGeom>
            <a:noFill/>
            <a:ln/>
          </p:spPr>
          <p:txBody>
            <a:bodyPr wrap="square" lIns="0" tIns="0" rIns="0" bIns="0" rtlCol="0" anchor="t"/>
            <a:lstStyle/>
            <a:p>
              <a:r>
                <a:rPr lang="en-US" sz="1050" dirty="0">
                  <a:solidFill>
                    <a:srgbClr val="CADCFC"/>
                  </a:solidFill>
                  <a:latin typeface="Consolas" pitchFamily="34" charset="0"/>
                  <a:ea typeface="Consolas" pitchFamily="34" charset="-122"/>
                  <a:cs typeface="Consolas" pitchFamily="34" charset="-120"/>
                </a:rPr>
                <a:t>import instructor</a:t>
              </a:r>
              <a:endParaRPr lang="en-US" sz="1050" dirty="0"/>
            </a:p>
            <a:p>
              <a:r>
                <a:rPr lang="en-US" sz="1050" dirty="0">
                  <a:solidFill>
                    <a:srgbClr val="CADCFC"/>
                  </a:solidFill>
                  <a:latin typeface="Consolas" pitchFamily="34" charset="0"/>
                  <a:ea typeface="Consolas" pitchFamily="34" charset="-122"/>
                  <a:cs typeface="Consolas" pitchFamily="34" charset="-120"/>
                </a:rPr>
                <a:t>from openai import OpenAI</a:t>
              </a:r>
              <a:endParaRPr lang="en-US" sz="1050" dirty="0"/>
            </a:p>
            <a:p>
              <a:endParaRPr lang="en-US" sz="1050" dirty="0"/>
            </a:p>
            <a:p>
              <a:r>
                <a:rPr lang="en-US" sz="1050" dirty="0">
                  <a:solidFill>
                    <a:srgbClr val="CADCFC"/>
                  </a:solidFill>
                  <a:latin typeface="Consolas" pitchFamily="34" charset="0"/>
                  <a:ea typeface="Consolas" pitchFamily="34" charset="-122"/>
                  <a:cs typeface="Consolas" pitchFamily="34" charset="-120"/>
                </a:rPr>
                <a:t># Wrap the client once:</a:t>
              </a:r>
              <a:endParaRPr lang="en-US" sz="1050" dirty="0"/>
            </a:p>
            <a:p>
              <a:r>
                <a:rPr lang="en-US" sz="1050" dirty="0">
                  <a:solidFill>
                    <a:srgbClr val="FFC000"/>
                  </a:solidFill>
                  <a:latin typeface="Consolas" pitchFamily="34" charset="0"/>
                  <a:ea typeface="Consolas" pitchFamily="34" charset="-122"/>
                  <a:cs typeface="Consolas" pitchFamily="34" charset="-120"/>
                </a:rPr>
                <a:t>client = instructor.patch(OpenAI())</a:t>
              </a:r>
              <a:endParaRPr lang="en-US" sz="1050" dirty="0">
                <a:solidFill>
                  <a:srgbClr val="FFC000"/>
                </a:solidFill>
              </a:endParaRPr>
            </a:p>
            <a:p>
              <a:endParaRPr lang="en-US" sz="1050" dirty="0"/>
            </a:p>
            <a:p>
              <a:r>
                <a:rPr lang="en-US" sz="1050" dirty="0">
                  <a:solidFill>
                    <a:srgbClr val="CADCFC"/>
                  </a:solidFill>
                  <a:latin typeface="Consolas" pitchFamily="34" charset="0"/>
                  <a:ea typeface="Consolas" pitchFamily="34" charset="-122"/>
                  <a:cs typeface="Consolas" pitchFamily="34" charset="-120"/>
                </a:rPr>
                <a:t># Pass your Pydantic model directly:</a:t>
              </a:r>
              <a:endParaRPr lang="en-US" sz="1050" dirty="0"/>
            </a:p>
            <a:p>
              <a:r>
                <a:rPr lang="en-US" sz="1050" dirty="0">
                  <a:solidFill>
                    <a:srgbClr val="CADCFC"/>
                  </a:solidFill>
                  <a:latin typeface="Consolas" pitchFamily="34" charset="0"/>
                  <a:ea typeface="Consolas" pitchFamily="34" charset="-122"/>
                  <a:cs typeface="Consolas" pitchFamily="34" charset="-120"/>
                </a:rPr>
                <a:t>packages = client.chat.completions.create(</a:t>
              </a:r>
              <a:endParaRPr lang="en-US" sz="1050" dirty="0"/>
            </a:p>
            <a:p>
              <a:r>
                <a:rPr lang="en-US" sz="1050" dirty="0">
                  <a:solidFill>
                    <a:srgbClr val="CADCFC"/>
                  </a:solidFill>
                  <a:latin typeface="Consolas" pitchFamily="34" charset="0"/>
                  <a:ea typeface="Consolas" pitchFamily="34" charset="-122"/>
                  <a:cs typeface="Consolas" pitchFamily="34" charset="-120"/>
                </a:rPr>
                <a:t>    model="gpt-3.5-turbo",</a:t>
              </a:r>
              <a:endParaRPr lang="en-US" sz="1050" dirty="0"/>
            </a:p>
            <a:p>
              <a:r>
                <a:rPr lang="en-US" sz="1050" dirty="0">
                  <a:solidFill>
                    <a:srgbClr val="CADCFC"/>
                  </a:solidFill>
                  <a:latin typeface="Consolas" pitchFamily="34" charset="0"/>
                  <a:ea typeface="Consolas" pitchFamily="34" charset="-122"/>
                  <a:cs typeface="Consolas" pitchFamily="34" charset="-120"/>
                </a:rPr>
                <a:t>    messages=[{"role":"user","content":"Pydantic and FastAPI?"}],</a:t>
              </a:r>
              <a:endParaRPr lang="en-US" sz="1050" dirty="0"/>
            </a:p>
            <a:p>
              <a:r>
                <a:rPr lang="en-US" sz="1050" dirty="0">
                  <a:solidFill>
                    <a:srgbClr val="CADCFC"/>
                  </a:solidFill>
                  <a:latin typeface="Consolas" pitchFamily="34" charset="0"/>
                  <a:ea typeface="Consolas" pitchFamily="34" charset="-122"/>
                  <a:cs typeface="Consolas" pitchFamily="34" charset="-120"/>
                </a:rPr>
                <a:t>    response_model=Packages,</a:t>
              </a:r>
              <a:endParaRPr lang="en-US" sz="1050" dirty="0"/>
            </a:p>
            <a:p>
              <a:r>
                <a:rPr lang="en-US" sz="1050" dirty="0">
                  <a:solidFill>
                    <a:srgbClr val="CADCFC"/>
                  </a:solidFill>
                  <a:latin typeface="Consolas" pitchFamily="34" charset="0"/>
                  <a:ea typeface="Consolas" pitchFamily="34" charset="-122"/>
                  <a:cs typeface="Consolas" pitchFamily="34" charset="-120"/>
                </a:rPr>
                <a:t>)</a:t>
              </a:r>
              <a:endParaRPr lang="en-US" sz="1050" dirty="0"/>
            </a:p>
            <a:p>
              <a:endParaRPr lang="en-US" sz="1050" dirty="0"/>
            </a:p>
            <a:p>
              <a:r>
                <a:rPr lang="en-US" sz="1050" dirty="0">
                  <a:solidFill>
                    <a:srgbClr val="CADCFC"/>
                  </a:solidFill>
                  <a:latin typeface="Consolas" pitchFamily="34" charset="0"/>
                  <a:ea typeface="Consolas" pitchFamily="34" charset="-122"/>
                  <a:cs typeface="Consolas" pitchFamily="34" charset="-120"/>
                </a:rPr>
                <a:t># Result is already a typed Packages object:</a:t>
              </a:r>
              <a:endParaRPr lang="en-US" sz="1050" dirty="0"/>
            </a:p>
            <a:p>
              <a:r>
                <a:rPr lang="en-US" sz="1050" dirty="0">
                  <a:solidFill>
                    <a:srgbClr val="CADCFC"/>
                  </a:solidFill>
                  <a:latin typeface="Consolas" pitchFamily="34" charset="0"/>
                  <a:ea typeface="Consolas" pitchFamily="34" charset="-122"/>
                  <a:cs typeface="Consolas" pitchFamily="34" charset="-120"/>
                </a:rPr>
                <a:t>assert isinstance(packages, </a:t>
              </a:r>
              <a:r>
                <a:rPr lang="en-US" sz="1050" dirty="0">
                  <a:solidFill>
                    <a:srgbClr val="FFC000"/>
                  </a:solidFill>
                  <a:latin typeface="Consolas" pitchFamily="34" charset="0"/>
                  <a:ea typeface="Consolas" pitchFamily="34" charset="-122"/>
                  <a:cs typeface="Consolas" pitchFamily="34" charset="-120"/>
                </a:rPr>
                <a:t>Packages</a:t>
              </a:r>
              <a:r>
                <a:rPr lang="en-US" sz="1050" dirty="0">
                  <a:solidFill>
                    <a:srgbClr val="CADCFC"/>
                  </a:solidFill>
                  <a:latin typeface="Consolas" pitchFamily="34" charset="0"/>
                  <a:ea typeface="Consolas" pitchFamily="34" charset="-122"/>
                  <a:cs typeface="Consolas" pitchFamily="34" charset="-120"/>
                </a:rPr>
                <a:t>)</a:t>
              </a:r>
              <a:endParaRPr lang="en-US" sz="1050" dirty="0"/>
            </a:p>
            <a:p>
              <a:r>
                <a:rPr lang="en-US" sz="1050" dirty="0">
                  <a:solidFill>
                    <a:srgbClr val="CADCFC"/>
                  </a:solidFill>
                  <a:latin typeface="Consolas" pitchFamily="34" charset="0"/>
                  <a:ea typeface="Consolas" pitchFamily="34" charset="-122"/>
                  <a:cs typeface="Consolas" pitchFamily="34" charset="-120"/>
                </a:rPr>
                <a:t>assert isinstance(packages.packages[0], PythonPackage)</a:t>
              </a:r>
              <a:endParaRPr lang="en-US" sz="1050" dirty="0"/>
            </a:p>
          </p:txBody>
        </p:sp>
        <p:sp>
          <p:nvSpPr>
            <p:cNvPr id="12" name="Shape 10"/>
            <p:cNvSpPr/>
            <p:nvPr/>
          </p:nvSpPr>
          <p:spPr>
            <a:xfrm>
              <a:off x="7437120" y="2145792"/>
              <a:ext cx="0" cy="243840"/>
            </a:xfrm>
            <a:prstGeom prst="line">
              <a:avLst/>
            </a:prstGeom>
            <a:noFill/>
            <a:ln w="19050">
              <a:solidFill>
                <a:srgbClr val="1E2761"/>
              </a:solidFill>
              <a:prstDash val="solid"/>
              <a:tailEnd type="arrow"/>
            </a:ln>
          </p:spPr>
        </p:sp>
        <p:sp>
          <p:nvSpPr>
            <p:cNvPr id="17" name="Shape 15"/>
            <p:cNvSpPr/>
            <p:nvPr/>
          </p:nvSpPr>
          <p:spPr>
            <a:xfrm>
              <a:off x="7437120" y="3243072"/>
              <a:ext cx="0" cy="341376"/>
            </a:xfrm>
            <a:prstGeom prst="line">
              <a:avLst/>
            </a:prstGeom>
            <a:noFill/>
            <a:ln w="19050">
              <a:solidFill>
                <a:srgbClr val="1E2761"/>
              </a:solidFill>
              <a:prstDash val="solid"/>
              <a:tailEnd type="arrow"/>
            </a:ln>
          </p:spPr>
        </p:sp>
        <p:sp>
          <p:nvSpPr>
            <p:cNvPr id="22" name="Shape 20"/>
            <p:cNvSpPr/>
            <p:nvPr/>
          </p:nvSpPr>
          <p:spPr>
            <a:xfrm>
              <a:off x="7437120" y="4340352"/>
              <a:ext cx="0" cy="24384"/>
            </a:xfrm>
            <a:prstGeom prst="line">
              <a:avLst/>
            </a:prstGeom>
            <a:noFill/>
            <a:ln w="19050">
              <a:solidFill>
                <a:srgbClr val="1E2761"/>
              </a:solidFill>
              <a:prstDash val="solid"/>
              <a:tailEnd type="arrow"/>
            </a:ln>
          </p:spPr>
        </p:sp>
      </p:grpSp>
      <p:grpSp>
        <p:nvGrpSpPr>
          <p:cNvPr id="2" name="Group 1">
            <a:extLst>
              <a:ext uri="{FF2B5EF4-FFF2-40B4-BE49-F238E27FC236}">
                <a16:creationId xmlns:a16="http://schemas.microsoft.com/office/drawing/2014/main" id="{6E0D0FA5-2A85-37CE-EA77-464DF38DA95B}"/>
              </a:ext>
            </a:extLst>
          </p:cNvPr>
          <p:cNvGrpSpPr/>
          <p:nvPr/>
        </p:nvGrpSpPr>
        <p:grpSpPr>
          <a:xfrm>
            <a:off x="320040" y="3948944"/>
            <a:ext cx="8503920" cy="960120"/>
            <a:chOff x="426720" y="4949952"/>
            <a:chExt cx="11338560" cy="1280160"/>
          </a:xfrm>
        </p:grpSpPr>
        <p:sp>
          <p:nvSpPr>
            <p:cNvPr id="23" name="Shape 21"/>
            <p:cNvSpPr/>
            <p:nvPr/>
          </p:nvSpPr>
          <p:spPr>
            <a:xfrm>
              <a:off x="426720" y="4949952"/>
              <a:ext cx="11338560" cy="1280160"/>
            </a:xfrm>
            <a:prstGeom prst="rect">
              <a:avLst/>
            </a:prstGeom>
            <a:solidFill>
              <a:srgbClr val="D6E4F7"/>
            </a:solidFill>
            <a:ln w="15240">
              <a:solidFill>
                <a:srgbClr val="3D5A80"/>
              </a:solidFill>
              <a:prstDash val="solid"/>
            </a:ln>
            <a:effectLst>
              <a:outerShdw blurRad="63500" dist="25400" dir="8100000" algn="bl" rotWithShape="0">
                <a:srgbClr val="1A1F36">
                  <a:alpha val="12000"/>
                </a:srgbClr>
              </a:outerShdw>
            </a:effectLst>
          </p:spPr>
        </p:sp>
        <p:sp>
          <p:nvSpPr>
            <p:cNvPr id="24" name="Shape 22"/>
            <p:cNvSpPr/>
            <p:nvPr/>
          </p:nvSpPr>
          <p:spPr>
            <a:xfrm>
              <a:off x="426720" y="4949952"/>
              <a:ext cx="85344" cy="1280160"/>
            </a:xfrm>
            <a:prstGeom prst="rect">
              <a:avLst/>
            </a:prstGeom>
            <a:solidFill>
              <a:srgbClr val="3D5A80"/>
            </a:solidFill>
            <a:ln w="12700">
              <a:solidFill>
                <a:srgbClr val="3D5A80"/>
              </a:solidFill>
              <a:prstDash val="solid"/>
            </a:ln>
          </p:spPr>
        </p:sp>
        <p:sp>
          <p:nvSpPr>
            <p:cNvPr id="25" name="Text 23"/>
            <p:cNvSpPr/>
            <p:nvPr/>
          </p:nvSpPr>
          <p:spPr>
            <a:xfrm>
              <a:off x="670560" y="5023104"/>
              <a:ext cx="10789920" cy="487680"/>
            </a:xfrm>
            <a:prstGeom prst="rect">
              <a:avLst/>
            </a:prstGeom>
            <a:noFill/>
            <a:ln/>
          </p:spPr>
          <p:txBody>
            <a:bodyPr wrap="square" lIns="0" tIns="0" rIns="0" bIns="0" rtlCol="0" anchor="ctr"/>
            <a:lstStyle/>
            <a:p>
              <a:r>
                <a:rPr lang="en-US" sz="1150" b="1" dirty="0">
                  <a:solidFill>
                    <a:srgbClr val="1A1F36"/>
                  </a:solidFill>
                  <a:latin typeface="Calibri" pitchFamily="34" charset="0"/>
                  <a:ea typeface="Calibri" pitchFamily="34" charset="-122"/>
                  <a:cs typeface="Calibri" pitchFamily="34" charset="-120"/>
                </a:rPr>
                <a:t>Not just OpenAI — instructor works with any provider that supports the OpenAI API format, including Mistral, Anyscale, and others.</a:t>
              </a:r>
              <a:endParaRPr lang="en-US" sz="1150" dirty="0"/>
            </a:p>
          </p:txBody>
        </p:sp>
        <p:sp>
          <p:nvSpPr>
            <p:cNvPr id="26" name="Text 24"/>
            <p:cNvSpPr/>
            <p:nvPr/>
          </p:nvSpPr>
          <p:spPr>
            <a:xfrm>
              <a:off x="670560" y="5547360"/>
              <a:ext cx="10789920" cy="560832"/>
            </a:xfrm>
            <a:prstGeom prst="rect">
              <a:avLst/>
            </a:prstGeom>
            <a:noFill/>
            <a:ln/>
          </p:spPr>
          <p:txBody>
            <a:bodyPr wrap="square" lIns="0" tIns="0" rIns="0" bIns="0" rtlCol="0" anchor="ctr"/>
            <a:lstStyle/>
            <a:p>
              <a:r>
                <a:rPr lang="en-US" sz="1050" dirty="0">
                  <a:solidFill>
                    <a:srgbClr val="3D5A80"/>
                  </a:solidFill>
                  <a:latin typeface="Consolas" pitchFamily="34" charset="0"/>
                  <a:ea typeface="Consolas" pitchFamily="34" charset="-122"/>
                  <a:cs typeface="Consolas" pitchFamily="34" charset="-120"/>
                </a:rPr>
                <a:t>pip install instructor  # then instructor.patch(your_client)</a:t>
              </a:r>
              <a:endParaRPr lang="en-US" sz="1050" dirty="0"/>
            </a:p>
          </p:txBody>
        </p:sp>
      </p:grpSp>
      <p:sp>
        <p:nvSpPr>
          <p:cNvPr id="27" name="Text 25"/>
          <p:cNvSpPr/>
          <p:nvPr/>
        </p:nvSpPr>
        <p:spPr>
          <a:xfrm>
            <a:off x="8046720" y="4800600"/>
            <a:ext cx="914400" cy="256032"/>
          </a:xfrm>
          <a:prstGeom prst="rect">
            <a:avLst/>
          </a:prstGeom>
          <a:noFill/>
          <a:ln/>
        </p:spPr>
        <p:txBody>
          <a:bodyPr wrap="square" rtlCol="0" anchor="ctr"/>
          <a:lstStyle/>
          <a:p>
            <a:pPr algn="r"/>
            <a:r>
              <a:rPr lang="en-US" sz="900" dirty="0">
                <a:solidFill>
                  <a:srgbClr val="78909C"/>
                </a:solidFill>
              </a:rPr>
              <a:t>9 / 13</a:t>
            </a:r>
            <a:endParaRPr lang="en-US" sz="900" dirty="0"/>
          </a:p>
        </p:txBody>
      </p:sp>
      <p:pic>
        <p:nvPicPr>
          <p:cNvPr id="28" name="Google Shape;109;p20">
            <a:extLst>
              <a:ext uri="{FF2B5EF4-FFF2-40B4-BE49-F238E27FC236}">
                <a16:creationId xmlns:a16="http://schemas.microsoft.com/office/drawing/2014/main" id="{03FB345D-502F-E346-AD36-5C118D2777A5}"/>
              </a:ext>
            </a:extLst>
          </p:cNvPr>
          <p:cNvPicPr preferRelativeResize="0"/>
          <p:nvPr/>
        </p:nvPicPr>
        <p:blipFill>
          <a:blip r:embed="rId3">
            <a:alphaModFix/>
          </a:blip>
          <a:stretch>
            <a:fillRect/>
          </a:stretch>
        </p:blipFill>
        <p:spPr>
          <a:xfrm>
            <a:off x="8369126" y="0"/>
            <a:ext cx="774877" cy="867174"/>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11480" y="146304"/>
            <a:ext cx="8321040" cy="566928"/>
          </a:xfrm>
          <a:prstGeom prst="rect">
            <a:avLst/>
          </a:prstGeom>
          <a:noFill/>
          <a:ln/>
        </p:spPr>
        <p:txBody>
          <a:bodyPr wrap="square" lIns="0" tIns="0" rIns="0" bIns="0" rtlCol="0" anchor="ctr"/>
          <a:lstStyle/>
          <a:p>
            <a:r>
              <a:rPr lang="en-US" sz="2500" b="1" dirty="0">
                <a:solidFill>
                  <a:srgbClr val="1A1F36"/>
                </a:solidFill>
                <a:latin typeface="Georgia" pitchFamily="34" charset="0"/>
                <a:ea typeface="Georgia" pitchFamily="34" charset="-122"/>
                <a:cs typeface="Georgia" pitchFamily="34" charset="-120"/>
              </a:rPr>
              <a:t>Nested Models for Complex Structures</a:t>
            </a:r>
            <a:endParaRPr lang="en-US" sz="2500" dirty="0"/>
          </a:p>
        </p:txBody>
      </p:sp>
      <p:sp>
        <p:nvSpPr>
          <p:cNvPr id="4" name="Text 2"/>
          <p:cNvSpPr/>
          <p:nvPr/>
        </p:nvSpPr>
        <p:spPr>
          <a:xfrm>
            <a:off x="411480" y="712439"/>
            <a:ext cx="8321040" cy="402336"/>
          </a:xfrm>
          <a:prstGeom prst="rect">
            <a:avLst/>
          </a:prstGeom>
          <a:noFill/>
          <a:ln/>
        </p:spPr>
        <p:txBody>
          <a:bodyPr wrap="square" rtlCol="0" anchor="ctr"/>
          <a:lstStyle/>
          <a:p>
            <a:r>
              <a:rPr lang="en-US" sz="1200" dirty="0">
                <a:solidFill>
                  <a:srgbClr val="1A1F36"/>
                </a:solidFill>
                <a:latin typeface="Calibri" pitchFamily="34" charset="0"/>
                <a:ea typeface="Calibri" pitchFamily="34" charset="-122"/>
                <a:cs typeface="Calibri" pitchFamily="34" charset="-120"/>
              </a:rPr>
              <a:t>Pydantic supports deeply nested models — ideal for complex LLM outputs like search queries, reports, or API payloads:</a:t>
            </a:r>
            <a:endParaRPr lang="en-US" sz="1200" dirty="0"/>
          </a:p>
        </p:txBody>
      </p:sp>
      <p:grpSp>
        <p:nvGrpSpPr>
          <p:cNvPr id="2" name="Group 1">
            <a:extLst>
              <a:ext uri="{FF2B5EF4-FFF2-40B4-BE49-F238E27FC236}">
                <a16:creationId xmlns:a16="http://schemas.microsoft.com/office/drawing/2014/main" id="{AD32868D-6B3E-EA89-3397-B64E7620F28A}"/>
              </a:ext>
            </a:extLst>
          </p:cNvPr>
          <p:cNvGrpSpPr/>
          <p:nvPr/>
        </p:nvGrpSpPr>
        <p:grpSpPr>
          <a:xfrm>
            <a:off x="320040" y="1102849"/>
            <a:ext cx="5120640" cy="2506249"/>
            <a:chOff x="320040" y="1206215"/>
            <a:chExt cx="5120640" cy="2506249"/>
          </a:xfrm>
        </p:grpSpPr>
        <p:sp>
          <p:nvSpPr>
            <p:cNvPr id="5" name="Shape 3"/>
            <p:cNvSpPr/>
            <p:nvPr/>
          </p:nvSpPr>
          <p:spPr>
            <a:xfrm>
              <a:off x="320040" y="1206215"/>
              <a:ext cx="5120640" cy="2506249"/>
            </a:xfrm>
            <a:prstGeom prst="rect">
              <a:avLst/>
            </a:prstGeom>
            <a:solidFill>
              <a:srgbClr val="1A1F36"/>
            </a:solidFill>
            <a:ln w="12700">
              <a:solidFill>
                <a:srgbClr val="1A1F36"/>
              </a:solidFill>
              <a:prstDash val="solid"/>
            </a:ln>
            <a:effectLst>
              <a:outerShdw blurRad="63500" dist="25400" dir="8100000" algn="bl" rotWithShape="0">
                <a:srgbClr val="1A1F36">
                  <a:alpha val="12000"/>
                </a:srgbClr>
              </a:outerShdw>
            </a:effectLst>
          </p:spPr>
        </p:sp>
        <p:sp>
          <p:nvSpPr>
            <p:cNvPr id="6" name="Shape 4"/>
            <p:cNvSpPr/>
            <p:nvPr/>
          </p:nvSpPr>
          <p:spPr>
            <a:xfrm>
              <a:off x="320040" y="1243584"/>
              <a:ext cx="73152" cy="2359152"/>
            </a:xfrm>
            <a:prstGeom prst="rect">
              <a:avLst/>
            </a:prstGeom>
            <a:solidFill>
              <a:srgbClr val="3D5A80"/>
            </a:solidFill>
            <a:ln w="12700">
              <a:solidFill>
                <a:srgbClr val="3D5A80"/>
              </a:solidFill>
              <a:prstDash val="solid"/>
            </a:ln>
          </p:spPr>
        </p:sp>
        <p:sp>
          <p:nvSpPr>
            <p:cNvPr id="7" name="Text 5"/>
            <p:cNvSpPr/>
            <p:nvPr/>
          </p:nvSpPr>
          <p:spPr>
            <a:xfrm>
              <a:off x="484632" y="1335024"/>
              <a:ext cx="4864608" cy="2176272"/>
            </a:xfrm>
            <a:prstGeom prst="rect">
              <a:avLst/>
            </a:prstGeom>
            <a:noFill/>
            <a:ln/>
          </p:spPr>
          <p:txBody>
            <a:bodyPr wrap="square" lIns="0" tIns="0" rIns="0" bIns="0" rtlCol="0" anchor="t"/>
            <a:lstStyle/>
            <a:p>
              <a:r>
                <a:rPr lang="en-US" sz="1000" dirty="0">
                  <a:solidFill>
                    <a:srgbClr val="CADCFC"/>
                  </a:solidFill>
                  <a:latin typeface="Consolas" pitchFamily="34" charset="0"/>
                  <a:ea typeface="Consolas" pitchFamily="34" charset="-122"/>
                  <a:cs typeface="Consolas" pitchFamily="34" charset="-120"/>
                </a:rPr>
                <a:t>import datetime</a:t>
              </a:r>
              <a:endParaRPr lang="en-US" sz="1000" dirty="0"/>
            </a:p>
            <a:p>
              <a:r>
                <a:rPr lang="en-US" sz="1000" dirty="0">
                  <a:solidFill>
                    <a:srgbClr val="CADCFC"/>
                  </a:solidFill>
                  <a:latin typeface="Consolas" pitchFamily="34" charset="0"/>
                  <a:ea typeface="Consolas" pitchFamily="34" charset="-122"/>
                  <a:cs typeface="Consolas" pitchFamily="34" charset="-120"/>
                </a:rPr>
                <a:t>from typing import List</a:t>
              </a:r>
              <a:endParaRPr lang="en-US" sz="1000" dirty="0"/>
            </a:p>
            <a:p>
              <a:r>
                <a:rPr lang="en-US" sz="1000" dirty="0">
                  <a:solidFill>
                    <a:srgbClr val="CADCFC"/>
                  </a:solidFill>
                  <a:latin typeface="Consolas" pitchFamily="34" charset="0"/>
                  <a:ea typeface="Consolas" pitchFamily="34" charset="-122"/>
                  <a:cs typeface="Consolas" pitchFamily="34" charset="-120"/>
                </a:rPr>
                <a:t>from pydantic import BaseModel</a:t>
              </a:r>
              <a:endParaRPr lang="en-US" sz="1000" dirty="0"/>
            </a:p>
            <a:p>
              <a:endParaRPr lang="en-US" sz="1000" dirty="0"/>
            </a:p>
            <a:p>
              <a:r>
                <a:rPr lang="en-US" sz="1000" dirty="0">
                  <a:solidFill>
                    <a:srgbClr val="FFC000"/>
                  </a:solidFill>
                  <a:latin typeface="Consolas" pitchFamily="34" charset="0"/>
                  <a:ea typeface="Consolas" pitchFamily="34" charset="-122"/>
                  <a:cs typeface="Consolas" pitchFamily="34" charset="-120"/>
                </a:rPr>
                <a:t>class DateRange(BaseModel):</a:t>
              </a:r>
              <a:endParaRPr lang="en-US" sz="1000" dirty="0">
                <a:solidFill>
                  <a:srgbClr val="FFC000"/>
                </a:solidFill>
              </a:endParaRPr>
            </a:p>
            <a:p>
              <a:r>
                <a:rPr lang="en-US" sz="1000" dirty="0">
                  <a:solidFill>
                    <a:srgbClr val="CADCFC"/>
                  </a:solidFill>
                  <a:latin typeface="Consolas" pitchFamily="34" charset="0"/>
                  <a:ea typeface="Consolas" pitchFamily="34" charset="-122"/>
                  <a:cs typeface="Consolas" pitchFamily="34" charset="-120"/>
                </a:rPr>
                <a:t>    start: datetime.date</a:t>
              </a:r>
              <a:endParaRPr lang="en-US" sz="1000" dirty="0"/>
            </a:p>
            <a:p>
              <a:r>
                <a:rPr lang="en-US" sz="1000" dirty="0">
                  <a:solidFill>
                    <a:srgbClr val="CADCFC"/>
                  </a:solidFill>
                  <a:latin typeface="Consolas" pitchFamily="34" charset="0"/>
                  <a:ea typeface="Consolas" pitchFamily="34" charset="-122"/>
                  <a:cs typeface="Consolas" pitchFamily="34" charset="-120"/>
                </a:rPr>
                <a:t>    end: datetime.date</a:t>
              </a:r>
              <a:endParaRPr lang="en-US" sz="1000" dirty="0"/>
            </a:p>
            <a:p>
              <a:endParaRPr lang="en-US" sz="1000" dirty="0"/>
            </a:p>
            <a:p>
              <a:r>
                <a:rPr lang="en-US" sz="1000" dirty="0">
                  <a:solidFill>
                    <a:srgbClr val="FFC000"/>
                  </a:solidFill>
                  <a:latin typeface="Consolas" pitchFamily="34" charset="0"/>
                  <a:ea typeface="Consolas" pitchFamily="34" charset="-122"/>
                  <a:cs typeface="Consolas" pitchFamily="34" charset="-120"/>
                </a:rPr>
                <a:t>class SearchQuery(BaseModel):</a:t>
              </a:r>
              <a:endParaRPr lang="en-US" sz="1000" dirty="0">
                <a:solidFill>
                  <a:srgbClr val="FFC000"/>
                </a:solidFill>
              </a:endParaRPr>
            </a:p>
            <a:p>
              <a:r>
                <a:rPr lang="en-US" sz="1000" dirty="0">
                  <a:solidFill>
                    <a:srgbClr val="CADCFC"/>
                  </a:solidFill>
                  <a:latin typeface="Consolas" pitchFamily="34" charset="0"/>
                  <a:ea typeface="Consolas" pitchFamily="34" charset="-122"/>
                  <a:cs typeface="Consolas" pitchFamily="34" charset="-120"/>
                </a:rPr>
                <a:t>    rewritten_query: str</a:t>
              </a:r>
              <a:endParaRPr lang="en-US" sz="1000" dirty="0"/>
            </a:p>
            <a:p>
              <a:r>
                <a:rPr lang="en-US" sz="1000" dirty="0">
                  <a:solidFill>
                    <a:srgbClr val="CADCFC"/>
                  </a:solidFill>
                  <a:latin typeface="Consolas" pitchFamily="34" charset="0"/>
                  <a:ea typeface="Consolas" pitchFamily="34" charset="-122"/>
                  <a:cs typeface="Consolas" pitchFamily="34" charset="-120"/>
                </a:rPr>
                <a:t>    published_daterange: </a:t>
              </a:r>
              <a:r>
                <a:rPr lang="en-US" sz="1000" dirty="0">
                  <a:solidFill>
                    <a:srgbClr val="FFC000"/>
                  </a:solidFill>
                  <a:latin typeface="Consolas" pitchFamily="34" charset="0"/>
                  <a:ea typeface="Consolas" pitchFamily="34" charset="-122"/>
                  <a:cs typeface="Consolas" pitchFamily="34" charset="-120"/>
                </a:rPr>
                <a:t>DateRange</a:t>
              </a:r>
              <a:endParaRPr lang="en-US" sz="1000" dirty="0">
                <a:solidFill>
                  <a:srgbClr val="FFC000"/>
                </a:solidFill>
              </a:endParaRPr>
            </a:p>
            <a:p>
              <a:r>
                <a:rPr lang="en-US" sz="1000" dirty="0">
                  <a:solidFill>
                    <a:srgbClr val="CADCFC"/>
                  </a:solidFill>
                  <a:latin typeface="Consolas" pitchFamily="34" charset="0"/>
                  <a:ea typeface="Consolas" pitchFamily="34" charset="-122"/>
                  <a:cs typeface="Consolas" pitchFamily="34" charset="-120"/>
                </a:rPr>
                <a:t>    domains_allow_list: List[str]</a:t>
              </a:r>
              <a:endParaRPr lang="en-US" sz="1000" dirty="0"/>
            </a:p>
            <a:p>
              <a:endParaRPr lang="en-US" sz="1000" dirty="0"/>
            </a:p>
            <a:p>
              <a:r>
                <a:rPr lang="en-US" sz="1000" dirty="0">
                  <a:solidFill>
                    <a:srgbClr val="CADCFC"/>
                  </a:solidFill>
                  <a:latin typeface="Consolas" pitchFamily="34" charset="0"/>
                  <a:ea typeface="Consolas" pitchFamily="34" charset="-122"/>
                  <a:cs typeface="Consolas" pitchFamily="34" charset="-120"/>
                </a:rPr>
                <a:t>    async def execute(self):</a:t>
              </a:r>
              <a:endParaRPr lang="en-US" sz="1000" dirty="0"/>
            </a:p>
            <a:p>
              <a:r>
                <a:rPr lang="en-US" sz="1000" dirty="0">
                  <a:solidFill>
                    <a:srgbClr val="CADCFC"/>
                  </a:solidFill>
                  <a:latin typeface="Consolas" pitchFamily="34" charset="0"/>
                  <a:ea typeface="Consolas" pitchFamily="34" charset="-122"/>
                  <a:cs typeface="Consolas" pitchFamily="34" charset="-120"/>
                </a:rPr>
                <a:t>        return api.search(json=self.model_dump())</a:t>
              </a:r>
              <a:endParaRPr lang="en-US" sz="1000" dirty="0"/>
            </a:p>
          </p:txBody>
        </p:sp>
      </p:grpSp>
      <p:sp>
        <p:nvSpPr>
          <p:cNvPr id="8" name="Shape 6"/>
          <p:cNvSpPr/>
          <p:nvPr/>
        </p:nvSpPr>
        <p:spPr>
          <a:xfrm>
            <a:off x="5577840" y="1243584"/>
            <a:ext cx="3246120" cy="731520"/>
          </a:xfrm>
          <a:prstGeom prst="rect">
            <a:avLst/>
          </a:prstGeom>
          <a:solidFill>
            <a:srgbClr val="F7F3EA"/>
          </a:solidFill>
          <a:ln w="19050">
            <a:solidFill>
              <a:srgbClr val="1E2761"/>
            </a:solidFill>
            <a:prstDash val="solid"/>
          </a:ln>
          <a:effectLst>
            <a:outerShdw blurRad="63500" dist="25400" dir="8100000" algn="bl" rotWithShape="0">
              <a:srgbClr val="1A1F36">
                <a:alpha val="12000"/>
              </a:srgbClr>
            </a:outerShdw>
          </a:effectLst>
        </p:spPr>
      </p:sp>
      <p:sp>
        <p:nvSpPr>
          <p:cNvPr id="9" name="Shape 7"/>
          <p:cNvSpPr/>
          <p:nvPr/>
        </p:nvSpPr>
        <p:spPr>
          <a:xfrm>
            <a:off x="5577840" y="1243584"/>
            <a:ext cx="50292" cy="731520"/>
          </a:xfrm>
          <a:prstGeom prst="rect">
            <a:avLst/>
          </a:prstGeom>
          <a:solidFill>
            <a:srgbClr val="1E2761"/>
          </a:solidFill>
          <a:ln w="12700">
            <a:solidFill>
              <a:srgbClr val="1E2761"/>
            </a:solidFill>
            <a:prstDash val="solid"/>
          </a:ln>
        </p:spPr>
      </p:sp>
      <p:sp>
        <p:nvSpPr>
          <p:cNvPr id="10" name="Text 8"/>
          <p:cNvSpPr/>
          <p:nvPr/>
        </p:nvSpPr>
        <p:spPr>
          <a:xfrm>
            <a:off x="5696712" y="1289304"/>
            <a:ext cx="3081528" cy="237744"/>
          </a:xfrm>
          <a:prstGeom prst="rect">
            <a:avLst/>
          </a:prstGeom>
          <a:noFill/>
          <a:ln/>
        </p:spPr>
        <p:txBody>
          <a:bodyPr wrap="square" lIns="0" tIns="0" rIns="0" bIns="0" rtlCol="0" anchor="ctr"/>
          <a:lstStyle/>
          <a:p>
            <a:r>
              <a:rPr lang="en-US" sz="1050" b="1" dirty="0">
                <a:solidFill>
                  <a:srgbClr val="1E2761"/>
                </a:solidFill>
                <a:latin typeface="Calibri" pitchFamily="34" charset="0"/>
                <a:ea typeface="Calibri" pitchFamily="34" charset="-122"/>
                <a:cs typeface="Calibri" pitchFamily="34" charset="-120"/>
              </a:rPr>
              <a:t>datetime.date</a:t>
            </a:r>
            <a:endParaRPr lang="en-US" sz="1050" dirty="0"/>
          </a:p>
        </p:txBody>
      </p:sp>
      <p:sp>
        <p:nvSpPr>
          <p:cNvPr id="11" name="Text 9"/>
          <p:cNvSpPr/>
          <p:nvPr/>
        </p:nvSpPr>
        <p:spPr>
          <a:xfrm>
            <a:off x="5696712" y="1517904"/>
            <a:ext cx="3081528" cy="411480"/>
          </a:xfrm>
          <a:prstGeom prst="rect">
            <a:avLst/>
          </a:prstGeom>
          <a:noFill/>
          <a:ln/>
        </p:spPr>
        <p:txBody>
          <a:bodyPr wrap="square" lIns="0" tIns="0" rIns="0" bIns="0" rtlCol="0" anchor="t"/>
          <a:lstStyle/>
          <a:p>
            <a:r>
              <a:rPr lang="en-US" sz="1000" dirty="0">
                <a:solidFill>
                  <a:srgbClr val="1A1F36"/>
                </a:solidFill>
                <a:latin typeface="Calibri" pitchFamily="34" charset="0"/>
                <a:ea typeface="Calibri" pitchFamily="34" charset="-122"/>
                <a:cs typeface="Calibri" pitchFamily="34" charset="-120"/>
              </a:rPr>
              <a:t>Pydantic validates ISO date strings like '2023-09-17' automatically — no manual strptime() needed.</a:t>
            </a:r>
            <a:endParaRPr lang="en-US" sz="1000" dirty="0"/>
          </a:p>
        </p:txBody>
      </p:sp>
      <p:sp>
        <p:nvSpPr>
          <p:cNvPr id="12" name="Shape 10"/>
          <p:cNvSpPr/>
          <p:nvPr/>
        </p:nvSpPr>
        <p:spPr>
          <a:xfrm>
            <a:off x="5577840" y="1609344"/>
            <a:ext cx="0" cy="219456"/>
          </a:xfrm>
          <a:prstGeom prst="line">
            <a:avLst/>
          </a:prstGeom>
          <a:noFill/>
          <a:ln w="19050">
            <a:solidFill>
              <a:srgbClr val="1E2761"/>
            </a:solidFill>
            <a:prstDash val="solid"/>
            <a:tailEnd type="arrow"/>
          </a:ln>
        </p:spPr>
      </p:sp>
      <p:sp>
        <p:nvSpPr>
          <p:cNvPr id="13" name="Shape 11"/>
          <p:cNvSpPr/>
          <p:nvPr/>
        </p:nvSpPr>
        <p:spPr>
          <a:xfrm>
            <a:off x="5577840" y="2066544"/>
            <a:ext cx="3246120" cy="731520"/>
          </a:xfrm>
          <a:prstGeom prst="rect">
            <a:avLst/>
          </a:prstGeom>
          <a:solidFill>
            <a:srgbClr val="F7F3EA"/>
          </a:solidFill>
          <a:ln w="19050">
            <a:solidFill>
              <a:srgbClr val="1E2761"/>
            </a:solidFill>
            <a:prstDash val="solid"/>
          </a:ln>
          <a:effectLst>
            <a:outerShdw blurRad="63500" dist="25400" dir="8100000" algn="bl" rotWithShape="0">
              <a:srgbClr val="1A1F36">
                <a:alpha val="12000"/>
              </a:srgbClr>
            </a:outerShdw>
          </a:effectLst>
        </p:spPr>
      </p:sp>
      <p:sp>
        <p:nvSpPr>
          <p:cNvPr id="14" name="Shape 12"/>
          <p:cNvSpPr/>
          <p:nvPr/>
        </p:nvSpPr>
        <p:spPr>
          <a:xfrm>
            <a:off x="5577840" y="2066544"/>
            <a:ext cx="50292" cy="731520"/>
          </a:xfrm>
          <a:prstGeom prst="rect">
            <a:avLst/>
          </a:prstGeom>
          <a:solidFill>
            <a:srgbClr val="1E2761"/>
          </a:solidFill>
          <a:ln w="12700">
            <a:solidFill>
              <a:srgbClr val="1E2761"/>
            </a:solidFill>
            <a:prstDash val="solid"/>
          </a:ln>
        </p:spPr>
      </p:sp>
      <p:sp>
        <p:nvSpPr>
          <p:cNvPr id="15" name="Text 13"/>
          <p:cNvSpPr/>
          <p:nvPr/>
        </p:nvSpPr>
        <p:spPr>
          <a:xfrm>
            <a:off x="5696712" y="2112264"/>
            <a:ext cx="3081528" cy="237744"/>
          </a:xfrm>
          <a:prstGeom prst="rect">
            <a:avLst/>
          </a:prstGeom>
          <a:noFill/>
          <a:ln/>
        </p:spPr>
        <p:txBody>
          <a:bodyPr wrap="square" lIns="0" tIns="0" rIns="0" bIns="0" rtlCol="0" anchor="ctr"/>
          <a:lstStyle/>
          <a:p>
            <a:r>
              <a:rPr lang="en-US" sz="1050" b="1" dirty="0">
                <a:solidFill>
                  <a:srgbClr val="1E2761"/>
                </a:solidFill>
                <a:latin typeface="Calibri" pitchFamily="34" charset="0"/>
                <a:ea typeface="Calibri" pitchFamily="34" charset="-122"/>
                <a:cs typeface="Calibri" pitchFamily="34" charset="-120"/>
              </a:rPr>
              <a:t>Nested model</a:t>
            </a:r>
            <a:endParaRPr lang="en-US" sz="1050" dirty="0"/>
          </a:p>
        </p:txBody>
      </p:sp>
      <p:sp>
        <p:nvSpPr>
          <p:cNvPr id="16" name="Text 14"/>
          <p:cNvSpPr/>
          <p:nvPr/>
        </p:nvSpPr>
        <p:spPr>
          <a:xfrm>
            <a:off x="5696712" y="2340864"/>
            <a:ext cx="3081528" cy="411480"/>
          </a:xfrm>
          <a:prstGeom prst="rect">
            <a:avLst/>
          </a:prstGeom>
          <a:noFill/>
          <a:ln/>
        </p:spPr>
        <p:txBody>
          <a:bodyPr wrap="square" lIns="0" tIns="0" rIns="0" bIns="0" rtlCol="0" anchor="t"/>
          <a:lstStyle/>
          <a:p>
            <a:r>
              <a:rPr lang="en-US" sz="1000" dirty="0">
                <a:solidFill>
                  <a:srgbClr val="1A1F36"/>
                </a:solidFill>
                <a:latin typeface="Calibri" pitchFamily="34" charset="0"/>
                <a:ea typeface="Calibri" pitchFamily="34" charset="-122"/>
                <a:cs typeface="Calibri" pitchFamily="34" charset="-120"/>
              </a:rPr>
              <a:t>DateRange is referenced directly in SearchQuery. Pydantic generates the correct $defs/$ref schema.</a:t>
            </a:r>
            <a:endParaRPr lang="en-US" sz="1000" dirty="0"/>
          </a:p>
        </p:txBody>
      </p:sp>
      <p:sp>
        <p:nvSpPr>
          <p:cNvPr id="17" name="Shape 15"/>
          <p:cNvSpPr/>
          <p:nvPr/>
        </p:nvSpPr>
        <p:spPr>
          <a:xfrm>
            <a:off x="5577840" y="2432304"/>
            <a:ext cx="0" cy="292608"/>
          </a:xfrm>
          <a:prstGeom prst="line">
            <a:avLst/>
          </a:prstGeom>
          <a:noFill/>
          <a:ln w="19050">
            <a:solidFill>
              <a:srgbClr val="1E2761"/>
            </a:solidFill>
            <a:prstDash val="solid"/>
            <a:tailEnd type="arrow"/>
          </a:ln>
        </p:spPr>
      </p:sp>
      <p:sp>
        <p:nvSpPr>
          <p:cNvPr id="18" name="Shape 16"/>
          <p:cNvSpPr/>
          <p:nvPr/>
        </p:nvSpPr>
        <p:spPr>
          <a:xfrm>
            <a:off x="5577840" y="2889504"/>
            <a:ext cx="3246120" cy="731520"/>
          </a:xfrm>
          <a:prstGeom prst="rect">
            <a:avLst/>
          </a:prstGeom>
          <a:solidFill>
            <a:srgbClr val="F7F3EA"/>
          </a:solidFill>
          <a:ln w="19050">
            <a:solidFill>
              <a:srgbClr val="1E2761"/>
            </a:solidFill>
            <a:prstDash val="solid"/>
          </a:ln>
          <a:effectLst>
            <a:outerShdw blurRad="63500" dist="25400" dir="8100000" algn="bl" rotWithShape="0">
              <a:srgbClr val="1A1F36">
                <a:alpha val="12000"/>
              </a:srgbClr>
            </a:outerShdw>
          </a:effectLst>
        </p:spPr>
      </p:sp>
      <p:sp>
        <p:nvSpPr>
          <p:cNvPr id="19" name="Shape 17"/>
          <p:cNvSpPr/>
          <p:nvPr/>
        </p:nvSpPr>
        <p:spPr>
          <a:xfrm>
            <a:off x="5577840" y="2889504"/>
            <a:ext cx="50292" cy="731520"/>
          </a:xfrm>
          <a:prstGeom prst="rect">
            <a:avLst/>
          </a:prstGeom>
          <a:solidFill>
            <a:srgbClr val="1E2761"/>
          </a:solidFill>
          <a:ln w="12700">
            <a:solidFill>
              <a:srgbClr val="1E2761"/>
            </a:solidFill>
            <a:prstDash val="solid"/>
          </a:ln>
        </p:spPr>
      </p:sp>
      <p:sp>
        <p:nvSpPr>
          <p:cNvPr id="20" name="Text 18"/>
          <p:cNvSpPr/>
          <p:nvPr/>
        </p:nvSpPr>
        <p:spPr>
          <a:xfrm>
            <a:off x="5696712" y="2935224"/>
            <a:ext cx="3081528" cy="237744"/>
          </a:xfrm>
          <a:prstGeom prst="rect">
            <a:avLst/>
          </a:prstGeom>
          <a:noFill/>
          <a:ln/>
        </p:spPr>
        <p:txBody>
          <a:bodyPr wrap="square" lIns="0" tIns="0" rIns="0" bIns="0" rtlCol="0" anchor="ctr"/>
          <a:lstStyle/>
          <a:p>
            <a:r>
              <a:rPr lang="en-US" sz="1050" b="1" dirty="0">
                <a:solidFill>
                  <a:srgbClr val="1E2761"/>
                </a:solidFill>
                <a:latin typeface="Calibri" pitchFamily="34" charset="0"/>
                <a:ea typeface="Calibri" pitchFamily="34" charset="-122"/>
                <a:cs typeface="Calibri" pitchFamily="34" charset="-120"/>
              </a:rPr>
              <a:t>model_dump()</a:t>
            </a:r>
            <a:endParaRPr lang="en-US" sz="1050" dirty="0"/>
          </a:p>
        </p:txBody>
      </p:sp>
      <p:sp>
        <p:nvSpPr>
          <p:cNvPr id="21" name="Text 19"/>
          <p:cNvSpPr/>
          <p:nvPr/>
        </p:nvSpPr>
        <p:spPr>
          <a:xfrm>
            <a:off x="5696712" y="3163824"/>
            <a:ext cx="3081528" cy="411480"/>
          </a:xfrm>
          <a:prstGeom prst="rect">
            <a:avLst/>
          </a:prstGeom>
          <a:noFill/>
          <a:ln/>
        </p:spPr>
        <p:txBody>
          <a:bodyPr wrap="square" lIns="0" tIns="0" rIns="0" bIns="0" rtlCol="0" anchor="t"/>
          <a:lstStyle/>
          <a:p>
            <a:r>
              <a:rPr lang="en-US" sz="1000" dirty="0">
                <a:solidFill>
                  <a:srgbClr val="1A1F36"/>
                </a:solidFill>
                <a:latin typeface="Calibri" pitchFamily="34" charset="0"/>
                <a:ea typeface="Calibri" pitchFamily="34" charset="-122"/>
                <a:cs typeface="Calibri" pitchFamily="34" charset="-120"/>
              </a:rPr>
              <a:t>Serializes the entire nested structure — including all sub-models — to a plain dict for API calls.</a:t>
            </a:r>
            <a:endParaRPr lang="en-US" sz="1000" dirty="0"/>
          </a:p>
        </p:txBody>
      </p:sp>
      <p:sp>
        <p:nvSpPr>
          <p:cNvPr id="22" name="Shape 20"/>
          <p:cNvSpPr/>
          <p:nvPr/>
        </p:nvSpPr>
        <p:spPr>
          <a:xfrm>
            <a:off x="5577840" y="3255264"/>
            <a:ext cx="0" cy="201168"/>
          </a:xfrm>
          <a:prstGeom prst="line">
            <a:avLst/>
          </a:prstGeom>
          <a:noFill/>
          <a:ln w="19050">
            <a:solidFill>
              <a:srgbClr val="1E2761"/>
            </a:solidFill>
            <a:prstDash val="solid"/>
            <a:tailEnd type="arrow"/>
          </a:ln>
        </p:spPr>
      </p:sp>
      <p:sp>
        <p:nvSpPr>
          <p:cNvPr id="23" name="Shape 21"/>
          <p:cNvSpPr/>
          <p:nvPr/>
        </p:nvSpPr>
        <p:spPr>
          <a:xfrm>
            <a:off x="320040" y="3712464"/>
            <a:ext cx="8503920" cy="960120"/>
          </a:xfrm>
          <a:prstGeom prst="rect">
            <a:avLst/>
          </a:prstGeom>
          <a:solidFill>
            <a:srgbClr val="1A1F36"/>
          </a:solidFill>
          <a:ln w="12700">
            <a:solidFill>
              <a:srgbClr val="1A1F36"/>
            </a:solidFill>
            <a:prstDash val="solid"/>
          </a:ln>
          <a:effectLst>
            <a:outerShdw blurRad="63500" dist="25400" dir="8100000" algn="bl" rotWithShape="0">
              <a:srgbClr val="1A1F36">
                <a:alpha val="12000"/>
              </a:srgbClr>
            </a:outerShdw>
          </a:effectLst>
        </p:spPr>
      </p:sp>
      <p:sp>
        <p:nvSpPr>
          <p:cNvPr id="24" name="Shape 22"/>
          <p:cNvSpPr/>
          <p:nvPr/>
        </p:nvSpPr>
        <p:spPr>
          <a:xfrm>
            <a:off x="320040" y="3712464"/>
            <a:ext cx="73152" cy="960120"/>
          </a:xfrm>
          <a:prstGeom prst="rect">
            <a:avLst/>
          </a:prstGeom>
          <a:solidFill>
            <a:srgbClr val="3D5A80"/>
          </a:solidFill>
          <a:ln w="12700">
            <a:solidFill>
              <a:srgbClr val="3D5A80"/>
            </a:solidFill>
            <a:prstDash val="solid"/>
          </a:ln>
        </p:spPr>
      </p:sp>
      <p:sp>
        <p:nvSpPr>
          <p:cNvPr id="25" name="Text 23"/>
          <p:cNvSpPr/>
          <p:nvPr/>
        </p:nvSpPr>
        <p:spPr>
          <a:xfrm>
            <a:off x="530352" y="3803904"/>
            <a:ext cx="8229600" cy="777240"/>
          </a:xfrm>
          <a:prstGeom prst="rect">
            <a:avLst/>
          </a:prstGeom>
          <a:noFill/>
          <a:ln/>
        </p:spPr>
        <p:txBody>
          <a:bodyPr wrap="square" lIns="0" tIns="0" rIns="0" bIns="0" rtlCol="0" anchor="t"/>
          <a:lstStyle/>
          <a:p>
            <a:r>
              <a:rPr lang="en-US" sz="900" dirty="0">
                <a:solidFill>
                  <a:srgbClr val="CADCFC"/>
                </a:solidFill>
                <a:latin typeface="Consolas" pitchFamily="34" charset="0"/>
                <a:ea typeface="Consolas" pitchFamily="34" charset="-122"/>
                <a:cs typeface="Consolas" pitchFamily="34" charset="-120"/>
              </a:rPr>
              <a:t># Example validated instance:</a:t>
            </a:r>
            <a:endParaRPr lang="en-US" sz="900" dirty="0"/>
          </a:p>
          <a:p>
            <a:r>
              <a:rPr lang="en-US" sz="900" dirty="0">
                <a:solidFill>
                  <a:srgbClr val="CADCFC"/>
                </a:solidFill>
                <a:latin typeface="Consolas" pitchFamily="34" charset="0"/>
                <a:ea typeface="Consolas" pitchFamily="34" charset="-122"/>
                <a:cs typeface="Consolas" pitchFamily="34" charset="-120"/>
              </a:rPr>
              <a:t># SearchQuery(rewritten_query="novel developments in AI",</a:t>
            </a:r>
            <a:endParaRPr lang="en-US" sz="900" dirty="0"/>
          </a:p>
          <a:p>
            <a:r>
              <a:rPr lang="en-US" sz="900" dirty="0">
                <a:solidFill>
                  <a:srgbClr val="CADCFC"/>
                </a:solidFill>
                <a:latin typeface="Consolas" pitchFamily="34" charset="0"/>
                <a:ea typeface="Consolas" pitchFamily="34" charset="-122"/>
                <a:cs typeface="Consolas" pitchFamily="34" charset="-120"/>
              </a:rPr>
              <a:t>#             published_daterange=DateRange(start=date(2023,1,1), end=date(2023,12,15)),</a:t>
            </a:r>
            <a:endParaRPr lang="en-US" sz="900" dirty="0"/>
          </a:p>
          <a:p>
            <a:r>
              <a:rPr lang="en-US" sz="900" dirty="0">
                <a:solidFill>
                  <a:srgbClr val="CADCFC"/>
                </a:solidFill>
                <a:latin typeface="Consolas" pitchFamily="34" charset="0"/>
                <a:ea typeface="Consolas" pitchFamily="34" charset="-122"/>
                <a:cs typeface="Consolas" pitchFamily="34" charset="-120"/>
              </a:rPr>
              <a:t>#             domains_allow_list=["arxiv.org"])</a:t>
            </a:r>
            <a:endParaRPr lang="en-US" sz="900" dirty="0"/>
          </a:p>
        </p:txBody>
      </p:sp>
      <p:sp>
        <p:nvSpPr>
          <p:cNvPr id="26" name="Text 24"/>
          <p:cNvSpPr/>
          <p:nvPr/>
        </p:nvSpPr>
        <p:spPr>
          <a:xfrm>
            <a:off x="8046720" y="4800600"/>
            <a:ext cx="914400" cy="256032"/>
          </a:xfrm>
          <a:prstGeom prst="rect">
            <a:avLst/>
          </a:prstGeom>
          <a:noFill/>
          <a:ln/>
        </p:spPr>
        <p:txBody>
          <a:bodyPr wrap="square" rtlCol="0" anchor="ctr"/>
          <a:lstStyle/>
          <a:p>
            <a:pPr algn="r"/>
            <a:r>
              <a:rPr lang="en-US" sz="900" dirty="0">
                <a:solidFill>
                  <a:srgbClr val="78909C"/>
                </a:solidFill>
              </a:rPr>
              <a:t>10 / 13</a:t>
            </a:r>
            <a:endParaRPr lang="en-US" sz="900" dirty="0"/>
          </a:p>
        </p:txBody>
      </p:sp>
      <p:pic>
        <p:nvPicPr>
          <p:cNvPr id="27" name="Google Shape;109;p20">
            <a:extLst>
              <a:ext uri="{FF2B5EF4-FFF2-40B4-BE49-F238E27FC236}">
                <a16:creationId xmlns:a16="http://schemas.microsoft.com/office/drawing/2014/main" id="{FF00C93A-C728-4B6B-7181-053BAAAD26D7}"/>
              </a:ext>
            </a:extLst>
          </p:cNvPr>
          <p:cNvPicPr preferRelativeResize="0"/>
          <p:nvPr/>
        </p:nvPicPr>
        <p:blipFill>
          <a:blip r:embed="rId3">
            <a:alphaModFix/>
          </a:blip>
          <a:stretch>
            <a:fillRect/>
          </a:stretch>
        </p:blipFill>
        <p:spPr>
          <a:xfrm>
            <a:off x="8369126" y="0"/>
            <a:ext cx="774877" cy="867174"/>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11480" y="146304"/>
            <a:ext cx="8321040" cy="566928"/>
          </a:xfrm>
          <a:prstGeom prst="rect">
            <a:avLst/>
          </a:prstGeom>
          <a:noFill/>
          <a:ln/>
        </p:spPr>
        <p:txBody>
          <a:bodyPr wrap="square" lIns="0" tIns="0" rIns="0" bIns="0" rtlCol="0" anchor="ctr"/>
          <a:lstStyle/>
          <a:p>
            <a:r>
              <a:rPr lang="en-US" sz="2500" b="1" dirty="0">
                <a:solidFill>
                  <a:srgbClr val="1A1F36"/>
                </a:solidFill>
                <a:latin typeface="Georgia" pitchFamily="34" charset="0"/>
                <a:ea typeface="Georgia" pitchFamily="34" charset="-122"/>
                <a:cs typeface="Georgia" pitchFamily="34" charset="-120"/>
              </a:rPr>
              <a:t>Semantic Search Query Understanding</a:t>
            </a:r>
            <a:endParaRPr lang="en-US" sz="2500" dirty="0"/>
          </a:p>
        </p:txBody>
      </p:sp>
      <p:sp>
        <p:nvSpPr>
          <p:cNvPr id="4" name="Text 2"/>
          <p:cNvSpPr/>
          <p:nvPr/>
        </p:nvSpPr>
        <p:spPr>
          <a:xfrm>
            <a:off x="331967" y="617021"/>
            <a:ext cx="8321040" cy="402336"/>
          </a:xfrm>
          <a:prstGeom prst="rect">
            <a:avLst/>
          </a:prstGeom>
          <a:noFill/>
          <a:ln/>
        </p:spPr>
        <p:txBody>
          <a:bodyPr wrap="square" rtlCol="0" anchor="ctr"/>
          <a:lstStyle/>
          <a:p>
            <a:r>
              <a:rPr lang="en-US" sz="1200" dirty="0">
                <a:solidFill>
                  <a:srgbClr val="1A1F36"/>
                </a:solidFill>
                <a:latin typeface="Calibri" pitchFamily="34" charset="0"/>
                <a:ea typeface="Calibri" pitchFamily="34" charset="-122"/>
                <a:cs typeface="Calibri" pitchFamily="34" charset="-120"/>
              </a:rPr>
              <a:t>A search engine that rewrites user queries into a structured payload — without the user knowing the internal API shape:</a:t>
            </a:r>
            <a:endParaRPr lang="en-US" sz="1200" dirty="0"/>
          </a:p>
        </p:txBody>
      </p:sp>
      <p:grpSp>
        <p:nvGrpSpPr>
          <p:cNvPr id="21" name="Group 20">
            <a:extLst>
              <a:ext uri="{FF2B5EF4-FFF2-40B4-BE49-F238E27FC236}">
                <a16:creationId xmlns:a16="http://schemas.microsoft.com/office/drawing/2014/main" id="{3262C8E4-3420-9708-ABC7-151B748BFB25}"/>
              </a:ext>
            </a:extLst>
          </p:cNvPr>
          <p:cNvGrpSpPr/>
          <p:nvPr/>
        </p:nvGrpSpPr>
        <p:grpSpPr>
          <a:xfrm>
            <a:off x="216673" y="997095"/>
            <a:ext cx="4892040" cy="3211135"/>
            <a:chOff x="320040" y="1243583"/>
            <a:chExt cx="4892040" cy="3211135"/>
          </a:xfrm>
        </p:grpSpPr>
        <p:sp>
          <p:nvSpPr>
            <p:cNvPr id="5" name="Shape 3"/>
            <p:cNvSpPr/>
            <p:nvPr/>
          </p:nvSpPr>
          <p:spPr>
            <a:xfrm>
              <a:off x="320040" y="1243583"/>
              <a:ext cx="4892040" cy="3211135"/>
            </a:xfrm>
            <a:prstGeom prst="rect">
              <a:avLst/>
            </a:prstGeom>
            <a:solidFill>
              <a:srgbClr val="1A1F36"/>
            </a:solidFill>
            <a:ln w="12700">
              <a:solidFill>
                <a:srgbClr val="1A1F36"/>
              </a:solidFill>
              <a:prstDash val="solid"/>
            </a:ln>
            <a:effectLst>
              <a:outerShdw blurRad="63500" dist="25400" dir="8100000" algn="bl" rotWithShape="0">
                <a:srgbClr val="1A1F36">
                  <a:alpha val="12000"/>
                </a:srgbClr>
              </a:outerShdw>
            </a:effectLst>
          </p:spPr>
        </p:sp>
        <p:sp>
          <p:nvSpPr>
            <p:cNvPr id="6" name="Shape 4"/>
            <p:cNvSpPr/>
            <p:nvPr/>
          </p:nvSpPr>
          <p:spPr>
            <a:xfrm>
              <a:off x="320040" y="1243584"/>
              <a:ext cx="73152" cy="2834640"/>
            </a:xfrm>
            <a:prstGeom prst="rect">
              <a:avLst/>
            </a:prstGeom>
            <a:solidFill>
              <a:srgbClr val="3D5A80"/>
            </a:solidFill>
            <a:ln w="12700">
              <a:solidFill>
                <a:srgbClr val="3D5A80"/>
              </a:solidFill>
              <a:prstDash val="solid"/>
            </a:ln>
          </p:spPr>
        </p:sp>
        <p:sp>
          <p:nvSpPr>
            <p:cNvPr id="7" name="Text 5"/>
            <p:cNvSpPr/>
            <p:nvPr/>
          </p:nvSpPr>
          <p:spPr>
            <a:xfrm>
              <a:off x="484632" y="1335024"/>
              <a:ext cx="4727448" cy="2651760"/>
            </a:xfrm>
            <a:prstGeom prst="rect">
              <a:avLst/>
            </a:prstGeom>
            <a:noFill/>
            <a:ln/>
          </p:spPr>
          <p:txBody>
            <a:bodyPr wrap="square" lIns="0" tIns="0" rIns="0" bIns="0" rtlCol="0" anchor="t"/>
            <a:lstStyle/>
            <a:p>
              <a:r>
                <a:rPr lang="en-US" sz="1000" dirty="0">
                  <a:solidFill>
                    <a:srgbClr val="CADCFC"/>
                  </a:solidFill>
                  <a:latin typeface="Consolas" pitchFamily="34" charset="0"/>
                  <a:ea typeface="Consolas" pitchFamily="34" charset="-122"/>
                  <a:cs typeface="Consolas" pitchFamily="34" charset="-120"/>
                </a:rPr>
                <a:t>import instructor, datetime</a:t>
              </a:r>
              <a:endParaRPr lang="en-US" sz="1000" dirty="0"/>
            </a:p>
            <a:p>
              <a:r>
                <a:rPr lang="en-US" sz="1000" dirty="0">
                  <a:solidFill>
                    <a:srgbClr val="CADCFC"/>
                  </a:solidFill>
                  <a:latin typeface="Consolas" pitchFamily="34" charset="0"/>
                  <a:ea typeface="Consolas" pitchFamily="34" charset="-122"/>
                  <a:cs typeface="Consolas" pitchFamily="34" charset="-120"/>
                </a:rPr>
                <a:t>from openai import OpenAI</a:t>
              </a:r>
              <a:endParaRPr lang="en-US" sz="1000" dirty="0"/>
            </a:p>
            <a:p>
              <a:endParaRPr lang="en-US" sz="1000" dirty="0"/>
            </a:p>
            <a:p>
              <a:r>
                <a:rPr lang="en-US" sz="1000" dirty="0">
                  <a:solidFill>
                    <a:srgbClr val="CADCFC"/>
                  </a:solidFill>
                  <a:latin typeface="Consolas" pitchFamily="34" charset="0"/>
                  <a:ea typeface="Consolas" pitchFamily="34" charset="-122"/>
                  <a:cs typeface="Consolas" pitchFamily="34" charset="-120"/>
                </a:rPr>
                <a:t>client = instructor.patch(OpenAI())</a:t>
              </a:r>
              <a:endParaRPr lang="en-US" sz="1000" dirty="0"/>
            </a:p>
            <a:p>
              <a:endParaRPr lang="en-US" sz="1000" dirty="0"/>
            </a:p>
            <a:p>
              <a:r>
                <a:rPr lang="en-US" sz="1000" dirty="0">
                  <a:solidFill>
                    <a:srgbClr val="FFC000"/>
                  </a:solidFill>
                  <a:latin typeface="Consolas" pitchFamily="34" charset="0"/>
                  <a:ea typeface="Consolas" pitchFamily="34" charset="-122"/>
                  <a:cs typeface="Consolas" pitchFamily="34" charset="-120"/>
                </a:rPr>
                <a:t>def search(query: str) -&gt; SearchQuery:</a:t>
              </a:r>
              <a:endParaRPr lang="en-US" sz="1000" dirty="0">
                <a:solidFill>
                  <a:srgbClr val="FFC000"/>
                </a:solidFill>
              </a:endParaRPr>
            </a:p>
            <a:p>
              <a:r>
                <a:rPr lang="en-US" sz="1000" dirty="0">
                  <a:solidFill>
                    <a:srgbClr val="CADCFC"/>
                  </a:solidFill>
                  <a:latin typeface="Consolas" pitchFamily="34" charset="0"/>
                  <a:ea typeface="Consolas" pitchFamily="34" charset="-122"/>
                  <a:cs typeface="Consolas" pitchFamily="34" charset="-120"/>
                </a:rPr>
                <a:t>    return client.chat.completions.create(</a:t>
              </a:r>
              <a:endParaRPr lang="en-US" sz="1000" dirty="0"/>
            </a:p>
            <a:p>
              <a:r>
                <a:rPr lang="en-US" sz="1000" dirty="0">
                  <a:solidFill>
                    <a:srgbClr val="CADCFC"/>
                  </a:solidFill>
                  <a:latin typeface="Consolas" pitchFamily="34" charset="0"/>
                  <a:ea typeface="Consolas" pitchFamily="34" charset="-122"/>
                  <a:cs typeface="Consolas" pitchFamily="34" charset="-120"/>
                </a:rPr>
                <a:t>        model="gpt-4",</a:t>
              </a:r>
              <a:endParaRPr lang="en-US" sz="1000" dirty="0"/>
            </a:p>
            <a:p>
              <a:r>
                <a:rPr lang="en-US" sz="1000" dirty="0">
                  <a:solidFill>
                    <a:srgbClr val="CADCFC"/>
                  </a:solidFill>
                  <a:latin typeface="Consolas" pitchFamily="34" charset="0"/>
                  <a:ea typeface="Consolas" pitchFamily="34" charset="-122"/>
                  <a:cs typeface="Consolas" pitchFamily="34" charset="-120"/>
                </a:rPr>
                <a:t>        </a:t>
              </a:r>
              <a:r>
                <a:rPr lang="en-US" sz="1000" dirty="0">
                  <a:solidFill>
                    <a:srgbClr val="FFC000"/>
                  </a:solidFill>
                  <a:latin typeface="Consolas" pitchFamily="34" charset="0"/>
                  <a:ea typeface="Consolas" pitchFamily="34" charset="-122"/>
                  <a:cs typeface="Consolas" pitchFamily="34" charset="-120"/>
                </a:rPr>
                <a:t>response_model=SearchQuery,</a:t>
              </a:r>
              <a:endParaRPr lang="en-US" sz="1000" dirty="0">
                <a:solidFill>
                  <a:srgbClr val="FFC000"/>
                </a:solidFill>
              </a:endParaRPr>
            </a:p>
            <a:p>
              <a:r>
                <a:rPr lang="en-US" sz="1000" dirty="0">
                  <a:solidFill>
                    <a:srgbClr val="CADCFC"/>
                  </a:solidFill>
                  <a:latin typeface="Consolas" pitchFamily="34" charset="0"/>
                  <a:ea typeface="Consolas" pitchFamily="34" charset="-122"/>
                  <a:cs typeface="Consolas" pitchFamily="34" charset="-120"/>
                </a:rPr>
                <a:t>        messages=[</a:t>
              </a:r>
              <a:endParaRPr lang="en-US" sz="1000" dirty="0"/>
            </a:p>
            <a:p>
              <a:r>
                <a:rPr lang="en-US" sz="1000" dirty="0">
                  <a:solidFill>
                    <a:srgbClr val="CADCFC"/>
                  </a:solidFill>
                  <a:latin typeface="Consolas" pitchFamily="34" charset="0"/>
                  <a:ea typeface="Consolas" pitchFamily="34" charset="-122"/>
                  <a:cs typeface="Consolas" pitchFamily="34" charset="-120"/>
                </a:rPr>
                <a:t>            {</a:t>
              </a:r>
              <a:endParaRPr lang="en-US" sz="1000" dirty="0"/>
            </a:p>
            <a:p>
              <a:r>
                <a:rPr lang="en-US" sz="1000" dirty="0">
                  <a:solidFill>
                    <a:srgbClr val="CADCFC"/>
                  </a:solidFill>
                  <a:latin typeface="Consolas" pitchFamily="34" charset="0"/>
                  <a:ea typeface="Consolas" pitchFamily="34" charset="-122"/>
                  <a:cs typeface="Consolas" pitchFamily="34" charset="-120"/>
                </a:rPr>
                <a:t>                "role": "system",</a:t>
              </a:r>
              <a:endParaRPr lang="en-US" sz="1000" dirty="0"/>
            </a:p>
            <a:p>
              <a:r>
                <a:rPr lang="en-US" sz="1000" dirty="0">
                  <a:solidFill>
                    <a:srgbClr val="CADCFC"/>
                  </a:solidFill>
                  <a:latin typeface="Consolas" pitchFamily="34" charset="0"/>
                  <a:ea typeface="Consolas" pitchFamily="34" charset="-122"/>
                  <a:cs typeface="Consolas" pitchFamily="34" charset="-120"/>
                </a:rPr>
                <a:t>                "content": f"You are a query understanding system."</a:t>
              </a:r>
              <a:endParaRPr lang="en-US" sz="1000" dirty="0"/>
            </a:p>
            <a:p>
              <a:r>
                <a:rPr lang="en-US" sz="1000" dirty="0">
                  <a:solidFill>
                    <a:srgbClr val="CADCFC"/>
                  </a:solidFill>
                  <a:latin typeface="Consolas" pitchFamily="34" charset="0"/>
                  <a:ea typeface="Consolas" pitchFamily="34" charset="-122"/>
                  <a:cs typeface="Consolas" pitchFamily="34" charset="-120"/>
                </a:rPr>
                <a:t>                           f" Today is {datetime.date.today()}"</a:t>
              </a:r>
              <a:endParaRPr lang="en-US" sz="1000" dirty="0"/>
            </a:p>
            <a:p>
              <a:r>
                <a:rPr lang="en-US" sz="1000" dirty="0">
                  <a:solidFill>
                    <a:srgbClr val="CADCFC"/>
                  </a:solidFill>
                  <a:latin typeface="Consolas" pitchFamily="34" charset="0"/>
                  <a:ea typeface="Consolas" pitchFamily="34" charset="-122"/>
                  <a:cs typeface="Consolas" pitchFamily="34" charset="-120"/>
                </a:rPr>
                <a:t>            },</a:t>
              </a:r>
              <a:endParaRPr lang="en-US" sz="1000" dirty="0"/>
            </a:p>
            <a:p>
              <a:r>
                <a:rPr lang="en-US" sz="1000" dirty="0">
                  <a:solidFill>
                    <a:srgbClr val="CADCFC"/>
                  </a:solidFill>
                  <a:latin typeface="Consolas" pitchFamily="34" charset="0"/>
                  <a:ea typeface="Consolas" pitchFamily="34" charset="-122"/>
                  <a:cs typeface="Consolas" pitchFamily="34" charset="-120"/>
                </a:rPr>
                <a:t>            {"role": "user", "content": query}</a:t>
              </a:r>
              <a:endParaRPr lang="en-US" sz="1000" dirty="0"/>
            </a:p>
            <a:p>
              <a:r>
                <a:rPr lang="en-US" sz="1000" dirty="0">
                  <a:solidFill>
                    <a:srgbClr val="CADCFC"/>
                  </a:solidFill>
                  <a:latin typeface="Consolas" pitchFamily="34" charset="0"/>
                  <a:ea typeface="Consolas" pitchFamily="34" charset="-122"/>
                  <a:cs typeface="Consolas" pitchFamily="34" charset="-120"/>
                </a:rPr>
                <a:t>        ],</a:t>
              </a:r>
              <a:endParaRPr lang="en-US" sz="1000" dirty="0"/>
            </a:p>
            <a:p>
              <a:r>
                <a:rPr lang="en-US" sz="1000" dirty="0">
                  <a:solidFill>
                    <a:srgbClr val="CADCFC"/>
                  </a:solidFill>
                  <a:latin typeface="Consolas" pitchFamily="34" charset="0"/>
                  <a:ea typeface="Consolas" pitchFamily="34" charset="-122"/>
                  <a:cs typeface="Consolas" pitchFamily="34" charset="-120"/>
                </a:rPr>
                <a:t>    )</a:t>
              </a:r>
              <a:endParaRPr lang="en-US" sz="1000" dirty="0"/>
            </a:p>
            <a:p>
              <a:endParaRPr lang="en-US" sz="1000" dirty="0"/>
            </a:p>
            <a:p>
              <a:r>
                <a:rPr lang="en-US" sz="1000" dirty="0">
                  <a:solidFill>
                    <a:srgbClr val="CADCFC"/>
                  </a:solidFill>
                  <a:latin typeface="Consolas" pitchFamily="34" charset="0"/>
                  <a:ea typeface="Consolas" pitchFamily="34" charset="-122"/>
                  <a:cs typeface="Consolas" pitchFamily="34" charset="-120"/>
                </a:rPr>
                <a:t>result = search("recent advancements in AI")</a:t>
              </a:r>
              <a:endParaRPr lang="en-US" sz="1000" dirty="0"/>
            </a:p>
          </p:txBody>
        </p:sp>
      </p:grpSp>
      <p:grpSp>
        <p:nvGrpSpPr>
          <p:cNvPr id="22" name="Group 21">
            <a:extLst>
              <a:ext uri="{FF2B5EF4-FFF2-40B4-BE49-F238E27FC236}">
                <a16:creationId xmlns:a16="http://schemas.microsoft.com/office/drawing/2014/main" id="{411C5D6A-11C2-6DC8-E9A3-2C807C6D1869}"/>
              </a:ext>
            </a:extLst>
          </p:cNvPr>
          <p:cNvGrpSpPr/>
          <p:nvPr/>
        </p:nvGrpSpPr>
        <p:grpSpPr>
          <a:xfrm>
            <a:off x="5445053" y="1179974"/>
            <a:ext cx="3566160" cy="2871216"/>
            <a:chOff x="5230368" y="1243584"/>
            <a:chExt cx="3566160" cy="2871216"/>
          </a:xfrm>
        </p:grpSpPr>
        <p:sp>
          <p:nvSpPr>
            <p:cNvPr id="8" name="Text 6"/>
            <p:cNvSpPr/>
            <p:nvPr/>
          </p:nvSpPr>
          <p:spPr>
            <a:xfrm>
              <a:off x="5230368" y="1243584"/>
              <a:ext cx="3566160" cy="256032"/>
            </a:xfrm>
            <a:prstGeom prst="rect">
              <a:avLst/>
            </a:prstGeom>
            <a:noFill/>
            <a:ln/>
          </p:spPr>
          <p:txBody>
            <a:bodyPr wrap="square" rtlCol="0" anchor="ctr"/>
            <a:lstStyle/>
            <a:p>
              <a:r>
                <a:rPr lang="en-US" sz="1200" b="1" dirty="0">
                  <a:solidFill>
                    <a:srgbClr val="1A1F36"/>
                  </a:solidFill>
                  <a:latin typeface="Calibri" pitchFamily="34" charset="0"/>
                  <a:ea typeface="Calibri" pitchFamily="34" charset="-122"/>
                  <a:cs typeface="Calibri" pitchFamily="34" charset="-120"/>
                </a:rPr>
                <a:t>Structured output:</a:t>
              </a:r>
              <a:endParaRPr lang="en-US" sz="1200" dirty="0"/>
            </a:p>
          </p:txBody>
        </p:sp>
        <p:sp>
          <p:nvSpPr>
            <p:cNvPr id="9" name="Shape 7"/>
            <p:cNvSpPr/>
            <p:nvPr/>
          </p:nvSpPr>
          <p:spPr>
            <a:xfrm>
              <a:off x="5230368" y="1536192"/>
              <a:ext cx="3566160" cy="1920240"/>
            </a:xfrm>
            <a:prstGeom prst="rect">
              <a:avLst/>
            </a:prstGeom>
            <a:solidFill>
              <a:srgbClr val="1A1F36"/>
            </a:solidFill>
            <a:ln w="12700">
              <a:solidFill>
                <a:srgbClr val="1A1F36"/>
              </a:solidFill>
              <a:prstDash val="solid"/>
            </a:ln>
            <a:effectLst>
              <a:outerShdw blurRad="63500" dist="25400" dir="8100000" algn="bl" rotWithShape="0">
                <a:srgbClr val="1A1F36">
                  <a:alpha val="12000"/>
                </a:srgbClr>
              </a:outerShdw>
            </a:effectLst>
          </p:spPr>
        </p:sp>
        <p:sp>
          <p:nvSpPr>
            <p:cNvPr id="11" name="Text 9"/>
            <p:cNvSpPr/>
            <p:nvPr/>
          </p:nvSpPr>
          <p:spPr>
            <a:xfrm>
              <a:off x="5394960" y="1627632"/>
              <a:ext cx="3310128" cy="1737360"/>
            </a:xfrm>
            <a:prstGeom prst="rect">
              <a:avLst/>
            </a:prstGeom>
            <a:noFill/>
            <a:ln/>
          </p:spPr>
          <p:txBody>
            <a:bodyPr wrap="square" lIns="0" tIns="0" rIns="0" bIns="0" rtlCol="0" anchor="t"/>
            <a:lstStyle/>
            <a:p>
              <a:r>
                <a:rPr lang="en-US" sz="900" dirty="0">
                  <a:solidFill>
                    <a:srgbClr val="CADCFC"/>
                  </a:solidFill>
                  <a:latin typeface="Consolas" pitchFamily="34" charset="0"/>
                  <a:ea typeface="Consolas" pitchFamily="34" charset="-122"/>
                  <a:cs typeface="Consolas" pitchFamily="34" charset="-120"/>
                </a:rPr>
                <a:t>{</a:t>
              </a:r>
              <a:endParaRPr lang="en-US" sz="900" dirty="0"/>
            </a:p>
            <a:p>
              <a:r>
                <a:rPr lang="en-US" sz="900" dirty="0">
                  <a:solidFill>
                    <a:srgbClr val="CADCFC"/>
                  </a:solidFill>
                  <a:latin typeface="Consolas" pitchFamily="34" charset="0"/>
                  <a:ea typeface="Consolas" pitchFamily="34" charset="-122"/>
                  <a:cs typeface="Consolas" pitchFamily="34" charset="-120"/>
                </a:rPr>
                <a:t>  "rewritten_query":</a:t>
              </a:r>
              <a:endParaRPr lang="en-US" sz="900" dirty="0"/>
            </a:p>
            <a:p>
              <a:r>
                <a:rPr lang="en-US" sz="900" dirty="0">
                  <a:solidFill>
                    <a:srgbClr val="CADCFC"/>
                  </a:solidFill>
                  <a:latin typeface="Consolas" pitchFamily="34" charset="0"/>
                  <a:ea typeface="Consolas" pitchFamily="34" charset="-122"/>
                  <a:cs typeface="Consolas" pitchFamily="34" charset="-120"/>
                </a:rPr>
                <a:t>    "novel developments</a:t>
              </a:r>
              <a:endParaRPr lang="en-US" sz="900" dirty="0"/>
            </a:p>
            <a:p>
              <a:r>
                <a:rPr lang="en-US" sz="900" dirty="0">
                  <a:solidFill>
                    <a:srgbClr val="CADCFC"/>
                  </a:solidFill>
                  <a:latin typeface="Consolas" pitchFamily="34" charset="0"/>
                  <a:ea typeface="Consolas" pitchFamily="34" charset="-122"/>
                  <a:cs typeface="Consolas" pitchFamily="34" charset="-120"/>
                </a:rPr>
                <a:t>     advancements in AI</a:t>
              </a:r>
              <a:endParaRPr lang="en-US" sz="900" dirty="0"/>
            </a:p>
            <a:p>
              <a:r>
                <a:rPr lang="en-US" sz="900" dirty="0">
                  <a:solidFill>
                    <a:srgbClr val="CADCFC"/>
                  </a:solidFill>
                  <a:latin typeface="Consolas" pitchFamily="34" charset="0"/>
                  <a:ea typeface="Consolas" pitchFamily="34" charset="-122"/>
                  <a:cs typeface="Consolas" pitchFamily="34" charset="-120"/>
                </a:rPr>
                <a:t>     machine learning",</a:t>
              </a:r>
              <a:endParaRPr lang="en-US" sz="900" dirty="0"/>
            </a:p>
            <a:p>
              <a:r>
                <a:rPr lang="en-US" sz="900" dirty="0">
                  <a:solidFill>
                    <a:srgbClr val="CADCFC"/>
                  </a:solidFill>
                  <a:latin typeface="Consolas" pitchFamily="34" charset="0"/>
                  <a:ea typeface="Consolas" pitchFamily="34" charset="-122"/>
                  <a:cs typeface="Consolas" pitchFamily="34" charset="-120"/>
                </a:rPr>
                <a:t>  "published_daterange": {</a:t>
              </a:r>
              <a:endParaRPr lang="en-US" sz="900" dirty="0"/>
            </a:p>
            <a:p>
              <a:r>
                <a:rPr lang="en-US" sz="900" dirty="0">
                  <a:solidFill>
                    <a:srgbClr val="CADCFC"/>
                  </a:solidFill>
                  <a:latin typeface="Consolas" pitchFamily="34" charset="0"/>
                  <a:ea typeface="Consolas" pitchFamily="34" charset="-122"/>
                  <a:cs typeface="Consolas" pitchFamily="34" charset="-120"/>
                </a:rPr>
                <a:t>    "start": "2023-01-01",</a:t>
              </a:r>
              <a:endParaRPr lang="en-US" sz="900" dirty="0"/>
            </a:p>
            <a:p>
              <a:r>
                <a:rPr lang="en-US" sz="900" dirty="0">
                  <a:solidFill>
                    <a:srgbClr val="CADCFC"/>
                  </a:solidFill>
                  <a:latin typeface="Consolas" pitchFamily="34" charset="0"/>
                  <a:ea typeface="Consolas" pitchFamily="34" charset="-122"/>
                  <a:cs typeface="Consolas" pitchFamily="34" charset="-120"/>
                </a:rPr>
                <a:t>    "end":   "2023-12-15"</a:t>
              </a:r>
              <a:endParaRPr lang="en-US" sz="900" dirty="0"/>
            </a:p>
            <a:p>
              <a:r>
                <a:rPr lang="en-US" sz="900" dirty="0">
                  <a:solidFill>
                    <a:srgbClr val="CADCFC"/>
                  </a:solidFill>
                  <a:latin typeface="Consolas" pitchFamily="34" charset="0"/>
                  <a:ea typeface="Consolas" pitchFamily="34" charset="-122"/>
                  <a:cs typeface="Consolas" pitchFamily="34" charset="-120"/>
                </a:rPr>
                <a:t>  },</a:t>
              </a:r>
              <a:endParaRPr lang="en-US" sz="900" dirty="0"/>
            </a:p>
            <a:p>
              <a:r>
                <a:rPr lang="en-US" sz="900" dirty="0">
                  <a:solidFill>
                    <a:srgbClr val="CADCFC"/>
                  </a:solidFill>
                  <a:latin typeface="Consolas" pitchFamily="34" charset="0"/>
                  <a:ea typeface="Consolas" pitchFamily="34" charset="-122"/>
                  <a:cs typeface="Consolas" pitchFamily="34" charset="-120"/>
                </a:rPr>
                <a:t>  "domains_allow_list":</a:t>
              </a:r>
              <a:endParaRPr lang="en-US" sz="900" dirty="0"/>
            </a:p>
            <a:p>
              <a:r>
                <a:rPr lang="en-US" sz="900" dirty="0">
                  <a:solidFill>
                    <a:srgbClr val="CADCFC"/>
                  </a:solidFill>
                  <a:latin typeface="Consolas" pitchFamily="34" charset="0"/>
                  <a:ea typeface="Consolas" pitchFamily="34" charset="-122"/>
                  <a:cs typeface="Consolas" pitchFamily="34" charset="-120"/>
                </a:rPr>
                <a:t>    ["arxiv.org"]</a:t>
              </a:r>
              <a:endParaRPr lang="en-US" sz="900" dirty="0"/>
            </a:p>
            <a:p>
              <a:r>
                <a:rPr lang="en-US" sz="900" dirty="0">
                  <a:solidFill>
                    <a:srgbClr val="CADCFC"/>
                  </a:solidFill>
                  <a:latin typeface="Consolas" pitchFamily="34" charset="0"/>
                  <a:ea typeface="Consolas" pitchFamily="34" charset="-122"/>
                  <a:cs typeface="Consolas" pitchFamily="34" charset="-120"/>
                </a:rPr>
                <a:t>}</a:t>
              </a:r>
              <a:endParaRPr lang="en-US" sz="900" dirty="0"/>
            </a:p>
          </p:txBody>
        </p:sp>
        <p:sp>
          <p:nvSpPr>
            <p:cNvPr id="12" name="Shape 10"/>
            <p:cNvSpPr/>
            <p:nvPr/>
          </p:nvSpPr>
          <p:spPr>
            <a:xfrm>
              <a:off x="5230368" y="3547872"/>
              <a:ext cx="3566160" cy="566928"/>
            </a:xfrm>
            <a:prstGeom prst="rect">
              <a:avLst/>
            </a:prstGeom>
            <a:solidFill>
              <a:srgbClr val="E8F5E9"/>
            </a:solidFill>
            <a:ln w="19050">
              <a:solidFill>
                <a:srgbClr val="388E3C"/>
              </a:solidFill>
              <a:prstDash val="solid"/>
            </a:ln>
            <a:effectLst>
              <a:outerShdw blurRad="63500" dist="25400" dir="8100000" algn="bl" rotWithShape="0">
                <a:srgbClr val="1A1F36">
                  <a:alpha val="12000"/>
                </a:srgbClr>
              </a:outerShdw>
            </a:effectLst>
          </p:spPr>
        </p:sp>
        <p:sp>
          <p:nvSpPr>
            <p:cNvPr id="10" name="Shape 8"/>
            <p:cNvSpPr/>
            <p:nvPr/>
          </p:nvSpPr>
          <p:spPr>
            <a:xfrm>
              <a:off x="5230368" y="1536192"/>
              <a:ext cx="73152" cy="1920240"/>
            </a:xfrm>
            <a:prstGeom prst="rect">
              <a:avLst/>
            </a:prstGeom>
            <a:solidFill>
              <a:srgbClr val="3D5A80"/>
            </a:solidFill>
            <a:ln w="12700">
              <a:solidFill>
                <a:srgbClr val="3D5A80"/>
              </a:solidFill>
              <a:prstDash val="solid"/>
            </a:ln>
          </p:spPr>
        </p:sp>
        <p:sp>
          <p:nvSpPr>
            <p:cNvPr id="13" name="Shape 11"/>
            <p:cNvSpPr/>
            <p:nvPr/>
          </p:nvSpPr>
          <p:spPr>
            <a:xfrm>
              <a:off x="5230368" y="3547872"/>
              <a:ext cx="64008" cy="566928"/>
            </a:xfrm>
            <a:prstGeom prst="rect">
              <a:avLst/>
            </a:prstGeom>
            <a:solidFill>
              <a:srgbClr val="388E3C"/>
            </a:solidFill>
            <a:ln w="12700">
              <a:solidFill>
                <a:srgbClr val="388E3C"/>
              </a:solidFill>
              <a:prstDash val="solid"/>
            </a:ln>
          </p:spPr>
        </p:sp>
        <p:sp>
          <p:nvSpPr>
            <p:cNvPr id="14" name="Text 12"/>
            <p:cNvSpPr/>
            <p:nvPr/>
          </p:nvSpPr>
          <p:spPr>
            <a:xfrm>
              <a:off x="5394960" y="3611880"/>
              <a:ext cx="3246120" cy="438912"/>
            </a:xfrm>
            <a:prstGeom prst="rect">
              <a:avLst/>
            </a:prstGeom>
            <a:noFill/>
            <a:ln/>
          </p:spPr>
          <p:txBody>
            <a:bodyPr wrap="square" lIns="0" tIns="0" rIns="0" bIns="0" rtlCol="0" anchor="ctr"/>
            <a:lstStyle/>
            <a:p>
              <a:r>
                <a:rPr lang="en-US" sz="1050" dirty="0">
                  <a:solidFill>
                    <a:srgbClr val="1B5E20"/>
                  </a:solidFill>
                  <a:latin typeface="Calibri" pitchFamily="34" charset="0"/>
                  <a:ea typeface="Calibri" pitchFamily="34" charset="-122"/>
                  <a:cs typeface="Calibri" pitchFamily="34" charset="-120"/>
                </a:rPr>
                <a:t>Fully typed • validated dates • ready for the API • user sees none of this</a:t>
              </a:r>
              <a:endParaRPr lang="en-US" sz="1050" dirty="0"/>
            </a:p>
          </p:txBody>
        </p:sp>
      </p:grpSp>
      <p:grpSp>
        <p:nvGrpSpPr>
          <p:cNvPr id="2" name="Group 1">
            <a:extLst>
              <a:ext uri="{FF2B5EF4-FFF2-40B4-BE49-F238E27FC236}">
                <a16:creationId xmlns:a16="http://schemas.microsoft.com/office/drawing/2014/main" id="{BA935438-70DC-8F50-8C4E-1D007780D930}"/>
              </a:ext>
            </a:extLst>
          </p:cNvPr>
          <p:cNvGrpSpPr/>
          <p:nvPr/>
        </p:nvGrpSpPr>
        <p:grpSpPr>
          <a:xfrm>
            <a:off x="320040" y="4384349"/>
            <a:ext cx="4800600" cy="502920"/>
            <a:chOff x="320040" y="4169664"/>
            <a:chExt cx="4800600" cy="502920"/>
          </a:xfrm>
        </p:grpSpPr>
        <p:sp>
          <p:nvSpPr>
            <p:cNvPr id="15" name="Shape 13"/>
            <p:cNvSpPr/>
            <p:nvPr/>
          </p:nvSpPr>
          <p:spPr>
            <a:xfrm>
              <a:off x="320040" y="4169664"/>
              <a:ext cx="4800600" cy="502920"/>
            </a:xfrm>
            <a:prstGeom prst="rect">
              <a:avLst/>
            </a:prstGeom>
            <a:solidFill>
              <a:srgbClr val="D6E4F7"/>
            </a:solidFill>
            <a:ln w="15240">
              <a:solidFill>
                <a:srgbClr val="3D5A80"/>
              </a:solidFill>
              <a:prstDash val="solid"/>
            </a:ln>
            <a:effectLst>
              <a:outerShdw blurRad="63500" dist="25400" dir="8100000" algn="bl" rotWithShape="0">
                <a:srgbClr val="1A1F36">
                  <a:alpha val="12000"/>
                </a:srgbClr>
              </a:outerShdw>
            </a:effectLst>
          </p:spPr>
        </p:sp>
        <p:sp>
          <p:nvSpPr>
            <p:cNvPr id="16" name="Shape 14"/>
            <p:cNvSpPr/>
            <p:nvPr/>
          </p:nvSpPr>
          <p:spPr>
            <a:xfrm>
              <a:off x="320040" y="4169664"/>
              <a:ext cx="64008" cy="502920"/>
            </a:xfrm>
            <a:prstGeom prst="rect">
              <a:avLst/>
            </a:prstGeom>
            <a:solidFill>
              <a:srgbClr val="3D5A80"/>
            </a:solidFill>
            <a:ln w="12700">
              <a:solidFill>
                <a:srgbClr val="3D5A80"/>
              </a:solidFill>
              <a:prstDash val="solid"/>
            </a:ln>
          </p:spPr>
        </p:sp>
        <p:sp>
          <p:nvSpPr>
            <p:cNvPr id="17" name="Text 15"/>
            <p:cNvSpPr/>
            <p:nvPr/>
          </p:nvSpPr>
          <p:spPr>
            <a:xfrm>
              <a:off x="502920" y="4224528"/>
              <a:ext cx="4389120" cy="384048"/>
            </a:xfrm>
            <a:prstGeom prst="rect">
              <a:avLst/>
            </a:prstGeom>
            <a:noFill/>
            <a:ln/>
          </p:spPr>
          <p:txBody>
            <a:bodyPr wrap="square" lIns="0" tIns="0" rIns="0" bIns="0" rtlCol="0" anchor="ctr"/>
            <a:lstStyle/>
            <a:p>
              <a:r>
                <a:rPr lang="en-US" sz="1050" dirty="0">
                  <a:solidFill>
                    <a:srgbClr val="1A1F36"/>
                  </a:solidFill>
                  <a:latin typeface="Calibri" pitchFamily="34" charset="0"/>
                  <a:ea typeface="Calibri" pitchFamily="34" charset="-122"/>
                  <a:cs typeface="Calibri" pitchFamily="34" charset="-120"/>
                </a:rPr>
                <a:t>The model rewrites the user query AND adds a date range and domain filter — the user just types natural language.</a:t>
              </a:r>
              <a:endParaRPr lang="en-US" sz="1050" dirty="0"/>
            </a:p>
          </p:txBody>
        </p:sp>
      </p:grpSp>
      <p:sp>
        <p:nvSpPr>
          <p:cNvPr id="18" name="Text 16"/>
          <p:cNvSpPr/>
          <p:nvPr/>
        </p:nvSpPr>
        <p:spPr>
          <a:xfrm>
            <a:off x="8046720" y="4800600"/>
            <a:ext cx="914400" cy="256032"/>
          </a:xfrm>
          <a:prstGeom prst="rect">
            <a:avLst/>
          </a:prstGeom>
          <a:noFill/>
          <a:ln/>
        </p:spPr>
        <p:txBody>
          <a:bodyPr wrap="square" rtlCol="0" anchor="ctr"/>
          <a:lstStyle/>
          <a:p>
            <a:pPr algn="r"/>
            <a:r>
              <a:rPr lang="en-US" sz="900" dirty="0">
                <a:solidFill>
                  <a:srgbClr val="78909C"/>
                </a:solidFill>
              </a:rPr>
              <a:t>11 / 13</a:t>
            </a:r>
            <a:endParaRPr lang="en-US" sz="900" dirty="0"/>
          </a:p>
        </p:txBody>
      </p:sp>
      <p:pic>
        <p:nvPicPr>
          <p:cNvPr id="19" name="Google Shape;109;p20">
            <a:extLst>
              <a:ext uri="{FF2B5EF4-FFF2-40B4-BE49-F238E27FC236}">
                <a16:creationId xmlns:a16="http://schemas.microsoft.com/office/drawing/2014/main" id="{984CF6E9-E2B9-E61E-19EA-1F75DCF69106}"/>
              </a:ext>
            </a:extLst>
          </p:cNvPr>
          <p:cNvPicPr preferRelativeResize="0"/>
          <p:nvPr/>
        </p:nvPicPr>
        <p:blipFill>
          <a:blip r:embed="rId3">
            <a:alphaModFix/>
          </a:blip>
          <a:stretch>
            <a:fillRect/>
          </a:stretch>
        </p:blipFill>
        <p:spPr>
          <a:xfrm>
            <a:off x="8369126" y="0"/>
            <a:ext cx="774877" cy="867174"/>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11480" y="146304"/>
            <a:ext cx="8321040" cy="566928"/>
          </a:xfrm>
          <a:prstGeom prst="rect">
            <a:avLst/>
          </a:prstGeom>
          <a:noFill/>
          <a:ln/>
        </p:spPr>
        <p:txBody>
          <a:bodyPr wrap="square" lIns="0" tIns="0" rIns="0" bIns="0" rtlCol="0" anchor="ctr"/>
          <a:lstStyle/>
          <a:p>
            <a:pPr marL="0" indent="0">
              <a:buNone/>
            </a:pPr>
            <a:r>
              <a:rPr lang="en-US" sz="2500" b="1" dirty="0">
                <a:solidFill>
                  <a:srgbClr val="1A1F36"/>
                </a:solidFill>
                <a:latin typeface="Georgia" pitchFamily="34" charset="0"/>
                <a:ea typeface="Georgia" pitchFamily="34" charset="-122"/>
                <a:cs typeface="Georgia" pitchFamily="34" charset="-120"/>
              </a:rPr>
              <a:t>Prompting Tips for Pydantic Models</a:t>
            </a:r>
            <a:endParaRPr lang="en-US" sz="2500" dirty="0"/>
          </a:p>
        </p:txBody>
      </p:sp>
      <p:sp>
        <p:nvSpPr>
          <p:cNvPr id="4" name="Text 2"/>
          <p:cNvSpPr/>
          <p:nvPr/>
        </p:nvSpPr>
        <p:spPr>
          <a:xfrm>
            <a:off x="411480" y="640875"/>
            <a:ext cx="8321040" cy="402336"/>
          </a:xfrm>
          <a:prstGeom prst="rect">
            <a:avLst/>
          </a:prstGeom>
          <a:noFill/>
          <a:ln/>
        </p:spPr>
        <p:txBody>
          <a:bodyPr wrap="square" rtlCol="0" anchor="ctr"/>
          <a:lstStyle/>
          <a:p>
            <a:pPr marL="0" indent="0">
              <a:buNone/>
            </a:pPr>
            <a:r>
              <a:rPr lang="en-US" sz="1300" dirty="0">
                <a:solidFill>
                  <a:srgbClr val="1A1F36"/>
                </a:solidFill>
                <a:latin typeface="Calibri" pitchFamily="34" charset="0"/>
                <a:ea typeface="Calibri" pitchFamily="34" charset="-122"/>
                <a:cs typeface="Calibri" pitchFamily="34" charset="-120"/>
              </a:rPr>
              <a:t>Well-designed Pydantic models self-document the output format. A few tips for getting the best results:</a:t>
            </a:r>
            <a:endParaRPr lang="en-US" sz="1300" dirty="0"/>
          </a:p>
        </p:txBody>
      </p:sp>
      <p:grpSp>
        <p:nvGrpSpPr>
          <p:cNvPr id="2" name="Group 1">
            <a:extLst>
              <a:ext uri="{FF2B5EF4-FFF2-40B4-BE49-F238E27FC236}">
                <a16:creationId xmlns:a16="http://schemas.microsoft.com/office/drawing/2014/main" id="{8EC78EB6-7ECB-012D-7DCD-9833CA331735}"/>
              </a:ext>
            </a:extLst>
          </p:cNvPr>
          <p:cNvGrpSpPr/>
          <p:nvPr/>
        </p:nvGrpSpPr>
        <p:grpSpPr>
          <a:xfrm>
            <a:off x="320040" y="1134651"/>
            <a:ext cx="8503920" cy="2249424"/>
            <a:chOff x="320040" y="1261872"/>
            <a:chExt cx="8503920" cy="2249424"/>
          </a:xfrm>
        </p:grpSpPr>
        <p:sp>
          <p:nvSpPr>
            <p:cNvPr id="5" name="Shape 3"/>
            <p:cNvSpPr/>
            <p:nvPr/>
          </p:nvSpPr>
          <p:spPr>
            <a:xfrm>
              <a:off x="320040" y="1261872"/>
              <a:ext cx="4160520" cy="1115568"/>
            </a:xfrm>
            <a:prstGeom prst="rect">
              <a:avLst/>
            </a:prstGeom>
            <a:solidFill>
              <a:srgbClr val="D6E4F7"/>
            </a:solidFill>
            <a:ln w="15240">
              <a:solidFill>
                <a:srgbClr val="3D5A80"/>
              </a:solidFill>
              <a:prstDash val="solid"/>
            </a:ln>
            <a:effectLst>
              <a:outerShdw blurRad="63500" dist="25400" dir="8100000" algn="bl" rotWithShape="0">
                <a:srgbClr val="1A1F36">
                  <a:alpha val="12000"/>
                </a:srgbClr>
              </a:outerShdw>
            </a:effectLst>
          </p:spPr>
        </p:sp>
        <p:sp>
          <p:nvSpPr>
            <p:cNvPr id="6" name="Shape 4"/>
            <p:cNvSpPr/>
            <p:nvPr/>
          </p:nvSpPr>
          <p:spPr>
            <a:xfrm>
              <a:off x="320040" y="1261872"/>
              <a:ext cx="64008" cy="1115568"/>
            </a:xfrm>
            <a:prstGeom prst="rect">
              <a:avLst/>
            </a:prstGeom>
            <a:solidFill>
              <a:srgbClr val="3D5A80"/>
            </a:solidFill>
            <a:ln w="12700">
              <a:solidFill>
                <a:srgbClr val="3D5A80"/>
              </a:solidFill>
              <a:prstDash val="solid"/>
            </a:ln>
          </p:spPr>
        </p:sp>
        <p:sp>
          <p:nvSpPr>
            <p:cNvPr id="7" name="Text 5"/>
            <p:cNvSpPr/>
            <p:nvPr/>
          </p:nvSpPr>
          <p:spPr>
            <a:xfrm>
              <a:off x="475488" y="1335024"/>
              <a:ext cx="3931920" cy="256032"/>
            </a:xfrm>
            <a:prstGeom prst="rect">
              <a:avLst/>
            </a:prstGeom>
            <a:noFill/>
            <a:ln/>
          </p:spPr>
          <p:txBody>
            <a:bodyPr wrap="square" lIns="0" tIns="0" rIns="0" bIns="0" rtlCol="0" anchor="ctr"/>
            <a:lstStyle/>
            <a:p>
              <a:pPr marL="0" indent="0">
                <a:buNone/>
              </a:pPr>
              <a:r>
                <a:rPr lang="en-US" sz="1200" b="1" dirty="0">
                  <a:solidFill>
                    <a:srgbClr val="1A1F36"/>
                  </a:solidFill>
                  <a:latin typeface="Calibri" pitchFamily="34" charset="0"/>
                  <a:ea typeface="Calibri" pitchFamily="34" charset="-122"/>
                  <a:cs typeface="Calibri" pitchFamily="34" charset="-120"/>
                </a:rPr>
                <a:t>Use descriptive field names</a:t>
              </a:r>
              <a:endParaRPr lang="en-US" sz="1200" dirty="0"/>
            </a:p>
          </p:txBody>
        </p:sp>
        <p:sp>
          <p:nvSpPr>
            <p:cNvPr id="8" name="Text 6"/>
            <p:cNvSpPr/>
            <p:nvPr/>
          </p:nvSpPr>
          <p:spPr>
            <a:xfrm>
              <a:off x="475488" y="1591056"/>
              <a:ext cx="3931920" cy="713232"/>
            </a:xfrm>
            <a:prstGeom prst="rect">
              <a:avLst/>
            </a:prstGeom>
            <a:noFill/>
            <a:ln/>
          </p:spPr>
          <p:txBody>
            <a:bodyPr wrap="square" lIns="0" tIns="0" rIns="0" bIns="0" rtlCol="0" anchor="t"/>
            <a:lstStyle/>
            <a:p>
              <a:pPr marL="0" indent="0">
                <a:buNone/>
              </a:pPr>
              <a:r>
                <a:rPr lang="en-US" sz="1200" dirty="0">
                  <a:solidFill>
                    <a:srgbClr val="1A1F36"/>
                  </a:solidFill>
                  <a:latin typeface="Calibri" pitchFamily="34" charset="0"/>
                  <a:ea typeface="Calibri" pitchFamily="34" charset="-122"/>
                  <a:cs typeface="Calibri" pitchFamily="34" charset="-120"/>
                </a:rPr>
                <a:t>Field names become part of the schema. rewritten_query is clearer than q — the model reads field names as hints about what to fill in.</a:t>
              </a:r>
              <a:endParaRPr lang="en-US" sz="1200" dirty="0"/>
            </a:p>
          </p:txBody>
        </p:sp>
        <p:sp>
          <p:nvSpPr>
            <p:cNvPr id="9" name="Shape 7"/>
            <p:cNvSpPr/>
            <p:nvPr/>
          </p:nvSpPr>
          <p:spPr>
            <a:xfrm>
              <a:off x="4663440" y="1261872"/>
              <a:ext cx="4160520" cy="1115568"/>
            </a:xfrm>
            <a:prstGeom prst="rect">
              <a:avLst/>
            </a:prstGeom>
            <a:solidFill>
              <a:srgbClr val="D6E4F7"/>
            </a:solidFill>
            <a:ln w="15240">
              <a:solidFill>
                <a:srgbClr val="3D5A80"/>
              </a:solidFill>
              <a:prstDash val="solid"/>
            </a:ln>
            <a:effectLst>
              <a:outerShdw blurRad="63500" dist="25400" dir="8100000" algn="bl" rotWithShape="0">
                <a:srgbClr val="1A1F36">
                  <a:alpha val="12000"/>
                </a:srgbClr>
              </a:outerShdw>
            </a:effectLst>
          </p:spPr>
        </p:sp>
        <p:sp>
          <p:nvSpPr>
            <p:cNvPr id="10" name="Shape 8"/>
            <p:cNvSpPr/>
            <p:nvPr/>
          </p:nvSpPr>
          <p:spPr>
            <a:xfrm>
              <a:off x="4663440" y="1261872"/>
              <a:ext cx="64008" cy="1115568"/>
            </a:xfrm>
            <a:prstGeom prst="rect">
              <a:avLst/>
            </a:prstGeom>
            <a:solidFill>
              <a:srgbClr val="3D5A80"/>
            </a:solidFill>
            <a:ln w="12700">
              <a:solidFill>
                <a:srgbClr val="3D5A80"/>
              </a:solidFill>
              <a:prstDash val="solid"/>
            </a:ln>
          </p:spPr>
        </p:sp>
        <p:sp>
          <p:nvSpPr>
            <p:cNvPr id="11" name="Text 9"/>
            <p:cNvSpPr/>
            <p:nvPr/>
          </p:nvSpPr>
          <p:spPr>
            <a:xfrm>
              <a:off x="4818888" y="1335024"/>
              <a:ext cx="3931920" cy="256032"/>
            </a:xfrm>
            <a:prstGeom prst="rect">
              <a:avLst/>
            </a:prstGeom>
            <a:noFill/>
            <a:ln/>
          </p:spPr>
          <p:txBody>
            <a:bodyPr wrap="square" lIns="0" tIns="0" rIns="0" bIns="0" rtlCol="0" anchor="ctr"/>
            <a:lstStyle/>
            <a:p>
              <a:pPr marL="0" indent="0">
                <a:buNone/>
              </a:pPr>
              <a:r>
                <a:rPr lang="en-US" sz="1200" b="1" dirty="0">
                  <a:solidFill>
                    <a:srgbClr val="1A1F36"/>
                  </a:solidFill>
                  <a:latin typeface="Calibri" pitchFamily="34" charset="0"/>
                  <a:ea typeface="Calibri" pitchFamily="34" charset="-122"/>
                  <a:cs typeface="Calibri" pitchFamily="34" charset="-120"/>
                </a:rPr>
                <a:t>Add Field(description=...)</a:t>
              </a:r>
              <a:endParaRPr lang="en-US" sz="1200" dirty="0"/>
            </a:p>
          </p:txBody>
        </p:sp>
        <p:sp>
          <p:nvSpPr>
            <p:cNvPr id="12" name="Text 10"/>
            <p:cNvSpPr/>
            <p:nvPr/>
          </p:nvSpPr>
          <p:spPr>
            <a:xfrm>
              <a:off x="4818888" y="1591056"/>
              <a:ext cx="3931920" cy="713232"/>
            </a:xfrm>
            <a:prstGeom prst="rect">
              <a:avLst/>
            </a:prstGeom>
            <a:noFill/>
            <a:ln/>
          </p:spPr>
          <p:txBody>
            <a:bodyPr wrap="square" lIns="0" tIns="0" rIns="0" bIns="0" rtlCol="0" anchor="t"/>
            <a:lstStyle/>
            <a:p>
              <a:pPr marL="0" indent="0">
                <a:buNone/>
              </a:pPr>
              <a:r>
                <a:rPr lang="en-US" sz="1200" dirty="0">
                  <a:solidFill>
                    <a:srgbClr val="1A1F36"/>
                  </a:solidFill>
                  <a:latin typeface="Calibri" pitchFamily="34" charset="0"/>
                  <a:ea typeface="Calibri" pitchFamily="34" charset="-122"/>
                  <a:cs typeface="Calibri" pitchFamily="34" charset="-120"/>
                </a:rPr>
                <a:t>Use Field(description='...') to give the LLM extra context about what each field should contain.</a:t>
              </a:r>
              <a:endParaRPr lang="en-US" sz="1200" dirty="0"/>
            </a:p>
          </p:txBody>
        </p:sp>
        <p:sp>
          <p:nvSpPr>
            <p:cNvPr id="13" name="Shape 11"/>
            <p:cNvSpPr/>
            <p:nvPr/>
          </p:nvSpPr>
          <p:spPr>
            <a:xfrm>
              <a:off x="320040" y="2468880"/>
              <a:ext cx="4160520" cy="983577"/>
            </a:xfrm>
            <a:prstGeom prst="rect">
              <a:avLst/>
            </a:prstGeom>
            <a:solidFill>
              <a:srgbClr val="D6E4F7"/>
            </a:solidFill>
            <a:ln w="15240">
              <a:solidFill>
                <a:srgbClr val="3D5A80"/>
              </a:solidFill>
              <a:prstDash val="solid"/>
            </a:ln>
            <a:effectLst>
              <a:outerShdw blurRad="63500" dist="25400" dir="8100000" algn="bl" rotWithShape="0">
                <a:srgbClr val="1A1F36">
                  <a:alpha val="12000"/>
                </a:srgbClr>
              </a:outerShdw>
            </a:effectLst>
          </p:spPr>
        </p:sp>
        <p:sp>
          <p:nvSpPr>
            <p:cNvPr id="14" name="Shape 12"/>
            <p:cNvSpPr/>
            <p:nvPr/>
          </p:nvSpPr>
          <p:spPr>
            <a:xfrm>
              <a:off x="320040" y="2468880"/>
              <a:ext cx="64008" cy="1008225"/>
            </a:xfrm>
            <a:prstGeom prst="rect">
              <a:avLst/>
            </a:prstGeom>
            <a:solidFill>
              <a:srgbClr val="3D5A80"/>
            </a:solidFill>
            <a:ln w="12700">
              <a:solidFill>
                <a:srgbClr val="3D5A80"/>
              </a:solidFill>
              <a:prstDash val="solid"/>
            </a:ln>
          </p:spPr>
        </p:sp>
        <p:sp>
          <p:nvSpPr>
            <p:cNvPr id="15" name="Text 13"/>
            <p:cNvSpPr/>
            <p:nvPr/>
          </p:nvSpPr>
          <p:spPr>
            <a:xfrm>
              <a:off x="475488" y="2542032"/>
              <a:ext cx="3931920" cy="256032"/>
            </a:xfrm>
            <a:prstGeom prst="rect">
              <a:avLst/>
            </a:prstGeom>
            <a:noFill/>
            <a:ln/>
          </p:spPr>
          <p:txBody>
            <a:bodyPr wrap="square" lIns="0" tIns="0" rIns="0" bIns="0" rtlCol="0" anchor="ctr"/>
            <a:lstStyle/>
            <a:p>
              <a:pPr marL="0" indent="0">
                <a:buNone/>
              </a:pPr>
              <a:r>
                <a:rPr lang="en-US" sz="1200" b="1" dirty="0">
                  <a:solidFill>
                    <a:srgbClr val="1A1F36"/>
                  </a:solidFill>
                  <a:latin typeface="Calibri" pitchFamily="34" charset="0"/>
                  <a:ea typeface="Calibri" pitchFamily="34" charset="-122"/>
                  <a:cs typeface="Calibri" pitchFamily="34" charset="-120"/>
                </a:rPr>
                <a:t>Nest models for clarity</a:t>
              </a:r>
              <a:endParaRPr lang="en-US" sz="1200" dirty="0"/>
            </a:p>
          </p:txBody>
        </p:sp>
        <p:sp>
          <p:nvSpPr>
            <p:cNvPr id="16" name="Text 14"/>
            <p:cNvSpPr/>
            <p:nvPr/>
          </p:nvSpPr>
          <p:spPr>
            <a:xfrm>
              <a:off x="475488" y="2798064"/>
              <a:ext cx="3931920" cy="713232"/>
            </a:xfrm>
            <a:prstGeom prst="rect">
              <a:avLst/>
            </a:prstGeom>
            <a:noFill/>
            <a:ln/>
          </p:spPr>
          <p:txBody>
            <a:bodyPr wrap="square" lIns="0" tIns="0" rIns="0" bIns="0" rtlCol="0" anchor="t"/>
            <a:lstStyle/>
            <a:p>
              <a:pPr marL="0" indent="0">
                <a:buNone/>
              </a:pPr>
              <a:r>
                <a:rPr lang="en-US" sz="1200" dirty="0">
                  <a:solidFill>
                    <a:srgbClr val="1A1F36"/>
                  </a:solidFill>
                  <a:latin typeface="Calibri" pitchFamily="34" charset="0"/>
                  <a:ea typeface="Calibri" pitchFamily="34" charset="-122"/>
                  <a:cs typeface="Calibri" pitchFamily="34" charset="-120"/>
                </a:rPr>
                <a:t>DateRange is clearer than start_date + end_date as flat fields. Nesting communicates the relationship and generates better schema.</a:t>
              </a:r>
              <a:endParaRPr lang="en-US" sz="1200" dirty="0"/>
            </a:p>
          </p:txBody>
        </p:sp>
        <p:sp>
          <p:nvSpPr>
            <p:cNvPr id="17" name="Shape 15"/>
            <p:cNvSpPr/>
            <p:nvPr/>
          </p:nvSpPr>
          <p:spPr>
            <a:xfrm>
              <a:off x="4663440" y="2468880"/>
              <a:ext cx="4160520" cy="921954"/>
            </a:xfrm>
            <a:prstGeom prst="rect">
              <a:avLst/>
            </a:prstGeom>
            <a:solidFill>
              <a:srgbClr val="D6E4F7"/>
            </a:solidFill>
            <a:ln w="15240">
              <a:solidFill>
                <a:srgbClr val="3D5A80"/>
              </a:solidFill>
              <a:prstDash val="solid"/>
            </a:ln>
            <a:effectLst>
              <a:outerShdw blurRad="63500" dist="25400" dir="8100000" algn="bl" rotWithShape="0">
                <a:srgbClr val="1A1F36">
                  <a:alpha val="12000"/>
                </a:srgbClr>
              </a:outerShdw>
            </a:effectLst>
          </p:spPr>
        </p:sp>
        <p:sp>
          <p:nvSpPr>
            <p:cNvPr id="18" name="Shape 16"/>
            <p:cNvSpPr/>
            <p:nvPr/>
          </p:nvSpPr>
          <p:spPr>
            <a:xfrm>
              <a:off x="4663440" y="2468880"/>
              <a:ext cx="64008" cy="921954"/>
            </a:xfrm>
            <a:prstGeom prst="rect">
              <a:avLst/>
            </a:prstGeom>
            <a:solidFill>
              <a:srgbClr val="3D5A80"/>
            </a:solidFill>
            <a:ln w="12700">
              <a:solidFill>
                <a:srgbClr val="3D5A80"/>
              </a:solidFill>
              <a:prstDash val="solid"/>
            </a:ln>
          </p:spPr>
        </p:sp>
        <p:sp>
          <p:nvSpPr>
            <p:cNvPr id="19" name="Text 17"/>
            <p:cNvSpPr/>
            <p:nvPr/>
          </p:nvSpPr>
          <p:spPr>
            <a:xfrm>
              <a:off x="4818888" y="2542032"/>
              <a:ext cx="3931920" cy="256032"/>
            </a:xfrm>
            <a:prstGeom prst="rect">
              <a:avLst/>
            </a:prstGeom>
            <a:noFill/>
            <a:ln/>
          </p:spPr>
          <p:txBody>
            <a:bodyPr wrap="square" lIns="0" tIns="0" rIns="0" bIns="0" rtlCol="0" anchor="ctr"/>
            <a:lstStyle/>
            <a:p>
              <a:pPr marL="0" indent="0">
                <a:buNone/>
              </a:pPr>
              <a:r>
                <a:rPr lang="en-US" sz="1200" b="1" dirty="0">
                  <a:solidFill>
                    <a:srgbClr val="1A1F36"/>
                  </a:solidFill>
                  <a:latin typeface="Calibri" pitchFamily="34" charset="0"/>
                  <a:ea typeface="Calibri" pitchFamily="34" charset="-122"/>
                  <a:cs typeface="Calibri" pitchFamily="34" charset="-120"/>
                </a:rPr>
                <a:t>Use Optional for uncertain fields</a:t>
              </a:r>
              <a:endParaRPr lang="en-US" sz="1200" dirty="0"/>
            </a:p>
          </p:txBody>
        </p:sp>
        <p:sp>
          <p:nvSpPr>
            <p:cNvPr id="20" name="Text 18"/>
            <p:cNvSpPr/>
            <p:nvPr/>
          </p:nvSpPr>
          <p:spPr>
            <a:xfrm>
              <a:off x="4818888" y="2798064"/>
              <a:ext cx="3931920" cy="713232"/>
            </a:xfrm>
            <a:prstGeom prst="rect">
              <a:avLst/>
            </a:prstGeom>
            <a:noFill/>
            <a:ln/>
          </p:spPr>
          <p:txBody>
            <a:bodyPr wrap="square" lIns="0" tIns="0" rIns="0" bIns="0" rtlCol="0" anchor="t"/>
            <a:lstStyle/>
            <a:p>
              <a:pPr marL="0" indent="0">
                <a:buNone/>
              </a:pPr>
              <a:r>
                <a:rPr lang="en-US" sz="1200" dirty="0">
                  <a:solidFill>
                    <a:srgbClr val="1A1F36"/>
                  </a:solidFill>
                  <a:latin typeface="Calibri" pitchFamily="34" charset="0"/>
                  <a:ea typeface="Calibri" pitchFamily="34" charset="-122"/>
                  <a:cs typeface="Calibri" pitchFamily="34" charset="-120"/>
                </a:rPr>
                <a:t>If an LLM might not always return a value, mark it Optional[str] = None. Pydantic handles missing fields gracefully.</a:t>
              </a:r>
              <a:endParaRPr lang="en-US" sz="1200" dirty="0"/>
            </a:p>
          </p:txBody>
        </p:sp>
      </p:grpSp>
      <p:sp>
        <p:nvSpPr>
          <p:cNvPr id="21" name="Text 19"/>
          <p:cNvSpPr/>
          <p:nvPr/>
        </p:nvSpPr>
        <p:spPr>
          <a:xfrm>
            <a:off x="411480" y="3538331"/>
            <a:ext cx="3657600" cy="237744"/>
          </a:xfrm>
          <a:prstGeom prst="rect">
            <a:avLst/>
          </a:prstGeom>
          <a:noFill/>
          <a:ln/>
        </p:spPr>
        <p:txBody>
          <a:bodyPr wrap="square" rtlCol="0" anchor="ctr"/>
          <a:lstStyle/>
          <a:p>
            <a:pPr marL="0" indent="0">
              <a:buNone/>
            </a:pPr>
            <a:r>
              <a:rPr lang="en-US" sz="1200" b="1" dirty="0">
                <a:solidFill>
                  <a:srgbClr val="1A1F36"/>
                </a:solidFill>
                <a:latin typeface="Calibri" pitchFamily="34" charset="0"/>
                <a:ea typeface="Calibri" pitchFamily="34" charset="-122"/>
                <a:cs typeface="Calibri" pitchFamily="34" charset="-120"/>
              </a:rPr>
              <a:t>Example: Field with description</a:t>
            </a:r>
            <a:endParaRPr lang="en-US" sz="1200" dirty="0"/>
          </a:p>
        </p:txBody>
      </p:sp>
      <p:grpSp>
        <p:nvGrpSpPr>
          <p:cNvPr id="27" name="Group 26">
            <a:extLst>
              <a:ext uri="{FF2B5EF4-FFF2-40B4-BE49-F238E27FC236}">
                <a16:creationId xmlns:a16="http://schemas.microsoft.com/office/drawing/2014/main" id="{C794C893-7039-F58F-0FE2-2853E5CA1A6E}"/>
              </a:ext>
            </a:extLst>
          </p:cNvPr>
          <p:cNvGrpSpPr/>
          <p:nvPr/>
        </p:nvGrpSpPr>
        <p:grpSpPr>
          <a:xfrm>
            <a:off x="320040" y="3810264"/>
            <a:ext cx="8503920" cy="1008225"/>
            <a:chOff x="320040" y="3913631"/>
            <a:chExt cx="8503920" cy="1008225"/>
          </a:xfrm>
        </p:grpSpPr>
        <p:sp>
          <p:nvSpPr>
            <p:cNvPr id="22" name="Shape 20"/>
            <p:cNvSpPr/>
            <p:nvPr/>
          </p:nvSpPr>
          <p:spPr>
            <a:xfrm>
              <a:off x="320040" y="3913631"/>
              <a:ext cx="8503920" cy="1008225"/>
            </a:xfrm>
            <a:prstGeom prst="rect">
              <a:avLst/>
            </a:prstGeom>
            <a:solidFill>
              <a:srgbClr val="1A1F36"/>
            </a:solidFill>
            <a:ln w="12700">
              <a:solidFill>
                <a:srgbClr val="1A1F36"/>
              </a:solidFill>
              <a:prstDash val="solid"/>
            </a:ln>
            <a:effectLst>
              <a:outerShdw blurRad="63500" dist="25400" dir="8100000" algn="bl" rotWithShape="0">
                <a:srgbClr val="1A1F36">
                  <a:alpha val="12000"/>
                </a:srgbClr>
              </a:outerShdw>
            </a:effectLst>
          </p:spPr>
        </p:sp>
        <p:sp>
          <p:nvSpPr>
            <p:cNvPr id="23" name="Shape 21"/>
            <p:cNvSpPr/>
            <p:nvPr/>
          </p:nvSpPr>
          <p:spPr>
            <a:xfrm>
              <a:off x="320040" y="3913632"/>
              <a:ext cx="73152" cy="868680"/>
            </a:xfrm>
            <a:prstGeom prst="rect">
              <a:avLst/>
            </a:prstGeom>
            <a:solidFill>
              <a:srgbClr val="3D5A80"/>
            </a:solidFill>
            <a:ln w="12700">
              <a:solidFill>
                <a:srgbClr val="3D5A80"/>
              </a:solidFill>
              <a:prstDash val="solid"/>
            </a:ln>
          </p:spPr>
        </p:sp>
        <p:sp>
          <p:nvSpPr>
            <p:cNvPr id="24" name="Text 22"/>
            <p:cNvSpPr/>
            <p:nvPr/>
          </p:nvSpPr>
          <p:spPr>
            <a:xfrm>
              <a:off x="484632" y="4005072"/>
              <a:ext cx="8247888" cy="685800"/>
            </a:xfrm>
            <a:prstGeom prst="rect">
              <a:avLst/>
            </a:prstGeom>
            <a:noFill/>
            <a:ln/>
          </p:spPr>
          <p:txBody>
            <a:bodyPr wrap="square" lIns="0" tIns="0" rIns="0" bIns="0" rtlCol="0" anchor="t"/>
            <a:lstStyle/>
            <a:p>
              <a:pPr marL="0" indent="0">
                <a:buNone/>
              </a:pPr>
              <a:r>
                <a:rPr lang="en-US" sz="1100" dirty="0">
                  <a:solidFill>
                    <a:srgbClr val="CADCFC"/>
                  </a:solidFill>
                  <a:latin typeface="Consolas" pitchFamily="34" charset="0"/>
                  <a:ea typeface="Consolas" pitchFamily="34" charset="-122"/>
                  <a:cs typeface="Consolas" pitchFamily="34" charset="-120"/>
                </a:rPr>
                <a:t>from pydantic import BaseModel, Field</a:t>
              </a:r>
              <a:endParaRPr lang="en-US" sz="1100" dirty="0"/>
            </a:p>
            <a:p>
              <a:pPr marL="0" indent="0">
                <a:buNone/>
              </a:pPr>
              <a:r>
                <a:rPr lang="en-US" sz="1100" dirty="0">
                  <a:solidFill>
                    <a:srgbClr val="CADCFC"/>
                  </a:solidFill>
                  <a:latin typeface="Consolas" pitchFamily="34" charset="0"/>
                  <a:ea typeface="Consolas" pitchFamily="34" charset="-122"/>
                  <a:cs typeface="Consolas" pitchFamily="34" charset="-120"/>
                </a:rPr>
                <a:t>class SearchQuery(BaseModel):</a:t>
              </a:r>
              <a:endParaRPr lang="en-US" sz="1100" dirty="0"/>
            </a:p>
            <a:p>
              <a:pPr marL="0" indent="0">
                <a:buNone/>
              </a:pPr>
              <a:r>
                <a:rPr lang="en-US" sz="1100" dirty="0">
                  <a:solidFill>
                    <a:srgbClr val="CADCFC"/>
                  </a:solidFill>
                  <a:latin typeface="Consolas" pitchFamily="34" charset="0"/>
                  <a:ea typeface="Consolas" pitchFamily="34" charset="-122"/>
                  <a:cs typeface="Consolas" pitchFamily="34" charset="-120"/>
                </a:rPr>
                <a:t>    rewritten_query: str = Field(</a:t>
              </a:r>
              <a:endParaRPr lang="en-US" sz="1100" dirty="0"/>
            </a:p>
            <a:p>
              <a:pPr marL="0" indent="0">
                <a:buNone/>
              </a:pPr>
              <a:r>
                <a:rPr lang="en-US" sz="1100" dirty="0">
                  <a:solidFill>
                    <a:srgbClr val="CADCFC"/>
                  </a:solidFill>
                  <a:latin typeface="Consolas" pitchFamily="34" charset="0"/>
                  <a:ea typeface="Consolas" pitchFamily="34" charset="-122"/>
                  <a:cs typeface="Consolas" pitchFamily="34" charset="-120"/>
                </a:rPr>
                <a:t>        description="Expanded, keyword-rich version of the user query"</a:t>
              </a:r>
              <a:endParaRPr lang="en-US" sz="1100" dirty="0"/>
            </a:p>
            <a:p>
              <a:pPr marL="0" indent="0">
                <a:buNone/>
              </a:pPr>
              <a:r>
                <a:rPr lang="en-US" sz="1100" dirty="0">
                  <a:solidFill>
                    <a:srgbClr val="CADCFC"/>
                  </a:solidFill>
                  <a:latin typeface="Consolas" pitchFamily="34" charset="0"/>
                  <a:ea typeface="Consolas" pitchFamily="34" charset="-122"/>
                  <a:cs typeface="Consolas" pitchFamily="34" charset="-120"/>
                </a:rPr>
                <a:t>    )</a:t>
              </a:r>
              <a:endParaRPr lang="en-US" sz="1100" dirty="0"/>
            </a:p>
          </p:txBody>
        </p:sp>
      </p:grpSp>
      <p:sp>
        <p:nvSpPr>
          <p:cNvPr id="25" name="Text 23"/>
          <p:cNvSpPr/>
          <p:nvPr/>
        </p:nvSpPr>
        <p:spPr>
          <a:xfrm>
            <a:off x="8046720" y="4800600"/>
            <a:ext cx="914400" cy="256032"/>
          </a:xfrm>
          <a:prstGeom prst="rect">
            <a:avLst/>
          </a:prstGeom>
          <a:noFill/>
          <a:ln/>
        </p:spPr>
        <p:txBody>
          <a:bodyPr wrap="square" rtlCol="0" anchor="ctr"/>
          <a:lstStyle/>
          <a:p>
            <a:pPr marL="0" indent="0" algn="r">
              <a:buNone/>
            </a:pPr>
            <a:r>
              <a:rPr lang="en-US" sz="900" dirty="0">
                <a:solidFill>
                  <a:srgbClr val="78909C"/>
                </a:solidFill>
              </a:rPr>
              <a:t>12 / 13</a:t>
            </a:r>
            <a:endParaRPr lang="en-US" sz="900" dirty="0"/>
          </a:p>
        </p:txBody>
      </p:sp>
      <p:pic>
        <p:nvPicPr>
          <p:cNvPr id="26" name="Google Shape;109;p20">
            <a:extLst>
              <a:ext uri="{FF2B5EF4-FFF2-40B4-BE49-F238E27FC236}">
                <a16:creationId xmlns:a16="http://schemas.microsoft.com/office/drawing/2014/main" id="{7D1DF72A-9670-ACB1-D7F5-EE4295524B81}"/>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17448-4D09-F7AE-02E5-134543ACF2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ACA355-706C-F48B-F226-7DB728E1B8DD}"/>
              </a:ext>
            </a:extLst>
          </p:cNvPr>
          <p:cNvSpPr>
            <a:spLocks noGrp="1"/>
          </p:cNvSpPr>
          <p:nvPr>
            <p:ph type="title"/>
          </p:nvPr>
        </p:nvSpPr>
        <p:spPr/>
        <p:txBody>
          <a:bodyPr>
            <a:normAutofit fontScale="90000"/>
          </a:bodyPr>
          <a:lstStyle/>
          <a:p>
            <a:r>
              <a:rPr lang="en-US" b="1" dirty="0">
                <a:solidFill>
                  <a:srgbClr val="1E2761"/>
                </a:solidFill>
                <a:latin typeface="Georgia"/>
              </a:rPr>
              <a:t>Question</a:t>
            </a:r>
          </a:p>
        </p:txBody>
      </p:sp>
      <p:sp>
        <p:nvSpPr>
          <p:cNvPr id="3" name="Text Placeholder 2">
            <a:extLst>
              <a:ext uri="{FF2B5EF4-FFF2-40B4-BE49-F238E27FC236}">
                <a16:creationId xmlns:a16="http://schemas.microsoft.com/office/drawing/2014/main" id="{83E3D14B-2BE6-9B69-545E-F4ED8ABFF747}"/>
              </a:ext>
            </a:extLst>
          </p:cNvPr>
          <p:cNvSpPr>
            <a:spLocks noGrp="1"/>
          </p:cNvSpPr>
          <p:nvPr>
            <p:ph type="body" idx="1"/>
          </p:nvPr>
        </p:nvSpPr>
        <p:spPr>
          <a:xfrm>
            <a:off x="311700" y="1152475"/>
            <a:ext cx="5659730" cy="3416400"/>
          </a:xfrm>
        </p:spPr>
        <p:txBody>
          <a:bodyPr/>
          <a:lstStyle/>
          <a:p>
            <a:r>
              <a:rPr lang="en-US" dirty="0">
                <a:solidFill>
                  <a:srgbClr val="1A1F36"/>
                </a:solidFill>
                <a:latin typeface="Calibri"/>
              </a:rPr>
              <a:t>Which of the following statements is true?</a:t>
            </a:r>
          </a:p>
          <a:p>
            <a:endParaRPr lang="en-US" dirty="0">
              <a:solidFill>
                <a:srgbClr val="1A1F36"/>
              </a:solidFill>
              <a:latin typeface="Calibri"/>
            </a:endParaRPr>
          </a:p>
          <a:p>
            <a:pPr lvl="1"/>
            <a:r>
              <a:rPr lang="en-US" dirty="0" err="1">
                <a:solidFill>
                  <a:srgbClr val="1A1F36"/>
                </a:solidFill>
                <a:latin typeface="Calibri"/>
              </a:rPr>
              <a:t>Pydantic</a:t>
            </a:r>
            <a:r>
              <a:rPr lang="en-US" dirty="0">
                <a:solidFill>
                  <a:srgbClr val="1A1F36"/>
                </a:solidFill>
                <a:latin typeface="Calibri"/>
              </a:rPr>
              <a:t> is only used for output validation.</a:t>
            </a:r>
          </a:p>
          <a:p>
            <a:pPr lvl="1"/>
            <a:r>
              <a:rPr lang="en-US" dirty="0">
                <a:solidFill>
                  <a:srgbClr val="1A1F36"/>
                </a:solidFill>
                <a:latin typeface="Calibri"/>
              </a:rPr>
              <a:t>Instructor does schema validation.</a:t>
            </a:r>
          </a:p>
          <a:p>
            <a:pPr lvl="1"/>
            <a:r>
              <a:rPr lang="en-US" dirty="0" err="1">
                <a:solidFill>
                  <a:srgbClr val="1A1F36"/>
                </a:solidFill>
                <a:latin typeface="Calibri"/>
              </a:rPr>
              <a:t>Pydantic</a:t>
            </a:r>
            <a:r>
              <a:rPr lang="en-US" dirty="0">
                <a:solidFill>
                  <a:srgbClr val="1A1F36"/>
                </a:solidFill>
                <a:latin typeface="Calibri"/>
              </a:rPr>
              <a:t> can generate and validate schema.</a:t>
            </a:r>
          </a:p>
          <a:p>
            <a:pPr lvl="1"/>
            <a:r>
              <a:rPr lang="en-US" dirty="0">
                <a:solidFill>
                  <a:srgbClr val="1A1F36"/>
                </a:solidFill>
                <a:latin typeface="Calibri"/>
              </a:rPr>
              <a:t>Instructor automatically generates the tool calls from </a:t>
            </a:r>
            <a:r>
              <a:rPr lang="en-US" dirty="0" err="1">
                <a:solidFill>
                  <a:srgbClr val="1A1F36"/>
                </a:solidFill>
                <a:latin typeface="Calibri"/>
              </a:rPr>
              <a:t>pydantic</a:t>
            </a:r>
            <a:r>
              <a:rPr lang="en-US" dirty="0">
                <a:solidFill>
                  <a:srgbClr val="1A1F36"/>
                </a:solidFill>
                <a:latin typeface="Calibri"/>
              </a:rPr>
              <a:t> schema.</a:t>
            </a:r>
          </a:p>
        </p:txBody>
      </p:sp>
      <p:pic>
        <p:nvPicPr>
          <p:cNvPr id="4" name="Google Shape;328;p29">
            <a:extLst>
              <a:ext uri="{FF2B5EF4-FFF2-40B4-BE49-F238E27FC236}">
                <a16:creationId xmlns:a16="http://schemas.microsoft.com/office/drawing/2014/main" id="{C9AF2226-C1A2-6BE6-16EB-600BBAFCA5E3}"/>
              </a:ext>
            </a:extLst>
          </p:cNvPr>
          <p:cNvPicPr preferRelativeResize="0"/>
          <p:nvPr/>
        </p:nvPicPr>
        <p:blipFill>
          <a:blip r:embed="rId2">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393824712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365760"/>
            <a:ext cx="5486400" cy="594360"/>
          </a:xfrm>
          <a:prstGeom prst="rect">
            <a:avLst/>
          </a:prstGeom>
          <a:noFill/>
          <a:ln/>
        </p:spPr>
        <p:txBody>
          <a:bodyPr wrap="square" lIns="0" tIns="0" rIns="0" bIns="0" rtlCol="0" anchor="ctr"/>
          <a:lstStyle/>
          <a:p>
            <a:pPr marL="0" indent="0">
              <a:buNone/>
            </a:pPr>
            <a:r>
              <a:rPr lang="en-US" sz="3400" b="1" dirty="0">
                <a:solidFill>
                  <a:srgbClr val="1E2761"/>
                </a:solidFill>
                <a:latin typeface="Cambria" pitchFamily="34" charset="0"/>
                <a:ea typeface="Cambria" pitchFamily="34" charset="-122"/>
                <a:cs typeface="Cambria" pitchFamily="34" charset="-120"/>
              </a:rPr>
              <a:t>Answer</a:t>
            </a:r>
            <a:endParaRPr lang="en-US" sz="3400" dirty="0"/>
          </a:p>
        </p:txBody>
      </p:sp>
      <p:grpSp>
        <p:nvGrpSpPr>
          <p:cNvPr id="18" name="Group 17">
            <a:extLst>
              <a:ext uri="{FF2B5EF4-FFF2-40B4-BE49-F238E27FC236}">
                <a16:creationId xmlns:a16="http://schemas.microsoft.com/office/drawing/2014/main" id="{40BA041E-35F7-F8B9-285B-870F182B6D9C}"/>
              </a:ext>
            </a:extLst>
          </p:cNvPr>
          <p:cNvGrpSpPr/>
          <p:nvPr/>
        </p:nvGrpSpPr>
        <p:grpSpPr>
          <a:xfrm>
            <a:off x="566928" y="1170432"/>
            <a:ext cx="5923082" cy="1706583"/>
            <a:chOff x="566928" y="1170432"/>
            <a:chExt cx="8119872" cy="2468880"/>
          </a:xfrm>
        </p:grpSpPr>
        <p:sp>
          <p:nvSpPr>
            <p:cNvPr id="3" name="Shape 1"/>
            <p:cNvSpPr/>
            <p:nvPr/>
          </p:nvSpPr>
          <p:spPr>
            <a:xfrm>
              <a:off x="566928" y="1298448"/>
              <a:ext cx="82296" cy="82296"/>
            </a:xfrm>
            <a:prstGeom prst="ellipse">
              <a:avLst/>
            </a:prstGeom>
            <a:solidFill>
              <a:srgbClr val="1E2761"/>
            </a:solidFill>
            <a:ln/>
          </p:spPr>
        </p:sp>
        <p:sp>
          <p:nvSpPr>
            <p:cNvPr id="4" name="Text 2"/>
            <p:cNvSpPr/>
            <p:nvPr/>
          </p:nvSpPr>
          <p:spPr>
            <a:xfrm>
              <a:off x="822960" y="1170432"/>
              <a:ext cx="7863840" cy="365760"/>
            </a:xfrm>
            <a:prstGeom prst="rect">
              <a:avLst/>
            </a:prstGeom>
            <a:noFill/>
            <a:ln/>
          </p:spPr>
          <p:txBody>
            <a:bodyPr wrap="square" lIns="0" tIns="0" rIns="0" bIns="0" rtlCol="0" anchor="ctr"/>
            <a:lstStyle/>
            <a:p>
              <a:pPr marL="0" indent="0">
                <a:buNone/>
              </a:pPr>
              <a:r>
                <a:rPr lang="en-US" sz="1400" dirty="0">
                  <a:solidFill>
                    <a:srgbClr val="1A1A1A"/>
                  </a:solidFill>
                  <a:latin typeface="Calibri" pitchFamily="34" charset="0"/>
                  <a:ea typeface="Calibri" pitchFamily="34" charset="-122"/>
                  <a:cs typeface="Calibri" pitchFamily="34" charset="-120"/>
                </a:rPr>
                <a:t>Which of the following statements is true?</a:t>
              </a:r>
              <a:endParaRPr lang="en-US" sz="1400" dirty="0"/>
            </a:p>
          </p:txBody>
        </p:sp>
        <p:sp>
          <p:nvSpPr>
            <p:cNvPr id="5" name="Shape 3"/>
            <p:cNvSpPr/>
            <p:nvPr/>
          </p:nvSpPr>
          <p:spPr>
            <a:xfrm>
              <a:off x="1078992" y="1851660"/>
              <a:ext cx="118872" cy="118872"/>
            </a:xfrm>
            <a:prstGeom prst="ellipse">
              <a:avLst/>
            </a:prstGeom>
            <a:ln w="15875">
              <a:solidFill>
                <a:srgbClr val="9A9A9A"/>
              </a:solidFill>
              <a:prstDash val="solid"/>
            </a:ln>
          </p:spPr>
        </p:sp>
        <p:sp>
          <p:nvSpPr>
            <p:cNvPr id="6" name="Text 4"/>
            <p:cNvSpPr/>
            <p:nvPr/>
          </p:nvSpPr>
          <p:spPr>
            <a:xfrm>
              <a:off x="1353312" y="1764792"/>
              <a:ext cx="7040880" cy="338328"/>
            </a:xfrm>
            <a:prstGeom prst="rect">
              <a:avLst/>
            </a:prstGeom>
            <a:noFill/>
            <a:ln/>
          </p:spPr>
          <p:txBody>
            <a:bodyPr wrap="square" lIns="0" tIns="0" rIns="0" bIns="0" rtlCol="0" anchor="ctr"/>
            <a:lstStyle/>
            <a:p>
              <a:pPr marL="0" indent="0">
                <a:buNone/>
              </a:pPr>
              <a:r>
                <a:rPr lang="en-US" sz="1200" dirty="0">
                  <a:solidFill>
                    <a:srgbClr val="1A1A1A"/>
                  </a:solidFill>
                  <a:latin typeface="Calibri" pitchFamily="34" charset="0"/>
                  <a:ea typeface="Calibri" pitchFamily="34" charset="-122"/>
                  <a:cs typeface="Calibri" pitchFamily="34" charset="-120"/>
                </a:rPr>
                <a:t>Pydantic is only used for output validation.</a:t>
              </a:r>
              <a:endParaRPr lang="en-US" sz="1200" dirty="0"/>
            </a:p>
          </p:txBody>
        </p:sp>
        <p:sp>
          <p:nvSpPr>
            <p:cNvPr id="7" name="Shape 5"/>
            <p:cNvSpPr/>
            <p:nvPr/>
          </p:nvSpPr>
          <p:spPr>
            <a:xfrm>
              <a:off x="1078992" y="2363724"/>
              <a:ext cx="118872" cy="118872"/>
            </a:xfrm>
            <a:prstGeom prst="ellipse">
              <a:avLst/>
            </a:prstGeom>
            <a:ln w="15875">
              <a:solidFill>
                <a:srgbClr val="9A9A9A"/>
              </a:solidFill>
              <a:prstDash val="solid"/>
            </a:ln>
          </p:spPr>
        </p:sp>
        <p:sp>
          <p:nvSpPr>
            <p:cNvPr id="8" name="Text 6"/>
            <p:cNvSpPr/>
            <p:nvPr/>
          </p:nvSpPr>
          <p:spPr>
            <a:xfrm>
              <a:off x="1353312" y="2276856"/>
              <a:ext cx="7040880" cy="338328"/>
            </a:xfrm>
            <a:prstGeom prst="rect">
              <a:avLst/>
            </a:prstGeom>
            <a:noFill/>
            <a:ln/>
          </p:spPr>
          <p:txBody>
            <a:bodyPr wrap="square" lIns="0" tIns="0" rIns="0" bIns="0" rtlCol="0" anchor="ctr"/>
            <a:lstStyle/>
            <a:p>
              <a:pPr marL="0" indent="0">
                <a:buNone/>
              </a:pPr>
              <a:r>
                <a:rPr lang="en-US" sz="1200" dirty="0">
                  <a:solidFill>
                    <a:srgbClr val="1A1A1A"/>
                  </a:solidFill>
                  <a:latin typeface="Calibri" pitchFamily="34" charset="0"/>
                  <a:ea typeface="Calibri" pitchFamily="34" charset="-122"/>
                  <a:cs typeface="Calibri" pitchFamily="34" charset="-120"/>
                </a:rPr>
                <a:t>Instructor does schema validation.</a:t>
              </a:r>
              <a:endParaRPr lang="en-US" sz="1200" dirty="0"/>
            </a:p>
          </p:txBody>
        </p:sp>
        <p:sp>
          <p:nvSpPr>
            <p:cNvPr id="9" name="Shape 7"/>
            <p:cNvSpPr/>
            <p:nvPr/>
          </p:nvSpPr>
          <p:spPr>
            <a:xfrm>
              <a:off x="960120" y="2752344"/>
              <a:ext cx="7589520" cy="384048"/>
            </a:xfrm>
            <a:prstGeom prst="roundRect">
              <a:avLst>
                <a:gd name="adj" fmla="val 9524"/>
              </a:avLst>
            </a:prstGeom>
            <a:solidFill>
              <a:srgbClr val="E8F5EC"/>
            </a:solidFill>
            <a:ln w="12700">
              <a:solidFill>
                <a:srgbClr val="1E7B45"/>
              </a:solidFill>
              <a:prstDash val="solid"/>
            </a:ln>
          </p:spPr>
        </p:sp>
        <p:sp>
          <p:nvSpPr>
            <p:cNvPr id="10" name="Shape 8"/>
            <p:cNvSpPr/>
            <p:nvPr/>
          </p:nvSpPr>
          <p:spPr>
            <a:xfrm>
              <a:off x="1078992" y="2875788"/>
              <a:ext cx="118872" cy="118872"/>
            </a:xfrm>
            <a:prstGeom prst="ellipse">
              <a:avLst/>
            </a:prstGeom>
            <a:solidFill>
              <a:srgbClr val="1E7B45"/>
            </a:solidFill>
            <a:ln w="15875">
              <a:solidFill>
                <a:srgbClr val="1E7B45"/>
              </a:solidFill>
              <a:prstDash val="solid"/>
            </a:ln>
          </p:spPr>
        </p:sp>
        <p:sp>
          <p:nvSpPr>
            <p:cNvPr id="11" name="Text 9"/>
            <p:cNvSpPr/>
            <p:nvPr/>
          </p:nvSpPr>
          <p:spPr>
            <a:xfrm>
              <a:off x="1353312" y="2788920"/>
              <a:ext cx="7040880" cy="338328"/>
            </a:xfrm>
            <a:prstGeom prst="rect">
              <a:avLst/>
            </a:prstGeom>
            <a:noFill/>
            <a:ln/>
          </p:spPr>
          <p:txBody>
            <a:bodyPr wrap="square" lIns="0" tIns="0" rIns="0" bIns="0" rtlCol="0" anchor="ctr"/>
            <a:lstStyle/>
            <a:p>
              <a:pPr marL="0" indent="0">
                <a:buNone/>
              </a:pPr>
              <a:r>
                <a:rPr lang="en-US" sz="1200" b="1" dirty="0">
                  <a:solidFill>
                    <a:srgbClr val="1E7B45"/>
                  </a:solidFill>
                  <a:latin typeface="Calibri" pitchFamily="34" charset="0"/>
                  <a:ea typeface="Calibri" pitchFamily="34" charset="-122"/>
                  <a:cs typeface="Calibri" pitchFamily="34" charset="-120"/>
                </a:rPr>
                <a:t>Pydantic can generate and validate schema.</a:t>
              </a:r>
              <a:endParaRPr lang="en-US" sz="1200" dirty="0"/>
            </a:p>
          </p:txBody>
        </p:sp>
        <p:sp>
          <p:nvSpPr>
            <p:cNvPr id="12" name="Text 10"/>
            <p:cNvSpPr/>
            <p:nvPr/>
          </p:nvSpPr>
          <p:spPr>
            <a:xfrm>
              <a:off x="7799941" y="2788920"/>
              <a:ext cx="320040" cy="338328"/>
            </a:xfrm>
            <a:prstGeom prst="rect">
              <a:avLst/>
            </a:prstGeom>
            <a:noFill/>
            <a:ln/>
          </p:spPr>
          <p:txBody>
            <a:bodyPr wrap="square" lIns="0" tIns="0" rIns="0" bIns="0" rtlCol="0" anchor="ctr"/>
            <a:lstStyle/>
            <a:p>
              <a:pPr marL="0" indent="0" algn="ctr">
                <a:buNone/>
              </a:pPr>
              <a:r>
                <a:rPr lang="en-US" sz="1200" b="1" dirty="0">
                  <a:solidFill>
                    <a:srgbClr val="1E7B45"/>
                  </a:solidFill>
                  <a:latin typeface="Arial" pitchFamily="34" charset="0"/>
                  <a:ea typeface="Arial" pitchFamily="34" charset="-122"/>
                  <a:cs typeface="Arial" pitchFamily="34" charset="-120"/>
                </a:rPr>
                <a:t>✓</a:t>
              </a:r>
              <a:endParaRPr lang="en-US" sz="1200" dirty="0"/>
            </a:p>
          </p:txBody>
        </p:sp>
        <p:sp>
          <p:nvSpPr>
            <p:cNvPr id="13" name="Shape 11"/>
            <p:cNvSpPr/>
            <p:nvPr/>
          </p:nvSpPr>
          <p:spPr>
            <a:xfrm>
              <a:off x="1078992" y="3387852"/>
              <a:ext cx="118872" cy="118872"/>
            </a:xfrm>
            <a:prstGeom prst="ellipse">
              <a:avLst/>
            </a:prstGeom>
            <a:ln w="15875">
              <a:solidFill>
                <a:srgbClr val="9A9A9A"/>
              </a:solidFill>
              <a:prstDash val="solid"/>
            </a:ln>
          </p:spPr>
        </p:sp>
        <p:sp>
          <p:nvSpPr>
            <p:cNvPr id="14" name="Text 12"/>
            <p:cNvSpPr/>
            <p:nvPr/>
          </p:nvSpPr>
          <p:spPr>
            <a:xfrm>
              <a:off x="1353312" y="3300984"/>
              <a:ext cx="7040880" cy="338328"/>
            </a:xfrm>
            <a:prstGeom prst="rect">
              <a:avLst/>
            </a:prstGeom>
            <a:noFill/>
            <a:ln/>
          </p:spPr>
          <p:txBody>
            <a:bodyPr wrap="square" lIns="0" tIns="0" rIns="0" bIns="0" rtlCol="0" anchor="ctr"/>
            <a:lstStyle/>
            <a:p>
              <a:pPr marL="0" indent="0">
                <a:buNone/>
              </a:pPr>
              <a:r>
                <a:rPr lang="en-US" sz="1200" dirty="0">
                  <a:solidFill>
                    <a:srgbClr val="1A1A1A"/>
                  </a:solidFill>
                  <a:latin typeface="Calibri" pitchFamily="34" charset="0"/>
                  <a:ea typeface="Calibri" pitchFamily="34" charset="-122"/>
                  <a:cs typeface="Calibri" pitchFamily="34" charset="-120"/>
                </a:rPr>
                <a:t>Instructor automatically generates the tool calls from pydantic schema.</a:t>
              </a:r>
              <a:endParaRPr lang="en-US" sz="1200" dirty="0"/>
            </a:p>
          </p:txBody>
        </p:sp>
      </p:grpSp>
      <p:grpSp>
        <p:nvGrpSpPr>
          <p:cNvPr id="19" name="Group 18">
            <a:extLst>
              <a:ext uri="{FF2B5EF4-FFF2-40B4-BE49-F238E27FC236}">
                <a16:creationId xmlns:a16="http://schemas.microsoft.com/office/drawing/2014/main" id="{D22444C8-EAC7-B030-DB4D-6EC928A1B66C}"/>
              </a:ext>
            </a:extLst>
          </p:cNvPr>
          <p:cNvGrpSpPr/>
          <p:nvPr/>
        </p:nvGrpSpPr>
        <p:grpSpPr>
          <a:xfrm>
            <a:off x="647887" y="3083833"/>
            <a:ext cx="7039020" cy="1417320"/>
            <a:chOff x="960120" y="3968496"/>
            <a:chExt cx="7589520" cy="1417320"/>
          </a:xfrm>
        </p:grpSpPr>
        <p:sp>
          <p:nvSpPr>
            <p:cNvPr id="15" name="Shape 13"/>
            <p:cNvSpPr/>
            <p:nvPr/>
          </p:nvSpPr>
          <p:spPr>
            <a:xfrm>
              <a:off x="960120" y="3968496"/>
              <a:ext cx="7589520" cy="1417320"/>
            </a:xfrm>
            <a:prstGeom prst="roundRect">
              <a:avLst>
                <a:gd name="adj" fmla="val 3226"/>
              </a:avLst>
            </a:prstGeom>
            <a:solidFill>
              <a:srgbClr val="F4F6FB"/>
            </a:solidFill>
            <a:ln w="12700">
              <a:solidFill>
                <a:srgbClr val="D6DCEC"/>
              </a:solidFill>
              <a:prstDash val="solid"/>
            </a:ln>
          </p:spPr>
        </p:sp>
        <p:sp>
          <p:nvSpPr>
            <p:cNvPr id="16" name="Text 14"/>
            <p:cNvSpPr/>
            <p:nvPr/>
          </p:nvSpPr>
          <p:spPr>
            <a:xfrm>
              <a:off x="1188720" y="4105656"/>
              <a:ext cx="1828800" cy="292608"/>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Why</a:t>
              </a:r>
              <a:endParaRPr lang="en-US" sz="1200" dirty="0"/>
            </a:p>
          </p:txBody>
        </p:sp>
        <p:sp>
          <p:nvSpPr>
            <p:cNvPr id="17" name="Text 15"/>
            <p:cNvSpPr/>
            <p:nvPr/>
          </p:nvSpPr>
          <p:spPr>
            <a:xfrm>
              <a:off x="1188720" y="4425696"/>
              <a:ext cx="7132320" cy="868680"/>
            </a:xfrm>
            <a:prstGeom prst="rect">
              <a:avLst/>
            </a:prstGeom>
            <a:noFill/>
            <a:ln/>
          </p:spPr>
          <p:txBody>
            <a:bodyPr wrap="square" lIns="0" tIns="0" rIns="0" bIns="0" rtlCol="0" anchor="t"/>
            <a:lstStyle/>
            <a:p>
              <a:pPr marL="0" indent="0">
                <a:lnSpc>
                  <a:spcPct val="115000"/>
                </a:lnSpc>
                <a:buNone/>
              </a:pPr>
              <a:r>
                <a:rPr lang="en-US" sz="1200" dirty="0">
                  <a:solidFill>
                    <a:srgbClr val="2B2B2B"/>
                  </a:solidFill>
                  <a:latin typeface="Calibri" pitchFamily="34" charset="0"/>
                  <a:ea typeface="Calibri" pitchFamily="34" charset="-122"/>
                  <a:cs typeface="Calibri" pitchFamily="34" charset="-120"/>
                </a:rPr>
                <a:t>Pydantic's </a:t>
              </a:r>
              <a:r>
                <a:rPr lang="en-US" sz="1200" dirty="0">
                  <a:solidFill>
                    <a:srgbClr val="1E2761"/>
                  </a:solidFill>
                  <a:latin typeface="Courier New" pitchFamily="34" charset="0"/>
                  <a:ea typeface="Courier New" pitchFamily="34" charset="-122"/>
                  <a:cs typeface="Courier New" pitchFamily="34" charset="-120"/>
                </a:rPr>
                <a:t>model_json_schema()</a:t>
              </a:r>
              <a:r>
                <a:rPr lang="en-US" sz="1200" dirty="0">
                  <a:solidFill>
                    <a:srgbClr val="2B2B2B"/>
                  </a:solidFill>
                  <a:latin typeface="Calibri" pitchFamily="34" charset="0"/>
                  <a:ea typeface="Calibri" pitchFamily="34" charset="-122"/>
                  <a:cs typeface="Calibri" pitchFamily="34" charset="-120"/>
                </a:rPr>
                <a:t> generates the JSON Schema from a model class, and </a:t>
              </a:r>
              <a:r>
                <a:rPr lang="en-US" sz="1200" dirty="0">
                  <a:solidFill>
                    <a:srgbClr val="1E2761"/>
                  </a:solidFill>
                  <a:latin typeface="Courier New" pitchFamily="34" charset="0"/>
                  <a:ea typeface="Courier New" pitchFamily="34" charset="-122"/>
                  <a:cs typeface="Courier New" pitchFamily="34" charset="-120"/>
                </a:rPr>
                <a:t>model_validate_json()</a:t>
              </a:r>
              <a:r>
                <a:rPr lang="en-US" sz="1200" dirty="0">
                  <a:solidFill>
                    <a:srgbClr val="2B2B2B"/>
                  </a:solidFill>
                  <a:latin typeface="Calibri" pitchFamily="34" charset="0"/>
                  <a:ea typeface="Calibri" pitchFamily="34" charset="-122"/>
                  <a:cs typeface="Calibri" pitchFamily="34" charset="-120"/>
                </a:rPr>
                <a:t> parses and validates a response against it — both generation and validation happen on the Pydantic side, not inside the LLM client or instructor library.</a:t>
              </a:r>
              <a:endParaRPr lang="en-US" sz="1200" dirty="0"/>
            </a:p>
          </p:txBody>
        </p:sp>
      </p:gr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C2521349-4E49-FFA8-A00C-EB230EE60D20}"/>
            </a:ext>
          </a:extLst>
        </p:cNvPr>
        <p:cNvGrpSpPr/>
        <p:nvPr/>
      </p:nvGrpSpPr>
      <p:grpSpPr>
        <a:xfrm>
          <a:off x="0" y="0"/>
          <a:ext cx="0" cy="0"/>
          <a:chOff x="0" y="0"/>
          <a:chExt cx="0" cy="0"/>
        </a:xfrm>
      </p:grpSpPr>
      <p:pic>
        <p:nvPicPr>
          <p:cNvPr id="109" name="Google Shape;109;p20">
            <a:extLst>
              <a:ext uri="{FF2B5EF4-FFF2-40B4-BE49-F238E27FC236}">
                <a16:creationId xmlns:a16="http://schemas.microsoft.com/office/drawing/2014/main" id="{BF36021D-6086-6A86-E102-6A93E45862D3}"/>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
        <p:nvSpPr>
          <p:cNvPr id="110" name="Google Shape;110;p20">
            <a:extLst>
              <a:ext uri="{FF2B5EF4-FFF2-40B4-BE49-F238E27FC236}">
                <a16:creationId xmlns:a16="http://schemas.microsoft.com/office/drawing/2014/main" id="{143A0463-73E5-5CB1-9B75-F2843F772BBA}"/>
              </a:ext>
            </a:extLst>
          </p:cNvPr>
          <p:cNvSpPr txBox="1">
            <a:spLocks noGrp="1"/>
          </p:cNvSpPr>
          <p:nvPr>
            <p:ph type="ctrTitle" idx="4294967295"/>
          </p:nvPr>
        </p:nvSpPr>
        <p:spPr>
          <a:xfrm>
            <a:off x="418813" y="1507259"/>
            <a:ext cx="7772400" cy="8673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C00000"/>
              </a:buClr>
              <a:buSzPts val="4400"/>
              <a:buFont typeface="Calibri"/>
              <a:buNone/>
            </a:pPr>
            <a:r>
              <a:rPr lang="en" sz="4000" b="1" dirty="0">
                <a:sym typeface="Calibri"/>
              </a:rPr>
              <a:t>Structured Outputs </a:t>
            </a:r>
            <a:endParaRPr sz="4000" dirty="0">
              <a:latin typeface="Calibri"/>
              <a:ea typeface="Calibri"/>
              <a:cs typeface="Calibri"/>
              <a:sym typeface="Calibri"/>
            </a:endParaRPr>
          </a:p>
        </p:txBody>
      </p:sp>
      <p:sp>
        <p:nvSpPr>
          <p:cNvPr id="3" name="TextBox 2">
            <a:extLst>
              <a:ext uri="{FF2B5EF4-FFF2-40B4-BE49-F238E27FC236}">
                <a16:creationId xmlns:a16="http://schemas.microsoft.com/office/drawing/2014/main" id="{642EBC28-F2CA-3749-6D39-0ED5CE44A03F}"/>
              </a:ext>
            </a:extLst>
          </p:cNvPr>
          <p:cNvSpPr txBox="1"/>
          <p:nvPr/>
        </p:nvSpPr>
        <p:spPr>
          <a:xfrm>
            <a:off x="1759528" y="2768942"/>
            <a:ext cx="4597540" cy="400110"/>
          </a:xfrm>
          <a:prstGeom prst="rect">
            <a:avLst/>
          </a:prstGeom>
          <a:noFill/>
        </p:spPr>
        <p:txBody>
          <a:bodyPr wrap="square" rtlCol="0">
            <a:spAutoFit/>
          </a:bodyPr>
          <a:lstStyle/>
          <a:p>
            <a:r>
              <a:rPr lang="en-US" sz="2000" dirty="0">
                <a:solidFill>
                  <a:srgbClr val="1A1F36"/>
                </a:solidFill>
                <a:latin typeface="Calibri"/>
              </a:rPr>
              <a:t>Constrained Generation and decoding</a:t>
            </a:r>
          </a:p>
        </p:txBody>
      </p:sp>
    </p:spTree>
    <p:extLst>
      <p:ext uri="{BB962C8B-B14F-4D97-AF65-F5344CB8AC3E}">
        <p14:creationId xmlns:p14="http://schemas.microsoft.com/office/powerpoint/2010/main" val="69965143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11480" y="146304"/>
            <a:ext cx="8321040" cy="566928"/>
          </a:xfrm>
          <a:prstGeom prst="rect">
            <a:avLst/>
          </a:prstGeom>
          <a:noFill/>
          <a:ln/>
        </p:spPr>
        <p:txBody>
          <a:bodyPr wrap="square" lIns="0" tIns="0" rIns="0" bIns="0" rtlCol="0" anchor="ctr"/>
          <a:lstStyle/>
          <a:p>
            <a:pPr marL="0" indent="0">
              <a:buNone/>
            </a:pPr>
            <a:r>
              <a:rPr lang="en-US" sz="2500" b="1" dirty="0">
                <a:solidFill>
                  <a:srgbClr val="1A1F36"/>
                </a:solidFill>
                <a:latin typeface="Georgia" pitchFamily="34" charset="0"/>
                <a:ea typeface="Georgia" pitchFamily="34" charset="-122"/>
                <a:cs typeface="Georgia" pitchFamily="34" charset="-120"/>
              </a:rPr>
              <a:t>What Is Constrained Generation?</a:t>
            </a:r>
            <a:endParaRPr lang="en-US" sz="2500" dirty="0"/>
          </a:p>
        </p:txBody>
      </p:sp>
      <p:sp>
        <p:nvSpPr>
          <p:cNvPr id="4" name="Text 2"/>
          <p:cNvSpPr/>
          <p:nvPr/>
        </p:nvSpPr>
        <p:spPr>
          <a:xfrm>
            <a:off x="411480" y="822960"/>
            <a:ext cx="8321040" cy="658368"/>
          </a:xfrm>
          <a:prstGeom prst="rect">
            <a:avLst/>
          </a:prstGeom>
          <a:noFill/>
          <a:ln/>
        </p:spPr>
        <p:txBody>
          <a:bodyPr wrap="square" rtlCol="0" anchor="ctr"/>
          <a:lstStyle/>
          <a:p>
            <a:pPr marL="0" indent="0">
              <a:buNone/>
            </a:pPr>
            <a:r>
              <a:rPr lang="en-US" sz="1350" dirty="0">
                <a:solidFill>
                  <a:srgbClr val="1A1F36"/>
                </a:solidFill>
                <a:latin typeface="Calibri" pitchFamily="34" charset="0"/>
                <a:ea typeface="Calibri" pitchFamily="34" charset="-122"/>
                <a:cs typeface="Calibri" pitchFamily="34" charset="-120"/>
              </a:rPr>
              <a:t>Constrained generation restricts which tokens an LLM can output at each step, ensuring results that conform to specific structures or rules. It underpins key production AI features:</a:t>
            </a:r>
            <a:endParaRPr lang="en-US" sz="1350" dirty="0"/>
          </a:p>
        </p:txBody>
      </p:sp>
      <p:sp>
        <p:nvSpPr>
          <p:cNvPr id="5" name="Shape 3"/>
          <p:cNvSpPr/>
          <p:nvPr/>
        </p:nvSpPr>
        <p:spPr>
          <a:xfrm>
            <a:off x="320040" y="1600200"/>
            <a:ext cx="4160520" cy="1417320"/>
          </a:xfrm>
          <a:prstGeom prst="rect">
            <a:avLst/>
          </a:prstGeom>
          <a:solidFill>
            <a:srgbClr val="F7F3EA"/>
          </a:solidFill>
          <a:ln w="12700">
            <a:solidFill>
              <a:srgbClr val="D0E2F3"/>
            </a:solidFill>
            <a:prstDash val="solid"/>
          </a:ln>
          <a:effectLst>
            <a:outerShdw blurRad="76200" dist="25400" dir="8100000" algn="bl" rotWithShape="0">
              <a:srgbClr val="1A1F36">
                <a:alpha val="12000"/>
              </a:srgbClr>
            </a:outerShdw>
          </a:effectLst>
        </p:spPr>
      </p:sp>
      <p:sp>
        <p:nvSpPr>
          <p:cNvPr id="6" name="Shape 4"/>
          <p:cNvSpPr/>
          <p:nvPr/>
        </p:nvSpPr>
        <p:spPr>
          <a:xfrm>
            <a:off x="320040" y="1600200"/>
            <a:ext cx="4160520" cy="54864"/>
          </a:xfrm>
          <a:prstGeom prst="rect">
            <a:avLst/>
          </a:prstGeom>
          <a:solidFill>
            <a:srgbClr val="1565C0"/>
          </a:solidFill>
          <a:ln w="12700">
            <a:solidFill>
              <a:srgbClr val="1565C0"/>
            </a:solidFill>
            <a:prstDash val="solid"/>
          </a:ln>
        </p:spPr>
      </p:sp>
      <p:sp>
        <p:nvSpPr>
          <p:cNvPr id="7" name="Text 5"/>
          <p:cNvSpPr/>
          <p:nvPr/>
        </p:nvSpPr>
        <p:spPr>
          <a:xfrm>
            <a:off x="457200" y="1709928"/>
            <a:ext cx="3886200" cy="347472"/>
          </a:xfrm>
          <a:prstGeom prst="rect">
            <a:avLst/>
          </a:prstGeom>
          <a:noFill/>
          <a:ln/>
        </p:spPr>
        <p:txBody>
          <a:bodyPr wrap="square" lIns="0" tIns="0" rIns="0" bIns="0" rtlCol="0" anchor="ctr"/>
          <a:lstStyle/>
          <a:p>
            <a:pPr marL="0" indent="0">
              <a:buNone/>
            </a:pPr>
            <a:r>
              <a:rPr lang="en-US" sz="1500" b="1" dirty="0">
                <a:solidFill>
                  <a:srgbClr val="1565C0"/>
                </a:solidFill>
                <a:latin typeface="Calibri" pitchFamily="34" charset="0"/>
                <a:ea typeface="Calibri" pitchFamily="34" charset="-122"/>
                <a:cs typeface="Calibri" pitchFamily="34" charset="-120"/>
              </a:rPr>
              <a:t>JSON Output</a:t>
            </a:r>
            <a:endParaRPr lang="en-US" sz="1500" dirty="0"/>
          </a:p>
        </p:txBody>
      </p:sp>
      <p:sp>
        <p:nvSpPr>
          <p:cNvPr id="8" name="Text 6"/>
          <p:cNvSpPr/>
          <p:nvPr/>
        </p:nvSpPr>
        <p:spPr>
          <a:xfrm>
            <a:off x="457200" y="2112264"/>
            <a:ext cx="3886200" cy="777240"/>
          </a:xfrm>
          <a:prstGeom prst="rect">
            <a:avLst/>
          </a:prstGeom>
          <a:noFill/>
          <a:ln/>
        </p:spPr>
        <p:txBody>
          <a:bodyPr wrap="square" lIns="0" tIns="0" rIns="0" bIns="0" rtlCol="0" anchor="t"/>
          <a:lstStyle/>
          <a:p>
            <a:pPr marL="0" indent="0">
              <a:buNone/>
            </a:pPr>
            <a:r>
              <a:rPr lang="en-US" sz="1250" dirty="0">
                <a:solidFill>
                  <a:srgbClr val="444444"/>
                </a:solidFill>
                <a:latin typeface="Calibri" pitchFamily="34" charset="0"/>
                <a:ea typeface="Calibri" pitchFamily="34" charset="-122"/>
                <a:cs typeface="Calibri" pitchFamily="34" charset="-120"/>
              </a:rPr>
              <a:t>OpenAI Structured Output strict mode,</a:t>
            </a:r>
            <a:endParaRPr lang="en-US" sz="1250" dirty="0"/>
          </a:p>
          <a:p>
            <a:pPr marL="0" indent="0">
              <a:buNone/>
            </a:pPr>
            <a:r>
              <a:rPr lang="en-US" sz="1250" dirty="0">
                <a:solidFill>
                  <a:srgbClr val="444444"/>
                </a:solidFill>
                <a:latin typeface="Calibri" pitchFamily="34" charset="0"/>
                <a:ea typeface="Calibri" pitchFamily="34" charset="-122"/>
                <a:cs typeface="Calibri" pitchFamily="34" charset="-120"/>
              </a:rPr>
              <a:t>Ollama structured outputs, JSON mode</a:t>
            </a:r>
            <a:endParaRPr lang="en-US" sz="1250" dirty="0"/>
          </a:p>
        </p:txBody>
      </p:sp>
      <p:sp>
        <p:nvSpPr>
          <p:cNvPr id="9" name="Shape 7"/>
          <p:cNvSpPr/>
          <p:nvPr/>
        </p:nvSpPr>
        <p:spPr>
          <a:xfrm>
            <a:off x="4709160" y="1600200"/>
            <a:ext cx="4160520" cy="1417320"/>
          </a:xfrm>
          <a:prstGeom prst="rect">
            <a:avLst/>
          </a:prstGeom>
          <a:solidFill>
            <a:srgbClr val="F7F3EA"/>
          </a:solidFill>
          <a:ln w="12700">
            <a:solidFill>
              <a:srgbClr val="D0E2F3"/>
            </a:solidFill>
            <a:prstDash val="solid"/>
          </a:ln>
          <a:effectLst>
            <a:outerShdw blurRad="76200" dist="25400" dir="8100000" algn="bl" rotWithShape="0">
              <a:srgbClr val="1A1F36">
                <a:alpha val="12000"/>
              </a:srgbClr>
            </a:outerShdw>
          </a:effectLst>
        </p:spPr>
      </p:sp>
      <p:sp>
        <p:nvSpPr>
          <p:cNvPr id="10" name="Shape 8"/>
          <p:cNvSpPr/>
          <p:nvPr/>
        </p:nvSpPr>
        <p:spPr>
          <a:xfrm>
            <a:off x="4709160" y="1600200"/>
            <a:ext cx="4160520" cy="54864"/>
          </a:xfrm>
          <a:prstGeom prst="rect">
            <a:avLst/>
          </a:prstGeom>
          <a:solidFill>
            <a:srgbClr val="2E7D32"/>
          </a:solidFill>
          <a:ln w="12700">
            <a:solidFill>
              <a:srgbClr val="2E7D32"/>
            </a:solidFill>
            <a:prstDash val="solid"/>
          </a:ln>
        </p:spPr>
      </p:sp>
      <p:sp>
        <p:nvSpPr>
          <p:cNvPr id="11" name="Text 9"/>
          <p:cNvSpPr/>
          <p:nvPr/>
        </p:nvSpPr>
        <p:spPr>
          <a:xfrm>
            <a:off x="4846320" y="1709928"/>
            <a:ext cx="3886200" cy="347472"/>
          </a:xfrm>
          <a:prstGeom prst="rect">
            <a:avLst/>
          </a:prstGeom>
          <a:noFill/>
          <a:ln/>
        </p:spPr>
        <p:txBody>
          <a:bodyPr wrap="square" lIns="0" tIns="0" rIns="0" bIns="0" rtlCol="0" anchor="ctr"/>
          <a:lstStyle/>
          <a:p>
            <a:pPr marL="0" indent="0">
              <a:buNone/>
            </a:pPr>
            <a:r>
              <a:rPr lang="en-US" sz="1500" b="1" dirty="0">
                <a:solidFill>
                  <a:srgbClr val="2E7D32"/>
                </a:solidFill>
                <a:latin typeface="Calibri" pitchFamily="34" charset="0"/>
                <a:ea typeface="Calibri" pitchFamily="34" charset="-122"/>
                <a:cs typeface="Calibri" pitchFamily="34" charset="-120"/>
              </a:rPr>
              <a:t>Valid URLs</a:t>
            </a:r>
            <a:endParaRPr lang="en-US" sz="1500" dirty="0"/>
          </a:p>
        </p:txBody>
      </p:sp>
      <p:sp>
        <p:nvSpPr>
          <p:cNvPr id="12" name="Text 10"/>
          <p:cNvSpPr/>
          <p:nvPr/>
        </p:nvSpPr>
        <p:spPr>
          <a:xfrm>
            <a:off x="4846320" y="2112264"/>
            <a:ext cx="3886200" cy="777240"/>
          </a:xfrm>
          <a:prstGeom prst="rect">
            <a:avLst/>
          </a:prstGeom>
          <a:noFill/>
          <a:ln/>
        </p:spPr>
        <p:txBody>
          <a:bodyPr wrap="square" lIns="0" tIns="0" rIns="0" bIns="0" rtlCol="0" anchor="t"/>
          <a:lstStyle/>
          <a:p>
            <a:pPr marL="0" indent="0">
              <a:buNone/>
            </a:pPr>
            <a:r>
              <a:rPr lang="en-US" sz="1250" dirty="0">
                <a:solidFill>
                  <a:srgbClr val="444444"/>
                </a:solidFill>
                <a:latin typeface="Calibri" pitchFamily="34" charset="0"/>
                <a:ea typeface="Calibri" pitchFamily="34" charset="-122"/>
                <a:cs typeface="Calibri" pitchFamily="34" charset="-120"/>
              </a:rPr>
              <a:t>Enforce http:// prefix, domain name format</a:t>
            </a:r>
            <a:endParaRPr lang="en-US" sz="1250" dirty="0"/>
          </a:p>
          <a:p>
            <a:pPr marL="0" indent="0">
              <a:buNone/>
            </a:pPr>
            <a:r>
              <a:rPr lang="en-US" sz="1250" dirty="0">
                <a:solidFill>
                  <a:srgbClr val="444444"/>
                </a:solidFill>
                <a:latin typeface="Calibri" pitchFamily="34" charset="0"/>
                <a:ea typeface="Calibri" pitchFamily="34" charset="-122"/>
                <a:cs typeface="Calibri" pitchFamily="34" charset="-120"/>
              </a:rPr>
              <a:t>and valid path structure with a RegEx</a:t>
            </a:r>
            <a:endParaRPr lang="en-US" sz="1250" dirty="0"/>
          </a:p>
        </p:txBody>
      </p:sp>
      <p:sp>
        <p:nvSpPr>
          <p:cNvPr id="13" name="Shape 11"/>
          <p:cNvSpPr/>
          <p:nvPr/>
        </p:nvSpPr>
        <p:spPr>
          <a:xfrm>
            <a:off x="320040" y="3108960"/>
            <a:ext cx="4160520" cy="1417320"/>
          </a:xfrm>
          <a:prstGeom prst="rect">
            <a:avLst/>
          </a:prstGeom>
          <a:solidFill>
            <a:srgbClr val="F7F3EA"/>
          </a:solidFill>
          <a:ln w="12700">
            <a:solidFill>
              <a:srgbClr val="D0E2F3"/>
            </a:solidFill>
            <a:prstDash val="solid"/>
          </a:ln>
          <a:effectLst>
            <a:outerShdw blurRad="76200" dist="25400" dir="8100000" algn="bl" rotWithShape="0">
              <a:srgbClr val="1A1F36">
                <a:alpha val="12000"/>
              </a:srgbClr>
            </a:outerShdw>
          </a:effectLst>
        </p:spPr>
      </p:sp>
      <p:sp>
        <p:nvSpPr>
          <p:cNvPr id="14" name="Shape 12"/>
          <p:cNvSpPr/>
          <p:nvPr/>
        </p:nvSpPr>
        <p:spPr>
          <a:xfrm>
            <a:off x="320040" y="3108960"/>
            <a:ext cx="4160520" cy="54864"/>
          </a:xfrm>
          <a:prstGeom prst="rect">
            <a:avLst/>
          </a:prstGeom>
          <a:solidFill>
            <a:srgbClr val="6D28D9"/>
          </a:solidFill>
          <a:ln w="12700">
            <a:solidFill>
              <a:srgbClr val="6D28D9"/>
            </a:solidFill>
            <a:prstDash val="solid"/>
          </a:ln>
        </p:spPr>
      </p:sp>
      <p:sp>
        <p:nvSpPr>
          <p:cNvPr id="15" name="Text 13"/>
          <p:cNvSpPr/>
          <p:nvPr/>
        </p:nvSpPr>
        <p:spPr>
          <a:xfrm>
            <a:off x="457200" y="3218688"/>
            <a:ext cx="3886200" cy="347472"/>
          </a:xfrm>
          <a:prstGeom prst="rect">
            <a:avLst/>
          </a:prstGeom>
          <a:noFill/>
          <a:ln/>
        </p:spPr>
        <p:txBody>
          <a:bodyPr wrap="square" lIns="0" tIns="0" rIns="0" bIns="0" rtlCol="0" anchor="ctr"/>
          <a:lstStyle/>
          <a:p>
            <a:pPr marL="0" indent="0">
              <a:buNone/>
            </a:pPr>
            <a:r>
              <a:rPr lang="en-US" sz="1500" b="1" dirty="0">
                <a:solidFill>
                  <a:srgbClr val="6D28D9"/>
                </a:solidFill>
                <a:latin typeface="Calibri" pitchFamily="34" charset="0"/>
                <a:ea typeface="Calibri" pitchFamily="34" charset="-122"/>
                <a:cs typeface="Calibri" pitchFamily="34" charset="-120"/>
              </a:rPr>
              <a:t>Custom Schemas</a:t>
            </a:r>
            <a:endParaRPr lang="en-US" sz="1500" dirty="0"/>
          </a:p>
        </p:txBody>
      </p:sp>
      <p:sp>
        <p:nvSpPr>
          <p:cNvPr id="16" name="Text 14"/>
          <p:cNvSpPr/>
          <p:nvPr/>
        </p:nvSpPr>
        <p:spPr>
          <a:xfrm>
            <a:off x="457200" y="3621024"/>
            <a:ext cx="3886200" cy="777240"/>
          </a:xfrm>
          <a:prstGeom prst="rect">
            <a:avLst/>
          </a:prstGeom>
          <a:noFill/>
          <a:ln/>
        </p:spPr>
        <p:txBody>
          <a:bodyPr wrap="square" lIns="0" tIns="0" rIns="0" bIns="0" rtlCol="0" anchor="t"/>
          <a:lstStyle/>
          <a:p>
            <a:pPr marL="0" indent="0">
              <a:buNone/>
            </a:pPr>
            <a:r>
              <a:rPr lang="en-US" sz="1250" dirty="0">
                <a:solidFill>
                  <a:srgbClr val="444444"/>
                </a:solidFill>
                <a:latin typeface="Calibri" pitchFamily="34" charset="0"/>
                <a:ea typeface="Calibri" pitchFamily="34" charset="-122"/>
                <a:cs typeface="Calibri" pitchFamily="34" charset="-120"/>
              </a:rPr>
              <a:t>Dates, phone numbers, order IDs — any</a:t>
            </a:r>
            <a:endParaRPr lang="en-US" sz="1250" dirty="0"/>
          </a:p>
          <a:p>
            <a:pPr marL="0" indent="0">
              <a:buNone/>
            </a:pPr>
            <a:r>
              <a:rPr lang="en-US" sz="1250" dirty="0">
                <a:solidFill>
                  <a:srgbClr val="444444"/>
                </a:solidFill>
                <a:latin typeface="Calibri" pitchFamily="34" charset="0"/>
                <a:ea typeface="Calibri" pitchFamily="34" charset="-122"/>
                <a:cs typeface="Calibri" pitchFamily="34" charset="-120"/>
              </a:rPr>
              <a:t>format expressible as a regular expression</a:t>
            </a:r>
            <a:endParaRPr lang="en-US" sz="1250" dirty="0"/>
          </a:p>
        </p:txBody>
      </p:sp>
      <p:sp>
        <p:nvSpPr>
          <p:cNvPr id="17" name="Shape 15"/>
          <p:cNvSpPr/>
          <p:nvPr/>
        </p:nvSpPr>
        <p:spPr>
          <a:xfrm>
            <a:off x="4709160" y="3108960"/>
            <a:ext cx="4160520" cy="1417320"/>
          </a:xfrm>
          <a:prstGeom prst="rect">
            <a:avLst/>
          </a:prstGeom>
          <a:solidFill>
            <a:srgbClr val="F7F3EA"/>
          </a:solidFill>
          <a:ln w="12700">
            <a:solidFill>
              <a:srgbClr val="D0E2F3"/>
            </a:solidFill>
            <a:prstDash val="solid"/>
          </a:ln>
          <a:effectLst>
            <a:outerShdw blurRad="76200" dist="25400" dir="8100000" algn="bl" rotWithShape="0">
              <a:srgbClr val="1A1F36">
                <a:alpha val="12000"/>
              </a:srgbClr>
            </a:outerShdw>
          </a:effectLst>
        </p:spPr>
      </p:sp>
      <p:sp>
        <p:nvSpPr>
          <p:cNvPr id="18" name="Shape 16"/>
          <p:cNvSpPr/>
          <p:nvPr/>
        </p:nvSpPr>
        <p:spPr>
          <a:xfrm>
            <a:off x="4709160" y="3108960"/>
            <a:ext cx="4160520" cy="54864"/>
          </a:xfrm>
          <a:prstGeom prst="rect">
            <a:avLst/>
          </a:prstGeom>
          <a:solidFill>
            <a:srgbClr val="C62828"/>
          </a:solidFill>
          <a:ln w="12700">
            <a:solidFill>
              <a:srgbClr val="C62828"/>
            </a:solidFill>
            <a:prstDash val="solid"/>
          </a:ln>
        </p:spPr>
      </p:sp>
      <p:sp>
        <p:nvSpPr>
          <p:cNvPr id="19" name="Text 17"/>
          <p:cNvSpPr/>
          <p:nvPr/>
        </p:nvSpPr>
        <p:spPr>
          <a:xfrm>
            <a:off x="4846320" y="3218688"/>
            <a:ext cx="3886200" cy="347472"/>
          </a:xfrm>
          <a:prstGeom prst="rect">
            <a:avLst/>
          </a:prstGeom>
          <a:noFill/>
          <a:ln/>
        </p:spPr>
        <p:txBody>
          <a:bodyPr wrap="square" lIns="0" tIns="0" rIns="0" bIns="0" rtlCol="0" anchor="ctr"/>
          <a:lstStyle/>
          <a:p>
            <a:pPr marL="0" indent="0">
              <a:buNone/>
            </a:pPr>
            <a:r>
              <a:rPr lang="en-US" sz="1500" b="1" dirty="0">
                <a:solidFill>
                  <a:srgbClr val="C62828"/>
                </a:solidFill>
                <a:latin typeface="Calibri" pitchFamily="34" charset="0"/>
                <a:ea typeface="Calibri" pitchFamily="34" charset="-122"/>
                <a:cs typeface="Calibri" pitchFamily="34" charset="-120"/>
              </a:rPr>
              <a:t>LLaMA.cpp Grammar</a:t>
            </a:r>
            <a:endParaRPr lang="en-US" sz="1500" dirty="0"/>
          </a:p>
        </p:txBody>
      </p:sp>
      <p:sp>
        <p:nvSpPr>
          <p:cNvPr id="20" name="Text 18"/>
          <p:cNvSpPr/>
          <p:nvPr/>
        </p:nvSpPr>
        <p:spPr>
          <a:xfrm>
            <a:off x="4846320" y="3621024"/>
            <a:ext cx="3886200" cy="777240"/>
          </a:xfrm>
          <a:prstGeom prst="rect">
            <a:avLst/>
          </a:prstGeom>
          <a:noFill/>
          <a:ln/>
        </p:spPr>
        <p:txBody>
          <a:bodyPr wrap="square" lIns="0" tIns="0" rIns="0" bIns="0" rtlCol="0" anchor="t"/>
          <a:lstStyle/>
          <a:p>
            <a:pPr marL="0" indent="0">
              <a:buNone/>
            </a:pPr>
            <a:r>
              <a:rPr lang="en-US" sz="1250" dirty="0">
                <a:solidFill>
                  <a:srgbClr val="444444"/>
                </a:solidFill>
                <a:latin typeface="Calibri" pitchFamily="34" charset="0"/>
                <a:ea typeface="Calibri" pitchFamily="34" charset="-122"/>
                <a:cs typeface="Calibri" pitchFamily="34" charset="-120"/>
              </a:rPr>
              <a:t>Constraint-based sampling enabling</a:t>
            </a:r>
            <a:endParaRPr lang="en-US" sz="1250" dirty="0"/>
          </a:p>
          <a:p>
            <a:pPr marL="0" indent="0">
              <a:buNone/>
            </a:pPr>
            <a:r>
              <a:rPr lang="en-US" sz="1250" dirty="0">
                <a:solidFill>
                  <a:srgbClr val="444444"/>
                </a:solidFill>
                <a:latin typeface="Calibri" pitchFamily="34" charset="0"/>
                <a:ea typeface="Calibri" pitchFamily="34" charset="-122"/>
                <a:cs typeface="Calibri" pitchFamily="34" charset="-120"/>
              </a:rPr>
              <a:t>local models to produce structured output</a:t>
            </a:r>
            <a:endParaRPr lang="en-US" sz="1250" dirty="0"/>
          </a:p>
        </p:txBody>
      </p:sp>
      <p:pic>
        <p:nvPicPr>
          <p:cNvPr id="21" name="Google Shape;328;p29">
            <a:extLst>
              <a:ext uri="{FF2B5EF4-FFF2-40B4-BE49-F238E27FC236}">
                <a16:creationId xmlns:a16="http://schemas.microsoft.com/office/drawing/2014/main" id="{44328E5C-3D69-069B-8E27-60C71451A7FF}"/>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357330473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11480" y="146304"/>
            <a:ext cx="8321040" cy="566928"/>
          </a:xfrm>
          <a:prstGeom prst="rect">
            <a:avLst/>
          </a:prstGeom>
          <a:noFill/>
          <a:ln/>
        </p:spPr>
        <p:txBody>
          <a:bodyPr wrap="square" lIns="0" tIns="0" rIns="0" bIns="0" rtlCol="0" anchor="ctr"/>
          <a:lstStyle/>
          <a:p>
            <a:pPr marL="0" indent="0">
              <a:buNone/>
            </a:pPr>
            <a:r>
              <a:rPr lang="en-US" sz="2500" b="1" dirty="0">
                <a:solidFill>
                  <a:srgbClr val="1A1F36"/>
                </a:solidFill>
                <a:latin typeface="Georgia" pitchFamily="34" charset="0"/>
                <a:ea typeface="Georgia" pitchFamily="34" charset="-122"/>
                <a:cs typeface="Georgia" pitchFamily="34" charset="-120"/>
              </a:rPr>
              <a:t>How LLMs Generate Text — Token by Token</a:t>
            </a:r>
            <a:endParaRPr lang="en-US" sz="2500" dirty="0"/>
          </a:p>
        </p:txBody>
      </p:sp>
      <p:sp>
        <p:nvSpPr>
          <p:cNvPr id="4" name="Shape 2"/>
          <p:cNvSpPr/>
          <p:nvPr/>
        </p:nvSpPr>
        <p:spPr>
          <a:xfrm>
            <a:off x="182880" y="804672"/>
            <a:ext cx="1508760" cy="804672"/>
          </a:xfrm>
          <a:prstGeom prst="rect">
            <a:avLst/>
          </a:prstGeom>
          <a:solidFill>
            <a:srgbClr val="EEF4FC"/>
          </a:solidFill>
          <a:ln w="19050">
            <a:solidFill>
              <a:srgbClr val="3D5A80"/>
            </a:solidFill>
            <a:prstDash val="solid"/>
          </a:ln>
          <a:effectLst>
            <a:outerShdw blurRad="76200" dist="25400" dir="8100000" algn="bl" rotWithShape="0">
              <a:srgbClr val="1A1F36">
                <a:alpha val="12000"/>
              </a:srgbClr>
            </a:outerShdw>
          </a:effectLst>
        </p:spPr>
      </p:sp>
      <p:sp>
        <p:nvSpPr>
          <p:cNvPr id="5" name="Text 3"/>
          <p:cNvSpPr/>
          <p:nvPr/>
        </p:nvSpPr>
        <p:spPr>
          <a:xfrm>
            <a:off x="182880" y="804672"/>
            <a:ext cx="1508760" cy="274320"/>
          </a:xfrm>
          <a:prstGeom prst="rect">
            <a:avLst/>
          </a:prstGeom>
          <a:noFill/>
          <a:ln/>
        </p:spPr>
        <p:txBody>
          <a:bodyPr wrap="square" lIns="0" tIns="0" rIns="0" bIns="0" rtlCol="0" anchor="ctr"/>
          <a:lstStyle/>
          <a:p>
            <a:pPr marL="0" indent="0" algn="ctr">
              <a:buNone/>
            </a:pPr>
            <a:r>
              <a:rPr lang="en-US" sz="1000" b="1" dirty="0">
                <a:solidFill>
                  <a:srgbClr val="3D5A80"/>
                </a:solidFill>
                <a:latin typeface="Calibri" pitchFamily="34" charset="0"/>
                <a:ea typeface="Calibri" pitchFamily="34" charset="-122"/>
                <a:cs typeface="Calibri" pitchFamily="34" charset="-120"/>
              </a:rPr>
              <a:t>Prompt</a:t>
            </a:r>
            <a:endParaRPr lang="en-US" sz="1000" dirty="0"/>
          </a:p>
        </p:txBody>
      </p:sp>
      <p:sp>
        <p:nvSpPr>
          <p:cNvPr id="6" name="Text 4"/>
          <p:cNvSpPr/>
          <p:nvPr/>
        </p:nvSpPr>
        <p:spPr>
          <a:xfrm>
            <a:off x="182880" y="1078992"/>
            <a:ext cx="1508760" cy="411480"/>
          </a:xfrm>
          <a:prstGeom prst="rect">
            <a:avLst/>
          </a:prstGeom>
          <a:noFill/>
          <a:ln/>
        </p:spPr>
        <p:txBody>
          <a:bodyPr wrap="square" lIns="0" tIns="0" rIns="0" bIns="0" rtlCol="0" anchor="ctr"/>
          <a:lstStyle/>
          <a:p>
            <a:pPr marL="0" indent="0" algn="ctr">
              <a:buNone/>
            </a:pPr>
            <a:r>
              <a:rPr lang="en-US" sz="1000" dirty="0">
                <a:solidFill>
                  <a:srgbClr val="1A1F36"/>
                </a:solidFill>
                <a:latin typeface="Consolas" pitchFamily="34" charset="0"/>
                <a:ea typeface="Consolas" pitchFamily="34" charset="-122"/>
                <a:cs typeface="Consolas" pitchFamily="34" charset="-120"/>
              </a:rPr>
              <a:t>"2, 4, 8,"</a:t>
            </a:r>
            <a:endParaRPr lang="en-US" sz="1000" dirty="0"/>
          </a:p>
        </p:txBody>
      </p:sp>
      <p:sp>
        <p:nvSpPr>
          <p:cNvPr id="7" name="Shape 5"/>
          <p:cNvSpPr/>
          <p:nvPr/>
        </p:nvSpPr>
        <p:spPr>
          <a:xfrm>
            <a:off x="1691640" y="1207008"/>
            <a:ext cx="274320" cy="0"/>
          </a:xfrm>
          <a:prstGeom prst="line">
            <a:avLst/>
          </a:prstGeom>
          <a:noFill/>
          <a:ln w="19050">
            <a:solidFill>
              <a:srgbClr val="3D5A80"/>
            </a:solidFill>
            <a:prstDash val="solid"/>
            <a:tailEnd type="arrow"/>
          </a:ln>
        </p:spPr>
      </p:sp>
      <p:sp>
        <p:nvSpPr>
          <p:cNvPr id="8" name="Shape 6"/>
          <p:cNvSpPr/>
          <p:nvPr/>
        </p:nvSpPr>
        <p:spPr>
          <a:xfrm>
            <a:off x="1993392" y="804672"/>
            <a:ext cx="1078992" cy="804672"/>
          </a:xfrm>
          <a:prstGeom prst="rect">
            <a:avLst/>
          </a:prstGeom>
          <a:solidFill>
            <a:srgbClr val="D6E4F7"/>
          </a:solidFill>
          <a:ln w="19050">
            <a:solidFill>
              <a:srgbClr val="3D5A80"/>
            </a:solidFill>
            <a:prstDash val="solid"/>
          </a:ln>
          <a:effectLst>
            <a:outerShdw blurRad="76200" dist="25400" dir="8100000" algn="bl" rotWithShape="0">
              <a:srgbClr val="1A1F36">
                <a:alpha val="12000"/>
              </a:srgbClr>
            </a:outerShdw>
          </a:effectLst>
        </p:spPr>
      </p:sp>
      <p:sp>
        <p:nvSpPr>
          <p:cNvPr id="9" name="Text 7"/>
          <p:cNvSpPr/>
          <p:nvPr/>
        </p:nvSpPr>
        <p:spPr>
          <a:xfrm>
            <a:off x="1993392" y="804672"/>
            <a:ext cx="1078992" cy="256032"/>
          </a:xfrm>
          <a:prstGeom prst="rect">
            <a:avLst/>
          </a:prstGeom>
          <a:noFill/>
          <a:ln/>
        </p:spPr>
        <p:txBody>
          <a:bodyPr wrap="square" lIns="0" tIns="0" rIns="0" bIns="0" rtlCol="0" anchor="ctr"/>
          <a:lstStyle/>
          <a:p>
            <a:pPr marL="0" indent="0" algn="ctr">
              <a:buNone/>
            </a:pPr>
            <a:r>
              <a:rPr lang="en-US" sz="900" b="1" dirty="0">
                <a:solidFill>
                  <a:srgbClr val="3D5A80"/>
                </a:solidFill>
                <a:latin typeface="Calibri" pitchFamily="34" charset="0"/>
                <a:ea typeface="Calibri" pitchFamily="34" charset="-122"/>
                <a:cs typeface="Calibri" pitchFamily="34" charset="-120"/>
              </a:rPr>
              <a:t>Step 1</a:t>
            </a:r>
            <a:endParaRPr lang="en-US" sz="900" dirty="0"/>
          </a:p>
        </p:txBody>
      </p:sp>
      <p:sp>
        <p:nvSpPr>
          <p:cNvPr id="10" name="Text 8"/>
          <p:cNvSpPr/>
          <p:nvPr/>
        </p:nvSpPr>
        <p:spPr>
          <a:xfrm>
            <a:off x="1993392" y="1060704"/>
            <a:ext cx="1078992" cy="502920"/>
          </a:xfrm>
          <a:prstGeom prst="rect">
            <a:avLst/>
          </a:prstGeom>
          <a:noFill/>
          <a:ln/>
        </p:spPr>
        <p:txBody>
          <a:bodyPr wrap="square" lIns="0" tIns="0" rIns="0" bIns="0" rtlCol="0" anchor="ctr"/>
          <a:lstStyle/>
          <a:p>
            <a:pPr marL="0" indent="0" algn="ctr">
              <a:buNone/>
            </a:pPr>
            <a:r>
              <a:rPr lang="en-US" sz="1600" b="1" dirty="0">
                <a:solidFill>
                  <a:srgbClr val="1A1F36"/>
                </a:solidFill>
                <a:latin typeface="Consolas" pitchFamily="34" charset="0"/>
                <a:ea typeface="Consolas" pitchFamily="34" charset="-122"/>
                <a:cs typeface="Consolas" pitchFamily="34" charset="-120"/>
              </a:rPr>
              <a:t>16</a:t>
            </a:r>
            <a:endParaRPr lang="en-US" sz="1600" dirty="0"/>
          </a:p>
        </p:txBody>
      </p:sp>
      <p:sp>
        <p:nvSpPr>
          <p:cNvPr id="11" name="Shape 9"/>
          <p:cNvSpPr/>
          <p:nvPr/>
        </p:nvSpPr>
        <p:spPr>
          <a:xfrm>
            <a:off x="2898648" y="1207008"/>
            <a:ext cx="320040" cy="0"/>
          </a:xfrm>
          <a:prstGeom prst="line">
            <a:avLst/>
          </a:prstGeom>
          <a:noFill/>
          <a:ln w="19050">
            <a:solidFill>
              <a:srgbClr val="3D5A80"/>
            </a:solidFill>
            <a:prstDash val="solid"/>
            <a:tailEnd type="arrow"/>
          </a:ln>
        </p:spPr>
      </p:sp>
      <p:sp>
        <p:nvSpPr>
          <p:cNvPr id="12" name="Shape 10"/>
          <p:cNvSpPr/>
          <p:nvPr/>
        </p:nvSpPr>
        <p:spPr>
          <a:xfrm>
            <a:off x="3246120" y="804672"/>
            <a:ext cx="1078992" cy="804672"/>
          </a:xfrm>
          <a:prstGeom prst="rect">
            <a:avLst/>
          </a:prstGeom>
          <a:solidFill>
            <a:srgbClr val="D6E4F7"/>
          </a:solidFill>
          <a:ln w="19050">
            <a:solidFill>
              <a:srgbClr val="3D5A80"/>
            </a:solidFill>
            <a:prstDash val="solid"/>
          </a:ln>
          <a:effectLst>
            <a:outerShdw blurRad="76200" dist="25400" dir="8100000" algn="bl" rotWithShape="0">
              <a:srgbClr val="1A1F36">
                <a:alpha val="12000"/>
              </a:srgbClr>
            </a:outerShdw>
          </a:effectLst>
        </p:spPr>
      </p:sp>
      <p:sp>
        <p:nvSpPr>
          <p:cNvPr id="13" name="Text 11"/>
          <p:cNvSpPr/>
          <p:nvPr/>
        </p:nvSpPr>
        <p:spPr>
          <a:xfrm>
            <a:off x="3246120" y="804672"/>
            <a:ext cx="1078992" cy="256032"/>
          </a:xfrm>
          <a:prstGeom prst="rect">
            <a:avLst/>
          </a:prstGeom>
          <a:noFill/>
          <a:ln/>
        </p:spPr>
        <p:txBody>
          <a:bodyPr wrap="square" lIns="0" tIns="0" rIns="0" bIns="0" rtlCol="0" anchor="ctr"/>
          <a:lstStyle/>
          <a:p>
            <a:pPr marL="0" indent="0" algn="ctr">
              <a:buNone/>
            </a:pPr>
            <a:r>
              <a:rPr lang="en-US" sz="900" b="1" dirty="0">
                <a:solidFill>
                  <a:srgbClr val="3D5A80"/>
                </a:solidFill>
                <a:latin typeface="Calibri" pitchFamily="34" charset="0"/>
                <a:ea typeface="Calibri" pitchFamily="34" charset="-122"/>
                <a:cs typeface="Calibri" pitchFamily="34" charset="-120"/>
              </a:rPr>
              <a:t>Step 2</a:t>
            </a:r>
            <a:endParaRPr lang="en-US" sz="900" dirty="0"/>
          </a:p>
        </p:txBody>
      </p:sp>
      <p:sp>
        <p:nvSpPr>
          <p:cNvPr id="14" name="Text 12"/>
          <p:cNvSpPr/>
          <p:nvPr/>
        </p:nvSpPr>
        <p:spPr>
          <a:xfrm>
            <a:off x="3246120" y="1060704"/>
            <a:ext cx="1078992" cy="502920"/>
          </a:xfrm>
          <a:prstGeom prst="rect">
            <a:avLst/>
          </a:prstGeom>
          <a:noFill/>
          <a:ln/>
        </p:spPr>
        <p:txBody>
          <a:bodyPr wrap="square" lIns="0" tIns="0" rIns="0" bIns="0" rtlCol="0" anchor="ctr"/>
          <a:lstStyle/>
          <a:p>
            <a:pPr marL="0" indent="0" algn="ctr">
              <a:buNone/>
            </a:pPr>
            <a:r>
              <a:rPr lang="en-US" sz="1600" b="1" dirty="0">
                <a:solidFill>
                  <a:srgbClr val="1A1F36"/>
                </a:solidFill>
                <a:latin typeface="Consolas" pitchFamily="34" charset="0"/>
                <a:ea typeface="Consolas" pitchFamily="34" charset="-122"/>
                <a:cs typeface="Consolas" pitchFamily="34" charset="-120"/>
              </a:rPr>
              <a:t>32</a:t>
            </a:r>
            <a:endParaRPr lang="en-US" sz="1600" dirty="0"/>
          </a:p>
        </p:txBody>
      </p:sp>
      <p:sp>
        <p:nvSpPr>
          <p:cNvPr id="15" name="Shape 13"/>
          <p:cNvSpPr/>
          <p:nvPr/>
        </p:nvSpPr>
        <p:spPr>
          <a:xfrm>
            <a:off x="4151376" y="1207008"/>
            <a:ext cx="320040" cy="0"/>
          </a:xfrm>
          <a:prstGeom prst="line">
            <a:avLst/>
          </a:prstGeom>
          <a:noFill/>
          <a:ln w="19050">
            <a:solidFill>
              <a:srgbClr val="3D5A80"/>
            </a:solidFill>
            <a:prstDash val="solid"/>
            <a:tailEnd type="arrow"/>
          </a:ln>
        </p:spPr>
      </p:sp>
      <p:sp>
        <p:nvSpPr>
          <p:cNvPr id="16" name="Shape 14"/>
          <p:cNvSpPr/>
          <p:nvPr/>
        </p:nvSpPr>
        <p:spPr>
          <a:xfrm>
            <a:off x="4498848" y="804672"/>
            <a:ext cx="1078992" cy="804672"/>
          </a:xfrm>
          <a:prstGeom prst="rect">
            <a:avLst/>
          </a:prstGeom>
          <a:solidFill>
            <a:srgbClr val="D6E4F7"/>
          </a:solidFill>
          <a:ln w="19050">
            <a:solidFill>
              <a:srgbClr val="3D5A80"/>
            </a:solidFill>
            <a:prstDash val="solid"/>
          </a:ln>
          <a:effectLst>
            <a:outerShdw blurRad="76200" dist="25400" dir="8100000" algn="bl" rotWithShape="0">
              <a:srgbClr val="1A1F36">
                <a:alpha val="12000"/>
              </a:srgbClr>
            </a:outerShdw>
          </a:effectLst>
        </p:spPr>
      </p:sp>
      <p:sp>
        <p:nvSpPr>
          <p:cNvPr id="17" name="Text 15"/>
          <p:cNvSpPr/>
          <p:nvPr/>
        </p:nvSpPr>
        <p:spPr>
          <a:xfrm>
            <a:off x="4498848" y="804672"/>
            <a:ext cx="1078992" cy="256032"/>
          </a:xfrm>
          <a:prstGeom prst="rect">
            <a:avLst/>
          </a:prstGeom>
          <a:noFill/>
          <a:ln/>
        </p:spPr>
        <p:txBody>
          <a:bodyPr wrap="square" lIns="0" tIns="0" rIns="0" bIns="0" rtlCol="0" anchor="ctr"/>
          <a:lstStyle/>
          <a:p>
            <a:pPr marL="0" indent="0" algn="ctr">
              <a:buNone/>
            </a:pPr>
            <a:r>
              <a:rPr lang="en-US" sz="900" b="1" dirty="0">
                <a:solidFill>
                  <a:srgbClr val="3D5A80"/>
                </a:solidFill>
                <a:latin typeface="Calibri" pitchFamily="34" charset="0"/>
                <a:ea typeface="Calibri" pitchFamily="34" charset="-122"/>
                <a:cs typeface="Calibri" pitchFamily="34" charset="-120"/>
              </a:rPr>
              <a:t>Step 3</a:t>
            </a:r>
            <a:endParaRPr lang="en-US" sz="900" dirty="0"/>
          </a:p>
        </p:txBody>
      </p:sp>
      <p:sp>
        <p:nvSpPr>
          <p:cNvPr id="18" name="Text 16"/>
          <p:cNvSpPr/>
          <p:nvPr/>
        </p:nvSpPr>
        <p:spPr>
          <a:xfrm>
            <a:off x="4498848" y="1060704"/>
            <a:ext cx="1078992" cy="502920"/>
          </a:xfrm>
          <a:prstGeom prst="rect">
            <a:avLst/>
          </a:prstGeom>
          <a:noFill/>
          <a:ln/>
        </p:spPr>
        <p:txBody>
          <a:bodyPr wrap="square" lIns="0" tIns="0" rIns="0" bIns="0" rtlCol="0" anchor="ctr"/>
          <a:lstStyle/>
          <a:p>
            <a:pPr marL="0" indent="0" algn="ctr">
              <a:buNone/>
            </a:pPr>
            <a:r>
              <a:rPr lang="en-US" sz="1600" b="1" dirty="0">
                <a:solidFill>
                  <a:srgbClr val="1A1F36"/>
                </a:solidFill>
                <a:latin typeface="Consolas" pitchFamily="34" charset="0"/>
                <a:ea typeface="Consolas" pitchFamily="34" charset="-122"/>
                <a:cs typeface="Consolas" pitchFamily="34" charset="-120"/>
              </a:rPr>
              <a:t>64</a:t>
            </a:r>
            <a:endParaRPr lang="en-US" sz="1600" dirty="0"/>
          </a:p>
        </p:txBody>
      </p:sp>
      <p:sp>
        <p:nvSpPr>
          <p:cNvPr id="19" name="Shape 17"/>
          <p:cNvSpPr/>
          <p:nvPr/>
        </p:nvSpPr>
        <p:spPr>
          <a:xfrm>
            <a:off x="5404104" y="1207008"/>
            <a:ext cx="320040" cy="0"/>
          </a:xfrm>
          <a:prstGeom prst="line">
            <a:avLst/>
          </a:prstGeom>
          <a:noFill/>
          <a:ln w="19050">
            <a:solidFill>
              <a:srgbClr val="3D5A80"/>
            </a:solidFill>
            <a:prstDash val="solid"/>
            <a:tailEnd type="arrow"/>
          </a:ln>
        </p:spPr>
      </p:sp>
      <p:sp>
        <p:nvSpPr>
          <p:cNvPr id="20" name="Shape 18"/>
          <p:cNvSpPr/>
          <p:nvPr/>
        </p:nvSpPr>
        <p:spPr>
          <a:xfrm>
            <a:off x="5751576" y="804672"/>
            <a:ext cx="1078992" cy="804672"/>
          </a:xfrm>
          <a:prstGeom prst="rect">
            <a:avLst/>
          </a:prstGeom>
          <a:solidFill>
            <a:srgbClr val="D6E4F7"/>
          </a:solidFill>
          <a:ln w="19050">
            <a:solidFill>
              <a:srgbClr val="3D5A80"/>
            </a:solidFill>
            <a:prstDash val="solid"/>
          </a:ln>
          <a:effectLst>
            <a:outerShdw blurRad="76200" dist="25400" dir="8100000" algn="bl" rotWithShape="0">
              <a:srgbClr val="1A1F36">
                <a:alpha val="12000"/>
              </a:srgbClr>
            </a:outerShdw>
          </a:effectLst>
        </p:spPr>
      </p:sp>
      <p:sp>
        <p:nvSpPr>
          <p:cNvPr id="21" name="Text 19"/>
          <p:cNvSpPr/>
          <p:nvPr/>
        </p:nvSpPr>
        <p:spPr>
          <a:xfrm>
            <a:off x="5751576" y="804672"/>
            <a:ext cx="1078992" cy="256032"/>
          </a:xfrm>
          <a:prstGeom prst="rect">
            <a:avLst/>
          </a:prstGeom>
          <a:noFill/>
          <a:ln/>
        </p:spPr>
        <p:txBody>
          <a:bodyPr wrap="square" lIns="0" tIns="0" rIns="0" bIns="0" rtlCol="0" anchor="ctr"/>
          <a:lstStyle/>
          <a:p>
            <a:pPr marL="0" indent="0" algn="ctr">
              <a:buNone/>
            </a:pPr>
            <a:r>
              <a:rPr lang="en-US" sz="900" b="1" dirty="0">
                <a:solidFill>
                  <a:srgbClr val="3D5A80"/>
                </a:solidFill>
                <a:latin typeface="Calibri" pitchFamily="34" charset="0"/>
                <a:ea typeface="Calibri" pitchFamily="34" charset="-122"/>
                <a:cs typeface="Calibri" pitchFamily="34" charset="-120"/>
              </a:rPr>
              <a:t>Step 4</a:t>
            </a:r>
            <a:endParaRPr lang="en-US" sz="900" dirty="0"/>
          </a:p>
        </p:txBody>
      </p:sp>
      <p:sp>
        <p:nvSpPr>
          <p:cNvPr id="22" name="Text 20"/>
          <p:cNvSpPr/>
          <p:nvPr/>
        </p:nvSpPr>
        <p:spPr>
          <a:xfrm>
            <a:off x="5751576" y="1060704"/>
            <a:ext cx="1078992" cy="502920"/>
          </a:xfrm>
          <a:prstGeom prst="rect">
            <a:avLst/>
          </a:prstGeom>
          <a:noFill/>
          <a:ln/>
        </p:spPr>
        <p:txBody>
          <a:bodyPr wrap="square" lIns="0" tIns="0" rIns="0" bIns="0" rtlCol="0" anchor="ctr"/>
          <a:lstStyle/>
          <a:p>
            <a:pPr marL="0" indent="0" algn="ctr">
              <a:buNone/>
            </a:pPr>
            <a:r>
              <a:rPr lang="en-US" sz="1600" b="1" dirty="0">
                <a:solidFill>
                  <a:srgbClr val="1A1F36"/>
                </a:solidFill>
                <a:latin typeface="Consolas" pitchFamily="34" charset="0"/>
                <a:ea typeface="Consolas" pitchFamily="34" charset="-122"/>
                <a:cs typeface="Consolas" pitchFamily="34" charset="-120"/>
              </a:rPr>
              <a:t>128</a:t>
            </a:r>
            <a:endParaRPr lang="en-US" sz="1600" dirty="0"/>
          </a:p>
        </p:txBody>
      </p:sp>
      <p:sp>
        <p:nvSpPr>
          <p:cNvPr id="23" name="Shape 21"/>
          <p:cNvSpPr/>
          <p:nvPr/>
        </p:nvSpPr>
        <p:spPr>
          <a:xfrm>
            <a:off x="6656832" y="1207008"/>
            <a:ext cx="320040" cy="0"/>
          </a:xfrm>
          <a:prstGeom prst="line">
            <a:avLst/>
          </a:prstGeom>
          <a:noFill/>
          <a:ln w="19050">
            <a:solidFill>
              <a:srgbClr val="3D5A80"/>
            </a:solidFill>
            <a:prstDash val="solid"/>
            <a:tailEnd type="arrow"/>
          </a:ln>
        </p:spPr>
      </p:sp>
      <p:sp>
        <p:nvSpPr>
          <p:cNvPr id="24" name="Shape 22"/>
          <p:cNvSpPr/>
          <p:nvPr/>
        </p:nvSpPr>
        <p:spPr>
          <a:xfrm>
            <a:off x="7004304" y="804672"/>
            <a:ext cx="1078992" cy="804672"/>
          </a:xfrm>
          <a:prstGeom prst="rect">
            <a:avLst/>
          </a:prstGeom>
          <a:solidFill>
            <a:srgbClr val="F8FAFC"/>
          </a:solidFill>
          <a:ln w="19050">
            <a:solidFill>
              <a:srgbClr val="3D5A80"/>
            </a:solidFill>
            <a:prstDash val="solid"/>
          </a:ln>
          <a:effectLst>
            <a:outerShdw blurRad="76200" dist="25400" dir="8100000" algn="bl" rotWithShape="0">
              <a:srgbClr val="1A1F36">
                <a:alpha val="12000"/>
              </a:srgbClr>
            </a:outerShdw>
          </a:effectLst>
        </p:spPr>
      </p:sp>
      <p:sp>
        <p:nvSpPr>
          <p:cNvPr id="25" name="Text 23"/>
          <p:cNvSpPr/>
          <p:nvPr/>
        </p:nvSpPr>
        <p:spPr>
          <a:xfrm>
            <a:off x="7004304" y="804672"/>
            <a:ext cx="1078992" cy="256032"/>
          </a:xfrm>
          <a:prstGeom prst="rect">
            <a:avLst/>
          </a:prstGeom>
          <a:noFill/>
          <a:ln/>
        </p:spPr>
        <p:txBody>
          <a:bodyPr wrap="square" lIns="0" tIns="0" rIns="0" bIns="0" rtlCol="0" anchor="ctr"/>
          <a:lstStyle/>
          <a:p>
            <a:pPr marL="0" indent="0" algn="ctr">
              <a:buNone/>
            </a:pPr>
            <a:r>
              <a:rPr lang="en-US" sz="900" b="1" dirty="0">
                <a:solidFill>
                  <a:srgbClr val="3D5A80"/>
                </a:solidFill>
                <a:latin typeface="Calibri" pitchFamily="34" charset="0"/>
                <a:ea typeface="Calibri" pitchFamily="34" charset="-122"/>
                <a:cs typeface="Calibri" pitchFamily="34" charset="-120"/>
              </a:rPr>
              <a:t>Step N</a:t>
            </a:r>
            <a:endParaRPr lang="en-US" sz="900" dirty="0"/>
          </a:p>
        </p:txBody>
      </p:sp>
      <p:sp>
        <p:nvSpPr>
          <p:cNvPr id="26" name="Text 24"/>
          <p:cNvSpPr/>
          <p:nvPr/>
        </p:nvSpPr>
        <p:spPr>
          <a:xfrm>
            <a:off x="7004304" y="1060704"/>
            <a:ext cx="1078992" cy="502920"/>
          </a:xfrm>
          <a:prstGeom prst="rect">
            <a:avLst/>
          </a:prstGeom>
          <a:noFill/>
          <a:ln/>
        </p:spPr>
        <p:txBody>
          <a:bodyPr wrap="square" lIns="0" tIns="0" rIns="0" bIns="0" rtlCol="0" anchor="ctr"/>
          <a:lstStyle/>
          <a:p>
            <a:pPr marL="0" indent="0" algn="ctr">
              <a:buNone/>
            </a:pPr>
            <a:r>
              <a:rPr lang="en-US" sz="1600" b="1" dirty="0">
                <a:solidFill>
                  <a:srgbClr val="3D5A80"/>
                </a:solidFill>
                <a:latin typeface="Consolas" pitchFamily="34" charset="0"/>
                <a:ea typeface="Consolas" pitchFamily="34" charset="-122"/>
                <a:cs typeface="Consolas" pitchFamily="34" charset="-120"/>
              </a:rPr>
              <a:t>...</a:t>
            </a:r>
            <a:endParaRPr lang="en-US" sz="1600" dirty="0"/>
          </a:p>
        </p:txBody>
      </p:sp>
      <p:sp>
        <p:nvSpPr>
          <p:cNvPr id="27" name="Text 25"/>
          <p:cNvSpPr/>
          <p:nvPr/>
        </p:nvSpPr>
        <p:spPr>
          <a:xfrm>
            <a:off x="365760" y="1828800"/>
            <a:ext cx="8412480" cy="347472"/>
          </a:xfrm>
          <a:prstGeom prst="rect">
            <a:avLst/>
          </a:prstGeom>
          <a:noFill/>
          <a:ln/>
        </p:spPr>
        <p:txBody>
          <a:bodyPr wrap="square" rtlCol="0" anchor="ctr"/>
          <a:lstStyle/>
          <a:p>
            <a:pPr marL="0" indent="0">
              <a:buNone/>
            </a:pPr>
            <a:r>
              <a:rPr lang="en-US" sz="1300" dirty="0">
                <a:solidFill>
                  <a:srgbClr val="1A1F36"/>
                </a:solidFill>
                <a:latin typeface="Calibri" pitchFamily="34" charset="0"/>
                <a:ea typeface="Calibri" pitchFamily="34" charset="-122"/>
                <a:cs typeface="Calibri" pitchFamily="34" charset="-120"/>
              </a:rPr>
              <a:t>At each step the model evaluates every token in its vocabulary (~50,000 tokens):</a:t>
            </a:r>
            <a:endParaRPr lang="en-US" sz="1300" dirty="0"/>
          </a:p>
        </p:txBody>
      </p:sp>
      <p:sp>
        <p:nvSpPr>
          <p:cNvPr id="28" name="Shape 26"/>
          <p:cNvSpPr/>
          <p:nvPr/>
        </p:nvSpPr>
        <p:spPr>
          <a:xfrm>
            <a:off x="365760" y="2267712"/>
            <a:ext cx="1353312" cy="365760"/>
          </a:xfrm>
          <a:prstGeom prst="rect">
            <a:avLst/>
          </a:prstGeom>
          <a:solidFill>
            <a:srgbClr val="D6E4F7"/>
          </a:solidFill>
          <a:ln w="19050">
            <a:solidFill>
              <a:srgbClr val="3D5A80"/>
            </a:solidFill>
            <a:prstDash val="solid"/>
          </a:ln>
        </p:spPr>
      </p:sp>
      <p:sp>
        <p:nvSpPr>
          <p:cNvPr id="29" name="Text 27"/>
          <p:cNvSpPr/>
          <p:nvPr/>
        </p:nvSpPr>
        <p:spPr>
          <a:xfrm>
            <a:off x="365760" y="2267712"/>
            <a:ext cx="1353312" cy="365760"/>
          </a:xfrm>
          <a:prstGeom prst="rect">
            <a:avLst/>
          </a:prstGeom>
          <a:noFill/>
          <a:ln/>
        </p:spPr>
        <p:txBody>
          <a:bodyPr wrap="square" lIns="0" tIns="0" rIns="0" bIns="0" rtlCol="0" anchor="ctr"/>
          <a:lstStyle/>
          <a:p>
            <a:pPr marL="0" indent="0" algn="ctr">
              <a:buNone/>
            </a:pPr>
            <a:r>
              <a:rPr lang="en-US" sz="1050" dirty="0">
                <a:solidFill>
                  <a:srgbClr val="3D5A80"/>
                </a:solidFill>
                <a:latin typeface="Consolas" pitchFamily="34" charset="0"/>
                <a:ea typeface="Consolas" pitchFamily="34" charset="-122"/>
                <a:cs typeface="Consolas" pitchFamily="34" charset="-120"/>
              </a:rPr>
              <a:t> 16</a:t>
            </a:r>
            <a:endParaRPr lang="en-US" sz="1050" dirty="0"/>
          </a:p>
        </p:txBody>
      </p:sp>
      <p:sp>
        <p:nvSpPr>
          <p:cNvPr id="30" name="Shape 28"/>
          <p:cNvSpPr/>
          <p:nvPr/>
        </p:nvSpPr>
        <p:spPr>
          <a:xfrm>
            <a:off x="1810512" y="2267712"/>
            <a:ext cx="1353312" cy="365760"/>
          </a:xfrm>
          <a:prstGeom prst="rect">
            <a:avLst/>
          </a:prstGeom>
          <a:solidFill>
            <a:srgbClr val="F7F3EA"/>
          </a:solidFill>
          <a:ln w="9525">
            <a:solidFill>
              <a:srgbClr val="CADCFC"/>
            </a:solidFill>
            <a:prstDash val="solid"/>
          </a:ln>
        </p:spPr>
      </p:sp>
      <p:sp>
        <p:nvSpPr>
          <p:cNvPr id="31" name="Text 29"/>
          <p:cNvSpPr/>
          <p:nvPr/>
        </p:nvSpPr>
        <p:spPr>
          <a:xfrm>
            <a:off x="1810512" y="2267712"/>
            <a:ext cx="1353312" cy="365760"/>
          </a:xfrm>
          <a:prstGeom prst="rect">
            <a:avLst/>
          </a:prstGeom>
          <a:noFill/>
          <a:ln/>
        </p:spPr>
        <p:txBody>
          <a:bodyPr wrap="square" lIns="0" tIns="0" rIns="0" bIns="0" rtlCol="0" anchor="ctr"/>
          <a:lstStyle/>
          <a:p>
            <a:pPr marL="0" indent="0" algn="ctr">
              <a:buNone/>
            </a:pPr>
            <a:r>
              <a:rPr lang="en-US" sz="1050" dirty="0">
                <a:solidFill>
                  <a:srgbClr val="3D5A80"/>
                </a:solidFill>
                <a:latin typeface="Consolas" pitchFamily="34" charset="0"/>
                <a:ea typeface="Consolas" pitchFamily="34" charset="-122"/>
                <a:cs typeface="Consolas" pitchFamily="34" charset="-120"/>
              </a:rPr>
              <a:t> 32</a:t>
            </a:r>
            <a:endParaRPr lang="en-US" sz="1050" dirty="0"/>
          </a:p>
        </p:txBody>
      </p:sp>
      <p:sp>
        <p:nvSpPr>
          <p:cNvPr id="32" name="Shape 30"/>
          <p:cNvSpPr/>
          <p:nvPr/>
        </p:nvSpPr>
        <p:spPr>
          <a:xfrm>
            <a:off x="3255264" y="2267712"/>
            <a:ext cx="1353312" cy="365760"/>
          </a:xfrm>
          <a:prstGeom prst="rect">
            <a:avLst/>
          </a:prstGeom>
          <a:solidFill>
            <a:srgbClr val="F7F3EA"/>
          </a:solidFill>
          <a:ln w="9525">
            <a:solidFill>
              <a:srgbClr val="CADCFC"/>
            </a:solidFill>
            <a:prstDash val="solid"/>
          </a:ln>
        </p:spPr>
      </p:sp>
      <p:sp>
        <p:nvSpPr>
          <p:cNvPr id="33" name="Text 31"/>
          <p:cNvSpPr/>
          <p:nvPr/>
        </p:nvSpPr>
        <p:spPr>
          <a:xfrm>
            <a:off x="3255264" y="2267712"/>
            <a:ext cx="1353312" cy="365760"/>
          </a:xfrm>
          <a:prstGeom prst="rect">
            <a:avLst/>
          </a:prstGeom>
          <a:noFill/>
          <a:ln/>
        </p:spPr>
        <p:txBody>
          <a:bodyPr wrap="square" lIns="0" tIns="0" rIns="0" bIns="0" rtlCol="0" anchor="ctr"/>
          <a:lstStyle/>
          <a:p>
            <a:pPr marL="0" indent="0" algn="ctr">
              <a:buNone/>
            </a:pPr>
            <a:r>
              <a:rPr lang="en-US" sz="1050" dirty="0">
                <a:solidFill>
                  <a:srgbClr val="3D5A80"/>
                </a:solidFill>
                <a:latin typeface="Consolas" pitchFamily="34" charset="0"/>
                <a:ea typeface="Consolas" pitchFamily="34" charset="-122"/>
                <a:cs typeface="Consolas" pitchFamily="34" charset="-120"/>
              </a:rPr>
              <a:t> the</a:t>
            </a:r>
            <a:endParaRPr lang="en-US" sz="1050" dirty="0"/>
          </a:p>
        </p:txBody>
      </p:sp>
      <p:sp>
        <p:nvSpPr>
          <p:cNvPr id="34" name="Shape 32"/>
          <p:cNvSpPr/>
          <p:nvPr/>
        </p:nvSpPr>
        <p:spPr>
          <a:xfrm>
            <a:off x="4700016" y="2267712"/>
            <a:ext cx="1353312" cy="365760"/>
          </a:xfrm>
          <a:prstGeom prst="rect">
            <a:avLst/>
          </a:prstGeom>
          <a:solidFill>
            <a:srgbClr val="F7F3EA"/>
          </a:solidFill>
          <a:ln w="9525">
            <a:solidFill>
              <a:srgbClr val="CADCFC"/>
            </a:solidFill>
            <a:prstDash val="solid"/>
          </a:ln>
        </p:spPr>
      </p:sp>
      <p:sp>
        <p:nvSpPr>
          <p:cNvPr id="35" name="Text 33"/>
          <p:cNvSpPr/>
          <p:nvPr/>
        </p:nvSpPr>
        <p:spPr>
          <a:xfrm>
            <a:off x="4700016" y="2267712"/>
            <a:ext cx="1353312" cy="365760"/>
          </a:xfrm>
          <a:prstGeom prst="rect">
            <a:avLst/>
          </a:prstGeom>
          <a:noFill/>
          <a:ln/>
        </p:spPr>
        <p:txBody>
          <a:bodyPr wrap="square" lIns="0" tIns="0" rIns="0" bIns="0" rtlCol="0" anchor="ctr"/>
          <a:lstStyle/>
          <a:p>
            <a:pPr marL="0" indent="0" algn="ctr">
              <a:buNone/>
            </a:pPr>
            <a:r>
              <a:rPr lang="en-US" sz="1050" dirty="0">
                <a:solidFill>
                  <a:srgbClr val="3D5A80"/>
                </a:solidFill>
                <a:latin typeface="Consolas" pitchFamily="34" charset="0"/>
                <a:ea typeface="Consolas" pitchFamily="34" charset="-122"/>
                <a:cs typeface="Consolas" pitchFamily="34" charset="-120"/>
              </a:rPr>
              <a:t> is</a:t>
            </a:r>
            <a:endParaRPr lang="en-US" sz="1050" dirty="0"/>
          </a:p>
        </p:txBody>
      </p:sp>
      <p:sp>
        <p:nvSpPr>
          <p:cNvPr id="36" name="Shape 34"/>
          <p:cNvSpPr/>
          <p:nvPr/>
        </p:nvSpPr>
        <p:spPr>
          <a:xfrm>
            <a:off x="6144768" y="2267712"/>
            <a:ext cx="1353312" cy="365760"/>
          </a:xfrm>
          <a:prstGeom prst="rect">
            <a:avLst/>
          </a:prstGeom>
          <a:solidFill>
            <a:srgbClr val="F7F3EA"/>
          </a:solidFill>
          <a:ln w="9525">
            <a:solidFill>
              <a:srgbClr val="CADCFC"/>
            </a:solidFill>
            <a:prstDash val="solid"/>
          </a:ln>
        </p:spPr>
      </p:sp>
      <p:sp>
        <p:nvSpPr>
          <p:cNvPr id="37" name="Text 35"/>
          <p:cNvSpPr/>
          <p:nvPr/>
        </p:nvSpPr>
        <p:spPr>
          <a:xfrm>
            <a:off x="6144768" y="2267712"/>
            <a:ext cx="1353312" cy="365760"/>
          </a:xfrm>
          <a:prstGeom prst="rect">
            <a:avLst/>
          </a:prstGeom>
          <a:noFill/>
          <a:ln/>
        </p:spPr>
        <p:txBody>
          <a:bodyPr wrap="square" lIns="0" tIns="0" rIns="0" bIns="0" rtlCol="0" anchor="ctr"/>
          <a:lstStyle/>
          <a:p>
            <a:pPr marL="0" indent="0" algn="ctr">
              <a:buNone/>
            </a:pPr>
            <a:r>
              <a:rPr lang="en-US" sz="1050" dirty="0">
                <a:solidFill>
                  <a:srgbClr val="3D5A80"/>
                </a:solidFill>
                <a:latin typeface="Consolas" pitchFamily="34" charset="0"/>
                <a:ea typeface="Consolas" pitchFamily="34" charset="-122"/>
                <a:cs typeface="Consolas" pitchFamily="34" charset="-120"/>
              </a:rPr>
              <a:t> ,</a:t>
            </a:r>
            <a:endParaRPr lang="en-US" sz="1050" dirty="0"/>
          </a:p>
        </p:txBody>
      </p:sp>
      <p:sp>
        <p:nvSpPr>
          <p:cNvPr id="38" name="Shape 36"/>
          <p:cNvSpPr/>
          <p:nvPr/>
        </p:nvSpPr>
        <p:spPr>
          <a:xfrm>
            <a:off x="7589520" y="2267712"/>
            <a:ext cx="1353312" cy="365760"/>
          </a:xfrm>
          <a:prstGeom prst="rect">
            <a:avLst/>
          </a:prstGeom>
          <a:solidFill>
            <a:srgbClr val="F7F3EA"/>
          </a:solidFill>
          <a:ln w="9525">
            <a:solidFill>
              <a:srgbClr val="CADCFC"/>
            </a:solidFill>
            <a:prstDash val="solid"/>
          </a:ln>
        </p:spPr>
      </p:sp>
      <p:sp>
        <p:nvSpPr>
          <p:cNvPr id="39" name="Text 37"/>
          <p:cNvSpPr/>
          <p:nvPr/>
        </p:nvSpPr>
        <p:spPr>
          <a:xfrm>
            <a:off x="7589520" y="2267712"/>
            <a:ext cx="1353312" cy="365760"/>
          </a:xfrm>
          <a:prstGeom prst="rect">
            <a:avLst/>
          </a:prstGeom>
          <a:noFill/>
          <a:ln/>
        </p:spPr>
        <p:txBody>
          <a:bodyPr wrap="square" lIns="0" tIns="0" rIns="0" bIns="0" rtlCol="0" anchor="ctr"/>
          <a:lstStyle/>
          <a:p>
            <a:pPr marL="0" indent="0" algn="ctr">
              <a:buNone/>
            </a:pPr>
            <a:r>
              <a:rPr lang="en-US" sz="1050" dirty="0">
                <a:solidFill>
                  <a:srgbClr val="3D5A80"/>
                </a:solidFill>
                <a:latin typeface="Consolas" pitchFamily="34" charset="0"/>
                <a:ea typeface="Consolas" pitchFamily="34" charset="-122"/>
                <a:cs typeface="Consolas" pitchFamily="34" charset="-120"/>
              </a:rPr>
              <a:t> 64</a:t>
            </a:r>
            <a:endParaRPr lang="en-US" sz="1050" dirty="0"/>
          </a:p>
        </p:txBody>
      </p:sp>
      <p:sp>
        <p:nvSpPr>
          <p:cNvPr id="40" name="Shape 38"/>
          <p:cNvSpPr/>
          <p:nvPr/>
        </p:nvSpPr>
        <p:spPr>
          <a:xfrm>
            <a:off x="365760" y="2743200"/>
            <a:ext cx="1353312" cy="365760"/>
          </a:xfrm>
          <a:prstGeom prst="rect">
            <a:avLst/>
          </a:prstGeom>
          <a:solidFill>
            <a:srgbClr val="F7F3EA"/>
          </a:solidFill>
          <a:ln w="9525">
            <a:solidFill>
              <a:srgbClr val="CADCFC"/>
            </a:solidFill>
            <a:prstDash val="solid"/>
          </a:ln>
        </p:spPr>
      </p:sp>
      <p:sp>
        <p:nvSpPr>
          <p:cNvPr id="41" name="Text 39"/>
          <p:cNvSpPr/>
          <p:nvPr/>
        </p:nvSpPr>
        <p:spPr>
          <a:xfrm>
            <a:off x="365760" y="2743200"/>
            <a:ext cx="1353312" cy="365760"/>
          </a:xfrm>
          <a:prstGeom prst="rect">
            <a:avLst/>
          </a:prstGeom>
          <a:noFill/>
          <a:ln/>
        </p:spPr>
        <p:txBody>
          <a:bodyPr wrap="square" lIns="0" tIns="0" rIns="0" bIns="0" rtlCol="0" anchor="ctr"/>
          <a:lstStyle/>
          <a:p>
            <a:pPr marL="0" indent="0" algn="ctr">
              <a:buNone/>
            </a:pPr>
            <a:r>
              <a:rPr lang="en-US" sz="1050" dirty="0">
                <a:solidFill>
                  <a:srgbClr val="3D5A80"/>
                </a:solidFill>
                <a:latin typeface="Consolas" pitchFamily="34" charset="0"/>
                <a:ea typeface="Consolas" pitchFamily="34" charset="-122"/>
                <a:cs typeface="Consolas" pitchFamily="34" charset="-120"/>
              </a:rPr>
              <a:t> .</a:t>
            </a:r>
            <a:endParaRPr lang="en-US" sz="1050" dirty="0"/>
          </a:p>
        </p:txBody>
      </p:sp>
      <p:sp>
        <p:nvSpPr>
          <p:cNvPr id="42" name="Shape 40"/>
          <p:cNvSpPr/>
          <p:nvPr/>
        </p:nvSpPr>
        <p:spPr>
          <a:xfrm>
            <a:off x="1810512" y="2743200"/>
            <a:ext cx="1353312" cy="365760"/>
          </a:xfrm>
          <a:prstGeom prst="rect">
            <a:avLst/>
          </a:prstGeom>
          <a:solidFill>
            <a:srgbClr val="F7F3EA"/>
          </a:solidFill>
          <a:ln w="9525">
            <a:solidFill>
              <a:srgbClr val="CADCFC"/>
            </a:solidFill>
            <a:prstDash val="solid"/>
          </a:ln>
        </p:spPr>
      </p:sp>
      <p:sp>
        <p:nvSpPr>
          <p:cNvPr id="43" name="Text 41"/>
          <p:cNvSpPr/>
          <p:nvPr/>
        </p:nvSpPr>
        <p:spPr>
          <a:xfrm>
            <a:off x="1810512" y="2743200"/>
            <a:ext cx="1353312" cy="365760"/>
          </a:xfrm>
          <a:prstGeom prst="rect">
            <a:avLst/>
          </a:prstGeom>
          <a:noFill/>
          <a:ln/>
        </p:spPr>
        <p:txBody>
          <a:bodyPr wrap="square" lIns="0" tIns="0" rIns="0" bIns="0" rtlCol="0" anchor="ctr"/>
          <a:lstStyle/>
          <a:p>
            <a:pPr marL="0" indent="0" algn="ctr">
              <a:buNone/>
            </a:pPr>
            <a:r>
              <a:rPr lang="en-US" sz="1050" dirty="0">
                <a:solidFill>
                  <a:srgbClr val="3D5A80"/>
                </a:solidFill>
                <a:latin typeface="Consolas" pitchFamily="34" charset="0"/>
                <a:ea typeface="Consolas" pitchFamily="34" charset="-122"/>
                <a:cs typeface="Consolas" pitchFamily="34" charset="-120"/>
              </a:rPr>
              <a:t> and</a:t>
            </a:r>
            <a:endParaRPr lang="en-US" sz="1050" dirty="0"/>
          </a:p>
        </p:txBody>
      </p:sp>
      <p:sp>
        <p:nvSpPr>
          <p:cNvPr id="44" name="Shape 42"/>
          <p:cNvSpPr/>
          <p:nvPr/>
        </p:nvSpPr>
        <p:spPr>
          <a:xfrm>
            <a:off x="3255264" y="2743200"/>
            <a:ext cx="1353312" cy="365760"/>
          </a:xfrm>
          <a:prstGeom prst="rect">
            <a:avLst/>
          </a:prstGeom>
          <a:solidFill>
            <a:srgbClr val="F7F3EA"/>
          </a:solidFill>
          <a:ln w="9525">
            <a:solidFill>
              <a:srgbClr val="CADCFC"/>
            </a:solidFill>
            <a:prstDash val="solid"/>
          </a:ln>
        </p:spPr>
      </p:sp>
      <p:sp>
        <p:nvSpPr>
          <p:cNvPr id="45" name="Text 43"/>
          <p:cNvSpPr/>
          <p:nvPr/>
        </p:nvSpPr>
        <p:spPr>
          <a:xfrm>
            <a:off x="3255264" y="2743200"/>
            <a:ext cx="1353312" cy="365760"/>
          </a:xfrm>
          <a:prstGeom prst="rect">
            <a:avLst/>
          </a:prstGeom>
          <a:noFill/>
          <a:ln/>
        </p:spPr>
        <p:txBody>
          <a:bodyPr wrap="square" lIns="0" tIns="0" rIns="0" bIns="0" rtlCol="0" anchor="ctr"/>
          <a:lstStyle/>
          <a:p>
            <a:pPr marL="0" indent="0" algn="ctr">
              <a:buNone/>
            </a:pPr>
            <a:r>
              <a:rPr lang="en-US" sz="1050" dirty="0">
                <a:solidFill>
                  <a:srgbClr val="3D5A80"/>
                </a:solidFill>
                <a:latin typeface="Consolas" pitchFamily="34" charset="0"/>
                <a:ea typeface="Consolas" pitchFamily="34" charset="-122"/>
                <a:cs typeface="Consolas" pitchFamily="34" charset="-120"/>
              </a:rPr>
              <a:t> 128</a:t>
            </a:r>
            <a:endParaRPr lang="en-US" sz="1050" dirty="0"/>
          </a:p>
        </p:txBody>
      </p:sp>
      <p:sp>
        <p:nvSpPr>
          <p:cNvPr id="46" name="Shape 44"/>
          <p:cNvSpPr/>
          <p:nvPr/>
        </p:nvSpPr>
        <p:spPr>
          <a:xfrm>
            <a:off x="4700016" y="2743200"/>
            <a:ext cx="1353312" cy="365760"/>
          </a:xfrm>
          <a:prstGeom prst="rect">
            <a:avLst/>
          </a:prstGeom>
          <a:solidFill>
            <a:srgbClr val="F7F3EA"/>
          </a:solidFill>
          <a:ln w="9525">
            <a:solidFill>
              <a:srgbClr val="CADCFC"/>
            </a:solidFill>
            <a:prstDash val="solid"/>
          </a:ln>
        </p:spPr>
      </p:sp>
      <p:sp>
        <p:nvSpPr>
          <p:cNvPr id="47" name="Text 45"/>
          <p:cNvSpPr/>
          <p:nvPr/>
        </p:nvSpPr>
        <p:spPr>
          <a:xfrm>
            <a:off x="4700016" y="2743200"/>
            <a:ext cx="1353312" cy="365760"/>
          </a:xfrm>
          <a:prstGeom prst="rect">
            <a:avLst/>
          </a:prstGeom>
          <a:noFill/>
          <a:ln/>
        </p:spPr>
        <p:txBody>
          <a:bodyPr wrap="square" lIns="0" tIns="0" rIns="0" bIns="0" rtlCol="0" anchor="ctr"/>
          <a:lstStyle/>
          <a:p>
            <a:pPr marL="0" indent="0" algn="ctr">
              <a:buNone/>
            </a:pPr>
            <a:r>
              <a:rPr lang="en-US" sz="1050" dirty="0">
                <a:solidFill>
                  <a:srgbClr val="3D5A80"/>
                </a:solidFill>
                <a:latin typeface="Consolas" pitchFamily="34" charset="0"/>
                <a:ea typeface="Consolas" pitchFamily="34" charset="-122"/>
                <a:cs typeface="Consolas" pitchFamily="34" charset="-120"/>
              </a:rPr>
              <a:t> a</a:t>
            </a:r>
            <a:endParaRPr lang="en-US" sz="1050" dirty="0"/>
          </a:p>
        </p:txBody>
      </p:sp>
      <p:sp>
        <p:nvSpPr>
          <p:cNvPr id="48" name="Shape 46"/>
          <p:cNvSpPr/>
          <p:nvPr/>
        </p:nvSpPr>
        <p:spPr>
          <a:xfrm>
            <a:off x="6144768" y="2743200"/>
            <a:ext cx="1353312" cy="365760"/>
          </a:xfrm>
          <a:prstGeom prst="rect">
            <a:avLst/>
          </a:prstGeom>
          <a:solidFill>
            <a:srgbClr val="F7F3EA"/>
          </a:solidFill>
          <a:ln w="9525">
            <a:solidFill>
              <a:srgbClr val="CADCFC"/>
            </a:solidFill>
            <a:prstDash val="solid"/>
          </a:ln>
        </p:spPr>
      </p:sp>
      <p:sp>
        <p:nvSpPr>
          <p:cNvPr id="49" name="Text 47"/>
          <p:cNvSpPr/>
          <p:nvPr/>
        </p:nvSpPr>
        <p:spPr>
          <a:xfrm>
            <a:off x="6144768" y="2743200"/>
            <a:ext cx="1353312" cy="365760"/>
          </a:xfrm>
          <a:prstGeom prst="rect">
            <a:avLst/>
          </a:prstGeom>
          <a:noFill/>
          <a:ln/>
        </p:spPr>
        <p:txBody>
          <a:bodyPr wrap="square" lIns="0" tIns="0" rIns="0" bIns="0" rtlCol="0" anchor="ctr"/>
          <a:lstStyle/>
          <a:p>
            <a:pPr marL="0" indent="0" algn="ctr">
              <a:buNone/>
            </a:pPr>
            <a:r>
              <a:rPr lang="en-US" sz="1050" dirty="0">
                <a:solidFill>
                  <a:srgbClr val="3D5A80"/>
                </a:solidFill>
                <a:latin typeface="Consolas" pitchFamily="34" charset="0"/>
                <a:ea typeface="Consolas" pitchFamily="34" charset="-122"/>
                <a:cs typeface="Consolas" pitchFamily="34" charset="-120"/>
              </a:rPr>
              <a:t>\n</a:t>
            </a:r>
            <a:endParaRPr lang="en-US" sz="1050" dirty="0"/>
          </a:p>
        </p:txBody>
      </p:sp>
      <p:sp>
        <p:nvSpPr>
          <p:cNvPr id="50" name="Shape 48"/>
          <p:cNvSpPr/>
          <p:nvPr/>
        </p:nvSpPr>
        <p:spPr>
          <a:xfrm>
            <a:off x="7589520" y="2743200"/>
            <a:ext cx="1353312" cy="365760"/>
          </a:xfrm>
          <a:prstGeom prst="rect">
            <a:avLst/>
          </a:prstGeom>
          <a:solidFill>
            <a:srgbClr val="F7F3EA"/>
          </a:solidFill>
          <a:ln w="9525">
            <a:solidFill>
              <a:srgbClr val="CADCFC"/>
            </a:solidFill>
            <a:prstDash val="solid"/>
          </a:ln>
        </p:spPr>
      </p:sp>
      <p:sp>
        <p:nvSpPr>
          <p:cNvPr id="51" name="Text 49"/>
          <p:cNvSpPr/>
          <p:nvPr/>
        </p:nvSpPr>
        <p:spPr>
          <a:xfrm>
            <a:off x="7589520" y="2743200"/>
            <a:ext cx="1353312" cy="365760"/>
          </a:xfrm>
          <a:prstGeom prst="rect">
            <a:avLst/>
          </a:prstGeom>
          <a:noFill/>
          <a:ln/>
        </p:spPr>
        <p:txBody>
          <a:bodyPr wrap="square" lIns="0" tIns="0" rIns="0" bIns="0" rtlCol="0" anchor="ctr"/>
          <a:lstStyle/>
          <a:p>
            <a:pPr marL="0" indent="0" algn="ctr">
              <a:buNone/>
            </a:pPr>
            <a:r>
              <a:rPr lang="en-US" sz="1050" dirty="0">
                <a:solidFill>
                  <a:srgbClr val="3D5A80"/>
                </a:solidFill>
                <a:latin typeface="Consolas" pitchFamily="34" charset="0"/>
                <a:ea typeface="Consolas" pitchFamily="34" charset="-122"/>
                <a:cs typeface="Consolas" pitchFamily="34" charset="-120"/>
              </a:rPr>
              <a:t> 256</a:t>
            </a:r>
            <a:endParaRPr lang="en-US" sz="1050" dirty="0"/>
          </a:p>
        </p:txBody>
      </p:sp>
      <p:sp>
        <p:nvSpPr>
          <p:cNvPr id="52" name="Text 50"/>
          <p:cNvSpPr/>
          <p:nvPr/>
        </p:nvSpPr>
        <p:spPr>
          <a:xfrm>
            <a:off x="365760" y="2267712"/>
            <a:ext cx="1353312" cy="365760"/>
          </a:xfrm>
          <a:prstGeom prst="rect">
            <a:avLst/>
          </a:prstGeom>
          <a:noFill/>
          <a:ln/>
        </p:spPr>
        <p:txBody>
          <a:bodyPr wrap="square" lIns="0" tIns="0" rIns="0" bIns="0" rtlCol="0" anchor="b"/>
          <a:lstStyle/>
          <a:p>
            <a:pPr marL="0" indent="0" algn="ctr">
              <a:buNone/>
            </a:pPr>
            <a:r>
              <a:rPr lang="en-US" sz="800" i="1" dirty="0">
                <a:solidFill>
                  <a:srgbClr val="3D5A80"/>
                </a:solidFill>
                <a:latin typeface="Calibri" pitchFamily="34" charset="0"/>
                <a:ea typeface="Calibri" pitchFamily="34" charset="-122"/>
                <a:cs typeface="Calibri" pitchFamily="34" charset="-120"/>
              </a:rPr>
              <a:t>← highest probability wins</a:t>
            </a:r>
            <a:endParaRPr lang="en-US" sz="800" dirty="0"/>
          </a:p>
        </p:txBody>
      </p:sp>
      <p:sp>
        <p:nvSpPr>
          <p:cNvPr id="53" name="Shape 51"/>
          <p:cNvSpPr/>
          <p:nvPr/>
        </p:nvSpPr>
        <p:spPr>
          <a:xfrm>
            <a:off x="320040" y="3310128"/>
            <a:ext cx="8503920" cy="1572768"/>
          </a:xfrm>
          <a:prstGeom prst="rect">
            <a:avLst/>
          </a:prstGeom>
          <a:solidFill>
            <a:srgbClr val="F0F7FF"/>
          </a:solidFill>
          <a:ln w="12700">
            <a:solidFill>
              <a:srgbClr val="B8D0F0"/>
            </a:solidFill>
            <a:prstDash val="solid"/>
          </a:ln>
          <a:effectLst>
            <a:outerShdw blurRad="76200" dist="25400" dir="8100000" algn="bl" rotWithShape="0">
              <a:srgbClr val="1A1F36">
                <a:alpha val="12000"/>
              </a:srgbClr>
            </a:outerShdw>
          </a:effectLst>
        </p:spPr>
      </p:sp>
      <p:sp>
        <p:nvSpPr>
          <p:cNvPr id="54" name="Text 52"/>
          <p:cNvSpPr/>
          <p:nvPr/>
        </p:nvSpPr>
        <p:spPr>
          <a:xfrm>
            <a:off x="502920" y="3456432"/>
            <a:ext cx="8229600" cy="402336"/>
          </a:xfrm>
          <a:prstGeom prst="rect">
            <a:avLst/>
          </a:prstGeom>
          <a:noFill/>
          <a:ln/>
        </p:spPr>
        <p:txBody>
          <a:bodyPr wrap="square" lIns="0" tIns="0" rIns="0" bIns="0" rtlCol="0" anchor="ctr"/>
          <a:lstStyle/>
          <a:p>
            <a:pPr marL="0" indent="0">
              <a:buNone/>
            </a:pPr>
            <a:r>
              <a:rPr lang="en-US" sz="1250" dirty="0">
                <a:solidFill>
                  <a:srgbClr val="1A3A5C"/>
                </a:solidFill>
                <a:latin typeface="Calibri" pitchFamily="34" charset="0"/>
                <a:ea typeface="Calibri" pitchFamily="34" charset="-122"/>
                <a:cs typeface="Calibri" pitchFamily="34" charset="-120"/>
              </a:rPr>
              <a:t>🔁  Autoregressive: each token is chosen using all previous tokens as context — generation is sequential</a:t>
            </a:r>
            <a:endParaRPr lang="en-US" sz="1250" dirty="0"/>
          </a:p>
        </p:txBody>
      </p:sp>
      <p:sp>
        <p:nvSpPr>
          <p:cNvPr id="55" name="Text 53"/>
          <p:cNvSpPr/>
          <p:nvPr/>
        </p:nvSpPr>
        <p:spPr>
          <a:xfrm>
            <a:off x="502920" y="3913632"/>
            <a:ext cx="8229600" cy="402336"/>
          </a:xfrm>
          <a:prstGeom prst="rect">
            <a:avLst/>
          </a:prstGeom>
          <a:noFill/>
          <a:ln/>
        </p:spPr>
        <p:txBody>
          <a:bodyPr wrap="square" lIns="0" tIns="0" rIns="0" bIns="0" rtlCol="0" anchor="ctr"/>
          <a:lstStyle/>
          <a:p>
            <a:pPr marL="0" indent="0">
              <a:buNone/>
            </a:pPr>
            <a:r>
              <a:rPr lang="en-US" sz="1250" dirty="0">
                <a:solidFill>
                  <a:srgbClr val="1A3A5C"/>
                </a:solidFill>
                <a:latin typeface="Calibri" pitchFamily="34" charset="0"/>
                <a:ea typeface="Calibri" pitchFamily="34" charset="-122"/>
                <a:cs typeface="Calibri" pitchFamily="34" charset="-120"/>
              </a:rPr>
              <a:t>📊  The model outputs a probability (logit) for EVERY vocabulary token at each step</a:t>
            </a:r>
            <a:endParaRPr lang="en-US" sz="1250" dirty="0"/>
          </a:p>
        </p:txBody>
      </p:sp>
      <p:sp>
        <p:nvSpPr>
          <p:cNvPr id="56" name="Text 54"/>
          <p:cNvSpPr/>
          <p:nvPr/>
        </p:nvSpPr>
        <p:spPr>
          <a:xfrm>
            <a:off x="502920" y="4370832"/>
            <a:ext cx="8229600" cy="402336"/>
          </a:xfrm>
          <a:prstGeom prst="rect">
            <a:avLst/>
          </a:prstGeom>
          <a:noFill/>
          <a:ln/>
        </p:spPr>
        <p:txBody>
          <a:bodyPr wrap="square" lIns="0" tIns="0" rIns="0" bIns="0" rtlCol="0" anchor="ctr"/>
          <a:lstStyle/>
          <a:p>
            <a:pPr marL="0" indent="0">
              <a:buNone/>
            </a:pPr>
            <a:r>
              <a:rPr lang="en-US" sz="1250" dirty="0">
                <a:solidFill>
                  <a:srgbClr val="1A3A5C"/>
                </a:solidFill>
                <a:latin typeface="Calibri" pitchFamily="34" charset="0"/>
                <a:ea typeface="Calibri" pitchFamily="34" charset="-122"/>
                <a:cs typeface="Calibri" pitchFamily="34" charset="-120"/>
              </a:rPr>
              <a:t>🎯  Greedy sampling picks the max-probability token; multinomial sampling adds creative diversity</a:t>
            </a:r>
            <a:endParaRPr lang="en-US" sz="1250" dirty="0"/>
          </a:p>
        </p:txBody>
      </p:sp>
      <p:pic>
        <p:nvPicPr>
          <p:cNvPr id="57" name="Google Shape;328;p29">
            <a:extLst>
              <a:ext uri="{FF2B5EF4-FFF2-40B4-BE49-F238E27FC236}">
                <a16:creationId xmlns:a16="http://schemas.microsoft.com/office/drawing/2014/main" id="{91341B29-3165-5453-8997-A4C14B27F7FA}"/>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403145208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11480" y="146304"/>
            <a:ext cx="8321040" cy="566928"/>
          </a:xfrm>
          <a:prstGeom prst="rect">
            <a:avLst/>
          </a:prstGeom>
          <a:noFill/>
          <a:ln/>
        </p:spPr>
        <p:txBody>
          <a:bodyPr wrap="square" lIns="0" tIns="0" rIns="0" bIns="0" rtlCol="0" anchor="ctr"/>
          <a:lstStyle/>
          <a:p>
            <a:pPr marL="0" indent="0">
              <a:buNone/>
            </a:pPr>
            <a:r>
              <a:rPr lang="en-US" sz="2500" b="1" dirty="0">
                <a:solidFill>
                  <a:srgbClr val="1A1F36"/>
                </a:solidFill>
                <a:latin typeface="Georgia" pitchFamily="34" charset="0"/>
                <a:ea typeface="Georgia" pitchFamily="34" charset="-122"/>
                <a:cs typeface="Georgia" pitchFamily="34" charset="-120"/>
              </a:rPr>
              <a:t>Logits: The Raw Probability Scores</a:t>
            </a:r>
            <a:endParaRPr lang="en-US" sz="2500" dirty="0"/>
          </a:p>
        </p:txBody>
      </p:sp>
      <p:sp>
        <p:nvSpPr>
          <p:cNvPr id="4" name="Text 2"/>
          <p:cNvSpPr/>
          <p:nvPr/>
        </p:nvSpPr>
        <p:spPr>
          <a:xfrm>
            <a:off x="411480" y="804672"/>
            <a:ext cx="8321040" cy="566928"/>
          </a:xfrm>
          <a:prstGeom prst="rect">
            <a:avLst/>
          </a:prstGeom>
          <a:noFill/>
          <a:ln/>
        </p:spPr>
        <p:txBody>
          <a:bodyPr wrap="square" rtlCol="0" anchor="ctr"/>
          <a:lstStyle/>
          <a:p>
            <a:pPr marL="0" indent="0">
              <a:buNone/>
            </a:pPr>
            <a:r>
              <a:rPr lang="en-US" sz="1300" dirty="0">
                <a:solidFill>
                  <a:srgbClr val="1A1F36"/>
                </a:solidFill>
                <a:latin typeface="Calibri" pitchFamily="34" charset="0"/>
                <a:ea typeface="Calibri" pitchFamily="34" charset="-122"/>
                <a:cs typeface="Calibri" pitchFamily="34" charset="-120"/>
              </a:rPr>
              <a:t>Before a token is picked, the model outputs a logit (log-probability) for every vocabulary item. These raw scores are passed through softmax to yield probabilities:</a:t>
            </a:r>
            <a:endParaRPr lang="en-US" sz="1300" dirty="0"/>
          </a:p>
        </p:txBody>
      </p:sp>
      <p:sp>
        <p:nvSpPr>
          <p:cNvPr id="5" name="Shape 3"/>
          <p:cNvSpPr/>
          <p:nvPr/>
        </p:nvSpPr>
        <p:spPr>
          <a:xfrm>
            <a:off x="411480" y="1417320"/>
            <a:ext cx="8321040" cy="502920"/>
          </a:xfrm>
          <a:prstGeom prst="rect">
            <a:avLst/>
          </a:prstGeom>
          <a:solidFill>
            <a:srgbClr val="F0F7FF"/>
          </a:solidFill>
          <a:ln w="12700">
            <a:solidFill>
              <a:srgbClr val="B8D0F0"/>
            </a:solidFill>
            <a:prstDash val="solid"/>
          </a:ln>
        </p:spPr>
      </p:sp>
      <p:sp>
        <p:nvSpPr>
          <p:cNvPr id="6" name="Text 4"/>
          <p:cNvSpPr/>
          <p:nvPr/>
        </p:nvSpPr>
        <p:spPr>
          <a:xfrm>
            <a:off x="502920" y="1463040"/>
            <a:ext cx="8138160" cy="402336"/>
          </a:xfrm>
          <a:prstGeom prst="rect">
            <a:avLst/>
          </a:prstGeom>
          <a:noFill/>
          <a:ln/>
        </p:spPr>
        <p:txBody>
          <a:bodyPr wrap="square" lIns="0" tIns="0" rIns="0" bIns="0" rtlCol="0" anchor="ctr"/>
          <a:lstStyle/>
          <a:p>
            <a:pPr marL="0" indent="0">
              <a:buNone/>
            </a:pPr>
            <a:r>
              <a:rPr lang="en-US" sz="1100" dirty="0">
                <a:solidFill>
                  <a:srgbClr val="1A1F36"/>
                </a:solidFill>
                <a:latin typeface="Consolas" pitchFamily="34" charset="0"/>
                <a:ea typeface="Consolas" pitchFamily="34" charset="-122"/>
                <a:cs typeface="Consolas" pitchFamily="34" charset="-120"/>
              </a:rPr>
              <a:t>P(token i) = exp(Li) / Σ exp(Lj)     where Li = logit for token i   |   Masking = setting Li to −∞ (so exp(−∞) = 0)</a:t>
            </a:r>
            <a:endParaRPr lang="en-US" sz="1100" dirty="0"/>
          </a:p>
        </p:txBody>
      </p:sp>
      <p:sp>
        <p:nvSpPr>
          <p:cNvPr id="7" name="Text 5"/>
          <p:cNvSpPr/>
          <p:nvPr/>
        </p:nvSpPr>
        <p:spPr>
          <a:xfrm>
            <a:off x="411480" y="2029968"/>
            <a:ext cx="4572000" cy="292608"/>
          </a:xfrm>
          <a:prstGeom prst="rect">
            <a:avLst/>
          </a:prstGeom>
          <a:noFill/>
          <a:ln/>
        </p:spPr>
        <p:txBody>
          <a:bodyPr wrap="square" rtlCol="0" anchor="ctr"/>
          <a:lstStyle/>
          <a:p>
            <a:pPr marL="0" indent="0">
              <a:buNone/>
            </a:pPr>
            <a:r>
              <a:rPr lang="en-US" sz="1200" b="1" dirty="0">
                <a:solidFill>
                  <a:srgbClr val="1A1F36"/>
                </a:solidFill>
                <a:latin typeface="Calibri" pitchFamily="34" charset="0"/>
                <a:ea typeface="Calibri" pitchFamily="34" charset="-122"/>
                <a:cs typeface="Calibri" pitchFamily="34" charset="-120"/>
              </a:rPr>
              <a:t>Example: logit distribution over digits 0–9</a:t>
            </a:r>
            <a:endParaRPr lang="en-US" sz="1200" dirty="0"/>
          </a:p>
        </p:txBody>
      </p:sp>
      <p:sp>
        <p:nvSpPr>
          <p:cNvPr id="8" name="Text 6"/>
          <p:cNvSpPr/>
          <p:nvPr/>
        </p:nvSpPr>
        <p:spPr>
          <a:xfrm>
            <a:off x="411480" y="2286000"/>
            <a:ext cx="4572000" cy="256032"/>
          </a:xfrm>
          <a:prstGeom prst="rect">
            <a:avLst/>
          </a:prstGeom>
          <a:noFill/>
          <a:ln/>
        </p:spPr>
        <p:txBody>
          <a:bodyPr wrap="square" rtlCol="0" anchor="ctr"/>
          <a:lstStyle/>
          <a:p>
            <a:pPr marL="0" indent="0">
              <a:buNone/>
            </a:pPr>
            <a:r>
              <a:rPr lang="en-US" sz="1100" i="1" dirty="0">
                <a:solidFill>
                  <a:srgbClr val="3D5A80"/>
                </a:solidFill>
                <a:latin typeface="Calibri" pitchFamily="34" charset="0"/>
                <a:ea typeface="Calibri" pitchFamily="34" charset="-122"/>
                <a:cs typeface="Calibri" pitchFamily="34" charset="-120"/>
              </a:rPr>
              <a:t>(Greedy sampling picks the highest →)</a:t>
            </a:r>
            <a:endParaRPr lang="en-US" sz="1100" dirty="0"/>
          </a:p>
        </p:txBody>
      </p:sp>
      <p:grpSp>
        <p:nvGrpSpPr>
          <p:cNvPr id="53" name="Group 52">
            <a:extLst>
              <a:ext uri="{FF2B5EF4-FFF2-40B4-BE49-F238E27FC236}">
                <a16:creationId xmlns:a16="http://schemas.microsoft.com/office/drawing/2014/main" id="{C6B1CFAA-6EAC-5196-E44F-8516097B5FC2}"/>
              </a:ext>
            </a:extLst>
          </p:cNvPr>
          <p:cNvGrpSpPr/>
          <p:nvPr/>
        </p:nvGrpSpPr>
        <p:grpSpPr>
          <a:xfrm>
            <a:off x="411480" y="2578608"/>
            <a:ext cx="3529584" cy="2418582"/>
            <a:chOff x="411480" y="2578608"/>
            <a:chExt cx="3904488" cy="2798064"/>
          </a:xfrm>
        </p:grpSpPr>
        <p:sp>
          <p:nvSpPr>
            <p:cNvPr id="9" name="Text 7"/>
            <p:cNvSpPr/>
            <p:nvPr/>
          </p:nvSpPr>
          <p:spPr>
            <a:xfrm>
              <a:off x="411480" y="2578608"/>
              <a:ext cx="384048" cy="246888"/>
            </a:xfrm>
            <a:prstGeom prst="rect">
              <a:avLst/>
            </a:prstGeom>
            <a:noFill/>
            <a:ln/>
          </p:spPr>
          <p:txBody>
            <a:bodyPr wrap="square" lIns="0" tIns="0" rIns="0" bIns="0" rtlCol="0" anchor="ctr"/>
            <a:lstStyle/>
            <a:p>
              <a:pPr marL="0" indent="0" algn="ctr">
                <a:buNone/>
              </a:pPr>
              <a:r>
                <a:rPr lang="en-US" sz="1000" b="1" dirty="0">
                  <a:solidFill>
                    <a:srgbClr val="1A1F36"/>
                  </a:solidFill>
                  <a:latin typeface="Consolas" pitchFamily="34" charset="0"/>
                  <a:ea typeface="Consolas" pitchFamily="34" charset="-122"/>
                  <a:cs typeface="Consolas" pitchFamily="34" charset="-120"/>
                </a:rPr>
                <a:t>"0"</a:t>
              </a:r>
              <a:endParaRPr lang="en-US" sz="1000" dirty="0"/>
            </a:p>
          </p:txBody>
        </p:sp>
        <p:sp>
          <p:nvSpPr>
            <p:cNvPr id="10" name="Shape 8"/>
            <p:cNvSpPr/>
            <p:nvPr/>
          </p:nvSpPr>
          <p:spPr>
            <a:xfrm>
              <a:off x="841248" y="2578608"/>
              <a:ext cx="3474720" cy="246888"/>
            </a:xfrm>
            <a:prstGeom prst="rect">
              <a:avLst/>
            </a:prstGeom>
            <a:solidFill>
              <a:srgbClr val="F7F3EA"/>
            </a:solidFill>
            <a:ln w="6350">
              <a:solidFill>
                <a:srgbClr val="F7F3EA"/>
              </a:solidFill>
              <a:prstDash val="solid"/>
            </a:ln>
          </p:spPr>
        </p:sp>
        <p:sp>
          <p:nvSpPr>
            <p:cNvPr id="11" name="Shape 9"/>
            <p:cNvSpPr/>
            <p:nvPr/>
          </p:nvSpPr>
          <p:spPr>
            <a:xfrm>
              <a:off x="841248" y="2578608"/>
              <a:ext cx="1737360" cy="246888"/>
            </a:xfrm>
            <a:prstGeom prst="rect">
              <a:avLst/>
            </a:prstGeom>
            <a:solidFill>
              <a:srgbClr val="3D5A80"/>
            </a:solidFill>
            <a:ln w="12700">
              <a:solidFill>
                <a:srgbClr val="3D5A80"/>
              </a:solidFill>
              <a:prstDash val="solid"/>
            </a:ln>
          </p:spPr>
        </p:sp>
        <p:sp>
          <p:nvSpPr>
            <p:cNvPr id="12" name="Text 10"/>
            <p:cNvSpPr/>
            <p:nvPr/>
          </p:nvSpPr>
          <p:spPr>
            <a:xfrm>
              <a:off x="411480" y="2862072"/>
              <a:ext cx="384048" cy="246888"/>
            </a:xfrm>
            <a:prstGeom prst="rect">
              <a:avLst/>
            </a:prstGeom>
            <a:noFill/>
            <a:ln/>
          </p:spPr>
          <p:txBody>
            <a:bodyPr wrap="square" lIns="0" tIns="0" rIns="0" bIns="0" rtlCol="0" anchor="ctr"/>
            <a:lstStyle/>
            <a:p>
              <a:pPr marL="0" indent="0" algn="ctr">
                <a:buNone/>
              </a:pPr>
              <a:r>
                <a:rPr lang="en-US" sz="1000" b="1" dirty="0">
                  <a:solidFill>
                    <a:srgbClr val="1A1F36"/>
                  </a:solidFill>
                  <a:latin typeface="Consolas" pitchFamily="34" charset="0"/>
                  <a:ea typeface="Consolas" pitchFamily="34" charset="-122"/>
                  <a:cs typeface="Consolas" pitchFamily="34" charset="-120"/>
                </a:rPr>
                <a:t>"1"</a:t>
              </a:r>
              <a:endParaRPr lang="en-US" sz="1000" dirty="0"/>
            </a:p>
          </p:txBody>
        </p:sp>
        <p:sp>
          <p:nvSpPr>
            <p:cNvPr id="13" name="Shape 11"/>
            <p:cNvSpPr/>
            <p:nvPr/>
          </p:nvSpPr>
          <p:spPr>
            <a:xfrm>
              <a:off x="841248" y="2862072"/>
              <a:ext cx="3474720" cy="246888"/>
            </a:xfrm>
            <a:prstGeom prst="rect">
              <a:avLst/>
            </a:prstGeom>
            <a:solidFill>
              <a:srgbClr val="F7F3EA"/>
            </a:solidFill>
            <a:ln w="6350">
              <a:solidFill>
                <a:srgbClr val="F7F3EA"/>
              </a:solidFill>
              <a:prstDash val="solid"/>
            </a:ln>
          </p:spPr>
        </p:sp>
        <p:sp>
          <p:nvSpPr>
            <p:cNvPr id="14" name="Shape 12"/>
            <p:cNvSpPr/>
            <p:nvPr/>
          </p:nvSpPr>
          <p:spPr>
            <a:xfrm>
              <a:off x="841248" y="2862072"/>
              <a:ext cx="1216152" cy="246888"/>
            </a:xfrm>
            <a:prstGeom prst="rect">
              <a:avLst/>
            </a:prstGeom>
            <a:solidFill>
              <a:srgbClr val="3D5A80"/>
            </a:solidFill>
            <a:ln w="12700">
              <a:solidFill>
                <a:srgbClr val="3D5A80"/>
              </a:solidFill>
              <a:prstDash val="solid"/>
            </a:ln>
          </p:spPr>
        </p:sp>
        <p:sp>
          <p:nvSpPr>
            <p:cNvPr id="15" name="Text 13"/>
            <p:cNvSpPr/>
            <p:nvPr/>
          </p:nvSpPr>
          <p:spPr>
            <a:xfrm>
              <a:off x="411480" y="3145536"/>
              <a:ext cx="384048" cy="246888"/>
            </a:xfrm>
            <a:prstGeom prst="rect">
              <a:avLst/>
            </a:prstGeom>
            <a:noFill/>
            <a:ln/>
          </p:spPr>
          <p:txBody>
            <a:bodyPr wrap="square" lIns="0" tIns="0" rIns="0" bIns="0" rtlCol="0" anchor="ctr"/>
            <a:lstStyle/>
            <a:p>
              <a:pPr marL="0" indent="0" algn="ctr">
                <a:buNone/>
              </a:pPr>
              <a:r>
                <a:rPr lang="en-US" sz="1000" b="1" dirty="0">
                  <a:solidFill>
                    <a:srgbClr val="1A1F36"/>
                  </a:solidFill>
                  <a:latin typeface="Consolas" pitchFamily="34" charset="0"/>
                  <a:ea typeface="Consolas" pitchFamily="34" charset="-122"/>
                  <a:cs typeface="Consolas" pitchFamily="34" charset="-120"/>
                </a:rPr>
                <a:t>"2"</a:t>
              </a:r>
              <a:endParaRPr lang="en-US" sz="1000" dirty="0"/>
            </a:p>
          </p:txBody>
        </p:sp>
        <p:sp>
          <p:nvSpPr>
            <p:cNvPr id="16" name="Shape 14"/>
            <p:cNvSpPr/>
            <p:nvPr/>
          </p:nvSpPr>
          <p:spPr>
            <a:xfrm>
              <a:off x="841248" y="3145536"/>
              <a:ext cx="3474720" cy="246888"/>
            </a:xfrm>
            <a:prstGeom prst="rect">
              <a:avLst/>
            </a:prstGeom>
            <a:solidFill>
              <a:srgbClr val="F7F3EA"/>
            </a:solidFill>
            <a:ln w="6350">
              <a:solidFill>
                <a:srgbClr val="F7F3EA"/>
              </a:solidFill>
              <a:prstDash val="solid"/>
            </a:ln>
          </p:spPr>
        </p:sp>
        <p:sp>
          <p:nvSpPr>
            <p:cNvPr id="17" name="Shape 15"/>
            <p:cNvSpPr/>
            <p:nvPr/>
          </p:nvSpPr>
          <p:spPr>
            <a:xfrm>
              <a:off x="841248" y="3145536"/>
              <a:ext cx="2432304" cy="246888"/>
            </a:xfrm>
            <a:prstGeom prst="rect">
              <a:avLst/>
            </a:prstGeom>
            <a:solidFill>
              <a:srgbClr val="B8975B"/>
            </a:solidFill>
            <a:ln w="12700">
              <a:solidFill>
                <a:srgbClr val="B8975B"/>
              </a:solidFill>
              <a:prstDash val="solid"/>
            </a:ln>
          </p:spPr>
        </p:sp>
        <p:sp>
          <p:nvSpPr>
            <p:cNvPr id="18" name="Text 16"/>
            <p:cNvSpPr/>
            <p:nvPr/>
          </p:nvSpPr>
          <p:spPr>
            <a:xfrm>
              <a:off x="411480" y="3429000"/>
              <a:ext cx="384048" cy="246888"/>
            </a:xfrm>
            <a:prstGeom prst="rect">
              <a:avLst/>
            </a:prstGeom>
            <a:noFill/>
            <a:ln/>
          </p:spPr>
          <p:txBody>
            <a:bodyPr wrap="square" lIns="0" tIns="0" rIns="0" bIns="0" rtlCol="0" anchor="ctr"/>
            <a:lstStyle/>
            <a:p>
              <a:pPr marL="0" indent="0" algn="ctr">
                <a:buNone/>
              </a:pPr>
              <a:r>
                <a:rPr lang="en-US" sz="1000" b="1" dirty="0">
                  <a:solidFill>
                    <a:srgbClr val="1A1F36"/>
                  </a:solidFill>
                  <a:latin typeface="Consolas" pitchFamily="34" charset="0"/>
                  <a:ea typeface="Consolas" pitchFamily="34" charset="-122"/>
                  <a:cs typeface="Consolas" pitchFamily="34" charset="-120"/>
                </a:rPr>
                <a:t>"3"</a:t>
              </a:r>
              <a:endParaRPr lang="en-US" sz="1000" dirty="0"/>
            </a:p>
          </p:txBody>
        </p:sp>
        <p:sp>
          <p:nvSpPr>
            <p:cNvPr id="19" name="Shape 17"/>
            <p:cNvSpPr/>
            <p:nvPr/>
          </p:nvSpPr>
          <p:spPr>
            <a:xfrm>
              <a:off x="841248" y="3429000"/>
              <a:ext cx="3474720" cy="246888"/>
            </a:xfrm>
            <a:prstGeom prst="rect">
              <a:avLst/>
            </a:prstGeom>
            <a:solidFill>
              <a:srgbClr val="F7F3EA"/>
            </a:solidFill>
            <a:ln w="6350">
              <a:solidFill>
                <a:srgbClr val="F7F3EA"/>
              </a:solidFill>
              <a:prstDash val="solid"/>
            </a:ln>
          </p:spPr>
        </p:sp>
        <p:sp>
          <p:nvSpPr>
            <p:cNvPr id="20" name="Shape 18"/>
            <p:cNvSpPr/>
            <p:nvPr/>
          </p:nvSpPr>
          <p:spPr>
            <a:xfrm>
              <a:off x="841248" y="3429000"/>
              <a:ext cx="1563624" cy="246888"/>
            </a:xfrm>
            <a:prstGeom prst="rect">
              <a:avLst/>
            </a:prstGeom>
            <a:solidFill>
              <a:srgbClr val="3D5A80"/>
            </a:solidFill>
            <a:ln w="12700">
              <a:solidFill>
                <a:srgbClr val="3D5A80"/>
              </a:solidFill>
              <a:prstDash val="solid"/>
            </a:ln>
          </p:spPr>
        </p:sp>
        <p:sp>
          <p:nvSpPr>
            <p:cNvPr id="21" name="Text 19"/>
            <p:cNvSpPr/>
            <p:nvPr/>
          </p:nvSpPr>
          <p:spPr>
            <a:xfrm>
              <a:off x="411480" y="3712464"/>
              <a:ext cx="384048" cy="246888"/>
            </a:xfrm>
            <a:prstGeom prst="rect">
              <a:avLst/>
            </a:prstGeom>
            <a:noFill/>
            <a:ln/>
          </p:spPr>
          <p:txBody>
            <a:bodyPr wrap="square" lIns="0" tIns="0" rIns="0" bIns="0" rtlCol="0" anchor="ctr"/>
            <a:lstStyle/>
            <a:p>
              <a:pPr marL="0" indent="0" algn="ctr">
                <a:buNone/>
              </a:pPr>
              <a:r>
                <a:rPr lang="en-US" sz="1000" b="1" dirty="0">
                  <a:solidFill>
                    <a:srgbClr val="1A1F36"/>
                  </a:solidFill>
                  <a:latin typeface="Consolas" pitchFamily="34" charset="0"/>
                  <a:ea typeface="Consolas" pitchFamily="34" charset="-122"/>
                  <a:cs typeface="Consolas" pitchFamily="34" charset="-120"/>
                </a:rPr>
                <a:t>"4"</a:t>
              </a:r>
              <a:endParaRPr lang="en-US" sz="1000" dirty="0"/>
            </a:p>
          </p:txBody>
        </p:sp>
        <p:sp>
          <p:nvSpPr>
            <p:cNvPr id="22" name="Shape 20"/>
            <p:cNvSpPr/>
            <p:nvPr/>
          </p:nvSpPr>
          <p:spPr>
            <a:xfrm>
              <a:off x="841248" y="3712464"/>
              <a:ext cx="3474720" cy="246888"/>
            </a:xfrm>
            <a:prstGeom prst="rect">
              <a:avLst/>
            </a:prstGeom>
            <a:solidFill>
              <a:srgbClr val="F7F3EA"/>
            </a:solidFill>
            <a:ln w="6350">
              <a:solidFill>
                <a:srgbClr val="F7F3EA"/>
              </a:solidFill>
              <a:prstDash val="solid"/>
            </a:ln>
          </p:spPr>
        </p:sp>
        <p:sp>
          <p:nvSpPr>
            <p:cNvPr id="23" name="Shape 21"/>
            <p:cNvSpPr/>
            <p:nvPr/>
          </p:nvSpPr>
          <p:spPr>
            <a:xfrm>
              <a:off x="841248" y="3712464"/>
              <a:ext cx="2779776" cy="246888"/>
            </a:xfrm>
            <a:prstGeom prst="rect">
              <a:avLst/>
            </a:prstGeom>
            <a:solidFill>
              <a:srgbClr val="B8975B"/>
            </a:solidFill>
            <a:ln w="12700">
              <a:solidFill>
                <a:srgbClr val="B8975B"/>
              </a:solidFill>
              <a:prstDash val="solid"/>
            </a:ln>
          </p:spPr>
        </p:sp>
        <p:sp>
          <p:nvSpPr>
            <p:cNvPr id="24" name="Text 22"/>
            <p:cNvSpPr/>
            <p:nvPr/>
          </p:nvSpPr>
          <p:spPr>
            <a:xfrm>
              <a:off x="411480" y="3995928"/>
              <a:ext cx="384048" cy="246888"/>
            </a:xfrm>
            <a:prstGeom prst="rect">
              <a:avLst/>
            </a:prstGeom>
            <a:noFill/>
            <a:ln/>
          </p:spPr>
          <p:txBody>
            <a:bodyPr wrap="square" lIns="0" tIns="0" rIns="0" bIns="0" rtlCol="0" anchor="ctr"/>
            <a:lstStyle/>
            <a:p>
              <a:pPr marL="0" indent="0" algn="ctr">
                <a:buNone/>
              </a:pPr>
              <a:r>
                <a:rPr lang="en-US" sz="1000" b="1" dirty="0">
                  <a:solidFill>
                    <a:srgbClr val="1A1F36"/>
                  </a:solidFill>
                  <a:latin typeface="Consolas" pitchFamily="34" charset="0"/>
                  <a:ea typeface="Consolas" pitchFamily="34" charset="-122"/>
                  <a:cs typeface="Consolas" pitchFamily="34" charset="-120"/>
                </a:rPr>
                <a:t>"5"</a:t>
              </a:r>
              <a:endParaRPr lang="en-US" sz="1000" dirty="0"/>
            </a:p>
          </p:txBody>
        </p:sp>
        <p:sp>
          <p:nvSpPr>
            <p:cNvPr id="25" name="Shape 23"/>
            <p:cNvSpPr/>
            <p:nvPr/>
          </p:nvSpPr>
          <p:spPr>
            <a:xfrm>
              <a:off x="841248" y="3995928"/>
              <a:ext cx="3474720" cy="246888"/>
            </a:xfrm>
            <a:prstGeom prst="rect">
              <a:avLst/>
            </a:prstGeom>
            <a:solidFill>
              <a:srgbClr val="F7F3EA"/>
            </a:solidFill>
            <a:ln w="6350">
              <a:solidFill>
                <a:srgbClr val="F7F3EA"/>
              </a:solidFill>
              <a:prstDash val="solid"/>
            </a:ln>
          </p:spPr>
        </p:sp>
        <p:sp>
          <p:nvSpPr>
            <p:cNvPr id="26" name="Shape 24"/>
            <p:cNvSpPr/>
            <p:nvPr/>
          </p:nvSpPr>
          <p:spPr>
            <a:xfrm>
              <a:off x="841248" y="3995928"/>
              <a:ext cx="1911096" cy="246888"/>
            </a:xfrm>
            <a:prstGeom prst="rect">
              <a:avLst/>
            </a:prstGeom>
            <a:solidFill>
              <a:srgbClr val="3D5A80"/>
            </a:solidFill>
            <a:ln w="12700">
              <a:solidFill>
                <a:srgbClr val="3D5A80"/>
              </a:solidFill>
              <a:prstDash val="solid"/>
            </a:ln>
          </p:spPr>
        </p:sp>
        <p:sp>
          <p:nvSpPr>
            <p:cNvPr id="27" name="Text 25"/>
            <p:cNvSpPr/>
            <p:nvPr/>
          </p:nvSpPr>
          <p:spPr>
            <a:xfrm>
              <a:off x="411480" y="4279392"/>
              <a:ext cx="384048" cy="246888"/>
            </a:xfrm>
            <a:prstGeom prst="rect">
              <a:avLst/>
            </a:prstGeom>
            <a:noFill/>
            <a:ln/>
          </p:spPr>
          <p:txBody>
            <a:bodyPr wrap="square" lIns="0" tIns="0" rIns="0" bIns="0" rtlCol="0" anchor="ctr"/>
            <a:lstStyle/>
            <a:p>
              <a:pPr marL="0" indent="0" algn="ctr">
                <a:buNone/>
              </a:pPr>
              <a:r>
                <a:rPr lang="en-US" sz="1000" b="1" dirty="0">
                  <a:solidFill>
                    <a:srgbClr val="1A1F36"/>
                  </a:solidFill>
                  <a:latin typeface="Consolas" pitchFamily="34" charset="0"/>
                  <a:ea typeface="Consolas" pitchFamily="34" charset="-122"/>
                  <a:cs typeface="Consolas" pitchFamily="34" charset="-120"/>
                </a:rPr>
                <a:t>"6"</a:t>
              </a:r>
              <a:endParaRPr lang="en-US" sz="1000" dirty="0"/>
            </a:p>
          </p:txBody>
        </p:sp>
        <p:sp>
          <p:nvSpPr>
            <p:cNvPr id="28" name="Shape 26"/>
            <p:cNvSpPr/>
            <p:nvPr/>
          </p:nvSpPr>
          <p:spPr>
            <a:xfrm>
              <a:off x="841248" y="4279392"/>
              <a:ext cx="3474720" cy="246888"/>
            </a:xfrm>
            <a:prstGeom prst="rect">
              <a:avLst/>
            </a:prstGeom>
            <a:solidFill>
              <a:srgbClr val="F7F3EA"/>
            </a:solidFill>
            <a:ln w="6350">
              <a:solidFill>
                <a:srgbClr val="F7F3EA"/>
              </a:solidFill>
              <a:prstDash val="solid"/>
            </a:ln>
          </p:spPr>
        </p:sp>
        <p:sp>
          <p:nvSpPr>
            <p:cNvPr id="29" name="Shape 27"/>
            <p:cNvSpPr/>
            <p:nvPr/>
          </p:nvSpPr>
          <p:spPr>
            <a:xfrm>
              <a:off x="841248" y="4279392"/>
              <a:ext cx="1389888" cy="246888"/>
            </a:xfrm>
            <a:prstGeom prst="rect">
              <a:avLst/>
            </a:prstGeom>
            <a:solidFill>
              <a:srgbClr val="3D5A80"/>
            </a:solidFill>
            <a:ln w="12700">
              <a:solidFill>
                <a:srgbClr val="3D5A80"/>
              </a:solidFill>
              <a:prstDash val="solid"/>
            </a:ln>
          </p:spPr>
        </p:sp>
        <p:sp>
          <p:nvSpPr>
            <p:cNvPr id="30" name="Text 28"/>
            <p:cNvSpPr/>
            <p:nvPr/>
          </p:nvSpPr>
          <p:spPr>
            <a:xfrm>
              <a:off x="411480" y="4562856"/>
              <a:ext cx="384048" cy="246888"/>
            </a:xfrm>
            <a:prstGeom prst="rect">
              <a:avLst/>
            </a:prstGeom>
            <a:noFill/>
            <a:ln/>
          </p:spPr>
          <p:txBody>
            <a:bodyPr wrap="square" lIns="0" tIns="0" rIns="0" bIns="0" rtlCol="0" anchor="ctr"/>
            <a:lstStyle/>
            <a:p>
              <a:pPr marL="0" indent="0" algn="ctr">
                <a:buNone/>
              </a:pPr>
              <a:r>
                <a:rPr lang="en-US" sz="1000" b="1" dirty="0">
                  <a:solidFill>
                    <a:srgbClr val="1A1F36"/>
                  </a:solidFill>
                  <a:latin typeface="Consolas" pitchFamily="34" charset="0"/>
                  <a:ea typeface="Consolas" pitchFamily="34" charset="-122"/>
                  <a:cs typeface="Consolas" pitchFamily="34" charset="-120"/>
                </a:rPr>
                <a:t>"7"</a:t>
              </a:r>
              <a:endParaRPr lang="en-US" sz="1000" dirty="0"/>
            </a:p>
          </p:txBody>
        </p:sp>
        <p:sp>
          <p:nvSpPr>
            <p:cNvPr id="31" name="Shape 29"/>
            <p:cNvSpPr/>
            <p:nvPr/>
          </p:nvSpPr>
          <p:spPr>
            <a:xfrm>
              <a:off x="841248" y="4562856"/>
              <a:ext cx="3474720" cy="246888"/>
            </a:xfrm>
            <a:prstGeom prst="rect">
              <a:avLst/>
            </a:prstGeom>
            <a:solidFill>
              <a:srgbClr val="F7F3EA"/>
            </a:solidFill>
            <a:ln w="6350">
              <a:solidFill>
                <a:srgbClr val="F7F3EA"/>
              </a:solidFill>
              <a:prstDash val="solid"/>
            </a:ln>
          </p:spPr>
        </p:sp>
        <p:sp>
          <p:nvSpPr>
            <p:cNvPr id="32" name="Shape 30"/>
            <p:cNvSpPr/>
            <p:nvPr/>
          </p:nvSpPr>
          <p:spPr>
            <a:xfrm>
              <a:off x="841248" y="4562856"/>
              <a:ext cx="3474720" cy="246888"/>
            </a:xfrm>
            <a:prstGeom prst="rect">
              <a:avLst/>
            </a:prstGeom>
            <a:solidFill>
              <a:srgbClr val="B8975B"/>
            </a:solidFill>
            <a:ln w="12700">
              <a:solidFill>
                <a:srgbClr val="B8975B"/>
              </a:solidFill>
              <a:prstDash val="solid"/>
            </a:ln>
          </p:spPr>
        </p:sp>
        <p:sp>
          <p:nvSpPr>
            <p:cNvPr id="33" name="Text 31"/>
            <p:cNvSpPr/>
            <p:nvPr/>
          </p:nvSpPr>
          <p:spPr>
            <a:xfrm>
              <a:off x="411480" y="4846320"/>
              <a:ext cx="384048" cy="246888"/>
            </a:xfrm>
            <a:prstGeom prst="rect">
              <a:avLst/>
            </a:prstGeom>
            <a:noFill/>
            <a:ln/>
          </p:spPr>
          <p:txBody>
            <a:bodyPr wrap="square" lIns="0" tIns="0" rIns="0" bIns="0" rtlCol="0" anchor="ctr"/>
            <a:lstStyle/>
            <a:p>
              <a:pPr marL="0" indent="0" algn="ctr">
                <a:buNone/>
              </a:pPr>
              <a:r>
                <a:rPr lang="en-US" sz="1000" b="1" dirty="0">
                  <a:solidFill>
                    <a:srgbClr val="1A1F36"/>
                  </a:solidFill>
                  <a:latin typeface="Consolas" pitchFamily="34" charset="0"/>
                  <a:ea typeface="Consolas" pitchFamily="34" charset="-122"/>
                  <a:cs typeface="Consolas" pitchFamily="34" charset="-120"/>
                </a:rPr>
                <a:t>"8"</a:t>
              </a:r>
              <a:endParaRPr lang="en-US" sz="1000" dirty="0"/>
            </a:p>
          </p:txBody>
        </p:sp>
        <p:sp>
          <p:nvSpPr>
            <p:cNvPr id="34" name="Shape 32"/>
            <p:cNvSpPr/>
            <p:nvPr/>
          </p:nvSpPr>
          <p:spPr>
            <a:xfrm>
              <a:off x="841248" y="4846320"/>
              <a:ext cx="3474720" cy="246888"/>
            </a:xfrm>
            <a:prstGeom prst="rect">
              <a:avLst/>
            </a:prstGeom>
            <a:solidFill>
              <a:srgbClr val="F7F3EA"/>
            </a:solidFill>
            <a:ln w="6350">
              <a:solidFill>
                <a:srgbClr val="F7F3EA"/>
              </a:solidFill>
              <a:prstDash val="solid"/>
            </a:ln>
          </p:spPr>
        </p:sp>
        <p:sp>
          <p:nvSpPr>
            <p:cNvPr id="35" name="Shape 33"/>
            <p:cNvSpPr/>
            <p:nvPr/>
          </p:nvSpPr>
          <p:spPr>
            <a:xfrm>
              <a:off x="841248" y="4846320"/>
              <a:ext cx="1042416" cy="246888"/>
            </a:xfrm>
            <a:prstGeom prst="rect">
              <a:avLst/>
            </a:prstGeom>
            <a:solidFill>
              <a:srgbClr val="3D5A80"/>
            </a:solidFill>
            <a:ln w="12700">
              <a:solidFill>
                <a:srgbClr val="3D5A80"/>
              </a:solidFill>
              <a:prstDash val="solid"/>
            </a:ln>
          </p:spPr>
        </p:sp>
        <p:sp>
          <p:nvSpPr>
            <p:cNvPr id="36" name="Text 34"/>
            <p:cNvSpPr/>
            <p:nvPr/>
          </p:nvSpPr>
          <p:spPr>
            <a:xfrm>
              <a:off x="411480" y="5129784"/>
              <a:ext cx="384048" cy="246888"/>
            </a:xfrm>
            <a:prstGeom prst="rect">
              <a:avLst/>
            </a:prstGeom>
            <a:noFill/>
            <a:ln/>
          </p:spPr>
          <p:txBody>
            <a:bodyPr wrap="square" lIns="0" tIns="0" rIns="0" bIns="0" rtlCol="0" anchor="ctr"/>
            <a:lstStyle/>
            <a:p>
              <a:pPr marL="0" indent="0" algn="ctr">
                <a:buNone/>
              </a:pPr>
              <a:r>
                <a:rPr lang="en-US" sz="1000" b="1" dirty="0">
                  <a:solidFill>
                    <a:srgbClr val="1A1F36"/>
                  </a:solidFill>
                  <a:latin typeface="Consolas" pitchFamily="34" charset="0"/>
                  <a:ea typeface="Consolas" pitchFamily="34" charset="-122"/>
                  <a:cs typeface="Consolas" pitchFamily="34" charset="-120"/>
                </a:rPr>
                <a:t>"9"</a:t>
              </a:r>
              <a:endParaRPr lang="en-US" sz="1000" dirty="0"/>
            </a:p>
          </p:txBody>
        </p:sp>
        <p:sp>
          <p:nvSpPr>
            <p:cNvPr id="37" name="Shape 35"/>
            <p:cNvSpPr/>
            <p:nvPr/>
          </p:nvSpPr>
          <p:spPr>
            <a:xfrm>
              <a:off x="841248" y="5129784"/>
              <a:ext cx="3474720" cy="246888"/>
            </a:xfrm>
            <a:prstGeom prst="rect">
              <a:avLst/>
            </a:prstGeom>
            <a:solidFill>
              <a:srgbClr val="F7F3EA"/>
            </a:solidFill>
            <a:ln w="6350">
              <a:solidFill>
                <a:srgbClr val="F7F3EA"/>
              </a:solidFill>
              <a:prstDash val="solid"/>
            </a:ln>
          </p:spPr>
        </p:sp>
        <p:sp>
          <p:nvSpPr>
            <p:cNvPr id="38" name="Shape 36"/>
            <p:cNvSpPr/>
            <p:nvPr/>
          </p:nvSpPr>
          <p:spPr>
            <a:xfrm>
              <a:off x="841248" y="5129784"/>
              <a:ext cx="2084832" cy="246888"/>
            </a:xfrm>
            <a:prstGeom prst="rect">
              <a:avLst/>
            </a:prstGeom>
            <a:solidFill>
              <a:srgbClr val="B8975B"/>
            </a:solidFill>
            <a:ln w="12700">
              <a:solidFill>
                <a:srgbClr val="B8975B"/>
              </a:solidFill>
              <a:prstDash val="solid"/>
            </a:ln>
          </p:spPr>
        </p:sp>
      </p:grpSp>
      <p:sp>
        <p:nvSpPr>
          <p:cNvPr id="39" name="Shape 37"/>
          <p:cNvSpPr/>
          <p:nvPr/>
        </p:nvSpPr>
        <p:spPr>
          <a:xfrm>
            <a:off x="4032504" y="4402836"/>
            <a:ext cx="365760" cy="0"/>
          </a:xfrm>
          <a:prstGeom prst="line">
            <a:avLst/>
          </a:prstGeom>
          <a:noFill/>
          <a:ln w="19050">
            <a:solidFill>
              <a:srgbClr val="E8A020"/>
            </a:solidFill>
            <a:prstDash val="solid"/>
            <a:tailEnd type="arrow"/>
          </a:ln>
        </p:spPr>
      </p:sp>
      <p:sp>
        <p:nvSpPr>
          <p:cNvPr id="40" name="Text 38"/>
          <p:cNvSpPr/>
          <p:nvPr/>
        </p:nvSpPr>
        <p:spPr>
          <a:xfrm>
            <a:off x="3941064" y="4434840"/>
            <a:ext cx="1280160" cy="493776"/>
          </a:xfrm>
          <a:prstGeom prst="rect">
            <a:avLst/>
          </a:prstGeom>
          <a:noFill/>
          <a:ln/>
        </p:spPr>
        <p:txBody>
          <a:bodyPr wrap="square" rtlCol="0" anchor="ctr"/>
          <a:lstStyle/>
          <a:p>
            <a:pPr marL="0" indent="0">
              <a:buNone/>
            </a:pPr>
            <a:r>
              <a:rPr lang="en-US" sz="1050" b="1" dirty="0">
                <a:solidFill>
                  <a:srgbClr val="E8A020"/>
                </a:solidFill>
                <a:latin typeface="Calibri" pitchFamily="34" charset="0"/>
                <a:ea typeface="Calibri" pitchFamily="34" charset="-122"/>
                <a:cs typeface="Calibri" pitchFamily="34" charset="-120"/>
              </a:rPr>
              <a:t>Greedy picks '7'</a:t>
            </a:r>
            <a:endParaRPr lang="en-US" sz="1050" dirty="0"/>
          </a:p>
        </p:txBody>
      </p:sp>
      <p:sp>
        <p:nvSpPr>
          <p:cNvPr id="41" name="Shape 39"/>
          <p:cNvSpPr/>
          <p:nvPr/>
        </p:nvSpPr>
        <p:spPr>
          <a:xfrm>
            <a:off x="5029200" y="1783080"/>
            <a:ext cx="3840480" cy="987552"/>
          </a:xfrm>
          <a:prstGeom prst="rect">
            <a:avLst/>
          </a:prstGeom>
          <a:solidFill>
            <a:srgbClr val="F7F3EA"/>
          </a:solidFill>
          <a:ln w="12700">
            <a:solidFill>
              <a:srgbClr val="D0E2F3"/>
            </a:solidFill>
            <a:prstDash val="solid"/>
          </a:ln>
          <a:effectLst>
            <a:outerShdw blurRad="76200" dist="25400" dir="8100000" algn="bl" rotWithShape="0">
              <a:srgbClr val="1A1F36">
                <a:alpha val="12000"/>
              </a:srgbClr>
            </a:outerShdw>
          </a:effectLst>
        </p:spPr>
      </p:sp>
      <p:sp>
        <p:nvSpPr>
          <p:cNvPr id="42" name="Shape 40"/>
          <p:cNvSpPr/>
          <p:nvPr/>
        </p:nvSpPr>
        <p:spPr>
          <a:xfrm>
            <a:off x="5029200" y="1783080"/>
            <a:ext cx="3840480" cy="54864"/>
          </a:xfrm>
          <a:prstGeom prst="rect">
            <a:avLst/>
          </a:prstGeom>
          <a:solidFill>
            <a:srgbClr val="3D5A80"/>
          </a:solidFill>
          <a:ln w="12700">
            <a:solidFill>
              <a:srgbClr val="3D5A80"/>
            </a:solidFill>
            <a:prstDash val="solid"/>
          </a:ln>
        </p:spPr>
      </p:sp>
      <p:sp>
        <p:nvSpPr>
          <p:cNvPr id="43" name="Text 41"/>
          <p:cNvSpPr/>
          <p:nvPr/>
        </p:nvSpPr>
        <p:spPr>
          <a:xfrm>
            <a:off x="5166360" y="1874520"/>
            <a:ext cx="3566160" cy="274320"/>
          </a:xfrm>
          <a:prstGeom prst="rect">
            <a:avLst/>
          </a:prstGeom>
          <a:noFill/>
          <a:ln/>
        </p:spPr>
        <p:txBody>
          <a:bodyPr wrap="square" lIns="0" tIns="0" rIns="0" bIns="0" rtlCol="0" anchor="ctr"/>
          <a:lstStyle/>
          <a:p>
            <a:pPr marL="0" indent="0">
              <a:buNone/>
            </a:pPr>
            <a:r>
              <a:rPr lang="en-US" sz="1200" b="1" dirty="0">
                <a:solidFill>
                  <a:srgbClr val="3D5A80"/>
                </a:solidFill>
                <a:latin typeface="Calibri" pitchFamily="34" charset="0"/>
                <a:ea typeface="Calibri" pitchFamily="34" charset="-122"/>
                <a:cs typeface="Calibri" pitchFamily="34" charset="-120"/>
              </a:rPr>
              <a:t>What are logits?</a:t>
            </a:r>
            <a:endParaRPr lang="en-US" sz="1200" dirty="0"/>
          </a:p>
        </p:txBody>
      </p:sp>
      <p:sp>
        <p:nvSpPr>
          <p:cNvPr id="44" name="Text 42"/>
          <p:cNvSpPr/>
          <p:nvPr/>
        </p:nvSpPr>
        <p:spPr>
          <a:xfrm>
            <a:off x="5166360" y="2167128"/>
            <a:ext cx="3566160" cy="530352"/>
          </a:xfrm>
          <a:prstGeom prst="rect">
            <a:avLst/>
          </a:prstGeom>
          <a:noFill/>
          <a:ln/>
        </p:spPr>
        <p:txBody>
          <a:bodyPr wrap="square" lIns="0" tIns="0" rIns="0" bIns="0" rtlCol="0" anchor="t"/>
          <a:lstStyle/>
          <a:p>
            <a:pPr marL="0" indent="0">
              <a:buNone/>
            </a:pPr>
            <a:r>
              <a:rPr lang="en-US" sz="1150" dirty="0">
                <a:solidFill>
                  <a:srgbClr val="1A1F36"/>
                </a:solidFill>
                <a:latin typeface="Calibri" pitchFamily="34" charset="0"/>
                <a:ea typeface="Calibri" pitchFamily="34" charset="-122"/>
                <a:cs typeface="Calibri" pitchFamily="34" charset="-120"/>
              </a:rPr>
              <a:t>Raw unnormalized log-probability scores output by the model's final linear layer — one per vocabulary token.</a:t>
            </a:r>
            <a:endParaRPr lang="en-US" sz="1150" dirty="0"/>
          </a:p>
        </p:txBody>
      </p:sp>
      <p:sp>
        <p:nvSpPr>
          <p:cNvPr id="45" name="Shape 43"/>
          <p:cNvSpPr/>
          <p:nvPr/>
        </p:nvSpPr>
        <p:spPr>
          <a:xfrm>
            <a:off x="5029200" y="2862072"/>
            <a:ext cx="3840480" cy="987552"/>
          </a:xfrm>
          <a:prstGeom prst="rect">
            <a:avLst/>
          </a:prstGeom>
          <a:solidFill>
            <a:srgbClr val="F7F3EA"/>
          </a:solidFill>
          <a:ln w="12700">
            <a:solidFill>
              <a:srgbClr val="D0E2F3"/>
            </a:solidFill>
            <a:prstDash val="solid"/>
          </a:ln>
          <a:effectLst>
            <a:outerShdw blurRad="76200" dist="25400" dir="8100000" algn="bl" rotWithShape="0">
              <a:srgbClr val="1A1F36">
                <a:alpha val="12000"/>
              </a:srgbClr>
            </a:outerShdw>
          </a:effectLst>
        </p:spPr>
      </p:sp>
      <p:sp>
        <p:nvSpPr>
          <p:cNvPr id="46" name="Shape 44"/>
          <p:cNvSpPr/>
          <p:nvPr/>
        </p:nvSpPr>
        <p:spPr>
          <a:xfrm>
            <a:off x="5029200" y="2862072"/>
            <a:ext cx="3840480" cy="54864"/>
          </a:xfrm>
          <a:prstGeom prst="rect">
            <a:avLst/>
          </a:prstGeom>
          <a:solidFill>
            <a:srgbClr val="3D5A80"/>
          </a:solidFill>
          <a:ln w="12700">
            <a:solidFill>
              <a:srgbClr val="3D5A80"/>
            </a:solidFill>
            <a:prstDash val="solid"/>
          </a:ln>
        </p:spPr>
      </p:sp>
      <p:sp>
        <p:nvSpPr>
          <p:cNvPr id="47" name="Text 45"/>
          <p:cNvSpPr/>
          <p:nvPr/>
        </p:nvSpPr>
        <p:spPr>
          <a:xfrm>
            <a:off x="5166360" y="2953512"/>
            <a:ext cx="3566160" cy="274320"/>
          </a:xfrm>
          <a:prstGeom prst="rect">
            <a:avLst/>
          </a:prstGeom>
          <a:noFill/>
          <a:ln/>
        </p:spPr>
        <p:txBody>
          <a:bodyPr wrap="square" lIns="0" tIns="0" rIns="0" bIns="0" rtlCol="0" anchor="ctr"/>
          <a:lstStyle/>
          <a:p>
            <a:pPr marL="0" indent="0">
              <a:buNone/>
            </a:pPr>
            <a:r>
              <a:rPr lang="en-US" sz="1200" b="1" dirty="0">
                <a:solidFill>
                  <a:srgbClr val="3D5A80"/>
                </a:solidFill>
                <a:latin typeface="Calibri" pitchFamily="34" charset="0"/>
                <a:ea typeface="Calibri" pitchFamily="34" charset="-122"/>
                <a:cs typeface="Calibri" pitchFamily="34" charset="-120"/>
              </a:rPr>
              <a:t>Greedy vs. Multinomial</a:t>
            </a:r>
            <a:endParaRPr lang="en-US" sz="1200" dirty="0"/>
          </a:p>
        </p:txBody>
      </p:sp>
      <p:sp>
        <p:nvSpPr>
          <p:cNvPr id="48" name="Text 46"/>
          <p:cNvSpPr/>
          <p:nvPr/>
        </p:nvSpPr>
        <p:spPr>
          <a:xfrm>
            <a:off x="5166360" y="3246120"/>
            <a:ext cx="3566160" cy="530352"/>
          </a:xfrm>
          <a:prstGeom prst="rect">
            <a:avLst/>
          </a:prstGeom>
          <a:noFill/>
          <a:ln/>
        </p:spPr>
        <p:txBody>
          <a:bodyPr wrap="square" lIns="0" tIns="0" rIns="0" bIns="0" rtlCol="0" anchor="t"/>
          <a:lstStyle/>
          <a:p>
            <a:pPr marL="0" indent="0">
              <a:buNone/>
            </a:pPr>
            <a:r>
              <a:rPr lang="en-US" sz="1150" dirty="0">
                <a:solidFill>
                  <a:srgbClr val="1A1F36"/>
                </a:solidFill>
                <a:latin typeface="Calibri" pitchFamily="34" charset="0"/>
                <a:ea typeface="Calibri" pitchFamily="34" charset="-122"/>
                <a:cs typeface="Calibri" pitchFamily="34" charset="-120"/>
              </a:rPr>
              <a:t>Greedy: always pick the highest logit.</a:t>
            </a:r>
            <a:endParaRPr lang="en-US" sz="1150" dirty="0"/>
          </a:p>
          <a:p>
            <a:pPr marL="0" indent="0">
              <a:buNone/>
            </a:pPr>
            <a:r>
              <a:rPr lang="en-US" sz="1150" dirty="0">
                <a:solidFill>
                  <a:srgbClr val="1A1F36"/>
                </a:solidFill>
                <a:latin typeface="Calibri" pitchFamily="34" charset="0"/>
                <a:ea typeface="Calibri" pitchFamily="34" charset="-122"/>
                <a:cs typeface="Calibri" pitchFamily="34" charset="-120"/>
              </a:rPr>
              <a:t>Multinomial: sample proportionally. Temperature t→0 approaches greedy.</a:t>
            </a:r>
            <a:endParaRPr lang="en-US" sz="1150" dirty="0"/>
          </a:p>
        </p:txBody>
      </p:sp>
      <p:sp>
        <p:nvSpPr>
          <p:cNvPr id="49" name="Shape 47"/>
          <p:cNvSpPr/>
          <p:nvPr/>
        </p:nvSpPr>
        <p:spPr>
          <a:xfrm>
            <a:off x="5029200" y="3941064"/>
            <a:ext cx="3840480" cy="987552"/>
          </a:xfrm>
          <a:prstGeom prst="rect">
            <a:avLst/>
          </a:prstGeom>
          <a:solidFill>
            <a:srgbClr val="F7F3EA"/>
          </a:solidFill>
          <a:ln w="12700">
            <a:solidFill>
              <a:srgbClr val="D0E2F3"/>
            </a:solidFill>
            <a:prstDash val="solid"/>
          </a:ln>
          <a:effectLst>
            <a:outerShdw blurRad="76200" dist="25400" dir="8100000" algn="bl" rotWithShape="0">
              <a:srgbClr val="1A1F36">
                <a:alpha val="12000"/>
              </a:srgbClr>
            </a:outerShdw>
          </a:effectLst>
        </p:spPr>
      </p:sp>
      <p:sp>
        <p:nvSpPr>
          <p:cNvPr id="50" name="Shape 48"/>
          <p:cNvSpPr/>
          <p:nvPr/>
        </p:nvSpPr>
        <p:spPr>
          <a:xfrm>
            <a:off x="5029200" y="3941064"/>
            <a:ext cx="3840480" cy="54864"/>
          </a:xfrm>
          <a:prstGeom prst="rect">
            <a:avLst/>
          </a:prstGeom>
          <a:solidFill>
            <a:srgbClr val="3D5A80"/>
          </a:solidFill>
          <a:ln w="12700">
            <a:solidFill>
              <a:srgbClr val="3D5A80"/>
            </a:solidFill>
            <a:prstDash val="solid"/>
          </a:ln>
        </p:spPr>
      </p:sp>
      <p:sp>
        <p:nvSpPr>
          <p:cNvPr id="51" name="Text 49"/>
          <p:cNvSpPr/>
          <p:nvPr/>
        </p:nvSpPr>
        <p:spPr>
          <a:xfrm>
            <a:off x="5166360" y="4032504"/>
            <a:ext cx="3566160" cy="274320"/>
          </a:xfrm>
          <a:prstGeom prst="rect">
            <a:avLst/>
          </a:prstGeom>
          <a:noFill/>
          <a:ln/>
        </p:spPr>
        <p:txBody>
          <a:bodyPr wrap="square" lIns="0" tIns="0" rIns="0" bIns="0" rtlCol="0" anchor="ctr"/>
          <a:lstStyle/>
          <a:p>
            <a:pPr marL="0" indent="0">
              <a:buNone/>
            </a:pPr>
            <a:r>
              <a:rPr lang="en-US" sz="1200" b="1" dirty="0">
                <a:solidFill>
                  <a:srgbClr val="3D5A80"/>
                </a:solidFill>
                <a:latin typeface="Calibri" pitchFamily="34" charset="0"/>
                <a:ea typeface="Calibri" pitchFamily="34" charset="-122"/>
                <a:cs typeface="Calibri" pitchFamily="34" charset="-120"/>
              </a:rPr>
              <a:t>Why -∞ for masking?</a:t>
            </a:r>
            <a:endParaRPr lang="en-US" sz="1200" dirty="0"/>
          </a:p>
        </p:txBody>
      </p:sp>
      <p:sp>
        <p:nvSpPr>
          <p:cNvPr id="52" name="Text 50"/>
          <p:cNvSpPr/>
          <p:nvPr/>
        </p:nvSpPr>
        <p:spPr>
          <a:xfrm>
            <a:off x="5166360" y="4325112"/>
            <a:ext cx="3566160" cy="530352"/>
          </a:xfrm>
          <a:prstGeom prst="rect">
            <a:avLst/>
          </a:prstGeom>
          <a:noFill/>
          <a:ln/>
        </p:spPr>
        <p:txBody>
          <a:bodyPr wrap="square" lIns="0" tIns="0" rIns="0" bIns="0" rtlCol="0" anchor="t"/>
          <a:lstStyle/>
          <a:p>
            <a:pPr marL="0" indent="0">
              <a:buNone/>
            </a:pPr>
            <a:r>
              <a:rPr lang="en-US" sz="1150" dirty="0">
                <a:solidFill>
                  <a:srgbClr val="1A1F36"/>
                </a:solidFill>
                <a:latin typeface="Calibri" pitchFamily="34" charset="0"/>
                <a:ea typeface="Calibri" pitchFamily="34" charset="-122"/>
                <a:cs typeface="Calibri" pitchFamily="34" charset="-120"/>
              </a:rPr>
              <a:t>Setting a logit to −∞ makes exp(−∞)=0, so that token gets zero probability — it can never be sampled.</a:t>
            </a:r>
            <a:endParaRPr lang="en-US" sz="1150" dirty="0"/>
          </a:p>
        </p:txBody>
      </p:sp>
      <p:pic>
        <p:nvPicPr>
          <p:cNvPr id="54" name="Google Shape;328;p29">
            <a:extLst>
              <a:ext uri="{FF2B5EF4-FFF2-40B4-BE49-F238E27FC236}">
                <a16:creationId xmlns:a16="http://schemas.microsoft.com/office/drawing/2014/main" id="{FD484EAC-AE3A-09F0-4C44-8A1BCFAA93BD}"/>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369313473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173736" y="146304"/>
            <a:ext cx="8321040" cy="566928"/>
          </a:xfrm>
          <a:prstGeom prst="rect">
            <a:avLst/>
          </a:prstGeom>
          <a:noFill/>
          <a:ln/>
        </p:spPr>
        <p:txBody>
          <a:bodyPr wrap="square" lIns="0" tIns="0" rIns="0" bIns="0" rtlCol="0" anchor="ctr"/>
          <a:lstStyle/>
          <a:p>
            <a:pPr marL="0" indent="0">
              <a:buNone/>
            </a:pPr>
            <a:r>
              <a:rPr lang="en-US" sz="2500" b="1" dirty="0">
                <a:solidFill>
                  <a:srgbClr val="1A1F36"/>
                </a:solidFill>
                <a:latin typeface="Georgia" pitchFamily="34" charset="0"/>
                <a:ea typeface="Georgia" pitchFamily="34" charset="-122"/>
                <a:cs typeface="Georgia" pitchFamily="34" charset="-120"/>
              </a:rPr>
              <a:t>The Masking Mechanism </a:t>
            </a:r>
            <a:endParaRPr lang="en-US" sz="2500" dirty="0"/>
          </a:p>
        </p:txBody>
      </p:sp>
      <p:sp>
        <p:nvSpPr>
          <p:cNvPr id="4" name="Text 2"/>
          <p:cNvSpPr/>
          <p:nvPr/>
        </p:nvSpPr>
        <p:spPr>
          <a:xfrm>
            <a:off x="411480" y="804672"/>
            <a:ext cx="8321040" cy="640080"/>
          </a:xfrm>
          <a:prstGeom prst="rect">
            <a:avLst/>
          </a:prstGeom>
          <a:noFill/>
          <a:ln/>
        </p:spPr>
        <p:txBody>
          <a:bodyPr wrap="square" rtlCol="0" anchor="ctr"/>
          <a:lstStyle/>
          <a:p>
            <a:pPr marL="0" indent="0">
              <a:buNone/>
            </a:pPr>
            <a:r>
              <a:rPr lang="en-US" sz="1300" dirty="0">
                <a:solidFill>
                  <a:srgbClr val="1A1F36"/>
                </a:solidFill>
                <a:latin typeface="Calibri" pitchFamily="34" charset="0"/>
                <a:ea typeface="Calibri" pitchFamily="34" charset="-122"/>
                <a:cs typeface="Calibri" pitchFamily="34" charset="-120"/>
              </a:rPr>
              <a:t>Rule: "Allow odd numbers only at the start or after an even number"</a:t>
            </a:r>
            <a:endParaRPr lang="en-US" sz="1300" dirty="0"/>
          </a:p>
          <a:p>
            <a:pPr marL="0" indent="0">
              <a:buNone/>
            </a:pPr>
            <a:r>
              <a:rPr lang="en-US" sz="1300" dirty="0">
                <a:solidFill>
                  <a:srgbClr val="1A1F36"/>
                </a:solidFill>
                <a:latin typeface="Calibri" pitchFamily="34" charset="0"/>
                <a:ea typeface="Calibri" pitchFamily="34" charset="-122"/>
                <a:cs typeface="Calibri" pitchFamily="34" charset="-120"/>
              </a:rPr>
              <a:t>→ If last token was odd (e.g. "3"), set all odd-digit logits to −∞</a:t>
            </a:r>
            <a:endParaRPr lang="en-US" sz="1300" dirty="0"/>
          </a:p>
        </p:txBody>
      </p:sp>
      <p:sp>
        <p:nvSpPr>
          <p:cNvPr id="5" name="Shape 3"/>
          <p:cNvSpPr/>
          <p:nvPr/>
        </p:nvSpPr>
        <p:spPr>
          <a:xfrm>
            <a:off x="320040" y="1508760"/>
            <a:ext cx="4069080" cy="3383280"/>
          </a:xfrm>
          <a:prstGeom prst="rect">
            <a:avLst/>
          </a:prstGeom>
          <a:solidFill>
            <a:srgbClr val="F7F3EA"/>
          </a:solidFill>
          <a:ln w="12700">
            <a:solidFill>
              <a:srgbClr val="CADCFC"/>
            </a:solidFill>
            <a:prstDash val="solid"/>
          </a:ln>
          <a:effectLst>
            <a:outerShdw blurRad="76200" dist="25400" dir="8100000" algn="bl" rotWithShape="0">
              <a:srgbClr val="1A1F36">
                <a:alpha val="12000"/>
              </a:srgbClr>
            </a:outerShdw>
          </a:effectLst>
        </p:spPr>
      </p:sp>
      <p:sp>
        <p:nvSpPr>
          <p:cNvPr id="6" name="Shape 4"/>
          <p:cNvSpPr/>
          <p:nvPr/>
        </p:nvSpPr>
        <p:spPr>
          <a:xfrm>
            <a:off x="320040" y="1508760"/>
            <a:ext cx="4069080" cy="54864"/>
          </a:xfrm>
          <a:prstGeom prst="rect">
            <a:avLst/>
          </a:prstGeom>
          <a:solidFill>
            <a:srgbClr val="3D5A80"/>
          </a:solidFill>
          <a:ln w="12700">
            <a:solidFill>
              <a:srgbClr val="3D5A80"/>
            </a:solidFill>
            <a:prstDash val="solid"/>
          </a:ln>
        </p:spPr>
      </p:sp>
      <p:sp>
        <p:nvSpPr>
          <p:cNvPr id="7" name="Text 5"/>
          <p:cNvSpPr/>
          <p:nvPr/>
        </p:nvSpPr>
        <p:spPr>
          <a:xfrm>
            <a:off x="457200" y="1572768"/>
            <a:ext cx="3794760" cy="292608"/>
          </a:xfrm>
          <a:prstGeom prst="rect">
            <a:avLst/>
          </a:prstGeom>
          <a:noFill/>
          <a:ln/>
        </p:spPr>
        <p:txBody>
          <a:bodyPr wrap="square" lIns="0" tIns="0" rIns="0" bIns="0" rtlCol="0" anchor="ctr"/>
          <a:lstStyle/>
          <a:p>
            <a:pPr marL="0" indent="0">
              <a:buNone/>
            </a:pPr>
            <a:r>
              <a:rPr lang="en-US" sz="1100" b="1" dirty="0">
                <a:solidFill>
                  <a:srgbClr val="3D5A80"/>
                </a:solidFill>
                <a:latin typeface="Calibri" pitchFamily="34" charset="0"/>
                <a:ea typeface="Calibri" pitchFamily="34" charset="-122"/>
                <a:cs typeface="Calibri" pitchFamily="34" charset="-120"/>
              </a:rPr>
              <a:t>BEFORE masking  (sequence: "123")</a:t>
            </a:r>
            <a:endParaRPr lang="en-US" sz="1100" dirty="0"/>
          </a:p>
        </p:txBody>
      </p:sp>
      <p:sp>
        <p:nvSpPr>
          <p:cNvPr id="8" name="Text 6"/>
          <p:cNvSpPr/>
          <p:nvPr/>
        </p:nvSpPr>
        <p:spPr>
          <a:xfrm>
            <a:off x="457200" y="1828800"/>
            <a:ext cx="3794760" cy="228600"/>
          </a:xfrm>
          <a:prstGeom prst="rect">
            <a:avLst/>
          </a:prstGeom>
          <a:noFill/>
          <a:ln/>
        </p:spPr>
        <p:txBody>
          <a:bodyPr wrap="square" lIns="0" tIns="0" rIns="0" bIns="0" rtlCol="0" anchor="ctr"/>
          <a:lstStyle/>
          <a:p>
            <a:pPr marL="0" indent="0">
              <a:buNone/>
            </a:pPr>
            <a:r>
              <a:rPr lang="en-US" sz="1000" i="1" dirty="0">
                <a:solidFill>
                  <a:srgbClr val="3D5A80"/>
                </a:solidFill>
                <a:latin typeface="Calibri" pitchFamily="34" charset="0"/>
                <a:ea typeface="Calibri" pitchFamily="34" charset="-122"/>
                <a:cs typeface="Calibri" pitchFamily="34" charset="-120"/>
              </a:rPr>
              <a:t>All digits can be next token</a:t>
            </a:r>
            <a:endParaRPr lang="en-US" sz="1000" dirty="0"/>
          </a:p>
        </p:txBody>
      </p:sp>
      <p:sp>
        <p:nvSpPr>
          <p:cNvPr id="9" name="Text 7"/>
          <p:cNvSpPr/>
          <p:nvPr/>
        </p:nvSpPr>
        <p:spPr>
          <a:xfrm>
            <a:off x="365760" y="2084832"/>
            <a:ext cx="384048" cy="219456"/>
          </a:xfrm>
          <a:prstGeom prst="rect">
            <a:avLst/>
          </a:prstGeom>
          <a:noFill/>
          <a:ln/>
        </p:spPr>
        <p:txBody>
          <a:bodyPr wrap="square" lIns="0" tIns="0" rIns="0" bIns="0" rtlCol="0" anchor="ctr"/>
          <a:lstStyle/>
          <a:p>
            <a:pPr marL="0" indent="0" algn="ctr">
              <a:buNone/>
            </a:pPr>
            <a:r>
              <a:rPr lang="en-US" sz="1000" b="1" dirty="0">
                <a:solidFill>
                  <a:srgbClr val="1A1F36"/>
                </a:solidFill>
                <a:latin typeface="Consolas" pitchFamily="34" charset="0"/>
                <a:ea typeface="Consolas" pitchFamily="34" charset="-122"/>
                <a:cs typeface="Consolas" pitchFamily="34" charset="-120"/>
              </a:rPr>
              <a:t>"0"</a:t>
            </a:r>
            <a:endParaRPr lang="en-US" sz="1000" dirty="0"/>
          </a:p>
        </p:txBody>
      </p:sp>
      <p:sp>
        <p:nvSpPr>
          <p:cNvPr id="10" name="Shape 8"/>
          <p:cNvSpPr/>
          <p:nvPr/>
        </p:nvSpPr>
        <p:spPr>
          <a:xfrm>
            <a:off x="795528" y="2084832"/>
            <a:ext cx="2743200" cy="219456"/>
          </a:xfrm>
          <a:prstGeom prst="rect">
            <a:avLst/>
          </a:prstGeom>
          <a:solidFill>
            <a:srgbClr val="F7F3EA"/>
          </a:solidFill>
          <a:ln w="6350">
            <a:solidFill>
              <a:srgbClr val="F7F3EA"/>
            </a:solidFill>
            <a:prstDash val="solid"/>
          </a:ln>
        </p:spPr>
      </p:sp>
      <p:sp>
        <p:nvSpPr>
          <p:cNvPr id="11" name="Shape 9"/>
          <p:cNvSpPr/>
          <p:nvPr/>
        </p:nvSpPr>
        <p:spPr>
          <a:xfrm>
            <a:off x="795528" y="2084832"/>
            <a:ext cx="1371600" cy="219456"/>
          </a:xfrm>
          <a:prstGeom prst="rect">
            <a:avLst/>
          </a:prstGeom>
          <a:solidFill>
            <a:srgbClr val="3D5A80"/>
          </a:solidFill>
          <a:ln w="12700">
            <a:solidFill>
              <a:srgbClr val="3D5A80"/>
            </a:solidFill>
            <a:prstDash val="solid"/>
          </a:ln>
        </p:spPr>
      </p:sp>
      <p:sp>
        <p:nvSpPr>
          <p:cNvPr id="12" name="Text 10"/>
          <p:cNvSpPr/>
          <p:nvPr/>
        </p:nvSpPr>
        <p:spPr>
          <a:xfrm>
            <a:off x="365760" y="2331720"/>
            <a:ext cx="384048" cy="219456"/>
          </a:xfrm>
          <a:prstGeom prst="rect">
            <a:avLst/>
          </a:prstGeom>
          <a:noFill/>
          <a:ln/>
        </p:spPr>
        <p:txBody>
          <a:bodyPr wrap="square" lIns="0" tIns="0" rIns="0" bIns="0" rtlCol="0" anchor="ctr"/>
          <a:lstStyle/>
          <a:p>
            <a:pPr marL="0" indent="0" algn="ctr">
              <a:buNone/>
            </a:pPr>
            <a:r>
              <a:rPr lang="en-US" sz="1000" b="1" dirty="0">
                <a:solidFill>
                  <a:srgbClr val="1A1F36"/>
                </a:solidFill>
                <a:latin typeface="Consolas" pitchFamily="34" charset="0"/>
                <a:ea typeface="Consolas" pitchFamily="34" charset="-122"/>
                <a:cs typeface="Consolas" pitchFamily="34" charset="-120"/>
              </a:rPr>
              <a:t>"1"</a:t>
            </a:r>
            <a:endParaRPr lang="en-US" sz="1000" dirty="0"/>
          </a:p>
        </p:txBody>
      </p:sp>
      <p:sp>
        <p:nvSpPr>
          <p:cNvPr id="13" name="Shape 11"/>
          <p:cNvSpPr/>
          <p:nvPr/>
        </p:nvSpPr>
        <p:spPr>
          <a:xfrm>
            <a:off x="795528" y="2331720"/>
            <a:ext cx="2743200" cy="219456"/>
          </a:xfrm>
          <a:prstGeom prst="rect">
            <a:avLst/>
          </a:prstGeom>
          <a:solidFill>
            <a:srgbClr val="F7F3EA"/>
          </a:solidFill>
          <a:ln w="6350">
            <a:solidFill>
              <a:srgbClr val="F7F3EA"/>
            </a:solidFill>
            <a:prstDash val="solid"/>
          </a:ln>
        </p:spPr>
      </p:sp>
      <p:sp>
        <p:nvSpPr>
          <p:cNvPr id="14" name="Shape 12"/>
          <p:cNvSpPr/>
          <p:nvPr/>
        </p:nvSpPr>
        <p:spPr>
          <a:xfrm>
            <a:off x="795528" y="2331720"/>
            <a:ext cx="960120" cy="219456"/>
          </a:xfrm>
          <a:prstGeom prst="rect">
            <a:avLst/>
          </a:prstGeom>
          <a:solidFill>
            <a:srgbClr val="3D5A80"/>
          </a:solidFill>
          <a:ln w="12700">
            <a:solidFill>
              <a:srgbClr val="3D5A80"/>
            </a:solidFill>
            <a:prstDash val="solid"/>
          </a:ln>
        </p:spPr>
      </p:sp>
      <p:sp>
        <p:nvSpPr>
          <p:cNvPr id="15" name="Text 13"/>
          <p:cNvSpPr/>
          <p:nvPr/>
        </p:nvSpPr>
        <p:spPr>
          <a:xfrm>
            <a:off x="365760" y="2578608"/>
            <a:ext cx="384048" cy="219456"/>
          </a:xfrm>
          <a:prstGeom prst="rect">
            <a:avLst/>
          </a:prstGeom>
          <a:noFill/>
          <a:ln/>
        </p:spPr>
        <p:txBody>
          <a:bodyPr wrap="square" lIns="0" tIns="0" rIns="0" bIns="0" rtlCol="0" anchor="ctr"/>
          <a:lstStyle/>
          <a:p>
            <a:pPr marL="0" indent="0" algn="ctr">
              <a:buNone/>
            </a:pPr>
            <a:r>
              <a:rPr lang="en-US" sz="1000" b="1" dirty="0">
                <a:solidFill>
                  <a:srgbClr val="1A1F36"/>
                </a:solidFill>
                <a:latin typeface="Consolas" pitchFamily="34" charset="0"/>
                <a:ea typeface="Consolas" pitchFamily="34" charset="-122"/>
                <a:cs typeface="Consolas" pitchFamily="34" charset="-120"/>
              </a:rPr>
              <a:t>"2"</a:t>
            </a:r>
            <a:endParaRPr lang="en-US" sz="1000" dirty="0"/>
          </a:p>
        </p:txBody>
      </p:sp>
      <p:sp>
        <p:nvSpPr>
          <p:cNvPr id="16" name="Shape 14"/>
          <p:cNvSpPr/>
          <p:nvPr/>
        </p:nvSpPr>
        <p:spPr>
          <a:xfrm>
            <a:off x="795528" y="2578608"/>
            <a:ext cx="2743200" cy="219456"/>
          </a:xfrm>
          <a:prstGeom prst="rect">
            <a:avLst/>
          </a:prstGeom>
          <a:solidFill>
            <a:srgbClr val="F7F3EA"/>
          </a:solidFill>
          <a:ln w="6350">
            <a:solidFill>
              <a:srgbClr val="F7F3EA"/>
            </a:solidFill>
            <a:prstDash val="solid"/>
          </a:ln>
        </p:spPr>
      </p:sp>
      <p:sp>
        <p:nvSpPr>
          <p:cNvPr id="17" name="Shape 15"/>
          <p:cNvSpPr/>
          <p:nvPr/>
        </p:nvSpPr>
        <p:spPr>
          <a:xfrm>
            <a:off x="795528" y="2578608"/>
            <a:ext cx="1920240" cy="219456"/>
          </a:xfrm>
          <a:prstGeom prst="rect">
            <a:avLst/>
          </a:prstGeom>
          <a:solidFill>
            <a:srgbClr val="B8975B"/>
          </a:solidFill>
          <a:ln w="12700">
            <a:solidFill>
              <a:srgbClr val="B8975B"/>
            </a:solidFill>
            <a:prstDash val="solid"/>
          </a:ln>
        </p:spPr>
      </p:sp>
      <p:sp>
        <p:nvSpPr>
          <p:cNvPr id="18" name="Text 16"/>
          <p:cNvSpPr/>
          <p:nvPr/>
        </p:nvSpPr>
        <p:spPr>
          <a:xfrm>
            <a:off x="365760" y="2825496"/>
            <a:ext cx="384048" cy="219456"/>
          </a:xfrm>
          <a:prstGeom prst="rect">
            <a:avLst/>
          </a:prstGeom>
          <a:noFill/>
          <a:ln/>
        </p:spPr>
        <p:txBody>
          <a:bodyPr wrap="square" lIns="0" tIns="0" rIns="0" bIns="0" rtlCol="0" anchor="ctr"/>
          <a:lstStyle/>
          <a:p>
            <a:pPr marL="0" indent="0" algn="ctr">
              <a:buNone/>
            </a:pPr>
            <a:r>
              <a:rPr lang="en-US" sz="1000" b="1" dirty="0">
                <a:solidFill>
                  <a:srgbClr val="1A1F36"/>
                </a:solidFill>
                <a:latin typeface="Consolas" pitchFamily="34" charset="0"/>
                <a:ea typeface="Consolas" pitchFamily="34" charset="-122"/>
                <a:cs typeface="Consolas" pitchFamily="34" charset="-120"/>
              </a:rPr>
              <a:t>"3"</a:t>
            </a:r>
            <a:endParaRPr lang="en-US" sz="1000" dirty="0"/>
          </a:p>
        </p:txBody>
      </p:sp>
      <p:sp>
        <p:nvSpPr>
          <p:cNvPr id="19" name="Shape 17"/>
          <p:cNvSpPr/>
          <p:nvPr/>
        </p:nvSpPr>
        <p:spPr>
          <a:xfrm>
            <a:off x="795528" y="2825496"/>
            <a:ext cx="2743200" cy="219456"/>
          </a:xfrm>
          <a:prstGeom prst="rect">
            <a:avLst/>
          </a:prstGeom>
          <a:solidFill>
            <a:srgbClr val="F7F3EA"/>
          </a:solidFill>
          <a:ln w="6350">
            <a:solidFill>
              <a:srgbClr val="F7F3EA"/>
            </a:solidFill>
            <a:prstDash val="solid"/>
          </a:ln>
        </p:spPr>
      </p:sp>
      <p:sp>
        <p:nvSpPr>
          <p:cNvPr id="20" name="Shape 18"/>
          <p:cNvSpPr/>
          <p:nvPr/>
        </p:nvSpPr>
        <p:spPr>
          <a:xfrm>
            <a:off x="795528" y="2825496"/>
            <a:ext cx="1234440" cy="219456"/>
          </a:xfrm>
          <a:prstGeom prst="rect">
            <a:avLst/>
          </a:prstGeom>
          <a:solidFill>
            <a:srgbClr val="3D5A80"/>
          </a:solidFill>
          <a:ln w="12700">
            <a:solidFill>
              <a:srgbClr val="3D5A80"/>
            </a:solidFill>
            <a:prstDash val="solid"/>
          </a:ln>
        </p:spPr>
      </p:sp>
      <p:sp>
        <p:nvSpPr>
          <p:cNvPr id="21" name="Text 19"/>
          <p:cNvSpPr/>
          <p:nvPr/>
        </p:nvSpPr>
        <p:spPr>
          <a:xfrm>
            <a:off x="365760" y="3072384"/>
            <a:ext cx="384048" cy="219456"/>
          </a:xfrm>
          <a:prstGeom prst="rect">
            <a:avLst/>
          </a:prstGeom>
          <a:noFill/>
          <a:ln/>
        </p:spPr>
        <p:txBody>
          <a:bodyPr wrap="square" lIns="0" tIns="0" rIns="0" bIns="0" rtlCol="0" anchor="ctr"/>
          <a:lstStyle/>
          <a:p>
            <a:pPr marL="0" indent="0" algn="ctr">
              <a:buNone/>
            </a:pPr>
            <a:r>
              <a:rPr lang="en-US" sz="1000" b="1" dirty="0">
                <a:solidFill>
                  <a:srgbClr val="1A1F36"/>
                </a:solidFill>
                <a:latin typeface="Consolas" pitchFamily="34" charset="0"/>
                <a:ea typeface="Consolas" pitchFamily="34" charset="-122"/>
                <a:cs typeface="Consolas" pitchFamily="34" charset="-120"/>
              </a:rPr>
              <a:t>"4"</a:t>
            </a:r>
            <a:endParaRPr lang="en-US" sz="1000" dirty="0"/>
          </a:p>
        </p:txBody>
      </p:sp>
      <p:sp>
        <p:nvSpPr>
          <p:cNvPr id="22" name="Shape 20"/>
          <p:cNvSpPr/>
          <p:nvPr/>
        </p:nvSpPr>
        <p:spPr>
          <a:xfrm>
            <a:off x="795528" y="3072384"/>
            <a:ext cx="2743200" cy="219456"/>
          </a:xfrm>
          <a:prstGeom prst="rect">
            <a:avLst/>
          </a:prstGeom>
          <a:solidFill>
            <a:srgbClr val="F7F3EA"/>
          </a:solidFill>
          <a:ln w="6350">
            <a:solidFill>
              <a:srgbClr val="F7F3EA"/>
            </a:solidFill>
            <a:prstDash val="solid"/>
          </a:ln>
        </p:spPr>
      </p:sp>
      <p:sp>
        <p:nvSpPr>
          <p:cNvPr id="23" name="Shape 21"/>
          <p:cNvSpPr/>
          <p:nvPr/>
        </p:nvSpPr>
        <p:spPr>
          <a:xfrm>
            <a:off x="795528" y="3072384"/>
            <a:ext cx="2194560" cy="219456"/>
          </a:xfrm>
          <a:prstGeom prst="rect">
            <a:avLst/>
          </a:prstGeom>
          <a:solidFill>
            <a:srgbClr val="B8975B"/>
          </a:solidFill>
          <a:ln w="12700">
            <a:solidFill>
              <a:srgbClr val="B8975B"/>
            </a:solidFill>
            <a:prstDash val="solid"/>
          </a:ln>
        </p:spPr>
      </p:sp>
      <p:sp>
        <p:nvSpPr>
          <p:cNvPr id="24" name="Text 22"/>
          <p:cNvSpPr/>
          <p:nvPr/>
        </p:nvSpPr>
        <p:spPr>
          <a:xfrm>
            <a:off x="365760" y="3319272"/>
            <a:ext cx="384048" cy="219456"/>
          </a:xfrm>
          <a:prstGeom prst="rect">
            <a:avLst/>
          </a:prstGeom>
          <a:noFill/>
          <a:ln/>
        </p:spPr>
        <p:txBody>
          <a:bodyPr wrap="square" lIns="0" tIns="0" rIns="0" bIns="0" rtlCol="0" anchor="ctr"/>
          <a:lstStyle/>
          <a:p>
            <a:pPr marL="0" indent="0" algn="ctr">
              <a:buNone/>
            </a:pPr>
            <a:r>
              <a:rPr lang="en-US" sz="1000" b="1" dirty="0">
                <a:solidFill>
                  <a:srgbClr val="1A1F36"/>
                </a:solidFill>
                <a:latin typeface="Consolas" pitchFamily="34" charset="0"/>
                <a:ea typeface="Consolas" pitchFamily="34" charset="-122"/>
                <a:cs typeface="Consolas" pitchFamily="34" charset="-120"/>
              </a:rPr>
              <a:t>"5"</a:t>
            </a:r>
            <a:endParaRPr lang="en-US" sz="1000" dirty="0"/>
          </a:p>
        </p:txBody>
      </p:sp>
      <p:sp>
        <p:nvSpPr>
          <p:cNvPr id="25" name="Shape 23"/>
          <p:cNvSpPr/>
          <p:nvPr/>
        </p:nvSpPr>
        <p:spPr>
          <a:xfrm>
            <a:off x="795528" y="3319272"/>
            <a:ext cx="2743200" cy="219456"/>
          </a:xfrm>
          <a:prstGeom prst="rect">
            <a:avLst/>
          </a:prstGeom>
          <a:solidFill>
            <a:srgbClr val="F7F3EA"/>
          </a:solidFill>
          <a:ln w="6350">
            <a:solidFill>
              <a:srgbClr val="F7F3EA"/>
            </a:solidFill>
            <a:prstDash val="solid"/>
          </a:ln>
        </p:spPr>
      </p:sp>
      <p:sp>
        <p:nvSpPr>
          <p:cNvPr id="26" name="Shape 24"/>
          <p:cNvSpPr/>
          <p:nvPr/>
        </p:nvSpPr>
        <p:spPr>
          <a:xfrm>
            <a:off x="795528" y="3319272"/>
            <a:ext cx="1508760" cy="219456"/>
          </a:xfrm>
          <a:prstGeom prst="rect">
            <a:avLst/>
          </a:prstGeom>
          <a:solidFill>
            <a:srgbClr val="3D5A80"/>
          </a:solidFill>
          <a:ln w="12700">
            <a:solidFill>
              <a:srgbClr val="3D5A80"/>
            </a:solidFill>
            <a:prstDash val="solid"/>
          </a:ln>
        </p:spPr>
      </p:sp>
      <p:sp>
        <p:nvSpPr>
          <p:cNvPr id="27" name="Text 25"/>
          <p:cNvSpPr/>
          <p:nvPr/>
        </p:nvSpPr>
        <p:spPr>
          <a:xfrm>
            <a:off x="365760" y="3566160"/>
            <a:ext cx="384048" cy="219456"/>
          </a:xfrm>
          <a:prstGeom prst="rect">
            <a:avLst/>
          </a:prstGeom>
          <a:noFill/>
          <a:ln/>
        </p:spPr>
        <p:txBody>
          <a:bodyPr wrap="square" lIns="0" tIns="0" rIns="0" bIns="0" rtlCol="0" anchor="ctr"/>
          <a:lstStyle/>
          <a:p>
            <a:pPr marL="0" indent="0" algn="ctr">
              <a:buNone/>
            </a:pPr>
            <a:r>
              <a:rPr lang="en-US" sz="1000" b="1" dirty="0">
                <a:solidFill>
                  <a:srgbClr val="1A1F36"/>
                </a:solidFill>
                <a:latin typeface="Consolas" pitchFamily="34" charset="0"/>
                <a:ea typeface="Consolas" pitchFamily="34" charset="-122"/>
                <a:cs typeface="Consolas" pitchFamily="34" charset="-120"/>
              </a:rPr>
              <a:t>"6"</a:t>
            </a:r>
            <a:endParaRPr lang="en-US" sz="1000" dirty="0"/>
          </a:p>
        </p:txBody>
      </p:sp>
      <p:sp>
        <p:nvSpPr>
          <p:cNvPr id="28" name="Shape 26"/>
          <p:cNvSpPr/>
          <p:nvPr/>
        </p:nvSpPr>
        <p:spPr>
          <a:xfrm>
            <a:off x="795528" y="3566160"/>
            <a:ext cx="2743200" cy="219456"/>
          </a:xfrm>
          <a:prstGeom prst="rect">
            <a:avLst/>
          </a:prstGeom>
          <a:solidFill>
            <a:srgbClr val="F7F3EA"/>
          </a:solidFill>
          <a:ln w="6350">
            <a:solidFill>
              <a:srgbClr val="F7F3EA"/>
            </a:solidFill>
            <a:prstDash val="solid"/>
          </a:ln>
        </p:spPr>
      </p:sp>
      <p:sp>
        <p:nvSpPr>
          <p:cNvPr id="29" name="Shape 27"/>
          <p:cNvSpPr/>
          <p:nvPr/>
        </p:nvSpPr>
        <p:spPr>
          <a:xfrm>
            <a:off x="795528" y="3566160"/>
            <a:ext cx="1097280" cy="219456"/>
          </a:xfrm>
          <a:prstGeom prst="rect">
            <a:avLst/>
          </a:prstGeom>
          <a:solidFill>
            <a:srgbClr val="3D5A80"/>
          </a:solidFill>
          <a:ln w="12700">
            <a:solidFill>
              <a:srgbClr val="3D5A80"/>
            </a:solidFill>
            <a:prstDash val="solid"/>
          </a:ln>
        </p:spPr>
      </p:sp>
      <p:sp>
        <p:nvSpPr>
          <p:cNvPr id="30" name="Text 28"/>
          <p:cNvSpPr/>
          <p:nvPr/>
        </p:nvSpPr>
        <p:spPr>
          <a:xfrm>
            <a:off x="365760" y="3813048"/>
            <a:ext cx="384048" cy="219456"/>
          </a:xfrm>
          <a:prstGeom prst="rect">
            <a:avLst/>
          </a:prstGeom>
          <a:noFill/>
          <a:ln/>
        </p:spPr>
        <p:txBody>
          <a:bodyPr wrap="square" lIns="0" tIns="0" rIns="0" bIns="0" rtlCol="0" anchor="ctr"/>
          <a:lstStyle/>
          <a:p>
            <a:pPr marL="0" indent="0" algn="ctr">
              <a:buNone/>
            </a:pPr>
            <a:r>
              <a:rPr lang="en-US" sz="1000" b="1" dirty="0">
                <a:solidFill>
                  <a:srgbClr val="1A1F36"/>
                </a:solidFill>
                <a:latin typeface="Consolas" pitchFamily="34" charset="0"/>
                <a:ea typeface="Consolas" pitchFamily="34" charset="-122"/>
                <a:cs typeface="Consolas" pitchFamily="34" charset="-120"/>
              </a:rPr>
              <a:t>"7"</a:t>
            </a:r>
            <a:endParaRPr lang="en-US" sz="1000" dirty="0"/>
          </a:p>
        </p:txBody>
      </p:sp>
      <p:sp>
        <p:nvSpPr>
          <p:cNvPr id="31" name="Shape 29"/>
          <p:cNvSpPr/>
          <p:nvPr/>
        </p:nvSpPr>
        <p:spPr>
          <a:xfrm>
            <a:off x="795528" y="3813048"/>
            <a:ext cx="2743200" cy="219456"/>
          </a:xfrm>
          <a:prstGeom prst="rect">
            <a:avLst/>
          </a:prstGeom>
          <a:solidFill>
            <a:srgbClr val="F7F3EA"/>
          </a:solidFill>
          <a:ln w="6350">
            <a:solidFill>
              <a:srgbClr val="F7F3EA"/>
            </a:solidFill>
            <a:prstDash val="solid"/>
          </a:ln>
        </p:spPr>
      </p:sp>
      <p:sp>
        <p:nvSpPr>
          <p:cNvPr id="32" name="Shape 30"/>
          <p:cNvSpPr/>
          <p:nvPr/>
        </p:nvSpPr>
        <p:spPr>
          <a:xfrm>
            <a:off x="795528" y="3813048"/>
            <a:ext cx="2743200" cy="219456"/>
          </a:xfrm>
          <a:prstGeom prst="rect">
            <a:avLst/>
          </a:prstGeom>
          <a:solidFill>
            <a:srgbClr val="B8975B"/>
          </a:solidFill>
          <a:ln w="12700">
            <a:solidFill>
              <a:srgbClr val="B8975B"/>
            </a:solidFill>
            <a:prstDash val="solid"/>
          </a:ln>
        </p:spPr>
      </p:sp>
      <p:sp>
        <p:nvSpPr>
          <p:cNvPr id="33" name="Text 31"/>
          <p:cNvSpPr/>
          <p:nvPr/>
        </p:nvSpPr>
        <p:spPr>
          <a:xfrm>
            <a:off x="365760" y="4059936"/>
            <a:ext cx="384048" cy="219456"/>
          </a:xfrm>
          <a:prstGeom prst="rect">
            <a:avLst/>
          </a:prstGeom>
          <a:noFill/>
          <a:ln/>
        </p:spPr>
        <p:txBody>
          <a:bodyPr wrap="square" lIns="0" tIns="0" rIns="0" bIns="0" rtlCol="0" anchor="ctr"/>
          <a:lstStyle/>
          <a:p>
            <a:pPr marL="0" indent="0" algn="ctr">
              <a:buNone/>
            </a:pPr>
            <a:r>
              <a:rPr lang="en-US" sz="1000" b="1" dirty="0">
                <a:solidFill>
                  <a:srgbClr val="1A1F36"/>
                </a:solidFill>
                <a:latin typeface="Consolas" pitchFamily="34" charset="0"/>
                <a:ea typeface="Consolas" pitchFamily="34" charset="-122"/>
                <a:cs typeface="Consolas" pitchFamily="34" charset="-120"/>
              </a:rPr>
              <a:t>"8"</a:t>
            </a:r>
            <a:endParaRPr lang="en-US" sz="1000" dirty="0"/>
          </a:p>
        </p:txBody>
      </p:sp>
      <p:sp>
        <p:nvSpPr>
          <p:cNvPr id="34" name="Shape 32"/>
          <p:cNvSpPr/>
          <p:nvPr/>
        </p:nvSpPr>
        <p:spPr>
          <a:xfrm>
            <a:off x="795528" y="4059936"/>
            <a:ext cx="2743200" cy="219456"/>
          </a:xfrm>
          <a:prstGeom prst="rect">
            <a:avLst/>
          </a:prstGeom>
          <a:solidFill>
            <a:srgbClr val="F7F3EA"/>
          </a:solidFill>
          <a:ln w="6350">
            <a:solidFill>
              <a:srgbClr val="F7F3EA"/>
            </a:solidFill>
            <a:prstDash val="solid"/>
          </a:ln>
        </p:spPr>
      </p:sp>
      <p:sp>
        <p:nvSpPr>
          <p:cNvPr id="35" name="Shape 33"/>
          <p:cNvSpPr/>
          <p:nvPr/>
        </p:nvSpPr>
        <p:spPr>
          <a:xfrm>
            <a:off x="795528" y="4059936"/>
            <a:ext cx="822960" cy="219456"/>
          </a:xfrm>
          <a:prstGeom prst="rect">
            <a:avLst/>
          </a:prstGeom>
          <a:solidFill>
            <a:srgbClr val="3D5A80"/>
          </a:solidFill>
          <a:ln w="12700">
            <a:solidFill>
              <a:srgbClr val="3D5A80"/>
            </a:solidFill>
            <a:prstDash val="solid"/>
          </a:ln>
        </p:spPr>
      </p:sp>
      <p:sp>
        <p:nvSpPr>
          <p:cNvPr id="36" name="Text 34"/>
          <p:cNvSpPr/>
          <p:nvPr/>
        </p:nvSpPr>
        <p:spPr>
          <a:xfrm>
            <a:off x="365760" y="4306824"/>
            <a:ext cx="384048" cy="219456"/>
          </a:xfrm>
          <a:prstGeom prst="rect">
            <a:avLst/>
          </a:prstGeom>
          <a:noFill/>
          <a:ln/>
        </p:spPr>
        <p:txBody>
          <a:bodyPr wrap="square" lIns="0" tIns="0" rIns="0" bIns="0" rtlCol="0" anchor="ctr"/>
          <a:lstStyle/>
          <a:p>
            <a:pPr marL="0" indent="0" algn="ctr">
              <a:buNone/>
            </a:pPr>
            <a:r>
              <a:rPr lang="en-US" sz="1000" b="1" dirty="0">
                <a:solidFill>
                  <a:srgbClr val="1A1F36"/>
                </a:solidFill>
                <a:latin typeface="Consolas" pitchFamily="34" charset="0"/>
                <a:ea typeface="Consolas" pitchFamily="34" charset="-122"/>
                <a:cs typeface="Consolas" pitchFamily="34" charset="-120"/>
              </a:rPr>
              <a:t>"9"</a:t>
            </a:r>
            <a:endParaRPr lang="en-US" sz="1000" dirty="0"/>
          </a:p>
        </p:txBody>
      </p:sp>
      <p:sp>
        <p:nvSpPr>
          <p:cNvPr id="37" name="Shape 35"/>
          <p:cNvSpPr/>
          <p:nvPr/>
        </p:nvSpPr>
        <p:spPr>
          <a:xfrm>
            <a:off x="795528" y="4306824"/>
            <a:ext cx="2743200" cy="219456"/>
          </a:xfrm>
          <a:prstGeom prst="rect">
            <a:avLst/>
          </a:prstGeom>
          <a:solidFill>
            <a:srgbClr val="F7F3EA"/>
          </a:solidFill>
          <a:ln w="6350">
            <a:solidFill>
              <a:srgbClr val="F7F3EA"/>
            </a:solidFill>
            <a:prstDash val="solid"/>
          </a:ln>
        </p:spPr>
      </p:sp>
      <p:sp>
        <p:nvSpPr>
          <p:cNvPr id="38" name="Shape 36"/>
          <p:cNvSpPr/>
          <p:nvPr/>
        </p:nvSpPr>
        <p:spPr>
          <a:xfrm>
            <a:off x="795528" y="4306824"/>
            <a:ext cx="1645920" cy="219456"/>
          </a:xfrm>
          <a:prstGeom prst="rect">
            <a:avLst/>
          </a:prstGeom>
          <a:solidFill>
            <a:srgbClr val="B8975B"/>
          </a:solidFill>
          <a:ln w="12700">
            <a:solidFill>
              <a:srgbClr val="B8975B"/>
            </a:solidFill>
            <a:prstDash val="solid"/>
          </a:ln>
        </p:spPr>
      </p:sp>
      <p:sp>
        <p:nvSpPr>
          <p:cNvPr id="39" name="Shape 37"/>
          <p:cNvSpPr/>
          <p:nvPr/>
        </p:nvSpPr>
        <p:spPr>
          <a:xfrm>
            <a:off x="4754880" y="1508760"/>
            <a:ext cx="4069080" cy="3383280"/>
          </a:xfrm>
          <a:prstGeom prst="rect">
            <a:avLst/>
          </a:prstGeom>
          <a:solidFill>
            <a:srgbClr val="F7F3EA"/>
          </a:solidFill>
          <a:ln w="12700">
            <a:solidFill>
              <a:srgbClr val="CADCFC"/>
            </a:solidFill>
            <a:prstDash val="solid"/>
          </a:ln>
          <a:effectLst>
            <a:outerShdw blurRad="76200" dist="25400" dir="8100000" algn="bl" rotWithShape="0">
              <a:srgbClr val="1A1F36">
                <a:alpha val="12000"/>
              </a:srgbClr>
            </a:outerShdw>
          </a:effectLst>
        </p:spPr>
      </p:sp>
      <p:sp>
        <p:nvSpPr>
          <p:cNvPr id="40" name="Shape 38"/>
          <p:cNvSpPr/>
          <p:nvPr/>
        </p:nvSpPr>
        <p:spPr>
          <a:xfrm>
            <a:off x="4754880" y="1508760"/>
            <a:ext cx="4069080" cy="54864"/>
          </a:xfrm>
          <a:prstGeom prst="rect">
            <a:avLst/>
          </a:prstGeom>
          <a:solidFill>
            <a:srgbClr val="3D5A80"/>
          </a:solidFill>
          <a:ln w="12700">
            <a:solidFill>
              <a:srgbClr val="3D5A80"/>
            </a:solidFill>
            <a:prstDash val="solid"/>
          </a:ln>
        </p:spPr>
      </p:sp>
      <p:sp>
        <p:nvSpPr>
          <p:cNvPr id="41" name="Text 39"/>
          <p:cNvSpPr/>
          <p:nvPr/>
        </p:nvSpPr>
        <p:spPr>
          <a:xfrm>
            <a:off x="4892040" y="1572768"/>
            <a:ext cx="3794760" cy="292608"/>
          </a:xfrm>
          <a:prstGeom prst="rect">
            <a:avLst/>
          </a:prstGeom>
          <a:noFill/>
          <a:ln/>
        </p:spPr>
        <p:txBody>
          <a:bodyPr wrap="square" lIns="0" tIns="0" rIns="0" bIns="0" rtlCol="0" anchor="ctr"/>
          <a:lstStyle/>
          <a:p>
            <a:pPr marL="0" indent="0">
              <a:buNone/>
            </a:pPr>
            <a:r>
              <a:rPr lang="en-US" sz="1100" b="1" dirty="0">
                <a:solidFill>
                  <a:srgbClr val="3D5A80"/>
                </a:solidFill>
                <a:latin typeface="Calibri" pitchFamily="34" charset="0"/>
                <a:ea typeface="Calibri" pitchFamily="34" charset="-122"/>
                <a:cs typeface="Calibri" pitchFamily="34" charset="-120"/>
              </a:rPr>
              <a:t>AFTER masking odds  (only evens valid)</a:t>
            </a:r>
            <a:endParaRPr lang="en-US" sz="1100" dirty="0"/>
          </a:p>
        </p:txBody>
      </p:sp>
      <p:sp>
        <p:nvSpPr>
          <p:cNvPr id="42" name="Text 40"/>
          <p:cNvSpPr/>
          <p:nvPr/>
        </p:nvSpPr>
        <p:spPr>
          <a:xfrm>
            <a:off x="4892040" y="1828800"/>
            <a:ext cx="3794760" cy="228600"/>
          </a:xfrm>
          <a:prstGeom prst="rect">
            <a:avLst/>
          </a:prstGeom>
          <a:noFill/>
          <a:ln/>
        </p:spPr>
        <p:txBody>
          <a:bodyPr wrap="square" lIns="0" tIns="0" rIns="0" bIns="0" rtlCol="0" anchor="ctr"/>
          <a:lstStyle/>
          <a:p>
            <a:pPr marL="0" indent="0">
              <a:buNone/>
            </a:pPr>
            <a:r>
              <a:rPr lang="en-US" sz="1000" i="1" dirty="0">
                <a:solidFill>
                  <a:srgbClr val="C0392B"/>
                </a:solidFill>
                <a:latin typeface="Calibri" pitchFamily="34" charset="0"/>
                <a:ea typeface="Calibri" pitchFamily="34" charset="-122"/>
                <a:cs typeface="Calibri" pitchFamily="34" charset="-120"/>
              </a:rPr>
              <a:t>Odd digits 1,3,5,7,9 set to −∞</a:t>
            </a:r>
            <a:endParaRPr lang="en-US" sz="1000" dirty="0"/>
          </a:p>
        </p:txBody>
      </p:sp>
      <p:sp>
        <p:nvSpPr>
          <p:cNvPr id="43" name="Text 41"/>
          <p:cNvSpPr/>
          <p:nvPr/>
        </p:nvSpPr>
        <p:spPr>
          <a:xfrm>
            <a:off x="4754880" y="2084832"/>
            <a:ext cx="384048" cy="219456"/>
          </a:xfrm>
          <a:prstGeom prst="rect">
            <a:avLst/>
          </a:prstGeom>
          <a:noFill/>
          <a:ln/>
        </p:spPr>
        <p:txBody>
          <a:bodyPr wrap="square" lIns="0" tIns="0" rIns="0" bIns="0" rtlCol="0" anchor="ctr"/>
          <a:lstStyle/>
          <a:p>
            <a:pPr marL="0" indent="0" algn="ctr">
              <a:buNone/>
            </a:pPr>
            <a:r>
              <a:rPr lang="en-US" sz="1000" b="1" dirty="0">
                <a:solidFill>
                  <a:srgbClr val="1A1F36"/>
                </a:solidFill>
                <a:latin typeface="Consolas" pitchFamily="34" charset="0"/>
                <a:ea typeface="Consolas" pitchFamily="34" charset="-122"/>
                <a:cs typeface="Consolas" pitchFamily="34" charset="-120"/>
              </a:rPr>
              <a:t>"0"</a:t>
            </a:r>
            <a:endParaRPr lang="en-US" sz="1000" dirty="0"/>
          </a:p>
        </p:txBody>
      </p:sp>
      <p:sp>
        <p:nvSpPr>
          <p:cNvPr id="44" name="Shape 42"/>
          <p:cNvSpPr/>
          <p:nvPr/>
        </p:nvSpPr>
        <p:spPr>
          <a:xfrm>
            <a:off x="5184648" y="2084832"/>
            <a:ext cx="2743200" cy="219456"/>
          </a:xfrm>
          <a:prstGeom prst="rect">
            <a:avLst/>
          </a:prstGeom>
          <a:solidFill>
            <a:srgbClr val="F7F3EA"/>
          </a:solidFill>
          <a:ln w="6350">
            <a:solidFill>
              <a:srgbClr val="F7F3EA"/>
            </a:solidFill>
            <a:prstDash val="solid"/>
          </a:ln>
        </p:spPr>
      </p:sp>
      <p:sp>
        <p:nvSpPr>
          <p:cNvPr id="45" name="Shape 43"/>
          <p:cNvSpPr/>
          <p:nvPr/>
        </p:nvSpPr>
        <p:spPr>
          <a:xfrm>
            <a:off x="5184648" y="2084832"/>
            <a:ext cx="1371600" cy="219456"/>
          </a:xfrm>
          <a:prstGeom prst="rect">
            <a:avLst/>
          </a:prstGeom>
          <a:solidFill>
            <a:srgbClr val="3D5A80"/>
          </a:solidFill>
          <a:ln w="12700">
            <a:solidFill>
              <a:srgbClr val="3D5A80"/>
            </a:solidFill>
            <a:prstDash val="solid"/>
          </a:ln>
        </p:spPr>
      </p:sp>
      <p:sp>
        <p:nvSpPr>
          <p:cNvPr id="46" name="Text 44"/>
          <p:cNvSpPr/>
          <p:nvPr/>
        </p:nvSpPr>
        <p:spPr>
          <a:xfrm>
            <a:off x="4754880" y="2331720"/>
            <a:ext cx="384048" cy="219456"/>
          </a:xfrm>
          <a:prstGeom prst="rect">
            <a:avLst/>
          </a:prstGeom>
          <a:noFill/>
          <a:ln/>
        </p:spPr>
        <p:txBody>
          <a:bodyPr wrap="square" lIns="0" tIns="0" rIns="0" bIns="0" rtlCol="0" anchor="ctr"/>
          <a:lstStyle/>
          <a:p>
            <a:pPr marL="0" indent="0" algn="ctr">
              <a:buNone/>
            </a:pPr>
            <a:r>
              <a:rPr lang="en-US" sz="1000" b="1" dirty="0">
                <a:solidFill>
                  <a:srgbClr val="C0392B"/>
                </a:solidFill>
                <a:latin typeface="Consolas" pitchFamily="34" charset="0"/>
                <a:ea typeface="Consolas" pitchFamily="34" charset="-122"/>
                <a:cs typeface="Consolas" pitchFamily="34" charset="-120"/>
              </a:rPr>
              <a:t>"1"</a:t>
            </a:r>
            <a:endParaRPr lang="en-US" sz="1000" dirty="0"/>
          </a:p>
        </p:txBody>
      </p:sp>
      <p:sp>
        <p:nvSpPr>
          <p:cNvPr id="47" name="Shape 45"/>
          <p:cNvSpPr/>
          <p:nvPr/>
        </p:nvSpPr>
        <p:spPr>
          <a:xfrm>
            <a:off x="5184648" y="2331720"/>
            <a:ext cx="2743200" cy="219456"/>
          </a:xfrm>
          <a:prstGeom prst="rect">
            <a:avLst/>
          </a:prstGeom>
          <a:solidFill>
            <a:srgbClr val="F7F3EA"/>
          </a:solidFill>
          <a:ln w="6350">
            <a:solidFill>
              <a:srgbClr val="F7F3EA"/>
            </a:solidFill>
            <a:prstDash val="solid"/>
          </a:ln>
        </p:spPr>
      </p:sp>
      <p:sp>
        <p:nvSpPr>
          <p:cNvPr id="48" name="Shape 46"/>
          <p:cNvSpPr/>
          <p:nvPr/>
        </p:nvSpPr>
        <p:spPr>
          <a:xfrm>
            <a:off x="5184648" y="2331720"/>
            <a:ext cx="82296" cy="219456"/>
          </a:xfrm>
          <a:prstGeom prst="rect">
            <a:avLst/>
          </a:prstGeom>
          <a:solidFill>
            <a:srgbClr val="FDEDEC"/>
          </a:solidFill>
          <a:ln w="12700">
            <a:solidFill>
              <a:srgbClr val="FDEDEC"/>
            </a:solidFill>
            <a:prstDash val="solid"/>
          </a:ln>
        </p:spPr>
      </p:sp>
      <p:sp>
        <p:nvSpPr>
          <p:cNvPr id="49" name="Text 47"/>
          <p:cNvSpPr/>
          <p:nvPr/>
        </p:nvSpPr>
        <p:spPr>
          <a:xfrm>
            <a:off x="5230368" y="2331720"/>
            <a:ext cx="365760" cy="219456"/>
          </a:xfrm>
          <a:prstGeom prst="rect">
            <a:avLst/>
          </a:prstGeom>
          <a:noFill/>
          <a:ln/>
        </p:spPr>
        <p:txBody>
          <a:bodyPr wrap="square" lIns="0" tIns="0" rIns="0" bIns="0" rtlCol="0" anchor="ctr"/>
          <a:lstStyle/>
          <a:p>
            <a:pPr marL="0" indent="0">
              <a:buNone/>
            </a:pPr>
            <a:r>
              <a:rPr lang="en-US" sz="850" dirty="0">
                <a:solidFill>
                  <a:srgbClr val="C0392B"/>
                </a:solidFill>
                <a:latin typeface="Calibri" pitchFamily="34" charset="0"/>
                <a:ea typeface="Calibri" pitchFamily="34" charset="-122"/>
                <a:cs typeface="Calibri" pitchFamily="34" charset="-120"/>
              </a:rPr>
              <a:t>−∞</a:t>
            </a:r>
            <a:endParaRPr lang="en-US" sz="850" dirty="0"/>
          </a:p>
        </p:txBody>
      </p:sp>
      <p:sp>
        <p:nvSpPr>
          <p:cNvPr id="50" name="Text 48"/>
          <p:cNvSpPr/>
          <p:nvPr/>
        </p:nvSpPr>
        <p:spPr>
          <a:xfrm>
            <a:off x="4754880" y="2578608"/>
            <a:ext cx="384048" cy="219456"/>
          </a:xfrm>
          <a:prstGeom prst="rect">
            <a:avLst/>
          </a:prstGeom>
          <a:noFill/>
          <a:ln/>
        </p:spPr>
        <p:txBody>
          <a:bodyPr wrap="square" lIns="0" tIns="0" rIns="0" bIns="0" rtlCol="0" anchor="ctr"/>
          <a:lstStyle/>
          <a:p>
            <a:pPr marL="0" indent="0" algn="ctr">
              <a:buNone/>
            </a:pPr>
            <a:r>
              <a:rPr lang="en-US" sz="1000" b="1" dirty="0">
                <a:solidFill>
                  <a:srgbClr val="1A1F36"/>
                </a:solidFill>
                <a:latin typeface="Consolas" pitchFamily="34" charset="0"/>
                <a:ea typeface="Consolas" pitchFamily="34" charset="-122"/>
                <a:cs typeface="Consolas" pitchFamily="34" charset="-120"/>
              </a:rPr>
              <a:t>"2"</a:t>
            </a:r>
            <a:endParaRPr lang="en-US" sz="1000" dirty="0"/>
          </a:p>
        </p:txBody>
      </p:sp>
      <p:sp>
        <p:nvSpPr>
          <p:cNvPr id="51" name="Shape 49"/>
          <p:cNvSpPr/>
          <p:nvPr/>
        </p:nvSpPr>
        <p:spPr>
          <a:xfrm>
            <a:off x="5184648" y="2578608"/>
            <a:ext cx="2743200" cy="219456"/>
          </a:xfrm>
          <a:prstGeom prst="rect">
            <a:avLst/>
          </a:prstGeom>
          <a:solidFill>
            <a:srgbClr val="F7F3EA"/>
          </a:solidFill>
          <a:ln w="6350">
            <a:solidFill>
              <a:srgbClr val="F7F3EA"/>
            </a:solidFill>
            <a:prstDash val="solid"/>
          </a:ln>
        </p:spPr>
      </p:sp>
      <p:sp>
        <p:nvSpPr>
          <p:cNvPr id="52" name="Shape 50"/>
          <p:cNvSpPr/>
          <p:nvPr/>
        </p:nvSpPr>
        <p:spPr>
          <a:xfrm>
            <a:off x="5184648" y="2578608"/>
            <a:ext cx="1920240" cy="219456"/>
          </a:xfrm>
          <a:prstGeom prst="rect">
            <a:avLst/>
          </a:prstGeom>
          <a:solidFill>
            <a:srgbClr val="B8975B"/>
          </a:solidFill>
          <a:ln w="12700">
            <a:solidFill>
              <a:srgbClr val="B8975B"/>
            </a:solidFill>
            <a:prstDash val="solid"/>
          </a:ln>
        </p:spPr>
      </p:sp>
      <p:sp>
        <p:nvSpPr>
          <p:cNvPr id="53" name="Text 51"/>
          <p:cNvSpPr/>
          <p:nvPr/>
        </p:nvSpPr>
        <p:spPr>
          <a:xfrm>
            <a:off x="4754880" y="2825496"/>
            <a:ext cx="384048" cy="219456"/>
          </a:xfrm>
          <a:prstGeom prst="rect">
            <a:avLst/>
          </a:prstGeom>
          <a:noFill/>
          <a:ln/>
        </p:spPr>
        <p:txBody>
          <a:bodyPr wrap="square" lIns="0" tIns="0" rIns="0" bIns="0" rtlCol="0" anchor="ctr"/>
          <a:lstStyle/>
          <a:p>
            <a:pPr marL="0" indent="0" algn="ctr">
              <a:buNone/>
            </a:pPr>
            <a:r>
              <a:rPr lang="en-US" sz="1000" b="1" dirty="0">
                <a:solidFill>
                  <a:srgbClr val="C0392B"/>
                </a:solidFill>
                <a:latin typeface="Consolas" pitchFamily="34" charset="0"/>
                <a:ea typeface="Consolas" pitchFamily="34" charset="-122"/>
                <a:cs typeface="Consolas" pitchFamily="34" charset="-120"/>
              </a:rPr>
              <a:t>"3"</a:t>
            </a:r>
            <a:endParaRPr lang="en-US" sz="1000" dirty="0"/>
          </a:p>
        </p:txBody>
      </p:sp>
      <p:sp>
        <p:nvSpPr>
          <p:cNvPr id="54" name="Shape 52"/>
          <p:cNvSpPr/>
          <p:nvPr/>
        </p:nvSpPr>
        <p:spPr>
          <a:xfrm>
            <a:off x="5184648" y="2825496"/>
            <a:ext cx="2743200" cy="219456"/>
          </a:xfrm>
          <a:prstGeom prst="rect">
            <a:avLst/>
          </a:prstGeom>
          <a:solidFill>
            <a:srgbClr val="F7F3EA"/>
          </a:solidFill>
          <a:ln w="6350">
            <a:solidFill>
              <a:srgbClr val="F7F3EA"/>
            </a:solidFill>
            <a:prstDash val="solid"/>
          </a:ln>
        </p:spPr>
      </p:sp>
      <p:sp>
        <p:nvSpPr>
          <p:cNvPr id="55" name="Shape 53"/>
          <p:cNvSpPr/>
          <p:nvPr/>
        </p:nvSpPr>
        <p:spPr>
          <a:xfrm>
            <a:off x="5184648" y="2825496"/>
            <a:ext cx="82296" cy="219456"/>
          </a:xfrm>
          <a:prstGeom prst="rect">
            <a:avLst/>
          </a:prstGeom>
          <a:solidFill>
            <a:srgbClr val="FDEDEC"/>
          </a:solidFill>
          <a:ln w="12700">
            <a:solidFill>
              <a:srgbClr val="FDEDEC"/>
            </a:solidFill>
            <a:prstDash val="solid"/>
          </a:ln>
        </p:spPr>
      </p:sp>
      <p:sp>
        <p:nvSpPr>
          <p:cNvPr id="56" name="Text 54"/>
          <p:cNvSpPr/>
          <p:nvPr/>
        </p:nvSpPr>
        <p:spPr>
          <a:xfrm>
            <a:off x="5230368" y="2825496"/>
            <a:ext cx="365760" cy="219456"/>
          </a:xfrm>
          <a:prstGeom prst="rect">
            <a:avLst/>
          </a:prstGeom>
          <a:noFill/>
          <a:ln/>
        </p:spPr>
        <p:txBody>
          <a:bodyPr wrap="square" lIns="0" tIns="0" rIns="0" bIns="0" rtlCol="0" anchor="ctr"/>
          <a:lstStyle/>
          <a:p>
            <a:pPr marL="0" indent="0">
              <a:buNone/>
            </a:pPr>
            <a:r>
              <a:rPr lang="en-US" sz="850" dirty="0">
                <a:solidFill>
                  <a:srgbClr val="C0392B"/>
                </a:solidFill>
                <a:latin typeface="Calibri" pitchFamily="34" charset="0"/>
                <a:ea typeface="Calibri" pitchFamily="34" charset="-122"/>
                <a:cs typeface="Calibri" pitchFamily="34" charset="-120"/>
              </a:rPr>
              <a:t>−∞</a:t>
            </a:r>
            <a:endParaRPr lang="en-US" sz="850" dirty="0"/>
          </a:p>
        </p:txBody>
      </p:sp>
      <p:sp>
        <p:nvSpPr>
          <p:cNvPr id="57" name="Text 55"/>
          <p:cNvSpPr/>
          <p:nvPr/>
        </p:nvSpPr>
        <p:spPr>
          <a:xfrm>
            <a:off x="4754880" y="3072384"/>
            <a:ext cx="384048" cy="219456"/>
          </a:xfrm>
          <a:prstGeom prst="rect">
            <a:avLst/>
          </a:prstGeom>
          <a:noFill/>
          <a:ln/>
        </p:spPr>
        <p:txBody>
          <a:bodyPr wrap="square" lIns="0" tIns="0" rIns="0" bIns="0" rtlCol="0" anchor="ctr"/>
          <a:lstStyle/>
          <a:p>
            <a:pPr marL="0" indent="0" algn="ctr">
              <a:buNone/>
            </a:pPr>
            <a:r>
              <a:rPr lang="en-US" sz="1000" b="1" dirty="0">
                <a:solidFill>
                  <a:srgbClr val="1A1F36"/>
                </a:solidFill>
                <a:latin typeface="Consolas" pitchFamily="34" charset="0"/>
                <a:ea typeface="Consolas" pitchFamily="34" charset="-122"/>
                <a:cs typeface="Consolas" pitchFamily="34" charset="-120"/>
              </a:rPr>
              <a:t>"4"</a:t>
            </a:r>
            <a:endParaRPr lang="en-US" sz="1000" dirty="0"/>
          </a:p>
        </p:txBody>
      </p:sp>
      <p:sp>
        <p:nvSpPr>
          <p:cNvPr id="58" name="Shape 56"/>
          <p:cNvSpPr/>
          <p:nvPr/>
        </p:nvSpPr>
        <p:spPr>
          <a:xfrm>
            <a:off x="5184648" y="3072384"/>
            <a:ext cx="2743200" cy="219456"/>
          </a:xfrm>
          <a:prstGeom prst="rect">
            <a:avLst/>
          </a:prstGeom>
          <a:solidFill>
            <a:srgbClr val="F7F3EA"/>
          </a:solidFill>
          <a:ln w="6350">
            <a:solidFill>
              <a:srgbClr val="F7F3EA"/>
            </a:solidFill>
            <a:prstDash val="solid"/>
          </a:ln>
        </p:spPr>
      </p:sp>
      <p:sp>
        <p:nvSpPr>
          <p:cNvPr id="59" name="Shape 57"/>
          <p:cNvSpPr/>
          <p:nvPr/>
        </p:nvSpPr>
        <p:spPr>
          <a:xfrm>
            <a:off x="5184648" y="3072384"/>
            <a:ext cx="2194560" cy="219456"/>
          </a:xfrm>
          <a:prstGeom prst="rect">
            <a:avLst/>
          </a:prstGeom>
          <a:solidFill>
            <a:srgbClr val="B8975B"/>
          </a:solidFill>
          <a:ln w="12700">
            <a:solidFill>
              <a:srgbClr val="B8975B"/>
            </a:solidFill>
            <a:prstDash val="solid"/>
          </a:ln>
        </p:spPr>
      </p:sp>
      <p:sp>
        <p:nvSpPr>
          <p:cNvPr id="60" name="Text 58"/>
          <p:cNvSpPr/>
          <p:nvPr/>
        </p:nvSpPr>
        <p:spPr>
          <a:xfrm>
            <a:off x="4754880" y="3319272"/>
            <a:ext cx="384048" cy="219456"/>
          </a:xfrm>
          <a:prstGeom prst="rect">
            <a:avLst/>
          </a:prstGeom>
          <a:noFill/>
          <a:ln/>
        </p:spPr>
        <p:txBody>
          <a:bodyPr wrap="square" lIns="0" tIns="0" rIns="0" bIns="0" rtlCol="0" anchor="ctr"/>
          <a:lstStyle/>
          <a:p>
            <a:pPr marL="0" indent="0" algn="ctr">
              <a:buNone/>
            </a:pPr>
            <a:r>
              <a:rPr lang="en-US" sz="1000" b="1" dirty="0">
                <a:solidFill>
                  <a:srgbClr val="C0392B"/>
                </a:solidFill>
                <a:latin typeface="Consolas" pitchFamily="34" charset="0"/>
                <a:ea typeface="Consolas" pitchFamily="34" charset="-122"/>
                <a:cs typeface="Consolas" pitchFamily="34" charset="-120"/>
              </a:rPr>
              <a:t>"5"</a:t>
            </a:r>
            <a:endParaRPr lang="en-US" sz="1000" dirty="0"/>
          </a:p>
        </p:txBody>
      </p:sp>
      <p:sp>
        <p:nvSpPr>
          <p:cNvPr id="61" name="Shape 59"/>
          <p:cNvSpPr/>
          <p:nvPr/>
        </p:nvSpPr>
        <p:spPr>
          <a:xfrm>
            <a:off x="5184648" y="3319272"/>
            <a:ext cx="2743200" cy="219456"/>
          </a:xfrm>
          <a:prstGeom prst="rect">
            <a:avLst/>
          </a:prstGeom>
          <a:solidFill>
            <a:srgbClr val="F7F3EA"/>
          </a:solidFill>
          <a:ln w="6350">
            <a:solidFill>
              <a:srgbClr val="F7F3EA"/>
            </a:solidFill>
            <a:prstDash val="solid"/>
          </a:ln>
        </p:spPr>
      </p:sp>
      <p:sp>
        <p:nvSpPr>
          <p:cNvPr id="62" name="Shape 60"/>
          <p:cNvSpPr/>
          <p:nvPr/>
        </p:nvSpPr>
        <p:spPr>
          <a:xfrm>
            <a:off x="5184648" y="3319272"/>
            <a:ext cx="82296" cy="219456"/>
          </a:xfrm>
          <a:prstGeom prst="rect">
            <a:avLst/>
          </a:prstGeom>
          <a:solidFill>
            <a:srgbClr val="FDEDEC"/>
          </a:solidFill>
          <a:ln w="12700">
            <a:solidFill>
              <a:srgbClr val="FDEDEC"/>
            </a:solidFill>
            <a:prstDash val="solid"/>
          </a:ln>
        </p:spPr>
      </p:sp>
      <p:sp>
        <p:nvSpPr>
          <p:cNvPr id="63" name="Text 61"/>
          <p:cNvSpPr/>
          <p:nvPr/>
        </p:nvSpPr>
        <p:spPr>
          <a:xfrm>
            <a:off x="5230368" y="3319272"/>
            <a:ext cx="365760" cy="219456"/>
          </a:xfrm>
          <a:prstGeom prst="rect">
            <a:avLst/>
          </a:prstGeom>
          <a:noFill/>
          <a:ln/>
        </p:spPr>
        <p:txBody>
          <a:bodyPr wrap="square" lIns="0" tIns="0" rIns="0" bIns="0" rtlCol="0" anchor="ctr"/>
          <a:lstStyle/>
          <a:p>
            <a:pPr marL="0" indent="0">
              <a:buNone/>
            </a:pPr>
            <a:r>
              <a:rPr lang="en-US" sz="850" dirty="0">
                <a:solidFill>
                  <a:srgbClr val="C0392B"/>
                </a:solidFill>
                <a:latin typeface="Calibri" pitchFamily="34" charset="0"/>
                <a:ea typeface="Calibri" pitchFamily="34" charset="-122"/>
                <a:cs typeface="Calibri" pitchFamily="34" charset="-120"/>
              </a:rPr>
              <a:t>−∞</a:t>
            </a:r>
            <a:endParaRPr lang="en-US" sz="850" dirty="0"/>
          </a:p>
        </p:txBody>
      </p:sp>
      <p:sp>
        <p:nvSpPr>
          <p:cNvPr id="64" name="Text 62"/>
          <p:cNvSpPr/>
          <p:nvPr/>
        </p:nvSpPr>
        <p:spPr>
          <a:xfrm>
            <a:off x="4754880" y="3566160"/>
            <a:ext cx="384048" cy="219456"/>
          </a:xfrm>
          <a:prstGeom prst="rect">
            <a:avLst/>
          </a:prstGeom>
          <a:noFill/>
          <a:ln/>
        </p:spPr>
        <p:txBody>
          <a:bodyPr wrap="square" lIns="0" tIns="0" rIns="0" bIns="0" rtlCol="0" anchor="ctr"/>
          <a:lstStyle/>
          <a:p>
            <a:pPr marL="0" indent="0" algn="ctr">
              <a:buNone/>
            </a:pPr>
            <a:r>
              <a:rPr lang="en-US" sz="1000" b="1" dirty="0">
                <a:solidFill>
                  <a:srgbClr val="1A1F36"/>
                </a:solidFill>
                <a:latin typeface="Consolas" pitchFamily="34" charset="0"/>
                <a:ea typeface="Consolas" pitchFamily="34" charset="-122"/>
                <a:cs typeface="Consolas" pitchFamily="34" charset="-120"/>
              </a:rPr>
              <a:t>"6"</a:t>
            </a:r>
            <a:endParaRPr lang="en-US" sz="1000" dirty="0"/>
          </a:p>
        </p:txBody>
      </p:sp>
      <p:sp>
        <p:nvSpPr>
          <p:cNvPr id="65" name="Shape 63"/>
          <p:cNvSpPr/>
          <p:nvPr/>
        </p:nvSpPr>
        <p:spPr>
          <a:xfrm>
            <a:off x="5184648" y="3566160"/>
            <a:ext cx="2743200" cy="219456"/>
          </a:xfrm>
          <a:prstGeom prst="rect">
            <a:avLst/>
          </a:prstGeom>
          <a:solidFill>
            <a:srgbClr val="F7F3EA"/>
          </a:solidFill>
          <a:ln w="6350">
            <a:solidFill>
              <a:srgbClr val="F7F3EA"/>
            </a:solidFill>
            <a:prstDash val="solid"/>
          </a:ln>
        </p:spPr>
      </p:sp>
      <p:sp>
        <p:nvSpPr>
          <p:cNvPr id="66" name="Shape 64"/>
          <p:cNvSpPr/>
          <p:nvPr/>
        </p:nvSpPr>
        <p:spPr>
          <a:xfrm>
            <a:off x="5184648" y="3566160"/>
            <a:ext cx="1097280" cy="219456"/>
          </a:xfrm>
          <a:prstGeom prst="rect">
            <a:avLst/>
          </a:prstGeom>
          <a:solidFill>
            <a:srgbClr val="3D5A80"/>
          </a:solidFill>
          <a:ln w="12700">
            <a:solidFill>
              <a:srgbClr val="3D5A80"/>
            </a:solidFill>
            <a:prstDash val="solid"/>
          </a:ln>
        </p:spPr>
      </p:sp>
      <p:sp>
        <p:nvSpPr>
          <p:cNvPr id="67" name="Text 65"/>
          <p:cNvSpPr/>
          <p:nvPr/>
        </p:nvSpPr>
        <p:spPr>
          <a:xfrm>
            <a:off x="4754880" y="3813048"/>
            <a:ext cx="384048" cy="219456"/>
          </a:xfrm>
          <a:prstGeom prst="rect">
            <a:avLst/>
          </a:prstGeom>
          <a:noFill/>
          <a:ln/>
        </p:spPr>
        <p:txBody>
          <a:bodyPr wrap="square" lIns="0" tIns="0" rIns="0" bIns="0" rtlCol="0" anchor="ctr"/>
          <a:lstStyle/>
          <a:p>
            <a:pPr marL="0" indent="0" algn="ctr">
              <a:buNone/>
            </a:pPr>
            <a:r>
              <a:rPr lang="en-US" sz="1000" b="1" dirty="0">
                <a:solidFill>
                  <a:srgbClr val="C0392B"/>
                </a:solidFill>
                <a:latin typeface="Consolas" pitchFamily="34" charset="0"/>
                <a:ea typeface="Consolas" pitchFamily="34" charset="-122"/>
                <a:cs typeface="Consolas" pitchFamily="34" charset="-120"/>
              </a:rPr>
              <a:t>"7"</a:t>
            </a:r>
            <a:endParaRPr lang="en-US" sz="1000" dirty="0"/>
          </a:p>
        </p:txBody>
      </p:sp>
      <p:sp>
        <p:nvSpPr>
          <p:cNvPr id="68" name="Shape 66"/>
          <p:cNvSpPr/>
          <p:nvPr/>
        </p:nvSpPr>
        <p:spPr>
          <a:xfrm>
            <a:off x="5184648" y="3813048"/>
            <a:ext cx="2743200" cy="219456"/>
          </a:xfrm>
          <a:prstGeom prst="rect">
            <a:avLst/>
          </a:prstGeom>
          <a:solidFill>
            <a:srgbClr val="F7F3EA"/>
          </a:solidFill>
          <a:ln w="6350">
            <a:solidFill>
              <a:srgbClr val="F7F3EA"/>
            </a:solidFill>
            <a:prstDash val="solid"/>
          </a:ln>
        </p:spPr>
      </p:sp>
      <p:sp>
        <p:nvSpPr>
          <p:cNvPr id="69" name="Shape 67"/>
          <p:cNvSpPr/>
          <p:nvPr/>
        </p:nvSpPr>
        <p:spPr>
          <a:xfrm>
            <a:off x="5184648" y="3813048"/>
            <a:ext cx="82296" cy="219456"/>
          </a:xfrm>
          <a:prstGeom prst="rect">
            <a:avLst/>
          </a:prstGeom>
          <a:solidFill>
            <a:srgbClr val="FDEDEC"/>
          </a:solidFill>
          <a:ln w="12700">
            <a:solidFill>
              <a:srgbClr val="FDEDEC"/>
            </a:solidFill>
            <a:prstDash val="solid"/>
          </a:ln>
        </p:spPr>
      </p:sp>
      <p:sp>
        <p:nvSpPr>
          <p:cNvPr id="70" name="Text 68"/>
          <p:cNvSpPr/>
          <p:nvPr/>
        </p:nvSpPr>
        <p:spPr>
          <a:xfrm>
            <a:off x="5230368" y="3813048"/>
            <a:ext cx="365760" cy="219456"/>
          </a:xfrm>
          <a:prstGeom prst="rect">
            <a:avLst/>
          </a:prstGeom>
          <a:noFill/>
          <a:ln/>
        </p:spPr>
        <p:txBody>
          <a:bodyPr wrap="square" lIns="0" tIns="0" rIns="0" bIns="0" rtlCol="0" anchor="ctr"/>
          <a:lstStyle/>
          <a:p>
            <a:pPr marL="0" indent="0">
              <a:buNone/>
            </a:pPr>
            <a:r>
              <a:rPr lang="en-US" sz="850" dirty="0">
                <a:solidFill>
                  <a:srgbClr val="C0392B"/>
                </a:solidFill>
                <a:latin typeface="Calibri" pitchFamily="34" charset="0"/>
                <a:ea typeface="Calibri" pitchFamily="34" charset="-122"/>
                <a:cs typeface="Calibri" pitchFamily="34" charset="-120"/>
              </a:rPr>
              <a:t>−∞</a:t>
            </a:r>
            <a:endParaRPr lang="en-US" sz="850" dirty="0"/>
          </a:p>
        </p:txBody>
      </p:sp>
      <p:sp>
        <p:nvSpPr>
          <p:cNvPr id="71" name="Text 69"/>
          <p:cNvSpPr/>
          <p:nvPr/>
        </p:nvSpPr>
        <p:spPr>
          <a:xfrm>
            <a:off x="4754880" y="4059936"/>
            <a:ext cx="384048" cy="219456"/>
          </a:xfrm>
          <a:prstGeom prst="rect">
            <a:avLst/>
          </a:prstGeom>
          <a:noFill/>
          <a:ln/>
        </p:spPr>
        <p:txBody>
          <a:bodyPr wrap="square" lIns="0" tIns="0" rIns="0" bIns="0" rtlCol="0" anchor="ctr"/>
          <a:lstStyle/>
          <a:p>
            <a:pPr marL="0" indent="0" algn="ctr">
              <a:buNone/>
            </a:pPr>
            <a:r>
              <a:rPr lang="en-US" sz="1000" b="1" dirty="0">
                <a:solidFill>
                  <a:srgbClr val="1A1F36"/>
                </a:solidFill>
                <a:latin typeface="Consolas" pitchFamily="34" charset="0"/>
                <a:ea typeface="Consolas" pitchFamily="34" charset="-122"/>
                <a:cs typeface="Consolas" pitchFamily="34" charset="-120"/>
              </a:rPr>
              <a:t>"8"</a:t>
            </a:r>
            <a:endParaRPr lang="en-US" sz="1000" dirty="0"/>
          </a:p>
        </p:txBody>
      </p:sp>
      <p:sp>
        <p:nvSpPr>
          <p:cNvPr id="72" name="Shape 70"/>
          <p:cNvSpPr/>
          <p:nvPr/>
        </p:nvSpPr>
        <p:spPr>
          <a:xfrm>
            <a:off x="5184648" y="4059936"/>
            <a:ext cx="2743200" cy="219456"/>
          </a:xfrm>
          <a:prstGeom prst="rect">
            <a:avLst/>
          </a:prstGeom>
          <a:solidFill>
            <a:srgbClr val="F7F3EA"/>
          </a:solidFill>
          <a:ln w="6350">
            <a:solidFill>
              <a:srgbClr val="F7F3EA"/>
            </a:solidFill>
            <a:prstDash val="solid"/>
          </a:ln>
        </p:spPr>
      </p:sp>
      <p:sp>
        <p:nvSpPr>
          <p:cNvPr id="73" name="Shape 71"/>
          <p:cNvSpPr/>
          <p:nvPr/>
        </p:nvSpPr>
        <p:spPr>
          <a:xfrm>
            <a:off x="5184648" y="4059936"/>
            <a:ext cx="822960" cy="219456"/>
          </a:xfrm>
          <a:prstGeom prst="rect">
            <a:avLst/>
          </a:prstGeom>
          <a:solidFill>
            <a:srgbClr val="3D5A80"/>
          </a:solidFill>
          <a:ln w="12700">
            <a:solidFill>
              <a:srgbClr val="3D5A80"/>
            </a:solidFill>
            <a:prstDash val="solid"/>
          </a:ln>
        </p:spPr>
      </p:sp>
      <p:sp>
        <p:nvSpPr>
          <p:cNvPr id="74" name="Text 72"/>
          <p:cNvSpPr/>
          <p:nvPr/>
        </p:nvSpPr>
        <p:spPr>
          <a:xfrm>
            <a:off x="4754880" y="4306824"/>
            <a:ext cx="384048" cy="219456"/>
          </a:xfrm>
          <a:prstGeom prst="rect">
            <a:avLst/>
          </a:prstGeom>
          <a:noFill/>
          <a:ln/>
        </p:spPr>
        <p:txBody>
          <a:bodyPr wrap="square" lIns="0" tIns="0" rIns="0" bIns="0" rtlCol="0" anchor="ctr"/>
          <a:lstStyle/>
          <a:p>
            <a:pPr marL="0" indent="0" algn="ctr">
              <a:buNone/>
            </a:pPr>
            <a:r>
              <a:rPr lang="en-US" sz="1000" b="1" dirty="0">
                <a:solidFill>
                  <a:srgbClr val="C0392B"/>
                </a:solidFill>
                <a:latin typeface="Consolas" pitchFamily="34" charset="0"/>
                <a:ea typeface="Consolas" pitchFamily="34" charset="-122"/>
                <a:cs typeface="Consolas" pitchFamily="34" charset="-120"/>
              </a:rPr>
              <a:t>"9"</a:t>
            </a:r>
            <a:endParaRPr lang="en-US" sz="1000" dirty="0"/>
          </a:p>
        </p:txBody>
      </p:sp>
      <p:sp>
        <p:nvSpPr>
          <p:cNvPr id="75" name="Shape 73"/>
          <p:cNvSpPr/>
          <p:nvPr/>
        </p:nvSpPr>
        <p:spPr>
          <a:xfrm>
            <a:off x="5184648" y="4306824"/>
            <a:ext cx="2743200" cy="219456"/>
          </a:xfrm>
          <a:prstGeom prst="rect">
            <a:avLst/>
          </a:prstGeom>
          <a:solidFill>
            <a:srgbClr val="F7F3EA"/>
          </a:solidFill>
          <a:ln w="6350">
            <a:solidFill>
              <a:srgbClr val="F7F3EA"/>
            </a:solidFill>
            <a:prstDash val="solid"/>
          </a:ln>
        </p:spPr>
      </p:sp>
      <p:sp>
        <p:nvSpPr>
          <p:cNvPr id="76" name="Shape 74"/>
          <p:cNvSpPr/>
          <p:nvPr/>
        </p:nvSpPr>
        <p:spPr>
          <a:xfrm>
            <a:off x="5184648" y="4306824"/>
            <a:ext cx="82296" cy="219456"/>
          </a:xfrm>
          <a:prstGeom prst="rect">
            <a:avLst/>
          </a:prstGeom>
          <a:solidFill>
            <a:srgbClr val="FDEDEC"/>
          </a:solidFill>
          <a:ln w="12700">
            <a:solidFill>
              <a:srgbClr val="FDEDEC"/>
            </a:solidFill>
            <a:prstDash val="solid"/>
          </a:ln>
        </p:spPr>
      </p:sp>
      <p:sp>
        <p:nvSpPr>
          <p:cNvPr id="77" name="Text 75"/>
          <p:cNvSpPr/>
          <p:nvPr/>
        </p:nvSpPr>
        <p:spPr>
          <a:xfrm>
            <a:off x="5230368" y="4306824"/>
            <a:ext cx="365760" cy="219456"/>
          </a:xfrm>
          <a:prstGeom prst="rect">
            <a:avLst/>
          </a:prstGeom>
          <a:noFill/>
          <a:ln/>
        </p:spPr>
        <p:txBody>
          <a:bodyPr wrap="square" lIns="0" tIns="0" rIns="0" bIns="0" rtlCol="0" anchor="ctr"/>
          <a:lstStyle/>
          <a:p>
            <a:pPr marL="0" indent="0">
              <a:buNone/>
            </a:pPr>
            <a:r>
              <a:rPr lang="en-US" sz="850" dirty="0">
                <a:solidFill>
                  <a:srgbClr val="C0392B"/>
                </a:solidFill>
                <a:latin typeface="Calibri" pitchFamily="34" charset="0"/>
                <a:ea typeface="Calibri" pitchFamily="34" charset="-122"/>
                <a:cs typeface="Calibri" pitchFamily="34" charset="-120"/>
              </a:rPr>
              <a:t>−∞</a:t>
            </a:r>
            <a:endParaRPr lang="en-US" sz="850" dirty="0"/>
          </a:p>
        </p:txBody>
      </p:sp>
      <p:sp>
        <p:nvSpPr>
          <p:cNvPr id="78" name="Shape 76"/>
          <p:cNvSpPr/>
          <p:nvPr/>
        </p:nvSpPr>
        <p:spPr>
          <a:xfrm>
            <a:off x="4407408" y="2651760"/>
            <a:ext cx="320040" cy="502920"/>
          </a:xfrm>
          <a:prstGeom prst="rect">
            <a:avLst/>
          </a:prstGeom>
          <a:solidFill>
            <a:srgbClr val="E8A020"/>
          </a:solidFill>
          <a:ln w="12700">
            <a:solidFill>
              <a:srgbClr val="E8A020"/>
            </a:solidFill>
            <a:prstDash val="solid"/>
          </a:ln>
        </p:spPr>
      </p:sp>
      <p:sp>
        <p:nvSpPr>
          <p:cNvPr id="79" name="Text 77"/>
          <p:cNvSpPr/>
          <p:nvPr/>
        </p:nvSpPr>
        <p:spPr>
          <a:xfrm>
            <a:off x="4407408" y="2651760"/>
            <a:ext cx="32004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a:t>
            </a:r>
            <a:endParaRPr lang="en-US" sz="1800" dirty="0"/>
          </a:p>
        </p:txBody>
      </p:sp>
      <p:pic>
        <p:nvPicPr>
          <p:cNvPr id="80" name="Google Shape;328;p29">
            <a:extLst>
              <a:ext uri="{FF2B5EF4-FFF2-40B4-BE49-F238E27FC236}">
                <a16:creationId xmlns:a16="http://schemas.microsoft.com/office/drawing/2014/main" id="{4559BD82-EB96-A69F-1535-02FFA3967B16}"/>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418803413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11480" y="146304"/>
            <a:ext cx="8321040" cy="566928"/>
          </a:xfrm>
          <a:prstGeom prst="rect">
            <a:avLst/>
          </a:prstGeom>
          <a:noFill/>
          <a:ln/>
        </p:spPr>
        <p:txBody>
          <a:bodyPr wrap="square" lIns="0" tIns="0" rIns="0" bIns="0" rtlCol="0" anchor="ctr"/>
          <a:lstStyle/>
          <a:p>
            <a:pPr marL="0" indent="0">
              <a:buNone/>
            </a:pPr>
            <a:r>
              <a:rPr lang="en-US" sz="2500" b="1" dirty="0">
                <a:solidFill>
                  <a:srgbClr val="1A1F36"/>
                </a:solidFill>
                <a:latin typeface="Georgia" pitchFamily="34" charset="0"/>
                <a:ea typeface="Georgia" pitchFamily="34" charset="-122"/>
                <a:cs typeface="Georgia" pitchFamily="34" charset="-120"/>
              </a:rPr>
              <a:t>Constraints as Rules — Step-by-Step Masking</a:t>
            </a:r>
            <a:endParaRPr lang="en-US" sz="2500" dirty="0"/>
          </a:p>
        </p:txBody>
      </p:sp>
      <p:sp>
        <p:nvSpPr>
          <p:cNvPr id="4" name="Shape 2"/>
          <p:cNvSpPr/>
          <p:nvPr/>
        </p:nvSpPr>
        <p:spPr>
          <a:xfrm>
            <a:off x="320040" y="786384"/>
            <a:ext cx="8503920" cy="530352"/>
          </a:xfrm>
          <a:prstGeom prst="rect">
            <a:avLst/>
          </a:prstGeom>
          <a:solidFill>
            <a:srgbClr val="F0F7FF"/>
          </a:solidFill>
          <a:ln w="19050">
            <a:solidFill>
              <a:srgbClr val="3D5A80"/>
            </a:solidFill>
            <a:prstDash val="solid"/>
          </a:ln>
        </p:spPr>
      </p:sp>
      <p:sp>
        <p:nvSpPr>
          <p:cNvPr id="5" name="Text 3"/>
          <p:cNvSpPr/>
          <p:nvPr/>
        </p:nvSpPr>
        <p:spPr>
          <a:xfrm>
            <a:off x="457200" y="804672"/>
            <a:ext cx="8229600" cy="475488"/>
          </a:xfrm>
          <a:prstGeom prst="rect">
            <a:avLst/>
          </a:prstGeom>
          <a:noFill/>
          <a:ln/>
        </p:spPr>
        <p:txBody>
          <a:bodyPr wrap="square" lIns="0" tIns="0" rIns="0" bIns="0" rtlCol="0" anchor="ctr"/>
          <a:lstStyle/>
          <a:p>
            <a:pPr marL="0" indent="0">
              <a:buNone/>
            </a:pPr>
            <a:r>
              <a:rPr lang="en-US" sz="1300" b="1" dirty="0">
                <a:solidFill>
                  <a:srgbClr val="1A1F36"/>
                </a:solidFill>
                <a:latin typeface="Calibri" pitchFamily="34" charset="0"/>
                <a:ea typeface="Calibri" pitchFamily="34" charset="-122"/>
                <a:cs typeface="Calibri" pitchFamily="34" charset="-120"/>
              </a:rPr>
              <a:t>Rule:  "Odd numbers allowed only at the start of a sequence, or after an even number"</a:t>
            </a:r>
            <a:endParaRPr lang="en-US" sz="1300" dirty="0"/>
          </a:p>
        </p:txBody>
      </p:sp>
      <p:sp>
        <p:nvSpPr>
          <p:cNvPr id="6" name="Shape 4"/>
          <p:cNvSpPr/>
          <p:nvPr/>
        </p:nvSpPr>
        <p:spPr>
          <a:xfrm>
            <a:off x="320040" y="1417320"/>
            <a:ext cx="2743200" cy="347472"/>
          </a:xfrm>
          <a:prstGeom prst="rect">
            <a:avLst/>
          </a:prstGeom>
          <a:solidFill>
            <a:srgbClr val="D6E4F7"/>
          </a:solidFill>
          <a:ln w="12700">
            <a:solidFill>
              <a:srgbClr val="CADCFC"/>
            </a:solidFill>
            <a:prstDash val="solid"/>
          </a:ln>
        </p:spPr>
      </p:sp>
      <p:sp>
        <p:nvSpPr>
          <p:cNvPr id="7" name="Text 5"/>
          <p:cNvSpPr/>
          <p:nvPr/>
        </p:nvSpPr>
        <p:spPr>
          <a:xfrm>
            <a:off x="457200" y="1444752"/>
            <a:ext cx="2468880" cy="274320"/>
          </a:xfrm>
          <a:prstGeom prst="rect">
            <a:avLst/>
          </a:prstGeom>
          <a:noFill/>
          <a:ln/>
        </p:spPr>
        <p:txBody>
          <a:bodyPr wrap="square" lIns="0" tIns="0" rIns="0" bIns="0" rtlCol="0" anchor="ctr"/>
          <a:lstStyle/>
          <a:p>
            <a:pPr marL="0" indent="0">
              <a:buNone/>
            </a:pPr>
            <a:r>
              <a:rPr lang="en-US" sz="1200" b="1" dirty="0">
                <a:solidFill>
                  <a:srgbClr val="3D5A80"/>
                </a:solidFill>
                <a:latin typeface="Calibri" pitchFamily="34" charset="0"/>
                <a:ea typeface="Calibri" pitchFamily="34" charset="-122"/>
                <a:cs typeface="Calibri" pitchFamily="34" charset="-120"/>
              </a:rPr>
              <a:t>✓  Valid Sequences</a:t>
            </a:r>
            <a:endParaRPr lang="en-US" sz="1200" dirty="0"/>
          </a:p>
        </p:txBody>
      </p:sp>
      <p:sp>
        <p:nvSpPr>
          <p:cNvPr id="8" name="Shape 6"/>
          <p:cNvSpPr/>
          <p:nvPr/>
        </p:nvSpPr>
        <p:spPr>
          <a:xfrm>
            <a:off x="320040" y="1783080"/>
            <a:ext cx="2743200" cy="347472"/>
          </a:xfrm>
          <a:prstGeom prst="rect">
            <a:avLst/>
          </a:prstGeom>
          <a:solidFill>
            <a:srgbClr val="FFFFFF"/>
          </a:solidFill>
          <a:ln w="9525">
            <a:solidFill>
              <a:srgbClr val="CADCFC"/>
            </a:solidFill>
            <a:prstDash val="solid"/>
          </a:ln>
        </p:spPr>
      </p:sp>
      <p:sp>
        <p:nvSpPr>
          <p:cNvPr id="9" name="Text 7"/>
          <p:cNvSpPr/>
          <p:nvPr/>
        </p:nvSpPr>
        <p:spPr>
          <a:xfrm>
            <a:off x="457200" y="1801368"/>
            <a:ext cx="2468880" cy="310896"/>
          </a:xfrm>
          <a:prstGeom prst="rect">
            <a:avLst/>
          </a:prstGeom>
          <a:noFill/>
          <a:ln/>
        </p:spPr>
        <p:txBody>
          <a:bodyPr wrap="square" lIns="0" tIns="0" rIns="0" bIns="0" rtlCol="0" anchor="ctr"/>
          <a:lstStyle/>
          <a:p>
            <a:pPr marL="0" indent="0">
              <a:buNone/>
            </a:pPr>
            <a:r>
              <a:rPr lang="en-US" sz="1200" dirty="0">
                <a:solidFill>
                  <a:srgbClr val="3D5A80"/>
                </a:solidFill>
                <a:latin typeface="Consolas" pitchFamily="34" charset="0"/>
                <a:ea typeface="Consolas" pitchFamily="34" charset="-122"/>
                <a:cs typeface="Consolas" pitchFamily="34" charset="-120"/>
              </a:rPr>
              <a:t>22222</a:t>
            </a:r>
            <a:endParaRPr lang="en-US" sz="1200" dirty="0"/>
          </a:p>
        </p:txBody>
      </p:sp>
      <p:sp>
        <p:nvSpPr>
          <p:cNvPr id="10" name="Shape 8"/>
          <p:cNvSpPr/>
          <p:nvPr/>
        </p:nvSpPr>
        <p:spPr>
          <a:xfrm>
            <a:off x="320040" y="2167128"/>
            <a:ext cx="2743200" cy="347472"/>
          </a:xfrm>
          <a:prstGeom prst="rect">
            <a:avLst/>
          </a:prstGeom>
          <a:solidFill>
            <a:srgbClr val="F5FDF8"/>
          </a:solidFill>
          <a:ln w="9525">
            <a:solidFill>
              <a:srgbClr val="CADCFC"/>
            </a:solidFill>
            <a:prstDash val="solid"/>
          </a:ln>
        </p:spPr>
      </p:sp>
      <p:sp>
        <p:nvSpPr>
          <p:cNvPr id="11" name="Text 9"/>
          <p:cNvSpPr/>
          <p:nvPr/>
        </p:nvSpPr>
        <p:spPr>
          <a:xfrm>
            <a:off x="457200" y="2185416"/>
            <a:ext cx="2468880" cy="310896"/>
          </a:xfrm>
          <a:prstGeom prst="rect">
            <a:avLst/>
          </a:prstGeom>
          <a:noFill/>
          <a:ln/>
        </p:spPr>
        <p:txBody>
          <a:bodyPr wrap="square" lIns="0" tIns="0" rIns="0" bIns="0" rtlCol="0" anchor="ctr"/>
          <a:lstStyle/>
          <a:p>
            <a:pPr marL="0" indent="0">
              <a:buNone/>
            </a:pPr>
            <a:r>
              <a:rPr lang="en-US" sz="1200" dirty="0">
                <a:solidFill>
                  <a:srgbClr val="3D5A80"/>
                </a:solidFill>
                <a:latin typeface="Consolas" pitchFamily="34" charset="0"/>
                <a:ea typeface="Consolas" pitchFamily="34" charset="-122"/>
                <a:cs typeface="Consolas" pitchFamily="34" charset="-120"/>
              </a:rPr>
              <a:t>1234567</a:t>
            </a:r>
            <a:endParaRPr lang="en-US" sz="1200" dirty="0"/>
          </a:p>
        </p:txBody>
      </p:sp>
      <p:sp>
        <p:nvSpPr>
          <p:cNvPr id="12" name="Shape 10"/>
          <p:cNvSpPr/>
          <p:nvPr/>
        </p:nvSpPr>
        <p:spPr>
          <a:xfrm>
            <a:off x="320040" y="2551176"/>
            <a:ext cx="2743200" cy="347472"/>
          </a:xfrm>
          <a:prstGeom prst="rect">
            <a:avLst/>
          </a:prstGeom>
          <a:solidFill>
            <a:srgbClr val="FFFFFF"/>
          </a:solidFill>
          <a:ln w="9525">
            <a:solidFill>
              <a:srgbClr val="CADCFC"/>
            </a:solidFill>
            <a:prstDash val="solid"/>
          </a:ln>
        </p:spPr>
      </p:sp>
      <p:sp>
        <p:nvSpPr>
          <p:cNvPr id="13" name="Text 11"/>
          <p:cNvSpPr/>
          <p:nvPr/>
        </p:nvSpPr>
        <p:spPr>
          <a:xfrm>
            <a:off x="457200" y="2569464"/>
            <a:ext cx="2468880" cy="310896"/>
          </a:xfrm>
          <a:prstGeom prst="rect">
            <a:avLst/>
          </a:prstGeom>
          <a:noFill/>
          <a:ln/>
        </p:spPr>
        <p:txBody>
          <a:bodyPr wrap="square" lIns="0" tIns="0" rIns="0" bIns="0" rtlCol="0" anchor="ctr"/>
          <a:lstStyle/>
          <a:p>
            <a:pPr marL="0" indent="0">
              <a:buNone/>
            </a:pPr>
            <a:r>
              <a:rPr lang="en-US" sz="1200" dirty="0">
                <a:solidFill>
                  <a:srgbClr val="3D5A80"/>
                </a:solidFill>
                <a:latin typeface="Consolas" pitchFamily="34" charset="0"/>
                <a:ea typeface="Consolas" pitchFamily="34" charset="-122"/>
                <a:cs typeface="Consolas" pitchFamily="34" charset="-120"/>
              </a:rPr>
              <a:t>24142167</a:t>
            </a:r>
            <a:endParaRPr lang="en-US" sz="1200" dirty="0"/>
          </a:p>
        </p:txBody>
      </p:sp>
      <p:sp>
        <p:nvSpPr>
          <p:cNvPr id="14" name="Shape 12"/>
          <p:cNvSpPr/>
          <p:nvPr/>
        </p:nvSpPr>
        <p:spPr>
          <a:xfrm>
            <a:off x="320040" y="2935224"/>
            <a:ext cx="2743200" cy="347472"/>
          </a:xfrm>
          <a:prstGeom prst="rect">
            <a:avLst/>
          </a:prstGeom>
          <a:solidFill>
            <a:srgbClr val="F5FDF8"/>
          </a:solidFill>
          <a:ln w="9525">
            <a:solidFill>
              <a:srgbClr val="CADCFC"/>
            </a:solidFill>
            <a:prstDash val="solid"/>
          </a:ln>
        </p:spPr>
      </p:sp>
      <p:sp>
        <p:nvSpPr>
          <p:cNvPr id="15" name="Text 13"/>
          <p:cNvSpPr/>
          <p:nvPr/>
        </p:nvSpPr>
        <p:spPr>
          <a:xfrm>
            <a:off x="457200" y="2953512"/>
            <a:ext cx="2468880" cy="310896"/>
          </a:xfrm>
          <a:prstGeom prst="rect">
            <a:avLst/>
          </a:prstGeom>
          <a:noFill/>
          <a:ln/>
        </p:spPr>
        <p:txBody>
          <a:bodyPr wrap="square" lIns="0" tIns="0" rIns="0" bIns="0" rtlCol="0" anchor="ctr"/>
          <a:lstStyle/>
          <a:p>
            <a:pPr marL="0" indent="0">
              <a:buNone/>
            </a:pPr>
            <a:r>
              <a:rPr lang="en-US" sz="1200" dirty="0">
                <a:solidFill>
                  <a:srgbClr val="3D5A80"/>
                </a:solidFill>
                <a:latin typeface="Consolas" pitchFamily="34" charset="0"/>
                <a:ea typeface="Consolas" pitchFamily="34" charset="-122"/>
                <a:cs typeface="Consolas" pitchFamily="34" charset="-120"/>
              </a:rPr>
              <a:t>10203040</a:t>
            </a:r>
            <a:endParaRPr lang="en-US" sz="1200" dirty="0"/>
          </a:p>
        </p:txBody>
      </p:sp>
      <p:sp>
        <p:nvSpPr>
          <p:cNvPr id="16" name="Shape 14"/>
          <p:cNvSpPr/>
          <p:nvPr/>
        </p:nvSpPr>
        <p:spPr>
          <a:xfrm>
            <a:off x="3200400" y="1417320"/>
            <a:ext cx="2743200" cy="347472"/>
          </a:xfrm>
          <a:prstGeom prst="rect">
            <a:avLst/>
          </a:prstGeom>
          <a:solidFill>
            <a:srgbClr val="FDEDEC"/>
          </a:solidFill>
          <a:ln w="12700">
            <a:solidFill>
              <a:srgbClr val="F5A9A0"/>
            </a:solidFill>
            <a:prstDash val="solid"/>
          </a:ln>
        </p:spPr>
      </p:sp>
      <p:sp>
        <p:nvSpPr>
          <p:cNvPr id="17" name="Text 15"/>
          <p:cNvSpPr/>
          <p:nvPr/>
        </p:nvSpPr>
        <p:spPr>
          <a:xfrm>
            <a:off x="3337560" y="1444752"/>
            <a:ext cx="2468880" cy="274320"/>
          </a:xfrm>
          <a:prstGeom prst="rect">
            <a:avLst/>
          </a:prstGeom>
          <a:noFill/>
          <a:ln/>
        </p:spPr>
        <p:txBody>
          <a:bodyPr wrap="square" lIns="0" tIns="0" rIns="0" bIns="0" rtlCol="0" anchor="ctr"/>
          <a:lstStyle/>
          <a:p>
            <a:pPr marL="0" indent="0">
              <a:buNone/>
            </a:pPr>
            <a:r>
              <a:rPr lang="en-US" sz="1200" b="1" dirty="0">
                <a:solidFill>
                  <a:srgbClr val="C0392B"/>
                </a:solidFill>
                <a:latin typeface="Calibri" pitchFamily="34" charset="0"/>
                <a:ea typeface="Calibri" pitchFamily="34" charset="-122"/>
                <a:cs typeface="Calibri" pitchFamily="34" charset="-120"/>
              </a:rPr>
              <a:t>✗  Invalid Sequences</a:t>
            </a:r>
            <a:endParaRPr lang="en-US" sz="1200" dirty="0"/>
          </a:p>
        </p:txBody>
      </p:sp>
      <p:sp>
        <p:nvSpPr>
          <p:cNvPr id="18" name="Shape 16"/>
          <p:cNvSpPr/>
          <p:nvPr/>
        </p:nvSpPr>
        <p:spPr>
          <a:xfrm>
            <a:off x="3200400" y="1783080"/>
            <a:ext cx="2743200" cy="347472"/>
          </a:xfrm>
          <a:prstGeom prst="rect">
            <a:avLst/>
          </a:prstGeom>
          <a:solidFill>
            <a:srgbClr val="FFFFFF"/>
          </a:solidFill>
          <a:ln w="9525">
            <a:solidFill>
              <a:srgbClr val="F5A9A0"/>
            </a:solidFill>
            <a:prstDash val="solid"/>
          </a:ln>
        </p:spPr>
      </p:sp>
      <p:sp>
        <p:nvSpPr>
          <p:cNvPr id="19" name="Text 17"/>
          <p:cNvSpPr/>
          <p:nvPr/>
        </p:nvSpPr>
        <p:spPr>
          <a:xfrm>
            <a:off x="3337560" y="1801368"/>
            <a:ext cx="2468880" cy="310896"/>
          </a:xfrm>
          <a:prstGeom prst="rect">
            <a:avLst/>
          </a:prstGeom>
          <a:noFill/>
          <a:ln/>
        </p:spPr>
        <p:txBody>
          <a:bodyPr wrap="square" lIns="0" tIns="0" rIns="0" bIns="0" rtlCol="0" anchor="ctr"/>
          <a:lstStyle/>
          <a:p>
            <a:pPr marL="0" indent="0">
              <a:buNone/>
            </a:pPr>
            <a:r>
              <a:rPr lang="en-US" sz="1200" dirty="0">
                <a:solidFill>
                  <a:srgbClr val="C0392B"/>
                </a:solidFill>
                <a:latin typeface="Consolas" pitchFamily="34" charset="0"/>
                <a:ea typeface="Consolas" pitchFamily="34" charset="-122"/>
                <a:cs typeface="Consolas" pitchFamily="34" charset="-120"/>
              </a:rPr>
              <a:t>1235</a:t>
            </a:r>
            <a:endParaRPr lang="en-US" sz="1200" dirty="0"/>
          </a:p>
        </p:txBody>
      </p:sp>
      <p:sp>
        <p:nvSpPr>
          <p:cNvPr id="20" name="Shape 18"/>
          <p:cNvSpPr/>
          <p:nvPr/>
        </p:nvSpPr>
        <p:spPr>
          <a:xfrm>
            <a:off x="3200400" y="2167128"/>
            <a:ext cx="2743200" cy="347472"/>
          </a:xfrm>
          <a:prstGeom prst="rect">
            <a:avLst/>
          </a:prstGeom>
          <a:solidFill>
            <a:srgbClr val="FDF6F5"/>
          </a:solidFill>
          <a:ln w="9525">
            <a:solidFill>
              <a:srgbClr val="F5A9A0"/>
            </a:solidFill>
            <a:prstDash val="solid"/>
          </a:ln>
        </p:spPr>
      </p:sp>
      <p:sp>
        <p:nvSpPr>
          <p:cNvPr id="21" name="Text 19"/>
          <p:cNvSpPr/>
          <p:nvPr/>
        </p:nvSpPr>
        <p:spPr>
          <a:xfrm>
            <a:off x="3337560" y="2185416"/>
            <a:ext cx="2468880" cy="310896"/>
          </a:xfrm>
          <a:prstGeom prst="rect">
            <a:avLst/>
          </a:prstGeom>
          <a:noFill/>
          <a:ln/>
        </p:spPr>
        <p:txBody>
          <a:bodyPr wrap="square" lIns="0" tIns="0" rIns="0" bIns="0" rtlCol="0" anchor="ctr"/>
          <a:lstStyle/>
          <a:p>
            <a:pPr marL="0" indent="0">
              <a:buNone/>
            </a:pPr>
            <a:r>
              <a:rPr lang="en-US" sz="1200" dirty="0">
                <a:solidFill>
                  <a:srgbClr val="C0392B"/>
                </a:solidFill>
                <a:latin typeface="Consolas" pitchFamily="34" charset="0"/>
                <a:ea typeface="Consolas" pitchFamily="34" charset="-122"/>
                <a:cs typeface="Consolas" pitchFamily="34" charset="-120"/>
              </a:rPr>
              <a:t>11</a:t>
            </a:r>
            <a:endParaRPr lang="en-US" sz="1200" dirty="0"/>
          </a:p>
        </p:txBody>
      </p:sp>
      <p:sp>
        <p:nvSpPr>
          <p:cNvPr id="22" name="Shape 20"/>
          <p:cNvSpPr/>
          <p:nvPr/>
        </p:nvSpPr>
        <p:spPr>
          <a:xfrm>
            <a:off x="3200400" y="2551176"/>
            <a:ext cx="2743200" cy="347472"/>
          </a:xfrm>
          <a:prstGeom prst="rect">
            <a:avLst/>
          </a:prstGeom>
          <a:solidFill>
            <a:srgbClr val="FFFFFF"/>
          </a:solidFill>
          <a:ln w="9525">
            <a:solidFill>
              <a:srgbClr val="F5A9A0"/>
            </a:solidFill>
            <a:prstDash val="solid"/>
          </a:ln>
        </p:spPr>
      </p:sp>
      <p:sp>
        <p:nvSpPr>
          <p:cNvPr id="23" name="Text 21"/>
          <p:cNvSpPr/>
          <p:nvPr/>
        </p:nvSpPr>
        <p:spPr>
          <a:xfrm>
            <a:off x="3337560" y="2569464"/>
            <a:ext cx="2468880" cy="310896"/>
          </a:xfrm>
          <a:prstGeom prst="rect">
            <a:avLst/>
          </a:prstGeom>
          <a:noFill/>
          <a:ln/>
        </p:spPr>
        <p:txBody>
          <a:bodyPr wrap="square" lIns="0" tIns="0" rIns="0" bIns="0" rtlCol="0" anchor="ctr"/>
          <a:lstStyle/>
          <a:p>
            <a:pPr marL="0" indent="0">
              <a:buNone/>
            </a:pPr>
            <a:r>
              <a:rPr lang="en-US" sz="1200" dirty="0">
                <a:solidFill>
                  <a:srgbClr val="C0392B"/>
                </a:solidFill>
                <a:latin typeface="Consolas" pitchFamily="34" charset="0"/>
                <a:ea typeface="Consolas" pitchFamily="34" charset="-122"/>
                <a:cs typeface="Consolas" pitchFamily="34" charset="-120"/>
              </a:rPr>
              <a:t>148233</a:t>
            </a:r>
            <a:endParaRPr lang="en-US" sz="1200" dirty="0"/>
          </a:p>
        </p:txBody>
      </p:sp>
      <p:sp>
        <p:nvSpPr>
          <p:cNvPr id="24" name="Shape 22"/>
          <p:cNvSpPr/>
          <p:nvPr/>
        </p:nvSpPr>
        <p:spPr>
          <a:xfrm>
            <a:off x="3200400" y="2935224"/>
            <a:ext cx="2743200" cy="347472"/>
          </a:xfrm>
          <a:prstGeom prst="rect">
            <a:avLst/>
          </a:prstGeom>
          <a:solidFill>
            <a:srgbClr val="FDF6F5"/>
          </a:solidFill>
          <a:ln w="9525">
            <a:solidFill>
              <a:srgbClr val="F5A9A0"/>
            </a:solidFill>
            <a:prstDash val="solid"/>
          </a:ln>
        </p:spPr>
      </p:sp>
      <p:sp>
        <p:nvSpPr>
          <p:cNvPr id="25" name="Text 23"/>
          <p:cNvSpPr/>
          <p:nvPr/>
        </p:nvSpPr>
        <p:spPr>
          <a:xfrm>
            <a:off x="3337560" y="2953512"/>
            <a:ext cx="2468880" cy="310896"/>
          </a:xfrm>
          <a:prstGeom prst="rect">
            <a:avLst/>
          </a:prstGeom>
          <a:noFill/>
          <a:ln/>
        </p:spPr>
        <p:txBody>
          <a:bodyPr wrap="square" lIns="0" tIns="0" rIns="0" bIns="0" rtlCol="0" anchor="ctr"/>
          <a:lstStyle/>
          <a:p>
            <a:pPr marL="0" indent="0">
              <a:buNone/>
            </a:pPr>
            <a:r>
              <a:rPr lang="en-US" sz="1200" dirty="0">
                <a:solidFill>
                  <a:srgbClr val="C0392B"/>
                </a:solidFill>
                <a:latin typeface="Consolas" pitchFamily="34" charset="0"/>
                <a:ea typeface="Consolas" pitchFamily="34" charset="-122"/>
                <a:cs typeface="Consolas" pitchFamily="34" charset="-120"/>
              </a:rPr>
              <a:t>357</a:t>
            </a:r>
            <a:endParaRPr lang="en-US" sz="1200" dirty="0"/>
          </a:p>
        </p:txBody>
      </p:sp>
      <p:sp>
        <p:nvSpPr>
          <p:cNvPr id="26" name="Text 24"/>
          <p:cNvSpPr/>
          <p:nvPr/>
        </p:nvSpPr>
        <p:spPr>
          <a:xfrm>
            <a:off x="6080760" y="1417320"/>
            <a:ext cx="2834640" cy="438912"/>
          </a:xfrm>
          <a:prstGeom prst="rect">
            <a:avLst/>
          </a:prstGeom>
          <a:noFill/>
          <a:ln/>
        </p:spPr>
        <p:txBody>
          <a:bodyPr wrap="square" rtlCol="0" anchor="ctr"/>
          <a:lstStyle/>
          <a:p>
            <a:pPr marL="0" indent="0">
              <a:buNone/>
            </a:pPr>
            <a:r>
              <a:rPr lang="en-US" sz="1100" b="1" dirty="0">
                <a:solidFill>
                  <a:srgbClr val="1A1F36"/>
                </a:solidFill>
                <a:latin typeface="Calibri" pitchFamily="34" charset="0"/>
                <a:ea typeface="Calibri" pitchFamily="34" charset="-122"/>
                <a:cs typeface="Calibri" pitchFamily="34" charset="-120"/>
              </a:rPr>
              <a:t>Generating '1247'  —  which tokens are valid at each step?</a:t>
            </a:r>
            <a:endParaRPr lang="en-US" sz="1100" dirty="0"/>
          </a:p>
        </p:txBody>
      </p:sp>
      <p:sp>
        <p:nvSpPr>
          <p:cNvPr id="27" name="Shape 25"/>
          <p:cNvSpPr/>
          <p:nvPr/>
        </p:nvSpPr>
        <p:spPr>
          <a:xfrm>
            <a:off x="6080760" y="1920240"/>
            <a:ext cx="603504" cy="274320"/>
          </a:xfrm>
          <a:prstGeom prst="rect">
            <a:avLst/>
          </a:prstGeom>
          <a:solidFill>
            <a:srgbClr val="1A1F36"/>
          </a:solidFill>
          <a:ln w="12700">
            <a:solidFill>
              <a:srgbClr val="1A1F36"/>
            </a:solidFill>
            <a:prstDash val="solid"/>
          </a:ln>
        </p:spPr>
      </p:sp>
      <p:sp>
        <p:nvSpPr>
          <p:cNvPr id="28" name="Text 26"/>
          <p:cNvSpPr/>
          <p:nvPr/>
        </p:nvSpPr>
        <p:spPr>
          <a:xfrm>
            <a:off x="6080760" y="1920240"/>
            <a:ext cx="603504" cy="274320"/>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Start</a:t>
            </a:r>
            <a:endParaRPr lang="en-US" sz="750" dirty="0"/>
          </a:p>
        </p:txBody>
      </p:sp>
      <p:sp>
        <p:nvSpPr>
          <p:cNvPr id="29" name="Shape 27"/>
          <p:cNvSpPr/>
          <p:nvPr/>
        </p:nvSpPr>
        <p:spPr>
          <a:xfrm>
            <a:off x="6711696" y="1920240"/>
            <a:ext cx="603504" cy="274320"/>
          </a:xfrm>
          <a:prstGeom prst="rect">
            <a:avLst/>
          </a:prstGeom>
          <a:solidFill>
            <a:srgbClr val="1A1F36"/>
          </a:solidFill>
          <a:ln w="12700">
            <a:solidFill>
              <a:srgbClr val="1A1F36"/>
            </a:solidFill>
            <a:prstDash val="solid"/>
          </a:ln>
        </p:spPr>
      </p:sp>
      <p:sp>
        <p:nvSpPr>
          <p:cNvPr id="30" name="Text 28"/>
          <p:cNvSpPr/>
          <p:nvPr/>
        </p:nvSpPr>
        <p:spPr>
          <a:xfrm>
            <a:off x="6711696" y="1920240"/>
            <a:ext cx="603504" cy="274320"/>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After '1'</a:t>
            </a:r>
            <a:endParaRPr lang="en-US" sz="750" dirty="0"/>
          </a:p>
        </p:txBody>
      </p:sp>
      <p:sp>
        <p:nvSpPr>
          <p:cNvPr id="31" name="Shape 29"/>
          <p:cNvSpPr/>
          <p:nvPr/>
        </p:nvSpPr>
        <p:spPr>
          <a:xfrm>
            <a:off x="7342632" y="1920240"/>
            <a:ext cx="603504" cy="274320"/>
          </a:xfrm>
          <a:prstGeom prst="rect">
            <a:avLst/>
          </a:prstGeom>
          <a:solidFill>
            <a:srgbClr val="1A1F36"/>
          </a:solidFill>
          <a:ln w="12700">
            <a:solidFill>
              <a:srgbClr val="1A1F36"/>
            </a:solidFill>
            <a:prstDash val="solid"/>
          </a:ln>
        </p:spPr>
      </p:sp>
      <p:sp>
        <p:nvSpPr>
          <p:cNvPr id="32" name="Text 30"/>
          <p:cNvSpPr/>
          <p:nvPr/>
        </p:nvSpPr>
        <p:spPr>
          <a:xfrm>
            <a:off x="7342632" y="1920240"/>
            <a:ext cx="603504" cy="274320"/>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After '2'</a:t>
            </a:r>
            <a:endParaRPr lang="en-US" sz="750" dirty="0"/>
          </a:p>
        </p:txBody>
      </p:sp>
      <p:sp>
        <p:nvSpPr>
          <p:cNvPr id="33" name="Shape 31"/>
          <p:cNvSpPr/>
          <p:nvPr/>
        </p:nvSpPr>
        <p:spPr>
          <a:xfrm>
            <a:off x="7973568" y="1920240"/>
            <a:ext cx="603504" cy="274320"/>
          </a:xfrm>
          <a:prstGeom prst="rect">
            <a:avLst/>
          </a:prstGeom>
          <a:solidFill>
            <a:srgbClr val="1A1F36"/>
          </a:solidFill>
          <a:ln w="12700">
            <a:solidFill>
              <a:srgbClr val="1A1F36"/>
            </a:solidFill>
            <a:prstDash val="solid"/>
          </a:ln>
        </p:spPr>
      </p:sp>
      <p:sp>
        <p:nvSpPr>
          <p:cNvPr id="34" name="Text 32"/>
          <p:cNvSpPr/>
          <p:nvPr/>
        </p:nvSpPr>
        <p:spPr>
          <a:xfrm>
            <a:off x="7973568" y="1920240"/>
            <a:ext cx="603504" cy="274320"/>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After '4'</a:t>
            </a:r>
            <a:endParaRPr lang="en-US" sz="750" dirty="0"/>
          </a:p>
        </p:txBody>
      </p:sp>
      <p:sp>
        <p:nvSpPr>
          <p:cNvPr id="35" name="Shape 33"/>
          <p:cNvSpPr/>
          <p:nvPr/>
        </p:nvSpPr>
        <p:spPr>
          <a:xfrm>
            <a:off x="6080760" y="2221992"/>
            <a:ext cx="603504" cy="246888"/>
          </a:xfrm>
          <a:prstGeom prst="rect">
            <a:avLst/>
          </a:prstGeom>
          <a:solidFill>
            <a:srgbClr val="D6E4F7"/>
          </a:solidFill>
          <a:ln w="9525">
            <a:solidFill>
              <a:srgbClr val="CADCFC"/>
            </a:solidFill>
            <a:prstDash val="solid"/>
          </a:ln>
        </p:spPr>
      </p:sp>
      <p:sp>
        <p:nvSpPr>
          <p:cNvPr id="36" name="Text 34"/>
          <p:cNvSpPr/>
          <p:nvPr/>
        </p:nvSpPr>
        <p:spPr>
          <a:xfrm>
            <a:off x="6080760" y="222199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0</a:t>
            </a:r>
            <a:endParaRPr lang="en-US" sz="900" dirty="0"/>
          </a:p>
        </p:txBody>
      </p:sp>
      <p:sp>
        <p:nvSpPr>
          <p:cNvPr id="37" name="Shape 35"/>
          <p:cNvSpPr/>
          <p:nvPr/>
        </p:nvSpPr>
        <p:spPr>
          <a:xfrm>
            <a:off x="6711696" y="2221992"/>
            <a:ext cx="603504" cy="246888"/>
          </a:xfrm>
          <a:prstGeom prst="rect">
            <a:avLst/>
          </a:prstGeom>
          <a:solidFill>
            <a:srgbClr val="D6E4F7"/>
          </a:solidFill>
          <a:ln w="9525">
            <a:solidFill>
              <a:srgbClr val="CADCFC"/>
            </a:solidFill>
            <a:prstDash val="solid"/>
          </a:ln>
        </p:spPr>
      </p:sp>
      <p:sp>
        <p:nvSpPr>
          <p:cNvPr id="38" name="Text 36"/>
          <p:cNvSpPr/>
          <p:nvPr/>
        </p:nvSpPr>
        <p:spPr>
          <a:xfrm>
            <a:off x="6711696" y="222199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0</a:t>
            </a:r>
            <a:endParaRPr lang="en-US" sz="900" dirty="0"/>
          </a:p>
        </p:txBody>
      </p:sp>
      <p:sp>
        <p:nvSpPr>
          <p:cNvPr id="39" name="Shape 37"/>
          <p:cNvSpPr/>
          <p:nvPr/>
        </p:nvSpPr>
        <p:spPr>
          <a:xfrm>
            <a:off x="7342632" y="2221992"/>
            <a:ext cx="603504" cy="246888"/>
          </a:xfrm>
          <a:prstGeom prst="rect">
            <a:avLst/>
          </a:prstGeom>
          <a:solidFill>
            <a:srgbClr val="D6E4F7"/>
          </a:solidFill>
          <a:ln w="9525">
            <a:solidFill>
              <a:srgbClr val="CADCFC"/>
            </a:solidFill>
            <a:prstDash val="solid"/>
          </a:ln>
        </p:spPr>
      </p:sp>
      <p:sp>
        <p:nvSpPr>
          <p:cNvPr id="40" name="Text 38"/>
          <p:cNvSpPr/>
          <p:nvPr/>
        </p:nvSpPr>
        <p:spPr>
          <a:xfrm>
            <a:off x="7342632" y="222199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0</a:t>
            </a:r>
            <a:endParaRPr lang="en-US" sz="900" dirty="0"/>
          </a:p>
        </p:txBody>
      </p:sp>
      <p:sp>
        <p:nvSpPr>
          <p:cNvPr id="41" name="Shape 39"/>
          <p:cNvSpPr/>
          <p:nvPr/>
        </p:nvSpPr>
        <p:spPr>
          <a:xfrm>
            <a:off x="7973568" y="2221992"/>
            <a:ext cx="603504" cy="246888"/>
          </a:xfrm>
          <a:prstGeom prst="rect">
            <a:avLst/>
          </a:prstGeom>
          <a:solidFill>
            <a:srgbClr val="D6E4F7"/>
          </a:solidFill>
          <a:ln w="9525">
            <a:solidFill>
              <a:srgbClr val="CADCFC"/>
            </a:solidFill>
            <a:prstDash val="solid"/>
          </a:ln>
        </p:spPr>
      </p:sp>
      <p:sp>
        <p:nvSpPr>
          <p:cNvPr id="42" name="Text 40"/>
          <p:cNvSpPr/>
          <p:nvPr/>
        </p:nvSpPr>
        <p:spPr>
          <a:xfrm>
            <a:off x="7973568" y="222199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0</a:t>
            </a:r>
            <a:endParaRPr lang="en-US" sz="900" dirty="0"/>
          </a:p>
        </p:txBody>
      </p:sp>
      <p:sp>
        <p:nvSpPr>
          <p:cNvPr id="43" name="Shape 41"/>
          <p:cNvSpPr/>
          <p:nvPr/>
        </p:nvSpPr>
        <p:spPr>
          <a:xfrm>
            <a:off x="6080760" y="2496312"/>
            <a:ext cx="603504" cy="246888"/>
          </a:xfrm>
          <a:prstGeom prst="rect">
            <a:avLst/>
          </a:prstGeom>
          <a:solidFill>
            <a:srgbClr val="D6E4F7"/>
          </a:solidFill>
          <a:ln w="9525">
            <a:solidFill>
              <a:srgbClr val="CADCFC"/>
            </a:solidFill>
            <a:prstDash val="solid"/>
          </a:ln>
        </p:spPr>
      </p:sp>
      <p:sp>
        <p:nvSpPr>
          <p:cNvPr id="44" name="Text 42"/>
          <p:cNvSpPr/>
          <p:nvPr/>
        </p:nvSpPr>
        <p:spPr>
          <a:xfrm>
            <a:off x="6080760" y="249631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1</a:t>
            </a:r>
            <a:endParaRPr lang="en-US" sz="900" dirty="0"/>
          </a:p>
        </p:txBody>
      </p:sp>
      <p:sp>
        <p:nvSpPr>
          <p:cNvPr id="45" name="Shape 43"/>
          <p:cNvSpPr/>
          <p:nvPr/>
        </p:nvSpPr>
        <p:spPr>
          <a:xfrm>
            <a:off x="6711696" y="2496312"/>
            <a:ext cx="603504" cy="246888"/>
          </a:xfrm>
          <a:prstGeom prst="rect">
            <a:avLst/>
          </a:prstGeom>
          <a:solidFill>
            <a:srgbClr val="FDEDEC"/>
          </a:solidFill>
          <a:ln w="9525">
            <a:solidFill>
              <a:srgbClr val="F5A9A0"/>
            </a:solidFill>
            <a:prstDash val="solid"/>
          </a:ln>
        </p:spPr>
      </p:sp>
      <p:sp>
        <p:nvSpPr>
          <p:cNvPr id="46" name="Text 44"/>
          <p:cNvSpPr/>
          <p:nvPr/>
        </p:nvSpPr>
        <p:spPr>
          <a:xfrm>
            <a:off x="6711696" y="2496312"/>
            <a:ext cx="603504" cy="246888"/>
          </a:xfrm>
          <a:prstGeom prst="rect">
            <a:avLst/>
          </a:prstGeom>
          <a:noFill/>
          <a:ln/>
        </p:spPr>
        <p:txBody>
          <a:bodyPr wrap="square" lIns="0" tIns="0" rIns="0" bIns="0" rtlCol="0" anchor="ctr"/>
          <a:lstStyle/>
          <a:p>
            <a:pPr marL="0" indent="0" algn="ctr">
              <a:buNone/>
            </a:pPr>
            <a:r>
              <a:rPr lang="en-US" sz="900" b="1" dirty="0">
                <a:solidFill>
                  <a:srgbClr val="C0392B"/>
                </a:solidFill>
                <a:latin typeface="Consolas" pitchFamily="34" charset="0"/>
                <a:ea typeface="Consolas" pitchFamily="34" charset="-122"/>
                <a:cs typeface="Consolas" pitchFamily="34" charset="-120"/>
              </a:rPr>
              <a:t>1</a:t>
            </a:r>
            <a:endParaRPr lang="en-US" sz="900" dirty="0"/>
          </a:p>
        </p:txBody>
      </p:sp>
      <p:sp>
        <p:nvSpPr>
          <p:cNvPr id="47" name="Shape 45"/>
          <p:cNvSpPr/>
          <p:nvPr/>
        </p:nvSpPr>
        <p:spPr>
          <a:xfrm>
            <a:off x="7342632" y="2496312"/>
            <a:ext cx="603504" cy="246888"/>
          </a:xfrm>
          <a:prstGeom prst="rect">
            <a:avLst/>
          </a:prstGeom>
          <a:solidFill>
            <a:srgbClr val="D6E4F7"/>
          </a:solidFill>
          <a:ln w="9525">
            <a:solidFill>
              <a:srgbClr val="CADCFC"/>
            </a:solidFill>
            <a:prstDash val="solid"/>
          </a:ln>
        </p:spPr>
      </p:sp>
      <p:sp>
        <p:nvSpPr>
          <p:cNvPr id="48" name="Text 46"/>
          <p:cNvSpPr/>
          <p:nvPr/>
        </p:nvSpPr>
        <p:spPr>
          <a:xfrm>
            <a:off x="7342632" y="249631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1</a:t>
            </a:r>
            <a:endParaRPr lang="en-US" sz="900" dirty="0"/>
          </a:p>
        </p:txBody>
      </p:sp>
      <p:sp>
        <p:nvSpPr>
          <p:cNvPr id="49" name="Shape 47"/>
          <p:cNvSpPr/>
          <p:nvPr/>
        </p:nvSpPr>
        <p:spPr>
          <a:xfrm>
            <a:off x="7973568" y="2496312"/>
            <a:ext cx="603504" cy="246888"/>
          </a:xfrm>
          <a:prstGeom prst="rect">
            <a:avLst/>
          </a:prstGeom>
          <a:solidFill>
            <a:srgbClr val="D6E4F7"/>
          </a:solidFill>
          <a:ln w="9525">
            <a:solidFill>
              <a:srgbClr val="CADCFC"/>
            </a:solidFill>
            <a:prstDash val="solid"/>
          </a:ln>
        </p:spPr>
      </p:sp>
      <p:sp>
        <p:nvSpPr>
          <p:cNvPr id="50" name="Text 48"/>
          <p:cNvSpPr/>
          <p:nvPr/>
        </p:nvSpPr>
        <p:spPr>
          <a:xfrm>
            <a:off x="7973568" y="249631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1</a:t>
            </a:r>
            <a:endParaRPr lang="en-US" sz="900" dirty="0"/>
          </a:p>
        </p:txBody>
      </p:sp>
      <p:sp>
        <p:nvSpPr>
          <p:cNvPr id="51" name="Shape 49"/>
          <p:cNvSpPr/>
          <p:nvPr/>
        </p:nvSpPr>
        <p:spPr>
          <a:xfrm>
            <a:off x="6080760" y="2770632"/>
            <a:ext cx="603504" cy="246888"/>
          </a:xfrm>
          <a:prstGeom prst="rect">
            <a:avLst/>
          </a:prstGeom>
          <a:solidFill>
            <a:srgbClr val="D6E4F7"/>
          </a:solidFill>
          <a:ln w="9525">
            <a:solidFill>
              <a:srgbClr val="CADCFC"/>
            </a:solidFill>
            <a:prstDash val="solid"/>
          </a:ln>
        </p:spPr>
      </p:sp>
      <p:sp>
        <p:nvSpPr>
          <p:cNvPr id="52" name="Text 50"/>
          <p:cNvSpPr/>
          <p:nvPr/>
        </p:nvSpPr>
        <p:spPr>
          <a:xfrm>
            <a:off x="6080760" y="277063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2</a:t>
            </a:r>
            <a:endParaRPr lang="en-US" sz="900" dirty="0"/>
          </a:p>
        </p:txBody>
      </p:sp>
      <p:sp>
        <p:nvSpPr>
          <p:cNvPr id="53" name="Shape 51"/>
          <p:cNvSpPr/>
          <p:nvPr/>
        </p:nvSpPr>
        <p:spPr>
          <a:xfrm>
            <a:off x="6711696" y="2770632"/>
            <a:ext cx="603504" cy="246888"/>
          </a:xfrm>
          <a:prstGeom prst="rect">
            <a:avLst/>
          </a:prstGeom>
          <a:solidFill>
            <a:srgbClr val="D6E4F7"/>
          </a:solidFill>
          <a:ln w="9525">
            <a:solidFill>
              <a:srgbClr val="CADCFC"/>
            </a:solidFill>
            <a:prstDash val="solid"/>
          </a:ln>
        </p:spPr>
      </p:sp>
      <p:sp>
        <p:nvSpPr>
          <p:cNvPr id="54" name="Text 52"/>
          <p:cNvSpPr/>
          <p:nvPr/>
        </p:nvSpPr>
        <p:spPr>
          <a:xfrm>
            <a:off x="6711696" y="277063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2</a:t>
            </a:r>
            <a:endParaRPr lang="en-US" sz="900" dirty="0"/>
          </a:p>
        </p:txBody>
      </p:sp>
      <p:sp>
        <p:nvSpPr>
          <p:cNvPr id="55" name="Shape 53"/>
          <p:cNvSpPr/>
          <p:nvPr/>
        </p:nvSpPr>
        <p:spPr>
          <a:xfrm>
            <a:off x="7342632" y="2770632"/>
            <a:ext cx="603504" cy="246888"/>
          </a:xfrm>
          <a:prstGeom prst="rect">
            <a:avLst/>
          </a:prstGeom>
          <a:solidFill>
            <a:srgbClr val="D6E4F7"/>
          </a:solidFill>
          <a:ln w="9525">
            <a:solidFill>
              <a:srgbClr val="CADCFC"/>
            </a:solidFill>
            <a:prstDash val="solid"/>
          </a:ln>
        </p:spPr>
      </p:sp>
      <p:sp>
        <p:nvSpPr>
          <p:cNvPr id="56" name="Text 54"/>
          <p:cNvSpPr/>
          <p:nvPr/>
        </p:nvSpPr>
        <p:spPr>
          <a:xfrm>
            <a:off x="7342632" y="277063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2</a:t>
            </a:r>
            <a:endParaRPr lang="en-US" sz="900" dirty="0"/>
          </a:p>
        </p:txBody>
      </p:sp>
      <p:sp>
        <p:nvSpPr>
          <p:cNvPr id="57" name="Shape 55"/>
          <p:cNvSpPr/>
          <p:nvPr/>
        </p:nvSpPr>
        <p:spPr>
          <a:xfrm>
            <a:off x="7973568" y="2770632"/>
            <a:ext cx="603504" cy="246888"/>
          </a:xfrm>
          <a:prstGeom prst="rect">
            <a:avLst/>
          </a:prstGeom>
          <a:solidFill>
            <a:srgbClr val="D6E4F7"/>
          </a:solidFill>
          <a:ln w="9525">
            <a:solidFill>
              <a:srgbClr val="CADCFC"/>
            </a:solidFill>
            <a:prstDash val="solid"/>
          </a:ln>
        </p:spPr>
      </p:sp>
      <p:sp>
        <p:nvSpPr>
          <p:cNvPr id="58" name="Text 56"/>
          <p:cNvSpPr/>
          <p:nvPr/>
        </p:nvSpPr>
        <p:spPr>
          <a:xfrm>
            <a:off x="7973568" y="277063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2</a:t>
            </a:r>
            <a:endParaRPr lang="en-US" sz="900" dirty="0"/>
          </a:p>
        </p:txBody>
      </p:sp>
      <p:sp>
        <p:nvSpPr>
          <p:cNvPr id="59" name="Shape 57"/>
          <p:cNvSpPr/>
          <p:nvPr/>
        </p:nvSpPr>
        <p:spPr>
          <a:xfrm>
            <a:off x="6080760" y="3044952"/>
            <a:ext cx="603504" cy="246888"/>
          </a:xfrm>
          <a:prstGeom prst="rect">
            <a:avLst/>
          </a:prstGeom>
          <a:solidFill>
            <a:srgbClr val="D6E4F7"/>
          </a:solidFill>
          <a:ln w="9525">
            <a:solidFill>
              <a:srgbClr val="CADCFC"/>
            </a:solidFill>
            <a:prstDash val="solid"/>
          </a:ln>
        </p:spPr>
      </p:sp>
      <p:sp>
        <p:nvSpPr>
          <p:cNvPr id="60" name="Text 58"/>
          <p:cNvSpPr/>
          <p:nvPr/>
        </p:nvSpPr>
        <p:spPr>
          <a:xfrm>
            <a:off x="6080760" y="304495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3</a:t>
            </a:r>
            <a:endParaRPr lang="en-US" sz="900" dirty="0"/>
          </a:p>
        </p:txBody>
      </p:sp>
      <p:sp>
        <p:nvSpPr>
          <p:cNvPr id="61" name="Shape 59"/>
          <p:cNvSpPr/>
          <p:nvPr/>
        </p:nvSpPr>
        <p:spPr>
          <a:xfrm>
            <a:off x="6711696" y="3044952"/>
            <a:ext cx="603504" cy="246888"/>
          </a:xfrm>
          <a:prstGeom prst="rect">
            <a:avLst/>
          </a:prstGeom>
          <a:solidFill>
            <a:srgbClr val="FDEDEC"/>
          </a:solidFill>
          <a:ln w="9525">
            <a:solidFill>
              <a:srgbClr val="F5A9A0"/>
            </a:solidFill>
            <a:prstDash val="solid"/>
          </a:ln>
        </p:spPr>
      </p:sp>
      <p:sp>
        <p:nvSpPr>
          <p:cNvPr id="62" name="Text 60"/>
          <p:cNvSpPr/>
          <p:nvPr/>
        </p:nvSpPr>
        <p:spPr>
          <a:xfrm>
            <a:off x="6711696" y="3044952"/>
            <a:ext cx="603504" cy="246888"/>
          </a:xfrm>
          <a:prstGeom prst="rect">
            <a:avLst/>
          </a:prstGeom>
          <a:noFill/>
          <a:ln/>
        </p:spPr>
        <p:txBody>
          <a:bodyPr wrap="square" lIns="0" tIns="0" rIns="0" bIns="0" rtlCol="0" anchor="ctr"/>
          <a:lstStyle/>
          <a:p>
            <a:pPr marL="0" indent="0" algn="ctr">
              <a:buNone/>
            </a:pPr>
            <a:r>
              <a:rPr lang="en-US" sz="900" b="1" dirty="0">
                <a:solidFill>
                  <a:srgbClr val="C0392B"/>
                </a:solidFill>
                <a:latin typeface="Consolas" pitchFamily="34" charset="0"/>
                <a:ea typeface="Consolas" pitchFamily="34" charset="-122"/>
                <a:cs typeface="Consolas" pitchFamily="34" charset="-120"/>
              </a:rPr>
              <a:t>3</a:t>
            </a:r>
            <a:endParaRPr lang="en-US" sz="900" dirty="0"/>
          </a:p>
        </p:txBody>
      </p:sp>
      <p:sp>
        <p:nvSpPr>
          <p:cNvPr id="63" name="Shape 61"/>
          <p:cNvSpPr/>
          <p:nvPr/>
        </p:nvSpPr>
        <p:spPr>
          <a:xfrm>
            <a:off x="7342632" y="3044952"/>
            <a:ext cx="603504" cy="246888"/>
          </a:xfrm>
          <a:prstGeom prst="rect">
            <a:avLst/>
          </a:prstGeom>
          <a:solidFill>
            <a:srgbClr val="D6E4F7"/>
          </a:solidFill>
          <a:ln w="9525">
            <a:solidFill>
              <a:srgbClr val="CADCFC"/>
            </a:solidFill>
            <a:prstDash val="solid"/>
          </a:ln>
        </p:spPr>
      </p:sp>
      <p:sp>
        <p:nvSpPr>
          <p:cNvPr id="64" name="Text 62"/>
          <p:cNvSpPr/>
          <p:nvPr/>
        </p:nvSpPr>
        <p:spPr>
          <a:xfrm>
            <a:off x="7342632" y="304495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3</a:t>
            </a:r>
            <a:endParaRPr lang="en-US" sz="900" dirty="0"/>
          </a:p>
        </p:txBody>
      </p:sp>
      <p:sp>
        <p:nvSpPr>
          <p:cNvPr id="65" name="Shape 63"/>
          <p:cNvSpPr/>
          <p:nvPr/>
        </p:nvSpPr>
        <p:spPr>
          <a:xfrm>
            <a:off x="7973568" y="3044952"/>
            <a:ext cx="603504" cy="246888"/>
          </a:xfrm>
          <a:prstGeom prst="rect">
            <a:avLst/>
          </a:prstGeom>
          <a:solidFill>
            <a:srgbClr val="D6E4F7"/>
          </a:solidFill>
          <a:ln w="9525">
            <a:solidFill>
              <a:srgbClr val="CADCFC"/>
            </a:solidFill>
            <a:prstDash val="solid"/>
          </a:ln>
        </p:spPr>
      </p:sp>
      <p:sp>
        <p:nvSpPr>
          <p:cNvPr id="66" name="Text 64"/>
          <p:cNvSpPr/>
          <p:nvPr/>
        </p:nvSpPr>
        <p:spPr>
          <a:xfrm>
            <a:off x="7973568" y="304495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3</a:t>
            </a:r>
            <a:endParaRPr lang="en-US" sz="900" dirty="0"/>
          </a:p>
        </p:txBody>
      </p:sp>
      <p:sp>
        <p:nvSpPr>
          <p:cNvPr id="67" name="Shape 65"/>
          <p:cNvSpPr/>
          <p:nvPr/>
        </p:nvSpPr>
        <p:spPr>
          <a:xfrm>
            <a:off x="6080760" y="3319272"/>
            <a:ext cx="603504" cy="246888"/>
          </a:xfrm>
          <a:prstGeom prst="rect">
            <a:avLst/>
          </a:prstGeom>
          <a:solidFill>
            <a:srgbClr val="D6E4F7"/>
          </a:solidFill>
          <a:ln w="9525">
            <a:solidFill>
              <a:srgbClr val="CADCFC"/>
            </a:solidFill>
            <a:prstDash val="solid"/>
          </a:ln>
        </p:spPr>
      </p:sp>
      <p:sp>
        <p:nvSpPr>
          <p:cNvPr id="68" name="Text 66"/>
          <p:cNvSpPr/>
          <p:nvPr/>
        </p:nvSpPr>
        <p:spPr>
          <a:xfrm>
            <a:off x="6080760" y="331927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4</a:t>
            </a:r>
            <a:endParaRPr lang="en-US" sz="900" dirty="0"/>
          </a:p>
        </p:txBody>
      </p:sp>
      <p:sp>
        <p:nvSpPr>
          <p:cNvPr id="69" name="Shape 67"/>
          <p:cNvSpPr/>
          <p:nvPr/>
        </p:nvSpPr>
        <p:spPr>
          <a:xfrm>
            <a:off x="6711696" y="3319272"/>
            <a:ext cx="603504" cy="246888"/>
          </a:xfrm>
          <a:prstGeom prst="rect">
            <a:avLst/>
          </a:prstGeom>
          <a:solidFill>
            <a:srgbClr val="D6E4F7"/>
          </a:solidFill>
          <a:ln w="9525">
            <a:solidFill>
              <a:srgbClr val="CADCFC"/>
            </a:solidFill>
            <a:prstDash val="solid"/>
          </a:ln>
        </p:spPr>
      </p:sp>
      <p:sp>
        <p:nvSpPr>
          <p:cNvPr id="70" name="Text 68"/>
          <p:cNvSpPr/>
          <p:nvPr/>
        </p:nvSpPr>
        <p:spPr>
          <a:xfrm>
            <a:off x="6711696" y="331927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4</a:t>
            </a:r>
            <a:endParaRPr lang="en-US" sz="900" dirty="0"/>
          </a:p>
        </p:txBody>
      </p:sp>
      <p:sp>
        <p:nvSpPr>
          <p:cNvPr id="71" name="Shape 69"/>
          <p:cNvSpPr/>
          <p:nvPr/>
        </p:nvSpPr>
        <p:spPr>
          <a:xfrm>
            <a:off x="7342632" y="3319272"/>
            <a:ext cx="603504" cy="246888"/>
          </a:xfrm>
          <a:prstGeom prst="rect">
            <a:avLst/>
          </a:prstGeom>
          <a:solidFill>
            <a:srgbClr val="D6E4F7"/>
          </a:solidFill>
          <a:ln w="9525">
            <a:solidFill>
              <a:srgbClr val="CADCFC"/>
            </a:solidFill>
            <a:prstDash val="solid"/>
          </a:ln>
        </p:spPr>
      </p:sp>
      <p:sp>
        <p:nvSpPr>
          <p:cNvPr id="72" name="Text 70"/>
          <p:cNvSpPr/>
          <p:nvPr/>
        </p:nvSpPr>
        <p:spPr>
          <a:xfrm>
            <a:off x="7342632" y="331927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4</a:t>
            </a:r>
            <a:endParaRPr lang="en-US" sz="900" dirty="0"/>
          </a:p>
        </p:txBody>
      </p:sp>
      <p:sp>
        <p:nvSpPr>
          <p:cNvPr id="73" name="Shape 71"/>
          <p:cNvSpPr/>
          <p:nvPr/>
        </p:nvSpPr>
        <p:spPr>
          <a:xfrm>
            <a:off x="7973568" y="3319272"/>
            <a:ext cx="603504" cy="246888"/>
          </a:xfrm>
          <a:prstGeom prst="rect">
            <a:avLst/>
          </a:prstGeom>
          <a:solidFill>
            <a:srgbClr val="D6E4F7"/>
          </a:solidFill>
          <a:ln w="9525">
            <a:solidFill>
              <a:srgbClr val="CADCFC"/>
            </a:solidFill>
            <a:prstDash val="solid"/>
          </a:ln>
        </p:spPr>
      </p:sp>
      <p:sp>
        <p:nvSpPr>
          <p:cNvPr id="74" name="Text 72"/>
          <p:cNvSpPr/>
          <p:nvPr/>
        </p:nvSpPr>
        <p:spPr>
          <a:xfrm>
            <a:off x="7973568" y="331927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4</a:t>
            </a:r>
            <a:endParaRPr lang="en-US" sz="900" dirty="0"/>
          </a:p>
        </p:txBody>
      </p:sp>
      <p:sp>
        <p:nvSpPr>
          <p:cNvPr id="75" name="Shape 73"/>
          <p:cNvSpPr/>
          <p:nvPr/>
        </p:nvSpPr>
        <p:spPr>
          <a:xfrm>
            <a:off x="6080760" y="3593592"/>
            <a:ext cx="603504" cy="246888"/>
          </a:xfrm>
          <a:prstGeom prst="rect">
            <a:avLst/>
          </a:prstGeom>
          <a:solidFill>
            <a:srgbClr val="D6E4F7"/>
          </a:solidFill>
          <a:ln w="9525">
            <a:solidFill>
              <a:srgbClr val="CADCFC"/>
            </a:solidFill>
            <a:prstDash val="solid"/>
          </a:ln>
        </p:spPr>
      </p:sp>
      <p:sp>
        <p:nvSpPr>
          <p:cNvPr id="76" name="Text 74"/>
          <p:cNvSpPr/>
          <p:nvPr/>
        </p:nvSpPr>
        <p:spPr>
          <a:xfrm>
            <a:off x="6080760" y="359359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5</a:t>
            </a:r>
            <a:endParaRPr lang="en-US" sz="900" dirty="0"/>
          </a:p>
        </p:txBody>
      </p:sp>
      <p:sp>
        <p:nvSpPr>
          <p:cNvPr id="77" name="Shape 75"/>
          <p:cNvSpPr/>
          <p:nvPr/>
        </p:nvSpPr>
        <p:spPr>
          <a:xfrm>
            <a:off x="6711696" y="3593592"/>
            <a:ext cx="603504" cy="246888"/>
          </a:xfrm>
          <a:prstGeom prst="rect">
            <a:avLst/>
          </a:prstGeom>
          <a:solidFill>
            <a:srgbClr val="FDEDEC"/>
          </a:solidFill>
          <a:ln w="9525">
            <a:solidFill>
              <a:srgbClr val="F5A9A0"/>
            </a:solidFill>
            <a:prstDash val="solid"/>
          </a:ln>
        </p:spPr>
      </p:sp>
      <p:sp>
        <p:nvSpPr>
          <p:cNvPr id="78" name="Text 76"/>
          <p:cNvSpPr/>
          <p:nvPr/>
        </p:nvSpPr>
        <p:spPr>
          <a:xfrm>
            <a:off x="6711696" y="3593592"/>
            <a:ext cx="603504" cy="246888"/>
          </a:xfrm>
          <a:prstGeom prst="rect">
            <a:avLst/>
          </a:prstGeom>
          <a:noFill/>
          <a:ln/>
        </p:spPr>
        <p:txBody>
          <a:bodyPr wrap="square" lIns="0" tIns="0" rIns="0" bIns="0" rtlCol="0" anchor="ctr"/>
          <a:lstStyle/>
          <a:p>
            <a:pPr marL="0" indent="0" algn="ctr">
              <a:buNone/>
            </a:pPr>
            <a:r>
              <a:rPr lang="en-US" sz="900" b="1" dirty="0">
                <a:solidFill>
                  <a:srgbClr val="C0392B"/>
                </a:solidFill>
                <a:latin typeface="Consolas" pitchFamily="34" charset="0"/>
                <a:ea typeface="Consolas" pitchFamily="34" charset="-122"/>
                <a:cs typeface="Consolas" pitchFamily="34" charset="-120"/>
              </a:rPr>
              <a:t>5</a:t>
            </a:r>
            <a:endParaRPr lang="en-US" sz="900" dirty="0"/>
          </a:p>
        </p:txBody>
      </p:sp>
      <p:sp>
        <p:nvSpPr>
          <p:cNvPr id="79" name="Shape 77"/>
          <p:cNvSpPr/>
          <p:nvPr/>
        </p:nvSpPr>
        <p:spPr>
          <a:xfrm>
            <a:off x="7342632" y="3593592"/>
            <a:ext cx="603504" cy="246888"/>
          </a:xfrm>
          <a:prstGeom prst="rect">
            <a:avLst/>
          </a:prstGeom>
          <a:solidFill>
            <a:srgbClr val="D6E4F7"/>
          </a:solidFill>
          <a:ln w="9525">
            <a:solidFill>
              <a:srgbClr val="CADCFC"/>
            </a:solidFill>
            <a:prstDash val="solid"/>
          </a:ln>
        </p:spPr>
      </p:sp>
      <p:sp>
        <p:nvSpPr>
          <p:cNvPr id="80" name="Text 78"/>
          <p:cNvSpPr/>
          <p:nvPr/>
        </p:nvSpPr>
        <p:spPr>
          <a:xfrm>
            <a:off x="7342632" y="359359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5</a:t>
            </a:r>
            <a:endParaRPr lang="en-US" sz="900" dirty="0"/>
          </a:p>
        </p:txBody>
      </p:sp>
      <p:sp>
        <p:nvSpPr>
          <p:cNvPr id="81" name="Shape 79"/>
          <p:cNvSpPr/>
          <p:nvPr/>
        </p:nvSpPr>
        <p:spPr>
          <a:xfrm>
            <a:off x="7973568" y="3593592"/>
            <a:ext cx="603504" cy="246888"/>
          </a:xfrm>
          <a:prstGeom prst="rect">
            <a:avLst/>
          </a:prstGeom>
          <a:solidFill>
            <a:srgbClr val="D6E4F7"/>
          </a:solidFill>
          <a:ln w="9525">
            <a:solidFill>
              <a:srgbClr val="CADCFC"/>
            </a:solidFill>
            <a:prstDash val="solid"/>
          </a:ln>
        </p:spPr>
      </p:sp>
      <p:sp>
        <p:nvSpPr>
          <p:cNvPr id="82" name="Text 80"/>
          <p:cNvSpPr/>
          <p:nvPr/>
        </p:nvSpPr>
        <p:spPr>
          <a:xfrm>
            <a:off x="7973568" y="359359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5</a:t>
            </a:r>
            <a:endParaRPr lang="en-US" sz="900" dirty="0"/>
          </a:p>
        </p:txBody>
      </p:sp>
      <p:sp>
        <p:nvSpPr>
          <p:cNvPr id="83" name="Shape 81"/>
          <p:cNvSpPr/>
          <p:nvPr/>
        </p:nvSpPr>
        <p:spPr>
          <a:xfrm>
            <a:off x="6080760" y="3867912"/>
            <a:ext cx="603504" cy="246888"/>
          </a:xfrm>
          <a:prstGeom prst="rect">
            <a:avLst/>
          </a:prstGeom>
          <a:solidFill>
            <a:srgbClr val="D6E4F7"/>
          </a:solidFill>
          <a:ln w="9525">
            <a:solidFill>
              <a:srgbClr val="CADCFC"/>
            </a:solidFill>
            <a:prstDash val="solid"/>
          </a:ln>
        </p:spPr>
      </p:sp>
      <p:sp>
        <p:nvSpPr>
          <p:cNvPr id="84" name="Text 82"/>
          <p:cNvSpPr/>
          <p:nvPr/>
        </p:nvSpPr>
        <p:spPr>
          <a:xfrm>
            <a:off x="6080760" y="386791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6</a:t>
            </a:r>
            <a:endParaRPr lang="en-US" sz="900" dirty="0"/>
          </a:p>
        </p:txBody>
      </p:sp>
      <p:sp>
        <p:nvSpPr>
          <p:cNvPr id="85" name="Shape 83"/>
          <p:cNvSpPr/>
          <p:nvPr/>
        </p:nvSpPr>
        <p:spPr>
          <a:xfrm>
            <a:off x="6711696" y="3867912"/>
            <a:ext cx="603504" cy="246888"/>
          </a:xfrm>
          <a:prstGeom prst="rect">
            <a:avLst/>
          </a:prstGeom>
          <a:solidFill>
            <a:srgbClr val="D6E4F7"/>
          </a:solidFill>
          <a:ln w="9525">
            <a:solidFill>
              <a:srgbClr val="CADCFC"/>
            </a:solidFill>
            <a:prstDash val="solid"/>
          </a:ln>
        </p:spPr>
      </p:sp>
      <p:sp>
        <p:nvSpPr>
          <p:cNvPr id="86" name="Text 84"/>
          <p:cNvSpPr/>
          <p:nvPr/>
        </p:nvSpPr>
        <p:spPr>
          <a:xfrm>
            <a:off x="6711696" y="386791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6</a:t>
            </a:r>
            <a:endParaRPr lang="en-US" sz="900" dirty="0"/>
          </a:p>
        </p:txBody>
      </p:sp>
      <p:sp>
        <p:nvSpPr>
          <p:cNvPr id="87" name="Shape 85"/>
          <p:cNvSpPr/>
          <p:nvPr/>
        </p:nvSpPr>
        <p:spPr>
          <a:xfrm>
            <a:off x="7342632" y="3867912"/>
            <a:ext cx="603504" cy="246888"/>
          </a:xfrm>
          <a:prstGeom prst="rect">
            <a:avLst/>
          </a:prstGeom>
          <a:solidFill>
            <a:srgbClr val="D6E4F7"/>
          </a:solidFill>
          <a:ln w="9525">
            <a:solidFill>
              <a:srgbClr val="CADCFC"/>
            </a:solidFill>
            <a:prstDash val="solid"/>
          </a:ln>
        </p:spPr>
      </p:sp>
      <p:sp>
        <p:nvSpPr>
          <p:cNvPr id="88" name="Text 86"/>
          <p:cNvSpPr/>
          <p:nvPr/>
        </p:nvSpPr>
        <p:spPr>
          <a:xfrm>
            <a:off x="7342632" y="386791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6</a:t>
            </a:r>
            <a:endParaRPr lang="en-US" sz="900" dirty="0"/>
          </a:p>
        </p:txBody>
      </p:sp>
      <p:sp>
        <p:nvSpPr>
          <p:cNvPr id="89" name="Shape 87"/>
          <p:cNvSpPr/>
          <p:nvPr/>
        </p:nvSpPr>
        <p:spPr>
          <a:xfrm>
            <a:off x="7973568" y="3867912"/>
            <a:ext cx="603504" cy="246888"/>
          </a:xfrm>
          <a:prstGeom prst="rect">
            <a:avLst/>
          </a:prstGeom>
          <a:solidFill>
            <a:srgbClr val="D6E4F7"/>
          </a:solidFill>
          <a:ln w="9525">
            <a:solidFill>
              <a:srgbClr val="CADCFC"/>
            </a:solidFill>
            <a:prstDash val="solid"/>
          </a:ln>
        </p:spPr>
      </p:sp>
      <p:sp>
        <p:nvSpPr>
          <p:cNvPr id="90" name="Text 88"/>
          <p:cNvSpPr/>
          <p:nvPr/>
        </p:nvSpPr>
        <p:spPr>
          <a:xfrm>
            <a:off x="7973568" y="386791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6</a:t>
            </a:r>
            <a:endParaRPr lang="en-US" sz="900" dirty="0"/>
          </a:p>
        </p:txBody>
      </p:sp>
      <p:sp>
        <p:nvSpPr>
          <p:cNvPr id="91" name="Shape 89"/>
          <p:cNvSpPr/>
          <p:nvPr/>
        </p:nvSpPr>
        <p:spPr>
          <a:xfrm>
            <a:off x="6080760" y="4142232"/>
            <a:ext cx="603504" cy="246888"/>
          </a:xfrm>
          <a:prstGeom prst="rect">
            <a:avLst/>
          </a:prstGeom>
          <a:solidFill>
            <a:srgbClr val="D6E4F7"/>
          </a:solidFill>
          <a:ln w="9525">
            <a:solidFill>
              <a:srgbClr val="CADCFC"/>
            </a:solidFill>
            <a:prstDash val="solid"/>
          </a:ln>
        </p:spPr>
      </p:sp>
      <p:sp>
        <p:nvSpPr>
          <p:cNvPr id="92" name="Text 90"/>
          <p:cNvSpPr/>
          <p:nvPr/>
        </p:nvSpPr>
        <p:spPr>
          <a:xfrm>
            <a:off x="6080760" y="414223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7</a:t>
            </a:r>
            <a:endParaRPr lang="en-US" sz="900" dirty="0"/>
          </a:p>
        </p:txBody>
      </p:sp>
      <p:sp>
        <p:nvSpPr>
          <p:cNvPr id="93" name="Shape 91"/>
          <p:cNvSpPr/>
          <p:nvPr/>
        </p:nvSpPr>
        <p:spPr>
          <a:xfrm>
            <a:off x="6711696" y="4142232"/>
            <a:ext cx="603504" cy="246888"/>
          </a:xfrm>
          <a:prstGeom prst="rect">
            <a:avLst/>
          </a:prstGeom>
          <a:solidFill>
            <a:srgbClr val="FDEDEC"/>
          </a:solidFill>
          <a:ln w="9525">
            <a:solidFill>
              <a:srgbClr val="F5A9A0"/>
            </a:solidFill>
            <a:prstDash val="solid"/>
          </a:ln>
        </p:spPr>
      </p:sp>
      <p:sp>
        <p:nvSpPr>
          <p:cNvPr id="94" name="Text 92"/>
          <p:cNvSpPr/>
          <p:nvPr/>
        </p:nvSpPr>
        <p:spPr>
          <a:xfrm>
            <a:off x="6711696" y="4142232"/>
            <a:ext cx="603504" cy="246888"/>
          </a:xfrm>
          <a:prstGeom prst="rect">
            <a:avLst/>
          </a:prstGeom>
          <a:noFill/>
          <a:ln/>
        </p:spPr>
        <p:txBody>
          <a:bodyPr wrap="square" lIns="0" tIns="0" rIns="0" bIns="0" rtlCol="0" anchor="ctr"/>
          <a:lstStyle/>
          <a:p>
            <a:pPr marL="0" indent="0" algn="ctr">
              <a:buNone/>
            </a:pPr>
            <a:r>
              <a:rPr lang="en-US" sz="900" b="1" dirty="0">
                <a:solidFill>
                  <a:srgbClr val="C0392B"/>
                </a:solidFill>
                <a:latin typeface="Consolas" pitchFamily="34" charset="0"/>
                <a:ea typeface="Consolas" pitchFamily="34" charset="-122"/>
                <a:cs typeface="Consolas" pitchFamily="34" charset="-120"/>
              </a:rPr>
              <a:t>7</a:t>
            </a:r>
            <a:endParaRPr lang="en-US" sz="900" dirty="0"/>
          </a:p>
        </p:txBody>
      </p:sp>
      <p:sp>
        <p:nvSpPr>
          <p:cNvPr id="95" name="Shape 93"/>
          <p:cNvSpPr/>
          <p:nvPr/>
        </p:nvSpPr>
        <p:spPr>
          <a:xfrm>
            <a:off x="7342632" y="4142232"/>
            <a:ext cx="603504" cy="246888"/>
          </a:xfrm>
          <a:prstGeom prst="rect">
            <a:avLst/>
          </a:prstGeom>
          <a:solidFill>
            <a:srgbClr val="D6E4F7"/>
          </a:solidFill>
          <a:ln w="9525">
            <a:solidFill>
              <a:srgbClr val="CADCFC"/>
            </a:solidFill>
            <a:prstDash val="solid"/>
          </a:ln>
        </p:spPr>
      </p:sp>
      <p:sp>
        <p:nvSpPr>
          <p:cNvPr id="96" name="Text 94"/>
          <p:cNvSpPr/>
          <p:nvPr/>
        </p:nvSpPr>
        <p:spPr>
          <a:xfrm>
            <a:off x="7342632" y="414223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7</a:t>
            </a:r>
            <a:endParaRPr lang="en-US" sz="900" dirty="0"/>
          </a:p>
        </p:txBody>
      </p:sp>
      <p:sp>
        <p:nvSpPr>
          <p:cNvPr id="97" name="Shape 95"/>
          <p:cNvSpPr/>
          <p:nvPr/>
        </p:nvSpPr>
        <p:spPr>
          <a:xfrm>
            <a:off x="7973568" y="4142232"/>
            <a:ext cx="603504" cy="246888"/>
          </a:xfrm>
          <a:prstGeom prst="rect">
            <a:avLst/>
          </a:prstGeom>
          <a:solidFill>
            <a:srgbClr val="D6E4F7"/>
          </a:solidFill>
          <a:ln w="9525">
            <a:solidFill>
              <a:srgbClr val="CADCFC"/>
            </a:solidFill>
            <a:prstDash val="solid"/>
          </a:ln>
        </p:spPr>
      </p:sp>
      <p:sp>
        <p:nvSpPr>
          <p:cNvPr id="98" name="Text 96"/>
          <p:cNvSpPr/>
          <p:nvPr/>
        </p:nvSpPr>
        <p:spPr>
          <a:xfrm>
            <a:off x="7973568" y="414223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7</a:t>
            </a:r>
            <a:endParaRPr lang="en-US" sz="900" dirty="0"/>
          </a:p>
        </p:txBody>
      </p:sp>
      <p:sp>
        <p:nvSpPr>
          <p:cNvPr id="99" name="Shape 97"/>
          <p:cNvSpPr/>
          <p:nvPr/>
        </p:nvSpPr>
        <p:spPr>
          <a:xfrm>
            <a:off x="6080760" y="4416552"/>
            <a:ext cx="603504" cy="246888"/>
          </a:xfrm>
          <a:prstGeom prst="rect">
            <a:avLst/>
          </a:prstGeom>
          <a:solidFill>
            <a:srgbClr val="D6E4F7"/>
          </a:solidFill>
          <a:ln w="9525">
            <a:solidFill>
              <a:srgbClr val="CADCFC"/>
            </a:solidFill>
            <a:prstDash val="solid"/>
          </a:ln>
        </p:spPr>
      </p:sp>
      <p:sp>
        <p:nvSpPr>
          <p:cNvPr id="100" name="Text 98"/>
          <p:cNvSpPr/>
          <p:nvPr/>
        </p:nvSpPr>
        <p:spPr>
          <a:xfrm>
            <a:off x="6080760" y="441655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8</a:t>
            </a:r>
            <a:endParaRPr lang="en-US" sz="900" dirty="0"/>
          </a:p>
        </p:txBody>
      </p:sp>
      <p:sp>
        <p:nvSpPr>
          <p:cNvPr id="101" name="Shape 99"/>
          <p:cNvSpPr/>
          <p:nvPr/>
        </p:nvSpPr>
        <p:spPr>
          <a:xfrm>
            <a:off x="6711696" y="4416552"/>
            <a:ext cx="603504" cy="246888"/>
          </a:xfrm>
          <a:prstGeom prst="rect">
            <a:avLst/>
          </a:prstGeom>
          <a:solidFill>
            <a:srgbClr val="D6E4F7"/>
          </a:solidFill>
          <a:ln w="9525">
            <a:solidFill>
              <a:srgbClr val="CADCFC"/>
            </a:solidFill>
            <a:prstDash val="solid"/>
          </a:ln>
        </p:spPr>
      </p:sp>
      <p:sp>
        <p:nvSpPr>
          <p:cNvPr id="102" name="Text 100"/>
          <p:cNvSpPr/>
          <p:nvPr/>
        </p:nvSpPr>
        <p:spPr>
          <a:xfrm>
            <a:off x="6711696" y="441655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8</a:t>
            </a:r>
            <a:endParaRPr lang="en-US" sz="900" dirty="0"/>
          </a:p>
        </p:txBody>
      </p:sp>
      <p:sp>
        <p:nvSpPr>
          <p:cNvPr id="103" name="Shape 101"/>
          <p:cNvSpPr/>
          <p:nvPr/>
        </p:nvSpPr>
        <p:spPr>
          <a:xfrm>
            <a:off x="7342632" y="4416552"/>
            <a:ext cx="603504" cy="246888"/>
          </a:xfrm>
          <a:prstGeom prst="rect">
            <a:avLst/>
          </a:prstGeom>
          <a:solidFill>
            <a:srgbClr val="D6E4F7"/>
          </a:solidFill>
          <a:ln w="9525">
            <a:solidFill>
              <a:srgbClr val="CADCFC"/>
            </a:solidFill>
            <a:prstDash val="solid"/>
          </a:ln>
        </p:spPr>
      </p:sp>
      <p:sp>
        <p:nvSpPr>
          <p:cNvPr id="104" name="Text 102"/>
          <p:cNvSpPr/>
          <p:nvPr/>
        </p:nvSpPr>
        <p:spPr>
          <a:xfrm>
            <a:off x="7342632" y="441655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8</a:t>
            </a:r>
            <a:endParaRPr lang="en-US" sz="900" dirty="0"/>
          </a:p>
        </p:txBody>
      </p:sp>
      <p:sp>
        <p:nvSpPr>
          <p:cNvPr id="105" name="Shape 103"/>
          <p:cNvSpPr/>
          <p:nvPr/>
        </p:nvSpPr>
        <p:spPr>
          <a:xfrm>
            <a:off x="7973568" y="4416552"/>
            <a:ext cx="603504" cy="246888"/>
          </a:xfrm>
          <a:prstGeom prst="rect">
            <a:avLst/>
          </a:prstGeom>
          <a:solidFill>
            <a:srgbClr val="D6E4F7"/>
          </a:solidFill>
          <a:ln w="9525">
            <a:solidFill>
              <a:srgbClr val="CADCFC"/>
            </a:solidFill>
            <a:prstDash val="solid"/>
          </a:ln>
        </p:spPr>
      </p:sp>
      <p:sp>
        <p:nvSpPr>
          <p:cNvPr id="106" name="Text 104"/>
          <p:cNvSpPr/>
          <p:nvPr/>
        </p:nvSpPr>
        <p:spPr>
          <a:xfrm>
            <a:off x="7973568" y="441655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8</a:t>
            </a:r>
            <a:endParaRPr lang="en-US" sz="900" dirty="0"/>
          </a:p>
        </p:txBody>
      </p:sp>
      <p:sp>
        <p:nvSpPr>
          <p:cNvPr id="107" name="Shape 105"/>
          <p:cNvSpPr/>
          <p:nvPr/>
        </p:nvSpPr>
        <p:spPr>
          <a:xfrm>
            <a:off x="6080760" y="4690872"/>
            <a:ext cx="603504" cy="246888"/>
          </a:xfrm>
          <a:prstGeom prst="rect">
            <a:avLst/>
          </a:prstGeom>
          <a:solidFill>
            <a:srgbClr val="D6E4F7"/>
          </a:solidFill>
          <a:ln w="9525">
            <a:solidFill>
              <a:srgbClr val="CADCFC"/>
            </a:solidFill>
            <a:prstDash val="solid"/>
          </a:ln>
        </p:spPr>
      </p:sp>
      <p:sp>
        <p:nvSpPr>
          <p:cNvPr id="108" name="Text 106"/>
          <p:cNvSpPr/>
          <p:nvPr/>
        </p:nvSpPr>
        <p:spPr>
          <a:xfrm>
            <a:off x="6080760" y="469087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9</a:t>
            </a:r>
            <a:endParaRPr lang="en-US" sz="900" dirty="0"/>
          </a:p>
        </p:txBody>
      </p:sp>
      <p:sp>
        <p:nvSpPr>
          <p:cNvPr id="109" name="Shape 107"/>
          <p:cNvSpPr/>
          <p:nvPr/>
        </p:nvSpPr>
        <p:spPr>
          <a:xfrm>
            <a:off x="6711696" y="4690872"/>
            <a:ext cx="603504" cy="246888"/>
          </a:xfrm>
          <a:prstGeom prst="rect">
            <a:avLst/>
          </a:prstGeom>
          <a:solidFill>
            <a:srgbClr val="FDEDEC"/>
          </a:solidFill>
          <a:ln w="9525">
            <a:solidFill>
              <a:srgbClr val="F5A9A0"/>
            </a:solidFill>
            <a:prstDash val="solid"/>
          </a:ln>
        </p:spPr>
      </p:sp>
      <p:sp>
        <p:nvSpPr>
          <p:cNvPr id="110" name="Text 108"/>
          <p:cNvSpPr/>
          <p:nvPr/>
        </p:nvSpPr>
        <p:spPr>
          <a:xfrm>
            <a:off x="6711696" y="4690872"/>
            <a:ext cx="603504" cy="246888"/>
          </a:xfrm>
          <a:prstGeom prst="rect">
            <a:avLst/>
          </a:prstGeom>
          <a:noFill/>
          <a:ln/>
        </p:spPr>
        <p:txBody>
          <a:bodyPr wrap="square" lIns="0" tIns="0" rIns="0" bIns="0" rtlCol="0" anchor="ctr"/>
          <a:lstStyle/>
          <a:p>
            <a:pPr marL="0" indent="0" algn="ctr">
              <a:buNone/>
            </a:pPr>
            <a:r>
              <a:rPr lang="en-US" sz="900" b="1" dirty="0">
                <a:solidFill>
                  <a:srgbClr val="C0392B"/>
                </a:solidFill>
                <a:latin typeface="Consolas" pitchFamily="34" charset="0"/>
                <a:ea typeface="Consolas" pitchFamily="34" charset="-122"/>
                <a:cs typeface="Consolas" pitchFamily="34" charset="-120"/>
              </a:rPr>
              <a:t>9</a:t>
            </a:r>
            <a:endParaRPr lang="en-US" sz="900" dirty="0"/>
          </a:p>
        </p:txBody>
      </p:sp>
      <p:sp>
        <p:nvSpPr>
          <p:cNvPr id="111" name="Shape 109"/>
          <p:cNvSpPr/>
          <p:nvPr/>
        </p:nvSpPr>
        <p:spPr>
          <a:xfrm>
            <a:off x="7342632" y="4690872"/>
            <a:ext cx="603504" cy="246888"/>
          </a:xfrm>
          <a:prstGeom prst="rect">
            <a:avLst/>
          </a:prstGeom>
          <a:solidFill>
            <a:srgbClr val="D6E4F7"/>
          </a:solidFill>
          <a:ln w="9525">
            <a:solidFill>
              <a:srgbClr val="CADCFC"/>
            </a:solidFill>
            <a:prstDash val="solid"/>
          </a:ln>
        </p:spPr>
      </p:sp>
      <p:sp>
        <p:nvSpPr>
          <p:cNvPr id="112" name="Text 110"/>
          <p:cNvSpPr/>
          <p:nvPr/>
        </p:nvSpPr>
        <p:spPr>
          <a:xfrm>
            <a:off x="7342632" y="469087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9</a:t>
            </a:r>
            <a:endParaRPr lang="en-US" sz="900" dirty="0"/>
          </a:p>
        </p:txBody>
      </p:sp>
      <p:sp>
        <p:nvSpPr>
          <p:cNvPr id="113" name="Shape 111"/>
          <p:cNvSpPr/>
          <p:nvPr/>
        </p:nvSpPr>
        <p:spPr>
          <a:xfrm>
            <a:off x="7973568" y="4690872"/>
            <a:ext cx="603504" cy="246888"/>
          </a:xfrm>
          <a:prstGeom prst="rect">
            <a:avLst/>
          </a:prstGeom>
          <a:solidFill>
            <a:srgbClr val="D6E4F7"/>
          </a:solidFill>
          <a:ln w="9525">
            <a:solidFill>
              <a:srgbClr val="CADCFC"/>
            </a:solidFill>
            <a:prstDash val="solid"/>
          </a:ln>
        </p:spPr>
      </p:sp>
      <p:sp>
        <p:nvSpPr>
          <p:cNvPr id="114" name="Text 112"/>
          <p:cNvSpPr/>
          <p:nvPr/>
        </p:nvSpPr>
        <p:spPr>
          <a:xfrm>
            <a:off x="7973568" y="469087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9</a:t>
            </a:r>
            <a:endParaRPr lang="en-US" sz="900" dirty="0"/>
          </a:p>
        </p:txBody>
      </p:sp>
      <p:grpSp>
        <p:nvGrpSpPr>
          <p:cNvPr id="120" name="Group 119">
            <a:extLst>
              <a:ext uri="{FF2B5EF4-FFF2-40B4-BE49-F238E27FC236}">
                <a16:creationId xmlns:a16="http://schemas.microsoft.com/office/drawing/2014/main" id="{61AEF629-76DA-F54D-FE07-CBF474C2BCDD}"/>
              </a:ext>
            </a:extLst>
          </p:cNvPr>
          <p:cNvGrpSpPr/>
          <p:nvPr/>
        </p:nvGrpSpPr>
        <p:grpSpPr>
          <a:xfrm>
            <a:off x="4028944" y="3930880"/>
            <a:ext cx="1216152" cy="201168"/>
            <a:chOff x="4028944" y="3930880"/>
            <a:chExt cx="1216152" cy="201168"/>
          </a:xfrm>
        </p:grpSpPr>
        <p:sp>
          <p:nvSpPr>
            <p:cNvPr id="115" name="Shape 113"/>
            <p:cNvSpPr/>
            <p:nvPr/>
          </p:nvSpPr>
          <p:spPr>
            <a:xfrm>
              <a:off x="4028944" y="3930880"/>
              <a:ext cx="548640" cy="201168"/>
            </a:xfrm>
            <a:prstGeom prst="rect">
              <a:avLst/>
            </a:prstGeom>
            <a:solidFill>
              <a:srgbClr val="D6E4F7"/>
            </a:solidFill>
            <a:ln w="9525">
              <a:solidFill>
                <a:srgbClr val="CADCFC"/>
              </a:solidFill>
              <a:prstDash val="solid"/>
            </a:ln>
          </p:spPr>
        </p:sp>
        <p:sp>
          <p:nvSpPr>
            <p:cNvPr id="116" name="Text 114"/>
            <p:cNvSpPr/>
            <p:nvPr/>
          </p:nvSpPr>
          <p:spPr>
            <a:xfrm>
              <a:off x="4605016" y="3930880"/>
              <a:ext cx="640080" cy="201168"/>
            </a:xfrm>
            <a:prstGeom prst="rect">
              <a:avLst/>
            </a:prstGeom>
            <a:noFill/>
            <a:ln/>
          </p:spPr>
          <p:txBody>
            <a:bodyPr wrap="square" lIns="0" tIns="0" rIns="0" bIns="0" rtlCol="0" anchor="ctr"/>
            <a:lstStyle/>
            <a:p>
              <a:pPr marL="0" indent="0">
                <a:buNone/>
              </a:pPr>
              <a:r>
                <a:rPr lang="en-US" sz="900" dirty="0">
                  <a:solidFill>
                    <a:srgbClr val="3D5A80"/>
                  </a:solidFill>
                  <a:latin typeface="Calibri" pitchFamily="34" charset="0"/>
                  <a:ea typeface="Calibri" pitchFamily="34" charset="-122"/>
                  <a:cs typeface="Calibri" pitchFamily="34" charset="-120"/>
                </a:rPr>
                <a:t>= valid</a:t>
              </a:r>
              <a:endParaRPr lang="en-US" sz="900" dirty="0"/>
            </a:p>
          </p:txBody>
        </p:sp>
      </p:grpSp>
      <p:grpSp>
        <p:nvGrpSpPr>
          <p:cNvPr id="121" name="Group 120">
            <a:extLst>
              <a:ext uri="{FF2B5EF4-FFF2-40B4-BE49-F238E27FC236}">
                <a16:creationId xmlns:a16="http://schemas.microsoft.com/office/drawing/2014/main" id="{741B4A5A-B9E7-CF20-0D78-21B9D0E74C71}"/>
              </a:ext>
            </a:extLst>
          </p:cNvPr>
          <p:cNvGrpSpPr/>
          <p:nvPr/>
        </p:nvGrpSpPr>
        <p:grpSpPr>
          <a:xfrm>
            <a:off x="3991039" y="4339758"/>
            <a:ext cx="1307592" cy="201168"/>
            <a:chOff x="3991039" y="4339758"/>
            <a:chExt cx="1307592" cy="201168"/>
          </a:xfrm>
        </p:grpSpPr>
        <p:sp>
          <p:nvSpPr>
            <p:cNvPr id="117" name="Shape 115"/>
            <p:cNvSpPr/>
            <p:nvPr/>
          </p:nvSpPr>
          <p:spPr>
            <a:xfrm>
              <a:off x="3991039" y="4339758"/>
              <a:ext cx="548640" cy="201168"/>
            </a:xfrm>
            <a:prstGeom prst="rect">
              <a:avLst/>
            </a:prstGeom>
            <a:solidFill>
              <a:srgbClr val="FDEDEC"/>
            </a:solidFill>
            <a:ln w="9525">
              <a:solidFill>
                <a:srgbClr val="F5A9A0"/>
              </a:solidFill>
              <a:prstDash val="solid"/>
            </a:ln>
          </p:spPr>
        </p:sp>
        <p:sp>
          <p:nvSpPr>
            <p:cNvPr id="118" name="Text 116"/>
            <p:cNvSpPr/>
            <p:nvPr/>
          </p:nvSpPr>
          <p:spPr>
            <a:xfrm>
              <a:off x="4567111" y="4339758"/>
              <a:ext cx="731520" cy="201168"/>
            </a:xfrm>
            <a:prstGeom prst="rect">
              <a:avLst/>
            </a:prstGeom>
            <a:noFill/>
            <a:ln/>
          </p:spPr>
          <p:txBody>
            <a:bodyPr wrap="square" lIns="0" tIns="0" rIns="0" bIns="0" rtlCol="0" anchor="ctr"/>
            <a:lstStyle/>
            <a:p>
              <a:pPr marL="0" indent="0">
                <a:buNone/>
              </a:pPr>
              <a:r>
                <a:rPr lang="en-US" sz="900" dirty="0">
                  <a:solidFill>
                    <a:srgbClr val="C0392B"/>
                  </a:solidFill>
                  <a:latin typeface="Calibri" pitchFamily="34" charset="0"/>
                  <a:ea typeface="Calibri" pitchFamily="34" charset="-122"/>
                  <a:cs typeface="Calibri" pitchFamily="34" charset="-120"/>
                </a:rPr>
                <a:t>= masked</a:t>
              </a:r>
              <a:endParaRPr lang="en-US" sz="900" dirty="0"/>
            </a:p>
          </p:txBody>
        </p:sp>
      </p:grpSp>
      <p:pic>
        <p:nvPicPr>
          <p:cNvPr id="119" name="Google Shape;328;p29">
            <a:extLst>
              <a:ext uri="{FF2B5EF4-FFF2-40B4-BE49-F238E27FC236}">
                <a16:creationId xmlns:a16="http://schemas.microsoft.com/office/drawing/2014/main" id="{164B22F6-5AA5-DC20-FB01-6A6B9D9F1A46}"/>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246114577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11480" y="146304"/>
            <a:ext cx="8321040" cy="566928"/>
          </a:xfrm>
          <a:prstGeom prst="rect">
            <a:avLst/>
          </a:prstGeom>
          <a:noFill/>
          <a:ln/>
        </p:spPr>
        <p:txBody>
          <a:bodyPr wrap="square" lIns="0" tIns="0" rIns="0" bIns="0" rtlCol="0" anchor="ctr"/>
          <a:lstStyle/>
          <a:p>
            <a:pPr marL="0" indent="0">
              <a:buNone/>
            </a:pPr>
            <a:r>
              <a:rPr lang="en-US" sz="2500" b="1" dirty="0">
                <a:solidFill>
                  <a:srgbClr val="1A1F36"/>
                </a:solidFill>
                <a:latin typeface="Georgia" pitchFamily="34" charset="0"/>
                <a:ea typeface="Georgia" pitchFamily="34" charset="-122"/>
                <a:cs typeface="Georgia" pitchFamily="34" charset="-120"/>
              </a:rPr>
              <a:t>Setup — Load Model &amp; Tokenizer</a:t>
            </a:r>
            <a:endParaRPr lang="en-US" sz="2500" dirty="0"/>
          </a:p>
        </p:txBody>
      </p:sp>
      <p:sp>
        <p:nvSpPr>
          <p:cNvPr id="4" name="Text 2"/>
          <p:cNvSpPr/>
          <p:nvPr/>
        </p:nvSpPr>
        <p:spPr>
          <a:xfrm>
            <a:off x="411480" y="786384"/>
            <a:ext cx="8321040" cy="438912"/>
          </a:xfrm>
          <a:prstGeom prst="rect">
            <a:avLst/>
          </a:prstGeom>
          <a:noFill/>
          <a:ln/>
        </p:spPr>
        <p:txBody>
          <a:bodyPr wrap="square" rtlCol="0" anchor="ctr"/>
          <a:lstStyle/>
          <a:p>
            <a:pPr marL="0" indent="0">
              <a:buNone/>
            </a:pPr>
            <a:r>
              <a:rPr lang="en-US" sz="1300" dirty="0">
                <a:solidFill>
                  <a:srgbClr val="1A1F36"/>
                </a:solidFill>
                <a:latin typeface="Calibri" pitchFamily="34" charset="0"/>
                <a:ea typeface="Calibri" pitchFamily="34" charset="-122"/>
                <a:cs typeface="Calibri" pitchFamily="34" charset="-120"/>
              </a:rPr>
              <a:t>We use SmolLM2-360M-Instruct — a small 360M-parameter model that runs on a free Colab CPU/GPU:</a:t>
            </a:r>
            <a:endParaRPr lang="en-US" sz="1300" dirty="0"/>
          </a:p>
        </p:txBody>
      </p:sp>
      <p:sp>
        <p:nvSpPr>
          <p:cNvPr id="5" name="Shape 3"/>
          <p:cNvSpPr/>
          <p:nvPr/>
        </p:nvSpPr>
        <p:spPr>
          <a:xfrm>
            <a:off x="320040" y="1280160"/>
            <a:ext cx="5257800" cy="1627632"/>
          </a:xfrm>
          <a:prstGeom prst="rect">
            <a:avLst/>
          </a:prstGeom>
          <a:solidFill>
            <a:srgbClr val="1A2035"/>
          </a:solidFill>
          <a:ln w="12700">
            <a:solidFill>
              <a:srgbClr val="1A1F36"/>
            </a:solidFill>
            <a:prstDash val="solid"/>
          </a:ln>
          <a:effectLst>
            <a:outerShdw blurRad="76200" dist="25400" dir="8100000" algn="bl" rotWithShape="0">
              <a:srgbClr val="1A1F36">
                <a:alpha val="12000"/>
              </a:srgbClr>
            </a:outerShdw>
          </a:effectLst>
        </p:spPr>
      </p:sp>
      <p:sp>
        <p:nvSpPr>
          <p:cNvPr id="6" name="Shape 4"/>
          <p:cNvSpPr/>
          <p:nvPr/>
        </p:nvSpPr>
        <p:spPr>
          <a:xfrm>
            <a:off x="320040" y="1280160"/>
            <a:ext cx="73152" cy="1627632"/>
          </a:xfrm>
          <a:prstGeom prst="rect">
            <a:avLst/>
          </a:prstGeom>
          <a:solidFill>
            <a:srgbClr val="1A1F36"/>
          </a:solidFill>
          <a:ln w="12700">
            <a:solidFill>
              <a:srgbClr val="1A1F36"/>
            </a:solidFill>
            <a:prstDash val="solid"/>
          </a:ln>
        </p:spPr>
      </p:sp>
      <p:sp>
        <p:nvSpPr>
          <p:cNvPr id="7" name="Text 5"/>
          <p:cNvSpPr/>
          <p:nvPr/>
        </p:nvSpPr>
        <p:spPr>
          <a:xfrm>
            <a:off x="484632" y="1371600"/>
            <a:ext cx="5001768" cy="1444752"/>
          </a:xfrm>
          <a:prstGeom prst="rect">
            <a:avLst/>
          </a:prstGeom>
          <a:noFill/>
          <a:ln/>
        </p:spPr>
        <p:txBody>
          <a:bodyPr wrap="square" lIns="0" tIns="0" rIns="0" bIns="0" rtlCol="0" anchor="t"/>
          <a:lstStyle/>
          <a:p>
            <a:pPr marL="0" indent="0">
              <a:buNone/>
            </a:pPr>
            <a:r>
              <a:rPr lang="en-US" sz="950" dirty="0">
                <a:solidFill>
                  <a:srgbClr val="D6E4F7"/>
                </a:solidFill>
                <a:latin typeface="Consolas" pitchFamily="34" charset="0"/>
                <a:ea typeface="Consolas" pitchFamily="34" charset="-122"/>
                <a:cs typeface="Consolas" pitchFamily="34" charset="-120"/>
              </a:rPr>
              <a:t>from transformers import </a:t>
            </a:r>
            <a:r>
              <a:rPr lang="en-US" sz="950" dirty="0">
                <a:solidFill>
                  <a:srgbClr val="FFC000"/>
                </a:solidFill>
                <a:latin typeface="Consolas" pitchFamily="34" charset="0"/>
                <a:ea typeface="Consolas" pitchFamily="34" charset="-122"/>
                <a:cs typeface="Consolas" pitchFamily="34" charset="-120"/>
              </a:rPr>
              <a:t>AutoTokenizer</a:t>
            </a:r>
            <a:r>
              <a:rPr lang="en-US" sz="950" dirty="0">
                <a:solidFill>
                  <a:srgbClr val="D6E4F7"/>
                </a:solidFill>
                <a:latin typeface="Consolas" pitchFamily="34" charset="0"/>
                <a:ea typeface="Consolas" pitchFamily="34" charset="-122"/>
                <a:cs typeface="Consolas" pitchFamily="34" charset="-120"/>
              </a:rPr>
              <a:t>, </a:t>
            </a:r>
            <a:r>
              <a:rPr lang="en-US" sz="950" dirty="0">
                <a:solidFill>
                  <a:srgbClr val="FFC000"/>
                </a:solidFill>
                <a:latin typeface="Consolas" pitchFamily="34" charset="0"/>
                <a:ea typeface="Consolas" pitchFamily="34" charset="-122"/>
                <a:cs typeface="Consolas" pitchFamily="34" charset="-120"/>
              </a:rPr>
              <a:t>AutoModelForCausalLM</a:t>
            </a:r>
            <a:endParaRPr lang="en-US" sz="950" dirty="0">
              <a:solidFill>
                <a:srgbClr val="FFC000"/>
              </a:solidFill>
            </a:endParaRPr>
          </a:p>
          <a:p>
            <a:pPr marL="0" indent="0">
              <a:buNone/>
            </a:pPr>
            <a:endParaRPr lang="en-US" sz="950" dirty="0"/>
          </a:p>
          <a:p>
            <a:pPr marL="0" indent="0">
              <a:buNone/>
            </a:pPr>
            <a:r>
              <a:rPr lang="en-US" sz="950" dirty="0">
                <a:solidFill>
                  <a:srgbClr val="D6E4F7"/>
                </a:solidFill>
                <a:latin typeface="Consolas" pitchFamily="34" charset="0"/>
                <a:ea typeface="Consolas" pitchFamily="34" charset="-122"/>
                <a:cs typeface="Consolas" pitchFamily="34" charset="-120"/>
              </a:rPr>
              <a:t>model_name = "HuggingFaceTB/SmolLM2-360M-Instruct"</a:t>
            </a:r>
            <a:endParaRPr lang="en-US" sz="950" dirty="0"/>
          </a:p>
          <a:p>
            <a:pPr marL="0" indent="0">
              <a:buNone/>
            </a:pPr>
            <a:endParaRPr lang="en-US" sz="950" dirty="0"/>
          </a:p>
          <a:p>
            <a:pPr marL="0" indent="0">
              <a:buNone/>
            </a:pPr>
            <a:r>
              <a:rPr lang="en-US" sz="950" dirty="0">
                <a:solidFill>
                  <a:srgbClr val="D6E4F7"/>
                </a:solidFill>
                <a:latin typeface="Consolas" pitchFamily="34" charset="0"/>
                <a:ea typeface="Consolas" pitchFamily="34" charset="-122"/>
                <a:cs typeface="Consolas" pitchFamily="34" charset="-120"/>
              </a:rPr>
              <a:t>model     = </a:t>
            </a:r>
            <a:r>
              <a:rPr lang="en-US" sz="950" dirty="0">
                <a:solidFill>
                  <a:srgbClr val="FFC000"/>
                </a:solidFill>
                <a:latin typeface="Consolas" pitchFamily="34" charset="0"/>
                <a:ea typeface="Consolas" pitchFamily="34" charset="-122"/>
                <a:cs typeface="Consolas" pitchFamily="34" charset="-120"/>
              </a:rPr>
              <a:t>AutoModelForCausalLM</a:t>
            </a:r>
            <a:r>
              <a:rPr lang="en-US" sz="950" dirty="0">
                <a:solidFill>
                  <a:srgbClr val="D6E4F7"/>
                </a:solidFill>
                <a:latin typeface="Consolas" pitchFamily="34" charset="0"/>
                <a:ea typeface="Consolas" pitchFamily="34" charset="-122"/>
                <a:cs typeface="Consolas" pitchFamily="34" charset="-120"/>
              </a:rPr>
              <a:t>.from_pretrained(model_name, device_map="auto")</a:t>
            </a:r>
            <a:endParaRPr lang="en-US" sz="950" dirty="0"/>
          </a:p>
          <a:p>
            <a:pPr marL="0" indent="0">
              <a:buNone/>
            </a:pPr>
            <a:r>
              <a:rPr lang="en-US" sz="950" dirty="0">
                <a:solidFill>
                  <a:srgbClr val="D6E4F7"/>
                </a:solidFill>
                <a:latin typeface="Consolas" pitchFamily="34" charset="0"/>
                <a:ea typeface="Consolas" pitchFamily="34" charset="-122"/>
                <a:cs typeface="Consolas" pitchFamily="34" charset="-120"/>
              </a:rPr>
              <a:t>tokenizer = AutoTokenizer.from_pretrained(model_name)</a:t>
            </a:r>
            <a:endParaRPr lang="en-US" sz="950" dirty="0"/>
          </a:p>
        </p:txBody>
      </p:sp>
      <p:sp>
        <p:nvSpPr>
          <p:cNvPr id="8" name="Shape 6"/>
          <p:cNvSpPr/>
          <p:nvPr/>
        </p:nvSpPr>
        <p:spPr>
          <a:xfrm>
            <a:off x="5687568" y="1170432"/>
            <a:ext cx="3154680" cy="621792"/>
          </a:xfrm>
          <a:prstGeom prst="rect">
            <a:avLst/>
          </a:prstGeom>
          <a:solidFill>
            <a:srgbClr val="F7F3EA"/>
          </a:solidFill>
          <a:ln w="19050">
            <a:solidFill>
              <a:srgbClr val="B8975B"/>
            </a:solidFill>
            <a:prstDash val="solid"/>
          </a:ln>
          <a:effectLst>
            <a:outerShdw blurRad="76200" dist="25400" dir="8100000" algn="bl" rotWithShape="0">
              <a:srgbClr val="1A1F36">
                <a:alpha val="12000"/>
              </a:srgbClr>
            </a:outerShdw>
          </a:effectLst>
        </p:spPr>
      </p:sp>
      <p:sp>
        <p:nvSpPr>
          <p:cNvPr id="9" name="Shape 7"/>
          <p:cNvSpPr/>
          <p:nvPr/>
        </p:nvSpPr>
        <p:spPr>
          <a:xfrm>
            <a:off x="5687568" y="1170432"/>
            <a:ext cx="50292" cy="621792"/>
          </a:xfrm>
          <a:prstGeom prst="rect">
            <a:avLst/>
          </a:prstGeom>
          <a:solidFill>
            <a:srgbClr val="B8975B"/>
          </a:solidFill>
          <a:ln w="12700">
            <a:solidFill>
              <a:srgbClr val="B8975B"/>
            </a:solidFill>
            <a:prstDash val="solid"/>
          </a:ln>
        </p:spPr>
      </p:sp>
      <p:sp>
        <p:nvSpPr>
          <p:cNvPr id="10" name="Text 8"/>
          <p:cNvSpPr/>
          <p:nvPr/>
        </p:nvSpPr>
        <p:spPr>
          <a:xfrm>
            <a:off x="5806440" y="1216152"/>
            <a:ext cx="2990088" cy="237744"/>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AutoModelForCausalLM</a:t>
            </a:r>
            <a:endParaRPr lang="en-US" sz="1050" dirty="0"/>
          </a:p>
        </p:txBody>
      </p:sp>
      <p:sp>
        <p:nvSpPr>
          <p:cNvPr id="11" name="Text 9"/>
          <p:cNvSpPr/>
          <p:nvPr/>
        </p:nvSpPr>
        <p:spPr>
          <a:xfrm>
            <a:off x="5806440" y="1444752"/>
            <a:ext cx="2990088" cy="301752"/>
          </a:xfrm>
          <a:prstGeom prst="rect">
            <a:avLst/>
          </a:prstGeom>
          <a:noFill/>
          <a:ln/>
        </p:spPr>
        <p:txBody>
          <a:bodyPr wrap="square" lIns="0" tIns="0" rIns="0" bIns="0" rtlCol="0" anchor="t"/>
          <a:lstStyle/>
          <a:p>
            <a:pPr marL="0" indent="0">
              <a:buNone/>
            </a:pPr>
            <a:r>
              <a:rPr lang="en-US" sz="1000" dirty="0">
                <a:solidFill>
                  <a:srgbClr val="1A1F36"/>
                </a:solidFill>
                <a:latin typeface="Calibri" pitchFamily="34" charset="0"/>
                <a:ea typeface="Calibri" pitchFamily="34" charset="-122"/>
                <a:cs typeface="Calibri" pitchFamily="34" charset="-120"/>
              </a:rPr>
              <a:t>Loads the full neural network with all 360M parameters, placed automatically on the best available device.</a:t>
            </a:r>
            <a:endParaRPr lang="en-US" sz="1000" dirty="0"/>
          </a:p>
        </p:txBody>
      </p:sp>
      <p:sp>
        <p:nvSpPr>
          <p:cNvPr id="12" name="Shape 10"/>
          <p:cNvSpPr/>
          <p:nvPr/>
        </p:nvSpPr>
        <p:spPr>
          <a:xfrm>
            <a:off x="5687568" y="1481328"/>
            <a:ext cx="0" cy="393192"/>
          </a:xfrm>
          <a:prstGeom prst="line">
            <a:avLst/>
          </a:prstGeom>
          <a:noFill/>
          <a:ln w="19050">
            <a:solidFill>
              <a:srgbClr val="B8975B"/>
            </a:solidFill>
            <a:prstDash val="solid"/>
            <a:tailEnd type="arrow"/>
          </a:ln>
        </p:spPr>
      </p:sp>
      <p:sp>
        <p:nvSpPr>
          <p:cNvPr id="13" name="Shape 11"/>
          <p:cNvSpPr/>
          <p:nvPr/>
        </p:nvSpPr>
        <p:spPr>
          <a:xfrm>
            <a:off x="5687568" y="1883664"/>
            <a:ext cx="3154680" cy="621792"/>
          </a:xfrm>
          <a:prstGeom prst="rect">
            <a:avLst/>
          </a:prstGeom>
          <a:solidFill>
            <a:srgbClr val="F7F3EA"/>
          </a:solidFill>
          <a:ln w="19050">
            <a:solidFill>
              <a:srgbClr val="B8975B"/>
            </a:solidFill>
            <a:prstDash val="solid"/>
          </a:ln>
          <a:effectLst>
            <a:outerShdw blurRad="76200" dist="25400" dir="8100000" algn="bl" rotWithShape="0">
              <a:srgbClr val="1A1F36">
                <a:alpha val="12000"/>
              </a:srgbClr>
            </a:outerShdw>
          </a:effectLst>
        </p:spPr>
      </p:sp>
      <p:sp>
        <p:nvSpPr>
          <p:cNvPr id="14" name="Shape 12"/>
          <p:cNvSpPr/>
          <p:nvPr/>
        </p:nvSpPr>
        <p:spPr>
          <a:xfrm>
            <a:off x="5687568" y="1883664"/>
            <a:ext cx="50292" cy="621792"/>
          </a:xfrm>
          <a:prstGeom prst="rect">
            <a:avLst/>
          </a:prstGeom>
          <a:solidFill>
            <a:srgbClr val="B8975B"/>
          </a:solidFill>
          <a:ln w="12700">
            <a:solidFill>
              <a:srgbClr val="B8975B"/>
            </a:solidFill>
            <a:prstDash val="solid"/>
          </a:ln>
        </p:spPr>
      </p:sp>
      <p:sp>
        <p:nvSpPr>
          <p:cNvPr id="15" name="Text 13"/>
          <p:cNvSpPr/>
          <p:nvPr/>
        </p:nvSpPr>
        <p:spPr>
          <a:xfrm>
            <a:off x="5806440" y="1929384"/>
            <a:ext cx="2990088" cy="237744"/>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AutoTokenizer</a:t>
            </a:r>
            <a:endParaRPr lang="en-US" sz="1050" dirty="0"/>
          </a:p>
        </p:txBody>
      </p:sp>
      <p:sp>
        <p:nvSpPr>
          <p:cNvPr id="16" name="Text 14"/>
          <p:cNvSpPr/>
          <p:nvPr/>
        </p:nvSpPr>
        <p:spPr>
          <a:xfrm>
            <a:off x="5806440" y="2157984"/>
            <a:ext cx="2990088" cy="301752"/>
          </a:xfrm>
          <a:prstGeom prst="rect">
            <a:avLst/>
          </a:prstGeom>
          <a:noFill/>
          <a:ln/>
        </p:spPr>
        <p:txBody>
          <a:bodyPr wrap="square" lIns="0" tIns="0" rIns="0" bIns="0" rtlCol="0" anchor="t"/>
          <a:lstStyle/>
          <a:p>
            <a:pPr marL="0" indent="0">
              <a:buNone/>
            </a:pPr>
            <a:r>
              <a:rPr lang="en-US" sz="1000" dirty="0">
                <a:solidFill>
                  <a:srgbClr val="1A1F36"/>
                </a:solidFill>
                <a:latin typeface="Calibri" pitchFamily="34" charset="0"/>
                <a:ea typeface="Calibri" pitchFamily="34" charset="-122"/>
                <a:cs typeface="Calibri" pitchFamily="34" charset="-120"/>
              </a:rPr>
              <a:t>Downloads the vocabulary and converts between raw text and integer token IDs that the model processes.</a:t>
            </a:r>
            <a:endParaRPr lang="en-US" sz="1000" dirty="0"/>
          </a:p>
        </p:txBody>
      </p:sp>
      <p:sp>
        <p:nvSpPr>
          <p:cNvPr id="17" name="Shape 15"/>
          <p:cNvSpPr/>
          <p:nvPr/>
        </p:nvSpPr>
        <p:spPr>
          <a:xfrm>
            <a:off x="5687568" y="2194560"/>
            <a:ext cx="0" cy="365760"/>
          </a:xfrm>
          <a:prstGeom prst="line">
            <a:avLst/>
          </a:prstGeom>
          <a:noFill/>
          <a:ln w="19050">
            <a:solidFill>
              <a:srgbClr val="B8975B"/>
            </a:solidFill>
            <a:prstDash val="solid"/>
            <a:tailEnd type="arrow"/>
          </a:ln>
        </p:spPr>
      </p:sp>
      <p:sp>
        <p:nvSpPr>
          <p:cNvPr id="18" name="Shape 16"/>
          <p:cNvSpPr/>
          <p:nvPr/>
        </p:nvSpPr>
        <p:spPr>
          <a:xfrm>
            <a:off x="5687568" y="2596896"/>
            <a:ext cx="3154680" cy="621792"/>
          </a:xfrm>
          <a:prstGeom prst="rect">
            <a:avLst/>
          </a:prstGeom>
          <a:solidFill>
            <a:srgbClr val="F7F3EA"/>
          </a:solidFill>
          <a:ln w="19050">
            <a:solidFill>
              <a:srgbClr val="B8975B"/>
            </a:solidFill>
            <a:prstDash val="solid"/>
          </a:ln>
          <a:effectLst>
            <a:outerShdw blurRad="76200" dist="25400" dir="8100000" algn="bl" rotWithShape="0">
              <a:srgbClr val="1A1F36">
                <a:alpha val="12000"/>
              </a:srgbClr>
            </a:outerShdw>
          </a:effectLst>
        </p:spPr>
      </p:sp>
      <p:sp>
        <p:nvSpPr>
          <p:cNvPr id="19" name="Shape 17"/>
          <p:cNvSpPr/>
          <p:nvPr/>
        </p:nvSpPr>
        <p:spPr>
          <a:xfrm>
            <a:off x="5687568" y="2596896"/>
            <a:ext cx="50292" cy="621792"/>
          </a:xfrm>
          <a:prstGeom prst="rect">
            <a:avLst/>
          </a:prstGeom>
          <a:solidFill>
            <a:srgbClr val="B8975B"/>
          </a:solidFill>
          <a:ln w="12700">
            <a:solidFill>
              <a:srgbClr val="B8975B"/>
            </a:solidFill>
            <a:prstDash val="solid"/>
          </a:ln>
        </p:spPr>
      </p:sp>
      <p:sp>
        <p:nvSpPr>
          <p:cNvPr id="20" name="Text 18"/>
          <p:cNvSpPr/>
          <p:nvPr/>
        </p:nvSpPr>
        <p:spPr>
          <a:xfrm>
            <a:off x="5806440" y="2642616"/>
            <a:ext cx="2990088" cy="237744"/>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device_map="auto"</a:t>
            </a:r>
            <a:endParaRPr lang="en-US" sz="1050" dirty="0"/>
          </a:p>
        </p:txBody>
      </p:sp>
      <p:sp>
        <p:nvSpPr>
          <p:cNvPr id="21" name="Text 19"/>
          <p:cNvSpPr/>
          <p:nvPr/>
        </p:nvSpPr>
        <p:spPr>
          <a:xfrm>
            <a:off x="5806440" y="2871216"/>
            <a:ext cx="2990088" cy="301752"/>
          </a:xfrm>
          <a:prstGeom prst="rect">
            <a:avLst/>
          </a:prstGeom>
          <a:noFill/>
          <a:ln/>
        </p:spPr>
        <p:txBody>
          <a:bodyPr wrap="square" lIns="0" tIns="0" rIns="0" bIns="0" rtlCol="0" anchor="t"/>
          <a:lstStyle/>
          <a:p>
            <a:pPr marL="0" indent="0">
              <a:buNone/>
            </a:pPr>
            <a:r>
              <a:rPr lang="en-US" sz="1000" dirty="0">
                <a:solidFill>
                  <a:srgbClr val="1A1F36"/>
                </a:solidFill>
                <a:latin typeface="Calibri" pitchFamily="34" charset="0"/>
                <a:ea typeface="Calibri" pitchFamily="34" charset="-122"/>
                <a:cs typeface="Calibri" pitchFamily="34" charset="-120"/>
              </a:rPr>
              <a:t>Automatically places model layers on GPU if available, otherwise CPU — no manual .to() needed.</a:t>
            </a:r>
            <a:endParaRPr lang="en-US" sz="1000" dirty="0"/>
          </a:p>
        </p:txBody>
      </p:sp>
      <p:sp>
        <p:nvSpPr>
          <p:cNvPr id="22" name="Shape 20"/>
          <p:cNvSpPr/>
          <p:nvPr/>
        </p:nvSpPr>
        <p:spPr>
          <a:xfrm>
            <a:off x="5687568" y="2907792"/>
            <a:ext cx="0" cy="0"/>
          </a:xfrm>
          <a:prstGeom prst="line">
            <a:avLst/>
          </a:prstGeom>
          <a:noFill/>
          <a:ln w="19050">
            <a:solidFill>
              <a:srgbClr val="B8975B"/>
            </a:solidFill>
            <a:prstDash val="solid"/>
            <a:tailEnd type="arrow"/>
          </a:ln>
        </p:spPr>
      </p:sp>
      <p:sp>
        <p:nvSpPr>
          <p:cNvPr id="23" name="Text 21"/>
          <p:cNvSpPr/>
          <p:nvPr/>
        </p:nvSpPr>
        <p:spPr>
          <a:xfrm>
            <a:off x="411480" y="3017520"/>
            <a:ext cx="8321040" cy="365760"/>
          </a:xfrm>
          <a:prstGeom prst="rect">
            <a:avLst/>
          </a:prstGeom>
          <a:noFill/>
          <a:ln/>
        </p:spPr>
        <p:txBody>
          <a:bodyPr wrap="square" rtlCol="0" anchor="ctr"/>
          <a:lstStyle/>
          <a:p>
            <a:pPr marL="0" indent="0">
              <a:buNone/>
            </a:pPr>
            <a:r>
              <a:rPr lang="en-US" sz="1300" dirty="0">
                <a:solidFill>
                  <a:srgbClr val="1A1F36"/>
                </a:solidFill>
                <a:latin typeface="Calibri" pitchFamily="34" charset="0"/>
                <a:ea typeface="Calibri" pitchFamily="34" charset="-122"/>
                <a:cs typeface="Calibri" pitchFamily="34" charset="-120"/>
              </a:rPr>
              <a:t>To inspect logits during generation, pass these options to model.generate():</a:t>
            </a:r>
            <a:endParaRPr lang="en-US" sz="1300" dirty="0"/>
          </a:p>
        </p:txBody>
      </p:sp>
      <p:sp>
        <p:nvSpPr>
          <p:cNvPr id="24" name="Shape 22"/>
          <p:cNvSpPr/>
          <p:nvPr/>
        </p:nvSpPr>
        <p:spPr>
          <a:xfrm>
            <a:off x="320040" y="3429000"/>
            <a:ext cx="8503920" cy="1463040"/>
          </a:xfrm>
          <a:prstGeom prst="rect">
            <a:avLst/>
          </a:prstGeom>
          <a:solidFill>
            <a:srgbClr val="1A2035"/>
          </a:solidFill>
          <a:ln w="12700">
            <a:solidFill>
              <a:srgbClr val="1A1F36"/>
            </a:solidFill>
            <a:prstDash val="solid"/>
          </a:ln>
          <a:effectLst>
            <a:outerShdw blurRad="76200" dist="25400" dir="8100000" algn="bl" rotWithShape="0">
              <a:srgbClr val="1A1F36">
                <a:alpha val="12000"/>
              </a:srgbClr>
            </a:outerShdw>
          </a:effectLst>
        </p:spPr>
      </p:sp>
      <p:sp>
        <p:nvSpPr>
          <p:cNvPr id="25" name="Shape 23"/>
          <p:cNvSpPr/>
          <p:nvPr/>
        </p:nvSpPr>
        <p:spPr>
          <a:xfrm>
            <a:off x="320040" y="3429000"/>
            <a:ext cx="73152" cy="1463040"/>
          </a:xfrm>
          <a:prstGeom prst="rect">
            <a:avLst/>
          </a:prstGeom>
          <a:solidFill>
            <a:srgbClr val="1A1F36"/>
          </a:solidFill>
          <a:ln w="12700">
            <a:solidFill>
              <a:srgbClr val="1A1F36"/>
            </a:solidFill>
            <a:prstDash val="solid"/>
          </a:ln>
        </p:spPr>
      </p:sp>
      <p:sp>
        <p:nvSpPr>
          <p:cNvPr id="26" name="Text 24"/>
          <p:cNvSpPr/>
          <p:nvPr/>
        </p:nvSpPr>
        <p:spPr>
          <a:xfrm>
            <a:off x="484632" y="3520440"/>
            <a:ext cx="8247888" cy="1280160"/>
          </a:xfrm>
          <a:prstGeom prst="rect">
            <a:avLst/>
          </a:prstGeom>
          <a:noFill/>
          <a:ln/>
        </p:spPr>
        <p:txBody>
          <a:bodyPr wrap="square" lIns="0" tIns="0" rIns="0" bIns="0" rtlCol="0" anchor="t"/>
          <a:lstStyle/>
          <a:p>
            <a:pPr marL="0" indent="0">
              <a:buNone/>
            </a:pPr>
            <a:r>
              <a:rPr lang="en-US" sz="950" dirty="0">
                <a:solidFill>
                  <a:srgbClr val="D6E4F7"/>
                </a:solidFill>
                <a:latin typeface="Consolas" pitchFamily="34" charset="0"/>
                <a:ea typeface="Consolas" pitchFamily="34" charset="-122"/>
                <a:cs typeface="Consolas" pitchFamily="34" charset="-120"/>
              </a:rPr>
              <a:t>model_output = model.generate(</a:t>
            </a:r>
            <a:endParaRPr lang="en-US" sz="950" dirty="0"/>
          </a:p>
          <a:p>
            <a:pPr marL="0" indent="0">
              <a:buNone/>
            </a:pPr>
            <a:r>
              <a:rPr lang="en-US" sz="950" dirty="0">
                <a:solidFill>
                  <a:srgbClr val="D6E4F7"/>
                </a:solidFill>
                <a:latin typeface="Consolas" pitchFamily="34" charset="0"/>
                <a:ea typeface="Consolas" pitchFamily="34" charset="-122"/>
                <a:cs typeface="Consolas" pitchFamily="34" charset="-120"/>
              </a:rPr>
              <a:t>    **model_inputs,</a:t>
            </a:r>
            <a:endParaRPr lang="en-US" sz="950" dirty="0"/>
          </a:p>
          <a:p>
            <a:pPr marL="0" indent="0">
              <a:buNone/>
            </a:pPr>
            <a:r>
              <a:rPr lang="en-US" sz="950" dirty="0">
                <a:solidFill>
                  <a:srgbClr val="D6E4F7"/>
                </a:solidFill>
                <a:latin typeface="Consolas" pitchFamily="34" charset="0"/>
                <a:ea typeface="Consolas" pitchFamily="34" charset="-122"/>
                <a:cs typeface="Consolas" pitchFamily="34" charset="-120"/>
              </a:rPr>
              <a:t>    max_new_tokens=20,</a:t>
            </a:r>
            <a:endParaRPr lang="en-US" sz="950" dirty="0"/>
          </a:p>
          <a:p>
            <a:pPr marL="0" indent="0">
              <a:buNone/>
            </a:pPr>
            <a:r>
              <a:rPr lang="en-US" sz="950" dirty="0">
                <a:solidFill>
                  <a:srgbClr val="D6E4F7"/>
                </a:solidFill>
                <a:latin typeface="Consolas" pitchFamily="34" charset="0"/>
                <a:ea typeface="Consolas" pitchFamily="34" charset="-122"/>
                <a:cs typeface="Consolas" pitchFamily="34" charset="-120"/>
              </a:rPr>
              <a:t>    output_logits=True,           # return raw logit tensors</a:t>
            </a:r>
            <a:endParaRPr lang="en-US" sz="950" dirty="0"/>
          </a:p>
          <a:p>
            <a:pPr marL="0" indent="0">
              <a:buNone/>
            </a:pPr>
            <a:r>
              <a:rPr lang="en-US" sz="950" dirty="0">
                <a:solidFill>
                  <a:srgbClr val="D6E4F7"/>
                </a:solidFill>
                <a:latin typeface="Consolas" pitchFamily="34" charset="0"/>
                <a:ea typeface="Consolas" pitchFamily="34" charset="-122"/>
                <a:cs typeface="Consolas" pitchFamily="34" charset="-120"/>
              </a:rPr>
              <a:t>    return_dict_in_generate=True  # required alongside output_logits</a:t>
            </a:r>
            <a:endParaRPr lang="en-US" sz="950" dirty="0"/>
          </a:p>
          <a:p>
            <a:pPr marL="0" indent="0">
              <a:buNone/>
            </a:pPr>
            <a:r>
              <a:rPr lang="en-US" sz="950" dirty="0">
                <a:solidFill>
                  <a:srgbClr val="D6E4F7"/>
                </a:solidFill>
                <a:latin typeface="Consolas" pitchFamily="34" charset="0"/>
                <a:ea typeface="Consolas" pitchFamily="34" charset="-122"/>
                <a:cs typeface="Consolas" pitchFamily="34" charset="-120"/>
              </a:rPr>
              <a:t>)</a:t>
            </a:r>
            <a:endParaRPr lang="en-US" sz="950" dirty="0"/>
          </a:p>
          <a:p>
            <a:pPr marL="0" indent="0">
              <a:buNone/>
            </a:pPr>
            <a:r>
              <a:rPr lang="en-US" sz="950" dirty="0">
                <a:solidFill>
                  <a:srgbClr val="D6E4F7"/>
                </a:solidFill>
                <a:latin typeface="Consolas" pitchFamily="34" charset="0"/>
                <a:ea typeface="Consolas" pitchFamily="34" charset="-122"/>
                <a:cs typeface="Consolas" pitchFamily="34" charset="-120"/>
              </a:rPr>
              <a:t># model_output.logits  →  tuple of L tensors, each shape (B, vocab_size)</a:t>
            </a:r>
            <a:endParaRPr lang="en-US" sz="950" dirty="0"/>
          </a:p>
          <a:p>
            <a:pPr marL="0" indent="0">
              <a:buNone/>
            </a:pPr>
            <a:r>
              <a:rPr lang="en-US" sz="950" dirty="0">
                <a:solidFill>
                  <a:srgbClr val="D6E4F7"/>
                </a:solidFill>
                <a:latin typeface="Consolas" pitchFamily="34" charset="0"/>
                <a:ea typeface="Consolas" pitchFamily="34" charset="-122"/>
                <a:cs typeface="Consolas" pitchFamily="34" charset="-120"/>
              </a:rPr>
              <a:t># model_output.sequences  →  token IDs including prompt</a:t>
            </a:r>
            <a:endParaRPr lang="en-US" sz="950" dirty="0"/>
          </a:p>
        </p:txBody>
      </p:sp>
      <p:pic>
        <p:nvPicPr>
          <p:cNvPr id="27" name="Google Shape;328;p29">
            <a:extLst>
              <a:ext uri="{FF2B5EF4-FFF2-40B4-BE49-F238E27FC236}">
                <a16:creationId xmlns:a16="http://schemas.microsoft.com/office/drawing/2014/main" id="{21308DA7-C5DB-0E77-97A4-1C04D47FE994}"/>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215757815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164592" y="192024"/>
            <a:ext cx="8321040" cy="566928"/>
          </a:xfrm>
          <a:prstGeom prst="rect">
            <a:avLst/>
          </a:prstGeom>
          <a:noFill/>
          <a:ln/>
        </p:spPr>
        <p:txBody>
          <a:bodyPr wrap="square" lIns="0" tIns="0" rIns="0" bIns="0" rtlCol="0" anchor="ctr"/>
          <a:lstStyle/>
          <a:p>
            <a:pPr marL="0" indent="0">
              <a:buNone/>
            </a:pPr>
            <a:r>
              <a:rPr lang="en-US" sz="2500" b="1" dirty="0">
                <a:solidFill>
                  <a:srgbClr val="1A1F36"/>
                </a:solidFill>
                <a:latin typeface="Georgia" pitchFamily="34" charset="0"/>
                <a:ea typeface="Georgia" pitchFamily="34" charset="-122"/>
                <a:cs typeface="Georgia" pitchFamily="34" charset="-120"/>
              </a:rPr>
              <a:t>LogitsMask — A Simple Token Allowlist</a:t>
            </a:r>
            <a:endParaRPr lang="en-US" sz="2500" dirty="0"/>
          </a:p>
        </p:txBody>
      </p:sp>
      <p:sp>
        <p:nvSpPr>
          <p:cNvPr id="4" name="Text 2"/>
          <p:cNvSpPr/>
          <p:nvPr/>
        </p:nvSpPr>
        <p:spPr>
          <a:xfrm>
            <a:off x="411480" y="786384"/>
            <a:ext cx="8321040" cy="438912"/>
          </a:xfrm>
          <a:prstGeom prst="rect">
            <a:avLst/>
          </a:prstGeom>
          <a:noFill/>
          <a:ln/>
        </p:spPr>
        <p:txBody>
          <a:bodyPr wrap="square" rtlCol="0" anchor="ctr"/>
          <a:lstStyle/>
          <a:p>
            <a:pPr marL="0" indent="0">
              <a:buNone/>
            </a:pPr>
            <a:r>
              <a:rPr lang="en-US" sz="1300" dirty="0">
                <a:solidFill>
                  <a:srgbClr val="1A1F36"/>
                </a:solidFill>
                <a:latin typeface="Calibri" pitchFamily="34" charset="0"/>
                <a:ea typeface="Calibri" pitchFamily="34" charset="-122"/>
                <a:cs typeface="Calibri" pitchFamily="34" charset="-120"/>
              </a:rPr>
              <a:t>Our first LogitsProcessor subtracts a large value from all tokens NOT in an allowed set, effectively masking them:</a:t>
            </a:r>
            <a:endParaRPr lang="en-US" sz="1300" dirty="0"/>
          </a:p>
        </p:txBody>
      </p:sp>
      <p:grpSp>
        <p:nvGrpSpPr>
          <p:cNvPr id="27" name="Group 26">
            <a:extLst>
              <a:ext uri="{FF2B5EF4-FFF2-40B4-BE49-F238E27FC236}">
                <a16:creationId xmlns:a16="http://schemas.microsoft.com/office/drawing/2014/main" id="{4DC62970-244C-A3C8-70EC-AC577C9F09C9}"/>
              </a:ext>
            </a:extLst>
          </p:cNvPr>
          <p:cNvGrpSpPr/>
          <p:nvPr/>
        </p:nvGrpSpPr>
        <p:grpSpPr>
          <a:xfrm>
            <a:off x="320040" y="1168843"/>
            <a:ext cx="5257800" cy="2377440"/>
            <a:chOff x="320040" y="1280160"/>
            <a:chExt cx="5257800" cy="2377440"/>
          </a:xfrm>
        </p:grpSpPr>
        <p:sp>
          <p:nvSpPr>
            <p:cNvPr id="5" name="Shape 3"/>
            <p:cNvSpPr/>
            <p:nvPr/>
          </p:nvSpPr>
          <p:spPr>
            <a:xfrm>
              <a:off x="320040" y="1280160"/>
              <a:ext cx="5257800" cy="2286000"/>
            </a:xfrm>
            <a:prstGeom prst="rect">
              <a:avLst/>
            </a:prstGeom>
            <a:solidFill>
              <a:srgbClr val="1A2035"/>
            </a:solidFill>
            <a:ln w="12700">
              <a:solidFill>
                <a:srgbClr val="1A1F36"/>
              </a:solidFill>
              <a:prstDash val="solid"/>
            </a:ln>
            <a:effectLst>
              <a:outerShdw blurRad="76200" dist="25400" dir="8100000" algn="bl" rotWithShape="0">
                <a:srgbClr val="1A1F36">
                  <a:alpha val="12000"/>
                </a:srgbClr>
              </a:outerShdw>
            </a:effectLst>
          </p:spPr>
        </p:sp>
        <p:sp>
          <p:nvSpPr>
            <p:cNvPr id="6" name="Shape 4"/>
            <p:cNvSpPr/>
            <p:nvPr/>
          </p:nvSpPr>
          <p:spPr>
            <a:xfrm>
              <a:off x="320040" y="1280160"/>
              <a:ext cx="45719" cy="2286000"/>
            </a:xfrm>
            <a:prstGeom prst="rect">
              <a:avLst/>
            </a:prstGeom>
            <a:solidFill>
              <a:srgbClr val="1A1F36"/>
            </a:solidFill>
            <a:ln w="12700">
              <a:solidFill>
                <a:srgbClr val="1A1F36"/>
              </a:solidFill>
              <a:prstDash val="solid"/>
            </a:ln>
          </p:spPr>
        </p:sp>
        <p:sp>
          <p:nvSpPr>
            <p:cNvPr id="7" name="Text 5"/>
            <p:cNvSpPr/>
            <p:nvPr/>
          </p:nvSpPr>
          <p:spPr>
            <a:xfrm>
              <a:off x="484632" y="1371600"/>
              <a:ext cx="5001768" cy="2286000"/>
            </a:xfrm>
            <a:prstGeom prst="rect">
              <a:avLst/>
            </a:prstGeom>
            <a:noFill/>
            <a:ln/>
          </p:spPr>
          <p:txBody>
            <a:bodyPr wrap="square" lIns="0" tIns="0" rIns="0" bIns="0" rtlCol="0" anchor="t"/>
            <a:lstStyle/>
            <a:p>
              <a:pPr marL="0" indent="0">
                <a:buNone/>
              </a:pPr>
              <a:r>
                <a:rPr lang="en-US" sz="950" dirty="0">
                  <a:solidFill>
                    <a:srgbClr val="D6E4F7"/>
                  </a:solidFill>
                  <a:latin typeface="Consolas" pitchFamily="34" charset="0"/>
                  <a:ea typeface="Consolas" pitchFamily="34" charset="-122"/>
                  <a:cs typeface="Consolas" pitchFamily="34" charset="-120"/>
                </a:rPr>
                <a:t>from transformers import </a:t>
              </a:r>
              <a:r>
                <a:rPr lang="en-US" sz="950" dirty="0">
                  <a:solidFill>
                    <a:srgbClr val="FFC000"/>
                  </a:solidFill>
                  <a:latin typeface="Consolas" pitchFamily="34" charset="0"/>
                  <a:ea typeface="Consolas" pitchFamily="34" charset="-122"/>
                  <a:cs typeface="Consolas" pitchFamily="34" charset="-120"/>
                </a:rPr>
                <a:t>LogitsProcessor</a:t>
              </a:r>
              <a:endParaRPr lang="en-US" sz="950" dirty="0">
                <a:solidFill>
                  <a:srgbClr val="FFC000"/>
                </a:solidFill>
              </a:endParaRPr>
            </a:p>
            <a:p>
              <a:pPr marL="0" indent="0">
                <a:buNone/>
              </a:pPr>
              <a:r>
                <a:rPr lang="en-US" sz="950" dirty="0">
                  <a:solidFill>
                    <a:srgbClr val="D6E4F7"/>
                  </a:solidFill>
                  <a:latin typeface="Consolas" pitchFamily="34" charset="0"/>
                  <a:ea typeface="Consolas" pitchFamily="34" charset="-122"/>
                  <a:cs typeface="Consolas" pitchFamily="34" charset="-120"/>
                </a:rPr>
                <a:t>import torch</a:t>
              </a:r>
              <a:endParaRPr lang="en-US" sz="950" dirty="0"/>
            </a:p>
            <a:p>
              <a:pPr marL="0" indent="0">
                <a:buNone/>
              </a:pPr>
              <a:endParaRPr lang="en-US" sz="950" dirty="0"/>
            </a:p>
            <a:p>
              <a:pPr marL="0" indent="0">
                <a:buNone/>
              </a:pPr>
              <a:r>
                <a:rPr lang="en-US" sz="950" dirty="0">
                  <a:solidFill>
                    <a:srgbClr val="FFC000"/>
                  </a:solidFill>
                  <a:latin typeface="Consolas" pitchFamily="34" charset="0"/>
                  <a:ea typeface="Consolas" pitchFamily="34" charset="-122"/>
                  <a:cs typeface="Consolas" pitchFamily="34" charset="-120"/>
                </a:rPr>
                <a:t>class LogitsMask(LogitsProcessor):</a:t>
              </a:r>
              <a:endParaRPr lang="en-US" sz="950" dirty="0">
                <a:solidFill>
                  <a:srgbClr val="FFC000"/>
                </a:solidFill>
              </a:endParaRPr>
            </a:p>
            <a:p>
              <a:pPr marL="0" indent="0">
                <a:buNone/>
              </a:pPr>
              <a:endParaRPr lang="en-US" sz="950" dirty="0"/>
            </a:p>
            <a:p>
              <a:pPr marL="0" indent="0">
                <a:buNone/>
              </a:pPr>
              <a:r>
                <a:rPr lang="en-US" sz="950" dirty="0">
                  <a:solidFill>
                    <a:srgbClr val="D6E4F7"/>
                  </a:solidFill>
                  <a:latin typeface="Consolas" pitchFamily="34" charset="0"/>
                  <a:ea typeface="Consolas" pitchFamily="34" charset="-122"/>
                  <a:cs typeface="Consolas" pitchFamily="34" charset="-120"/>
                </a:rPr>
                <a:t>    def __init__(self, allowed_token_ids):</a:t>
              </a:r>
              <a:endParaRPr lang="en-US" sz="950" dirty="0"/>
            </a:p>
            <a:p>
              <a:pPr marL="0" indent="0">
                <a:buNone/>
              </a:pPr>
              <a:r>
                <a:rPr lang="en-US" sz="950" dirty="0">
                  <a:solidFill>
                    <a:srgbClr val="D6E4F7"/>
                  </a:solidFill>
                  <a:latin typeface="Consolas" pitchFamily="34" charset="0"/>
                  <a:ea typeface="Consolas" pitchFamily="34" charset="-122"/>
                  <a:cs typeface="Consolas" pitchFamily="34" charset="-120"/>
                </a:rPr>
                <a:t>        self.allowed_token_ids = set(allowed_token_ids)</a:t>
              </a:r>
              <a:endParaRPr lang="en-US" sz="950" dirty="0"/>
            </a:p>
            <a:p>
              <a:pPr marL="0" indent="0">
                <a:buNone/>
              </a:pPr>
              <a:endParaRPr lang="en-US" sz="950" dirty="0"/>
            </a:p>
            <a:p>
              <a:pPr marL="0" indent="0">
                <a:buNone/>
              </a:pPr>
              <a:r>
                <a:rPr lang="en-US" sz="950" dirty="0">
                  <a:solidFill>
                    <a:srgbClr val="D6E4F7"/>
                  </a:solidFill>
                  <a:latin typeface="Consolas" pitchFamily="34" charset="0"/>
                  <a:ea typeface="Consolas" pitchFamily="34" charset="-122"/>
                  <a:cs typeface="Consolas" pitchFamily="34" charset="-120"/>
                </a:rPr>
                <a:t>    </a:t>
              </a:r>
              <a:r>
                <a:rPr lang="en-US" sz="950" dirty="0">
                  <a:solidFill>
                    <a:srgbClr val="FFC000"/>
                  </a:solidFill>
                  <a:latin typeface="Consolas" pitchFamily="34" charset="0"/>
                  <a:ea typeface="Consolas" pitchFamily="34" charset="-122"/>
                  <a:cs typeface="Consolas" pitchFamily="34" charset="-120"/>
                </a:rPr>
                <a:t>def __call__(self, input_ids, scores):</a:t>
              </a:r>
              <a:endParaRPr lang="en-US" sz="950" dirty="0">
                <a:solidFill>
                  <a:srgbClr val="FFC000"/>
                </a:solidFill>
              </a:endParaRPr>
            </a:p>
            <a:p>
              <a:pPr marL="0" indent="0">
                <a:buNone/>
              </a:pPr>
              <a:r>
                <a:rPr lang="en-US" sz="950" dirty="0">
                  <a:solidFill>
                    <a:srgbClr val="D6E4F7"/>
                  </a:solidFill>
                  <a:latin typeface="Consolas" pitchFamily="34" charset="0"/>
                  <a:ea typeface="Consolas" pitchFamily="34" charset="-122"/>
                  <a:cs typeface="Consolas" pitchFamily="34" charset="-120"/>
                </a:rPr>
                <a:t>        </a:t>
              </a:r>
              <a:r>
                <a:rPr lang="en-US" sz="950" dirty="0">
                  <a:solidFill>
                    <a:srgbClr val="FFC000"/>
                  </a:solidFill>
                  <a:latin typeface="Consolas" pitchFamily="34" charset="0"/>
                  <a:ea typeface="Consolas" pitchFamily="34" charset="-122"/>
                  <a:cs typeface="Consolas" pitchFamily="34" charset="-120"/>
                </a:rPr>
                <a:t>mask = torch.ones_like(scores) * -10   # penalise all tokens</a:t>
              </a:r>
              <a:endParaRPr lang="en-US" sz="950" dirty="0">
                <a:solidFill>
                  <a:srgbClr val="FFC000"/>
                </a:solidFill>
              </a:endParaRPr>
            </a:p>
            <a:p>
              <a:pPr marL="0" indent="0">
                <a:buNone/>
              </a:pPr>
              <a:r>
                <a:rPr lang="en-US" sz="950" dirty="0">
                  <a:solidFill>
                    <a:srgbClr val="D6E4F7"/>
                  </a:solidFill>
                  <a:latin typeface="Consolas" pitchFamily="34" charset="0"/>
                  <a:ea typeface="Consolas" pitchFamily="34" charset="-122"/>
                  <a:cs typeface="Consolas" pitchFamily="34" charset="-120"/>
                </a:rPr>
                <a:t>        for token_id in self.allowed_token_ids:</a:t>
              </a:r>
              <a:endParaRPr lang="en-US" sz="950" dirty="0"/>
            </a:p>
            <a:p>
              <a:pPr marL="0" indent="0">
                <a:buNone/>
              </a:pPr>
              <a:r>
                <a:rPr lang="en-US" sz="950" dirty="0">
                  <a:solidFill>
                    <a:srgbClr val="D6E4F7"/>
                  </a:solidFill>
                  <a:latin typeface="Consolas" pitchFamily="34" charset="0"/>
                  <a:ea typeface="Consolas" pitchFamily="34" charset="-122"/>
                  <a:cs typeface="Consolas" pitchFamily="34" charset="-120"/>
                </a:rPr>
                <a:t>            </a:t>
              </a:r>
              <a:r>
                <a:rPr lang="en-US" sz="950" dirty="0">
                  <a:solidFill>
                    <a:srgbClr val="FFC000"/>
                  </a:solidFill>
                  <a:latin typeface="Consolas" pitchFamily="34" charset="0"/>
                  <a:ea typeface="Consolas" pitchFamily="34" charset="-122"/>
                  <a:cs typeface="Consolas" pitchFamily="34" charset="-120"/>
                </a:rPr>
                <a:t>mask[:, token_id] = 0              # zero penalty for allowed</a:t>
              </a:r>
              <a:endParaRPr lang="en-US" sz="950" dirty="0">
                <a:solidFill>
                  <a:srgbClr val="FFC000"/>
                </a:solidFill>
              </a:endParaRPr>
            </a:p>
            <a:p>
              <a:pPr marL="0" indent="0">
                <a:buNone/>
              </a:pPr>
              <a:r>
                <a:rPr lang="en-US" sz="950" dirty="0">
                  <a:solidFill>
                    <a:srgbClr val="D6E4F7"/>
                  </a:solidFill>
                  <a:latin typeface="Consolas" pitchFamily="34" charset="0"/>
                  <a:ea typeface="Consolas" pitchFamily="34" charset="-122"/>
                  <a:cs typeface="Consolas" pitchFamily="34" charset="-120"/>
                </a:rPr>
                <a:t>        scores = scores + mask</a:t>
              </a:r>
              <a:endParaRPr lang="en-US" sz="950" dirty="0"/>
            </a:p>
            <a:p>
              <a:pPr marL="0" indent="0">
                <a:buNone/>
              </a:pPr>
              <a:r>
                <a:rPr lang="en-US" sz="950" dirty="0">
                  <a:solidFill>
                    <a:srgbClr val="D6E4F7"/>
                  </a:solidFill>
                  <a:latin typeface="Consolas" pitchFamily="34" charset="0"/>
                  <a:ea typeface="Consolas" pitchFamily="34" charset="-122"/>
                  <a:cs typeface="Consolas" pitchFamily="34" charset="-120"/>
                </a:rPr>
                <a:t>        return scores</a:t>
              </a:r>
              <a:endParaRPr lang="en-US" sz="950" dirty="0"/>
            </a:p>
          </p:txBody>
        </p:sp>
      </p:grpSp>
      <p:sp>
        <p:nvSpPr>
          <p:cNvPr id="8" name="Shape 6"/>
          <p:cNvSpPr/>
          <p:nvPr/>
        </p:nvSpPr>
        <p:spPr>
          <a:xfrm>
            <a:off x="5687568" y="1170432"/>
            <a:ext cx="3154680" cy="685800"/>
          </a:xfrm>
          <a:prstGeom prst="rect">
            <a:avLst/>
          </a:prstGeom>
          <a:solidFill>
            <a:srgbClr val="F7F3EA"/>
          </a:solidFill>
          <a:ln w="19050">
            <a:solidFill>
              <a:srgbClr val="B8975B"/>
            </a:solidFill>
            <a:prstDash val="solid"/>
          </a:ln>
          <a:effectLst>
            <a:outerShdw blurRad="76200" dist="25400" dir="8100000" algn="bl" rotWithShape="0">
              <a:srgbClr val="1A1F36">
                <a:alpha val="12000"/>
              </a:srgbClr>
            </a:outerShdw>
          </a:effectLst>
        </p:spPr>
      </p:sp>
      <p:sp>
        <p:nvSpPr>
          <p:cNvPr id="9" name="Shape 7"/>
          <p:cNvSpPr/>
          <p:nvPr/>
        </p:nvSpPr>
        <p:spPr>
          <a:xfrm>
            <a:off x="5687568" y="1170432"/>
            <a:ext cx="50292" cy="685800"/>
          </a:xfrm>
          <a:prstGeom prst="rect">
            <a:avLst/>
          </a:prstGeom>
          <a:solidFill>
            <a:srgbClr val="B8975B"/>
          </a:solidFill>
          <a:ln w="12700">
            <a:solidFill>
              <a:srgbClr val="B8975B"/>
            </a:solidFill>
            <a:prstDash val="solid"/>
          </a:ln>
        </p:spPr>
      </p:sp>
      <p:sp>
        <p:nvSpPr>
          <p:cNvPr id="10" name="Text 8"/>
          <p:cNvSpPr/>
          <p:nvPr/>
        </p:nvSpPr>
        <p:spPr>
          <a:xfrm>
            <a:off x="5806440" y="1216152"/>
            <a:ext cx="2990088" cy="237744"/>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LogitsProcessor (base class)</a:t>
            </a:r>
            <a:endParaRPr lang="en-US" sz="1050" dirty="0"/>
          </a:p>
        </p:txBody>
      </p:sp>
      <p:sp>
        <p:nvSpPr>
          <p:cNvPr id="11" name="Text 9"/>
          <p:cNvSpPr/>
          <p:nvPr/>
        </p:nvSpPr>
        <p:spPr>
          <a:xfrm>
            <a:off x="5806440" y="1444752"/>
            <a:ext cx="2990088" cy="365760"/>
          </a:xfrm>
          <a:prstGeom prst="rect">
            <a:avLst/>
          </a:prstGeom>
          <a:noFill/>
          <a:ln/>
        </p:spPr>
        <p:txBody>
          <a:bodyPr wrap="square" lIns="0" tIns="0" rIns="0" bIns="0" rtlCol="0" anchor="t"/>
          <a:lstStyle/>
          <a:p>
            <a:pPr marL="0" indent="0">
              <a:buNone/>
            </a:pPr>
            <a:r>
              <a:rPr lang="en-US" sz="1000" dirty="0">
                <a:solidFill>
                  <a:srgbClr val="1A1F36"/>
                </a:solidFill>
                <a:latin typeface="Calibri" pitchFamily="34" charset="0"/>
                <a:ea typeface="Calibri" pitchFamily="34" charset="-122"/>
                <a:cs typeface="Calibri" pitchFamily="34" charset="-120"/>
              </a:rPr>
              <a:t>HuggingFace hook called at every generation step with the current input_ids and scores (logits) tensors.</a:t>
            </a:r>
            <a:endParaRPr lang="en-US" sz="1000" dirty="0"/>
          </a:p>
        </p:txBody>
      </p:sp>
      <p:sp>
        <p:nvSpPr>
          <p:cNvPr id="12" name="Shape 10"/>
          <p:cNvSpPr/>
          <p:nvPr/>
        </p:nvSpPr>
        <p:spPr>
          <a:xfrm>
            <a:off x="5687568" y="1513332"/>
            <a:ext cx="0" cy="224028"/>
          </a:xfrm>
          <a:prstGeom prst="line">
            <a:avLst/>
          </a:prstGeom>
          <a:noFill/>
          <a:ln w="19050">
            <a:solidFill>
              <a:srgbClr val="B8975B"/>
            </a:solidFill>
            <a:prstDash val="solid"/>
            <a:tailEnd type="arrow"/>
          </a:ln>
        </p:spPr>
      </p:sp>
      <p:sp>
        <p:nvSpPr>
          <p:cNvPr id="13" name="Shape 11"/>
          <p:cNvSpPr/>
          <p:nvPr/>
        </p:nvSpPr>
        <p:spPr>
          <a:xfrm>
            <a:off x="5687568" y="1947672"/>
            <a:ext cx="3154680" cy="685800"/>
          </a:xfrm>
          <a:prstGeom prst="rect">
            <a:avLst/>
          </a:prstGeom>
          <a:solidFill>
            <a:srgbClr val="F7F3EA"/>
          </a:solidFill>
          <a:ln w="19050">
            <a:solidFill>
              <a:srgbClr val="B8975B"/>
            </a:solidFill>
            <a:prstDash val="solid"/>
          </a:ln>
          <a:effectLst>
            <a:outerShdw blurRad="76200" dist="25400" dir="8100000" algn="bl" rotWithShape="0">
              <a:srgbClr val="1A1F36">
                <a:alpha val="12000"/>
              </a:srgbClr>
            </a:outerShdw>
          </a:effectLst>
        </p:spPr>
      </p:sp>
      <p:sp>
        <p:nvSpPr>
          <p:cNvPr id="14" name="Shape 12"/>
          <p:cNvSpPr/>
          <p:nvPr/>
        </p:nvSpPr>
        <p:spPr>
          <a:xfrm>
            <a:off x="5687568" y="1947672"/>
            <a:ext cx="50292" cy="685800"/>
          </a:xfrm>
          <a:prstGeom prst="rect">
            <a:avLst/>
          </a:prstGeom>
          <a:solidFill>
            <a:srgbClr val="B8975B"/>
          </a:solidFill>
          <a:ln w="12700">
            <a:solidFill>
              <a:srgbClr val="B8975B"/>
            </a:solidFill>
            <a:prstDash val="solid"/>
          </a:ln>
        </p:spPr>
      </p:sp>
      <p:sp>
        <p:nvSpPr>
          <p:cNvPr id="15" name="Text 13"/>
          <p:cNvSpPr/>
          <p:nvPr/>
        </p:nvSpPr>
        <p:spPr>
          <a:xfrm>
            <a:off x="5806440" y="1993392"/>
            <a:ext cx="2990088" cy="237744"/>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torch.ones_like(scores) * -10</a:t>
            </a:r>
            <a:endParaRPr lang="en-US" sz="1050" dirty="0"/>
          </a:p>
        </p:txBody>
      </p:sp>
      <p:sp>
        <p:nvSpPr>
          <p:cNvPr id="16" name="Text 14"/>
          <p:cNvSpPr/>
          <p:nvPr/>
        </p:nvSpPr>
        <p:spPr>
          <a:xfrm>
            <a:off x="5806440" y="2221992"/>
            <a:ext cx="2990088" cy="365760"/>
          </a:xfrm>
          <a:prstGeom prst="rect">
            <a:avLst/>
          </a:prstGeom>
          <a:noFill/>
          <a:ln/>
        </p:spPr>
        <p:txBody>
          <a:bodyPr wrap="square" lIns="0" tIns="0" rIns="0" bIns="0" rtlCol="0" anchor="t"/>
          <a:lstStyle/>
          <a:p>
            <a:pPr marL="0" indent="0">
              <a:buNone/>
            </a:pPr>
            <a:r>
              <a:rPr lang="en-US" sz="1000" dirty="0">
                <a:solidFill>
                  <a:srgbClr val="1A1F36"/>
                </a:solidFill>
                <a:latin typeface="Calibri" pitchFamily="34" charset="0"/>
                <a:ea typeface="Calibri" pitchFamily="34" charset="-122"/>
                <a:cs typeface="Calibri" pitchFamily="34" charset="-120"/>
              </a:rPr>
              <a:t>Creates a mask of −10 for every token. Using −torch.inf drives probability to exactly zero.</a:t>
            </a:r>
            <a:endParaRPr lang="en-US" sz="1000" dirty="0"/>
          </a:p>
        </p:txBody>
      </p:sp>
      <p:sp>
        <p:nvSpPr>
          <p:cNvPr id="17" name="Shape 15"/>
          <p:cNvSpPr/>
          <p:nvPr/>
        </p:nvSpPr>
        <p:spPr>
          <a:xfrm>
            <a:off x="5687568" y="2290572"/>
            <a:ext cx="0" cy="105156"/>
          </a:xfrm>
          <a:prstGeom prst="line">
            <a:avLst/>
          </a:prstGeom>
          <a:noFill/>
          <a:ln w="19050">
            <a:solidFill>
              <a:srgbClr val="B8975B"/>
            </a:solidFill>
            <a:prstDash val="solid"/>
            <a:tailEnd type="arrow"/>
          </a:ln>
        </p:spPr>
      </p:sp>
      <p:sp>
        <p:nvSpPr>
          <p:cNvPr id="18" name="Shape 16"/>
          <p:cNvSpPr/>
          <p:nvPr/>
        </p:nvSpPr>
        <p:spPr>
          <a:xfrm>
            <a:off x="5687568" y="2724912"/>
            <a:ext cx="3154680" cy="685800"/>
          </a:xfrm>
          <a:prstGeom prst="rect">
            <a:avLst/>
          </a:prstGeom>
          <a:solidFill>
            <a:srgbClr val="F7F3EA"/>
          </a:solidFill>
          <a:ln w="19050">
            <a:solidFill>
              <a:srgbClr val="B8975B"/>
            </a:solidFill>
            <a:prstDash val="solid"/>
          </a:ln>
          <a:effectLst>
            <a:outerShdw blurRad="76200" dist="25400" dir="8100000" algn="bl" rotWithShape="0">
              <a:srgbClr val="1A1F36">
                <a:alpha val="12000"/>
              </a:srgbClr>
            </a:outerShdw>
          </a:effectLst>
        </p:spPr>
      </p:sp>
      <p:sp>
        <p:nvSpPr>
          <p:cNvPr id="19" name="Shape 17"/>
          <p:cNvSpPr/>
          <p:nvPr/>
        </p:nvSpPr>
        <p:spPr>
          <a:xfrm>
            <a:off x="5687568" y="2724912"/>
            <a:ext cx="50292" cy="685800"/>
          </a:xfrm>
          <a:prstGeom prst="rect">
            <a:avLst/>
          </a:prstGeom>
          <a:solidFill>
            <a:srgbClr val="B8975B"/>
          </a:solidFill>
          <a:ln w="12700">
            <a:solidFill>
              <a:srgbClr val="B8975B"/>
            </a:solidFill>
            <a:prstDash val="solid"/>
          </a:ln>
        </p:spPr>
      </p:sp>
      <p:sp>
        <p:nvSpPr>
          <p:cNvPr id="20" name="Text 18"/>
          <p:cNvSpPr/>
          <p:nvPr/>
        </p:nvSpPr>
        <p:spPr>
          <a:xfrm>
            <a:off x="5806440" y="2770632"/>
            <a:ext cx="2990088" cy="237744"/>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mask[:, token_id] = 0</a:t>
            </a:r>
            <a:endParaRPr lang="en-US" sz="1050" dirty="0"/>
          </a:p>
        </p:txBody>
      </p:sp>
      <p:sp>
        <p:nvSpPr>
          <p:cNvPr id="21" name="Text 19"/>
          <p:cNvSpPr/>
          <p:nvPr/>
        </p:nvSpPr>
        <p:spPr>
          <a:xfrm>
            <a:off x="5806440" y="2999232"/>
            <a:ext cx="2990088" cy="365760"/>
          </a:xfrm>
          <a:prstGeom prst="rect">
            <a:avLst/>
          </a:prstGeom>
          <a:noFill/>
          <a:ln/>
        </p:spPr>
        <p:txBody>
          <a:bodyPr wrap="square" lIns="0" tIns="0" rIns="0" bIns="0" rtlCol="0" anchor="t"/>
          <a:lstStyle/>
          <a:p>
            <a:pPr marL="0" indent="0">
              <a:buNone/>
            </a:pPr>
            <a:r>
              <a:rPr lang="en-US" sz="1000" dirty="0">
                <a:solidFill>
                  <a:srgbClr val="1A1F36"/>
                </a:solidFill>
                <a:latin typeface="Calibri" pitchFamily="34" charset="0"/>
                <a:ea typeface="Calibri" pitchFamily="34" charset="-122"/>
                <a:cs typeface="Calibri" pitchFamily="34" charset="-120"/>
              </a:rPr>
              <a:t>Exempts each allowed token from the penalty. Batch dimension (:) handles multiple sequences at once.</a:t>
            </a:r>
            <a:endParaRPr lang="en-US" sz="1000" dirty="0"/>
          </a:p>
        </p:txBody>
      </p:sp>
      <p:sp>
        <p:nvSpPr>
          <p:cNvPr id="22" name="Shape 20"/>
          <p:cNvSpPr/>
          <p:nvPr/>
        </p:nvSpPr>
        <p:spPr>
          <a:xfrm>
            <a:off x="5687568" y="3067812"/>
            <a:ext cx="0" cy="22860"/>
          </a:xfrm>
          <a:prstGeom prst="line">
            <a:avLst/>
          </a:prstGeom>
          <a:noFill/>
          <a:ln w="19050">
            <a:solidFill>
              <a:srgbClr val="B8975B"/>
            </a:solidFill>
            <a:prstDash val="solid"/>
            <a:tailEnd type="arrow"/>
          </a:ln>
        </p:spPr>
      </p:sp>
      <p:sp>
        <p:nvSpPr>
          <p:cNvPr id="23" name="Text 21"/>
          <p:cNvSpPr/>
          <p:nvPr/>
        </p:nvSpPr>
        <p:spPr>
          <a:xfrm>
            <a:off x="411480" y="3574510"/>
            <a:ext cx="8321040" cy="256032"/>
          </a:xfrm>
          <a:prstGeom prst="rect">
            <a:avLst/>
          </a:prstGeom>
          <a:noFill/>
          <a:ln/>
        </p:spPr>
        <p:txBody>
          <a:bodyPr wrap="square" rtlCol="0" anchor="ctr"/>
          <a:lstStyle/>
          <a:p>
            <a:pPr marL="0" indent="0">
              <a:buNone/>
            </a:pPr>
            <a:r>
              <a:rPr lang="en-US" sz="1200" b="1" dirty="0">
                <a:solidFill>
                  <a:srgbClr val="1A1F36"/>
                </a:solidFill>
                <a:latin typeface="Calibri" pitchFamily="34" charset="0"/>
                <a:ea typeface="Calibri" pitchFamily="34" charset="-122"/>
                <a:cs typeface="Calibri" pitchFamily="34" charset="-120"/>
              </a:rPr>
              <a:t>Usage — restrict output to digits and spaces only:</a:t>
            </a:r>
            <a:endParaRPr lang="en-US" sz="1200" dirty="0"/>
          </a:p>
        </p:txBody>
      </p:sp>
      <p:sp>
        <p:nvSpPr>
          <p:cNvPr id="24" name="Shape 22"/>
          <p:cNvSpPr/>
          <p:nvPr/>
        </p:nvSpPr>
        <p:spPr>
          <a:xfrm>
            <a:off x="320040" y="3830542"/>
            <a:ext cx="8503920" cy="1226090"/>
          </a:xfrm>
          <a:prstGeom prst="rect">
            <a:avLst/>
          </a:prstGeom>
          <a:solidFill>
            <a:srgbClr val="1A2035"/>
          </a:solidFill>
          <a:ln w="12700">
            <a:solidFill>
              <a:srgbClr val="1A1F36"/>
            </a:solidFill>
            <a:prstDash val="solid"/>
          </a:ln>
          <a:effectLst>
            <a:outerShdw blurRad="76200" dist="25400" dir="8100000" algn="bl" rotWithShape="0">
              <a:srgbClr val="1A1F36">
                <a:alpha val="12000"/>
              </a:srgbClr>
            </a:outerShdw>
          </a:effectLst>
        </p:spPr>
      </p:sp>
      <p:sp>
        <p:nvSpPr>
          <p:cNvPr id="25" name="Shape 23"/>
          <p:cNvSpPr/>
          <p:nvPr/>
        </p:nvSpPr>
        <p:spPr>
          <a:xfrm>
            <a:off x="320040" y="4096512"/>
            <a:ext cx="73152" cy="960120"/>
          </a:xfrm>
          <a:prstGeom prst="rect">
            <a:avLst/>
          </a:prstGeom>
          <a:solidFill>
            <a:srgbClr val="1A1F36"/>
          </a:solidFill>
          <a:ln w="12700">
            <a:solidFill>
              <a:srgbClr val="1A1F36"/>
            </a:solidFill>
            <a:prstDash val="solid"/>
          </a:ln>
        </p:spPr>
      </p:sp>
      <p:sp>
        <p:nvSpPr>
          <p:cNvPr id="26" name="Text 24"/>
          <p:cNvSpPr/>
          <p:nvPr/>
        </p:nvSpPr>
        <p:spPr>
          <a:xfrm>
            <a:off x="484632" y="3894550"/>
            <a:ext cx="8247888" cy="1070642"/>
          </a:xfrm>
          <a:prstGeom prst="rect">
            <a:avLst/>
          </a:prstGeom>
          <a:noFill/>
          <a:ln/>
        </p:spPr>
        <p:txBody>
          <a:bodyPr wrap="square" lIns="0" tIns="0" rIns="0" bIns="0" rtlCol="0" anchor="t"/>
          <a:lstStyle/>
          <a:p>
            <a:r>
              <a:rPr lang="en-US" sz="1000" dirty="0">
                <a:solidFill>
                  <a:srgbClr val="D6E4F7"/>
                </a:solidFill>
                <a:latin typeface="Consolas" pitchFamily="34" charset="0"/>
                <a:ea typeface="Consolas" pitchFamily="34" charset="-122"/>
                <a:cs typeface="Consolas" pitchFamily="34" charset="-120"/>
              </a:rPr>
              <a:t>allowed_token_ids = [tokenizer.encode(t, </a:t>
            </a:r>
            <a:r>
              <a:rPr lang="en-US" sz="1000" dirty="0" err="1">
                <a:solidFill>
                  <a:srgbClr val="D6E4F7"/>
                </a:solidFill>
                <a:latin typeface="Consolas" pitchFamily="34" charset="0"/>
                <a:ea typeface="Consolas" pitchFamily="34" charset="-122"/>
                <a:cs typeface="Consolas" pitchFamily="34" charset="-120"/>
              </a:rPr>
              <a:t>add_special_tokens</a:t>
            </a:r>
            <a:r>
              <a:rPr lang="en-US" sz="1000" dirty="0">
                <a:solidFill>
                  <a:srgbClr val="D6E4F7"/>
                </a:solidFill>
                <a:latin typeface="Consolas" pitchFamily="34" charset="0"/>
                <a:ea typeface="Consolas" pitchFamily="34" charset="-122"/>
                <a:cs typeface="Consolas" pitchFamily="34" charset="-120"/>
              </a:rPr>
              <a:t>=False)[0] for t in list("0123456789 ")]</a:t>
            </a:r>
            <a:endParaRPr lang="en-US" sz="1000" dirty="0"/>
          </a:p>
          <a:p>
            <a:pPr marL="0" indent="0">
              <a:buNone/>
            </a:pPr>
            <a:r>
              <a:rPr lang="en-US" sz="1000" dirty="0">
                <a:solidFill>
                  <a:srgbClr val="D6E4F7"/>
                </a:solidFill>
                <a:latin typeface="Consolas" pitchFamily="34" charset="0"/>
                <a:ea typeface="Consolas" pitchFamily="34" charset="-122"/>
                <a:cs typeface="Consolas" pitchFamily="34" charset="-120"/>
              </a:rPr>
              <a:t>allowed_token_ids += [tokenizer.eos_token_id]          # always allow EOS</a:t>
            </a:r>
            <a:endParaRPr lang="en-US" sz="1000" dirty="0"/>
          </a:p>
          <a:p>
            <a:pPr marL="0" indent="0">
              <a:buNone/>
            </a:pPr>
            <a:endParaRPr lang="en-US" sz="1000" dirty="0"/>
          </a:p>
          <a:p>
            <a:pPr marL="0" indent="0">
              <a:buNone/>
            </a:pPr>
            <a:r>
              <a:rPr lang="en-US" sz="1000" dirty="0">
                <a:solidFill>
                  <a:srgbClr val="D6E4F7"/>
                </a:solidFill>
                <a:latin typeface="Consolas" pitchFamily="34" charset="0"/>
                <a:ea typeface="Consolas" pitchFamily="34" charset="-122"/>
                <a:cs typeface="Consolas" pitchFamily="34" charset="-120"/>
              </a:rPr>
              <a:t>model_output = model.generate(**model_inputs, max_new_tokens=20,</a:t>
            </a:r>
            <a:endParaRPr lang="en-US" sz="1000" dirty="0"/>
          </a:p>
          <a:p>
            <a:pPr marL="0" indent="0">
              <a:buNone/>
            </a:pPr>
            <a:r>
              <a:rPr lang="en-US" sz="1000" dirty="0">
                <a:solidFill>
                  <a:srgbClr val="D6E4F7"/>
                </a:solidFill>
                <a:latin typeface="Consolas" pitchFamily="34" charset="0"/>
                <a:ea typeface="Consolas" pitchFamily="34" charset="-122"/>
                <a:cs typeface="Consolas" pitchFamily="34" charset="-120"/>
              </a:rPr>
              <a:t>    logits_processor=[LogitsMask(allowed_token_ids)])</a:t>
            </a:r>
            <a:endParaRPr lang="en-US" sz="1000" dirty="0"/>
          </a:p>
          <a:p>
            <a:pPr marL="0" indent="0">
              <a:buNone/>
            </a:pPr>
            <a:r>
              <a:rPr lang="en-US" sz="1000" dirty="0">
                <a:solidFill>
                  <a:srgbClr val="D6E4F7"/>
                </a:solidFill>
                <a:latin typeface="Consolas" pitchFamily="34" charset="0"/>
                <a:ea typeface="Consolas" pitchFamily="34" charset="-122"/>
                <a:cs typeface="Consolas" pitchFamily="34" charset="-120"/>
              </a:rPr>
              <a:t># Output: ' 16 32 64 128 256 51'  ← no commas!</a:t>
            </a:r>
            <a:endParaRPr lang="en-US" sz="1000" dirty="0"/>
          </a:p>
        </p:txBody>
      </p:sp>
      <p:pic>
        <p:nvPicPr>
          <p:cNvPr id="28" name="Google Shape;328;p29">
            <a:extLst>
              <a:ext uri="{FF2B5EF4-FFF2-40B4-BE49-F238E27FC236}">
                <a16:creationId xmlns:a16="http://schemas.microsoft.com/office/drawing/2014/main" id="{D4A97509-A101-B3AC-9621-EF07AC719631}"/>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62258076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03C5E5-7167-0D2B-E7EE-461E5F678FFF}"/>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4BD2D08D-9268-16E7-642B-F1651046B1DA}"/>
              </a:ext>
            </a:extLst>
          </p:cNvPr>
          <p:cNvSpPr/>
          <p:nvPr/>
        </p:nvSpPr>
        <p:spPr>
          <a:xfrm>
            <a:off x="164592" y="192024"/>
            <a:ext cx="8321040" cy="566928"/>
          </a:xfrm>
          <a:prstGeom prst="rect">
            <a:avLst/>
          </a:prstGeom>
          <a:noFill/>
          <a:ln/>
        </p:spPr>
        <p:txBody>
          <a:bodyPr wrap="square" lIns="0" tIns="0" rIns="0" bIns="0" rtlCol="0" anchor="ctr"/>
          <a:lstStyle/>
          <a:p>
            <a:pPr marL="0" indent="0">
              <a:buNone/>
            </a:pPr>
            <a:r>
              <a:rPr lang="en-US" sz="2500" b="1" dirty="0">
                <a:solidFill>
                  <a:srgbClr val="1A1F36"/>
                </a:solidFill>
                <a:latin typeface="Georgia" pitchFamily="34" charset="0"/>
                <a:ea typeface="Georgia" pitchFamily="34" charset="-122"/>
                <a:cs typeface="Georgia" pitchFamily="34" charset="-120"/>
              </a:rPr>
              <a:t>LogitsMask — A Simple Token Allowlist</a:t>
            </a:r>
            <a:endParaRPr lang="en-US" sz="2500" dirty="0"/>
          </a:p>
        </p:txBody>
      </p:sp>
      <p:pic>
        <p:nvPicPr>
          <p:cNvPr id="28" name="Picture 27">
            <a:extLst>
              <a:ext uri="{FF2B5EF4-FFF2-40B4-BE49-F238E27FC236}">
                <a16:creationId xmlns:a16="http://schemas.microsoft.com/office/drawing/2014/main" id="{F22C0E49-E0BC-F821-20A7-0BF12E098730}"/>
              </a:ext>
            </a:extLst>
          </p:cNvPr>
          <p:cNvPicPr>
            <a:picLocks noChangeAspect="1"/>
          </p:cNvPicPr>
          <p:nvPr/>
        </p:nvPicPr>
        <p:blipFill>
          <a:blip r:embed="rId3"/>
          <a:stretch>
            <a:fillRect/>
          </a:stretch>
        </p:blipFill>
        <p:spPr>
          <a:xfrm>
            <a:off x="90867" y="726775"/>
            <a:ext cx="4576550" cy="4384921"/>
          </a:xfrm>
          <a:prstGeom prst="rect">
            <a:avLst/>
          </a:prstGeom>
        </p:spPr>
      </p:pic>
      <p:pic>
        <p:nvPicPr>
          <p:cNvPr id="30" name="Picture 29">
            <a:extLst>
              <a:ext uri="{FF2B5EF4-FFF2-40B4-BE49-F238E27FC236}">
                <a16:creationId xmlns:a16="http://schemas.microsoft.com/office/drawing/2014/main" id="{7B90AA48-C794-8632-E5FB-29248131B399}"/>
              </a:ext>
            </a:extLst>
          </p:cNvPr>
          <p:cNvPicPr>
            <a:picLocks noChangeAspect="1"/>
          </p:cNvPicPr>
          <p:nvPr/>
        </p:nvPicPr>
        <p:blipFill>
          <a:blip r:embed="rId4"/>
          <a:stretch>
            <a:fillRect/>
          </a:stretch>
        </p:blipFill>
        <p:spPr>
          <a:xfrm>
            <a:off x="4804640" y="1397046"/>
            <a:ext cx="4263821" cy="1683589"/>
          </a:xfrm>
          <a:prstGeom prst="rect">
            <a:avLst/>
          </a:prstGeom>
        </p:spPr>
      </p:pic>
      <p:pic>
        <p:nvPicPr>
          <p:cNvPr id="31" name="Google Shape;328;p29">
            <a:extLst>
              <a:ext uri="{FF2B5EF4-FFF2-40B4-BE49-F238E27FC236}">
                <a16:creationId xmlns:a16="http://schemas.microsoft.com/office/drawing/2014/main" id="{F766329A-C0A5-8E4E-7E92-9DBAA901297B}"/>
              </a:ext>
            </a:extLst>
          </p:cNvPr>
          <p:cNvPicPr preferRelativeResize="0"/>
          <p:nvPr/>
        </p:nvPicPr>
        <p:blipFill>
          <a:blip r:embed="rId5">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170856502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11480" y="146304"/>
            <a:ext cx="8321040" cy="566928"/>
          </a:xfrm>
          <a:prstGeom prst="rect">
            <a:avLst/>
          </a:prstGeom>
          <a:noFill/>
          <a:ln/>
        </p:spPr>
        <p:txBody>
          <a:bodyPr wrap="square" lIns="0" tIns="0" rIns="0" bIns="0" rtlCol="0" anchor="ctr"/>
          <a:lstStyle/>
          <a:p>
            <a:pPr marL="0" indent="0">
              <a:buNone/>
            </a:pPr>
            <a:r>
              <a:rPr lang="en-US" sz="2500" b="1" dirty="0">
                <a:solidFill>
                  <a:srgbClr val="1A1F36"/>
                </a:solidFill>
                <a:latin typeface="Georgia" pitchFamily="34" charset="0"/>
                <a:ea typeface="Georgia" pitchFamily="34" charset="-122"/>
                <a:cs typeface="Georgia" pitchFamily="34" charset="-120"/>
              </a:rPr>
              <a:t>RegexMask — Constraining to Any Regular Expression</a:t>
            </a:r>
            <a:endParaRPr lang="en-US" sz="2500" dirty="0"/>
          </a:p>
        </p:txBody>
      </p:sp>
      <p:sp>
        <p:nvSpPr>
          <p:cNvPr id="4" name="Text 2"/>
          <p:cNvSpPr/>
          <p:nvPr/>
        </p:nvSpPr>
        <p:spPr>
          <a:xfrm>
            <a:off x="411480" y="786384"/>
            <a:ext cx="8321040" cy="530352"/>
          </a:xfrm>
          <a:prstGeom prst="rect">
            <a:avLst/>
          </a:prstGeom>
          <a:noFill/>
          <a:ln/>
        </p:spPr>
        <p:txBody>
          <a:bodyPr wrap="square" rtlCol="0" anchor="ctr"/>
          <a:lstStyle/>
          <a:p>
            <a:pPr marL="0" indent="0">
              <a:buNone/>
            </a:pPr>
            <a:r>
              <a:rPr lang="en-US" sz="1300" dirty="0">
                <a:solidFill>
                  <a:srgbClr val="1A1F36"/>
                </a:solidFill>
                <a:latin typeface="Calibri" pitchFamily="34" charset="0"/>
                <a:ea typeface="Calibri" pitchFamily="34" charset="-122"/>
                <a:cs typeface="Calibri" pitchFamily="34" charset="-120"/>
              </a:rPr>
              <a:t>Instead of a fixed allowlist, we test at each step whether appending each vocabulary token keeps the output consistent with a RegEx. The python regex library supports partial matching:</a:t>
            </a:r>
            <a:endParaRPr lang="en-US" sz="1300" dirty="0"/>
          </a:p>
        </p:txBody>
      </p:sp>
      <p:sp>
        <p:nvSpPr>
          <p:cNvPr id="5" name="Shape 3"/>
          <p:cNvSpPr/>
          <p:nvPr/>
        </p:nvSpPr>
        <p:spPr>
          <a:xfrm>
            <a:off x="320040" y="1316736"/>
            <a:ext cx="5303520" cy="3438144"/>
          </a:xfrm>
          <a:prstGeom prst="rect">
            <a:avLst/>
          </a:prstGeom>
          <a:solidFill>
            <a:srgbClr val="1A2035"/>
          </a:solidFill>
          <a:ln w="12700">
            <a:solidFill>
              <a:srgbClr val="1A1F36"/>
            </a:solidFill>
            <a:prstDash val="solid"/>
          </a:ln>
          <a:effectLst>
            <a:outerShdw blurRad="76200" dist="25400" dir="8100000" algn="bl" rotWithShape="0">
              <a:srgbClr val="1A1F36">
                <a:alpha val="12000"/>
              </a:srgbClr>
            </a:outerShdw>
          </a:effectLst>
        </p:spPr>
      </p:sp>
      <p:sp>
        <p:nvSpPr>
          <p:cNvPr id="6" name="Shape 4"/>
          <p:cNvSpPr/>
          <p:nvPr/>
        </p:nvSpPr>
        <p:spPr>
          <a:xfrm>
            <a:off x="320040" y="1316736"/>
            <a:ext cx="73152" cy="3438144"/>
          </a:xfrm>
          <a:prstGeom prst="rect">
            <a:avLst/>
          </a:prstGeom>
          <a:solidFill>
            <a:srgbClr val="1A1F36"/>
          </a:solidFill>
          <a:ln w="12700">
            <a:solidFill>
              <a:srgbClr val="1A1F36"/>
            </a:solidFill>
            <a:prstDash val="solid"/>
          </a:ln>
        </p:spPr>
      </p:sp>
      <p:sp>
        <p:nvSpPr>
          <p:cNvPr id="7" name="Text 5"/>
          <p:cNvSpPr/>
          <p:nvPr/>
        </p:nvSpPr>
        <p:spPr>
          <a:xfrm>
            <a:off x="484632" y="1408176"/>
            <a:ext cx="5047488" cy="3255264"/>
          </a:xfrm>
          <a:prstGeom prst="rect">
            <a:avLst/>
          </a:prstGeom>
          <a:noFill/>
          <a:ln/>
        </p:spPr>
        <p:txBody>
          <a:bodyPr wrap="square" lIns="0" tIns="0" rIns="0" bIns="0" rtlCol="0" anchor="t"/>
          <a:lstStyle/>
          <a:p>
            <a:pPr marL="0" indent="0">
              <a:buNone/>
            </a:pPr>
            <a:r>
              <a:rPr lang="en-US" sz="800" dirty="0">
                <a:solidFill>
                  <a:srgbClr val="D6E4F7"/>
                </a:solidFill>
                <a:latin typeface="Consolas" pitchFamily="34" charset="0"/>
                <a:ea typeface="Consolas" pitchFamily="34" charset="-122"/>
                <a:cs typeface="Consolas" pitchFamily="34" charset="-120"/>
              </a:rPr>
              <a:t>from transformers import LogitsProcessor</a:t>
            </a:r>
            <a:endParaRPr lang="en-US" sz="800" dirty="0"/>
          </a:p>
          <a:p>
            <a:pPr marL="0" indent="0">
              <a:buNone/>
            </a:pPr>
            <a:r>
              <a:rPr lang="en-US" sz="800" dirty="0">
                <a:solidFill>
                  <a:srgbClr val="D6E4F7"/>
                </a:solidFill>
                <a:latin typeface="Consolas" pitchFamily="34" charset="0"/>
                <a:ea typeface="Consolas" pitchFamily="34" charset="-122"/>
                <a:cs typeface="Consolas" pitchFamily="34" charset="-120"/>
              </a:rPr>
              <a:t>import regex, torch</a:t>
            </a:r>
            <a:endParaRPr lang="en-US" sz="800" dirty="0"/>
          </a:p>
          <a:p>
            <a:pPr marL="0" indent="0">
              <a:buNone/>
            </a:pPr>
            <a:endParaRPr lang="en-US" sz="800" dirty="0"/>
          </a:p>
          <a:p>
            <a:pPr marL="0" indent="0">
              <a:buNone/>
            </a:pPr>
            <a:r>
              <a:rPr lang="en-US" sz="800" dirty="0">
                <a:solidFill>
                  <a:srgbClr val="D6E4F7"/>
                </a:solidFill>
                <a:latin typeface="Consolas" pitchFamily="34" charset="0"/>
                <a:ea typeface="Consolas" pitchFamily="34" charset="-122"/>
                <a:cs typeface="Consolas" pitchFamily="34" charset="-120"/>
              </a:rPr>
              <a:t>class RegexMask(LogitsProcessor):</a:t>
            </a:r>
            <a:endParaRPr lang="en-US" sz="800" dirty="0"/>
          </a:p>
          <a:p>
            <a:pPr marL="0" indent="0">
              <a:buNone/>
            </a:pPr>
            <a:endParaRPr lang="en-US" sz="800" dirty="0"/>
          </a:p>
          <a:p>
            <a:pPr marL="0" indent="0">
              <a:buNone/>
            </a:pPr>
            <a:r>
              <a:rPr lang="en-US" sz="800" dirty="0">
                <a:solidFill>
                  <a:srgbClr val="D6E4F7"/>
                </a:solidFill>
                <a:latin typeface="Consolas" pitchFamily="34" charset="0"/>
                <a:ea typeface="Consolas" pitchFamily="34" charset="-122"/>
                <a:cs typeface="Consolas" pitchFamily="34" charset="-120"/>
              </a:rPr>
              <a:t>    def __init__(self, regex_pattern, tokenizer, subtract=torch.inf):</a:t>
            </a:r>
            <a:endParaRPr lang="en-US" sz="800" dirty="0"/>
          </a:p>
          <a:p>
            <a:pPr marL="0" indent="0">
              <a:buNone/>
            </a:pPr>
            <a:r>
              <a:rPr lang="en-US" sz="800" dirty="0">
                <a:solidFill>
                  <a:srgbClr val="D6E4F7"/>
                </a:solidFill>
                <a:latin typeface="Consolas" pitchFamily="34" charset="0"/>
                <a:ea typeface="Consolas" pitchFamily="34" charset="-122"/>
                <a:cs typeface="Consolas" pitchFamily="34" charset="-120"/>
              </a:rPr>
              <a:t>        self.regex     = regex_pattern</a:t>
            </a:r>
            <a:endParaRPr lang="en-US" sz="800" dirty="0"/>
          </a:p>
          <a:p>
            <a:pPr marL="0" indent="0">
              <a:buNone/>
            </a:pPr>
            <a:r>
              <a:rPr lang="en-US" sz="800" dirty="0">
                <a:solidFill>
                  <a:srgbClr val="D6E4F7"/>
                </a:solidFill>
                <a:latin typeface="Consolas" pitchFamily="34" charset="0"/>
                <a:ea typeface="Consolas" pitchFamily="34" charset="-122"/>
                <a:cs typeface="Consolas" pitchFamily="34" charset="-120"/>
              </a:rPr>
              <a:t>        self.tokenizer = tokenizer</a:t>
            </a:r>
            <a:endParaRPr lang="en-US" sz="800" dirty="0"/>
          </a:p>
          <a:p>
            <a:pPr marL="0" indent="0">
              <a:buNone/>
            </a:pPr>
            <a:r>
              <a:rPr lang="en-US" sz="800" dirty="0">
                <a:solidFill>
                  <a:srgbClr val="D6E4F7"/>
                </a:solidFill>
                <a:latin typeface="Consolas" pitchFamily="34" charset="0"/>
                <a:ea typeface="Consolas" pitchFamily="34" charset="-122"/>
                <a:cs typeface="Consolas" pitchFamily="34" charset="-120"/>
              </a:rPr>
              <a:t>        self.vocab_map = {tid: tokenizer.decode(tid)</a:t>
            </a:r>
            <a:endParaRPr lang="en-US" sz="800" dirty="0"/>
          </a:p>
          <a:p>
            <a:pPr marL="0" indent="0">
              <a:buNone/>
            </a:pPr>
            <a:r>
              <a:rPr lang="en-US" sz="800" dirty="0">
                <a:solidFill>
                  <a:srgbClr val="D6E4F7"/>
                </a:solidFill>
                <a:latin typeface="Consolas" pitchFamily="34" charset="0"/>
                <a:ea typeface="Consolas" pitchFamily="34" charset="-122"/>
                <a:cs typeface="Consolas" pitchFamily="34" charset="-120"/>
              </a:rPr>
              <a:t>                          for tid in tokenizer.get_vocab().values()}</a:t>
            </a:r>
            <a:endParaRPr lang="en-US" sz="800" dirty="0"/>
          </a:p>
          <a:p>
            <a:pPr marL="0" indent="0">
              <a:buNone/>
            </a:pPr>
            <a:r>
              <a:rPr lang="en-US" sz="800" dirty="0">
                <a:solidFill>
                  <a:srgbClr val="D6E4F7"/>
                </a:solidFill>
                <a:latin typeface="Consolas" pitchFamily="34" charset="0"/>
                <a:ea typeface="Consolas" pitchFamily="34" charset="-122"/>
                <a:cs typeface="Consolas" pitchFamily="34" charset="-120"/>
              </a:rPr>
              <a:t>        self.start_index  = 0          # set to prompt length before use</a:t>
            </a:r>
            <a:endParaRPr lang="en-US" sz="800" dirty="0"/>
          </a:p>
          <a:p>
            <a:pPr marL="0" indent="0">
              <a:buNone/>
            </a:pPr>
            <a:r>
              <a:rPr lang="en-US" sz="800" dirty="0">
                <a:solidFill>
                  <a:srgbClr val="D6E4F7"/>
                </a:solidFill>
                <a:latin typeface="Consolas" pitchFamily="34" charset="0"/>
                <a:ea typeface="Consolas" pitchFamily="34" charset="-122"/>
                <a:cs typeface="Consolas" pitchFamily="34" charset="-120"/>
              </a:rPr>
              <a:t>        self.subtract     = subtract</a:t>
            </a:r>
            <a:endParaRPr lang="en-US" sz="800" dirty="0"/>
          </a:p>
          <a:p>
            <a:pPr marL="0" indent="0">
              <a:buNone/>
            </a:pPr>
            <a:endParaRPr lang="en-US" sz="800" dirty="0"/>
          </a:p>
          <a:p>
            <a:pPr marL="0" indent="0">
              <a:buNone/>
            </a:pPr>
            <a:r>
              <a:rPr lang="en-US" sz="800" dirty="0">
                <a:solidFill>
                  <a:srgbClr val="D6E4F7"/>
                </a:solidFill>
                <a:latin typeface="Consolas" pitchFamily="34" charset="0"/>
                <a:ea typeface="Consolas" pitchFamily="34" charset="-122"/>
                <a:cs typeface="Consolas" pitchFamily="34" charset="-120"/>
              </a:rPr>
              <a:t>    def __call__(self, input_ids, scores):</a:t>
            </a:r>
            <a:endParaRPr lang="en-US" sz="800" dirty="0"/>
          </a:p>
          <a:p>
            <a:pPr marL="0" indent="0">
              <a:buNone/>
            </a:pPr>
            <a:r>
              <a:rPr lang="en-US" sz="800" dirty="0">
                <a:solidFill>
                  <a:srgbClr val="D6E4F7"/>
                </a:solidFill>
                <a:latin typeface="Consolas" pitchFamily="34" charset="0"/>
                <a:ea typeface="Consolas" pitchFamily="34" charset="-122"/>
                <a:cs typeface="Consolas" pitchFamily="34" charset="-120"/>
              </a:rPr>
              <a:t>        # Decode output so far (excluding prompt)</a:t>
            </a:r>
            <a:endParaRPr lang="en-US" sz="800" dirty="0"/>
          </a:p>
          <a:p>
            <a:pPr marL="0" indent="0">
              <a:buNone/>
            </a:pPr>
            <a:r>
              <a:rPr lang="en-US" sz="800" dirty="0">
                <a:solidFill>
                  <a:srgbClr val="D6E4F7"/>
                </a:solidFill>
                <a:latin typeface="Consolas" pitchFamily="34" charset="0"/>
                <a:ea typeface="Consolas" pitchFamily="34" charset="-122"/>
                <a:cs typeface="Consolas" pitchFamily="34" charset="-120"/>
              </a:rPr>
              <a:t>        partial = self.tokenizer.decode(input_ids[0, self.start_index:])</a:t>
            </a:r>
            <a:endParaRPr lang="en-US" sz="800" dirty="0"/>
          </a:p>
          <a:p>
            <a:pPr marL="0" indent="0">
              <a:buNone/>
            </a:pPr>
            <a:r>
              <a:rPr lang="en-US" sz="800" dirty="0">
                <a:solidFill>
                  <a:srgbClr val="D6E4F7"/>
                </a:solidFill>
                <a:latin typeface="Consolas" pitchFamily="34" charset="0"/>
                <a:ea typeface="Consolas" pitchFamily="34" charset="-122"/>
                <a:cs typeface="Consolas" pitchFamily="34" charset="-120"/>
              </a:rPr>
              <a:t>        allowed = [self.tokenizer.eos_token_id]   # always allow EOS</a:t>
            </a:r>
            <a:endParaRPr lang="en-US" sz="800" dirty="0"/>
          </a:p>
          <a:p>
            <a:pPr marL="0" indent="0">
              <a:buNone/>
            </a:pPr>
            <a:endParaRPr lang="en-US" sz="800" dirty="0"/>
          </a:p>
          <a:p>
            <a:pPr marL="0" indent="0">
              <a:buNone/>
            </a:pPr>
            <a:r>
              <a:rPr lang="en-US" sz="800" dirty="0">
                <a:solidFill>
                  <a:srgbClr val="D6E4F7"/>
                </a:solidFill>
                <a:latin typeface="Consolas" pitchFamily="34" charset="0"/>
                <a:ea typeface="Consolas" pitchFamily="34" charset="-122"/>
                <a:cs typeface="Consolas" pitchFamily="34" charset="-120"/>
              </a:rPr>
              <a:t>        for token_id, token_str in self.vocab_map.items():</a:t>
            </a:r>
            <a:endParaRPr lang="en-US" sz="800" dirty="0"/>
          </a:p>
          <a:p>
            <a:pPr marL="0" indent="0">
              <a:buNone/>
            </a:pPr>
            <a:r>
              <a:rPr lang="en-US" sz="800" dirty="0">
                <a:solidFill>
                  <a:srgbClr val="D6E4F7"/>
                </a:solidFill>
                <a:latin typeface="Consolas" pitchFamily="34" charset="0"/>
                <a:ea typeface="Consolas" pitchFamily="34" charset="-122"/>
                <a:cs typeface="Consolas" pitchFamily="34" charset="-120"/>
              </a:rPr>
              <a:t>            # partial=True: match even if string is not yet complete</a:t>
            </a:r>
            <a:endParaRPr lang="en-US" sz="800" dirty="0"/>
          </a:p>
          <a:p>
            <a:pPr marL="0" indent="0">
              <a:buNone/>
            </a:pPr>
            <a:r>
              <a:rPr lang="en-US" sz="800" dirty="0">
                <a:solidFill>
                  <a:srgbClr val="D6E4F7"/>
                </a:solidFill>
                <a:latin typeface="Consolas" pitchFamily="34" charset="0"/>
                <a:ea typeface="Consolas" pitchFamily="34" charset="-122"/>
                <a:cs typeface="Consolas" pitchFamily="34" charset="-120"/>
              </a:rPr>
              <a:t>            if self.regex.match(partial + token_str, partial=True):</a:t>
            </a:r>
            <a:endParaRPr lang="en-US" sz="800" dirty="0"/>
          </a:p>
          <a:p>
            <a:pPr marL="0" indent="0">
              <a:buNone/>
            </a:pPr>
            <a:r>
              <a:rPr lang="en-US" sz="800" dirty="0">
                <a:solidFill>
                  <a:srgbClr val="D6E4F7"/>
                </a:solidFill>
                <a:latin typeface="Consolas" pitchFamily="34" charset="0"/>
                <a:ea typeface="Consolas" pitchFamily="34" charset="-122"/>
                <a:cs typeface="Consolas" pitchFamily="34" charset="-120"/>
              </a:rPr>
              <a:t>                allowed.append(token_id)</a:t>
            </a:r>
            <a:endParaRPr lang="en-US" sz="800" dirty="0"/>
          </a:p>
          <a:p>
            <a:pPr marL="0" indent="0">
              <a:buNone/>
            </a:pPr>
            <a:r>
              <a:rPr lang="en-US" sz="800" dirty="0">
                <a:solidFill>
                  <a:srgbClr val="D6E4F7"/>
                </a:solidFill>
                <a:latin typeface="Consolas" pitchFamily="34" charset="0"/>
                <a:ea typeface="Consolas" pitchFamily="34" charset="-122"/>
                <a:cs typeface="Consolas" pitchFamily="34" charset="-120"/>
              </a:rPr>
              <a:t>        mask = -self.subtract * torch.ones_like(scores)</a:t>
            </a:r>
            <a:endParaRPr lang="en-US" sz="800" dirty="0"/>
          </a:p>
          <a:p>
            <a:pPr marL="0" indent="0">
              <a:buNone/>
            </a:pPr>
            <a:r>
              <a:rPr lang="en-US" sz="800" dirty="0">
                <a:solidFill>
                  <a:srgbClr val="D6E4F7"/>
                </a:solidFill>
                <a:latin typeface="Consolas" pitchFamily="34" charset="0"/>
                <a:ea typeface="Consolas" pitchFamily="34" charset="-122"/>
                <a:cs typeface="Consolas" pitchFamily="34" charset="-120"/>
              </a:rPr>
              <a:t>        for tid in allowed:</a:t>
            </a:r>
            <a:endParaRPr lang="en-US" sz="800" dirty="0"/>
          </a:p>
          <a:p>
            <a:pPr marL="0" indent="0">
              <a:buNone/>
            </a:pPr>
            <a:r>
              <a:rPr lang="en-US" sz="800" dirty="0">
                <a:solidFill>
                  <a:srgbClr val="D6E4F7"/>
                </a:solidFill>
                <a:latin typeface="Consolas" pitchFamily="34" charset="0"/>
                <a:ea typeface="Consolas" pitchFamily="34" charset="-122"/>
                <a:cs typeface="Consolas" pitchFamily="34" charset="-120"/>
              </a:rPr>
              <a:t>            mask[:, tid] = 0</a:t>
            </a:r>
            <a:endParaRPr lang="en-US" sz="800" dirty="0"/>
          </a:p>
          <a:p>
            <a:pPr marL="0" indent="0">
              <a:buNone/>
            </a:pPr>
            <a:r>
              <a:rPr lang="en-US" sz="800" dirty="0">
                <a:solidFill>
                  <a:srgbClr val="D6E4F7"/>
                </a:solidFill>
                <a:latin typeface="Consolas" pitchFamily="34" charset="0"/>
                <a:ea typeface="Consolas" pitchFamily="34" charset="-122"/>
                <a:cs typeface="Consolas" pitchFamily="34" charset="-120"/>
              </a:rPr>
              <a:t>        scores = scores + mask</a:t>
            </a:r>
            <a:endParaRPr lang="en-US" sz="800" dirty="0"/>
          </a:p>
          <a:p>
            <a:pPr marL="0" indent="0">
              <a:buNone/>
            </a:pPr>
            <a:r>
              <a:rPr lang="en-US" sz="800" dirty="0">
                <a:solidFill>
                  <a:srgbClr val="D6E4F7"/>
                </a:solidFill>
                <a:latin typeface="Consolas" pitchFamily="34" charset="0"/>
                <a:ea typeface="Consolas" pitchFamily="34" charset="-122"/>
                <a:cs typeface="Consolas" pitchFamily="34" charset="-120"/>
              </a:rPr>
              <a:t>        return scores</a:t>
            </a:r>
            <a:endParaRPr lang="en-US" sz="800" dirty="0"/>
          </a:p>
        </p:txBody>
      </p:sp>
      <p:sp>
        <p:nvSpPr>
          <p:cNvPr id="8" name="Shape 6"/>
          <p:cNvSpPr/>
          <p:nvPr/>
        </p:nvSpPr>
        <p:spPr>
          <a:xfrm>
            <a:off x="5715000" y="1261872"/>
            <a:ext cx="3154680" cy="713232"/>
          </a:xfrm>
          <a:prstGeom prst="rect">
            <a:avLst/>
          </a:prstGeom>
          <a:solidFill>
            <a:srgbClr val="F7F3EA"/>
          </a:solidFill>
          <a:ln w="19050">
            <a:solidFill>
              <a:srgbClr val="B8975B"/>
            </a:solidFill>
            <a:prstDash val="solid"/>
          </a:ln>
          <a:effectLst>
            <a:outerShdw blurRad="76200" dist="25400" dir="8100000" algn="bl" rotWithShape="0">
              <a:srgbClr val="1A1F36">
                <a:alpha val="12000"/>
              </a:srgbClr>
            </a:outerShdw>
          </a:effectLst>
        </p:spPr>
      </p:sp>
      <p:sp>
        <p:nvSpPr>
          <p:cNvPr id="9" name="Shape 7"/>
          <p:cNvSpPr/>
          <p:nvPr/>
        </p:nvSpPr>
        <p:spPr>
          <a:xfrm>
            <a:off x="5715000" y="1261872"/>
            <a:ext cx="50292" cy="713232"/>
          </a:xfrm>
          <a:prstGeom prst="rect">
            <a:avLst/>
          </a:prstGeom>
          <a:solidFill>
            <a:srgbClr val="B8975B"/>
          </a:solidFill>
          <a:ln w="12700">
            <a:solidFill>
              <a:srgbClr val="B8975B"/>
            </a:solidFill>
            <a:prstDash val="solid"/>
          </a:ln>
        </p:spPr>
      </p:sp>
      <p:sp>
        <p:nvSpPr>
          <p:cNvPr id="10" name="Text 8"/>
          <p:cNvSpPr/>
          <p:nvPr/>
        </p:nvSpPr>
        <p:spPr>
          <a:xfrm>
            <a:off x="5833872" y="1307592"/>
            <a:ext cx="2990088" cy="237744"/>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vocab_map</a:t>
            </a:r>
            <a:endParaRPr lang="en-US" sz="1050" dirty="0"/>
          </a:p>
        </p:txBody>
      </p:sp>
      <p:sp>
        <p:nvSpPr>
          <p:cNvPr id="11" name="Text 9"/>
          <p:cNvSpPr/>
          <p:nvPr/>
        </p:nvSpPr>
        <p:spPr>
          <a:xfrm>
            <a:off x="5833872" y="1536192"/>
            <a:ext cx="2990088" cy="393192"/>
          </a:xfrm>
          <a:prstGeom prst="rect">
            <a:avLst/>
          </a:prstGeom>
          <a:noFill/>
          <a:ln/>
        </p:spPr>
        <p:txBody>
          <a:bodyPr wrap="square" lIns="0" tIns="0" rIns="0" bIns="0" rtlCol="0" anchor="t"/>
          <a:lstStyle/>
          <a:p>
            <a:pPr marL="0" indent="0">
              <a:buNone/>
            </a:pPr>
            <a:r>
              <a:rPr lang="en-US" sz="1000" dirty="0">
                <a:solidFill>
                  <a:srgbClr val="1A1F36"/>
                </a:solidFill>
                <a:latin typeface="Calibri" pitchFamily="34" charset="0"/>
                <a:ea typeface="Calibri" pitchFamily="34" charset="-122"/>
                <a:cs typeface="Calibri" pitchFamily="34" charset="-120"/>
              </a:rPr>
              <a:t>Pre-computes the string for every token ID once — avoids repeated decode calls inside the hot loop.</a:t>
            </a:r>
            <a:endParaRPr lang="en-US" sz="1000" dirty="0"/>
          </a:p>
        </p:txBody>
      </p:sp>
      <p:sp>
        <p:nvSpPr>
          <p:cNvPr id="12" name="Shape 10"/>
          <p:cNvSpPr/>
          <p:nvPr/>
        </p:nvSpPr>
        <p:spPr>
          <a:xfrm>
            <a:off x="5715000" y="1618488"/>
            <a:ext cx="0" cy="256032"/>
          </a:xfrm>
          <a:prstGeom prst="line">
            <a:avLst/>
          </a:prstGeom>
          <a:noFill/>
          <a:ln w="19050">
            <a:solidFill>
              <a:srgbClr val="B8975B"/>
            </a:solidFill>
            <a:prstDash val="solid"/>
            <a:tailEnd type="arrow"/>
          </a:ln>
        </p:spPr>
      </p:sp>
      <p:sp>
        <p:nvSpPr>
          <p:cNvPr id="13" name="Shape 11"/>
          <p:cNvSpPr/>
          <p:nvPr/>
        </p:nvSpPr>
        <p:spPr>
          <a:xfrm>
            <a:off x="5715000" y="2066544"/>
            <a:ext cx="3154680" cy="713232"/>
          </a:xfrm>
          <a:prstGeom prst="rect">
            <a:avLst/>
          </a:prstGeom>
          <a:solidFill>
            <a:srgbClr val="F7F3EA"/>
          </a:solidFill>
          <a:ln w="19050">
            <a:solidFill>
              <a:srgbClr val="B8975B"/>
            </a:solidFill>
            <a:prstDash val="solid"/>
          </a:ln>
          <a:effectLst>
            <a:outerShdw blurRad="76200" dist="25400" dir="8100000" algn="bl" rotWithShape="0">
              <a:srgbClr val="1A1F36">
                <a:alpha val="12000"/>
              </a:srgbClr>
            </a:outerShdw>
          </a:effectLst>
        </p:spPr>
      </p:sp>
      <p:sp>
        <p:nvSpPr>
          <p:cNvPr id="14" name="Shape 12"/>
          <p:cNvSpPr/>
          <p:nvPr/>
        </p:nvSpPr>
        <p:spPr>
          <a:xfrm>
            <a:off x="5715000" y="2066544"/>
            <a:ext cx="50292" cy="713232"/>
          </a:xfrm>
          <a:prstGeom prst="rect">
            <a:avLst/>
          </a:prstGeom>
          <a:solidFill>
            <a:srgbClr val="B8975B"/>
          </a:solidFill>
          <a:ln w="12700">
            <a:solidFill>
              <a:srgbClr val="B8975B"/>
            </a:solidFill>
            <a:prstDash val="solid"/>
          </a:ln>
        </p:spPr>
      </p:sp>
      <p:sp>
        <p:nvSpPr>
          <p:cNvPr id="15" name="Text 13"/>
          <p:cNvSpPr/>
          <p:nvPr/>
        </p:nvSpPr>
        <p:spPr>
          <a:xfrm>
            <a:off x="5833872" y="2112264"/>
            <a:ext cx="2990088" cy="237744"/>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start_index</a:t>
            </a:r>
            <a:endParaRPr lang="en-US" sz="1050" dirty="0"/>
          </a:p>
        </p:txBody>
      </p:sp>
      <p:sp>
        <p:nvSpPr>
          <p:cNvPr id="16" name="Text 14"/>
          <p:cNvSpPr/>
          <p:nvPr/>
        </p:nvSpPr>
        <p:spPr>
          <a:xfrm>
            <a:off x="5833872" y="2340864"/>
            <a:ext cx="2990088" cy="393192"/>
          </a:xfrm>
          <a:prstGeom prst="rect">
            <a:avLst/>
          </a:prstGeom>
          <a:noFill/>
          <a:ln/>
        </p:spPr>
        <p:txBody>
          <a:bodyPr wrap="square" lIns="0" tIns="0" rIns="0" bIns="0" rtlCol="0" anchor="t"/>
          <a:lstStyle/>
          <a:p>
            <a:pPr marL="0" indent="0">
              <a:buNone/>
            </a:pPr>
            <a:r>
              <a:rPr lang="en-US" sz="1000" dirty="0">
                <a:solidFill>
                  <a:srgbClr val="1A1F36"/>
                </a:solidFill>
                <a:latin typeface="Calibri" pitchFamily="34" charset="0"/>
                <a:ea typeface="Calibri" pitchFamily="34" charset="-122"/>
                <a:cs typeface="Calibri" pitchFamily="34" charset="-120"/>
              </a:rPr>
              <a:t>Offsets into input_ids so we only match the generated output, not the original prompt text.</a:t>
            </a:r>
            <a:endParaRPr lang="en-US" sz="1000" dirty="0"/>
          </a:p>
        </p:txBody>
      </p:sp>
      <p:sp>
        <p:nvSpPr>
          <p:cNvPr id="17" name="Shape 15"/>
          <p:cNvSpPr/>
          <p:nvPr/>
        </p:nvSpPr>
        <p:spPr>
          <a:xfrm>
            <a:off x="5715000" y="2423160"/>
            <a:ext cx="0" cy="228600"/>
          </a:xfrm>
          <a:prstGeom prst="line">
            <a:avLst/>
          </a:prstGeom>
          <a:noFill/>
          <a:ln w="19050">
            <a:solidFill>
              <a:srgbClr val="B8975B"/>
            </a:solidFill>
            <a:prstDash val="solid"/>
            <a:tailEnd type="arrow"/>
          </a:ln>
        </p:spPr>
      </p:sp>
      <p:sp>
        <p:nvSpPr>
          <p:cNvPr id="18" name="Shape 16"/>
          <p:cNvSpPr/>
          <p:nvPr/>
        </p:nvSpPr>
        <p:spPr>
          <a:xfrm>
            <a:off x="5715000" y="2871216"/>
            <a:ext cx="3154680" cy="713232"/>
          </a:xfrm>
          <a:prstGeom prst="rect">
            <a:avLst/>
          </a:prstGeom>
          <a:solidFill>
            <a:srgbClr val="F7F3EA"/>
          </a:solidFill>
          <a:ln w="19050">
            <a:solidFill>
              <a:srgbClr val="B8975B"/>
            </a:solidFill>
            <a:prstDash val="solid"/>
          </a:ln>
          <a:effectLst>
            <a:outerShdw blurRad="76200" dist="25400" dir="8100000" algn="bl" rotWithShape="0">
              <a:srgbClr val="1A1F36">
                <a:alpha val="12000"/>
              </a:srgbClr>
            </a:outerShdw>
          </a:effectLst>
        </p:spPr>
      </p:sp>
      <p:sp>
        <p:nvSpPr>
          <p:cNvPr id="19" name="Shape 17"/>
          <p:cNvSpPr/>
          <p:nvPr/>
        </p:nvSpPr>
        <p:spPr>
          <a:xfrm>
            <a:off x="5715000" y="2871216"/>
            <a:ext cx="50292" cy="713232"/>
          </a:xfrm>
          <a:prstGeom prst="rect">
            <a:avLst/>
          </a:prstGeom>
          <a:solidFill>
            <a:srgbClr val="B8975B"/>
          </a:solidFill>
          <a:ln w="12700">
            <a:solidFill>
              <a:srgbClr val="B8975B"/>
            </a:solidFill>
            <a:prstDash val="solid"/>
          </a:ln>
        </p:spPr>
      </p:sp>
      <p:sp>
        <p:nvSpPr>
          <p:cNvPr id="20" name="Text 18"/>
          <p:cNvSpPr/>
          <p:nvPr/>
        </p:nvSpPr>
        <p:spPr>
          <a:xfrm>
            <a:off x="5833872" y="2916936"/>
            <a:ext cx="2990088" cy="237744"/>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partial=True</a:t>
            </a:r>
            <a:endParaRPr lang="en-US" sz="1050" dirty="0"/>
          </a:p>
        </p:txBody>
      </p:sp>
      <p:sp>
        <p:nvSpPr>
          <p:cNvPr id="21" name="Text 19"/>
          <p:cNvSpPr/>
          <p:nvPr/>
        </p:nvSpPr>
        <p:spPr>
          <a:xfrm>
            <a:off x="5833872" y="3145536"/>
            <a:ext cx="2990088" cy="393192"/>
          </a:xfrm>
          <a:prstGeom prst="rect">
            <a:avLst/>
          </a:prstGeom>
          <a:noFill/>
          <a:ln/>
        </p:spPr>
        <p:txBody>
          <a:bodyPr wrap="square" lIns="0" tIns="0" rIns="0" bIns="0" rtlCol="0" anchor="t"/>
          <a:lstStyle/>
          <a:p>
            <a:pPr marL="0" indent="0">
              <a:buNone/>
            </a:pPr>
            <a:r>
              <a:rPr lang="en-US" sz="1000" dirty="0">
                <a:solidFill>
                  <a:srgbClr val="1A1F36"/>
                </a:solidFill>
                <a:latin typeface="Calibri" pitchFamily="34" charset="0"/>
                <a:ea typeface="Calibri" pitchFamily="34" charset="-122"/>
                <a:cs typeface="Calibri" pitchFamily="34" charset="-120"/>
              </a:rPr>
              <a:t>Key! The regex library's partial match returns True if the string is consistent with the pattern so far — not yet complete.</a:t>
            </a:r>
            <a:endParaRPr lang="en-US" sz="1000" dirty="0"/>
          </a:p>
        </p:txBody>
      </p:sp>
      <p:sp>
        <p:nvSpPr>
          <p:cNvPr id="22" name="Shape 20"/>
          <p:cNvSpPr/>
          <p:nvPr/>
        </p:nvSpPr>
        <p:spPr>
          <a:xfrm>
            <a:off x="5715000" y="3227832"/>
            <a:ext cx="0" cy="173736"/>
          </a:xfrm>
          <a:prstGeom prst="line">
            <a:avLst/>
          </a:prstGeom>
          <a:noFill/>
          <a:ln w="19050">
            <a:solidFill>
              <a:srgbClr val="B8975B"/>
            </a:solidFill>
            <a:prstDash val="solid"/>
            <a:tailEnd type="arrow"/>
          </a:ln>
        </p:spPr>
      </p:sp>
      <p:sp>
        <p:nvSpPr>
          <p:cNvPr id="23" name="Shape 21"/>
          <p:cNvSpPr/>
          <p:nvPr/>
        </p:nvSpPr>
        <p:spPr>
          <a:xfrm>
            <a:off x="5715000" y="3675888"/>
            <a:ext cx="3154680" cy="713232"/>
          </a:xfrm>
          <a:prstGeom prst="rect">
            <a:avLst/>
          </a:prstGeom>
          <a:solidFill>
            <a:srgbClr val="F7F3EA"/>
          </a:solidFill>
          <a:ln w="19050">
            <a:solidFill>
              <a:srgbClr val="B8975B"/>
            </a:solidFill>
            <a:prstDash val="solid"/>
          </a:ln>
          <a:effectLst>
            <a:outerShdw blurRad="76200" dist="25400" dir="8100000" algn="bl" rotWithShape="0">
              <a:srgbClr val="1A1F36">
                <a:alpha val="12000"/>
              </a:srgbClr>
            </a:outerShdw>
          </a:effectLst>
        </p:spPr>
      </p:sp>
      <p:sp>
        <p:nvSpPr>
          <p:cNvPr id="24" name="Shape 22"/>
          <p:cNvSpPr/>
          <p:nvPr/>
        </p:nvSpPr>
        <p:spPr>
          <a:xfrm>
            <a:off x="5715000" y="3675888"/>
            <a:ext cx="50292" cy="713232"/>
          </a:xfrm>
          <a:prstGeom prst="rect">
            <a:avLst/>
          </a:prstGeom>
          <a:solidFill>
            <a:srgbClr val="B8975B"/>
          </a:solidFill>
          <a:ln w="12700">
            <a:solidFill>
              <a:srgbClr val="B8975B"/>
            </a:solidFill>
            <a:prstDash val="solid"/>
          </a:ln>
        </p:spPr>
      </p:sp>
      <p:sp>
        <p:nvSpPr>
          <p:cNvPr id="25" name="Text 23"/>
          <p:cNvSpPr/>
          <p:nvPr/>
        </p:nvSpPr>
        <p:spPr>
          <a:xfrm>
            <a:off x="5833872" y="3721608"/>
            <a:ext cx="2990088" cy="237744"/>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EOS always allowed</a:t>
            </a:r>
            <a:endParaRPr lang="en-US" sz="1050" dirty="0"/>
          </a:p>
        </p:txBody>
      </p:sp>
      <p:sp>
        <p:nvSpPr>
          <p:cNvPr id="26" name="Text 24"/>
          <p:cNvSpPr/>
          <p:nvPr/>
        </p:nvSpPr>
        <p:spPr>
          <a:xfrm>
            <a:off x="5833872" y="3950208"/>
            <a:ext cx="2990088" cy="393192"/>
          </a:xfrm>
          <a:prstGeom prst="rect">
            <a:avLst/>
          </a:prstGeom>
          <a:noFill/>
          <a:ln/>
        </p:spPr>
        <p:txBody>
          <a:bodyPr wrap="square" lIns="0" tIns="0" rIns="0" bIns="0" rtlCol="0" anchor="t"/>
          <a:lstStyle/>
          <a:p>
            <a:pPr marL="0" indent="0">
              <a:buNone/>
            </a:pPr>
            <a:r>
              <a:rPr lang="en-US" sz="1000" dirty="0">
                <a:solidFill>
                  <a:srgbClr val="1A1F36"/>
                </a:solidFill>
                <a:latin typeface="Calibri" pitchFamily="34" charset="0"/>
                <a:ea typeface="Calibri" pitchFamily="34" charset="-122"/>
                <a:cs typeface="Calibri" pitchFamily="34" charset="-120"/>
              </a:rPr>
              <a:t>Model can stop generation at any point, even if the current output doesn't yet satisfy the full regex.</a:t>
            </a:r>
            <a:endParaRPr lang="en-US" sz="1000" dirty="0"/>
          </a:p>
        </p:txBody>
      </p:sp>
      <p:sp>
        <p:nvSpPr>
          <p:cNvPr id="27" name="Shape 25"/>
          <p:cNvSpPr/>
          <p:nvPr/>
        </p:nvSpPr>
        <p:spPr>
          <a:xfrm>
            <a:off x="5715000" y="4032504"/>
            <a:ext cx="0" cy="219456"/>
          </a:xfrm>
          <a:prstGeom prst="line">
            <a:avLst/>
          </a:prstGeom>
          <a:noFill/>
          <a:ln w="19050">
            <a:solidFill>
              <a:srgbClr val="B8975B"/>
            </a:solidFill>
            <a:prstDash val="solid"/>
            <a:tailEnd type="arrow"/>
          </a:ln>
        </p:spPr>
      </p:sp>
      <p:pic>
        <p:nvPicPr>
          <p:cNvPr id="28" name="Google Shape;328;p29">
            <a:extLst>
              <a:ext uri="{FF2B5EF4-FFF2-40B4-BE49-F238E27FC236}">
                <a16:creationId xmlns:a16="http://schemas.microsoft.com/office/drawing/2014/main" id="{578D591A-1C56-1605-C293-1242748CE089}"/>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412734991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11480" y="146304"/>
            <a:ext cx="8321040" cy="566928"/>
          </a:xfrm>
          <a:prstGeom prst="rect">
            <a:avLst/>
          </a:prstGeom>
          <a:noFill/>
          <a:ln/>
        </p:spPr>
        <p:txBody>
          <a:bodyPr wrap="square" lIns="0" tIns="0" rIns="0" bIns="0" rtlCol="0" anchor="ctr"/>
          <a:lstStyle/>
          <a:p>
            <a:pPr marL="0" indent="0">
              <a:buNone/>
            </a:pPr>
            <a:r>
              <a:rPr lang="en-US" sz="2500" b="1" dirty="0">
                <a:solidFill>
                  <a:srgbClr val="1A1F36"/>
                </a:solidFill>
                <a:latin typeface="Georgia" pitchFamily="34" charset="0"/>
                <a:ea typeface="Georgia" pitchFamily="34" charset="-122"/>
                <a:cs typeface="Georgia" pitchFamily="34" charset="-120"/>
              </a:rPr>
              <a:t>Partial Regex Matching </a:t>
            </a:r>
            <a:endParaRPr lang="en-US" sz="2500" dirty="0"/>
          </a:p>
        </p:txBody>
      </p:sp>
      <p:sp>
        <p:nvSpPr>
          <p:cNvPr id="4" name="Text 2"/>
          <p:cNvSpPr/>
          <p:nvPr/>
        </p:nvSpPr>
        <p:spPr>
          <a:xfrm>
            <a:off x="411480" y="786384"/>
            <a:ext cx="8321040" cy="493776"/>
          </a:xfrm>
          <a:prstGeom prst="rect">
            <a:avLst/>
          </a:prstGeom>
          <a:noFill/>
          <a:ln/>
        </p:spPr>
        <p:txBody>
          <a:bodyPr wrap="square" rtlCol="0" anchor="ctr"/>
          <a:lstStyle/>
          <a:p>
            <a:pPr marL="0" indent="0">
              <a:buNone/>
            </a:pPr>
            <a:r>
              <a:rPr lang="en-US" sz="1300" dirty="0">
                <a:solidFill>
                  <a:srgbClr val="1A1F36"/>
                </a:solidFill>
                <a:latin typeface="Calibri" pitchFamily="34" charset="0"/>
                <a:ea typeface="Calibri" pitchFamily="34" charset="-122"/>
                <a:cs typeface="Calibri" pitchFamily="34" charset="-120"/>
              </a:rPr>
              <a:t>Standard re.match() fails on incomplete strings. The regex library's partial=True returns a match if the string is consistent with the pattern so far:</a:t>
            </a:r>
            <a:endParaRPr lang="en-US" sz="1300" dirty="0"/>
          </a:p>
        </p:txBody>
      </p:sp>
      <p:sp>
        <p:nvSpPr>
          <p:cNvPr id="5" name="Shape 3"/>
          <p:cNvSpPr/>
          <p:nvPr/>
        </p:nvSpPr>
        <p:spPr>
          <a:xfrm>
            <a:off x="320040" y="1353312"/>
            <a:ext cx="8503920" cy="1993392"/>
          </a:xfrm>
          <a:prstGeom prst="rect">
            <a:avLst/>
          </a:prstGeom>
          <a:solidFill>
            <a:srgbClr val="1A2035"/>
          </a:solidFill>
          <a:ln w="12700">
            <a:solidFill>
              <a:srgbClr val="1A1F36"/>
            </a:solidFill>
            <a:prstDash val="solid"/>
          </a:ln>
          <a:effectLst>
            <a:outerShdw blurRad="76200" dist="25400" dir="8100000" algn="bl" rotWithShape="0">
              <a:srgbClr val="1A1F36">
                <a:alpha val="12000"/>
              </a:srgbClr>
            </a:outerShdw>
          </a:effectLst>
        </p:spPr>
      </p:sp>
      <p:sp>
        <p:nvSpPr>
          <p:cNvPr id="6" name="Shape 4"/>
          <p:cNvSpPr/>
          <p:nvPr/>
        </p:nvSpPr>
        <p:spPr>
          <a:xfrm>
            <a:off x="320040" y="1353312"/>
            <a:ext cx="73152" cy="1993392"/>
          </a:xfrm>
          <a:prstGeom prst="rect">
            <a:avLst/>
          </a:prstGeom>
          <a:solidFill>
            <a:srgbClr val="1A1F36"/>
          </a:solidFill>
          <a:ln w="12700">
            <a:solidFill>
              <a:srgbClr val="1A1F36"/>
            </a:solidFill>
            <a:prstDash val="solid"/>
          </a:ln>
        </p:spPr>
      </p:sp>
      <p:sp>
        <p:nvSpPr>
          <p:cNvPr id="7" name="Text 5"/>
          <p:cNvSpPr/>
          <p:nvPr/>
        </p:nvSpPr>
        <p:spPr>
          <a:xfrm>
            <a:off x="484632" y="1444752"/>
            <a:ext cx="8247888" cy="1810512"/>
          </a:xfrm>
          <a:prstGeom prst="rect">
            <a:avLst/>
          </a:prstGeom>
          <a:noFill/>
          <a:ln/>
        </p:spPr>
        <p:txBody>
          <a:bodyPr wrap="square" lIns="0" tIns="0" rIns="0" bIns="0" rtlCol="0" anchor="t"/>
          <a:lstStyle/>
          <a:p>
            <a:pPr marL="0" indent="0">
              <a:buNone/>
            </a:pPr>
            <a:r>
              <a:rPr lang="en-US" sz="950" dirty="0">
                <a:solidFill>
                  <a:srgbClr val="D6E4F7"/>
                </a:solidFill>
                <a:latin typeface="Consolas" pitchFamily="34" charset="0"/>
                <a:ea typeface="Consolas" pitchFamily="34" charset="-122"/>
                <a:cs typeface="Consolas" pitchFamily="34" charset="-120"/>
              </a:rPr>
              <a:t>import regex</a:t>
            </a:r>
            <a:endParaRPr lang="en-US" sz="950" dirty="0"/>
          </a:p>
          <a:p>
            <a:pPr marL="0" indent="0">
              <a:buNone/>
            </a:pPr>
            <a:endParaRPr lang="en-US" sz="950" dirty="0"/>
          </a:p>
          <a:p>
            <a:pPr marL="0" indent="0">
              <a:buNone/>
            </a:pPr>
            <a:r>
              <a:rPr lang="en-US" sz="950" dirty="0">
                <a:solidFill>
                  <a:srgbClr val="D6E4F7"/>
                </a:solidFill>
                <a:latin typeface="Consolas" pitchFamily="34" charset="0"/>
                <a:ea typeface="Consolas" pitchFamily="34" charset="-122"/>
                <a:cs typeface="Consolas" pitchFamily="34" charset="-120"/>
              </a:rPr>
              <a:t># URL regex (allows optional leading space for token boundary)</a:t>
            </a:r>
            <a:endParaRPr lang="en-US" sz="950" dirty="0"/>
          </a:p>
          <a:p>
            <a:pPr marL="0" indent="0">
              <a:buNone/>
            </a:pPr>
            <a:r>
              <a:rPr lang="en-US" sz="950" dirty="0">
                <a:solidFill>
                  <a:srgbClr val="D6E4F7"/>
                </a:solidFill>
                <a:latin typeface="Consolas" pitchFamily="34" charset="0"/>
                <a:ea typeface="Consolas" pitchFamily="34" charset="-122"/>
                <a:cs typeface="Consolas" pitchFamily="34" charset="-120"/>
              </a:rPr>
              <a:t>regex_http = regex.compile(r" ?https?:\/\/(www\.)?\w{1,256}\.\w{1,6}\/?$")</a:t>
            </a:r>
            <a:endParaRPr lang="en-US" sz="950" dirty="0"/>
          </a:p>
          <a:p>
            <a:pPr marL="0" indent="0">
              <a:buNone/>
            </a:pPr>
            <a:endParaRPr lang="en-US" sz="950" dirty="0"/>
          </a:p>
          <a:p>
            <a:pPr marL="0" indent="0">
              <a:buNone/>
            </a:pPr>
            <a:r>
              <a:rPr lang="en-US" sz="950" dirty="0">
                <a:solidFill>
                  <a:srgbClr val="D6E4F7"/>
                </a:solidFill>
                <a:latin typeface="Consolas" pitchFamily="34" charset="0"/>
                <a:ea typeface="Consolas" pitchFamily="34" charset="-122"/>
                <a:cs typeface="Consolas" pitchFamily="34" charset="-120"/>
              </a:rPr>
              <a:t># Standard match: FAILS on incomplete URL</a:t>
            </a:r>
            <a:endParaRPr lang="en-US" sz="950" dirty="0"/>
          </a:p>
          <a:p>
            <a:pPr marL="0" indent="0">
              <a:buNone/>
            </a:pPr>
            <a:r>
              <a:rPr lang="en-US" sz="950" dirty="0">
                <a:solidFill>
                  <a:srgbClr val="D6E4F7"/>
                </a:solidFill>
                <a:latin typeface="Consolas" pitchFamily="34" charset="0"/>
                <a:ea typeface="Consolas" pitchFamily="34" charset="-122"/>
                <a:cs typeface="Consolas" pitchFamily="34" charset="-120"/>
              </a:rPr>
              <a:t>regex_http.match("http://test.")</a:t>
            </a:r>
            <a:endParaRPr lang="en-US" sz="950" dirty="0"/>
          </a:p>
          <a:p>
            <a:pPr marL="0" indent="0">
              <a:buNone/>
            </a:pPr>
            <a:r>
              <a:rPr lang="en-US" sz="950" dirty="0">
                <a:solidFill>
                  <a:srgbClr val="D6E4F7"/>
                </a:solidFill>
                <a:latin typeface="Consolas" pitchFamily="34" charset="0"/>
                <a:ea typeface="Consolas" pitchFamily="34" charset="-122"/>
                <a:cs typeface="Consolas" pitchFamily="34" charset="-120"/>
              </a:rPr>
              <a:t># &gt;&gt; None   ← because "http://test." is not yet a complete valid URL</a:t>
            </a:r>
            <a:endParaRPr lang="en-US" sz="950" dirty="0"/>
          </a:p>
          <a:p>
            <a:pPr marL="0" indent="0">
              <a:buNone/>
            </a:pPr>
            <a:endParaRPr lang="en-US" sz="950" dirty="0"/>
          </a:p>
          <a:p>
            <a:pPr marL="0" indent="0">
              <a:buNone/>
            </a:pPr>
            <a:r>
              <a:rPr lang="en-US" sz="950" dirty="0">
                <a:solidFill>
                  <a:srgbClr val="D6E4F7"/>
                </a:solidFill>
                <a:latin typeface="Consolas" pitchFamily="34" charset="0"/>
                <a:ea typeface="Consolas" pitchFamily="34" charset="-122"/>
                <a:cs typeface="Consolas" pitchFamily="34" charset="-120"/>
              </a:rPr>
              <a:t># Partial match: SUCCEEDS — "http://test." could still become valid</a:t>
            </a:r>
            <a:endParaRPr lang="en-US" sz="950" dirty="0"/>
          </a:p>
          <a:p>
            <a:pPr marL="0" indent="0">
              <a:buNone/>
            </a:pPr>
            <a:r>
              <a:rPr lang="en-US" sz="950" dirty="0">
                <a:solidFill>
                  <a:srgbClr val="D6E4F7"/>
                </a:solidFill>
                <a:latin typeface="Consolas" pitchFamily="34" charset="0"/>
                <a:ea typeface="Consolas" pitchFamily="34" charset="-122"/>
                <a:cs typeface="Consolas" pitchFamily="34" charset="-120"/>
              </a:rPr>
              <a:t>regex_http.match("http://test.", partial=True)</a:t>
            </a:r>
            <a:endParaRPr lang="en-US" sz="950" dirty="0"/>
          </a:p>
          <a:p>
            <a:pPr marL="0" indent="0">
              <a:buNone/>
            </a:pPr>
            <a:r>
              <a:rPr lang="en-US" sz="950" dirty="0">
                <a:solidFill>
                  <a:srgbClr val="D6E4F7"/>
                </a:solidFill>
                <a:latin typeface="Consolas" pitchFamily="34" charset="0"/>
                <a:ea typeface="Consolas" pitchFamily="34" charset="-122"/>
                <a:cs typeface="Consolas" pitchFamily="34" charset="-120"/>
              </a:rPr>
              <a:t># &gt;&gt; &lt;regex.Match object; span=(0,12), match='http://test.', partial=True&gt;</a:t>
            </a:r>
            <a:endParaRPr lang="en-US" sz="950" dirty="0"/>
          </a:p>
        </p:txBody>
      </p:sp>
      <p:grpSp>
        <p:nvGrpSpPr>
          <p:cNvPr id="24" name="Group 23">
            <a:extLst>
              <a:ext uri="{FF2B5EF4-FFF2-40B4-BE49-F238E27FC236}">
                <a16:creationId xmlns:a16="http://schemas.microsoft.com/office/drawing/2014/main" id="{B4590D8C-2C17-EF06-6F16-32915373BC21}"/>
              </a:ext>
            </a:extLst>
          </p:cNvPr>
          <p:cNvGrpSpPr/>
          <p:nvPr/>
        </p:nvGrpSpPr>
        <p:grpSpPr>
          <a:xfrm>
            <a:off x="357213" y="3377628"/>
            <a:ext cx="3749040" cy="621792"/>
            <a:chOff x="320040" y="3273552"/>
            <a:chExt cx="3749040" cy="621792"/>
          </a:xfrm>
        </p:grpSpPr>
        <p:sp>
          <p:nvSpPr>
            <p:cNvPr id="8" name="Shape 6"/>
            <p:cNvSpPr/>
            <p:nvPr/>
          </p:nvSpPr>
          <p:spPr>
            <a:xfrm>
              <a:off x="320040" y="3273552"/>
              <a:ext cx="3749040" cy="621792"/>
            </a:xfrm>
            <a:prstGeom prst="rect">
              <a:avLst/>
            </a:prstGeom>
            <a:solidFill>
              <a:srgbClr val="F7F3EA"/>
            </a:solidFill>
            <a:ln w="19050">
              <a:solidFill>
                <a:srgbClr val="B8975B"/>
              </a:solidFill>
              <a:prstDash val="solid"/>
            </a:ln>
            <a:effectLst>
              <a:outerShdw blurRad="76200" dist="25400" dir="8100000" algn="bl" rotWithShape="0">
                <a:srgbClr val="1A1F36">
                  <a:alpha val="12000"/>
                </a:srgbClr>
              </a:outerShdw>
            </a:effectLst>
          </p:spPr>
        </p:sp>
        <p:sp>
          <p:nvSpPr>
            <p:cNvPr id="10" name="Text 8"/>
            <p:cNvSpPr/>
            <p:nvPr/>
          </p:nvSpPr>
          <p:spPr>
            <a:xfrm>
              <a:off x="438912" y="3319272"/>
              <a:ext cx="3584448" cy="237744"/>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Why partial matching?</a:t>
              </a:r>
              <a:endParaRPr lang="en-US" sz="1050" dirty="0"/>
            </a:p>
          </p:txBody>
        </p:sp>
        <p:sp>
          <p:nvSpPr>
            <p:cNvPr id="11" name="Text 9"/>
            <p:cNvSpPr/>
            <p:nvPr/>
          </p:nvSpPr>
          <p:spPr>
            <a:xfrm>
              <a:off x="438912" y="3547872"/>
              <a:ext cx="3584448" cy="301752"/>
            </a:xfrm>
            <a:prstGeom prst="rect">
              <a:avLst/>
            </a:prstGeom>
            <a:noFill/>
            <a:ln/>
          </p:spPr>
          <p:txBody>
            <a:bodyPr wrap="square" lIns="0" tIns="0" rIns="0" bIns="0" rtlCol="0" anchor="t"/>
            <a:lstStyle/>
            <a:p>
              <a:pPr marL="0" indent="0">
                <a:buNone/>
              </a:pPr>
              <a:r>
                <a:rPr lang="en-US" sz="1000" dirty="0">
                  <a:solidFill>
                    <a:srgbClr val="1A1F36"/>
                  </a:solidFill>
                  <a:latin typeface="Calibri" pitchFamily="34" charset="0"/>
                  <a:ea typeface="Calibri" pitchFamily="34" charset="-122"/>
                  <a:cs typeface="Calibri" pitchFamily="34" charset="-120"/>
                </a:rPr>
                <a:t>At step 5 we've output 'http://' — this isn't a complete URL but tokens like 'www' should still be allowed.</a:t>
              </a:r>
              <a:endParaRPr lang="en-US" sz="1000" dirty="0"/>
            </a:p>
          </p:txBody>
        </p:sp>
      </p:grpSp>
      <p:grpSp>
        <p:nvGrpSpPr>
          <p:cNvPr id="23" name="Group 22">
            <a:extLst>
              <a:ext uri="{FF2B5EF4-FFF2-40B4-BE49-F238E27FC236}">
                <a16:creationId xmlns:a16="http://schemas.microsoft.com/office/drawing/2014/main" id="{A3A8E078-2097-94BB-BA29-E1AB14EE7084}"/>
              </a:ext>
            </a:extLst>
          </p:cNvPr>
          <p:cNvGrpSpPr/>
          <p:nvPr/>
        </p:nvGrpSpPr>
        <p:grpSpPr>
          <a:xfrm>
            <a:off x="4331506" y="3377628"/>
            <a:ext cx="4663440" cy="621792"/>
            <a:chOff x="4160520" y="3273552"/>
            <a:chExt cx="4663440" cy="621792"/>
          </a:xfrm>
        </p:grpSpPr>
        <p:sp>
          <p:nvSpPr>
            <p:cNvPr id="13" name="Shape 11"/>
            <p:cNvSpPr/>
            <p:nvPr/>
          </p:nvSpPr>
          <p:spPr>
            <a:xfrm>
              <a:off x="4160520" y="3273552"/>
              <a:ext cx="4663440" cy="621792"/>
            </a:xfrm>
            <a:prstGeom prst="rect">
              <a:avLst/>
            </a:prstGeom>
            <a:solidFill>
              <a:srgbClr val="F7F3EA"/>
            </a:solidFill>
            <a:ln w="19050">
              <a:solidFill>
                <a:srgbClr val="B8975B"/>
              </a:solidFill>
              <a:prstDash val="solid"/>
            </a:ln>
            <a:effectLst>
              <a:outerShdw blurRad="76200" dist="25400" dir="8100000" algn="bl" rotWithShape="0">
                <a:srgbClr val="1A1F36">
                  <a:alpha val="12000"/>
                </a:srgbClr>
              </a:outerShdw>
            </a:effectLst>
          </p:spPr>
        </p:sp>
        <p:sp>
          <p:nvSpPr>
            <p:cNvPr id="15" name="Text 13"/>
            <p:cNvSpPr/>
            <p:nvPr/>
          </p:nvSpPr>
          <p:spPr>
            <a:xfrm>
              <a:off x="4279392" y="3319272"/>
              <a:ext cx="4498848" cy="237744"/>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regex vs re — key difference</a:t>
              </a:r>
              <a:endParaRPr lang="en-US" sz="1050" dirty="0"/>
            </a:p>
          </p:txBody>
        </p:sp>
        <p:sp>
          <p:nvSpPr>
            <p:cNvPr id="16" name="Text 14"/>
            <p:cNvSpPr/>
            <p:nvPr/>
          </p:nvSpPr>
          <p:spPr>
            <a:xfrm>
              <a:off x="4279392" y="3547872"/>
              <a:ext cx="4498848" cy="301752"/>
            </a:xfrm>
            <a:prstGeom prst="rect">
              <a:avLst/>
            </a:prstGeom>
            <a:noFill/>
            <a:ln/>
          </p:spPr>
          <p:txBody>
            <a:bodyPr wrap="square" lIns="0" tIns="0" rIns="0" bIns="0" rtlCol="0" anchor="t"/>
            <a:lstStyle/>
            <a:p>
              <a:pPr marL="0" indent="0">
                <a:buNone/>
              </a:pPr>
              <a:r>
                <a:rPr lang="en-US" sz="1000" dirty="0">
                  <a:solidFill>
                    <a:srgbClr val="1A1F36"/>
                  </a:solidFill>
                  <a:latin typeface="Calibri" pitchFamily="34" charset="0"/>
                  <a:ea typeface="Calibri" pitchFamily="34" charset="-122"/>
                  <a:cs typeface="Calibri" pitchFamily="34" charset="-120"/>
                </a:rPr>
                <a:t>Python's built-in re module does NOT support partial matching. Install the regex package: pip install regex</a:t>
              </a:r>
              <a:endParaRPr lang="en-US" sz="1000" dirty="0"/>
            </a:p>
          </p:txBody>
        </p:sp>
      </p:grpSp>
      <p:sp>
        <p:nvSpPr>
          <p:cNvPr id="18" name="Text 16"/>
          <p:cNvSpPr/>
          <p:nvPr/>
        </p:nvSpPr>
        <p:spPr>
          <a:xfrm>
            <a:off x="411480" y="3968496"/>
            <a:ext cx="8321040" cy="237744"/>
          </a:xfrm>
          <a:prstGeom prst="rect">
            <a:avLst/>
          </a:prstGeom>
          <a:noFill/>
          <a:ln/>
        </p:spPr>
        <p:txBody>
          <a:bodyPr wrap="square" rtlCol="0" anchor="ctr"/>
          <a:lstStyle/>
          <a:p>
            <a:pPr marL="0" indent="0">
              <a:buNone/>
            </a:pPr>
            <a:r>
              <a:rPr lang="en-US" sz="1100" b="1" dirty="0">
                <a:solidFill>
                  <a:srgbClr val="1A1F36"/>
                </a:solidFill>
                <a:latin typeface="Calibri" pitchFamily="34" charset="0"/>
                <a:ea typeface="Calibri" pitchFamily="34" charset="-122"/>
                <a:cs typeface="Calibri" pitchFamily="34" charset="-120"/>
              </a:rPr>
              <a:t>Wiring RegexMask into model.generate():</a:t>
            </a:r>
            <a:endParaRPr lang="en-US" sz="1100" dirty="0"/>
          </a:p>
        </p:txBody>
      </p:sp>
      <p:sp>
        <p:nvSpPr>
          <p:cNvPr id="19" name="Shape 17"/>
          <p:cNvSpPr/>
          <p:nvPr/>
        </p:nvSpPr>
        <p:spPr>
          <a:xfrm>
            <a:off x="320040" y="4224528"/>
            <a:ext cx="8503920" cy="530352"/>
          </a:xfrm>
          <a:prstGeom prst="rect">
            <a:avLst/>
          </a:prstGeom>
          <a:solidFill>
            <a:srgbClr val="1A2035"/>
          </a:solidFill>
          <a:ln w="12700">
            <a:solidFill>
              <a:srgbClr val="1A1F36"/>
            </a:solidFill>
            <a:prstDash val="solid"/>
          </a:ln>
          <a:effectLst>
            <a:outerShdw blurRad="76200" dist="25400" dir="8100000" algn="bl" rotWithShape="0">
              <a:srgbClr val="1A1F36">
                <a:alpha val="12000"/>
              </a:srgbClr>
            </a:outerShdw>
          </a:effectLst>
        </p:spPr>
      </p:sp>
      <p:sp>
        <p:nvSpPr>
          <p:cNvPr id="20" name="Shape 18"/>
          <p:cNvSpPr/>
          <p:nvPr/>
        </p:nvSpPr>
        <p:spPr>
          <a:xfrm>
            <a:off x="320040" y="4224528"/>
            <a:ext cx="73152" cy="530352"/>
          </a:xfrm>
          <a:prstGeom prst="rect">
            <a:avLst/>
          </a:prstGeom>
          <a:solidFill>
            <a:srgbClr val="1A1F36"/>
          </a:solidFill>
          <a:ln w="12700">
            <a:solidFill>
              <a:srgbClr val="1A1F36"/>
            </a:solidFill>
            <a:prstDash val="solid"/>
          </a:ln>
        </p:spPr>
      </p:sp>
      <p:sp>
        <p:nvSpPr>
          <p:cNvPr id="21" name="Text 19"/>
          <p:cNvSpPr/>
          <p:nvPr/>
        </p:nvSpPr>
        <p:spPr>
          <a:xfrm>
            <a:off x="484632" y="4315968"/>
            <a:ext cx="8247888" cy="347472"/>
          </a:xfrm>
          <a:prstGeom prst="rect">
            <a:avLst/>
          </a:prstGeom>
          <a:noFill/>
          <a:ln/>
        </p:spPr>
        <p:txBody>
          <a:bodyPr wrap="square" lIns="0" tIns="0" rIns="0" bIns="0" rtlCol="0" anchor="t"/>
          <a:lstStyle/>
          <a:p>
            <a:pPr marL="0" indent="0">
              <a:buNone/>
            </a:pPr>
            <a:r>
              <a:rPr lang="en-US" sz="800" dirty="0">
                <a:solidFill>
                  <a:srgbClr val="D6E4F7"/>
                </a:solidFill>
                <a:latin typeface="Consolas" pitchFamily="34" charset="0"/>
                <a:ea typeface="Consolas" pitchFamily="34" charset="-122"/>
                <a:cs typeface="Consolas" pitchFamily="34" charset="-120"/>
              </a:rPr>
              <a:t>rm = RegexMask(regex_http, tokenizer)</a:t>
            </a:r>
            <a:endParaRPr lang="en-US" sz="800" dirty="0"/>
          </a:p>
          <a:p>
            <a:pPr marL="0" indent="0">
              <a:buNone/>
            </a:pPr>
            <a:r>
              <a:rPr lang="en-US" sz="800" dirty="0">
                <a:solidFill>
                  <a:srgbClr val="D6E4F7"/>
                </a:solidFill>
                <a:latin typeface="Consolas" pitchFamily="34" charset="0"/>
                <a:ea typeface="Consolas" pitchFamily="34" charset="-122"/>
                <a:cs typeface="Consolas" pitchFamily="34" charset="-120"/>
              </a:rPr>
              <a:t>rm.start_index = len(tokenizer.encode(prompt)[0])  # skip the prompt</a:t>
            </a:r>
            <a:endParaRPr lang="en-US" sz="800" dirty="0"/>
          </a:p>
          <a:p>
            <a:pPr marL="0" indent="0">
              <a:buNone/>
            </a:pPr>
            <a:r>
              <a:rPr lang="en-US" sz="800" dirty="0">
                <a:solidFill>
                  <a:srgbClr val="D6E4F7"/>
                </a:solidFill>
                <a:latin typeface="Consolas" pitchFamily="34" charset="0"/>
                <a:ea typeface="Consolas" pitchFamily="34" charset="-122"/>
                <a:cs typeface="Consolas" pitchFamily="34" charset="-120"/>
              </a:rPr>
              <a:t>output = model.generate(**model_inputs, max_new_tokens=50, logits_processor=[rm])</a:t>
            </a:r>
            <a:endParaRPr lang="en-US" sz="800" dirty="0"/>
          </a:p>
        </p:txBody>
      </p:sp>
      <p:pic>
        <p:nvPicPr>
          <p:cNvPr id="9" name="Google Shape;328;p29">
            <a:extLst>
              <a:ext uri="{FF2B5EF4-FFF2-40B4-BE49-F238E27FC236}">
                <a16:creationId xmlns:a16="http://schemas.microsoft.com/office/drawing/2014/main" id="{EA98A832-2F24-2320-5925-B5CB15F1F3D7}"/>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214011341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85476" y="146304"/>
            <a:ext cx="8088464" cy="566928"/>
          </a:xfrm>
          <a:prstGeom prst="rect">
            <a:avLst/>
          </a:prstGeom>
          <a:noFill/>
          <a:ln/>
        </p:spPr>
        <p:txBody>
          <a:bodyPr wrap="square" lIns="0" tIns="0" rIns="0" bIns="0" rtlCol="0" anchor="ctr"/>
          <a:lstStyle/>
          <a:p>
            <a:pPr marL="0" indent="0">
              <a:buNone/>
            </a:pPr>
            <a:r>
              <a:rPr lang="en-US" sz="2500" b="1" dirty="0">
                <a:solidFill>
                  <a:srgbClr val="1A1F36"/>
                </a:solidFill>
                <a:latin typeface="Georgia" pitchFamily="34" charset="0"/>
                <a:ea typeface="Georgia" pitchFamily="34" charset="-122"/>
                <a:cs typeface="Georgia" pitchFamily="34" charset="-120"/>
              </a:rPr>
              <a:t>URL Generation — Constrained vs Unconstrained</a:t>
            </a:r>
            <a:endParaRPr lang="en-US" sz="2500" dirty="0"/>
          </a:p>
        </p:txBody>
      </p:sp>
      <p:sp>
        <p:nvSpPr>
          <p:cNvPr id="4" name="Text 2"/>
          <p:cNvSpPr/>
          <p:nvPr/>
        </p:nvSpPr>
        <p:spPr>
          <a:xfrm>
            <a:off x="411480" y="786384"/>
            <a:ext cx="8321040" cy="365760"/>
          </a:xfrm>
          <a:prstGeom prst="rect">
            <a:avLst/>
          </a:prstGeom>
          <a:noFill/>
          <a:ln/>
        </p:spPr>
        <p:txBody>
          <a:bodyPr wrap="square" rtlCol="0" anchor="ctr"/>
          <a:lstStyle/>
          <a:p>
            <a:pPr marL="0" indent="0">
              <a:buNone/>
            </a:pPr>
            <a:r>
              <a:rPr lang="en-US" sz="1200" dirty="0">
                <a:solidFill>
                  <a:srgbClr val="1A1F36"/>
                </a:solidFill>
                <a:latin typeface="Consolas" pitchFamily="34" charset="0"/>
                <a:ea typeface="Consolas" pitchFamily="34" charset="-122"/>
                <a:cs typeface="Consolas" pitchFamily="34" charset="-120"/>
              </a:rPr>
              <a:t>Prompt:  "One of the most common web addresses is:"</a:t>
            </a:r>
            <a:endParaRPr lang="en-US" sz="1200" dirty="0"/>
          </a:p>
        </p:txBody>
      </p:sp>
      <p:sp>
        <p:nvSpPr>
          <p:cNvPr id="5" name="Shape 3"/>
          <p:cNvSpPr/>
          <p:nvPr/>
        </p:nvSpPr>
        <p:spPr>
          <a:xfrm>
            <a:off x="320040" y="1234440"/>
            <a:ext cx="4069080" cy="2651760"/>
          </a:xfrm>
          <a:prstGeom prst="rect">
            <a:avLst/>
          </a:prstGeom>
          <a:solidFill>
            <a:srgbClr val="FDEDEC"/>
          </a:solidFill>
          <a:ln w="19050">
            <a:solidFill>
              <a:srgbClr val="F5A9A0"/>
            </a:solidFill>
            <a:prstDash val="solid"/>
          </a:ln>
          <a:effectLst>
            <a:outerShdw blurRad="76200" dist="25400" dir="8100000" algn="bl" rotWithShape="0">
              <a:srgbClr val="1A1F36">
                <a:alpha val="12000"/>
              </a:srgbClr>
            </a:outerShdw>
          </a:effectLst>
        </p:spPr>
      </p:sp>
      <p:sp>
        <p:nvSpPr>
          <p:cNvPr id="6" name="Shape 4"/>
          <p:cNvSpPr/>
          <p:nvPr/>
        </p:nvSpPr>
        <p:spPr>
          <a:xfrm>
            <a:off x="320040" y="1234440"/>
            <a:ext cx="4069080" cy="64008"/>
          </a:xfrm>
          <a:prstGeom prst="rect">
            <a:avLst/>
          </a:prstGeom>
          <a:solidFill>
            <a:srgbClr val="C0392B"/>
          </a:solidFill>
          <a:ln w="12700">
            <a:solidFill>
              <a:srgbClr val="C0392B"/>
            </a:solidFill>
            <a:prstDash val="solid"/>
          </a:ln>
        </p:spPr>
      </p:sp>
      <p:sp>
        <p:nvSpPr>
          <p:cNvPr id="7" name="Text 5"/>
          <p:cNvSpPr/>
          <p:nvPr/>
        </p:nvSpPr>
        <p:spPr>
          <a:xfrm>
            <a:off x="457200" y="1298448"/>
            <a:ext cx="3794760" cy="310896"/>
          </a:xfrm>
          <a:prstGeom prst="rect">
            <a:avLst/>
          </a:prstGeom>
          <a:noFill/>
          <a:ln/>
        </p:spPr>
        <p:txBody>
          <a:bodyPr wrap="square" lIns="0" tIns="0" rIns="0" bIns="0" rtlCol="0" anchor="ctr"/>
          <a:lstStyle/>
          <a:p>
            <a:pPr marL="0" indent="0">
              <a:buNone/>
            </a:pPr>
            <a:r>
              <a:rPr lang="en-US" sz="1200" b="1" dirty="0">
                <a:solidFill>
                  <a:srgbClr val="C0392B"/>
                </a:solidFill>
                <a:latin typeface="Calibri" pitchFamily="34" charset="0"/>
                <a:ea typeface="Calibri" pitchFamily="34" charset="-122"/>
                <a:cs typeface="Calibri" pitchFamily="34" charset="-120"/>
              </a:rPr>
              <a:t>✗  Unconstrained Output</a:t>
            </a:r>
            <a:endParaRPr lang="en-US" sz="1200" dirty="0"/>
          </a:p>
        </p:txBody>
      </p:sp>
      <p:sp>
        <p:nvSpPr>
          <p:cNvPr id="8" name="Text 6"/>
          <p:cNvSpPr/>
          <p:nvPr/>
        </p:nvSpPr>
        <p:spPr>
          <a:xfrm>
            <a:off x="457200" y="1664208"/>
            <a:ext cx="3794760" cy="2103120"/>
          </a:xfrm>
          <a:prstGeom prst="rect">
            <a:avLst/>
          </a:prstGeom>
          <a:noFill/>
          <a:ln/>
        </p:spPr>
        <p:txBody>
          <a:bodyPr wrap="square" lIns="0" tIns="0" rIns="0" bIns="0" rtlCol="0" anchor="t"/>
          <a:lstStyle/>
          <a:p>
            <a:pPr marL="0" indent="0">
              <a:buNone/>
            </a:pPr>
            <a:r>
              <a:rPr lang="en-US" sz="1100" dirty="0">
                <a:solidFill>
                  <a:srgbClr val="555555"/>
                </a:solidFill>
                <a:latin typeface="Consolas" pitchFamily="34" charset="0"/>
                <a:ea typeface="Consolas" pitchFamily="34" charset="-122"/>
                <a:cs typeface="Consolas" pitchFamily="34" charset="-120"/>
              </a:rPr>
              <a:t>One of the most common web</a:t>
            </a:r>
            <a:endParaRPr lang="en-US" sz="1100" dirty="0"/>
          </a:p>
          <a:p>
            <a:pPr marL="0" indent="0">
              <a:buNone/>
            </a:pPr>
            <a:r>
              <a:rPr lang="en-US" sz="1100" dirty="0">
                <a:solidFill>
                  <a:srgbClr val="555555"/>
                </a:solidFill>
                <a:latin typeface="Consolas" pitchFamily="34" charset="0"/>
                <a:ea typeface="Consolas" pitchFamily="34" charset="-122"/>
                <a:cs typeface="Consolas" pitchFamily="34" charset="-120"/>
              </a:rPr>
              <a:t>addresses is:</a:t>
            </a:r>
            <a:endParaRPr lang="en-US" sz="1100" dirty="0"/>
          </a:p>
          <a:p>
            <a:pPr marL="0" indent="0">
              <a:buNone/>
            </a:pPr>
            <a:endParaRPr lang="en-US" sz="1100" dirty="0"/>
          </a:p>
          <a:p>
            <a:pPr marL="0" indent="0">
              <a:buNone/>
            </a:pPr>
            <a:r>
              <a:rPr lang="en-US" sz="1100" dirty="0">
                <a:solidFill>
                  <a:srgbClr val="555555"/>
                </a:solidFill>
                <a:latin typeface="Consolas" pitchFamily="34" charset="0"/>
                <a:ea typeface="Consolas" pitchFamily="34" charset="-122"/>
                <a:cs typeface="Consolas" pitchFamily="34" charset="-120"/>
              </a:rPr>
              <a:t>www.google.com</a:t>
            </a:r>
            <a:endParaRPr lang="en-US" sz="1100" dirty="0"/>
          </a:p>
          <a:p>
            <a:pPr marL="0" indent="0">
              <a:buNone/>
            </a:pPr>
            <a:endParaRPr lang="en-US" sz="1100" dirty="0"/>
          </a:p>
          <a:p>
            <a:pPr marL="0" indent="0">
              <a:buNone/>
            </a:pPr>
            <a:r>
              <a:rPr lang="en-US" sz="1100" dirty="0">
                <a:solidFill>
                  <a:srgbClr val="555555"/>
                </a:solidFill>
                <a:latin typeface="Consolas" pitchFamily="34" charset="0"/>
                <a:ea typeface="Consolas" pitchFamily="34" charset="-122"/>
                <a:cs typeface="Consolas" pitchFamily="34" charset="-120"/>
              </a:rPr>
              <a:t>This is a well-known and</a:t>
            </a:r>
            <a:endParaRPr lang="en-US" sz="1100" dirty="0"/>
          </a:p>
          <a:p>
            <a:pPr marL="0" indent="0">
              <a:buNone/>
            </a:pPr>
            <a:r>
              <a:rPr lang="en-US" sz="1100" dirty="0">
                <a:solidFill>
                  <a:srgbClr val="555555"/>
                </a:solidFill>
                <a:latin typeface="Consolas" pitchFamily="34" charset="0"/>
                <a:ea typeface="Consolas" pitchFamily="34" charset="-122"/>
                <a:cs typeface="Consolas" pitchFamily="34" charset="-120"/>
              </a:rPr>
              <a:t>widely used search engine...</a:t>
            </a:r>
            <a:endParaRPr lang="en-US" sz="1100" dirty="0"/>
          </a:p>
        </p:txBody>
      </p:sp>
      <p:sp>
        <p:nvSpPr>
          <p:cNvPr id="9" name="Shape 7"/>
          <p:cNvSpPr/>
          <p:nvPr/>
        </p:nvSpPr>
        <p:spPr>
          <a:xfrm>
            <a:off x="320040" y="3931920"/>
            <a:ext cx="4069080" cy="310896"/>
          </a:xfrm>
          <a:prstGeom prst="rect">
            <a:avLst/>
          </a:prstGeom>
          <a:solidFill>
            <a:srgbClr val="FDF6F5"/>
          </a:solidFill>
          <a:ln w="9525">
            <a:solidFill>
              <a:srgbClr val="F5A9A0"/>
            </a:solidFill>
            <a:prstDash val="solid"/>
          </a:ln>
        </p:spPr>
      </p:sp>
      <p:sp>
        <p:nvSpPr>
          <p:cNvPr id="10" name="Text 8"/>
          <p:cNvSpPr/>
          <p:nvPr/>
        </p:nvSpPr>
        <p:spPr>
          <a:xfrm>
            <a:off x="457200" y="3950208"/>
            <a:ext cx="3794760" cy="256032"/>
          </a:xfrm>
          <a:prstGeom prst="rect">
            <a:avLst/>
          </a:prstGeom>
          <a:noFill/>
          <a:ln/>
        </p:spPr>
        <p:txBody>
          <a:bodyPr wrap="square" lIns="0" tIns="0" rIns="0" bIns="0" rtlCol="0" anchor="ctr"/>
          <a:lstStyle/>
          <a:p>
            <a:pPr marL="0" indent="0">
              <a:buNone/>
            </a:pPr>
            <a:r>
              <a:rPr lang="en-US" sz="1150" dirty="0">
                <a:solidFill>
                  <a:srgbClr val="C0392B"/>
                </a:solidFill>
                <a:latin typeface="Calibri" pitchFamily="34" charset="0"/>
                <a:ea typeface="Calibri" pitchFamily="34" charset="-122"/>
                <a:cs typeface="Calibri" pitchFamily="34" charset="-120"/>
              </a:rPr>
              <a:t>✗  No 'http://' prefix</a:t>
            </a:r>
            <a:endParaRPr lang="en-US" sz="1150" dirty="0"/>
          </a:p>
        </p:txBody>
      </p:sp>
      <p:sp>
        <p:nvSpPr>
          <p:cNvPr id="11" name="Shape 9"/>
          <p:cNvSpPr/>
          <p:nvPr/>
        </p:nvSpPr>
        <p:spPr>
          <a:xfrm>
            <a:off x="320040" y="4279392"/>
            <a:ext cx="4069080" cy="310896"/>
          </a:xfrm>
          <a:prstGeom prst="rect">
            <a:avLst/>
          </a:prstGeom>
          <a:solidFill>
            <a:srgbClr val="FFFFFF"/>
          </a:solidFill>
          <a:ln w="9525">
            <a:solidFill>
              <a:srgbClr val="F5A9A0"/>
            </a:solidFill>
            <a:prstDash val="solid"/>
          </a:ln>
        </p:spPr>
      </p:sp>
      <p:sp>
        <p:nvSpPr>
          <p:cNvPr id="12" name="Text 10"/>
          <p:cNvSpPr/>
          <p:nvPr/>
        </p:nvSpPr>
        <p:spPr>
          <a:xfrm>
            <a:off x="457200" y="4297680"/>
            <a:ext cx="3794760" cy="256032"/>
          </a:xfrm>
          <a:prstGeom prst="rect">
            <a:avLst/>
          </a:prstGeom>
          <a:noFill/>
          <a:ln/>
        </p:spPr>
        <p:txBody>
          <a:bodyPr wrap="square" lIns="0" tIns="0" rIns="0" bIns="0" rtlCol="0" anchor="ctr"/>
          <a:lstStyle/>
          <a:p>
            <a:pPr marL="0" indent="0">
              <a:buNone/>
            </a:pPr>
            <a:r>
              <a:rPr lang="en-US" sz="1150" dirty="0">
                <a:solidFill>
                  <a:srgbClr val="C0392B"/>
                </a:solidFill>
                <a:latin typeface="Calibri" pitchFamily="34" charset="0"/>
                <a:ea typeface="Calibri" pitchFamily="34" charset="-122"/>
                <a:cs typeface="Calibri" pitchFamily="34" charset="-120"/>
              </a:rPr>
              <a:t>✗  Unnecessary blank line</a:t>
            </a:r>
            <a:endParaRPr lang="en-US" sz="1150" dirty="0"/>
          </a:p>
        </p:txBody>
      </p:sp>
      <p:sp>
        <p:nvSpPr>
          <p:cNvPr id="13" name="Shape 11"/>
          <p:cNvSpPr/>
          <p:nvPr/>
        </p:nvSpPr>
        <p:spPr>
          <a:xfrm>
            <a:off x="320040" y="4626864"/>
            <a:ext cx="4069080" cy="310896"/>
          </a:xfrm>
          <a:prstGeom prst="rect">
            <a:avLst/>
          </a:prstGeom>
          <a:solidFill>
            <a:srgbClr val="FDF6F5"/>
          </a:solidFill>
          <a:ln w="9525">
            <a:solidFill>
              <a:srgbClr val="F5A9A0"/>
            </a:solidFill>
            <a:prstDash val="solid"/>
          </a:ln>
        </p:spPr>
      </p:sp>
      <p:sp>
        <p:nvSpPr>
          <p:cNvPr id="14" name="Text 12"/>
          <p:cNvSpPr/>
          <p:nvPr/>
        </p:nvSpPr>
        <p:spPr>
          <a:xfrm>
            <a:off x="457200" y="4645152"/>
            <a:ext cx="3794760" cy="256032"/>
          </a:xfrm>
          <a:prstGeom prst="rect">
            <a:avLst/>
          </a:prstGeom>
          <a:noFill/>
          <a:ln/>
        </p:spPr>
        <p:txBody>
          <a:bodyPr wrap="square" lIns="0" tIns="0" rIns="0" bIns="0" rtlCol="0" anchor="ctr"/>
          <a:lstStyle/>
          <a:p>
            <a:pPr marL="0" indent="0">
              <a:buNone/>
            </a:pPr>
            <a:r>
              <a:rPr lang="en-US" sz="1150" dirty="0">
                <a:solidFill>
                  <a:srgbClr val="C0392B"/>
                </a:solidFill>
                <a:latin typeface="Calibri" pitchFamily="34" charset="0"/>
                <a:ea typeface="Calibri" pitchFamily="34" charset="-122"/>
                <a:cs typeface="Calibri" pitchFamily="34" charset="-120"/>
              </a:rPr>
              <a:t>✗  Extra text after URL</a:t>
            </a:r>
            <a:endParaRPr lang="en-US" sz="1150" dirty="0"/>
          </a:p>
        </p:txBody>
      </p:sp>
      <p:sp>
        <p:nvSpPr>
          <p:cNvPr id="15" name="Shape 13"/>
          <p:cNvSpPr/>
          <p:nvPr/>
        </p:nvSpPr>
        <p:spPr>
          <a:xfrm>
            <a:off x="4754880" y="1234440"/>
            <a:ext cx="4069080" cy="2651760"/>
          </a:xfrm>
          <a:prstGeom prst="rect">
            <a:avLst/>
          </a:prstGeom>
          <a:solidFill>
            <a:srgbClr val="D6E4F7"/>
          </a:solidFill>
          <a:ln w="19050">
            <a:solidFill>
              <a:srgbClr val="CADCFC"/>
            </a:solidFill>
            <a:prstDash val="solid"/>
          </a:ln>
          <a:effectLst>
            <a:outerShdw blurRad="76200" dist="25400" dir="8100000" algn="bl" rotWithShape="0">
              <a:srgbClr val="1A1F36">
                <a:alpha val="12000"/>
              </a:srgbClr>
            </a:outerShdw>
          </a:effectLst>
        </p:spPr>
      </p:sp>
      <p:sp>
        <p:nvSpPr>
          <p:cNvPr id="16" name="Shape 14"/>
          <p:cNvSpPr/>
          <p:nvPr/>
        </p:nvSpPr>
        <p:spPr>
          <a:xfrm>
            <a:off x="4754880" y="1234440"/>
            <a:ext cx="4069080" cy="64008"/>
          </a:xfrm>
          <a:prstGeom prst="rect">
            <a:avLst/>
          </a:prstGeom>
          <a:solidFill>
            <a:srgbClr val="3D5A80"/>
          </a:solidFill>
          <a:ln w="12700">
            <a:solidFill>
              <a:srgbClr val="3D5A80"/>
            </a:solidFill>
            <a:prstDash val="solid"/>
          </a:ln>
        </p:spPr>
      </p:sp>
      <p:sp>
        <p:nvSpPr>
          <p:cNvPr id="17" name="Text 15"/>
          <p:cNvSpPr/>
          <p:nvPr/>
        </p:nvSpPr>
        <p:spPr>
          <a:xfrm>
            <a:off x="4892040" y="1298448"/>
            <a:ext cx="3794760" cy="310896"/>
          </a:xfrm>
          <a:prstGeom prst="rect">
            <a:avLst/>
          </a:prstGeom>
          <a:noFill/>
          <a:ln/>
        </p:spPr>
        <p:txBody>
          <a:bodyPr wrap="square" lIns="0" tIns="0" rIns="0" bIns="0" rtlCol="0" anchor="ctr"/>
          <a:lstStyle/>
          <a:p>
            <a:pPr marL="0" indent="0">
              <a:buNone/>
            </a:pPr>
            <a:r>
              <a:rPr lang="en-US" sz="1200" b="1" dirty="0">
                <a:solidFill>
                  <a:srgbClr val="3D5A80"/>
                </a:solidFill>
                <a:latin typeface="Calibri" pitchFamily="34" charset="0"/>
                <a:ea typeface="Calibri" pitchFamily="34" charset="-122"/>
                <a:cs typeface="Calibri" pitchFamily="34" charset="-120"/>
              </a:rPr>
              <a:t>✓  Constrained Output</a:t>
            </a:r>
            <a:endParaRPr lang="en-US" sz="1200" dirty="0"/>
          </a:p>
        </p:txBody>
      </p:sp>
      <p:sp>
        <p:nvSpPr>
          <p:cNvPr id="18" name="Text 16"/>
          <p:cNvSpPr/>
          <p:nvPr/>
        </p:nvSpPr>
        <p:spPr>
          <a:xfrm>
            <a:off x="4892040" y="1664208"/>
            <a:ext cx="3794760" cy="1005840"/>
          </a:xfrm>
          <a:prstGeom prst="rect">
            <a:avLst/>
          </a:prstGeom>
          <a:noFill/>
          <a:ln/>
        </p:spPr>
        <p:txBody>
          <a:bodyPr wrap="square" lIns="0" tIns="0" rIns="0" bIns="0" rtlCol="0" anchor="t"/>
          <a:lstStyle/>
          <a:p>
            <a:pPr marL="0" indent="0">
              <a:buNone/>
            </a:pPr>
            <a:r>
              <a:rPr lang="en-US" sz="1100" dirty="0">
                <a:solidFill>
                  <a:srgbClr val="1A3A1A"/>
                </a:solidFill>
                <a:latin typeface="Consolas" pitchFamily="34" charset="0"/>
                <a:ea typeface="Consolas" pitchFamily="34" charset="-122"/>
                <a:cs typeface="Consolas" pitchFamily="34" charset="-120"/>
              </a:rPr>
              <a:t>One of the most common web</a:t>
            </a:r>
            <a:endParaRPr lang="en-US" sz="1100" dirty="0"/>
          </a:p>
          <a:p>
            <a:pPr marL="0" indent="0">
              <a:buNone/>
            </a:pPr>
            <a:r>
              <a:rPr lang="en-US" sz="1100" dirty="0">
                <a:solidFill>
                  <a:srgbClr val="1A3A1A"/>
                </a:solidFill>
                <a:latin typeface="Consolas" pitchFamily="34" charset="0"/>
                <a:ea typeface="Consolas" pitchFamily="34" charset="-122"/>
                <a:cs typeface="Consolas" pitchFamily="34" charset="-120"/>
              </a:rPr>
              <a:t>addresses is: http://www.google.com</a:t>
            </a:r>
            <a:endParaRPr lang="en-US" sz="1100" dirty="0"/>
          </a:p>
        </p:txBody>
      </p:sp>
      <p:sp>
        <p:nvSpPr>
          <p:cNvPr id="19" name="Text 17"/>
          <p:cNvSpPr/>
          <p:nvPr/>
        </p:nvSpPr>
        <p:spPr>
          <a:xfrm>
            <a:off x="4892040" y="2743200"/>
            <a:ext cx="3794760" cy="256032"/>
          </a:xfrm>
          <a:prstGeom prst="rect">
            <a:avLst/>
          </a:prstGeom>
          <a:noFill/>
          <a:ln/>
        </p:spPr>
        <p:txBody>
          <a:bodyPr wrap="square" lIns="0" tIns="0" rIns="0" bIns="0" rtlCol="0" anchor="ctr"/>
          <a:lstStyle/>
          <a:p>
            <a:pPr marL="0" indent="0">
              <a:buNone/>
            </a:pPr>
            <a:r>
              <a:rPr lang="en-US" sz="1100" b="1" dirty="0">
                <a:solidFill>
                  <a:srgbClr val="1A1F36"/>
                </a:solidFill>
                <a:latin typeface="Calibri" pitchFamily="34" charset="0"/>
                <a:ea typeface="Calibri" pitchFamily="34" charset="-122"/>
                <a:cs typeface="Calibri" pitchFamily="34" charset="-120"/>
              </a:rPr>
              <a:t>RegEx used:</a:t>
            </a:r>
            <a:endParaRPr lang="en-US" sz="1100" dirty="0"/>
          </a:p>
        </p:txBody>
      </p:sp>
      <p:sp>
        <p:nvSpPr>
          <p:cNvPr id="20" name="Text 18"/>
          <p:cNvSpPr/>
          <p:nvPr/>
        </p:nvSpPr>
        <p:spPr>
          <a:xfrm>
            <a:off x="4892040" y="2999232"/>
            <a:ext cx="3794760" cy="384048"/>
          </a:xfrm>
          <a:prstGeom prst="rect">
            <a:avLst/>
          </a:prstGeom>
          <a:noFill/>
          <a:ln/>
        </p:spPr>
        <p:txBody>
          <a:bodyPr wrap="square" lIns="0" tIns="0" rIns="0" bIns="0" rtlCol="0" anchor="ctr"/>
          <a:lstStyle/>
          <a:p>
            <a:pPr marL="0" indent="0">
              <a:buNone/>
            </a:pPr>
            <a:r>
              <a:rPr lang="en-US" sz="950" dirty="0">
                <a:solidFill>
                  <a:srgbClr val="1A3A1A"/>
                </a:solidFill>
                <a:latin typeface="Consolas" pitchFamily="34" charset="0"/>
                <a:ea typeface="Consolas" pitchFamily="34" charset="-122"/>
                <a:cs typeface="Consolas" pitchFamily="34" charset="-120"/>
              </a:rPr>
              <a:t> ?https?:\/\/(www.)?\w{1,256}\.\w{1,6}\/?$</a:t>
            </a:r>
            <a:endParaRPr lang="en-US" sz="950" dirty="0"/>
          </a:p>
        </p:txBody>
      </p:sp>
      <p:sp>
        <p:nvSpPr>
          <p:cNvPr id="21" name="Text 19"/>
          <p:cNvSpPr/>
          <p:nvPr/>
        </p:nvSpPr>
        <p:spPr>
          <a:xfrm>
            <a:off x="4892040" y="3364992"/>
            <a:ext cx="3794760" cy="219456"/>
          </a:xfrm>
          <a:prstGeom prst="rect">
            <a:avLst/>
          </a:prstGeom>
          <a:noFill/>
          <a:ln/>
        </p:spPr>
        <p:txBody>
          <a:bodyPr wrap="square" lIns="0" tIns="0" rIns="0" bIns="0" rtlCol="0" anchor="ctr"/>
          <a:lstStyle/>
          <a:p>
            <a:pPr marL="0" indent="0">
              <a:buNone/>
            </a:pPr>
            <a:r>
              <a:rPr lang="en-US" sz="950" i="1" dirty="0">
                <a:solidFill>
                  <a:srgbClr val="3D5A80"/>
                </a:solidFill>
                <a:latin typeface="Calibri" pitchFamily="34" charset="0"/>
                <a:ea typeface="Calibri" pitchFamily="34" charset="-122"/>
                <a:cs typeface="Calibri" pitchFamily="34" charset="-120"/>
              </a:rPr>
              <a:t>↑ note leading ' ?' for token space</a:t>
            </a:r>
            <a:endParaRPr lang="en-US" sz="950" dirty="0"/>
          </a:p>
        </p:txBody>
      </p:sp>
      <p:sp>
        <p:nvSpPr>
          <p:cNvPr id="22" name="Shape 20"/>
          <p:cNvSpPr/>
          <p:nvPr/>
        </p:nvSpPr>
        <p:spPr>
          <a:xfrm>
            <a:off x="4754880" y="3931920"/>
            <a:ext cx="4069080" cy="310896"/>
          </a:xfrm>
          <a:prstGeom prst="rect">
            <a:avLst/>
          </a:prstGeom>
          <a:solidFill>
            <a:srgbClr val="F5FDF8"/>
          </a:solidFill>
          <a:ln w="9525">
            <a:solidFill>
              <a:srgbClr val="CADCFC"/>
            </a:solidFill>
            <a:prstDash val="solid"/>
          </a:ln>
        </p:spPr>
      </p:sp>
      <p:sp>
        <p:nvSpPr>
          <p:cNvPr id="23" name="Text 21"/>
          <p:cNvSpPr/>
          <p:nvPr/>
        </p:nvSpPr>
        <p:spPr>
          <a:xfrm>
            <a:off x="4892040" y="3950208"/>
            <a:ext cx="3794760" cy="256032"/>
          </a:xfrm>
          <a:prstGeom prst="rect">
            <a:avLst/>
          </a:prstGeom>
          <a:noFill/>
          <a:ln/>
        </p:spPr>
        <p:txBody>
          <a:bodyPr wrap="square" lIns="0" tIns="0" rIns="0" bIns="0" rtlCol="0" anchor="ctr"/>
          <a:lstStyle/>
          <a:p>
            <a:pPr marL="0" indent="0">
              <a:buNone/>
            </a:pPr>
            <a:r>
              <a:rPr lang="en-US" sz="1150" dirty="0">
                <a:solidFill>
                  <a:srgbClr val="3D5A80"/>
                </a:solidFill>
                <a:latin typeface="Calibri" pitchFamily="34" charset="0"/>
                <a:ea typeface="Calibri" pitchFamily="34" charset="-122"/>
                <a:cs typeface="Calibri" pitchFamily="34" charset="-120"/>
              </a:rPr>
              <a:t>✓  Correct http:// prefix enforced</a:t>
            </a:r>
            <a:endParaRPr lang="en-US" sz="1150" dirty="0"/>
          </a:p>
        </p:txBody>
      </p:sp>
      <p:sp>
        <p:nvSpPr>
          <p:cNvPr id="24" name="Shape 22"/>
          <p:cNvSpPr/>
          <p:nvPr/>
        </p:nvSpPr>
        <p:spPr>
          <a:xfrm>
            <a:off x="4754880" y="4279392"/>
            <a:ext cx="4069080" cy="310896"/>
          </a:xfrm>
          <a:prstGeom prst="rect">
            <a:avLst/>
          </a:prstGeom>
          <a:solidFill>
            <a:srgbClr val="FFFFFF"/>
          </a:solidFill>
          <a:ln w="9525">
            <a:solidFill>
              <a:srgbClr val="CADCFC"/>
            </a:solidFill>
            <a:prstDash val="solid"/>
          </a:ln>
        </p:spPr>
      </p:sp>
      <p:sp>
        <p:nvSpPr>
          <p:cNvPr id="25" name="Text 23"/>
          <p:cNvSpPr/>
          <p:nvPr/>
        </p:nvSpPr>
        <p:spPr>
          <a:xfrm>
            <a:off x="4892040" y="4297680"/>
            <a:ext cx="3794760" cy="256032"/>
          </a:xfrm>
          <a:prstGeom prst="rect">
            <a:avLst/>
          </a:prstGeom>
          <a:noFill/>
          <a:ln/>
        </p:spPr>
        <p:txBody>
          <a:bodyPr wrap="square" lIns="0" tIns="0" rIns="0" bIns="0" rtlCol="0" anchor="ctr"/>
          <a:lstStyle/>
          <a:p>
            <a:pPr marL="0" indent="0">
              <a:buNone/>
            </a:pPr>
            <a:r>
              <a:rPr lang="en-US" sz="1150" dirty="0">
                <a:solidFill>
                  <a:srgbClr val="3D5A80"/>
                </a:solidFill>
                <a:latin typeface="Calibri" pitchFamily="34" charset="0"/>
                <a:ea typeface="Calibri" pitchFamily="34" charset="-122"/>
                <a:cs typeface="Calibri" pitchFamily="34" charset="-120"/>
              </a:rPr>
              <a:t>✓  Domain format validated</a:t>
            </a:r>
            <a:endParaRPr lang="en-US" sz="1150" dirty="0"/>
          </a:p>
        </p:txBody>
      </p:sp>
      <p:sp>
        <p:nvSpPr>
          <p:cNvPr id="26" name="Shape 24"/>
          <p:cNvSpPr/>
          <p:nvPr/>
        </p:nvSpPr>
        <p:spPr>
          <a:xfrm>
            <a:off x="4754880" y="4626864"/>
            <a:ext cx="4069080" cy="310896"/>
          </a:xfrm>
          <a:prstGeom prst="rect">
            <a:avLst/>
          </a:prstGeom>
          <a:solidFill>
            <a:srgbClr val="F5FDF8"/>
          </a:solidFill>
          <a:ln w="9525">
            <a:solidFill>
              <a:srgbClr val="CADCFC"/>
            </a:solidFill>
            <a:prstDash val="solid"/>
          </a:ln>
        </p:spPr>
      </p:sp>
      <p:sp>
        <p:nvSpPr>
          <p:cNvPr id="27" name="Text 25"/>
          <p:cNvSpPr/>
          <p:nvPr/>
        </p:nvSpPr>
        <p:spPr>
          <a:xfrm>
            <a:off x="4892040" y="4645152"/>
            <a:ext cx="3794760" cy="256032"/>
          </a:xfrm>
          <a:prstGeom prst="rect">
            <a:avLst/>
          </a:prstGeom>
          <a:noFill/>
          <a:ln/>
        </p:spPr>
        <p:txBody>
          <a:bodyPr wrap="square" lIns="0" tIns="0" rIns="0" bIns="0" rtlCol="0" anchor="ctr"/>
          <a:lstStyle/>
          <a:p>
            <a:pPr marL="0" indent="0">
              <a:buNone/>
            </a:pPr>
            <a:r>
              <a:rPr lang="en-US" sz="1150" dirty="0">
                <a:solidFill>
                  <a:srgbClr val="3D5A80"/>
                </a:solidFill>
                <a:latin typeface="Calibri" pitchFamily="34" charset="0"/>
                <a:ea typeface="Calibri" pitchFamily="34" charset="-122"/>
                <a:cs typeface="Calibri" pitchFamily="34" charset="-120"/>
              </a:rPr>
              <a:t>✓  No trailing prose</a:t>
            </a:r>
            <a:endParaRPr lang="en-US" sz="1150" dirty="0"/>
          </a:p>
        </p:txBody>
      </p:sp>
      <p:pic>
        <p:nvPicPr>
          <p:cNvPr id="28" name="Google Shape;328;p29">
            <a:extLst>
              <a:ext uri="{FF2B5EF4-FFF2-40B4-BE49-F238E27FC236}">
                <a16:creationId xmlns:a16="http://schemas.microsoft.com/office/drawing/2014/main" id="{63303391-A8AE-0532-9058-99391CF1C4F5}"/>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62355298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11480" y="146304"/>
            <a:ext cx="8321040" cy="566928"/>
          </a:xfrm>
          <a:prstGeom prst="rect">
            <a:avLst/>
          </a:prstGeom>
          <a:noFill/>
          <a:ln/>
        </p:spPr>
        <p:txBody>
          <a:bodyPr wrap="square" lIns="0" tIns="0" rIns="0" bIns="0" rtlCol="0" anchor="ctr"/>
          <a:lstStyle/>
          <a:p>
            <a:pPr marL="0" indent="0">
              <a:buNone/>
            </a:pPr>
            <a:r>
              <a:rPr lang="en-US" sz="2500" b="1" dirty="0">
                <a:solidFill>
                  <a:srgbClr val="1A1F36"/>
                </a:solidFill>
                <a:latin typeface="Georgia" pitchFamily="34" charset="0"/>
                <a:ea typeface="Georgia" pitchFamily="34" charset="-122"/>
                <a:cs typeface="Georgia" pitchFamily="34" charset="-120"/>
              </a:rPr>
              <a:t>Multinomial Sampling — Many Valid Outputs</a:t>
            </a:r>
            <a:endParaRPr lang="en-US" sz="2500" dirty="0"/>
          </a:p>
        </p:txBody>
      </p:sp>
      <p:sp>
        <p:nvSpPr>
          <p:cNvPr id="4" name="Text 2"/>
          <p:cNvSpPr/>
          <p:nvPr/>
        </p:nvSpPr>
        <p:spPr>
          <a:xfrm>
            <a:off x="411480" y="786384"/>
            <a:ext cx="8321040" cy="530352"/>
          </a:xfrm>
          <a:prstGeom prst="rect">
            <a:avLst/>
          </a:prstGeom>
          <a:noFill/>
          <a:ln/>
        </p:spPr>
        <p:txBody>
          <a:bodyPr wrap="square" rtlCol="0" anchor="ctr"/>
          <a:lstStyle/>
          <a:p>
            <a:pPr marL="0" indent="0">
              <a:buNone/>
            </a:pPr>
            <a:r>
              <a:rPr lang="en-US" sz="1300" dirty="0">
                <a:solidFill>
                  <a:srgbClr val="1A1F36"/>
                </a:solidFill>
                <a:latin typeface="Calibri" pitchFamily="34" charset="0"/>
                <a:ea typeface="Calibri" pitchFamily="34" charset="-122"/>
                <a:cs typeface="Calibri" pitchFamily="34" charset="-120"/>
              </a:rPr>
              <a:t>Constrained generation works with both greedy and multinomial (random) sampling. The same regex constraint applied with do_sample=True produces diverse yet always-valid URLs:</a:t>
            </a:r>
            <a:endParaRPr lang="en-US" sz="1300" dirty="0"/>
          </a:p>
        </p:txBody>
      </p:sp>
      <p:sp>
        <p:nvSpPr>
          <p:cNvPr id="5" name="Shape 3"/>
          <p:cNvSpPr/>
          <p:nvPr/>
        </p:nvSpPr>
        <p:spPr>
          <a:xfrm>
            <a:off x="320040" y="1444752"/>
            <a:ext cx="4251960" cy="640080"/>
          </a:xfrm>
          <a:prstGeom prst="rect">
            <a:avLst/>
          </a:prstGeom>
          <a:solidFill>
            <a:srgbClr val="F5FDF8"/>
          </a:solidFill>
          <a:ln w="9525">
            <a:solidFill>
              <a:srgbClr val="CADCFC"/>
            </a:solidFill>
            <a:prstDash val="solid"/>
          </a:ln>
        </p:spPr>
      </p:sp>
      <p:sp>
        <p:nvSpPr>
          <p:cNvPr id="6" name="Shape 4"/>
          <p:cNvSpPr/>
          <p:nvPr/>
        </p:nvSpPr>
        <p:spPr>
          <a:xfrm>
            <a:off x="320040" y="1444752"/>
            <a:ext cx="50292" cy="640080"/>
          </a:xfrm>
          <a:prstGeom prst="rect">
            <a:avLst/>
          </a:prstGeom>
          <a:solidFill>
            <a:srgbClr val="3D5A80"/>
          </a:solidFill>
          <a:ln w="12700">
            <a:solidFill>
              <a:srgbClr val="3D5A80"/>
            </a:solidFill>
            <a:prstDash val="solid"/>
          </a:ln>
        </p:spPr>
      </p:sp>
      <p:sp>
        <p:nvSpPr>
          <p:cNvPr id="7" name="Text 5"/>
          <p:cNvSpPr/>
          <p:nvPr/>
        </p:nvSpPr>
        <p:spPr>
          <a:xfrm>
            <a:off x="457200" y="1490472"/>
            <a:ext cx="4023360" cy="548640"/>
          </a:xfrm>
          <a:prstGeom prst="rect">
            <a:avLst/>
          </a:prstGeom>
          <a:noFill/>
          <a:ln/>
        </p:spPr>
        <p:txBody>
          <a:bodyPr wrap="square" lIns="0" tIns="0" rIns="0" bIns="0" rtlCol="0" anchor="ctr"/>
          <a:lstStyle/>
          <a:p>
            <a:pPr marL="0" indent="0">
              <a:buNone/>
            </a:pPr>
            <a:r>
              <a:rPr lang="en-US" sz="1050" dirty="0">
                <a:solidFill>
                  <a:srgbClr val="1A3A1A"/>
                </a:solidFill>
                <a:latin typeface="Consolas" pitchFamily="34" charset="0"/>
                <a:ea typeface="Consolas" pitchFamily="34" charset="-122"/>
                <a:cs typeface="Consolas" pitchFamily="34" charset="-120"/>
              </a:rPr>
              <a:t>#1  http://www.example.com/</a:t>
            </a:r>
            <a:endParaRPr lang="en-US" sz="1050" dirty="0"/>
          </a:p>
        </p:txBody>
      </p:sp>
      <p:sp>
        <p:nvSpPr>
          <p:cNvPr id="8" name="Shape 6"/>
          <p:cNvSpPr/>
          <p:nvPr/>
        </p:nvSpPr>
        <p:spPr>
          <a:xfrm>
            <a:off x="4754880" y="1444752"/>
            <a:ext cx="4251960" cy="640080"/>
          </a:xfrm>
          <a:prstGeom prst="rect">
            <a:avLst/>
          </a:prstGeom>
          <a:solidFill>
            <a:srgbClr val="F5FDF8"/>
          </a:solidFill>
          <a:ln w="9525">
            <a:solidFill>
              <a:srgbClr val="CADCFC"/>
            </a:solidFill>
            <a:prstDash val="solid"/>
          </a:ln>
        </p:spPr>
      </p:sp>
      <p:sp>
        <p:nvSpPr>
          <p:cNvPr id="9" name="Shape 7"/>
          <p:cNvSpPr/>
          <p:nvPr/>
        </p:nvSpPr>
        <p:spPr>
          <a:xfrm>
            <a:off x="4754880" y="1444752"/>
            <a:ext cx="50292" cy="640080"/>
          </a:xfrm>
          <a:prstGeom prst="rect">
            <a:avLst/>
          </a:prstGeom>
          <a:solidFill>
            <a:srgbClr val="3D5A80"/>
          </a:solidFill>
          <a:ln w="12700">
            <a:solidFill>
              <a:srgbClr val="3D5A80"/>
            </a:solidFill>
            <a:prstDash val="solid"/>
          </a:ln>
        </p:spPr>
      </p:sp>
      <p:sp>
        <p:nvSpPr>
          <p:cNvPr id="10" name="Text 8"/>
          <p:cNvSpPr/>
          <p:nvPr/>
        </p:nvSpPr>
        <p:spPr>
          <a:xfrm>
            <a:off x="4892040" y="1490472"/>
            <a:ext cx="4023360" cy="548640"/>
          </a:xfrm>
          <a:prstGeom prst="rect">
            <a:avLst/>
          </a:prstGeom>
          <a:noFill/>
          <a:ln/>
        </p:spPr>
        <p:txBody>
          <a:bodyPr wrap="square" lIns="0" tIns="0" rIns="0" bIns="0" rtlCol="0" anchor="ctr"/>
          <a:lstStyle/>
          <a:p>
            <a:pPr marL="0" indent="0">
              <a:buNone/>
            </a:pPr>
            <a:r>
              <a:rPr lang="en-US" sz="1050" dirty="0">
                <a:solidFill>
                  <a:srgbClr val="1A3A1A"/>
                </a:solidFill>
                <a:latin typeface="Consolas" pitchFamily="34" charset="0"/>
                <a:ea typeface="Consolas" pitchFamily="34" charset="-122"/>
                <a:cs typeface="Consolas" pitchFamily="34" charset="-120"/>
              </a:rPr>
              <a:t>#2  http://www.google.com</a:t>
            </a:r>
            <a:endParaRPr lang="en-US" sz="1050" dirty="0"/>
          </a:p>
        </p:txBody>
      </p:sp>
      <p:sp>
        <p:nvSpPr>
          <p:cNvPr id="11" name="Shape 9"/>
          <p:cNvSpPr/>
          <p:nvPr/>
        </p:nvSpPr>
        <p:spPr>
          <a:xfrm>
            <a:off x="320040" y="2176272"/>
            <a:ext cx="4251960" cy="640080"/>
          </a:xfrm>
          <a:prstGeom prst="rect">
            <a:avLst/>
          </a:prstGeom>
          <a:solidFill>
            <a:srgbClr val="FFFFFF"/>
          </a:solidFill>
          <a:ln w="9525">
            <a:solidFill>
              <a:srgbClr val="CADCFC"/>
            </a:solidFill>
            <a:prstDash val="solid"/>
          </a:ln>
        </p:spPr>
      </p:sp>
      <p:sp>
        <p:nvSpPr>
          <p:cNvPr id="12" name="Shape 10"/>
          <p:cNvSpPr/>
          <p:nvPr/>
        </p:nvSpPr>
        <p:spPr>
          <a:xfrm>
            <a:off x="320040" y="2176272"/>
            <a:ext cx="50292" cy="640080"/>
          </a:xfrm>
          <a:prstGeom prst="rect">
            <a:avLst/>
          </a:prstGeom>
          <a:solidFill>
            <a:srgbClr val="3D5A80"/>
          </a:solidFill>
          <a:ln w="12700">
            <a:solidFill>
              <a:srgbClr val="3D5A80"/>
            </a:solidFill>
            <a:prstDash val="solid"/>
          </a:ln>
        </p:spPr>
      </p:sp>
      <p:sp>
        <p:nvSpPr>
          <p:cNvPr id="13" name="Text 11"/>
          <p:cNvSpPr/>
          <p:nvPr/>
        </p:nvSpPr>
        <p:spPr>
          <a:xfrm>
            <a:off x="457200" y="2221992"/>
            <a:ext cx="4023360" cy="548640"/>
          </a:xfrm>
          <a:prstGeom prst="rect">
            <a:avLst/>
          </a:prstGeom>
          <a:noFill/>
          <a:ln/>
        </p:spPr>
        <p:txBody>
          <a:bodyPr wrap="square" lIns="0" tIns="0" rIns="0" bIns="0" rtlCol="0" anchor="ctr"/>
          <a:lstStyle/>
          <a:p>
            <a:pPr marL="0" indent="0">
              <a:buNone/>
            </a:pPr>
            <a:r>
              <a:rPr lang="en-US" sz="1050" dirty="0">
                <a:solidFill>
                  <a:srgbClr val="1A3A1A"/>
                </a:solidFill>
                <a:latin typeface="Consolas" pitchFamily="34" charset="0"/>
                <a:ea typeface="Consolas" pitchFamily="34" charset="-122"/>
                <a:cs typeface="Consolas" pitchFamily="34" charset="-120"/>
              </a:rPr>
              <a:t>#3  http://www.somewebsite.com/path/to/file</a:t>
            </a:r>
            <a:endParaRPr lang="en-US" sz="1050" dirty="0"/>
          </a:p>
        </p:txBody>
      </p:sp>
      <p:sp>
        <p:nvSpPr>
          <p:cNvPr id="14" name="Shape 12"/>
          <p:cNvSpPr/>
          <p:nvPr/>
        </p:nvSpPr>
        <p:spPr>
          <a:xfrm>
            <a:off x="4754880" y="2176272"/>
            <a:ext cx="4251960" cy="640080"/>
          </a:xfrm>
          <a:prstGeom prst="rect">
            <a:avLst/>
          </a:prstGeom>
          <a:solidFill>
            <a:srgbClr val="FFFFFF"/>
          </a:solidFill>
          <a:ln w="9525">
            <a:solidFill>
              <a:srgbClr val="CADCFC"/>
            </a:solidFill>
            <a:prstDash val="solid"/>
          </a:ln>
        </p:spPr>
      </p:sp>
      <p:sp>
        <p:nvSpPr>
          <p:cNvPr id="15" name="Shape 13"/>
          <p:cNvSpPr/>
          <p:nvPr/>
        </p:nvSpPr>
        <p:spPr>
          <a:xfrm>
            <a:off x="4754880" y="2176272"/>
            <a:ext cx="50292" cy="640080"/>
          </a:xfrm>
          <a:prstGeom prst="rect">
            <a:avLst/>
          </a:prstGeom>
          <a:solidFill>
            <a:srgbClr val="3D5A80"/>
          </a:solidFill>
          <a:ln w="12700">
            <a:solidFill>
              <a:srgbClr val="3D5A80"/>
            </a:solidFill>
            <a:prstDash val="solid"/>
          </a:ln>
        </p:spPr>
      </p:sp>
      <p:sp>
        <p:nvSpPr>
          <p:cNvPr id="16" name="Text 14"/>
          <p:cNvSpPr/>
          <p:nvPr/>
        </p:nvSpPr>
        <p:spPr>
          <a:xfrm>
            <a:off x="4892040" y="2221992"/>
            <a:ext cx="4023360" cy="548640"/>
          </a:xfrm>
          <a:prstGeom prst="rect">
            <a:avLst/>
          </a:prstGeom>
          <a:noFill/>
          <a:ln/>
        </p:spPr>
        <p:txBody>
          <a:bodyPr wrap="square" lIns="0" tIns="0" rIns="0" bIns="0" rtlCol="0" anchor="ctr"/>
          <a:lstStyle/>
          <a:p>
            <a:pPr marL="0" indent="0">
              <a:buNone/>
            </a:pPr>
            <a:r>
              <a:rPr lang="en-US" sz="1050" dirty="0">
                <a:solidFill>
                  <a:srgbClr val="1A3A1A"/>
                </a:solidFill>
                <a:latin typeface="Consolas" pitchFamily="34" charset="0"/>
                <a:ea typeface="Consolas" pitchFamily="34" charset="-122"/>
                <a:cs typeface="Consolas" pitchFamily="34" charset="-120"/>
              </a:rPr>
              <a:t>#4  http://www.google.com/search</a:t>
            </a:r>
            <a:endParaRPr lang="en-US" sz="1050" dirty="0"/>
          </a:p>
        </p:txBody>
      </p:sp>
      <p:sp>
        <p:nvSpPr>
          <p:cNvPr id="17" name="Shape 15"/>
          <p:cNvSpPr/>
          <p:nvPr/>
        </p:nvSpPr>
        <p:spPr>
          <a:xfrm>
            <a:off x="320040" y="2907792"/>
            <a:ext cx="4251960" cy="640080"/>
          </a:xfrm>
          <a:prstGeom prst="rect">
            <a:avLst/>
          </a:prstGeom>
          <a:solidFill>
            <a:srgbClr val="F5FDF8"/>
          </a:solidFill>
          <a:ln w="9525">
            <a:solidFill>
              <a:srgbClr val="CADCFC"/>
            </a:solidFill>
            <a:prstDash val="solid"/>
          </a:ln>
        </p:spPr>
      </p:sp>
      <p:sp>
        <p:nvSpPr>
          <p:cNvPr id="18" name="Shape 16"/>
          <p:cNvSpPr/>
          <p:nvPr/>
        </p:nvSpPr>
        <p:spPr>
          <a:xfrm>
            <a:off x="320040" y="2907792"/>
            <a:ext cx="50292" cy="640080"/>
          </a:xfrm>
          <a:prstGeom prst="rect">
            <a:avLst/>
          </a:prstGeom>
          <a:solidFill>
            <a:srgbClr val="3D5A80"/>
          </a:solidFill>
          <a:ln w="12700">
            <a:solidFill>
              <a:srgbClr val="3D5A80"/>
            </a:solidFill>
            <a:prstDash val="solid"/>
          </a:ln>
        </p:spPr>
      </p:sp>
      <p:sp>
        <p:nvSpPr>
          <p:cNvPr id="19" name="Text 17"/>
          <p:cNvSpPr/>
          <p:nvPr/>
        </p:nvSpPr>
        <p:spPr>
          <a:xfrm>
            <a:off x="457200" y="2953512"/>
            <a:ext cx="4023360" cy="548640"/>
          </a:xfrm>
          <a:prstGeom prst="rect">
            <a:avLst/>
          </a:prstGeom>
          <a:noFill/>
          <a:ln/>
        </p:spPr>
        <p:txBody>
          <a:bodyPr wrap="square" lIns="0" tIns="0" rIns="0" bIns="0" rtlCol="0" anchor="ctr"/>
          <a:lstStyle/>
          <a:p>
            <a:pPr marL="0" indent="0">
              <a:buNone/>
            </a:pPr>
            <a:r>
              <a:rPr lang="en-US" sz="1050" dirty="0">
                <a:solidFill>
                  <a:srgbClr val="1A3A1A"/>
                </a:solidFill>
                <a:latin typeface="Consolas" pitchFamily="34" charset="0"/>
                <a:ea typeface="Consolas" pitchFamily="34" charset="-122"/>
                <a:cs typeface="Consolas" pitchFamily="34" charset="-120"/>
              </a:rPr>
              <a:t>#5  https://www.google.com/</a:t>
            </a:r>
            <a:endParaRPr lang="en-US" sz="1050" dirty="0"/>
          </a:p>
        </p:txBody>
      </p:sp>
      <p:sp>
        <p:nvSpPr>
          <p:cNvPr id="20" name="Shape 18"/>
          <p:cNvSpPr/>
          <p:nvPr/>
        </p:nvSpPr>
        <p:spPr>
          <a:xfrm>
            <a:off x="4754880" y="2907792"/>
            <a:ext cx="4251960" cy="640080"/>
          </a:xfrm>
          <a:prstGeom prst="rect">
            <a:avLst/>
          </a:prstGeom>
          <a:solidFill>
            <a:srgbClr val="F5FDF8"/>
          </a:solidFill>
          <a:ln w="9525">
            <a:solidFill>
              <a:srgbClr val="CADCFC"/>
            </a:solidFill>
            <a:prstDash val="solid"/>
          </a:ln>
        </p:spPr>
      </p:sp>
      <p:sp>
        <p:nvSpPr>
          <p:cNvPr id="21" name="Shape 19"/>
          <p:cNvSpPr/>
          <p:nvPr/>
        </p:nvSpPr>
        <p:spPr>
          <a:xfrm>
            <a:off x="4754880" y="2907792"/>
            <a:ext cx="50292" cy="640080"/>
          </a:xfrm>
          <a:prstGeom prst="rect">
            <a:avLst/>
          </a:prstGeom>
          <a:solidFill>
            <a:srgbClr val="3D5A80"/>
          </a:solidFill>
          <a:ln w="12700">
            <a:solidFill>
              <a:srgbClr val="3D5A80"/>
            </a:solidFill>
            <a:prstDash val="solid"/>
          </a:ln>
        </p:spPr>
      </p:sp>
      <p:sp>
        <p:nvSpPr>
          <p:cNvPr id="22" name="Text 20"/>
          <p:cNvSpPr/>
          <p:nvPr/>
        </p:nvSpPr>
        <p:spPr>
          <a:xfrm>
            <a:off x="4892040" y="2953512"/>
            <a:ext cx="4023360" cy="548640"/>
          </a:xfrm>
          <a:prstGeom prst="rect">
            <a:avLst/>
          </a:prstGeom>
          <a:noFill/>
          <a:ln/>
        </p:spPr>
        <p:txBody>
          <a:bodyPr wrap="square" lIns="0" tIns="0" rIns="0" bIns="0" rtlCol="0" anchor="ctr"/>
          <a:lstStyle/>
          <a:p>
            <a:pPr marL="0" indent="0">
              <a:buNone/>
            </a:pPr>
            <a:r>
              <a:rPr lang="en-US" sz="1050" dirty="0">
                <a:solidFill>
                  <a:srgbClr val="1A3A1A"/>
                </a:solidFill>
                <a:latin typeface="Consolas" pitchFamily="34" charset="0"/>
                <a:ea typeface="Consolas" pitchFamily="34" charset="-122"/>
                <a:cs typeface="Consolas" pitchFamily="34" charset="-120"/>
              </a:rPr>
              <a:t>#6  http://localhost.com</a:t>
            </a:r>
            <a:endParaRPr lang="en-US" sz="1050" dirty="0"/>
          </a:p>
        </p:txBody>
      </p:sp>
      <p:sp>
        <p:nvSpPr>
          <p:cNvPr id="23" name="Shape 21"/>
          <p:cNvSpPr/>
          <p:nvPr/>
        </p:nvSpPr>
        <p:spPr>
          <a:xfrm>
            <a:off x="320040" y="3639312"/>
            <a:ext cx="4251960" cy="640080"/>
          </a:xfrm>
          <a:prstGeom prst="rect">
            <a:avLst/>
          </a:prstGeom>
          <a:solidFill>
            <a:srgbClr val="FFFFFF"/>
          </a:solidFill>
          <a:ln w="9525">
            <a:solidFill>
              <a:srgbClr val="CADCFC"/>
            </a:solidFill>
            <a:prstDash val="solid"/>
          </a:ln>
        </p:spPr>
      </p:sp>
      <p:sp>
        <p:nvSpPr>
          <p:cNvPr id="24" name="Shape 22"/>
          <p:cNvSpPr/>
          <p:nvPr/>
        </p:nvSpPr>
        <p:spPr>
          <a:xfrm>
            <a:off x="320040" y="3639312"/>
            <a:ext cx="50292" cy="640080"/>
          </a:xfrm>
          <a:prstGeom prst="rect">
            <a:avLst/>
          </a:prstGeom>
          <a:solidFill>
            <a:srgbClr val="3D5A80"/>
          </a:solidFill>
          <a:ln w="12700">
            <a:solidFill>
              <a:srgbClr val="3D5A80"/>
            </a:solidFill>
            <a:prstDash val="solid"/>
          </a:ln>
        </p:spPr>
      </p:sp>
      <p:sp>
        <p:nvSpPr>
          <p:cNvPr id="25" name="Text 23"/>
          <p:cNvSpPr/>
          <p:nvPr/>
        </p:nvSpPr>
        <p:spPr>
          <a:xfrm>
            <a:off x="457200" y="3685032"/>
            <a:ext cx="4023360" cy="548640"/>
          </a:xfrm>
          <a:prstGeom prst="rect">
            <a:avLst/>
          </a:prstGeom>
          <a:noFill/>
          <a:ln/>
        </p:spPr>
        <p:txBody>
          <a:bodyPr wrap="square" lIns="0" tIns="0" rIns="0" bIns="0" rtlCol="0" anchor="ctr"/>
          <a:lstStyle/>
          <a:p>
            <a:pPr marL="0" indent="0">
              <a:buNone/>
            </a:pPr>
            <a:r>
              <a:rPr lang="en-US" sz="1050" dirty="0">
                <a:solidFill>
                  <a:srgbClr val="1A3A1A"/>
                </a:solidFill>
                <a:latin typeface="Consolas" pitchFamily="34" charset="0"/>
                <a:ea typeface="Consolas" pitchFamily="34" charset="-122"/>
                <a:cs typeface="Consolas" pitchFamily="34" charset="-120"/>
              </a:rPr>
              <a:t>#7  https://www.google.com/maps/search/</a:t>
            </a:r>
            <a:endParaRPr lang="en-US" sz="1050" dirty="0"/>
          </a:p>
        </p:txBody>
      </p:sp>
      <p:sp>
        <p:nvSpPr>
          <p:cNvPr id="26" name="Shape 24"/>
          <p:cNvSpPr/>
          <p:nvPr/>
        </p:nvSpPr>
        <p:spPr>
          <a:xfrm>
            <a:off x="4754880" y="3639312"/>
            <a:ext cx="4251960" cy="640080"/>
          </a:xfrm>
          <a:prstGeom prst="rect">
            <a:avLst/>
          </a:prstGeom>
          <a:solidFill>
            <a:srgbClr val="FFFFFF"/>
          </a:solidFill>
          <a:ln w="9525">
            <a:solidFill>
              <a:srgbClr val="CADCFC"/>
            </a:solidFill>
            <a:prstDash val="solid"/>
          </a:ln>
        </p:spPr>
      </p:sp>
      <p:sp>
        <p:nvSpPr>
          <p:cNvPr id="27" name="Shape 25"/>
          <p:cNvSpPr/>
          <p:nvPr/>
        </p:nvSpPr>
        <p:spPr>
          <a:xfrm>
            <a:off x="4754880" y="3639312"/>
            <a:ext cx="50292" cy="640080"/>
          </a:xfrm>
          <a:prstGeom prst="rect">
            <a:avLst/>
          </a:prstGeom>
          <a:solidFill>
            <a:srgbClr val="3D5A80"/>
          </a:solidFill>
          <a:ln w="12700">
            <a:solidFill>
              <a:srgbClr val="3D5A80"/>
            </a:solidFill>
            <a:prstDash val="solid"/>
          </a:ln>
        </p:spPr>
      </p:sp>
      <p:sp>
        <p:nvSpPr>
          <p:cNvPr id="28" name="Text 26"/>
          <p:cNvSpPr/>
          <p:nvPr/>
        </p:nvSpPr>
        <p:spPr>
          <a:xfrm>
            <a:off x="4892040" y="3685032"/>
            <a:ext cx="4023360" cy="548640"/>
          </a:xfrm>
          <a:prstGeom prst="rect">
            <a:avLst/>
          </a:prstGeom>
          <a:noFill/>
          <a:ln/>
        </p:spPr>
        <p:txBody>
          <a:bodyPr wrap="square" lIns="0" tIns="0" rIns="0" bIns="0" rtlCol="0" anchor="ctr"/>
          <a:lstStyle/>
          <a:p>
            <a:pPr marL="0" indent="0">
              <a:buNone/>
            </a:pPr>
            <a:r>
              <a:rPr lang="en-US" sz="1050" dirty="0">
                <a:solidFill>
                  <a:srgbClr val="1A3A1A"/>
                </a:solidFill>
                <a:latin typeface="Consolas" pitchFamily="34" charset="0"/>
                <a:ea typeface="Consolas" pitchFamily="34" charset="-122"/>
                <a:cs typeface="Consolas" pitchFamily="34" charset="-120"/>
              </a:rPr>
              <a:t>#8  http://www.google.com/search?hl=en</a:t>
            </a:r>
            <a:endParaRPr lang="en-US" sz="1050" dirty="0"/>
          </a:p>
        </p:txBody>
      </p:sp>
      <p:sp>
        <p:nvSpPr>
          <p:cNvPr id="29" name="Shape 27"/>
          <p:cNvSpPr/>
          <p:nvPr/>
        </p:nvSpPr>
        <p:spPr>
          <a:xfrm>
            <a:off x="320040" y="4498848"/>
            <a:ext cx="8503920" cy="475488"/>
          </a:xfrm>
          <a:prstGeom prst="rect">
            <a:avLst/>
          </a:prstGeom>
          <a:solidFill>
            <a:srgbClr val="F0F7FF"/>
          </a:solidFill>
          <a:ln w="12700">
            <a:solidFill>
              <a:srgbClr val="B8D0F0"/>
            </a:solidFill>
            <a:prstDash val="solid"/>
          </a:ln>
        </p:spPr>
      </p:sp>
      <p:sp>
        <p:nvSpPr>
          <p:cNvPr id="30" name="Text 28"/>
          <p:cNvSpPr/>
          <p:nvPr/>
        </p:nvSpPr>
        <p:spPr>
          <a:xfrm>
            <a:off x="457200" y="4544568"/>
            <a:ext cx="8229600" cy="365760"/>
          </a:xfrm>
          <a:prstGeom prst="rect">
            <a:avLst/>
          </a:prstGeom>
          <a:noFill/>
          <a:ln/>
        </p:spPr>
        <p:txBody>
          <a:bodyPr wrap="square" lIns="0" tIns="0" rIns="0" bIns="0" rtlCol="0" anchor="ctr"/>
          <a:lstStyle/>
          <a:p>
            <a:pPr marL="0" indent="0">
              <a:buNone/>
            </a:pPr>
            <a:r>
              <a:rPr lang="en-US" sz="1200" i="1" dirty="0">
                <a:solidFill>
                  <a:srgbClr val="1A1F36"/>
                </a:solidFill>
                <a:latin typeface="Calibri" pitchFamily="34" charset="0"/>
                <a:ea typeface="Calibri" pitchFamily="34" charset="-122"/>
                <a:cs typeface="Calibri" pitchFamily="34" charset="-120"/>
              </a:rPr>
              <a:t>All outputs satisfy the regex — diversity comes from multinomial sampling, validity is guaranteed by the logit mask.</a:t>
            </a:r>
            <a:endParaRPr lang="en-US" sz="1200" dirty="0"/>
          </a:p>
        </p:txBody>
      </p:sp>
      <p:pic>
        <p:nvPicPr>
          <p:cNvPr id="31" name="Google Shape;328;p29">
            <a:extLst>
              <a:ext uri="{FF2B5EF4-FFF2-40B4-BE49-F238E27FC236}">
                <a16:creationId xmlns:a16="http://schemas.microsoft.com/office/drawing/2014/main" id="{A626C37B-5CAF-AAB6-D976-E942438EF502}"/>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258648632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25AA3-0E76-F291-D855-CFBCDA2D0E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966AD5-05E2-1621-F29C-690790CAD472}"/>
              </a:ext>
            </a:extLst>
          </p:cNvPr>
          <p:cNvSpPr>
            <a:spLocks noGrp="1"/>
          </p:cNvSpPr>
          <p:nvPr>
            <p:ph type="title"/>
          </p:nvPr>
        </p:nvSpPr>
        <p:spPr/>
        <p:txBody>
          <a:bodyPr>
            <a:normAutofit fontScale="90000"/>
          </a:bodyPr>
          <a:lstStyle/>
          <a:p>
            <a:r>
              <a:rPr lang="en-US" b="1" dirty="0">
                <a:solidFill>
                  <a:srgbClr val="1E2761"/>
                </a:solidFill>
                <a:latin typeface="Georgia"/>
              </a:rPr>
              <a:t>Question</a:t>
            </a:r>
          </a:p>
        </p:txBody>
      </p:sp>
      <p:sp>
        <p:nvSpPr>
          <p:cNvPr id="3" name="Text Placeholder 2">
            <a:extLst>
              <a:ext uri="{FF2B5EF4-FFF2-40B4-BE49-F238E27FC236}">
                <a16:creationId xmlns:a16="http://schemas.microsoft.com/office/drawing/2014/main" id="{958C909E-6705-90EF-C5BD-3133D92D738B}"/>
              </a:ext>
            </a:extLst>
          </p:cNvPr>
          <p:cNvSpPr>
            <a:spLocks noGrp="1"/>
          </p:cNvSpPr>
          <p:nvPr>
            <p:ph type="body" idx="1"/>
          </p:nvPr>
        </p:nvSpPr>
        <p:spPr/>
        <p:txBody>
          <a:bodyPr/>
          <a:lstStyle/>
          <a:p>
            <a:r>
              <a:rPr lang="en-US" dirty="0">
                <a:solidFill>
                  <a:srgbClr val="1A1F36"/>
                </a:solidFill>
                <a:latin typeface="Calibri"/>
              </a:rPr>
              <a:t>Which of the following is not enforced by the </a:t>
            </a:r>
            <a:r>
              <a:rPr lang="en-US" dirty="0" err="1">
                <a:solidFill>
                  <a:srgbClr val="1A1F36"/>
                </a:solidFill>
                <a:latin typeface="Calibri"/>
              </a:rPr>
              <a:t>LogitsProcessor</a:t>
            </a:r>
            <a:r>
              <a:rPr lang="en-US" dirty="0">
                <a:solidFill>
                  <a:srgbClr val="1A1F36"/>
                </a:solidFill>
                <a:latin typeface="Calibri"/>
              </a:rPr>
              <a:t>?</a:t>
            </a:r>
          </a:p>
          <a:p>
            <a:endParaRPr lang="en-US" dirty="0">
              <a:solidFill>
                <a:srgbClr val="1A1F36"/>
              </a:solidFill>
              <a:latin typeface="Calibri"/>
            </a:endParaRPr>
          </a:p>
          <a:p>
            <a:pPr lvl="1"/>
            <a:r>
              <a:rPr lang="en-US" dirty="0">
                <a:solidFill>
                  <a:srgbClr val="1A1F36"/>
                </a:solidFill>
                <a:latin typeface="Calibri"/>
              </a:rPr>
              <a:t>Only allowed token are generated.</a:t>
            </a:r>
          </a:p>
          <a:p>
            <a:pPr lvl="1"/>
            <a:r>
              <a:rPr lang="en-US" dirty="0">
                <a:solidFill>
                  <a:srgbClr val="1A1F36"/>
                </a:solidFill>
                <a:latin typeface="Calibri"/>
              </a:rPr>
              <a:t>Some of the allowed token are generated preferentially. </a:t>
            </a:r>
          </a:p>
          <a:p>
            <a:pPr lvl="1"/>
            <a:r>
              <a:rPr lang="en-US" dirty="0">
                <a:solidFill>
                  <a:srgbClr val="1A1F36"/>
                </a:solidFill>
                <a:latin typeface="Calibri"/>
              </a:rPr>
              <a:t>The output follows the input Grammer completely.</a:t>
            </a:r>
          </a:p>
          <a:p>
            <a:pPr lvl="1"/>
            <a:r>
              <a:rPr lang="en-US" dirty="0">
                <a:solidFill>
                  <a:srgbClr val="1A1F36"/>
                </a:solidFill>
                <a:latin typeface="Calibri"/>
              </a:rPr>
              <a:t>Partial Matches from Nested </a:t>
            </a:r>
            <a:r>
              <a:rPr lang="en-US" dirty="0" err="1">
                <a:solidFill>
                  <a:srgbClr val="1A1F36"/>
                </a:solidFill>
                <a:latin typeface="Calibri"/>
              </a:rPr>
              <a:t>grammers</a:t>
            </a:r>
            <a:endParaRPr lang="en-US" dirty="0">
              <a:solidFill>
                <a:srgbClr val="1A1F36"/>
              </a:solidFill>
              <a:latin typeface="Calibri"/>
            </a:endParaRPr>
          </a:p>
        </p:txBody>
      </p:sp>
      <p:pic>
        <p:nvPicPr>
          <p:cNvPr id="4" name="Google Shape;328;p29">
            <a:extLst>
              <a:ext uri="{FF2B5EF4-FFF2-40B4-BE49-F238E27FC236}">
                <a16:creationId xmlns:a16="http://schemas.microsoft.com/office/drawing/2014/main" id="{314DB53C-494E-CE6C-41EE-FFBF4834A4F2}"/>
              </a:ext>
            </a:extLst>
          </p:cNvPr>
          <p:cNvPicPr preferRelativeResize="0"/>
          <p:nvPr/>
        </p:nvPicPr>
        <p:blipFill>
          <a:blip r:embed="rId2">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5128463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365760"/>
            <a:ext cx="5486400" cy="594360"/>
          </a:xfrm>
          <a:prstGeom prst="rect">
            <a:avLst/>
          </a:prstGeom>
          <a:noFill/>
          <a:ln/>
        </p:spPr>
        <p:txBody>
          <a:bodyPr wrap="square" lIns="0" tIns="0" rIns="0" bIns="0" rtlCol="0" anchor="ctr"/>
          <a:lstStyle/>
          <a:p>
            <a:pPr marL="0" indent="0">
              <a:buNone/>
            </a:pPr>
            <a:r>
              <a:rPr lang="en-US" sz="3400" b="1" dirty="0">
                <a:solidFill>
                  <a:srgbClr val="1E2761"/>
                </a:solidFill>
                <a:latin typeface="Cambria" pitchFamily="34" charset="0"/>
                <a:ea typeface="Cambria" pitchFamily="34" charset="-122"/>
                <a:cs typeface="Cambria" pitchFamily="34" charset="-120"/>
              </a:rPr>
              <a:t>Answer</a:t>
            </a:r>
            <a:endParaRPr lang="en-US" sz="3400" dirty="0"/>
          </a:p>
        </p:txBody>
      </p:sp>
      <p:grpSp>
        <p:nvGrpSpPr>
          <p:cNvPr id="18" name="Group 17">
            <a:extLst>
              <a:ext uri="{FF2B5EF4-FFF2-40B4-BE49-F238E27FC236}">
                <a16:creationId xmlns:a16="http://schemas.microsoft.com/office/drawing/2014/main" id="{4A31B7A5-A795-A4B5-9432-93FF24EB10E2}"/>
              </a:ext>
            </a:extLst>
          </p:cNvPr>
          <p:cNvGrpSpPr/>
          <p:nvPr/>
        </p:nvGrpSpPr>
        <p:grpSpPr>
          <a:xfrm>
            <a:off x="566928" y="1170432"/>
            <a:ext cx="6339394" cy="1847831"/>
            <a:chOff x="566928" y="1170432"/>
            <a:chExt cx="8119872" cy="2468880"/>
          </a:xfrm>
        </p:grpSpPr>
        <p:sp>
          <p:nvSpPr>
            <p:cNvPr id="3" name="Shape 1"/>
            <p:cNvSpPr/>
            <p:nvPr/>
          </p:nvSpPr>
          <p:spPr>
            <a:xfrm>
              <a:off x="566928" y="1298448"/>
              <a:ext cx="82296" cy="82296"/>
            </a:xfrm>
            <a:prstGeom prst="ellipse">
              <a:avLst/>
            </a:prstGeom>
            <a:solidFill>
              <a:srgbClr val="1E2761"/>
            </a:solidFill>
            <a:ln/>
          </p:spPr>
        </p:sp>
        <p:sp>
          <p:nvSpPr>
            <p:cNvPr id="4" name="Text 2"/>
            <p:cNvSpPr/>
            <p:nvPr/>
          </p:nvSpPr>
          <p:spPr>
            <a:xfrm>
              <a:off x="822960" y="1170432"/>
              <a:ext cx="7863840" cy="365760"/>
            </a:xfrm>
            <a:prstGeom prst="rect">
              <a:avLst/>
            </a:prstGeom>
            <a:noFill/>
            <a:ln/>
          </p:spPr>
          <p:txBody>
            <a:bodyPr wrap="square" lIns="0" tIns="0" rIns="0" bIns="0" rtlCol="0" anchor="ctr"/>
            <a:lstStyle/>
            <a:p>
              <a:pPr marL="0" indent="0">
                <a:buNone/>
              </a:pPr>
              <a:r>
                <a:rPr lang="en-US" sz="1600" dirty="0">
                  <a:solidFill>
                    <a:srgbClr val="1A1A1A"/>
                  </a:solidFill>
                  <a:latin typeface="Calibri" pitchFamily="34" charset="0"/>
                  <a:ea typeface="Calibri" pitchFamily="34" charset="-122"/>
                  <a:cs typeface="Calibri" pitchFamily="34" charset="-120"/>
                </a:rPr>
                <a:t>Which of the following is not enforced by the LogitsProcessor?</a:t>
              </a:r>
              <a:endParaRPr lang="en-US" sz="1600" dirty="0"/>
            </a:p>
          </p:txBody>
        </p:sp>
        <p:sp>
          <p:nvSpPr>
            <p:cNvPr id="5" name="Shape 3"/>
            <p:cNvSpPr/>
            <p:nvPr/>
          </p:nvSpPr>
          <p:spPr>
            <a:xfrm>
              <a:off x="1078992" y="1851660"/>
              <a:ext cx="118872" cy="118872"/>
            </a:xfrm>
            <a:prstGeom prst="ellipse">
              <a:avLst/>
            </a:prstGeom>
            <a:ln w="15875">
              <a:solidFill>
                <a:srgbClr val="9A9A9A"/>
              </a:solidFill>
              <a:prstDash val="solid"/>
            </a:ln>
          </p:spPr>
        </p:sp>
        <p:sp>
          <p:nvSpPr>
            <p:cNvPr id="6" name="Text 4"/>
            <p:cNvSpPr/>
            <p:nvPr/>
          </p:nvSpPr>
          <p:spPr>
            <a:xfrm>
              <a:off x="1353312" y="1764792"/>
              <a:ext cx="7040880" cy="338328"/>
            </a:xfrm>
            <a:prstGeom prst="rect">
              <a:avLst/>
            </a:prstGeom>
            <a:noFill/>
            <a:ln/>
          </p:spPr>
          <p:txBody>
            <a:bodyPr wrap="square" lIns="0" tIns="0" rIns="0" bIns="0" rtlCol="0" anchor="ctr"/>
            <a:lstStyle/>
            <a:p>
              <a:pPr marL="0" indent="0">
                <a:buNone/>
              </a:pPr>
              <a:r>
                <a:rPr lang="en-US" sz="1400" dirty="0">
                  <a:solidFill>
                    <a:srgbClr val="1A1A1A"/>
                  </a:solidFill>
                  <a:latin typeface="Calibri" pitchFamily="34" charset="0"/>
                  <a:ea typeface="Calibri" pitchFamily="34" charset="-122"/>
                  <a:cs typeface="Calibri" pitchFamily="34" charset="-120"/>
                </a:rPr>
                <a:t>Only allowed token are generated.</a:t>
              </a:r>
              <a:endParaRPr lang="en-US" sz="1400" dirty="0"/>
            </a:p>
          </p:txBody>
        </p:sp>
        <p:sp>
          <p:nvSpPr>
            <p:cNvPr id="7" name="Shape 5"/>
            <p:cNvSpPr/>
            <p:nvPr/>
          </p:nvSpPr>
          <p:spPr>
            <a:xfrm>
              <a:off x="960120" y="2240280"/>
              <a:ext cx="7589520" cy="384048"/>
            </a:xfrm>
            <a:prstGeom prst="roundRect">
              <a:avLst>
                <a:gd name="adj" fmla="val 9524"/>
              </a:avLst>
            </a:prstGeom>
            <a:solidFill>
              <a:srgbClr val="E8F5EC"/>
            </a:solidFill>
            <a:ln w="12700">
              <a:solidFill>
                <a:srgbClr val="1E7B45"/>
              </a:solidFill>
              <a:prstDash val="solid"/>
            </a:ln>
          </p:spPr>
        </p:sp>
        <p:sp>
          <p:nvSpPr>
            <p:cNvPr id="8" name="Shape 6"/>
            <p:cNvSpPr/>
            <p:nvPr/>
          </p:nvSpPr>
          <p:spPr>
            <a:xfrm>
              <a:off x="1078992" y="2363724"/>
              <a:ext cx="118872" cy="118872"/>
            </a:xfrm>
            <a:prstGeom prst="ellipse">
              <a:avLst/>
            </a:prstGeom>
            <a:solidFill>
              <a:srgbClr val="1E7B45"/>
            </a:solidFill>
            <a:ln w="15875">
              <a:solidFill>
                <a:srgbClr val="1E7B45"/>
              </a:solidFill>
              <a:prstDash val="solid"/>
            </a:ln>
          </p:spPr>
        </p:sp>
        <p:sp>
          <p:nvSpPr>
            <p:cNvPr id="9" name="Text 7"/>
            <p:cNvSpPr/>
            <p:nvPr/>
          </p:nvSpPr>
          <p:spPr>
            <a:xfrm>
              <a:off x="1353312" y="2276856"/>
              <a:ext cx="7040880" cy="338328"/>
            </a:xfrm>
            <a:prstGeom prst="rect">
              <a:avLst/>
            </a:prstGeom>
            <a:noFill/>
            <a:ln/>
          </p:spPr>
          <p:txBody>
            <a:bodyPr wrap="square" lIns="0" tIns="0" rIns="0" bIns="0" rtlCol="0" anchor="ctr"/>
            <a:lstStyle/>
            <a:p>
              <a:pPr marL="0" indent="0">
                <a:buNone/>
              </a:pPr>
              <a:r>
                <a:rPr lang="en-US" sz="1400" b="1" dirty="0">
                  <a:solidFill>
                    <a:srgbClr val="1E7B45"/>
                  </a:solidFill>
                  <a:latin typeface="Calibri" pitchFamily="34" charset="0"/>
                  <a:ea typeface="Calibri" pitchFamily="34" charset="-122"/>
                  <a:cs typeface="Calibri" pitchFamily="34" charset="-120"/>
                </a:rPr>
                <a:t>Some of the allowed token are generated preferentially.</a:t>
              </a:r>
              <a:endParaRPr lang="en-US" sz="1400" dirty="0"/>
            </a:p>
          </p:txBody>
        </p:sp>
        <p:sp>
          <p:nvSpPr>
            <p:cNvPr id="10" name="Text 8"/>
            <p:cNvSpPr/>
            <p:nvPr/>
          </p:nvSpPr>
          <p:spPr>
            <a:xfrm>
              <a:off x="8071576" y="2276856"/>
              <a:ext cx="320041" cy="338328"/>
            </a:xfrm>
            <a:prstGeom prst="rect">
              <a:avLst/>
            </a:prstGeom>
            <a:noFill/>
            <a:ln/>
          </p:spPr>
          <p:txBody>
            <a:bodyPr wrap="square" lIns="0" tIns="0" rIns="0" bIns="0" rtlCol="0" anchor="ctr"/>
            <a:lstStyle/>
            <a:p>
              <a:pPr marL="0" indent="0" algn="ctr">
                <a:buNone/>
              </a:pPr>
              <a:r>
                <a:rPr lang="en-US" sz="1400" b="1" dirty="0">
                  <a:solidFill>
                    <a:srgbClr val="1E7B45"/>
                  </a:solidFill>
                  <a:latin typeface="Arial" pitchFamily="34" charset="0"/>
                  <a:ea typeface="Arial" pitchFamily="34" charset="-122"/>
                  <a:cs typeface="Arial" pitchFamily="34" charset="-120"/>
                </a:rPr>
                <a:t>✓</a:t>
              </a:r>
              <a:endParaRPr lang="en-US" sz="1400" dirty="0"/>
            </a:p>
          </p:txBody>
        </p:sp>
        <p:sp>
          <p:nvSpPr>
            <p:cNvPr id="11" name="Shape 9"/>
            <p:cNvSpPr/>
            <p:nvPr/>
          </p:nvSpPr>
          <p:spPr>
            <a:xfrm>
              <a:off x="1078992" y="2875788"/>
              <a:ext cx="118872" cy="118872"/>
            </a:xfrm>
            <a:prstGeom prst="ellipse">
              <a:avLst/>
            </a:prstGeom>
            <a:ln w="15875">
              <a:solidFill>
                <a:srgbClr val="9A9A9A"/>
              </a:solidFill>
              <a:prstDash val="solid"/>
            </a:ln>
          </p:spPr>
        </p:sp>
        <p:sp>
          <p:nvSpPr>
            <p:cNvPr id="12" name="Text 10"/>
            <p:cNvSpPr/>
            <p:nvPr/>
          </p:nvSpPr>
          <p:spPr>
            <a:xfrm>
              <a:off x="1353312" y="2788920"/>
              <a:ext cx="7040880" cy="338328"/>
            </a:xfrm>
            <a:prstGeom prst="rect">
              <a:avLst/>
            </a:prstGeom>
            <a:noFill/>
            <a:ln/>
          </p:spPr>
          <p:txBody>
            <a:bodyPr wrap="square" lIns="0" tIns="0" rIns="0" bIns="0" rtlCol="0" anchor="ctr"/>
            <a:lstStyle/>
            <a:p>
              <a:pPr marL="0" indent="0">
                <a:buNone/>
              </a:pPr>
              <a:r>
                <a:rPr lang="en-US" sz="1400" dirty="0">
                  <a:solidFill>
                    <a:srgbClr val="1A1A1A"/>
                  </a:solidFill>
                  <a:latin typeface="Calibri" pitchFamily="34" charset="0"/>
                  <a:ea typeface="Calibri" pitchFamily="34" charset="-122"/>
                  <a:cs typeface="Calibri" pitchFamily="34" charset="-120"/>
                </a:rPr>
                <a:t>The output follows the input Grammer completely.</a:t>
              </a:r>
              <a:endParaRPr lang="en-US" sz="1400" dirty="0"/>
            </a:p>
          </p:txBody>
        </p:sp>
        <p:sp>
          <p:nvSpPr>
            <p:cNvPr id="13" name="Shape 11"/>
            <p:cNvSpPr/>
            <p:nvPr/>
          </p:nvSpPr>
          <p:spPr>
            <a:xfrm>
              <a:off x="1078992" y="3387852"/>
              <a:ext cx="118872" cy="118872"/>
            </a:xfrm>
            <a:prstGeom prst="ellipse">
              <a:avLst/>
            </a:prstGeom>
            <a:ln w="15875">
              <a:solidFill>
                <a:srgbClr val="9A9A9A"/>
              </a:solidFill>
              <a:prstDash val="solid"/>
            </a:ln>
          </p:spPr>
        </p:sp>
        <p:sp>
          <p:nvSpPr>
            <p:cNvPr id="14" name="Text 12"/>
            <p:cNvSpPr/>
            <p:nvPr/>
          </p:nvSpPr>
          <p:spPr>
            <a:xfrm>
              <a:off x="1353312" y="3300984"/>
              <a:ext cx="7040880" cy="338328"/>
            </a:xfrm>
            <a:prstGeom prst="rect">
              <a:avLst/>
            </a:prstGeom>
            <a:noFill/>
            <a:ln/>
          </p:spPr>
          <p:txBody>
            <a:bodyPr wrap="square" lIns="0" tIns="0" rIns="0" bIns="0" rtlCol="0" anchor="ctr"/>
            <a:lstStyle/>
            <a:p>
              <a:pPr marL="0" indent="0">
                <a:buNone/>
              </a:pPr>
              <a:r>
                <a:rPr lang="en-US" sz="1400" dirty="0">
                  <a:solidFill>
                    <a:srgbClr val="1A1A1A"/>
                  </a:solidFill>
                  <a:latin typeface="Calibri" pitchFamily="34" charset="0"/>
                  <a:ea typeface="Calibri" pitchFamily="34" charset="-122"/>
                  <a:cs typeface="Calibri" pitchFamily="34" charset="-120"/>
                </a:rPr>
                <a:t>Partial Matches from Nested grammers</a:t>
              </a:r>
              <a:endParaRPr lang="en-US" sz="1400" dirty="0"/>
            </a:p>
          </p:txBody>
        </p:sp>
      </p:grpSp>
      <p:grpSp>
        <p:nvGrpSpPr>
          <p:cNvPr id="20" name="Group 19">
            <a:extLst>
              <a:ext uri="{FF2B5EF4-FFF2-40B4-BE49-F238E27FC236}">
                <a16:creationId xmlns:a16="http://schemas.microsoft.com/office/drawing/2014/main" id="{2BA87988-6756-D793-7AE7-5304FA4F2125}"/>
              </a:ext>
            </a:extLst>
          </p:cNvPr>
          <p:cNvGrpSpPr/>
          <p:nvPr/>
        </p:nvGrpSpPr>
        <p:grpSpPr>
          <a:xfrm>
            <a:off x="618150" y="3217648"/>
            <a:ext cx="7172835" cy="1417320"/>
            <a:chOff x="618150" y="3217648"/>
            <a:chExt cx="7589520" cy="1417320"/>
          </a:xfrm>
        </p:grpSpPr>
        <p:sp>
          <p:nvSpPr>
            <p:cNvPr id="15" name="Shape 13"/>
            <p:cNvSpPr/>
            <p:nvPr/>
          </p:nvSpPr>
          <p:spPr>
            <a:xfrm>
              <a:off x="618150" y="3217648"/>
              <a:ext cx="7589520" cy="1417320"/>
            </a:xfrm>
            <a:prstGeom prst="roundRect">
              <a:avLst>
                <a:gd name="adj" fmla="val 3226"/>
              </a:avLst>
            </a:prstGeom>
            <a:solidFill>
              <a:srgbClr val="F4F6FB"/>
            </a:solidFill>
            <a:ln w="12700">
              <a:solidFill>
                <a:srgbClr val="D6DCEC"/>
              </a:solidFill>
              <a:prstDash val="solid"/>
            </a:ln>
          </p:spPr>
        </p:sp>
        <p:sp>
          <p:nvSpPr>
            <p:cNvPr id="16" name="Text 14"/>
            <p:cNvSpPr/>
            <p:nvPr/>
          </p:nvSpPr>
          <p:spPr>
            <a:xfrm>
              <a:off x="846750" y="3354808"/>
              <a:ext cx="1828800" cy="292608"/>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Why</a:t>
              </a:r>
              <a:endParaRPr lang="en-US" sz="1200" dirty="0"/>
            </a:p>
          </p:txBody>
        </p:sp>
        <p:sp>
          <p:nvSpPr>
            <p:cNvPr id="17" name="Text 15"/>
            <p:cNvSpPr/>
            <p:nvPr/>
          </p:nvSpPr>
          <p:spPr>
            <a:xfrm>
              <a:off x="846750" y="3674848"/>
              <a:ext cx="7132320" cy="868680"/>
            </a:xfrm>
            <a:prstGeom prst="rect">
              <a:avLst/>
            </a:prstGeom>
            <a:noFill/>
            <a:ln/>
          </p:spPr>
          <p:txBody>
            <a:bodyPr wrap="square" lIns="0" tIns="0" rIns="0" bIns="0" rtlCol="0" anchor="t"/>
            <a:lstStyle/>
            <a:p>
              <a:pPr marL="0" indent="0">
                <a:lnSpc>
                  <a:spcPct val="115000"/>
                </a:lnSpc>
                <a:buNone/>
              </a:pPr>
              <a:r>
                <a:rPr lang="en-US" sz="1200" dirty="0">
                  <a:solidFill>
                    <a:srgbClr val="2B2B2B"/>
                  </a:solidFill>
                  <a:latin typeface="Calibri" pitchFamily="34" charset="0"/>
                  <a:ea typeface="Calibri" pitchFamily="34" charset="-122"/>
                  <a:cs typeface="Calibri" pitchFamily="34" charset="-120"/>
                </a:rPr>
                <a:t>A LogitsProcessor enforces a </a:t>
              </a:r>
              <a:r>
                <a:rPr lang="en-US" sz="1200" b="1" dirty="0">
                  <a:solidFill>
                    <a:srgbClr val="2B2B2B"/>
                  </a:solidFill>
                  <a:latin typeface="Calibri" pitchFamily="34" charset="0"/>
                  <a:ea typeface="Calibri" pitchFamily="34" charset="-122"/>
                  <a:cs typeface="Calibri" pitchFamily="34" charset="-120"/>
                </a:rPr>
                <a:t>hard constraint</a:t>
              </a:r>
              <a:r>
                <a:rPr lang="en-US" sz="1200" dirty="0">
                  <a:solidFill>
                    <a:srgbClr val="2B2B2B"/>
                  </a:solidFill>
                  <a:latin typeface="Calibri" pitchFamily="34" charset="0"/>
                  <a:ea typeface="Calibri" pitchFamily="34" charset="-122"/>
                  <a:cs typeface="Calibri" pitchFamily="34" charset="-120"/>
                </a:rPr>
                <a:t>: at each step it masks out (sets to -inf) any token not allowed by the grammar, so only valid tokens can be sampled and the final output follows the grammar completely. It does not reweight or prefer among the tokens that remain allowed — the relative ordering there still comes from the model's own logits, not from the processor.</a:t>
              </a:r>
              <a:endParaRPr lang="en-US" sz="1200" dirty="0"/>
            </a:p>
          </p:txBody>
        </p:sp>
      </p:gr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lIns="0" tIns="0" rIns="0" bIns="0" rtlCol="0" anchor="ctr"/>
          <a:lstStyle/>
          <a:p>
            <a:pPr marL="0" indent="0" algn="l">
              <a:buNone/>
            </a:pPr>
            <a:r>
              <a:rPr lang="en-US" sz="2600" b="1" dirty="0">
                <a:solidFill>
                  <a:srgbClr val="1A1F36"/>
                </a:solidFill>
                <a:latin typeface="Calibri" pitchFamily="34" charset="0"/>
                <a:ea typeface="Calibri" pitchFamily="34" charset="-122"/>
                <a:cs typeface="Calibri" pitchFamily="34" charset="-120"/>
              </a:rPr>
              <a:t>LogitsProcessor vs Structured Decoding</a:t>
            </a:r>
            <a:endParaRPr lang="en-US" sz="2600" dirty="0"/>
          </a:p>
        </p:txBody>
      </p:sp>
      <p:sp>
        <p:nvSpPr>
          <p:cNvPr id="4" name="Text 2"/>
          <p:cNvSpPr/>
          <p:nvPr/>
        </p:nvSpPr>
        <p:spPr>
          <a:xfrm>
            <a:off x="457200" y="896112"/>
            <a:ext cx="8229600" cy="274320"/>
          </a:xfrm>
          <a:prstGeom prst="rect">
            <a:avLst/>
          </a:prstGeom>
          <a:noFill/>
          <a:ln/>
        </p:spPr>
        <p:txBody>
          <a:bodyPr wrap="square" lIns="0" tIns="0" rIns="0" bIns="0" rtlCol="0" anchor="ctr"/>
          <a:lstStyle/>
          <a:p>
            <a:pPr marL="0" indent="0" algn="l">
              <a:buNone/>
            </a:pPr>
            <a:r>
              <a:rPr lang="en-US" sz="1200" i="1" dirty="0">
                <a:solidFill>
                  <a:srgbClr val="0A6E68"/>
                </a:solidFill>
                <a:latin typeface="Calibri" pitchFamily="34" charset="0"/>
                <a:ea typeface="Calibri" pitchFamily="34" charset="-122"/>
                <a:cs typeface="Calibri" pitchFamily="34" charset="-120"/>
              </a:rPr>
              <a:t>Why token-by-token masking falls short</a:t>
            </a:r>
            <a:endParaRPr lang="en-US" sz="1200" dirty="0"/>
          </a:p>
        </p:txBody>
      </p:sp>
      <p:sp>
        <p:nvSpPr>
          <p:cNvPr id="5" name="Shape 3"/>
          <p:cNvSpPr/>
          <p:nvPr/>
        </p:nvSpPr>
        <p:spPr>
          <a:xfrm>
            <a:off x="457200" y="1298448"/>
            <a:ext cx="4114800" cy="347472"/>
          </a:xfrm>
          <a:prstGeom prst="rect">
            <a:avLst/>
          </a:prstGeom>
          <a:solidFill>
            <a:srgbClr val="1A1F36"/>
          </a:solidFill>
          <a:ln w="12700">
            <a:solidFill>
              <a:srgbClr val="1A1F36"/>
            </a:solidFill>
            <a:prstDash val="solid"/>
          </a:ln>
        </p:spPr>
      </p:sp>
      <p:sp>
        <p:nvSpPr>
          <p:cNvPr id="6" name="Shape 4"/>
          <p:cNvSpPr/>
          <p:nvPr/>
        </p:nvSpPr>
        <p:spPr>
          <a:xfrm>
            <a:off x="4800600" y="1298448"/>
            <a:ext cx="4114800" cy="347472"/>
          </a:xfrm>
          <a:prstGeom prst="rect">
            <a:avLst/>
          </a:prstGeom>
          <a:solidFill>
            <a:srgbClr val="3D5A80"/>
          </a:solidFill>
          <a:ln w="12700">
            <a:solidFill>
              <a:srgbClr val="3D5A80"/>
            </a:solidFill>
            <a:prstDash val="solid"/>
          </a:ln>
        </p:spPr>
      </p:sp>
      <p:sp>
        <p:nvSpPr>
          <p:cNvPr id="7" name="Text 5"/>
          <p:cNvSpPr/>
          <p:nvPr/>
        </p:nvSpPr>
        <p:spPr>
          <a:xfrm>
            <a:off x="457200" y="1298448"/>
            <a:ext cx="411480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LogitsProcessor</a:t>
            </a:r>
            <a:endParaRPr lang="en-US" sz="1300" dirty="0"/>
          </a:p>
        </p:txBody>
      </p:sp>
      <p:sp>
        <p:nvSpPr>
          <p:cNvPr id="8" name="Text 6"/>
          <p:cNvSpPr/>
          <p:nvPr/>
        </p:nvSpPr>
        <p:spPr>
          <a:xfrm>
            <a:off x="4800600" y="1298448"/>
            <a:ext cx="411480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Structured Decoding</a:t>
            </a:r>
            <a:endParaRPr lang="en-US" sz="1300" dirty="0"/>
          </a:p>
        </p:txBody>
      </p:sp>
      <p:sp>
        <p:nvSpPr>
          <p:cNvPr id="9" name="Shape 7"/>
          <p:cNvSpPr/>
          <p:nvPr/>
        </p:nvSpPr>
        <p:spPr>
          <a:xfrm>
            <a:off x="457200" y="1719072"/>
            <a:ext cx="4114800" cy="658368"/>
          </a:xfrm>
          <a:prstGeom prst="rect">
            <a:avLst/>
          </a:prstGeom>
          <a:solidFill>
            <a:srgbClr val="F7F3EA"/>
          </a:solidFill>
          <a:ln w="12700">
            <a:solidFill>
              <a:srgbClr val="F7F3EA"/>
            </a:solidFill>
            <a:prstDash val="solid"/>
          </a:ln>
        </p:spPr>
      </p:sp>
      <p:sp>
        <p:nvSpPr>
          <p:cNvPr id="10" name="Shape 8"/>
          <p:cNvSpPr/>
          <p:nvPr/>
        </p:nvSpPr>
        <p:spPr>
          <a:xfrm>
            <a:off x="4800600" y="1719072"/>
            <a:ext cx="4114800" cy="658368"/>
          </a:xfrm>
          <a:prstGeom prst="rect">
            <a:avLst/>
          </a:prstGeom>
          <a:solidFill>
            <a:srgbClr val="CCFBF1"/>
          </a:solidFill>
          <a:ln w="12700">
            <a:solidFill>
              <a:srgbClr val="CCFBF1"/>
            </a:solidFill>
            <a:prstDash val="solid"/>
          </a:ln>
        </p:spPr>
      </p:sp>
      <p:sp>
        <p:nvSpPr>
          <p:cNvPr id="11" name="Shape 9"/>
          <p:cNvSpPr/>
          <p:nvPr/>
        </p:nvSpPr>
        <p:spPr>
          <a:xfrm>
            <a:off x="576072" y="1810512"/>
            <a:ext cx="1051560" cy="219456"/>
          </a:xfrm>
          <a:prstGeom prst="roundRect">
            <a:avLst>
              <a:gd name="adj" fmla="val 20833"/>
            </a:avLst>
          </a:prstGeom>
          <a:solidFill>
            <a:srgbClr val="1A1F36"/>
          </a:solidFill>
          <a:ln w="12700">
            <a:solidFill>
              <a:srgbClr val="1A1F36"/>
            </a:solidFill>
            <a:prstDash val="solid"/>
          </a:ln>
        </p:spPr>
      </p:sp>
      <p:sp>
        <p:nvSpPr>
          <p:cNvPr id="12" name="Text 10"/>
          <p:cNvSpPr/>
          <p:nvPr/>
        </p:nvSpPr>
        <p:spPr>
          <a:xfrm>
            <a:off x="576072" y="1810512"/>
            <a:ext cx="1051560"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Correctness</a:t>
            </a:r>
            <a:endParaRPr lang="en-US" sz="850" dirty="0"/>
          </a:p>
        </p:txBody>
      </p:sp>
      <p:sp>
        <p:nvSpPr>
          <p:cNvPr id="13" name="Text 11"/>
          <p:cNvSpPr/>
          <p:nvPr/>
        </p:nvSpPr>
        <p:spPr>
          <a:xfrm>
            <a:off x="576072" y="2066544"/>
            <a:ext cx="3877056" cy="274320"/>
          </a:xfrm>
          <a:prstGeom prst="rect">
            <a:avLst/>
          </a:prstGeom>
          <a:noFill/>
          <a:ln/>
        </p:spPr>
        <p:txBody>
          <a:bodyPr wrap="square" lIns="0" tIns="0" rIns="0" bIns="0" rtlCol="0" anchor="t"/>
          <a:lstStyle/>
          <a:p>
            <a:pPr marL="0" indent="0" algn="l">
              <a:buNone/>
            </a:pPr>
            <a:r>
              <a:rPr lang="en-US" sz="1050" dirty="0">
                <a:solidFill>
                  <a:srgbClr val="1A1F36"/>
                </a:solidFill>
                <a:latin typeface="Calibri" pitchFamily="34" charset="0"/>
                <a:ea typeface="Calibri" pitchFamily="34" charset="-122"/>
                <a:cs typeface="Calibri" pitchFamily="34" charset="-120"/>
              </a:rPr>
              <a:t>No lookahead — can paint itself into a corner mid-sequence</a:t>
            </a:r>
            <a:endParaRPr lang="en-US" sz="1050" dirty="0"/>
          </a:p>
        </p:txBody>
      </p:sp>
      <p:sp>
        <p:nvSpPr>
          <p:cNvPr id="14" name="Text 12"/>
          <p:cNvSpPr/>
          <p:nvPr/>
        </p:nvSpPr>
        <p:spPr>
          <a:xfrm>
            <a:off x="4919472" y="1810512"/>
            <a:ext cx="3877056" cy="530352"/>
          </a:xfrm>
          <a:prstGeom prst="rect">
            <a:avLst/>
          </a:prstGeom>
          <a:noFill/>
          <a:ln/>
        </p:spPr>
        <p:txBody>
          <a:bodyPr wrap="square" lIns="0" tIns="0" rIns="0" bIns="0" rtlCol="0" anchor="ctr"/>
          <a:lstStyle/>
          <a:p>
            <a:pPr marL="0" indent="0" algn="l">
              <a:buNone/>
            </a:pPr>
            <a:r>
              <a:rPr lang="en-US" sz="1050" dirty="0">
                <a:solidFill>
                  <a:srgbClr val="1A1F36"/>
                </a:solidFill>
                <a:latin typeface="Calibri" pitchFamily="34" charset="0"/>
                <a:ea typeface="Calibri" pitchFamily="34" charset="-122"/>
                <a:cs typeface="Calibri" pitchFamily="34" charset="-120"/>
              </a:rPr>
              <a:t>Grammar/parse state ensures every token keeps output on a valid path</a:t>
            </a:r>
            <a:endParaRPr lang="en-US" sz="1050" dirty="0"/>
          </a:p>
        </p:txBody>
      </p:sp>
      <p:sp>
        <p:nvSpPr>
          <p:cNvPr id="15" name="Shape 13"/>
          <p:cNvSpPr/>
          <p:nvPr/>
        </p:nvSpPr>
        <p:spPr>
          <a:xfrm>
            <a:off x="457200" y="2377440"/>
            <a:ext cx="4114800" cy="658368"/>
          </a:xfrm>
          <a:prstGeom prst="rect">
            <a:avLst/>
          </a:prstGeom>
          <a:solidFill>
            <a:srgbClr val="F7F3EA"/>
          </a:solidFill>
          <a:ln w="12700">
            <a:solidFill>
              <a:srgbClr val="F7F3EA"/>
            </a:solidFill>
            <a:prstDash val="solid"/>
          </a:ln>
        </p:spPr>
      </p:sp>
      <p:sp>
        <p:nvSpPr>
          <p:cNvPr id="16" name="Shape 14"/>
          <p:cNvSpPr/>
          <p:nvPr/>
        </p:nvSpPr>
        <p:spPr>
          <a:xfrm>
            <a:off x="4800600" y="2377440"/>
            <a:ext cx="4114800" cy="658368"/>
          </a:xfrm>
          <a:prstGeom prst="rect">
            <a:avLst/>
          </a:prstGeom>
          <a:solidFill>
            <a:srgbClr val="A7F3D0"/>
          </a:solidFill>
          <a:ln w="12700">
            <a:solidFill>
              <a:srgbClr val="A7F3D0"/>
            </a:solidFill>
            <a:prstDash val="solid"/>
          </a:ln>
        </p:spPr>
      </p:sp>
      <p:sp>
        <p:nvSpPr>
          <p:cNvPr id="17" name="Shape 15"/>
          <p:cNvSpPr/>
          <p:nvPr/>
        </p:nvSpPr>
        <p:spPr>
          <a:xfrm>
            <a:off x="576072" y="2468880"/>
            <a:ext cx="1051560" cy="219456"/>
          </a:xfrm>
          <a:prstGeom prst="roundRect">
            <a:avLst>
              <a:gd name="adj" fmla="val 20833"/>
            </a:avLst>
          </a:prstGeom>
          <a:solidFill>
            <a:srgbClr val="1A1F36"/>
          </a:solidFill>
          <a:ln w="12700">
            <a:solidFill>
              <a:srgbClr val="1A1F36"/>
            </a:solidFill>
            <a:prstDash val="solid"/>
          </a:ln>
        </p:spPr>
      </p:sp>
      <p:sp>
        <p:nvSpPr>
          <p:cNvPr id="18" name="Text 16"/>
          <p:cNvSpPr/>
          <p:nvPr/>
        </p:nvSpPr>
        <p:spPr>
          <a:xfrm>
            <a:off x="576072" y="2468880"/>
            <a:ext cx="1051560"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Abstraction</a:t>
            </a:r>
            <a:endParaRPr lang="en-US" sz="850" dirty="0"/>
          </a:p>
        </p:txBody>
      </p:sp>
      <p:sp>
        <p:nvSpPr>
          <p:cNvPr id="19" name="Text 17"/>
          <p:cNvSpPr/>
          <p:nvPr/>
        </p:nvSpPr>
        <p:spPr>
          <a:xfrm>
            <a:off x="576072" y="2724912"/>
            <a:ext cx="3877056" cy="274320"/>
          </a:xfrm>
          <a:prstGeom prst="rect">
            <a:avLst/>
          </a:prstGeom>
          <a:noFill/>
          <a:ln/>
        </p:spPr>
        <p:txBody>
          <a:bodyPr wrap="square" lIns="0" tIns="0" rIns="0" bIns="0" rtlCol="0" anchor="t"/>
          <a:lstStyle/>
          <a:p>
            <a:pPr marL="0" indent="0" algn="l">
              <a:buNone/>
            </a:pPr>
            <a:r>
              <a:rPr lang="en-US" sz="1050" dirty="0">
                <a:solidFill>
                  <a:srgbClr val="1A1F36"/>
                </a:solidFill>
                <a:latin typeface="Calibri" pitchFamily="34" charset="0"/>
                <a:ea typeface="Calibri" pitchFamily="34" charset="-122"/>
                <a:cs typeface="Calibri" pitchFamily="34" charset="-120"/>
              </a:rPr>
              <a:t>You reason in tokens: BOS collisions, multi-token digits, context sensitivity</a:t>
            </a:r>
            <a:endParaRPr lang="en-US" sz="1050" dirty="0"/>
          </a:p>
        </p:txBody>
      </p:sp>
      <p:sp>
        <p:nvSpPr>
          <p:cNvPr id="20" name="Text 18"/>
          <p:cNvSpPr/>
          <p:nvPr/>
        </p:nvSpPr>
        <p:spPr>
          <a:xfrm>
            <a:off x="4919472" y="2468880"/>
            <a:ext cx="3877056" cy="530352"/>
          </a:xfrm>
          <a:prstGeom prst="rect">
            <a:avLst/>
          </a:prstGeom>
          <a:noFill/>
          <a:ln/>
        </p:spPr>
        <p:txBody>
          <a:bodyPr wrap="square" lIns="0" tIns="0" rIns="0" bIns="0" rtlCol="0" anchor="ctr"/>
          <a:lstStyle/>
          <a:p>
            <a:pPr marL="0" indent="0" algn="l">
              <a:buNone/>
            </a:pPr>
            <a:r>
              <a:rPr lang="en-US" sz="1050" dirty="0">
                <a:solidFill>
                  <a:srgbClr val="1A1F36"/>
                </a:solidFill>
                <a:latin typeface="Calibri" pitchFamily="34" charset="0"/>
                <a:ea typeface="Calibri" pitchFamily="34" charset="-122"/>
                <a:cs typeface="Calibri" pitchFamily="34" charset="-120"/>
              </a:rPr>
              <a:t>Specify a JSON schema or regex; the library handles token-level details</a:t>
            </a:r>
            <a:endParaRPr lang="en-US" sz="1050" dirty="0"/>
          </a:p>
        </p:txBody>
      </p:sp>
      <p:sp>
        <p:nvSpPr>
          <p:cNvPr id="21" name="Shape 19"/>
          <p:cNvSpPr/>
          <p:nvPr/>
        </p:nvSpPr>
        <p:spPr>
          <a:xfrm>
            <a:off x="457200" y="3035808"/>
            <a:ext cx="4114800" cy="658368"/>
          </a:xfrm>
          <a:prstGeom prst="rect">
            <a:avLst/>
          </a:prstGeom>
          <a:solidFill>
            <a:srgbClr val="F7F3EA"/>
          </a:solidFill>
          <a:ln w="12700">
            <a:solidFill>
              <a:srgbClr val="F7F3EA"/>
            </a:solidFill>
            <a:prstDash val="solid"/>
          </a:ln>
        </p:spPr>
      </p:sp>
      <p:sp>
        <p:nvSpPr>
          <p:cNvPr id="22" name="Shape 20"/>
          <p:cNvSpPr/>
          <p:nvPr/>
        </p:nvSpPr>
        <p:spPr>
          <a:xfrm>
            <a:off x="4800600" y="3035808"/>
            <a:ext cx="4114800" cy="658368"/>
          </a:xfrm>
          <a:prstGeom prst="rect">
            <a:avLst/>
          </a:prstGeom>
          <a:solidFill>
            <a:srgbClr val="CCFBF1"/>
          </a:solidFill>
          <a:ln w="12700">
            <a:solidFill>
              <a:srgbClr val="CCFBF1"/>
            </a:solidFill>
            <a:prstDash val="solid"/>
          </a:ln>
        </p:spPr>
      </p:sp>
      <p:sp>
        <p:nvSpPr>
          <p:cNvPr id="23" name="Shape 21"/>
          <p:cNvSpPr/>
          <p:nvPr/>
        </p:nvSpPr>
        <p:spPr>
          <a:xfrm>
            <a:off x="576072" y="3127248"/>
            <a:ext cx="1051560" cy="219456"/>
          </a:xfrm>
          <a:prstGeom prst="roundRect">
            <a:avLst>
              <a:gd name="adj" fmla="val 20833"/>
            </a:avLst>
          </a:prstGeom>
          <a:solidFill>
            <a:srgbClr val="1A1F36"/>
          </a:solidFill>
          <a:ln w="12700">
            <a:solidFill>
              <a:srgbClr val="1A1F36"/>
            </a:solidFill>
            <a:prstDash val="solid"/>
          </a:ln>
        </p:spPr>
      </p:sp>
      <p:sp>
        <p:nvSpPr>
          <p:cNvPr id="24" name="Text 22"/>
          <p:cNvSpPr/>
          <p:nvPr/>
        </p:nvSpPr>
        <p:spPr>
          <a:xfrm>
            <a:off x="576072" y="3127248"/>
            <a:ext cx="1051560"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State awareness</a:t>
            </a:r>
            <a:endParaRPr lang="en-US" sz="850" dirty="0"/>
          </a:p>
        </p:txBody>
      </p:sp>
      <p:sp>
        <p:nvSpPr>
          <p:cNvPr id="25" name="Text 23"/>
          <p:cNvSpPr/>
          <p:nvPr/>
        </p:nvSpPr>
        <p:spPr>
          <a:xfrm>
            <a:off x="576072" y="3383280"/>
            <a:ext cx="3877056" cy="274320"/>
          </a:xfrm>
          <a:prstGeom prst="rect">
            <a:avLst/>
          </a:prstGeom>
          <a:noFill/>
          <a:ln/>
        </p:spPr>
        <p:txBody>
          <a:bodyPr wrap="square" lIns="0" tIns="0" rIns="0" bIns="0" rtlCol="0" anchor="t"/>
          <a:lstStyle/>
          <a:p>
            <a:pPr marL="0" indent="0" algn="l">
              <a:buNone/>
            </a:pPr>
            <a:r>
              <a:rPr lang="en-US" sz="1050" dirty="0">
                <a:solidFill>
                  <a:srgbClr val="1A1F36"/>
                </a:solidFill>
                <a:latin typeface="Calibri" pitchFamily="34" charset="0"/>
                <a:ea typeface="Calibri" pitchFamily="34" charset="-122"/>
                <a:cs typeface="Calibri" pitchFamily="34" charset="-120"/>
              </a:rPr>
              <a:t>Same mask regardless of what has been generated so far</a:t>
            </a:r>
            <a:endParaRPr lang="en-US" sz="1050" dirty="0"/>
          </a:p>
        </p:txBody>
      </p:sp>
      <p:sp>
        <p:nvSpPr>
          <p:cNvPr id="26" name="Text 24"/>
          <p:cNvSpPr/>
          <p:nvPr/>
        </p:nvSpPr>
        <p:spPr>
          <a:xfrm>
            <a:off x="4919472" y="3127248"/>
            <a:ext cx="3877056" cy="530352"/>
          </a:xfrm>
          <a:prstGeom prst="rect">
            <a:avLst/>
          </a:prstGeom>
          <a:noFill/>
          <a:ln/>
        </p:spPr>
        <p:txBody>
          <a:bodyPr wrap="square" lIns="0" tIns="0" rIns="0" bIns="0" rtlCol="0" anchor="ctr"/>
          <a:lstStyle/>
          <a:p>
            <a:pPr marL="0" indent="0" algn="l">
              <a:buNone/>
            </a:pPr>
            <a:r>
              <a:rPr lang="en-US" sz="1050" dirty="0">
                <a:solidFill>
                  <a:srgbClr val="1A1F36"/>
                </a:solidFill>
                <a:latin typeface="Calibri" pitchFamily="34" charset="0"/>
                <a:ea typeface="Calibri" pitchFamily="34" charset="-122"/>
                <a:cs typeface="Calibri" pitchFamily="34" charset="-120"/>
              </a:rPr>
              <a:t>Live DFA tracks parse state — allowed tokens change as output grows</a:t>
            </a:r>
            <a:endParaRPr lang="en-US" sz="1050" dirty="0"/>
          </a:p>
        </p:txBody>
      </p:sp>
      <p:sp>
        <p:nvSpPr>
          <p:cNvPr id="27" name="Shape 25"/>
          <p:cNvSpPr/>
          <p:nvPr/>
        </p:nvSpPr>
        <p:spPr>
          <a:xfrm>
            <a:off x="457200" y="3694176"/>
            <a:ext cx="4114800" cy="658368"/>
          </a:xfrm>
          <a:prstGeom prst="rect">
            <a:avLst/>
          </a:prstGeom>
          <a:solidFill>
            <a:srgbClr val="F7F3EA"/>
          </a:solidFill>
          <a:ln w="12700">
            <a:solidFill>
              <a:srgbClr val="F7F3EA"/>
            </a:solidFill>
            <a:prstDash val="solid"/>
          </a:ln>
        </p:spPr>
      </p:sp>
      <p:sp>
        <p:nvSpPr>
          <p:cNvPr id="28" name="Shape 26"/>
          <p:cNvSpPr/>
          <p:nvPr/>
        </p:nvSpPr>
        <p:spPr>
          <a:xfrm>
            <a:off x="4800600" y="3694176"/>
            <a:ext cx="4114800" cy="658368"/>
          </a:xfrm>
          <a:prstGeom prst="rect">
            <a:avLst/>
          </a:prstGeom>
          <a:solidFill>
            <a:srgbClr val="A7F3D0"/>
          </a:solidFill>
          <a:ln w="12700">
            <a:solidFill>
              <a:srgbClr val="A7F3D0"/>
            </a:solidFill>
            <a:prstDash val="solid"/>
          </a:ln>
        </p:spPr>
      </p:sp>
      <p:sp>
        <p:nvSpPr>
          <p:cNvPr id="29" name="Shape 27"/>
          <p:cNvSpPr/>
          <p:nvPr/>
        </p:nvSpPr>
        <p:spPr>
          <a:xfrm>
            <a:off x="576072" y="3785616"/>
            <a:ext cx="1051560" cy="219456"/>
          </a:xfrm>
          <a:prstGeom prst="roundRect">
            <a:avLst>
              <a:gd name="adj" fmla="val 20833"/>
            </a:avLst>
          </a:prstGeom>
          <a:solidFill>
            <a:srgbClr val="1A1F36"/>
          </a:solidFill>
          <a:ln w="12700">
            <a:solidFill>
              <a:srgbClr val="1A1F36"/>
            </a:solidFill>
            <a:prstDash val="solid"/>
          </a:ln>
        </p:spPr>
      </p:sp>
      <p:sp>
        <p:nvSpPr>
          <p:cNvPr id="30" name="Text 28"/>
          <p:cNvSpPr/>
          <p:nvPr/>
        </p:nvSpPr>
        <p:spPr>
          <a:xfrm>
            <a:off x="576072" y="3785616"/>
            <a:ext cx="1051560"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Prohibition</a:t>
            </a:r>
            <a:endParaRPr lang="en-US" sz="850" dirty="0"/>
          </a:p>
        </p:txBody>
      </p:sp>
      <p:sp>
        <p:nvSpPr>
          <p:cNvPr id="31" name="Text 29"/>
          <p:cNvSpPr/>
          <p:nvPr/>
        </p:nvSpPr>
        <p:spPr>
          <a:xfrm>
            <a:off x="576072" y="4041648"/>
            <a:ext cx="3877056" cy="274320"/>
          </a:xfrm>
          <a:prstGeom prst="rect">
            <a:avLst/>
          </a:prstGeom>
          <a:noFill/>
          <a:ln/>
        </p:spPr>
        <p:txBody>
          <a:bodyPr wrap="square" lIns="0" tIns="0" rIns="0" bIns="0" rtlCol="0" anchor="t"/>
          <a:lstStyle/>
          <a:p>
            <a:pPr marL="0" indent="0" algn="l">
              <a:buNone/>
            </a:pPr>
            <a:r>
              <a:rPr lang="en-US" sz="1050" dirty="0">
                <a:solidFill>
                  <a:srgbClr val="1A1F36"/>
                </a:solidFill>
                <a:latin typeface="Calibri" pitchFamily="34" charset="0"/>
                <a:ea typeface="Calibri" pitchFamily="34" charset="-122"/>
                <a:cs typeface="Calibri" pitchFamily="34" charset="-120"/>
              </a:rPr>
              <a:t>Soft penalty (–10) can be overcome by strong logits; –inf risks NaN</a:t>
            </a:r>
            <a:endParaRPr lang="en-US" sz="1050" dirty="0"/>
          </a:p>
        </p:txBody>
      </p:sp>
      <p:sp>
        <p:nvSpPr>
          <p:cNvPr id="32" name="Text 30"/>
          <p:cNvSpPr/>
          <p:nvPr/>
        </p:nvSpPr>
        <p:spPr>
          <a:xfrm>
            <a:off x="4919472" y="3785616"/>
            <a:ext cx="3877056" cy="530352"/>
          </a:xfrm>
          <a:prstGeom prst="rect">
            <a:avLst/>
          </a:prstGeom>
          <a:noFill/>
          <a:ln/>
        </p:spPr>
        <p:txBody>
          <a:bodyPr wrap="square" lIns="0" tIns="0" rIns="0" bIns="0" rtlCol="0" anchor="ctr"/>
          <a:lstStyle/>
          <a:p>
            <a:pPr marL="0" indent="0" algn="l">
              <a:buNone/>
            </a:pPr>
            <a:r>
              <a:rPr lang="en-US" sz="1050" dirty="0">
                <a:solidFill>
                  <a:srgbClr val="1A1F36"/>
                </a:solidFill>
                <a:latin typeface="Calibri" pitchFamily="34" charset="0"/>
                <a:ea typeface="Calibri" pitchFamily="34" charset="-122"/>
                <a:cs typeface="Calibri" pitchFamily="34" charset="-120"/>
              </a:rPr>
              <a:t>Precomputed token masks per grammar state — forbidden tokens truly impossible</a:t>
            </a:r>
            <a:endParaRPr lang="en-US" sz="1050" dirty="0"/>
          </a:p>
        </p:txBody>
      </p:sp>
      <p:sp>
        <p:nvSpPr>
          <p:cNvPr id="33" name="Shape 31"/>
          <p:cNvSpPr/>
          <p:nvPr/>
        </p:nvSpPr>
        <p:spPr>
          <a:xfrm>
            <a:off x="457200" y="4462272"/>
            <a:ext cx="8229600" cy="438912"/>
          </a:xfrm>
          <a:prstGeom prst="rect">
            <a:avLst/>
          </a:prstGeom>
          <a:solidFill>
            <a:srgbClr val="F7F3EA"/>
          </a:solidFill>
          <a:ln w="12700">
            <a:solidFill>
              <a:srgbClr val="3D5A80"/>
            </a:solidFill>
            <a:prstDash val="solid"/>
          </a:ln>
        </p:spPr>
      </p:sp>
      <p:sp>
        <p:nvSpPr>
          <p:cNvPr id="34" name="Text 32"/>
          <p:cNvSpPr/>
          <p:nvPr/>
        </p:nvSpPr>
        <p:spPr>
          <a:xfrm>
            <a:off x="640080" y="4462272"/>
            <a:ext cx="7863840" cy="438912"/>
          </a:xfrm>
          <a:prstGeom prst="rect">
            <a:avLst/>
          </a:prstGeom>
          <a:noFill/>
          <a:ln/>
        </p:spPr>
        <p:txBody>
          <a:bodyPr wrap="square" lIns="0" tIns="0" rIns="0" bIns="0" rtlCol="0" anchor="ctr"/>
          <a:lstStyle/>
          <a:p>
            <a:pPr marL="0" indent="0" algn="l">
              <a:buNone/>
            </a:pPr>
            <a:r>
              <a:rPr lang="en-US" sz="1100" dirty="0">
                <a:solidFill>
                  <a:srgbClr val="475569"/>
                </a:solidFill>
                <a:latin typeface="Calibri" pitchFamily="34" charset="0"/>
                <a:ea typeface="Calibri" pitchFamily="34" charset="-122"/>
                <a:cs typeface="Calibri" pitchFamily="34" charset="-120"/>
              </a:rPr>
              <a:t>Use LogitsProcessor for </a:t>
            </a:r>
            <a:r>
              <a:rPr lang="en-US" sz="1100" b="1" dirty="0">
                <a:solidFill>
                  <a:srgbClr val="0A6E68"/>
                </a:solidFill>
                <a:latin typeface="Calibri" pitchFamily="34" charset="0"/>
                <a:ea typeface="Calibri" pitchFamily="34" charset="-122"/>
                <a:cs typeface="Calibri" pitchFamily="34" charset="-120"/>
              </a:rPr>
              <a:t>simple flat constraints</a:t>
            </a:r>
            <a:r>
              <a:rPr lang="en-US" sz="1100" dirty="0">
                <a:solidFill>
                  <a:srgbClr val="475569"/>
                </a:solidFill>
                <a:latin typeface="Calibri" pitchFamily="34" charset="0"/>
                <a:ea typeface="Calibri" pitchFamily="34" charset="-122"/>
                <a:cs typeface="Calibri" pitchFamily="34" charset="-120"/>
              </a:rPr>
              <a:t> (digits-only, yes/no). Use structured decoding when </a:t>
            </a:r>
            <a:r>
              <a:rPr lang="en-US" sz="1100" b="1" dirty="0">
                <a:solidFill>
                  <a:srgbClr val="0A6E68"/>
                </a:solidFill>
                <a:latin typeface="Calibri" pitchFamily="34" charset="0"/>
                <a:ea typeface="Calibri" pitchFamily="34" charset="-122"/>
                <a:cs typeface="Calibri" pitchFamily="34" charset="-120"/>
              </a:rPr>
              <a:t>grammar correctness matters</a:t>
            </a:r>
            <a:r>
              <a:rPr lang="en-US" sz="1100" dirty="0">
                <a:solidFill>
                  <a:srgbClr val="475569"/>
                </a:solidFill>
                <a:latin typeface="Calibri" pitchFamily="34" charset="0"/>
                <a:ea typeface="Calibri" pitchFamily="34" charset="-122"/>
                <a:cs typeface="Calibri" pitchFamily="34" charset="-120"/>
              </a:rPr>
              <a:t> (JSON, nested schemas, regex).</a:t>
            </a:r>
            <a:endParaRPr lang="en-US" sz="1100" dirty="0"/>
          </a:p>
        </p:txBody>
      </p:sp>
      <p:pic>
        <p:nvPicPr>
          <p:cNvPr id="35" name="Google Shape;328;p29">
            <a:extLst>
              <a:ext uri="{FF2B5EF4-FFF2-40B4-BE49-F238E27FC236}">
                <a16:creationId xmlns:a16="http://schemas.microsoft.com/office/drawing/2014/main" id="{AC10DCB5-AB80-4184-35B1-6FB8B48DBB75}"/>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417846774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5760" y="164592"/>
            <a:ext cx="8412480" cy="502920"/>
          </a:xfrm>
          <a:prstGeom prst="rect">
            <a:avLst/>
          </a:prstGeom>
          <a:noFill/>
          <a:ln/>
        </p:spPr>
        <p:txBody>
          <a:bodyPr wrap="square" lIns="0" tIns="0" rIns="0" bIns="0" rtlCol="0" anchor="ctr"/>
          <a:lstStyle/>
          <a:p>
            <a:pPr marL="0" indent="0" algn="l">
              <a:buNone/>
            </a:pPr>
            <a:r>
              <a:rPr lang="en-US" sz="2200" b="1" dirty="0">
                <a:solidFill>
                  <a:srgbClr val="1A1F36"/>
                </a:solidFill>
                <a:latin typeface="Calibri" pitchFamily="34" charset="0"/>
                <a:ea typeface="Calibri" pitchFamily="34" charset="-122"/>
                <a:cs typeface="Calibri" pitchFamily="34" charset="-120"/>
              </a:rPr>
              <a:t>How OpenAI Structured Decoding Ensures Valid JSON Output</a:t>
            </a:r>
            <a:endParaRPr lang="en-US" sz="2200" dirty="0"/>
          </a:p>
        </p:txBody>
      </p:sp>
      <p:sp>
        <p:nvSpPr>
          <p:cNvPr id="4" name="Shape 2"/>
          <p:cNvSpPr/>
          <p:nvPr/>
        </p:nvSpPr>
        <p:spPr>
          <a:xfrm>
            <a:off x="365760" y="768096"/>
            <a:ext cx="8412480" cy="402336"/>
          </a:xfrm>
          <a:prstGeom prst="rect">
            <a:avLst/>
          </a:prstGeom>
          <a:solidFill>
            <a:srgbClr val="CCFBF1"/>
          </a:solidFill>
          <a:ln w="12700">
            <a:solidFill>
              <a:srgbClr val="3D5A80"/>
            </a:solidFill>
            <a:prstDash val="solid"/>
          </a:ln>
        </p:spPr>
      </p:sp>
      <p:sp>
        <p:nvSpPr>
          <p:cNvPr id="5" name="Text 3"/>
          <p:cNvSpPr/>
          <p:nvPr/>
        </p:nvSpPr>
        <p:spPr>
          <a:xfrm>
            <a:off x="502920" y="768096"/>
            <a:ext cx="8229600" cy="402336"/>
          </a:xfrm>
          <a:prstGeom prst="rect">
            <a:avLst/>
          </a:prstGeom>
          <a:noFill/>
          <a:ln/>
        </p:spPr>
        <p:txBody>
          <a:bodyPr wrap="square" lIns="0" tIns="0" rIns="0" bIns="0" rtlCol="0" anchor="ctr"/>
          <a:lstStyle/>
          <a:p>
            <a:pPr marL="0" indent="0">
              <a:buNone/>
            </a:pPr>
            <a:r>
              <a:rPr lang="en-US" sz="1000" b="1" dirty="0">
                <a:solidFill>
                  <a:srgbClr val="0A6E68"/>
                </a:solidFill>
                <a:latin typeface="Calibri" pitchFamily="34" charset="0"/>
                <a:ea typeface="Calibri" pitchFamily="34" charset="-122"/>
                <a:cs typeface="Calibri" pitchFamily="34" charset="-120"/>
              </a:rPr>
              <a:t>Core Idea  </a:t>
            </a:r>
            <a:r>
              <a:rPr lang="en-US" sz="1000" dirty="0">
                <a:solidFill>
                  <a:srgbClr val="1A1F36"/>
                </a:solidFill>
                <a:latin typeface="Calibri" pitchFamily="34" charset="0"/>
                <a:ea typeface="Calibri" pitchFamily="34" charset="-122"/>
                <a:cs typeface="Calibri" pitchFamily="34" charset="-120"/>
              </a:rPr>
              <a:t>Structured decoding constrains token generation so that every step remains consistent with a predefined JSON schema.</a:t>
            </a:r>
            <a:endParaRPr lang="en-US" sz="1000" dirty="0"/>
          </a:p>
        </p:txBody>
      </p:sp>
      <p:sp>
        <p:nvSpPr>
          <p:cNvPr id="6" name="Shape 4"/>
          <p:cNvSpPr/>
          <p:nvPr/>
        </p:nvSpPr>
        <p:spPr>
          <a:xfrm>
            <a:off x="365760" y="1234440"/>
            <a:ext cx="2715768" cy="1024128"/>
          </a:xfrm>
          <a:prstGeom prst="rect">
            <a:avLst/>
          </a:prstGeom>
          <a:solidFill>
            <a:srgbClr val="F7F3EA"/>
          </a:solidFill>
          <a:ln w="12700">
            <a:solidFill>
              <a:srgbClr val="F7F3EA"/>
            </a:solidFill>
            <a:prstDash val="solid"/>
          </a:ln>
        </p:spPr>
      </p:sp>
      <p:sp>
        <p:nvSpPr>
          <p:cNvPr id="7" name="Shape 5"/>
          <p:cNvSpPr/>
          <p:nvPr/>
        </p:nvSpPr>
        <p:spPr>
          <a:xfrm>
            <a:off x="457200" y="1325880"/>
            <a:ext cx="237744" cy="237744"/>
          </a:xfrm>
          <a:prstGeom prst="ellipse">
            <a:avLst/>
          </a:prstGeom>
          <a:solidFill>
            <a:srgbClr val="1A1F36"/>
          </a:solidFill>
          <a:ln w="12700">
            <a:solidFill>
              <a:srgbClr val="1A1F36"/>
            </a:solidFill>
            <a:prstDash val="solid"/>
          </a:ln>
        </p:spPr>
      </p:sp>
      <p:sp>
        <p:nvSpPr>
          <p:cNvPr id="8" name="Text 6"/>
          <p:cNvSpPr/>
          <p:nvPr/>
        </p:nvSpPr>
        <p:spPr>
          <a:xfrm>
            <a:off x="457200" y="1325880"/>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9" name="Text 7"/>
          <p:cNvSpPr/>
          <p:nvPr/>
        </p:nvSpPr>
        <p:spPr>
          <a:xfrm>
            <a:off x="749808" y="1325880"/>
            <a:ext cx="2240280" cy="256032"/>
          </a:xfrm>
          <a:prstGeom prst="rect">
            <a:avLst/>
          </a:prstGeom>
          <a:noFill/>
          <a:ln/>
        </p:spPr>
        <p:txBody>
          <a:bodyPr wrap="square" lIns="0" tIns="0" rIns="0" bIns="0" rtlCol="0" anchor="ctr"/>
          <a:lstStyle/>
          <a:p>
            <a:pPr marL="0" indent="0" algn="l">
              <a:buNone/>
            </a:pPr>
            <a:r>
              <a:rPr lang="en-US" sz="950" b="1" dirty="0">
                <a:solidFill>
                  <a:srgbClr val="1A1F36"/>
                </a:solidFill>
                <a:latin typeface="Calibri" pitchFamily="34" charset="0"/>
                <a:ea typeface="Calibri" pitchFamily="34" charset="-122"/>
                <a:cs typeface="Calibri" pitchFamily="34" charset="-120"/>
              </a:rPr>
              <a:t>Schema-Constrained Token Selection</a:t>
            </a:r>
            <a:endParaRPr lang="en-US" sz="950" dirty="0"/>
          </a:p>
        </p:txBody>
      </p:sp>
      <p:sp>
        <p:nvSpPr>
          <p:cNvPr id="10" name="Text 8"/>
          <p:cNvSpPr/>
          <p:nvPr/>
        </p:nvSpPr>
        <p:spPr>
          <a:xfrm>
            <a:off x="457200" y="1618488"/>
            <a:ext cx="2532888" cy="603504"/>
          </a:xfrm>
          <a:prstGeom prst="rect">
            <a:avLst/>
          </a:prstGeom>
          <a:noFill/>
          <a:ln/>
        </p:spPr>
        <p:txBody>
          <a:bodyPr wrap="square" lIns="0" tIns="0" rIns="0" bIns="0" rtlCol="0" anchor="t"/>
          <a:lstStyle/>
          <a:p>
            <a:pPr marL="342900" indent="-342900" algn="l">
              <a:buSzPct val="100000"/>
              <a:buChar char="•"/>
            </a:pPr>
            <a:r>
              <a:rPr lang="en-US" sz="850" dirty="0">
                <a:solidFill>
                  <a:srgbClr val="1A1F36"/>
                </a:solidFill>
                <a:latin typeface="Calibri" pitchFamily="34" charset="0"/>
                <a:ea typeface="Calibri" pitchFamily="34" charset="-122"/>
                <a:cs typeface="Calibri" pitchFamily="34" charset="-120"/>
              </a:rPr>
              <a:t>Only tokens keeping output valid under the schema are allowed at each step.</a:t>
            </a:r>
            <a:endParaRPr lang="en-US" sz="850" dirty="0"/>
          </a:p>
          <a:p>
            <a:pPr marL="342900" indent="-342900" algn="l">
              <a:buSzPct val="100000"/>
              <a:buChar char="•"/>
            </a:pPr>
            <a:r>
              <a:rPr lang="en-US" sz="850" dirty="0">
                <a:solidFill>
                  <a:srgbClr val="1A1F36"/>
                </a:solidFill>
                <a:latin typeface="Calibri" pitchFamily="34" charset="0"/>
                <a:ea typeface="Calibri" pitchFamily="34" charset="-122"/>
                <a:cs typeface="Calibri" pitchFamily="34" charset="-120"/>
              </a:rPr>
              <a:t>Invalid continuations (missing quotes, wrong brackets) are pruned before sampling.</a:t>
            </a:r>
            <a:endParaRPr lang="en-US" sz="850" dirty="0"/>
          </a:p>
        </p:txBody>
      </p:sp>
      <p:sp>
        <p:nvSpPr>
          <p:cNvPr id="11" name="Shape 9"/>
          <p:cNvSpPr/>
          <p:nvPr/>
        </p:nvSpPr>
        <p:spPr>
          <a:xfrm>
            <a:off x="3154680" y="1234440"/>
            <a:ext cx="2715768" cy="1024128"/>
          </a:xfrm>
          <a:prstGeom prst="rect">
            <a:avLst/>
          </a:prstGeom>
          <a:solidFill>
            <a:srgbClr val="F7F3EA"/>
          </a:solidFill>
          <a:ln w="12700">
            <a:solidFill>
              <a:srgbClr val="F7F3EA"/>
            </a:solidFill>
            <a:prstDash val="solid"/>
          </a:ln>
        </p:spPr>
      </p:sp>
      <p:sp>
        <p:nvSpPr>
          <p:cNvPr id="12" name="Shape 10"/>
          <p:cNvSpPr/>
          <p:nvPr/>
        </p:nvSpPr>
        <p:spPr>
          <a:xfrm>
            <a:off x="3246120" y="1325880"/>
            <a:ext cx="237744" cy="237744"/>
          </a:xfrm>
          <a:prstGeom prst="ellipse">
            <a:avLst/>
          </a:prstGeom>
          <a:solidFill>
            <a:srgbClr val="1A1F36"/>
          </a:solidFill>
          <a:ln w="12700">
            <a:solidFill>
              <a:srgbClr val="1A1F36"/>
            </a:solidFill>
            <a:prstDash val="solid"/>
          </a:ln>
        </p:spPr>
      </p:sp>
      <p:sp>
        <p:nvSpPr>
          <p:cNvPr id="13" name="Text 11"/>
          <p:cNvSpPr/>
          <p:nvPr/>
        </p:nvSpPr>
        <p:spPr>
          <a:xfrm>
            <a:off x="3246120" y="1325880"/>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Text 12"/>
          <p:cNvSpPr/>
          <p:nvPr/>
        </p:nvSpPr>
        <p:spPr>
          <a:xfrm>
            <a:off x="3538728" y="1325880"/>
            <a:ext cx="2240280" cy="256032"/>
          </a:xfrm>
          <a:prstGeom prst="rect">
            <a:avLst/>
          </a:prstGeom>
          <a:noFill/>
          <a:ln/>
        </p:spPr>
        <p:txBody>
          <a:bodyPr wrap="square" lIns="0" tIns="0" rIns="0" bIns="0" rtlCol="0" anchor="ctr"/>
          <a:lstStyle/>
          <a:p>
            <a:pPr marL="0" indent="0" algn="l">
              <a:buNone/>
            </a:pPr>
            <a:r>
              <a:rPr lang="en-US" sz="950" b="1" dirty="0">
                <a:solidFill>
                  <a:srgbClr val="1A1F36"/>
                </a:solidFill>
                <a:latin typeface="Calibri" pitchFamily="34" charset="0"/>
                <a:ea typeface="Calibri" pitchFamily="34" charset="-122"/>
                <a:cs typeface="Calibri" pitchFamily="34" charset="-120"/>
              </a:rPr>
              <a:t>Incremental Parsing (Prefix Validity)</a:t>
            </a:r>
            <a:endParaRPr lang="en-US" sz="950" dirty="0"/>
          </a:p>
        </p:txBody>
      </p:sp>
      <p:sp>
        <p:nvSpPr>
          <p:cNvPr id="15" name="Text 13"/>
          <p:cNvSpPr/>
          <p:nvPr/>
        </p:nvSpPr>
        <p:spPr>
          <a:xfrm>
            <a:off x="3246120" y="1618488"/>
            <a:ext cx="2532888" cy="603504"/>
          </a:xfrm>
          <a:prstGeom prst="rect">
            <a:avLst/>
          </a:prstGeom>
          <a:noFill/>
          <a:ln/>
        </p:spPr>
        <p:txBody>
          <a:bodyPr wrap="square" lIns="0" tIns="0" rIns="0" bIns="0" rtlCol="0" anchor="t"/>
          <a:lstStyle/>
          <a:p>
            <a:pPr marL="342900" indent="-342900" algn="l">
              <a:buSzPct val="100000"/>
              <a:buChar char="•"/>
            </a:pPr>
            <a:r>
              <a:rPr lang="en-US" sz="850" dirty="0">
                <a:solidFill>
                  <a:srgbClr val="1A1F36"/>
                </a:solidFill>
                <a:latin typeface="Calibri" pitchFamily="34" charset="0"/>
                <a:ea typeface="Calibri" pitchFamily="34" charset="-122"/>
                <a:cs typeface="Calibri" pitchFamily="34" charset="-120"/>
              </a:rPr>
              <a:t>Partially generated output is continuously checked against JSON grammar + schema.</a:t>
            </a:r>
            <a:endParaRPr lang="en-US" sz="850" dirty="0"/>
          </a:p>
          <a:p>
            <a:pPr marL="342900" indent="-342900" algn="l">
              <a:buSzPct val="100000"/>
              <a:buChar char="•"/>
            </a:pPr>
            <a:r>
              <a:rPr lang="en-US" sz="850" dirty="0">
                <a:solidFill>
                  <a:srgbClr val="1A1F36"/>
                </a:solidFill>
                <a:latin typeface="Calibri" pitchFamily="34" charset="0"/>
                <a:ea typeface="Calibri" pitchFamily="34" charset="-122"/>
                <a:cs typeface="Calibri" pitchFamily="34" charset="-120"/>
              </a:rPr>
              <a:t>Ensures proper nesting of {}, [], correct key-value structure, and type consistency.</a:t>
            </a:r>
            <a:endParaRPr lang="en-US" sz="850" dirty="0"/>
          </a:p>
        </p:txBody>
      </p:sp>
      <p:sp>
        <p:nvSpPr>
          <p:cNvPr id="16" name="Shape 14"/>
          <p:cNvSpPr/>
          <p:nvPr/>
        </p:nvSpPr>
        <p:spPr>
          <a:xfrm>
            <a:off x="5943600" y="1234440"/>
            <a:ext cx="2715768" cy="1024128"/>
          </a:xfrm>
          <a:prstGeom prst="rect">
            <a:avLst/>
          </a:prstGeom>
          <a:solidFill>
            <a:srgbClr val="CCFBF1"/>
          </a:solidFill>
          <a:ln w="12700">
            <a:solidFill>
              <a:srgbClr val="F7F3EA"/>
            </a:solidFill>
            <a:prstDash val="solid"/>
          </a:ln>
        </p:spPr>
      </p:sp>
      <p:sp>
        <p:nvSpPr>
          <p:cNvPr id="17" name="Shape 15"/>
          <p:cNvSpPr/>
          <p:nvPr/>
        </p:nvSpPr>
        <p:spPr>
          <a:xfrm>
            <a:off x="6035040" y="1325880"/>
            <a:ext cx="237744" cy="237744"/>
          </a:xfrm>
          <a:prstGeom prst="ellipse">
            <a:avLst/>
          </a:prstGeom>
          <a:solidFill>
            <a:srgbClr val="0A6E68"/>
          </a:solidFill>
          <a:ln w="12700">
            <a:solidFill>
              <a:srgbClr val="0A6E68"/>
            </a:solidFill>
            <a:prstDash val="solid"/>
          </a:ln>
        </p:spPr>
      </p:sp>
      <p:sp>
        <p:nvSpPr>
          <p:cNvPr id="18" name="Text 16"/>
          <p:cNvSpPr/>
          <p:nvPr/>
        </p:nvSpPr>
        <p:spPr>
          <a:xfrm>
            <a:off x="6035040" y="1325880"/>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9" name="Text 17"/>
          <p:cNvSpPr/>
          <p:nvPr/>
        </p:nvSpPr>
        <p:spPr>
          <a:xfrm>
            <a:off x="6327648" y="1325880"/>
            <a:ext cx="2240280" cy="256032"/>
          </a:xfrm>
          <a:prstGeom prst="rect">
            <a:avLst/>
          </a:prstGeom>
          <a:noFill/>
          <a:ln/>
        </p:spPr>
        <p:txBody>
          <a:bodyPr wrap="square" lIns="0" tIns="0" rIns="0" bIns="0" rtlCol="0" anchor="ctr"/>
          <a:lstStyle/>
          <a:p>
            <a:pPr marL="0" indent="0" algn="l">
              <a:buNone/>
            </a:pPr>
            <a:r>
              <a:rPr lang="en-US" sz="950" b="1" dirty="0">
                <a:solidFill>
                  <a:srgbClr val="0A6E68"/>
                </a:solidFill>
                <a:latin typeface="Calibri" pitchFamily="34" charset="0"/>
                <a:ea typeface="Calibri" pitchFamily="34" charset="-122"/>
                <a:cs typeface="Calibri" pitchFamily="34" charset="-120"/>
              </a:rPr>
              <a:t>Finite-State / Automaton Guidance</a:t>
            </a:r>
            <a:endParaRPr lang="en-US" sz="950" dirty="0"/>
          </a:p>
        </p:txBody>
      </p:sp>
      <p:sp>
        <p:nvSpPr>
          <p:cNvPr id="20" name="Text 18"/>
          <p:cNvSpPr/>
          <p:nvPr/>
        </p:nvSpPr>
        <p:spPr>
          <a:xfrm>
            <a:off x="6035040" y="1618488"/>
            <a:ext cx="2532888" cy="603504"/>
          </a:xfrm>
          <a:prstGeom prst="rect">
            <a:avLst/>
          </a:prstGeom>
          <a:noFill/>
          <a:ln/>
        </p:spPr>
        <p:txBody>
          <a:bodyPr wrap="square" lIns="0" tIns="0" rIns="0" bIns="0" rtlCol="0" anchor="t"/>
          <a:lstStyle/>
          <a:p>
            <a:pPr marL="342900" indent="-342900" algn="l">
              <a:buSzPct val="100000"/>
              <a:buChar char="•"/>
            </a:pPr>
            <a:r>
              <a:rPr lang="en-US" sz="850" dirty="0">
                <a:solidFill>
                  <a:srgbClr val="1A1F36"/>
                </a:solidFill>
                <a:latin typeface="Calibri" pitchFamily="34" charset="0"/>
                <a:ea typeface="Calibri" pitchFamily="34" charset="-122"/>
                <a:cs typeface="Calibri" pitchFamily="34" charset="-120"/>
              </a:rPr>
              <a:t>Schema compiled into a state machine; decoding follows valid transitions only.</a:t>
            </a:r>
            <a:endParaRPr lang="en-US" sz="850" dirty="0"/>
          </a:p>
          <a:p>
            <a:pPr marL="342900" indent="-342900" algn="l">
              <a:buSzPct val="100000"/>
              <a:buChar char="•"/>
            </a:pPr>
            <a:r>
              <a:rPr lang="en-US" sz="850" dirty="0">
                <a:solidFill>
                  <a:srgbClr val="1A1F36"/>
                </a:solidFill>
                <a:latin typeface="Calibri" pitchFamily="34" charset="0"/>
                <a:ea typeface="Calibri" pitchFamily="34" charset="-122"/>
                <a:cs typeface="Calibri" pitchFamily="34" charset="-120"/>
              </a:rPr>
              <a:t>e.g., after "key": → must produce a valid value; after value → must produce , or }</a:t>
            </a:r>
            <a:endParaRPr lang="en-US" sz="850" dirty="0"/>
          </a:p>
        </p:txBody>
      </p:sp>
      <p:sp>
        <p:nvSpPr>
          <p:cNvPr id="21" name="Shape 19"/>
          <p:cNvSpPr/>
          <p:nvPr/>
        </p:nvSpPr>
        <p:spPr>
          <a:xfrm>
            <a:off x="365760" y="2322576"/>
            <a:ext cx="2715768" cy="1024128"/>
          </a:xfrm>
          <a:prstGeom prst="rect">
            <a:avLst/>
          </a:prstGeom>
          <a:solidFill>
            <a:srgbClr val="A7F3D0"/>
          </a:solidFill>
          <a:ln w="12700">
            <a:solidFill>
              <a:srgbClr val="F7F3EA"/>
            </a:solidFill>
            <a:prstDash val="solid"/>
          </a:ln>
        </p:spPr>
      </p:sp>
      <p:sp>
        <p:nvSpPr>
          <p:cNvPr id="22" name="Shape 20"/>
          <p:cNvSpPr/>
          <p:nvPr/>
        </p:nvSpPr>
        <p:spPr>
          <a:xfrm>
            <a:off x="457200" y="2414016"/>
            <a:ext cx="237744" cy="237744"/>
          </a:xfrm>
          <a:prstGeom prst="ellipse">
            <a:avLst/>
          </a:prstGeom>
          <a:solidFill>
            <a:srgbClr val="0A6E68"/>
          </a:solidFill>
          <a:ln w="12700">
            <a:solidFill>
              <a:srgbClr val="0A6E68"/>
            </a:solidFill>
            <a:prstDash val="solid"/>
          </a:ln>
        </p:spPr>
      </p:sp>
      <p:sp>
        <p:nvSpPr>
          <p:cNvPr id="23" name="Text 21"/>
          <p:cNvSpPr/>
          <p:nvPr/>
        </p:nvSpPr>
        <p:spPr>
          <a:xfrm>
            <a:off x="457200" y="2414016"/>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4" name="Text 22"/>
          <p:cNvSpPr/>
          <p:nvPr/>
        </p:nvSpPr>
        <p:spPr>
          <a:xfrm>
            <a:off x="749808" y="2414016"/>
            <a:ext cx="2240280" cy="256032"/>
          </a:xfrm>
          <a:prstGeom prst="rect">
            <a:avLst/>
          </a:prstGeom>
          <a:noFill/>
          <a:ln/>
        </p:spPr>
        <p:txBody>
          <a:bodyPr wrap="square" lIns="0" tIns="0" rIns="0" bIns="0" rtlCol="0" anchor="ctr"/>
          <a:lstStyle/>
          <a:p>
            <a:pPr marL="0" indent="0" algn="l">
              <a:buNone/>
            </a:pPr>
            <a:r>
              <a:rPr lang="en-US" sz="950" b="1" dirty="0">
                <a:solidFill>
                  <a:srgbClr val="0A6E68"/>
                </a:solidFill>
                <a:latin typeface="Calibri" pitchFamily="34" charset="0"/>
                <a:ea typeface="Calibri" pitchFamily="34" charset="-122"/>
                <a:cs typeface="Calibri" pitchFamily="34" charset="-120"/>
              </a:rPr>
              <a:t>Type Enforcement</a:t>
            </a:r>
            <a:endParaRPr lang="en-US" sz="950" dirty="0"/>
          </a:p>
        </p:txBody>
      </p:sp>
      <p:sp>
        <p:nvSpPr>
          <p:cNvPr id="25" name="Text 23"/>
          <p:cNvSpPr/>
          <p:nvPr/>
        </p:nvSpPr>
        <p:spPr>
          <a:xfrm>
            <a:off x="457200" y="2706624"/>
            <a:ext cx="2532888" cy="603504"/>
          </a:xfrm>
          <a:prstGeom prst="rect">
            <a:avLst/>
          </a:prstGeom>
          <a:noFill/>
          <a:ln/>
        </p:spPr>
        <p:txBody>
          <a:bodyPr wrap="square" lIns="0" tIns="0" rIns="0" bIns="0" rtlCol="0" anchor="t"/>
          <a:lstStyle/>
          <a:p>
            <a:pPr marL="342900" indent="-342900" algn="l">
              <a:buSzPct val="100000"/>
              <a:buChar char="•"/>
            </a:pPr>
            <a:r>
              <a:rPr lang="en-US" sz="850" dirty="0">
                <a:solidFill>
                  <a:srgbClr val="1A1F36"/>
                </a:solidFill>
                <a:latin typeface="Calibri" pitchFamily="34" charset="0"/>
                <a:ea typeface="Calibri" pitchFamily="34" charset="-122"/>
                <a:cs typeface="Calibri" pitchFamily="34" charset="-120"/>
              </a:rPr>
              <a:t>"age" → only numeric tokens allowed; "name" → must be a string.</a:t>
            </a:r>
            <a:endParaRPr lang="en-US" sz="850" dirty="0"/>
          </a:p>
          <a:p>
            <a:pPr marL="342900" indent="-342900" algn="l">
              <a:buSzPct val="100000"/>
              <a:buChar char="•"/>
            </a:pPr>
            <a:r>
              <a:rPr lang="en-US" sz="850" dirty="0">
                <a:solidFill>
                  <a:srgbClr val="1A1F36"/>
                </a:solidFill>
                <a:latin typeface="Calibri" pitchFamily="34" charset="0"/>
                <a:ea typeface="Calibri" pitchFamily="34" charset="-122"/>
                <a:cs typeface="Calibri" pitchFamily="34" charset="-120"/>
              </a:rPr>
              <a:t>Prevents semantic invalidity, not just syntax errors.</a:t>
            </a:r>
            <a:endParaRPr lang="en-US" sz="850" dirty="0"/>
          </a:p>
        </p:txBody>
      </p:sp>
      <p:sp>
        <p:nvSpPr>
          <p:cNvPr id="26" name="Shape 24"/>
          <p:cNvSpPr/>
          <p:nvPr/>
        </p:nvSpPr>
        <p:spPr>
          <a:xfrm>
            <a:off x="3154680" y="2322576"/>
            <a:ext cx="2715768" cy="1024128"/>
          </a:xfrm>
          <a:prstGeom prst="rect">
            <a:avLst/>
          </a:prstGeom>
          <a:solidFill>
            <a:srgbClr val="FEF3C7"/>
          </a:solidFill>
          <a:ln w="12700">
            <a:solidFill>
              <a:srgbClr val="F7F3EA"/>
            </a:solidFill>
            <a:prstDash val="solid"/>
          </a:ln>
        </p:spPr>
      </p:sp>
      <p:sp>
        <p:nvSpPr>
          <p:cNvPr id="27" name="Shape 25"/>
          <p:cNvSpPr/>
          <p:nvPr/>
        </p:nvSpPr>
        <p:spPr>
          <a:xfrm>
            <a:off x="3246120" y="2414016"/>
            <a:ext cx="237744" cy="237744"/>
          </a:xfrm>
          <a:prstGeom prst="ellipse">
            <a:avLst/>
          </a:prstGeom>
          <a:solidFill>
            <a:srgbClr val="92400E"/>
          </a:solidFill>
          <a:ln w="12700">
            <a:solidFill>
              <a:srgbClr val="92400E"/>
            </a:solidFill>
            <a:prstDash val="solid"/>
          </a:ln>
        </p:spPr>
      </p:sp>
      <p:sp>
        <p:nvSpPr>
          <p:cNvPr id="28" name="Text 26"/>
          <p:cNvSpPr/>
          <p:nvPr/>
        </p:nvSpPr>
        <p:spPr>
          <a:xfrm>
            <a:off x="3246120" y="2414016"/>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9" name="Text 27"/>
          <p:cNvSpPr/>
          <p:nvPr/>
        </p:nvSpPr>
        <p:spPr>
          <a:xfrm>
            <a:off x="3538728" y="2414016"/>
            <a:ext cx="2240280" cy="256032"/>
          </a:xfrm>
          <a:prstGeom prst="rect">
            <a:avLst/>
          </a:prstGeom>
          <a:noFill/>
          <a:ln/>
        </p:spPr>
        <p:txBody>
          <a:bodyPr wrap="square" lIns="0" tIns="0" rIns="0" bIns="0" rtlCol="0" anchor="ctr"/>
          <a:lstStyle/>
          <a:p>
            <a:pPr marL="0" indent="0" algn="l">
              <a:buNone/>
            </a:pPr>
            <a:r>
              <a:rPr lang="en-US" sz="950" b="1" dirty="0">
                <a:solidFill>
                  <a:srgbClr val="92400E"/>
                </a:solidFill>
                <a:latin typeface="Calibri" pitchFamily="34" charset="0"/>
                <a:ea typeface="Calibri" pitchFamily="34" charset="-122"/>
                <a:cs typeface="Calibri" pitchFamily="34" charset="-120"/>
              </a:rPr>
              <a:t>Required Fields Tracking</a:t>
            </a:r>
            <a:endParaRPr lang="en-US" sz="950" dirty="0"/>
          </a:p>
        </p:txBody>
      </p:sp>
      <p:sp>
        <p:nvSpPr>
          <p:cNvPr id="30" name="Text 28"/>
          <p:cNvSpPr/>
          <p:nvPr/>
        </p:nvSpPr>
        <p:spPr>
          <a:xfrm>
            <a:off x="3246120" y="2706624"/>
            <a:ext cx="2532888" cy="603504"/>
          </a:xfrm>
          <a:prstGeom prst="rect">
            <a:avLst/>
          </a:prstGeom>
          <a:noFill/>
          <a:ln/>
        </p:spPr>
        <p:txBody>
          <a:bodyPr wrap="square" lIns="0" tIns="0" rIns="0" bIns="0" rtlCol="0" anchor="t"/>
          <a:lstStyle/>
          <a:p>
            <a:pPr marL="342900" indent="-342900" algn="l">
              <a:buSzPct val="100000"/>
              <a:buChar char="•"/>
            </a:pPr>
            <a:r>
              <a:rPr lang="en-US" sz="850" dirty="0">
                <a:solidFill>
                  <a:srgbClr val="1A1F36"/>
                </a:solidFill>
                <a:latin typeface="Calibri" pitchFamily="34" charset="0"/>
                <a:ea typeface="Calibri" pitchFamily="34" charset="-122"/>
                <a:cs typeface="Calibri" pitchFamily="34" charset="-120"/>
              </a:rPr>
              <a:t>Decoder tracks which required fields are still missing.</a:t>
            </a:r>
            <a:endParaRPr lang="en-US" sz="850" dirty="0"/>
          </a:p>
          <a:p>
            <a:pPr marL="342900" indent="-342900" algn="l">
              <a:buSzPct val="100000"/>
              <a:buChar char="•"/>
            </a:pPr>
            <a:r>
              <a:rPr lang="en-US" sz="850" dirty="0">
                <a:solidFill>
                  <a:srgbClr val="1A1F36"/>
                </a:solidFill>
                <a:latin typeface="Calibri" pitchFamily="34" charset="0"/>
                <a:ea typeface="Calibri" pitchFamily="34" charset="-122"/>
                <a:cs typeface="Calibri" pitchFamily="34" charset="-120"/>
              </a:rPr>
              <a:t>Prevents early termination until all required keys are generated.</a:t>
            </a:r>
            <a:endParaRPr lang="en-US" sz="850" dirty="0"/>
          </a:p>
        </p:txBody>
      </p:sp>
      <p:sp>
        <p:nvSpPr>
          <p:cNvPr id="31" name="Shape 29"/>
          <p:cNvSpPr/>
          <p:nvPr/>
        </p:nvSpPr>
        <p:spPr>
          <a:xfrm>
            <a:off x="5943600" y="2322576"/>
            <a:ext cx="2715768" cy="1024128"/>
          </a:xfrm>
          <a:prstGeom prst="rect">
            <a:avLst/>
          </a:prstGeom>
          <a:solidFill>
            <a:srgbClr val="FDE68A"/>
          </a:solidFill>
          <a:ln w="12700">
            <a:solidFill>
              <a:srgbClr val="F7F3EA"/>
            </a:solidFill>
            <a:prstDash val="solid"/>
          </a:ln>
        </p:spPr>
      </p:sp>
      <p:sp>
        <p:nvSpPr>
          <p:cNvPr id="32" name="Shape 30"/>
          <p:cNvSpPr/>
          <p:nvPr/>
        </p:nvSpPr>
        <p:spPr>
          <a:xfrm>
            <a:off x="6035040" y="2414016"/>
            <a:ext cx="237744" cy="237744"/>
          </a:xfrm>
          <a:prstGeom prst="ellipse">
            <a:avLst/>
          </a:prstGeom>
          <a:solidFill>
            <a:srgbClr val="92400E"/>
          </a:solidFill>
          <a:ln w="12700">
            <a:solidFill>
              <a:srgbClr val="92400E"/>
            </a:solidFill>
            <a:prstDash val="solid"/>
          </a:ln>
        </p:spPr>
      </p:sp>
      <p:sp>
        <p:nvSpPr>
          <p:cNvPr id="33" name="Text 31"/>
          <p:cNvSpPr/>
          <p:nvPr/>
        </p:nvSpPr>
        <p:spPr>
          <a:xfrm>
            <a:off x="6035040" y="2414016"/>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34" name="Text 32"/>
          <p:cNvSpPr/>
          <p:nvPr/>
        </p:nvSpPr>
        <p:spPr>
          <a:xfrm>
            <a:off x="6327648" y="2414016"/>
            <a:ext cx="2240280" cy="256032"/>
          </a:xfrm>
          <a:prstGeom prst="rect">
            <a:avLst/>
          </a:prstGeom>
          <a:noFill/>
          <a:ln/>
        </p:spPr>
        <p:txBody>
          <a:bodyPr wrap="square" lIns="0" tIns="0" rIns="0" bIns="0" rtlCol="0" anchor="ctr"/>
          <a:lstStyle/>
          <a:p>
            <a:pPr marL="0" indent="0" algn="l">
              <a:buNone/>
            </a:pPr>
            <a:r>
              <a:rPr lang="en-US" sz="950" b="1" dirty="0">
                <a:solidFill>
                  <a:srgbClr val="92400E"/>
                </a:solidFill>
                <a:latin typeface="Calibri" pitchFamily="34" charset="0"/>
                <a:ea typeface="Calibri" pitchFamily="34" charset="-122"/>
                <a:cs typeface="Calibri" pitchFamily="34" charset="-120"/>
              </a:rPr>
              <a:t>Controlled Termination</a:t>
            </a:r>
            <a:endParaRPr lang="en-US" sz="950" dirty="0"/>
          </a:p>
        </p:txBody>
      </p:sp>
      <p:sp>
        <p:nvSpPr>
          <p:cNvPr id="35" name="Text 33"/>
          <p:cNvSpPr/>
          <p:nvPr/>
        </p:nvSpPr>
        <p:spPr>
          <a:xfrm>
            <a:off x="6035040" y="2706624"/>
            <a:ext cx="2532888" cy="603504"/>
          </a:xfrm>
          <a:prstGeom prst="rect">
            <a:avLst/>
          </a:prstGeom>
          <a:noFill/>
          <a:ln/>
        </p:spPr>
        <p:txBody>
          <a:bodyPr wrap="square" lIns="0" tIns="0" rIns="0" bIns="0" rtlCol="0" anchor="t"/>
          <a:lstStyle/>
          <a:p>
            <a:pPr marL="342900" indent="-342900" algn="l">
              <a:buSzPct val="100000"/>
              <a:buChar char="•"/>
            </a:pPr>
            <a:r>
              <a:rPr lang="en-US" sz="850" dirty="0">
                <a:solidFill>
                  <a:srgbClr val="1A1F36"/>
                </a:solidFill>
                <a:latin typeface="Calibri" pitchFamily="34" charset="0"/>
                <a:ea typeface="Calibri" pitchFamily="34" charset="-122"/>
                <a:cs typeface="Calibri" pitchFamily="34" charset="-120"/>
              </a:rPr>
              <a:t>Generation stops only when JSON is syntactically complete.</a:t>
            </a:r>
            <a:endParaRPr lang="en-US" sz="850" dirty="0"/>
          </a:p>
          <a:p>
            <a:pPr marL="342900" indent="-342900" algn="l">
              <a:buSzPct val="100000"/>
              <a:buChar char="•"/>
            </a:pPr>
            <a:r>
              <a:rPr lang="en-US" sz="850" dirty="0">
                <a:solidFill>
                  <a:srgbClr val="1A1F36"/>
                </a:solidFill>
                <a:latin typeface="Calibri" pitchFamily="34" charset="0"/>
                <a:ea typeface="Calibri" pitchFamily="34" charset="-122"/>
                <a:cs typeface="Calibri" pitchFamily="34" charset="-120"/>
              </a:rPr>
              <a:t>All schema constraints must be fully satisfied before output ends.</a:t>
            </a:r>
            <a:endParaRPr lang="en-US" sz="850" dirty="0"/>
          </a:p>
        </p:txBody>
      </p:sp>
      <p:sp>
        <p:nvSpPr>
          <p:cNvPr id="36" name="Shape 34"/>
          <p:cNvSpPr/>
          <p:nvPr/>
        </p:nvSpPr>
        <p:spPr>
          <a:xfrm>
            <a:off x="365760" y="3456432"/>
            <a:ext cx="8412480" cy="457200"/>
          </a:xfrm>
          <a:prstGeom prst="rect">
            <a:avLst/>
          </a:prstGeom>
          <a:solidFill>
            <a:srgbClr val="1A1F36"/>
          </a:solidFill>
          <a:ln w="12700">
            <a:solidFill>
              <a:srgbClr val="1A1F36"/>
            </a:solidFill>
            <a:prstDash val="solid"/>
          </a:ln>
        </p:spPr>
      </p:sp>
      <p:sp>
        <p:nvSpPr>
          <p:cNvPr id="37" name="Text 35"/>
          <p:cNvSpPr/>
          <p:nvPr/>
        </p:nvSpPr>
        <p:spPr>
          <a:xfrm>
            <a:off x="548640" y="3456432"/>
            <a:ext cx="8229600" cy="457200"/>
          </a:xfrm>
          <a:prstGeom prst="rect">
            <a:avLst/>
          </a:prstGeom>
          <a:noFill/>
          <a:ln/>
        </p:spPr>
        <p:txBody>
          <a:bodyPr wrap="square" lIns="0" tIns="0" rIns="0" bIns="0" rtlCol="0" anchor="ctr"/>
          <a:lstStyle/>
          <a:p>
            <a:pPr marL="0" indent="0" algn="l">
              <a:buNone/>
            </a:pPr>
            <a:r>
              <a:rPr lang="en-US" sz="1050" b="1" dirty="0">
                <a:solidFill>
                  <a:srgbClr val="CCFBF1"/>
                </a:solidFill>
                <a:latin typeface="Calibri" pitchFamily="34" charset="0"/>
                <a:ea typeface="Calibri" pitchFamily="34" charset="-122"/>
                <a:cs typeface="Calibri" pitchFamily="34" charset="-120"/>
              </a:rPr>
              <a:t>Result: </a:t>
            </a:r>
            <a:r>
              <a:rPr lang="en-US" sz="1050" dirty="0">
                <a:solidFill>
                  <a:srgbClr val="F7F3EA"/>
                </a:solidFill>
                <a:latin typeface="Calibri" pitchFamily="34" charset="0"/>
                <a:ea typeface="Calibri" pitchFamily="34" charset="-122"/>
                <a:cs typeface="Calibri" pitchFamily="34" charset="-120"/>
              </a:rPr>
              <a:t>Always produces syntactically valid JSON and schema-compliant structure. Eliminates need for post-hoc parsing fixes or retries.</a:t>
            </a:r>
            <a:endParaRPr lang="en-US" sz="1050" dirty="0"/>
          </a:p>
        </p:txBody>
      </p:sp>
      <p:pic>
        <p:nvPicPr>
          <p:cNvPr id="38" name="Google Shape;328;p29">
            <a:extLst>
              <a:ext uri="{FF2B5EF4-FFF2-40B4-BE49-F238E27FC236}">
                <a16:creationId xmlns:a16="http://schemas.microsoft.com/office/drawing/2014/main" id="{2C35B359-AFE3-18DD-95BA-874165C09954}"/>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237023480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2333"/>
        <p:cNvGrpSpPr/>
        <p:nvPr/>
      </p:nvGrpSpPr>
      <p:grpSpPr>
        <a:xfrm>
          <a:off x="0" y="0"/>
          <a:ext cx="0" cy="0"/>
          <a:chOff x="0" y="0"/>
          <a:chExt cx="0" cy="0"/>
        </a:xfrm>
      </p:grpSpPr>
      <p:pic>
        <p:nvPicPr>
          <p:cNvPr id="2334" name="Google Shape;2334;p102"/>
          <p:cNvPicPr preferRelativeResize="0"/>
          <p:nvPr/>
        </p:nvPicPr>
        <p:blipFill>
          <a:blip r:embed="rId3">
            <a:alphaModFix/>
          </a:blip>
          <a:stretch>
            <a:fillRect/>
          </a:stretch>
        </p:blipFill>
        <p:spPr>
          <a:xfrm>
            <a:off x="8369125" y="0"/>
            <a:ext cx="774877" cy="867174"/>
          </a:xfrm>
          <a:prstGeom prst="rect">
            <a:avLst/>
          </a:prstGeom>
          <a:noFill/>
          <a:ln>
            <a:noFill/>
          </a:ln>
        </p:spPr>
      </p:pic>
      <p:sp>
        <p:nvSpPr>
          <p:cNvPr id="2335" name="Google Shape;2335;p102"/>
          <p:cNvSpPr/>
          <p:nvPr/>
        </p:nvSpPr>
        <p:spPr>
          <a:xfrm>
            <a:off x="469650" y="683663"/>
            <a:ext cx="8204700" cy="724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2400"/>
              <a:buFont typeface="Calibri"/>
              <a:buNone/>
            </a:pPr>
            <a:r>
              <a:rPr lang="en" sz="2800">
                <a:solidFill>
                  <a:srgbClr val="1E2761"/>
                </a:solidFill>
                <a:latin typeface="Georgia"/>
              </a:rPr>
              <a:t>Thank you</a:t>
            </a:r>
            <a:endParaRPr sz="2800">
              <a:solidFill>
                <a:schemeClr val="dk1"/>
              </a:solidFill>
            </a:endParaRPr>
          </a:p>
        </p:txBody>
      </p:sp>
      <p:sp>
        <p:nvSpPr>
          <p:cNvPr id="2337" name="Google Shape;2337;p102"/>
          <p:cNvSpPr/>
          <p:nvPr/>
        </p:nvSpPr>
        <p:spPr>
          <a:xfrm>
            <a:off x="3925975" y="1465859"/>
            <a:ext cx="3755700" cy="515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2400"/>
              <a:buFont typeface="Calibri"/>
              <a:buNone/>
            </a:pPr>
            <a:r>
              <a:rPr lang="en" sz="2000" dirty="0">
                <a:solidFill>
                  <a:srgbClr val="1A1F36"/>
                </a:solidFill>
                <a:latin typeface="Calibri"/>
              </a:rPr>
              <a:t>Teaching Assistants (IITKGP)</a:t>
            </a:r>
            <a:endParaRPr sz="2000" dirty="0">
              <a:solidFill>
                <a:schemeClr val="dk1"/>
              </a:solidFill>
            </a:endParaRPr>
          </a:p>
        </p:txBody>
      </p:sp>
      <p:grpSp>
        <p:nvGrpSpPr>
          <p:cNvPr id="7" name="Group 6">
            <a:extLst>
              <a:ext uri="{FF2B5EF4-FFF2-40B4-BE49-F238E27FC236}">
                <a16:creationId xmlns:a16="http://schemas.microsoft.com/office/drawing/2014/main" id="{EDDA8C80-BDD2-4715-CE6B-FF824EDDD332}"/>
              </a:ext>
            </a:extLst>
          </p:cNvPr>
          <p:cNvGrpSpPr/>
          <p:nvPr/>
        </p:nvGrpSpPr>
        <p:grpSpPr>
          <a:xfrm>
            <a:off x="741613" y="1632000"/>
            <a:ext cx="1774750" cy="2894279"/>
            <a:chOff x="1417475" y="1632000"/>
            <a:chExt cx="1774750" cy="2894279"/>
          </a:xfrm>
        </p:grpSpPr>
        <p:sp>
          <p:nvSpPr>
            <p:cNvPr id="2336" name="Google Shape;2336;p102"/>
            <p:cNvSpPr/>
            <p:nvPr/>
          </p:nvSpPr>
          <p:spPr>
            <a:xfrm>
              <a:off x="1462325" y="1632000"/>
              <a:ext cx="1591500" cy="515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2400"/>
                <a:buFont typeface="Calibri"/>
                <a:buNone/>
              </a:pPr>
              <a:r>
                <a:rPr lang="en" sz="2000">
                  <a:solidFill>
                    <a:srgbClr val="1A1F36"/>
                  </a:solidFill>
                  <a:latin typeface="Calibri"/>
                </a:rPr>
                <a:t>Instructor</a:t>
              </a:r>
              <a:endParaRPr sz="2000">
                <a:solidFill>
                  <a:schemeClr val="dk1"/>
                </a:solidFill>
              </a:endParaRPr>
            </a:p>
          </p:txBody>
        </p:sp>
        <p:sp>
          <p:nvSpPr>
            <p:cNvPr id="2339" name="Google Shape;2339;p102"/>
            <p:cNvSpPr/>
            <p:nvPr/>
          </p:nvSpPr>
          <p:spPr>
            <a:xfrm>
              <a:off x="1417475" y="3569410"/>
              <a:ext cx="1774750" cy="956869"/>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2400"/>
                <a:buFont typeface="Calibri"/>
                <a:buNone/>
              </a:pPr>
              <a:r>
                <a:rPr lang="en" sz="1600" dirty="0">
                  <a:solidFill>
                    <a:srgbClr val="1A1F36"/>
                  </a:solidFill>
                  <a:latin typeface="Calibri"/>
                </a:rPr>
                <a:t>Sourangshu Bhattacharya</a:t>
              </a:r>
              <a:endParaRPr sz="1600" dirty="0">
                <a:solidFill>
                  <a:schemeClr val="dk1"/>
                </a:solidFill>
              </a:endParaRPr>
            </a:p>
            <a:p>
              <a:pPr marL="0" marR="0" lvl="0" indent="0" algn="ctr" rtl="0">
                <a:spcBef>
                  <a:spcPts val="0"/>
                </a:spcBef>
                <a:spcAft>
                  <a:spcPts val="0"/>
                </a:spcAft>
                <a:buClr>
                  <a:srgbClr val="0D1B2A"/>
                </a:buClr>
                <a:buSzPts val="2400"/>
                <a:buFont typeface="Calibri"/>
                <a:buNone/>
              </a:pPr>
              <a:r>
                <a:rPr lang="en" sz="1050" dirty="0" err="1">
                  <a:solidFill>
                    <a:srgbClr val="1A1F36"/>
                  </a:solidFill>
                  <a:highlight>
                    <a:srgbClr val="FFFFFF"/>
                  </a:highlight>
                  <a:sym typeface="Roboto"/>
                </a:rPr>
                <a:t>sourangshu@cse.iitkgp.ac.in</a:t>
              </a:r>
              <a:endParaRPr sz="1600" dirty="0">
                <a:solidFill>
                  <a:schemeClr val="dk1"/>
                </a:solidFill>
              </a:endParaRPr>
            </a:p>
          </p:txBody>
        </p:sp>
        <p:pic>
          <p:nvPicPr>
            <p:cNvPr id="5122" name="Picture 2" descr="My picture">
              <a:extLst>
                <a:ext uri="{FF2B5EF4-FFF2-40B4-BE49-F238E27FC236}">
                  <a16:creationId xmlns:a16="http://schemas.microsoft.com/office/drawing/2014/main" id="{47C7F4D4-8C70-3DD1-264E-B78DF031BC5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8999" t="13231" r="37730" b="14440"/>
            <a:stretch>
              <a:fillRect/>
            </a:stretch>
          </p:blipFill>
          <p:spPr bwMode="auto">
            <a:xfrm>
              <a:off x="1719072" y="2147700"/>
              <a:ext cx="1161288" cy="129162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8" name="Group 7">
            <a:extLst>
              <a:ext uri="{FF2B5EF4-FFF2-40B4-BE49-F238E27FC236}">
                <a16:creationId xmlns:a16="http://schemas.microsoft.com/office/drawing/2014/main" id="{2D4851F3-F2BD-5053-CA3F-11138356F885}"/>
              </a:ext>
            </a:extLst>
          </p:cNvPr>
          <p:cNvGrpSpPr/>
          <p:nvPr/>
        </p:nvGrpSpPr>
        <p:grpSpPr>
          <a:xfrm>
            <a:off x="2622865" y="2076974"/>
            <a:ext cx="1955400" cy="1878051"/>
            <a:chOff x="3744000" y="2076974"/>
            <a:chExt cx="1955400" cy="1878051"/>
          </a:xfrm>
        </p:grpSpPr>
        <p:sp>
          <p:nvSpPr>
            <p:cNvPr id="2340" name="Google Shape;2340;p102"/>
            <p:cNvSpPr/>
            <p:nvPr/>
          </p:nvSpPr>
          <p:spPr>
            <a:xfrm>
              <a:off x="3744000" y="3439325"/>
              <a:ext cx="1955400" cy="515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2400"/>
                <a:buFont typeface="Calibri"/>
                <a:buNone/>
              </a:pPr>
              <a:r>
                <a:rPr lang="en" sz="1600" dirty="0">
                  <a:solidFill>
                    <a:srgbClr val="1A1F36"/>
                  </a:solidFill>
                  <a:latin typeface="Calibri"/>
                </a:rPr>
                <a:t>Suman Bera</a:t>
              </a:r>
              <a:endParaRPr sz="1600" dirty="0">
                <a:solidFill>
                  <a:schemeClr val="dk1"/>
                </a:solidFill>
              </a:endParaRPr>
            </a:p>
            <a:p>
              <a:pPr marL="0" marR="0" lvl="0" indent="0" algn="ctr" rtl="0">
                <a:spcBef>
                  <a:spcPts val="0"/>
                </a:spcBef>
                <a:spcAft>
                  <a:spcPts val="0"/>
                </a:spcAft>
                <a:buClr>
                  <a:srgbClr val="0D1B2A"/>
                </a:buClr>
                <a:buSzPts val="2400"/>
                <a:buFont typeface="Calibri"/>
                <a:buNone/>
              </a:pPr>
              <a:endParaRPr sz="1600" dirty="0">
                <a:solidFill>
                  <a:schemeClr val="dk1"/>
                </a:solidFill>
              </a:endParaRPr>
            </a:p>
          </p:txBody>
        </p:sp>
        <p:pic>
          <p:nvPicPr>
            <p:cNvPr id="5124" name="Picture 4" descr="Suman BERA | Doctor of Philosophy ...">
              <a:extLst>
                <a:ext uri="{FF2B5EF4-FFF2-40B4-BE49-F238E27FC236}">
                  <a16:creationId xmlns:a16="http://schemas.microsoft.com/office/drawing/2014/main" id="{CCBE91F8-AB1B-1DD4-3184-84B561897A0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14255" y="2076974"/>
              <a:ext cx="1334826" cy="133482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9" name="Group 8">
            <a:extLst>
              <a:ext uri="{FF2B5EF4-FFF2-40B4-BE49-F238E27FC236}">
                <a16:creationId xmlns:a16="http://schemas.microsoft.com/office/drawing/2014/main" id="{9C0325A9-714D-C73E-DEE3-4D678E7046B5}"/>
              </a:ext>
            </a:extLst>
          </p:cNvPr>
          <p:cNvGrpSpPr/>
          <p:nvPr/>
        </p:nvGrpSpPr>
        <p:grpSpPr>
          <a:xfrm>
            <a:off x="4414421" y="2076974"/>
            <a:ext cx="2286243" cy="1878051"/>
            <a:chOff x="5090283" y="2076974"/>
            <a:chExt cx="2286243" cy="1878051"/>
          </a:xfrm>
        </p:grpSpPr>
        <p:sp>
          <p:nvSpPr>
            <p:cNvPr id="2341" name="Google Shape;2341;p102"/>
            <p:cNvSpPr/>
            <p:nvPr/>
          </p:nvSpPr>
          <p:spPr>
            <a:xfrm>
              <a:off x="5090283" y="3439325"/>
              <a:ext cx="2286243" cy="515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2400"/>
                <a:buFont typeface="Calibri"/>
                <a:buNone/>
              </a:pPr>
              <a:r>
                <a:rPr lang="en" sz="1600" dirty="0" err="1">
                  <a:solidFill>
                    <a:srgbClr val="1A1F36"/>
                  </a:solidFill>
                  <a:latin typeface="Calibri"/>
                </a:rPr>
                <a:t>Debamalya</a:t>
              </a:r>
              <a:r>
                <a:rPr lang="en" sz="1600" dirty="0">
                  <a:solidFill>
                    <a:srgbClr val="1A1F36"/>
                  </a:solidFill>
                  <a:latin typeface="Calibri"/>
                </a:rPr>
                <a:t> Chakrabarty</a:t>
              </a:r>
              <a:endParaRPr sz="1600" dirty="0">
                <a:solidFill>
                  <a:schemeClr val="dk1"/>
                </a:solidFill>
              </a:endParaRPr>
            </a:p>
            <a:p>
              <a:pPr marL="0" marR="0" lvl="0" indent="0" algn="ctr" rtl="0">
                <a:spcBef>
                  <a:spcPts val="0"/>
                </a:spcBef>
                <a:spcAft>
                  <a:spcPts val="0"/>
                </a:spcAft>
                <a:buClr>
                  <a:srgbClr val="0D1B2A"/>
                </a:buClr>
                <a:buSzPts val="2400"/>
                <a:buFont typeface="Calibri"/>
                <a:buNone/>
              </a:pPr>
              <a:endParaRPr sz="1600" dirty="0">
                <a:solidFill>
                  <a:schemeClr val="dk1"/>
                </a:solidFill>
              </a:endParaRPr>
            </a:p>
          </p:txBody>
        </p:sp>
        <p:pic>
          <p:nvPicPr>
            <p:cNvPr id="3" name="Picture 2">
              <a:extLst>
                <a:ext uri="{FF2B5EF4-FFF2-40B4-BE49-F238E27FC236}">
                  <a16:creationId xmlns:a16="http://schemas.microsoft.com/office/drawing/2014/main" id="{8568CC60-A0EC-AC08-5E94-3AE01AE88F82}"/>
                </a:ext>
              </a:extLst>
            </p:cNvPr>
            <p:cNvPicPr>
              <a:picLocks noChangeAspect="1"/>
            </p:cNvPicPr>
            <p:nvPr/>
          </p:nvPicPr>
          <p:blipFill>
            <a:blip r:embed="rId6"/>
            <a:srcRect l="15394" t="4521" r="16779" b="29303"/>
            <a:stretch>
              <a:fillRect/>
            </a:stretch>
          </p:blipFill>
          <p:spPr>
            <a:xfrm>
              <a:off x="5564023" y="2076974"/>
              <a:ext cx="1042960" cy="1309020"/>
            </a:xfrm>
            <a:prstGeom prst="rect">
              <a:avLst/>
            </a:prstGeom>
          </p:spPr>
        </p:pic>
      </p:grpSp>
      <p:sp>
        <p:nvSpPr>
          <p:cNvPr id="2" name="Google Shape;2341;p102">
            <a:extLst>
              <a:ext uri="{FF2B5EF4-FFF2-40B4-BE49-F238E27FC236}">
                <a16:creationId xmlns:a16="http://schemas.microsoft.com/office/drawing/2014/main" id="{91A3D2E6-7422-69C4-5AE7-05342FAF3C73}"/>
              </a:ext>
            </a:extLst>
          </p:cNvPr>
          <p:cNvSpPr/>
          <p:nvPr/>
        </p:nvSpPr>
        <p:spPr>
          <a:xfrm>
            <a:off x="6718950" y="3477188"/>
            <a:ext cx="1955400" cy="515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2400"/>
              <a:buFont typeface="Calibri"/>
              <a:buNone/>
            </a:pPr>
            <a:r>
              <a:rPr lang="en" sz="1600" dirty="0">
                <a:solidFill>
                  <a:srgbClr val="1A1F36"/>
                </a:solidFill>
                <a:latin typeface="Calibri"/>
              </a:rPr>
              <a:t>Soumi Das</a:t>
            </a:r>
            <a:endParaRPr sz="1600" dirty="0">
              <a:solidFill>
                <a:schemeClr val="dk1"/>
              </a:solidFill>
            </a:endParaRPr>
          </a:p>
          <a:p>
            <a:pPr marL="0" marR="0" lvl="0" indent="0" algn="ctr" rtl="0">
              <a:spcBef>
                <a:spcPts val="0"/>
              </a:spcBef>
              <a:spcAft>
                <a:spcPts val="0"/>
              </a:spcAft>
              <a:buClr>
                <a:srgbClr val="0D1B2A"/>
              </a:buClr>
              <a:buSzPts val="2400"/>
              <a:buFont typeface="Calibri"/>
              <a:buNone/>
            </a:pPr>
            <a:endParaRPr sz="1600" dirty="0">
              <a:solidFill>
                <a:schemeClr val="dk1"/>
              </a:solidFill>
            </a:endParaRPr>
          </a:p>
        </p:txBody>
      </p:sp>
      <p:pic>
        <p:nvPicPr>
          <p:cNvPr id="6" name="Picture 5" descr="My Image">
            <a:extLst>
              <a:ext uri="{FF2B5EF4-FFF2-40B4-BE49-F238E27FC236}">
                <a16:creationId xmlns:a16="http://schemas.microsoft.com/office/drawing/2014/main" id="{33527763-15F6-194B-9ACE-D7C6E73DB76F}"/>
              </a:ext>
            </a:extLst>
          </p:cNvPr>
          <p:cNvPicPr>
            <a:picLocks noChangeAspect="1"/>
          </p:cNvPicPr>
          <p:nvPr/>
        </p:nvPicPr>
        <p:blipFill>
          <a:blip r:embed="rId7"/>
          <a:srcRect l="40238" t="29109" r="32730" b="39384"/>
          <a:stretch>
            <a:fillRect/>
          </a:stretch>
        </p:blipFill>
        <p:spPr>
          <a:xfrm>
            <a:off x="7191374" y="2014008"/>
            <a:ext cx="1205898" cy="1405581"/>
          </a:xfrm>
          <a:prstGeom prst="rect">
            <a:avLst/>
          </a:prstGeom>
        </p:spPr>
      </p:pic>
    </p:spTree>
  </p:cSld>
  <p:clrMapOvr>
    <a:masterClrMapping/>
  </p:clrMapOvr>
</p:sld>
</file>

<file path=ppt/theme/theme1.xml><?xml version="1.0" encoding="utf-8"?>
<a:theme xmlns:a="http://schemas.openxmlformats.org/drawingml/2006/main" name="Simple Light">
  <a:themeElements>
    <a:clrScheme name="Academic Navy">
      <a:dk1>
        <a:srgbClr val="1A1F36"/>
      </a:dk1>
      <a:lt1>
        <a:srgbClr val="FFFFFF"/>
      </a:lt1>
      <a:dk2>
        <a:srgbClr val="1E2761"/>
      </a:dk2>
      <a:lt2>
        <a:srgbClr val="F7F3EA"/>
      </a:lt2>
      <a:accent1>
        <a:srgbClr val="1E2761"/>
      </a:accent1>
      <a:accent2>
        <a:srgbClr val="B8975B"/>
      </a:accent2>
      <a:accent3>
        <a:srgbClr val="CADCFC"/>
      </a:accent3>
      <a:accent4>
        <a:srgbClr val="3D5A80"/>
      </a:accent4>
      <a:accent5>
        <a:srgbClr val="98C1D9"/>
      </a:accent5>
      <a:accent6>
        <a:srgbClr val="6D2E46"/>
      </a:accent6>
      <a:hlink>
        <a:srgbClr val="1E2761"/>
      </a:hlink>
      <a:folHlink>
        <a:srgbClr val="6D2E46"/>
      </a:folHlink>
    </a:clrScheme>
    <a:fontScheme name="Office">
      <a:majorFont>
        <a:latin typeface="Georg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Academic Navy">
      <a:dk1>
        <a:srgbClr val="1A1F36"/>
      </a:dk1>
      <a:lt1>
        <a:srgbClr val="FFFFFF"/>
      </a:lt1>
      <a:dk2>
        <a:srgbClr val="1E2761"/>
      </a:dk2>
      <a:lt2>
        <a:srgbClr val="F7F3EA"/>
      </a:lt2>
      <a:accent1>
        <a:srgbClr val="1E2761"/>
      </a:accent1>
      <a:accent2>
        <a:srgbClr val="B8975B"/>
      </a:accent2>
      <a:accent3>
        <a:srgbClr val="CADCFC"/>
      </a:accent3>
      <a:accent4>
        <a:srgbClr val="3D5A80"/>
      </a:accent4>
      <a:accent5>
        <a:srgbClr val="98C1D9"/>
      </a:accent5>
      <a:accent6>
        <a:srgbClr val="6D2E46"/>
      </a:accent6>
      <a:hlink>
        <a:srgbClr val="1E2761"/>
      </a:hlink>
      <a:folHlink>
        <a:srgbClr val="6D2E46"/>
      </a:folHlink>
    </a:clrScheme>
    <a:fontScheme name="Office">
      <a:majorFont>
        <a:latin typeface="Georg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9777</TotalTime>
  <Words>12988</Words>
  <Application>Microsoft Macintosh PowerPoint</Application>
  <PresentationFormat>On-screen Show (16:9)</PresentationFormat>
  <Paragraphs>1637</Paragraphs>
  <Slides>87</Slides>
  <Notes>55</Notes>
  <HiddenSlides>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87</vt:i4>
      </vt:variant>
    </vt:vector>
  </HeadingPairs>
  <TitlesOfParts>
    <vt:vector size="96" baseType="lpstr">
      <vt:lpstr>Courier New</vt:lpstr>
      <vt:lpstr>Andale Mono</vt:lpstr>
      <vt:lpstr>Arial</vt:lpstr>
      <vt:lpstr>Cambria</vt:lpstr>
      <vt:lpstr>Calibri</vt:lpstr>
      <vt:lpstr>Roboto</vt:lpstr>
      <vt:lpstr>Consolas</vt:lpstr>
      <vt:lpstr>Georgia</vt:lpstr>
      <vt:lpstr>Simple Light</vt:lpstr>
      <vt:lpstr>PowerPoint Presentation</vt:lpstr>
      <vt:lpstr>What We'll Cover</vt:lpstr>
      <vt:lpstr>Prompting APIs </vt:lpstr>
      <vt:lpstr>PowerPoint Presentation</vt:lpstr>
      <vt:lpstr>PowerPoint Presentation</vt:lpstr>
      <vt:lpstr>Other ways of running LLMs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Question</vt:lpstr>
      <vt:lpstr>PowerPoint Presentation</vt:lpstr>
      <vt:lpstr>Prompting APIs </vt:lpstr>
      <vt:lpstr>Designing Prompts for Different Tasks</vt:lpstr>
      <vt:lpstr>Open-Domain vs. Closed-Domain QA</vt:lpstr>
      <vt:lpstr>Question Answering</vt:lpstr>
      <vt:lpstr>Question Answering</vt:lpstr>
      <vt:lpstr>ARC-Easy Dataset</vt:lpstr>
      <vt:lpstr>Evaluation Program Overview</vt:lpstr>
      <vt:lpstr>Code Walkthrough</vt:lpstr>
      <vt:lpstr>Code Walkthrough: Querying the Model</vt:lpstr>
      <vt:lpstr>Code Walkthrough: Querying &amp; Reporting</vt:lpstr>
      <vt:lpstr>Evaluation Results</vt:lpstr>
      <vt:lpstr>Text Summarization</vt:lpstr>
      <vt:lpstr>PowerPoint Presentation</vt:lpstr>
      <vt:lpstr>Text Summarization</vt:lpstr>
      <vt:lpstr>Text Summarization</vt:lpstr>
      <vt:lpstr>Text Classification</vt:lpstr>
      <vt:lpstr>Text Classification</vt:lpstr>
      <vt:lpstr>Text Classification</vt:lpstr>
      <vt:lpstr>Code Generation</vt:lpstr>
      <vt:lpstr>Code Generation</vt:lpstr>
      <vt:lpstr>Code Generation</vt:lpstr>
      <vt:lpstr>Reasoning</vt:lpstr>
      <vt:lpstr>Reasoning</vt:lpstr>
      <vt:lpstr>Reasoning</vt:lpstr>
      <vt:lpstr>PowerPoint Presentation</vt:lpstr>
      <vt:lpstr>Question</vt:lpstr>
      <vt:lpstr>PowerPoint Presentation</vt:lpstr>
      <vt:lpstr>Tool Calling and Structured Outputs </vt:lpstr>
      <vt:lpstr>PowerPoint Presentation</vt:lpstr>
      <vt:lpstr>PowerPoint Presentation</vt:lpstr>
      <vt:lpstr>PowerPoint Presentation</vt:lpstr>
      <vt:lpstr>PowerPoint Presentation</vt:lpstr>
      <vt:lpstr>PowerPoint Presentation</vt:lpstr>
      <vt:lpstr>PowerPoint Presentation</vt:lpstr>
      <vt:lpstr>Question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Question</vt:lpstr>
      <vt:lpstr>PowerPoint Presentation</vt:lpstr>
      <vt:lpstr>Structured Outputs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Question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sourangshu</cp:lastModifiedBy>
  <cp:revision>256</cp:revision>
  <dcterms:modified xsi:type="dcterms:W3CDTF">2026-09-06T03:12:16Z</dcterms:modified>
</cp:coreProperties>
</file>
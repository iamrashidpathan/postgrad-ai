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9144000" cy="5143500" type="screen16x9"/>
  <p:notesSz cx="6858000" cy="9144000"/>
  <p:embeddedFontLst>
    <p:embeddedFont>
      <p:font typeface="Consolas" panose="020B0609020204030204" pitchFamily="49" charset="0"/>
      <p:regular r:id="rId59"/>
      <p:bold r:id="rId60"/>
      <p:italic r:id="rId61"/>
      <p:boldItalic r:id="rId62"/>
    </p:embeddedFont>
    <p:embeddedFont>
      <p:font typeface="Pacifico" panose="00000500000000000000" pitchFamily="2" charset="0"/>
      <p:regular r:id="rId63"/>
    </p:embeddedFont>
    <p:embeddedFont>
      <p:font typeface="Roboto" panose="02000000000000000000" pitchFamily="2"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B2FBAC-0745-4D78-8DFB-32DC0C22400B}">
  <a:tblStyle styleId="{2CB2FBAC-0745-4D78-8DFB-32DC0C22400B}"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5.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schemas.openxmlformats.org/officeDocument/2006/relationships/font" Target="fonts/font8.fntdata"/><Relationship Id="rId5" Type="http://schemas.openxmlformats.org/officeDocument/2006/relationships/slide" Target="slides/slide4.xml"/><Relationship Id="rId61"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6.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67"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4.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d7337e18c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d7337e18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8b8b0dec95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 name="Google Shape;77;g38b8b0dec95_0_0: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78" name="Google Shape;78;g38b8b0dec95_0_0: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Calibri"/>
                <a:ea typeface="Calibri"/>
                <a:cs typeface="Calibri"/>
                <a:sym typeface="Calibri"/>
              </a:rPr>
              <a:t>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eabf4f8c0f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eabf4f8c0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eabf4f8c0f_1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eabf4f8c0f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eabf4f8c0f_1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eabf4f8c0f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eabf4f8c0f_1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eabf4f8c0f_1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eabf4f8c0f_1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3" name="Google Shape;323;g3eabf4f8c0f_1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eabf4f8c0f_1_137: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g3eabf4f8c0f_1_13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b="1">
                <a:solidFill>
                  <a:schemeClr val="dk1"/>
                </a:solidFill>
              </a:rPr>
              <a:t>Selective amnesia:</a:t>
            </a:r>
            <a:r>
              <a:rPr lang="en">
                <a:solidFill>
                  <a:schemeClr val="dk1"/>
                </a:solidFill>
              </a:rPr>
              <a:t> </a:t>
            </a:r>
            <a:r>
              <a:rPr lang="en" i="1">
                <a:solidFill>
                  <a:schemeClr val="dk1"/>
                </a:solidFill>
              </a:rPr>
              <a:t>"I can never remember where I kept my glasses, but I can tell you exactly who borrowed ₹500 from me in 2017."</a:t>
            </a:r>
            <a:endParaRPr/>
          </a:p>
        </p:txBody>
      </p:sp>
      <p:sp>
        <p:nvSpPr>
          <p:cNvPr id="346" name="Google Shape;346;g3eabf4f8c0f_1_13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eabf4f8c0f_1_2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eabf4f8c0f_1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3eabf4f8c0f_1_2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3eabf4f8c0f_1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3eaff83140e_0_2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3eaff83140e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eabf4f8c0f_1_2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3eabf4f8c0f_1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Typical Window Sizes in RNNs</a:t>
            </a:r>
            <a:endParaRPr/>
          </a:p>
          <a:p>
            <a:pPr marL="0" lvl="0" indent="0" algn="l" rtl="0">
              <a:lnSpc>
                <a:spcPct val="115000"/>
              </a:lnSpc>
              <a:spcBef>
                <a:spcPts val="0"/>
              </a:spcBef>
              <a:spcAft>
                <a:spcPts val="0"/>
              </a:spcAft>
              <a:buClr>
                <a:schemeClr val="dk1"/>
              </a:buClr>
              <a:buSzPts val="1100"/>
              <a:buFont typeface="Arial"/>
              <a:buNone/>
            </a:pPr>
            <a:r>
              <a:rPr lang="en"/>
              <a:t>By task type</a:t>
            </a:r>
            <a:endParaRPr/>
          </a:p>
          <a:p>
            <a:pPr marL="0" lvl="0" indent="0" algn="l" rtl="0">
              <a:lnSpc>
                <a:spcPct val="115000"/>
              </a:lnSpc>
              <a:spcBef>
                <a:spcPts val="0"/>
              </a:spcBef>
              <a:spcAft>
                <a:spcPts val="0"/>
              </a:spcAft>
              <a:buClr>
                <a:schemeClr val="dk1"/>
              </a:buClr>
              <a:buSzPts val="1100"/>
              <a:buFont typeface="Arial"/>
              <a:buNone/>
            </a:pPr>
            <a:r>
              <a:rPr lang="en"/>
              <a:t>TaskTypical Sequence Length (T)NotesSentiment analysis50–200 tokensShort-medium sentencesLanguage modeling35–100 tokensClassic PTB benchmark uses 35Machine translation20–50 tokensBefore attention was standardSpeech recognition100–1000 framesEach frame ~10ms of audioMusic generation500–2000 stepsLong dependencies neededStock prediction30–90 timestepsDays/weeks of history</a:t>
            </a:r>
            <a:endParaRPr/>
          </a:p>
          <a:p>
            <a:pPr marL="0" lvl="0" indent="0" algn="l" rtl="0">
              <a:lnSpc>
                <a:spcPct val="115000"/>
              </a:lnSpc>
              <a:spcBef>
                <a:spcPts val="0"/>
              </a:spcBef>
              <a:spcAft>
                <a:spcPts val="0"/>
              </a:spcAft>
              <a:buClr>
                <a:schemeClr val="dk1"/>
              </a:buClr>
              <a:buSzPts val="1100"/>
              <a:buFont typeface="Arial"/>
              <a:buNone/>
            </a:pPr>
            <a:r>
              <a:rPr lang="en"/>
              <a:t>The Practical Problem</a:t>
            </a:r>
            <a:endParaRPr/>
          </a:p>
          <a:p>
            <a:pPr marL="0" lvl="0" indent="0" algn="l" rtl="0">
              <a:lnSpc>
                <a:spcPct val="115000"/>
              </a:lnSpc>
              <a:spcBef>
                <a:spcPts val="0"/>
              </a:spcBef>
              <a:spcAft>
                <a:spcPts val="0"/>
              </a:spcAft>
              <a:buClr>
                <a:schemeClr val="dk1"/>
              </a:buClr>
              <a:buSzPts val="1100"/>
              <a:buFont typeface="Arial"/>
              <a:buNone/>
            </a:pPr>
            <a:r>
              <a:rPr lang="en"/>
              <a:t>Plain RNNs effectively only remember ~10–20 timesteps in practice, even if T is set to 100. Beyond that, gradients vanish and the network stops learning from earlier context.</a:t>
            </a:r>
            <a:endParaRPr/>
          </a:p>
          <a:p>
            <a:pPr marL="0" lvl="0" indent="0" algn="l" rtl="0">
              <a:lnSpc>
                <a:spcPct val="115000"/>
              </a:lnSpc>
              <a:spcBef>
                <a:spcPts val="0"/>
              </a:spcBef>
              <a:spcAft>
                <a:spcPts val="0"/>
              </a:spcAft>
              <a:buClr>
                <a:schemeClr val="dk1"/>
              </a:buClr>
              <a:buSzPts val="1100"/>
              <a:buFont typeface="Arial"/>
              <a:buNone/>
            </a:pPr>
            <a:r>
              <a:rPr lang="en"/>
              <a:t>This is why:</a:t>
            </a:r>
            <a:endParaRPr/>
          </a:p>
          <a:p>
            <a:pPr marL="0" lvl="0" indent="0" algn="l" rtl="0">
              <a:lnSpc>
                <a:spcPct val="115000"/>
              </a:lnSpc>
              <a:spcBef>
                <a:spcPts val="0"/>
              </a:spcBef>
              <a:spcAft>
                <a:spcPts val="0"/>
              </a:spcAft>
              <a:buClr>
                <a:schemeClr val="dk1"/>
              </a:buClr>
              <a:buSzPts val="1100"/>
              <a:buFont typeface="Arial"/>
              <a:buNone/>
            </a:pPr>
            <a:r>
              <a:rPr lang="en"/>
              <a:t>Truncated BPTT is commonly used — instead of backpropagating through all T steps, you only go back k steps (typically k = 20–50). It's an approximation but much more stable.</a:t>
            </a:r>
            <a:endParaRPr/>
          </a:p>
          <a:p>
            <a:pPr marL="0" lvl="0" indent="0" algn="l" rtl="0">
              <a:lnSpc>
                <a:spcPct val="115000"/>
              </a:lnSpc>
              <a:spcBef>
                <a:spcPts val="0"/>
              </a:spcBef>
              <a:spcAft>
                <a:spcPts val="0"/>
              </a:spcAft>
              <a:buClr>
                <a:schemeClr val="dk1"/>
              </a:buClr>
              <a:buSzPts val="1100"/>
              <a:buFont typeface="Arial"/>
              <a:buNone/>
            </a:pPr>
            <a:r>
              <a:rPr lang="en"/>
              <a:t>LSTMs/GRUs were invented to extend the effective memory window to hundreds of timesteps</a:t>
            </a:r>
            <a:endParaRPr/>
          </a:p>
          <a:p>
            <a:pPr marL="0" lvl="0" indent="0" algn="l" rtl="0">
              <a:lnSpc>
                <a:spcPct val="115000"/>
              </a:lnSpc>
              <a:spcBef>
                <a:spcPts val="0"/>
              </a:spcBef>
              <a:spcAft>
                <a:spcPts val="0"/>
              </a:spcAft>
              <a:buClr>
                <a:schemeClr val="dk1"/>
              </a:buClr>
              <a:buSzPts val="1100"/>
              <a:buFont typeface="Arial"/>
              <a:buNone/>
            </a:pPr>
            <a:r>
              <a:rPr lang="en"/>
              <a:t>Transformers (with attention) handle 512–8192+ tokens without this limitation at all</a:t>
            </a:r>
            <a:endParaRPr/>
          </a:p>
          <a:p>
            <a:pPr marL="0" lvl="0" indent="0" algn="l" rtl="0">
              <a:lnSpc>
                <a:spcPct val="115000"/>
              </a:lnSpc>
              <a:spcBef>
                <a:spcPts val="0"/>
              </a:spcBef>
              <a:spcAft>
                <a:spcPts val="0"/>
              </a:spcAft>
              <a:buClr>
                <a:schemeClr val="dk1"/>
              </a:buClr>
              <a:buSzPts val="1100"/>
              <a:buFont typeface="Arial"/>
              <a:buNone/>
            </a:pPr>
            <a:r>
              <a:rPr lang="en"/>
              <a:t>Rule of Thumb</a:t>
            </a:r>
            <a:endParaRPr/>
          </a:p>
          <a:p>
            <a:pPr marL="0" lvl="0" indent="0" algn="l" rtl="0">
              <a:lnSpc>
                <a:spcPct val="115000"/>
              </a:lnSpc>
              <a:spcBef>
                <a:spcPts val="0"/>
              </a:spcBef>
              <a:spcAft>
                <a:spcPts val="0"/>
              </a:spcAft>
              <a:buClr>
                <a:schemeClr val="dk1"/>
              </a:buClr>
              <a:buSzPts val="1100"/>
              <a:buFont typeface="Arial"/>
              <a:buNone/>
            </a:pPr>
            <a:r>
              <a:rPr lang="en"/>
              <a:t>For vanilla RNNs, anything beyond ~20 steps starts suffering from vanishing gradients. LSTMs push this to ~100–300. Transformers effectively have no hard limit.</a:t>
            </a:r>
            <a:endParaRPr/>
          </a:p>
          <a:p>
            <a:pPr marL="0" lvl="0" indent="0" algn="l" rtl="0">
              <a:lnSpc>
                <a:spcPct val="115000"/>
              </a:lnSpc>
              <a:spcBef>
                <a:spcPts val="0"/>
              </a:spcBef>
              <a:spcAft>
                <a:spcPts val="0"/>
              </a:spcAft>
              <a:buClr>
                <a:schemeClr val="dk1"/>
              </a:buClr>
              <a:buSzPts val="1100"/>
              <a:buFont typeface="Arial"/>
              <a:buNone/>
            </a:pPr>
            <a:r>
              <a:rPr lang="en"/>
              <a:t>So "window size" is as much about what the architecture can actually learn from as what you set T to be.</a:t>
            </a:r>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3eabf4f8c0f_1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3eabf4f8c0f_1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3f7213594ef_15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3f7213594ef_1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Typical Window Sizes in RNNs</a:t>
            </a:r>
            <a:endParaRPr/>
          </a:p>
          <a:p>
            <a:pPr marL="0" lvl="0" indent="0" algn="l" rtl="0">
              <a:lnSpc>
                <a:spcPct val="115000"/>
              </a:lnSpc>
              <a:spcBef>
                <a:spcPts val="0"/>
              </a:spcBef>
              <a:spcAft>
                <a:spcPts val="0"/>
              </a:spcAft>
              <a:buClr>
                <a:schemeClr val="dk1"/>
              </a:buClr>
              <a:buSzPts val="1100"/>
              <a:buFont typeface="Arial"/>
              <a:buNone/>
            </a:pPr>
            <a:r>
              <a:rPr lang="en"/>
              <a:t>By task type</a:t>
            </a:r>
            <a:endParaRPr/>
          </a:p>
          <a:p>
            <a:pPr marL="0" lvl="0" indent="0" algn="l" rtl="0">
              <a:lnSpc>
                <a:spcPct val="115000"/>
              </a:lnSpc>
              <a:spcBef>
                <a:spcPts val="0"/>
              </a:spcBef>
              <a:spcAft>
                <a:spcPts val="0"/>
              </a:spcAft>
              <a:buClr>
                <a:schemeClr val="dk1"/>
              </a:buClr>
              <a:buSzPts val="1100"/>
              <a:buFont typeface="Arial"/>
              <a:buNone/>
            </a:pPr>
            <a:r>
              <a:rPr lang="en"/>
              <a:t>TaskTypical Sequence Length (T)NotesSentiment analysis50–200 tokensShort-medium sentencesLanguage modeling35–100 tokensClassic PTB benchmark uses 35Machine translation20–50 tokensBefore attention was standardSpeech recognition100–1000 framesEach frame ~10ms of audioMusic generation500–2000 stepsLong dependencies neededStock prediction30–90 timestepsDays/weeks of history</a:t>
            </a:r>
            <a:endParaRPr/>
          </a:p>
          <a:p>
            <a:pPr marL="0" lvl="0" indent="0" algn="l" rtl="0">
              <a:lnSpc>
                <a:spcPct val="115000"/>
              </a:lnSpc>
              <a:spcBef>
                <a:spcPts val="0"/>
              </a:spcBef>
              <a:spcAft>
                <a:spcPts val="0"/>
              </a:spcAft>
              <a:buClr>
                <a:schemeClr val="dk1"/>
              </a:buClr>
              <a:buSzPts val="1100"/>
              <a:buFont typeface="Arial"/>
              <a:buNone/>
            </a:pPr>
            <a:r>
              <a:rPr lang="en"/>
              <a:t>The Practical Problem</a:t>
            </a:r>
            <a:endParaRPr/>
          </a:p>
          <a:p>
            <a:pPr marL="0" lvl="0" indent="0" algn="l" rtl="0">
              <a:lnSpc>
                <a:spcPct val="115000"/>
              </a:lnSpc>
              <a:spcBef>
                <a:spcPts val="0"/>
              </a:spcBef>
              <a:spcAft>
                <a:spcPts val="0"/>
              </a:spcAft>
              <a:buClr>
                <a:schemeClr val="dk1"/>
              </a:buClr>
              <a:buSzPts val="1100"/>
              <a:buFont typeface="Arial"/>
              <a:buNone/>
            </a:pPr>
            <a:r>
              <a:rPr lang="en"/>
              <a:t>Plain RNNs effectively only remember ~10–20 timesteps in practice, even if T is set to 100. Beyond that, gradients vanish and the network stops learning from earlier context.</a:t>
            </a:r>
            <a:endParaRPr/>
          </a:p>
          <a:p>
            <a:pPr marL="0" lvl="0" indent="0" algn="l" rtl="0">
              <a:lnSpc>
                <a:spcPct val="115000"/>
              </a:lnSpc>
              <a:spcBef>
                <a:spcPts val="0"/>
              </a:spcBef>
              <a:spcAft>
                <a:spcPts val="0"/>
              </a:spcAft>
              <a:buClr>
                <a:schemeClr val="dk1"/>
              </a:buClr>
              <a:buSzPts val="1100"/>
              <a:buFont typeface="Arial"/>
              <a:buNone/>
            </a:pPr>
            <a:r>
              <a:rPr lang="en"/>
              <a:t>This is why:</a:t>
            </a:r>
            <a:endParaRPr/>
          </a:p>
          <a:p>
            <a:pPr marL="0" lvl="0" indent="0" algn="l" rtl="0">
              <a:lnSpc>
                <a:spcPct val="115000"/>
              </a:lnSpc>
              <a:spcBef>
                <a:spcPts val="0"/>
              </a:spcBef>
              <a:spcAft>
                <a:spcPts val="0"/>
              </a:spcAft>
              <a:buClr>
                <a:schemeClr val="dk1"/>
              </a:buClr>
              <a:buSzPts val="1100"/>
              <a:buFont typeface="Arial"/>
              <a:buNone/>
            </a:pPr>
            <a:r>
              <a:rPr lang="en"/>
              <a:t>Truncated BPTT is commonly used — instead of backpropagating through all T steps, you only go back k steps (typically k = 20–50). It's an approximation but much more stable.</a:t>
            </a:r>
            <a:endParaRPr/>
          </a:p>
          <a:p>
            <a:pPr marL="0" lvl="0" indent="0" algn="l" rtl="0">
              <a:lnSpc>
                <a:spcPct val="115000"/>
              </a:lnSpc>
              <a:spcBef>
                <a:spcPts val="0"/>
              </a:spcBef>
              <a:spcAft>
                <a:spcPts val="0"/>
              </a:spcAft>
              <a:buClr>
                <a:schemeClr val="dk1"/>
              </a:buClr>
              <a:buSzPts val="1100"/>
              <a:buFont typeface="Arial"/>
              <a:buNone/>
            </a:pPr>
            <a:r>
              <a:rPr lang="en"/>
              <a:t>LSTMs/GRUs were invented to extend the effective memory window to hundreds of timesteps</a:t>
            </a:r>
            <a:endParaRPr/>
          </a:p>
          <a:p>
            <a:pPr marL="0" lvl="0" indent="0" algn="l" rtl="0">
              <a:lnSpc>
                <a:spcPct val="115000"/>
              </a:lnSpc>
              <a:spcBef>
                <a:spcPts val="0"/>
              </a:spcBef>
              <a:spcAft>
                <a:spcPts val="0"/>
              </a:spcAft>
              <a:buClr>
                <a:schemeClr val="dk1"/>
              </a:buClr>
              <a:buSzPts val="1100"/>
              <a:buFont typeface="Arial"/>
              <a:buNone/>
            </a:pPr>
            <a:r>
              <a:rPr lang="en"/>
              <a:t>Transformers (with attention) handle 512–8192+ tokens without this limitation at all</a:t>
            </a:r>
            <a:endParaRPr/>
          </a:p>
          <a:p>
            <a:pPr marL="0" lvl="0" indent="0" algn="l" rtl="0">
              <a:lnSpc>
                <a:spcPct val="115000"/>
              </a:lnSpc>
              <a:spcBef>
                <a:spcPts val="0"/>
              </a:spcBef>
              <a:spcAft>
                <a:spcPts val="0"/>
              </a:spcAft>
              <a:buClr>
                <a:schemeClr val="dk1"/>
              </a:buClr>
              <a:buSzPts val="1100"/>
              <a:buFont typeface="Arial"/>
              <a:buNone/>
            </a:pPr>
            <a:r>
              <a:rPr lang="en"/>
              <a:t>Rule of Thumb</a:t>
            </a:r>
            <a:endParaRPr/>
          </a:p>
          <a:p>
            <a:pPr marL="0" lvl="0" indent="0" algn="l" rtl="0">
              <a:lnSpc>
                <a:spcPct val="115000"/>
              </a:lnSpc>
              <a:spcBef>
                <a:spcPts val="0"/>
              </a:spcBef>
              <a:spcAft>
                <a:spcPts val="0"/>
              </a:spcAft>
              <a:buClr>
                <a:schemeClr val="dk1"/>
              </a:buClr>
              <a:buSzPts val="1100"/>
              <a:buFont typeface="Arial"/>
              <a:buNone/>
            </a:pPr>
            <a:r>
              <a:rPr lang="en"/>
              <a:t>For vanilla RNNs, anything beyond ~20 steps starts suffering from vanishing gradients. LSTMs push this to ~100–300. Transformers effectively have no hard limit.</a:t>
            </a:r>
            <a:endParaRPr/>
          </a:p>
          <a:p>
            <a:pPr marL="0" lvl="0" indent="0" algn="l" rtl="0">
              <a:lnSpc>
                <a:spcPct val="115000"/>
              </a:lnSpc>
              <a:spcBef>
                <a:spcPts val="0"/>
              </a:spcBef>
              <a:spcAft>
                <a:spcPts val="0"/>
              </a:spcAft>
              <a:buClr>
                <a:schemeClr val="dk1"/>
              </a:buClr>
              <a:buSzPts val="1100"/>
              <a:buFont typeface="Arial"/>
              <a:buNone/>
            </a:pPr>
            <a:r>
              <a:rPr lang="en"/>
              <a:t>So "window size" is as much about what the architecture can actually learn from as what you set T to be.</a:t>
            </a:r>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3f7213594ef_15_3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3f7213594ef_15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Typical Window Sizes in RNNs</a:t>
            </a:r>
            <a:endParaRPr/>
          </a:p>
          <a:p>
            <a:pPr marL="0" lvl="0" indent="0" algn="l" rtl="0">
              <a:lnSpc>
                <a:spcPct val="115000"/>
              </a:lnSpc>
              <a:spcBef>
                <a:spcPts val="0"/>
              </a:spcBef>
              <a:spcAft>
                <a:spcPts val="0"/>
              </a:spcAft>
              <a:buClr>
                <a:schemeClr val="dk1"/>
              </a:buClr>
              <a:buSzPts val="1100"/>
              <a:buFont typeface="Arial"/>
              <a:buNone/>
            </a:pPr>
            <a:r>
              <a:rPr lang="en"/>
              <a:t>By task type</a:t>
            </a:r>
            <a:endParaRPr/>
          </a:p>
          <a:p>
            <a:pPr marL="0" lvl="0" indent="0" algn="l" rtl="0">
              <a:lnSpc>
                <a:spcPct val="115000"/>
              </a:lnSpc>
              <a:spcBef>
                <a:spcPts val="0"/>
              </a:spcBef>
              <a:spcAft>
                <a:spcPts val="0"/>
              </a:spcAft>
              <a:buClr>
                <a:schemeClr val="dk1"/>
              </a:buClr>
              <a:buSzPts val="1100"/>
              <a:buFont typeface="Arial"/>
              <a:buNone/>
            </a:pPr>
            <a:r>
              <a:rPr lang="en"/>
              <a:t>TaskTypical Sequence Length (T)NotesSentiment analysis50–200 tokensShort-medium sentencesLanguage modeling35–100 tokensClassic PTB benchmark uses 35Machine translation20–50 tokensBefore attention was standardSpeech recognition100–1000 framesEach frame ~10ms of audioMusic generation500–2000 stepsLong dependencies neededStock prediction30–90 timestepsDays/weeks of history</a:t>
            </a:r>
            <a:endParaRPr/>
          </a:p>
          <a:p>
            <a:pPr marL="0" lvl="0" indent="0" algn="l" rtl="0">
              <a:lnSpc>
                <a:spcPct val="115000"/>
              </a:lnSpc>
              <a:spcBef>
                <a:spcPts val="0"/>
              </a:spcBef>
              <a:spcAft>
                <a:spcPts val="0"/>
              </a:spcAft>
              <a:buClr>
                <a:schemeClr val="dk1"/>
              </a:buClr>
              <a:buSzPts val="1100"/>
              <a:buFont typeface="Arial"/>
              <a:buNone/>
            </a:pPr>
            <a:r>
              <a:rPr lang="en"/>
              <a:t>The Practical Problem</a:t>
            </a:r>
            <a:endParaRPr/>
          </a:p>
          <a:p>
            <a:pPr marL="0" lvl="0" indent="0" algn="l" rtl="0">
              <a:lnSpc>
                <a:spcPct val="115000"/>
              </a:lnSpc>
              <a:spcBef>
                <a:spcPts val="0"/>
              </a:spcBef>
              <a:spcAft>
                <a:spcPts val="0"/>
              </a:spcAft>
              <a:buClr>
                <a:schemeClr val="dk1"/>
              </a:buClr>
              <a:buSzPts val="1100"/>
              <a:buFont typeface="Arial"/>
              <a:buNone/>
            </a:pPr>
            <a:r>
              <a:rPr lang="en"/>
              <a:t>Plain RNNs effectively only remember ~10–20 timesteps in practice, even if T is set to 100. Beyond that, gradients vanish and the network stops learning from earlier context.</a:t>
            </a:r>
            <a:endParaRPr/>
          </a:p>
          <a:p>
            <a:pPr marL="0" lvl="0" indent="0" algn="l" rtl="0">
              <a:lnSpc>
                <a:spcPct val="115000"/>
              </a:lnSpc>
              <a:spcBef>
                <a:spcPts val="0"/>
              </a:spcBef>
              <a:spcAft>
                <a:spcPts val="0"/>
              </a:spcAft>
              <a:buClr>
                <a:schemeClr val="dk1"/>
              </a:buClr>
              <a:buSzPts val="1100"/>
              <a:buFont typeface="Arial"/>
              <a:buNone/>
            </a:pPr>
            <a:r>
              <a:rPr lang="en"/>
              <a:t>This is why:</a:t>
            </a:r>
            <a:endParaRPr/>
          </a:p>
          <a:p>
            <a:pPr marL="0" lvl="0" indent="0" algn="l" rtl="0">
              <a:lnSpc>
                <a:spcPct val="115000"/>
              </a:lnSpc>
              <a:spcBef>
                <a:spcPts val="0"/>
              </a:spcBef>
              <a:spcAft>
                <a:spcPts val="0"/>
              </a:spcAft>
              <a:buClr>
                <a:schemeClr val="dk1"/>
              </a:buClr>
              <a:buSzPts val="1100"/>
              <a:buFont typeface="Arial"/>
              <a:buNone/>
            </a:pPr>
            <a:r>
              <a:rPr lang="en"/>
              <a:t>Truncated BPTT is commonly used — instead of backpropagating through all T steps, you only go back k steps (typically k = 20–50). It's an approximation but much more stable.</a:t>
            </a:r>
            <a:endParaRPr/>
          </a:p>
          <a:p>
            <a:pPr marL="0" lvl="0" indent="0" algn="l" rtl="0">
              <a:lnSpc>
                <a:spcPct val="115000"/>
              </a:lnSpc>
              <a:spcBef>
                <a:spcPts val="0"/>
              </a:spcBef>
              <a:spcAft>
                <a:spcPts val="0"/>
              </a:spcAft>
              <a:buClr>
                <a:schemeClr val="dk1"/>
              </a:buClr>
              <a:buSzPts val="1100"/>
              <a:buFont typeface="Arial"/>
              <a:buNone/>
            </a:pPr>
            <a:r>
              <a:rPr lang="en"/>
              <a:t>LSTMs/GRUs were invented to extend the effective memory window to hundreds of timesteps</a:t>
            </a:r>
            <a:endParaRPr/>
          </a:p>
          <a:p>
            <a:pPr marL="0" lvl="0" indent="0" algn="l" rtl="0">
              <a:lnSpc>
                <a:spcPct val="115000"/>
              </a:lnSpc>
              <a:spcBef>
                <a:spcPts val="0"/>
              </a:spcBef>
              <a:spcAft>
                <a:spcPts val="0"/>
              </a:spcAft>
              <a:buClr>
                <a:schemeClr val="dk1"/>
              </a:buClr>
              <a:buSzPts val="1100"/>
              <a:buFont typeface="Arial"/>
              <a:buNone/>
            </a:pPr>
            <a:r>
              <a:rPr lang="en"/>
              <a:t>Transformers (with attention) handle 512–8192+ tokens without this limitation at all</a:t>
            </a:r>
            <a:endParaRPr/>
          </a:p>
          <a:p>
            <a:pPr marL="0" lvl="0" indent="0" algn="l" rtl="0">
              <a:lnSpc>
                <a:spcPct val="115000"/>
              </a:lnSpc>
              <a:spcBef>
                <a:spcPts val="0"/>
              </a:spcBef>
              <a:spcAft>
                <a:spcPts val="0"/>
              </a:spcAft>
              <a:buClr>
                <a:schemeClr val="dk1"/>
              </a:buClr>
              <a:buSzPts val="1100"/>
              <a:buFont typeface="Arial"/>
              <a:buNone/>
            </a:pPr>
            <a:r>
              <a:rPr lang="en"/>
              <a:t>Rule of Thumb</a:t>
            </a:r>
            <a:endParaRPr/>
          </a:p>
          <a:p>
            <a:pPr marL="0" lvl="0" indent="0" algn="l" rtl="0">
              <a:lnSpc>
                <a:spcPct val="115000"/>
              </a:lnSpc>
              <a:spcBef>
                <a:spcPts val="0"/>
              </a:spcBef>
              <a:spcAft>
                <a:spcPts val="0"/>
              </a:spcAft>
              <a:buClr>
                <a:schemeClr val="dk1"/>
              </a:buClr>
              <a:buSzPts val="1100"/>
              <a:buFont typeface="Arial"/>
              <a:buNone/>
            </a:pPr>
            <a:r>
              <a:rPr lang="en"/>
              <a:t>For vanilla RNNs, anything beyond ~20 steps starts suffering from vanishing gradients. LSTMs push this to ~100–300. Transformers effectively have no hard limit.</a:t>
            </a:r>
            <a:endParaRPr/>
          </a:p>
          <a:p>
            <a:pPr marL="0" lvl="0" indent="0" algn="l" rtl="0">
              <a:lnSpc>
                <a:spcPct val="115000"/>
              </a:lnSpc>
              <a:spcBef>
                <a:spcPts val="0"/>
              </a:spcBef>
              <a:spcAft>
                <a:spcPts val="0"/>
              </a:spcAft>
              <a:buClr>
                <a:schemeClr val="dk1"/>
              </a:buClr>
              <a:buSzPts val="1100"/>
              <a:buFont typeface="Arial"/>
              <a:buNone/>
            </a:pPr>
            <a:r>
              <a:rPr lang="en"/>
              <a:t>So "window size" is as much about what the architecture can actually learn from as what you set T to be.</a:t>
            </a:r>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3eaff83140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9" name="Google Shape;719;g3eaff83140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3eaff83140e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7" name="Google Shape;727;g3eaff83140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3eaff83140e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6" name="Google Shape;736;g3eaff83140e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3f7213594ef_2_303: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1" name="Google Shape;761;g3f7213594ef_2_30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762" name="Google Shape;762;g3f7213594ef_2_30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3f7213594ef_2_316: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g3f7213594ef_2_31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 sz="1100"/>
              <a:t>ELMo Code Walkthrough</a:t>
            </a:r>
            <a:endParaRPr/>
          </a:p>
          <a:p>
            <a:pPr marL="457200" lvl="0" indent="-298450" algn="l" rtl="0">
              <a:lnSpc>
                <a:spcPct val="100000"/>
              </a:lnSpc>
              <a:spcBef>
                <a:spcPts val="0"/>
              </a:spcBef>
              <a:spcAft>
                <a:spcPts val="0"/>
              </a:spcAft>
              <a:buSzPts val="1100"/>
              <a:buChar char="●"/>
            </a:pPr>
            <a:r>
              <a:rPr lang="en" sz="1100"/>
              <a:t>The code demonstrates ELMo's key superpower: the same word gets different vectors depending on context.</a:t>
            </a:r>
            <a:endParaRPr/>
          </a:p>
          <a:p>
            <a:pPr marL="457200" lvl="0" indent="-298450" algn="l" rtl="0">
              <a:lnSpc>
                <a:spcPct val="100000"/>
              </a:lnSpc>
              <a:spcBef>
                <a:spcPts val="0"/>
              </a:spcBef>
              <a:spcAft>
                <a:spcPts val="0"/>
              </a:spcAft>
              <a:buSzPts val="1100"/>
              <a:buChar char="●"/>
            </a:pPr>
            <a:r>
              <a:rPr lang="en" sz="1100"/>
              <a:t>Setup &amp; Model</a:t>
            </a:r>
            <a:endParaRPr/>
          </a:p>
          <a:p>
            <a:pPr marL="457200" lvl="0" indent="-298450" algn="l" rtl="0">
              <a:lnSpc>
                <a:spcPct val="100000"/>
              </a:lnSpc>
              <a:spcBef>
                <a:spcPts val="0"/>
              </a:spcBef>
              <a:spcAft>
                <a:spcPts val="0"/>
              </a:spcAft>
              <a:buSzPts val="1100"/>
              <a:buChar char="●"/>
            </a:pPr>
            <a:r>
              <a:rPr lang="en" sz="1100"/>
              <a:t>pythonfrom allennlp.commands.elmo import ElmoEmbedder</a:t>
            </a:r>
            <a:endParaRPr/>
          </a:p>
          <a:p>
            <a:pPr marL="457200" lvl="0" indent="-298450" algn="l" rtl="0">
              <a:lnSpc>
                <a:spcPct val="100000"/>
              </a:lnSpc>
              <a:spcBef>
                <a:spcPts val="0"/>
              </a:spcBef>
              <a:spcAft>
                <a:spcPts val="0"/>
              </a:spcAft>
              <a:buSzPts val="1100"/>
              <a:buChar char="●"/>
            </a:pPr>
            <a:r>
              <a:rPr lang="en" sz="1100"/>
              <a:t>elmo = ElmoEmbedder()</a:t>
            </a:r>
            <a:endParaRPr/>
          </a:p>
          <a:p>
            <a:pPr marL="457200" lvl="0" indent="-298450" algn="l" rtl="0">
              <a:lnSpc>
                <a:spcPct val="100000"/>
              </a:lnSpc>
              <a:spcBef>
                <a:spcPts val="0"/>
              </a:spcBef>
              <a:spcAft>
                <a:spcPts val="0"/>
              </a:spcAft>
              <a:buSzPts val="1100"/>
              <a:buChar char="●"/>
            </a:pPr>
            <a:r>
              <a:rPr lang="en" sz="1100"/>
              <a:t>Loads a pretrained ELMo model. Internally this is a 2-layer bidirectional LSTM trained on a large corpus.</a:t>
            </a:r>
            <a:endParaRPr/>
          </a:p>
          <a:p>
            <a:pPr marL="457200" lvl="0" indent="-298450" algn="l" rtl="0">
              <a:lnSpc>
                <a:spcPct val="100000"/>
              </a:lnSpc>
              <a:spcBef>
                <a:spcPts val="0"/>
              </a:spcBef>
              <a:spcAft>
                <a:spcPts val="0"/>
              </a:spcAft>
              <a:buSzPts val="1100"/>
              <a:buChar char="●"/>
            </a:pPr>
            <a:r>
              <a:rPr lang="en" sz="1100"/>
              <a:t>Two sentences with ambiguous "bank"</a:t>
            </a:r>
            <a:endParaRPr/>
          </a:p>
          <a:p>
            <a:pPr marL="457200" lvl="0" indent="-298450" algn="l" rtl="0">
              <a:lnSpc>
                <a:spcPct val="100000"/>
              </a:lnSpc>
              <a:spcBef>
                <a:spcPts val="0"/>
              </a:spcBef>
              <a:spcAft>
                <a:spcPts val="0"/>
              </a:spcAft>
              <a:buSzPts val="1100"/>
              <a:buChar char="●"/>
            </a:pPr>
            <a:r>
              <a:rPr lang="en" sz="1100"/>
              <a:t>pythonsent1 = ["I", "went", "to", "the", "bank"]   # financial bank</a:t>
            </a:r>
            <a:endParaRPr/>
          </a:p>
          <a:p>
            <a:pPr marL="457200" lvl="0" indent="-298450" algn="l" rtl="0">
              <a:lnSpc>
                <a:spcPct val="100000"/>
              </a:lnSpc>
              <a:spcBef>
                <a:spcPts val="0"/>
              </a:spcBef>
              <a:spcAft>
                <a:spcPts val="0"/>
              </a:spcAft>
              <a:buSzPts val="1100"/>
              <a:buChar char="●"/>
            </a:pPr>
            <a:r>
              <a:rPr lang="en" sz="1100"/>
              <a:t>sent2 = ["I", "swam", "to", "the", "bank"]        # river bank</a:t>
            </a:r>
            <a:endParaRPr/>
          </a:p>
          <a:p>
            <a:pPr marL="457200" lvl="0" indent="-298450" algn="l" rtl="0">
              <a:lnSpc>
                <a:spcPct val="100000"/>
              </a:lnSpc>
              <a:spcBef>
                <a:spcPts val="0"/>
              </a:spcBef>
              <a:spcAft>
                <a:spcPts val="0"/>
              </a:spcAft>
              <a:buSzPts val="1100"/>
              <a:buChar char="●"/>
            </a:pPr>
            <a:r>
              <a:rPr lang="en" sz="1100"/>
              <a:t>Both sentences contain "bank" as the 5th token (index 4) — but with completely different meanings. This is the same sentence used in the layer-stacking diagram (slide 5), so emb1 refers to the same tensor throughout the deck.</a:t>
            </a:r>
            <a:endParaRPr/>
          </a:p>
          <a:p>
            <a:pPr marL="457200" lvl="0" indent="-298450" algn="l" rtl="0">
              <a:lnSpc>
                <a:spcPct val="100000"/>
              </a:lnSpc>
              <a:spcBef>
                <a:spcPts val="0"/>
              </a:spcBef>
              <a:spcAft>
                <a:spcPts val="0"/>
              </a:spcAft>
              <a:buSzPts val="1100"/>
              <a:buChar char="●"/>
            </a:pPr>
            <a:r>
              <a:rPr lang="en" sz="1100"/>
              <a:t>Embedding shape: (3, 5, 1024)</a:t>
            </a:r>
            <a:endParaRPr/>
          </a:p>
          <a:p>
            <a:pPr marL="457200" lvl="0" indent="-298450" algn="l" rtl="0">
              <a:lnSpc>
                <a:spcPct val="100000"/>
              </a:lnSpc>
              <a:spcBef>
                <a:spcPts val="0"/>
              </a:spcBef>
              <a:spcAft>
                <a:spcPts val="0"/>
              </a:spcAft>
              <a:buSzPts val="1100"/>
              <a:buChar char="●"/>
            </a:pPr>
            <a:r>
              <a:rPr lang="en" sz="1100"/>
              <a:t>pythonemb1 = elmo.embed_sentence(sent1)  # shape: (3, 5, 1024)</a:t>
            </a:r>
            <a:endParaRPr/>
          </a:p>
          <a:p>
            <a:pPr marL="457200" lvl="0" indent="-298450" algn="l" rtl="0">
              <a:lnSpc>
                <a:spcPct val="100000"/>
              </a:lnSpc>
              <a:spcBef>
                <a:spcPts val="0"/>
              </a:spcBef>
              <a:spcAft>
                <a:spcPts val="0"/>
              </a:spcAft>
              <a:buSzPts val="1100"/>
              <a:buChar char="●"/>
            </a:pPr>
            <a:r>
              <a:rPr lang="en" sz="1100"/>
              <a:t>emb2 = elmo.embed_sentence(sent2)  # shape: (3, 5, 1024)</a:t>
            </a:r>
            <a:endParaRPr/>
          </a:p>
          <a:p>
            <a:pPr marL="457200" lvl="0" indent="-298450" algn="l" rtl="0">
              <a:lnSpc>
                <a:spcPct val="100000"/>
              </a:lnSpc>
              <a:spcBef>
                <a:spcPts val="0"/>
              </a:spcBef>
              <a:spcAft>
                <a:spcPts val="0"/>
              </a:spcAft>
              <a:buSzPts val="1100"/>
              <a:buChar char="●"/>
            </a:pPr>
            <a:r>
              <a:rPr lang="en" sz="1100"/>
              <a:t>The three dimensions mean:</a:t>
            </a:r>
            <a:endParaRPr/>
          </a:p>
          <a:p>
            <a:pPr marL="457200" lvl="0" indent="-298450" algn="l" rtl="0">
              <a:lnSpc>
                <a:spcPct val="100000"/>
              </a:lnSpc>
              <a:spcBef>
                <a:spcPts val="0"/>
              </a:spcBef>
              <a:spcAft>
                <a:spcPts val="0"/>
              </a:spcAft>
              <a:buSzPts val="1100"/>
              <a:buChar char="●"/>
            </a:pPr>
            <a:r>
              <a:rPr lang="en" sz="1100"/>
              <a:t>DimensionSizeMeaningFirst33 layers: character CNN + LSTM layer 1 + LSTM layer 2Second55 tokens in the sentenceThird1024vector size per token per layer</a:t>
            </a:r>
            <a:endParaRPr/>
          </a:p>
          <a:p>
            <a:pPr marL="457200" lvl="0" indent="-298450" algn="l" rtl="0">
              <a:lnSpc>
                <a:spcPct val="100000"/>
              </a:lnSpc>
              <a:spcBef>
                <a:spcPts val="0"/>
              </a:spcBef>
              <a:spcAft>
                <a:spcPts val="0"/>
              </a:spcAft>
              <a:buSzPts val="1100"/>
              <a:buChar char="●"/>
            </a:pPr>
            <a:r>
              <a:rPr lang="en" sz="1100"/>
              <a:t>Extracting "bank" from layer 2</a:t>
            </a:r>
            <a:endParaRPr/>
          </a:p>
          <a:p>
            <a:pPr marL="457200" lvl="0" indent="-298450" algn="l" rtl="0">
              <a:lnSpc>
                <a:spcPct val="100000"/>
              </a:lnSpc>
              <a:spcBef>
                <a:spcPts val="0"/>
              </a:spcBef>
              <a:spcAft>
                <a:spcPts val="0"/>
              </a:spcAft>
              <a:buSzPts val="1100"/>
              <a:buChar char="●"/>
            </a:pPr>
            <a:r>
              <a:rPr lang="en" sz="1100"/>
              <a:t>pythonbank_finance = emb1[2][4]   # layer 2, position 4</a:t>
            </a:r>
            <a:endParaRPr/>
          </a:p>
          <a:p>
            <a:pPr marL="457200" lvl="0" indent="-298450" algn="l" rtl="0">
              <a:lnSpc>
                <a:spcPct val="100000"/>
              </a:lnSpc>
              <a:spcBef>
                <a:spcPts val="0"/>
              </a:spcBef>
              <a:spcAft>
                <a:spcPts val="0"/>
              </a:spcAft>
              <a:buSzPts val="1100"/>
              <a:buChar char="●"/>
            </a:pPr>
            <a:r>
              <a:rPr lang="en" sz="1100"/>
              <a:t>bank_river   = emb2[2][4]   # layer 2, position 4</a:t>
            </a:r>
            <a:endParaRPr/>
          </a:p>
          <a:p>
            <a:pPr marL="457200" lvl="0" indent="-298450" algn="l" rtl="0">
              <a:lnSpc>
                <a:spcPct val="100000"/>
              </a:lnSpc>
              <a:spcBef>
                <a:spcPts val="0"/>
              </a:spcBef>
              <a:spcAft>
                <a:spcPts val="0"/>
              </a:spcAft>
              <a:buSzPts val="1100"/>
              <a:buChar char="●"/>
            </a:pPr>
            <a:r>
              <a:rPr lang="en" sz="1100"/>
              <a:t>[2] = top LSTM layer (most context-sensitive), [4] = 5th token (index 4) = "bank". Layer 2 is chosen because it captures the most semantic meaning — lower layers capture syntax.</a:t>
            </a:r>
            <a:endParaRPr/>
          </a:p>
          <a:p>
            <a:pPr marL="457200" lvl="0" indent="-298450" algn="l" rtl="0">
              <a:lnSpc>
                <a:spcPct val="100000"/>
              </a:lnSpc>
              <a:spcBef>
                <a:spcPts val="0"/>
              </a:spcBef>
              <a:spcAft>
                <a:spcPts val="0"/>
              </a:spcAft>
              <a:buSzPts val="1100"/>
              <a:buChar char="●"/>
            </a:pPr>
            <a:r>
              <a:rPr lang="en" sz="1100"/>
              <a:t>Cosine similarity</a:t>
            </a:r>
            <a:endParaRPr/>
          </a:p>
          <a:p>
            <a:pPr marL="457200" lvl="0" indent="-298450" algn="l" rtl="0">
              <a:lnSpc>
                <a:spcPct val="100000"/>
              </a:lnSpc>
              <a:spcBef>
                <a:spcPts val="0"/>
              </a:spcBef>
              <a:spcAft>
                <a:spcPts val="0"/>
              </a:spcAft>
              <a:buSzPts val="1100"/>
              <a:buChar char="●"/>
            </a:pPr>
            <a:r>
              <a:rPr lang="en" sz="1100"/>
              <a:t>pythonsim = np.dot(bank_finance, bank_river) / (norm(bank_finance) * norm(bank_river))</a:t>
            </a:r>
            <a:endParaRPr/>
          </a:p>
          <a:p>
            <a:pPr marL="457200" lvl="0" indent="-298450" algn="l" rtl="0">
              <a:lnSpc>
                <a:spcPct val="100000"/>
              </a:lnSpc>
              <a:spcBef>
                <a:spcPts val="0"/>
              </a:spcBef>
              <a:spcAft>
                <a:spcPts val="0"/>
              </a:spcAft>
              <a:buSzPts val="1100"/>
              <a:buChar char="●"/>
            </a:pPr>
            <a:r>
              <a:rPr lang="en" sz="1100"/>
              <a:t># prints ~0.54</a:t>
            </a:r>
            <a:endParaRPr/>
          </a:p>
          <a:p>
            <a:pPr marL="457200" lvl="0" indent="-298450" algn="l" rtl="0">
              <a:lnSpc>
                <a:spcPct val="100000"/>
              </a:lnSpc>
              <a:spcBef>
                <a:spcPts val="0"/>
              </a:spcBef>
              <a:spcAft>
                <a:spcPts val="0"/>
              </a:spcAft>
              <a:buSzPts val="1100"/>
              <a:buChar char="●"/>
            </a:pPr>
            <a:r>
              <a:rPr lang="en" sz="1100"/>
              <a:t>Cosine similarity of 0.54 means the two "bank" vectors are moderately different — not completely unrelated (same spelling, same grammar), but clearly distinct because ELMo has seen their different contexts. A static embedding (Word2Vec, GloVe) would give 1.0 — identical vectors regardless of context.</a:t>
            </a:r>
            <a:endParaRPr/>
          </a:p>
          <a:p>
            <a:pPr marL="457200" lvl="0" indent="-298450" algn="l" rtl="0">
              <a:lnSpc>
                <a:spcPct val="100000"/>
              </a:lnSpc>
              <a:spcBef>
                <a:spcPts val="0"/>
              </a:spcBef>
              <a:spcAft>
                <a:spcPts val="0"/>
              </a:spcAft>
              <a:buSzPts val="1100"/>
              <a:buChar char="●"/>
            </a:pPr>
            <a:r>
              <a:rPr lang="en" sz="1100"/>
              <a:t>The key insight</a:t>
            </a:r>
            <a:endParaRPr/>
          </a:p>
          <a:p>
            <a:pPr marL="457200" lvl="0" indent="-298450" algn="l" rtl="0">
              <a:lnSpc>
                <a:spcPct val="100000"/>
              </a:lnSpc>
              <a:spcBef>
                <a:spcPts val="0"/>
              </a:spcBef>
              <a:spcAft>
                <a:spcPts val="0"/>
              </a:spcAft>
              <a:buSzPts val="1100"/>
              <a:buChar char="●"/>
            </a:pPr>
            <a:r>
              <a:rPr lang="en" sz="1100"/>
              <a:t>Static embeddings:   bank (financial) == bank (river)   ← same vector always</a:t>
            </a:r>
            <a:endParaRPr/>
          </a:p>
          <a:p>
            <a:pPr marL="457200" lvl="0" indent="-298450" algn="l" rtl="0">
              <a:lnSpc>
                <a:spcPct val="100000"/>
              </a:lnSpc>
              <a:spcBef>
                <a:spcPts val="0"/>
              </a:spcBef>
              <a:spcAft>
                <a:spcPts val="0"/>
              </a:spcAft>
              <a:buSzPts val="1100"/>
              <a:buChar char="●"/>
            </a:pPr>
            <a:r>
              <a:rPr lang="en" sz="1100"/>
              <a:t>ELMo embeddings:     bank (financial) ≠  bank (river)   ← context changes the vector</a:t>
            </a:r>
            <a:endParaRPr/>
          </a:p>
          <a:p>
            <a:pPr marL="457200" lvl="0" indent="-298450" algn="l" rtl="0">
              <a:lnSpc>
                <a:spcPct val="100000"/>
              </a:lnSpc>
              <a:spcBef>
                <a:spcPts val="0"/>
              </a:spcBef>
              <a:spcAft>
                <a:spcPts val="0"/>
              </a:spcAft>
              <a:buSzPts val="1100"/>
              <a:buChar char="●"/>
            </a:pPr>
            <a:r>
              <a:rPr lang="en" sz="1100"/>
              <a:t>This is what made ELMo a breakthrough in 2018 — it was the first widely-used contextual embedding, directly inspiring BERT which took the same idea further using Transformers instead of LSTMs.</a:t>
            </a:r>
            <a:endParaRPr/>
          </a:p>
          <a:p>
            <a:pPr marL="457200" lvl="0" indent="-228600" algn="l" rtl="0">
              <a:lnSpc>
                <a:spcPct val="100000"/>
              </a:lnSpc>
              <a:spcBef>
                <a:spcPts val="0"/>
              </a:spcBef>
              <a:spcAft>
                <a:spcPts val="0"/>
              </a:spcAft>
              <a:buSzPts val="1100"/>
              <a:buNone/>
            </a:pPr>
            <a:endParaRPr/>
          </a:p>
        </p:txBody>
      </p:sp>
      <p:sp>
        <p:nvSpPr>
          <p:cNvPr id="776" name="Google Shape;776;g3f7213594ef_2_31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3f7213594ef_2_35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g3f7213594ef_2_35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818" name="Google Shape;818;g3f7213594ef_2_35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3f7213594ef_2_434: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3f7213594ef_2_434: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896" name="Google Shape;896;g3f7213594ef_2_434: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3f7213594ef_2_5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0" name="Google Shape;1020;g3f7213594ef_2_5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Layer 0 — Character-based Embedding (Token Layer)</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This is the </a:t>
            </a:r>
            <a:r>
              <a:rPr lang="en" b="1">
                <a:solidFill>
                  <a:schemeClr val="dk1"/>
                </a:solidFill>
              </a:rPr>
              <a:t>input layer</a:t>
            </a:r>
            <a:r>
              <a:rPr lang="en">
                <a:solidFill>
                  <a:schemeClr val="dk1"/>
                </a:solidFill>
              </a:rPr>
              <a:t>, not an LSTM layer. It processes the raw characters of each word through a CNN to produce an initial embedding.</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Why characters, not words?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Handles </a:t>
            </a:r>
            <a:r>
              <a:rPr lang="en" b="1">
                <a:solidFill>
                  <a:schemeClr val="dk1"/>
                </a:solidFill>
              </a:rPr>
              <a:t>out-of-vocabulary words</a:t>
            </a:r>
            <a:r>
              <a:rPr lang="en">
                <a:solidFill>
                  <a:schemeClr val="dk1"/>
                </a:solidFill>
              </a:rPr>
              <a:t> naturally — it has never "seen" a word before, only characters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Captures morphology — "running", "runner", "runs" share character patterns, so their embeddings start similar</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No vocabulary limit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What it captures:</a:t>
            </a:r>
            <a:r>
              <a:rPr lang="en">
                <a:solidFill>
                  <a:schemeClr val="dk1"/>
                </a:solidFill>
              </a:rPr>
              <a:t> Surface form — spelling, morphology, word shape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14181F"/>
                </a:solidFill>
              </a:rPr>
              <a:t>"unhappiness" → char CNN → [vector based on u,n,h,a,p,p,i,n,e,s,s]</a:t>
            </a:r>
            <a:endParaRPr>
              <a:solidFill>
                <a:srgbClr val="14181F"/>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3eaff83140e_0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9" name="Google Shape;1089;g3eaff83140e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3eee001534e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7" name="Google Shape;1097;g3eee001534e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3eaff83140e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5" name="Google Shape;1105;g3eaff83140e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g3d7337e18ce_0_14: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1" name="Google Shape;1141;g3d7337e18ce_0_14: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2" name="Google Shape;1142;g3d7337e18ce_0_14: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3eabf4f8c0f_1_5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3" name="Google Shape;1173;g3eabf4f8c0f_1_56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9"/>
        <p:cNvGrpSpPr/>
        <p:nvPr/>
      </p:nvGrpSpPr>
      <p:grpSpPr>
        <a:xfrm>
          <a:off x="0" y="0"/>
          <a:ext cx="0" cy="0"/>
          <a:chOff x="0" y="0"/>
          <a:chExt cx="0" cy="0"/>
        </a:xfrm>
      </p:grpSpPr>
      <p:sp>
        <p:nvSpPr>
          <p:cNvPr id="1180" name="Google Shape;1180;g3d7337e18ce_0_45: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1" name="Google Shape;1181;g3d7337e18ce_0_4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2" name="Google Shape;1182;g3d7337e18ce_0_4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g3d7337e18ce_0_61: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8" name="Google Shape;1198;g3d7337e18ce_0_6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The context vector cₜ itself is always built only from the encoder's hidden states — h₁, h₂, h₃ for "I", "love", "you". At every decoder step, cₜ = Σᵢ αᵢ·hᵢ, a weighted sum over those same three source-side vectors. The words "je" or "t'aime" never get summed into cₜ directly — cₜ only ever contains information about the source sentence.</a:t>
            </a:r>
            <a:endParaRPr/>
          </a:p>
          <a:p>
            <a:pPr marL="0" lvl="0" indent="0" algn="l" rtl="0">
              <a:lnSpc>
                <a:spcPct val="115000"/>
              </a:lnSpc>
              <a:spcBef>
                <a:spcPts val="1200"/>
              </a:spcBef>
              <a:spcAft>
                <a:spcPts val="0"/>
              </a:spcAft>
              <a:buClr>
                <a:schemeClr val="dk1"/>
              </a:buClr>
              <a:buSzPts val="1100"/>
              <a:buFont typeface="Arial"/>
              <a:buNone/>
            </a:pPr>
            <a:r>
              <a:rPr lang="en"/>
              <a:t>What changes at each step is the weights αᵢ, and that's where "je" enters — indirectly. The attention weights are computed from a query: the decoder's previous hidden state sₜ (labeled on the diagram feeding back into the Attention Layer). When decoding "t'aime", sₜ is the decoder RNN's hidden state after it has just processed "je" as input — so it already encodes "I've generated 'je', now what's next." That state is what's compared against h₁, h₂, h₃ to produce fresh α₁, α₂, α₃, which then get combined into the new cₜ.</a:t>
            </a:r>
            <a:endParaRPr/>
          </a:p>
          <a:p>
            <a:pPr marL="0" lvl="0" indent="0" algn="l" rtl="0">
              <a:lnSpc>
                <a:spcPct val="115000"/>
              </a:lnSpc>
              <a:spcBef>
                <a:spcPts val="1200"/>
              </a:spcBef>
              <a:spcAft>
                <a:spcPts val="0"/>
              </a:spcAft>
              <a:buClr>
                <a:schemeClr val="dk1"/>
              </a:buClr>
              <a:buSzPts val="1100"/>
              <a:buFont typeface="Arial"/>
              <a:buNone/>
            </a:pPr>
            <a:r>
              <a:rPr lang="en"/>
              <a:t>So: "je" is not a value being pooled into cₜ, but it does shape cₜ — by updating the decoder state that acts as the query, which in turn changes which encoder words get attended to next. That's exactly the "recomputed each step" note on the diagram: the source vectors being summed (h₁…hₙ) stay fixed, but the weighting over them shifts based on how much of the target sentence has been generated so far.</a:t>
            </a:r>
            <a:endParaRPr/>
          </a:p>
          <a:p>
            <a:pPr marL="0" lvl="0" indent="0" algn="l" rtl="0">
              <a:spcBef>
                <a:spcPts val="1200"/>
              </a:spcBef>
              <a:spcAft>
                <a:spcPts val="0"/>
              </a:spcAft>
              <a:buNone/>
            </a:pPr>
            <a:endParaRPr/>
          </a:p>
        </p:txBody>
      </p:sp>
      <p:sp>
        <p:nvSpPr>
          <p:cNvPr id="1199" name="Google Shape;1199;g3d7337e18ce_0_6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p:cNvGrpSpPr/>
        <p:nvPr/>
      </p:nvGrpSpPr>
      <p:grpSpPr>
        <a:xfrm>
          <a:off x="0" y="0"/>
          <a:ext cx="0" cy="0"/>
          <a:chOff x="0" y="0"/>
          <a:chExt cx="0" cy="0"/>
        </a:xfrm>
      </p:grpSpPr>
      <p:sp>
        <p:nvSpPr>
          <p:cNvPr id="1218" name="Google Shape;1218;g3d7337e18ce_0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19" name="Google Shape;1219;g3d7337e18ce_0_8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g3d7337e18ce_0_92: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1" name="Google Shape;1231;g3d7337e18ce_0_9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3 — Weak Long-Range in Encoder</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The problem setup</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In RNN + Attention (pre-Transformer), the encoder was still a sequential RNN:</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x₁ → h₁ → h₂ → h₃ → h₄ → h₅ → h₆</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"The  cat  sat  on   the  mat"</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The attention mechanism then let the decoder look at all encoder hidden states h₁…h₆. Sounds fine — but the problem is what's inside those hidden states.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Why early tokens get diluted</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To reach h₆, the information from x₁ ("The") had to travel through:</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x₁ → h₁ → h₂ → h₃ → h₄ → h₅ → h₆</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Each arrow is a tanh transformation and a matrix multiply. By the time h₆ is computed, the signal from x₁ has been overwritten, mixed, and compressed through 5 intermediate steps.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So when the decoder attends to h₆, it's not really attending to "The" cleanly — it's attending to a blurry version of it. The attention mechanism fixes decoder-to-encoder access, but not encoder-internal quality.</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Analogy</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Imagine summarising a book by reading it through 6 people playing telephone. Even if you can ask any person a question, their answer about chapter 1 is already corrupted by chapters 2–6 passing through them.</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05 — No Intra-Sequence Attention</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The problem</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In RNN + Attention, attention only ran in one direction: decoder → encoder.</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Encoder:  h₁  h₂  h₃  h₄  h₅</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                              ↑  ↑  ↑  ↑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Decoder:                     d₁ (attends to all hᵢ)</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The encoder tokens could not attend to each other. So when encoding "bank" in "I went to the river bank", the encoder RNN for "bank" only knew about previous words through the hidden state chain — not through direct attention to "river".</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Why this matters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Consider encoding the sentence:</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"The trophy didn't fit in the suitcase because it was too big"</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What does "it" refer to — trophy or suitcase? To resolve this, the encoder needs "it" to directly attend to both "trophy" and "suitcase" and compare. But with RNN encoding, "it" can only access earlier words through the degraded hidden state — no direct lookup is possible within the encoder itself.</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The fix: Self-Attention</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Transformers introduce self-attention where every token in the encoder attends to every other token in the same sequence:</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         "bank"</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          ↑  ↑  ↑  ↑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"I"  "went" "to" "the" "river"</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Now "bank" directly queries "river", "went", "I" all at once — in one step, with learned attention weights — and builds a representation that is already context-aware before any decoding happens. This is what makes BERT (encoder-only Transformer) so powerful at understanding tasks.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How they connect</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RNN + AttentionTransformerEncoder qualityTokens diluted through chainEvery token directly attends to all othersWithin-encoder lookupImpossible — no self-attentionO(1) — one attention step to any tokenDecoder accessGood (attention to hᵢ)Good (cross-attention)</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Both problems share the same root cause: the RNN forces sequential processing, which makes direct token-to-token communication within the encoder impossible. Self-attention kills both problems at once.</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
        <p:nvSpPr>
          <p:cNvPr id="1232" name="Google Shape;1232;g3d7337e18ce_0_9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9"/>
        <p:cNvGrpSpPr/>
        <p:nvPr/>
      </p:nvGrpSpPr>
      <p:grpSpPr>
        <a:xfrm>
          <a:off x="0" y="0"/>
          <a:ext cx="0" cy="0"/>
          <a:chOff x="0" y="0"/>
          <a:chExt cx="0" cy="0"/>
        </a:xfrm>
      </p:grpSpPr>
      <p:sp>
        <p:nvSpPr>
          <p:cNvPr id="1280" name="Google Shape;1280;g3d7337e18ce_0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Left Diagram — ELMo's 3-Layer Structure</a:t>
            </a:r>
            <a:endParaRPr/>
          </a:p>
          <a:p>
            <a:pPr marL="0" lvl="0" indent="0" algn="l" rtl="0">
              <a:lnSpc>
                <a:spcPct val="115000"/>
              </a:lnSpc>
              <a:spcBef>
                <a:spcPts val="0"/>
              </a:spcBef>
              <a:spcAft>
                <a:spcPts val="0"/>
              </a:spcAft>
              <a:buClr>
                <a:schemeClr val="dk1"/>
              </a:buClr>
              <a:buSzPts val="1100"/>
              <a:buFont typeface="Arial"/>
              <a:buNone/>
            </a:pPr>
            <a:r>
              <a:rPr lang="en"/>
              <a:t>This shows how ELMo produces a single embedding for one token (say h₁).</a:t>
            </a:r>
            <a:endParaRPr/>
          </a:p>
          <a:p>
            <a:pPr marL="0" lvl="0" indent="0" algn="l" rtl="0">
              <a:lnSpc>
                <a:spcPct val="115000"/>
              </a:lnSpc>
              <a:spcBef>
                <a:spcPts val="0"/>
              </a:spcBef>
              <a:spcAft>
                <a:spcPts val="0"/>
              </a:spcAft>
              <a:buClr>
                <a:schemeClr val="dk1"/>
              </a:buClr>
              <a:buSzPts val="1100"/>
              <a:buFont typeface="Arial"/>
              <a:buNone/>
            </a:pPr>
            <a:r>
              <a:rPr lang="en"/>
              <a:t>Layer 2  [ 2  2  2  2  2  2  2  2 ]  ← top BiLSTM layer</a:t>
            </a:r>
            <a:endParaRPr/>
          </a:p>
          <a:p>
            <a:pPr marL="0" lvl="0" indent="0" algn="l" rtl="0">
              <a:lnSpc>
                <a:spcPct val="115000"/>
              </a:lnSpc>
              <a:spcBef>
                <a:spcPts val="0"/>
              </a:spcBef>
              <a:spcAft>
                <a:spcPts val="0"/>
              </a:spcAft>
              <a:buClr>
                <a:schemeClr val="dk1"/>
              </a:buClr>
              <a:buSzPts val="1100"/>
              <a:buFont typeface="Arial"/>
              <a:buNone/>
            </a:pPr>
            <a:r>
              <a:rPr lang="en"/>
              <a:t>Layer 1  [ 1  1  1  1  1  1  1  1 ]  ← bottom BiLSTM layer</a:t>
            </a:r>
            <a:endParaRPr/>
          </a:p>
          <a:p>
            <a:pPr marL="0" lvl="0" indent="0" algn="l" rtl="0">
              <a:lnSpc>
                <a:spcPct val="115000"/>
              </a:lnSpc>
              <a:spcBef>
                <a:spcPts val="0"/>
              </a:spcBef>
              <a:spcAft>
                <a:spcPts val="0"/>
              </a:spcAft>
              <a:buClr>
                <a:schemeClr val="dk1"/>
              </a:buClr>
              <a:buSzPts val="1100"/>
              <a:buFont typeface="Arial"/>
              <a:buNone/>
            </a:pPr>
            <a:r>
              <a:rPr lang="en"/>
              <a:t>Layer 0  [ 0  0  0  0  0  0  0  0 ]  ← raw character CNN embedding</a:t>
            </a:r>
            <a:endParaRPr/>
          </a:p>
          <a:p>
            <a:pPr marL="0" lvl="0" indent="0" algn="l" rtl="0">
              <a:lnSpc>
                <a:spcPct val="115000"/>
              </a:lnSpc>
              <a:spcBef>
                <a:spcPts val="0"/>
              </a:spcBef>
              <a:spcAft>
                <a:spcPts val="0"/>
              </a:spcAft>
              <a:buClr>
                <a:schemeClr val="dk1"/>
              </a:buClr>
              <a:buSzPts val="1100"/>
              <a:buFont typeface="Arial"/>
              <a:buNone/>
            </a:pPr>
            <a:r>
              <a:rPr lang="en"/>
              <a:t>           h₁  h₂  h₃  h₄  h₅  h₆  h₇  hT</a:t>
            </a:r>
            <a:endParaRPr/>
          </a:p>
          <a:p>
            <a:pPr marL="0" lvl="0" indent="0" algn="l" rtl="0">
              <a:lnSpc>
                <a:spcPct val="115000"/>
              </a:lnSpc>
              <a:spcBef>
                <a:spcPts val="0"/>
              </a:spcBef>
              <a:spcAft>
                <a:spcPts val="0"/>
              </a:spcAft>
              <a:buClr>
                <a:schemeClr val="dk1"/>
              </a:buClr>
              <a:buSzPts val="1100"/>
              <a:buFont typeface="Arial"/>
              <a:buNone/>
            </a:pPr>
            <a:r>
              <a:rPr lang="en"/>
              <a:t>What are 0, 1, 2?</a:t>
            </a:r>
            <a:endParaRPr/>
          </a:p>
          <a:p>
            <a:pPr marL="0" lvl="0" indent="0" algn="l" rtl="0">
              <a:lnSpc>
                <a:spcPct val="115000"/>
              </a:lnSpc>
              <a:spcBef>
                <a:spcPts val="0"/>
              </a:spcBef>
              <a:spcAft>
                <a:spcPts val="0"/>
              </a:spcAft>
              <a:buClr>
                <a:schemeClr val="dk1"/>
              </a:buClr>
              <a:buSzPts val="1100"/>
              <a:buFont typeface="Arial"/>
              <a:buNone/>
            </a:pPr>
            <a:r>
              <a:rPr lang="en"/>
              <a:t>They are layer indices — not values. Each token has a representation at each of the 3 layers:</a:t>
            </a:r>
            <a:endParaRPr/>
          </a:p>
          <a:p>
            <a:pPr marL="0" lvl="0" indent="0" algn="l" rtl="0">
              <a:lnSpc>
                <a:spcPct val="115000"/>
              </a:lnSpc>
              <a:spcBef>
                <a:spcPts val="0"/>
              </a:spcBef>
              <a:spcAft>
                <a:spcPts val="0"/>
              </a:spcAft>
              <a:buClr>
                <a:schemeClr val="dk1"/>
              </a:buClr>
              <a:buSzPts val="1100"/>
              <a:buFont typeface="Arial"/>
              <a:buNone/>
            </a:pPr>
            <a:r>
              <a:rPr lang="en"/>
              <a:t>NumberLayerWhat it captures0Character CNN embeddingRaw word form — spelling, morphology (e.g. "running" vs "run")1BiLSTM Layer 1Syntactic info — POS tags, sentence structure2BiLSTM Layer 2Semantic info — word meaning, context, coreference</a:t>
            </a:r>
            <a:endParaRPr/>
          </a:p>
          <a:p>
            <a:pPr marL="0" lvl="0" indent="0" algn="l" rtl="0">
              <a:lnSpc>
                <a:spcPct val="115000"/>
              </a:lnSpc>
              <a:spcBef>
                <a:spcPts val="0"/>
              </a:spcBef>
              <a:spcAft>
                <a:spcPts val="0"/>
              </a:spcAft>
              <a:buClr>
                <a:schemeClr val="dk1"/>
              </a:buClr>
              <a:buSzPts val="1100"/>
              <a:buFont typeface="Arial"/>
              <a:buNone/>
            </a:pPr>
            <a:r>
              <a:rPr lang="en"/>
              <a:t>This is why in the code from your previous slide, emb1[2][5] specifically picked layer 2 to compare "bank" meanings — because layer 2 is the most semantically rich.</a:t>
            </a:r>
            <a:endParaRPr/>
          </a:p>
          <a:p>
            <a:pPr marL="0" lvl="0" indent="0" algn="l" rtl="0">
              <a:lnSpc>
                <a:spcPct val="115000"/>
              </a:lnSpc>
              <a:spcBef>
                <a:spcPts val="0"/>
              </a:spcBef>
              <a:spcAft>
                <a:spcPts val="0"/>
              </a:spcAft>
              <a:buClr>
                <a:schemeClr val="dk1"/>
              </a:buClr>
              <a:buSzPts val="1100"/>
              <a:buFont typeface="Arial"/>
              <a:buNone/>
            </a:pPr>
            <a:r>
              <a:rPr lang="en"/>
              <a:t>What does "attention" mean on the left?</a:t>
            </a:r>
            <a:endParaRPr/>
          </a:p>
          <a:p>
            <a:pPr marL="0" lvl="0" indent="0" algn="l" rtl="0">
              <a:lnSpc>
                <a:spcPct val="115000"/>
              </a:lnSpc>
              <a:spcBef>
                <a:spcPts val="0"/>
              </a:spcBef>
              <a:spcAft>
                <a:spcPts val="0"/>
              </a:spcAft>
              <a:buClr>
                <a:schemeClr val="dk1"/>
              </a:buClr>
              <a:buSzPts val="1100"/>
              <a:buFont typeface="Arial"/>
              <a:buNone/>
            </a:pPr>
            <a:r>
              <a:rPr lang="en"/>
              <a:t>The two "attention" labels on the left are pointing to the weighted combination step. ELMo doesn't just use one layer — it computes a learned weighted sum of all 3 layers:</a:t>
            </a:r>
            <a:endParaRPr/>
          </a:p>
          <a:p>
            <a:pPr marL="0" lvl="0" indent="0" algn="l" rtl="0">
              <a:lnSpc>
                <a:spcPct val="115000"/>
              </a:lnSpc>
              <a:spcBef>
                <a:spcPts val="0"/>
              </a:spcBef>
              <a:spcAft>
                <a:spcPts val="0"/>
              </a:spcAft>
              <a:buClr>
                <a:schemeClr val="dk1"/>
              </a:buClr>
              <a:buSzPts val="1100"/>
              <a:buFont typeface="Arial"/>
              <a:buNone/>
            </a:pPr>
            <a:r>
              <a:rPr lang="en"/>
              <a:t>ELMo(token) = γ · (s₀·layer0 + s₁·layer1 + s₂·layer2)</a:t>
            </a:r>
            <a:endParaRPr/>
          </a:p>
          <a:p>
            <a:pPr marL="0" lvl="0" indent="0" algn="l" rtl="0">
              <a:lnSpc>
                <a:spcPct val="115000"/>
              </a:lnSpc>
              <a:spcBef>
                <a:spcPts val="0"/>
              </a:spcBef>
              <a:spcAft>
                <a:spcPts val="0"/>
              </a:spcAft>
              <a:buClr>
                <a:schemeClr val="dk1"/>
              </a:buClr>
              <a:buSzPts val="1100"/>
              <a:buFont typeface="Arial"/>
              <a:buNone/>
            </a:pPr>
            <a:r>
              <a:rPr lang="en"/>
              <a:t>Where s₀, s₁, s₂ are task-specific softmax weights learned during fine-tuning. For a syntax task, the model learns to weight layer 1 more. For a semantic task, it weights layer 2 more. This is the core innovation of ELMo over fixed embeddings.</a:t>
            </a:r>
            <a:endParaRPr/>
          </a:p>
          <a:p>
            <a:pPr marL="0" lvl="0" indent="0" algn="l" rtl="0">
              <a:lnSpc>
                <a:spcPct val="115000"/>
              </a:lnSpc>
              <a:spcBef>
                <a:spcPts val="0"/>
              </a:spcBef>
              <a:spcAft>
                <a:spcPts val="0"/>
              </a:spcAft>
              <a:buClr>
                <a:schemeClr val="dk1"/>
              </a:buClr>
              <a:buSzPts val="1100"/>
              <a:buFont typeface="Arial"/>
              <a:buNone/>
            </a:pPr>
            <a:r>
              <a:rPr lang="en"/>
              <a:t>Right Diagram — Transformer Encoder-Decoder</a:t>
            </a:r>
            <a:endParaRPr/>
          </a:p>
          <a:p>
            <a:pPr marL="0" lvl="0" indent="0" algn="l" rtl="0">
              <a:lnSpc>
                <a:spcPct val="115000"/>
              </a:lnSpc>
              <a:spcBef>
                <a:spcPts val="0"/>
              </a:spcBef>
              <a:spcAft>
                <a:spcPts val="0"/>
              </a:spcAft>
              <a:buClr>
                <a:schemeClr val="dk1"/>
              </a:buClr>
              <a:buSzPts val="1100"/>
              <a:buFont typeface="Arial"/>
              <a:buNone/>
            </a:pPr>
            <a:r>
              <a:rPr lang="en"/>
              <a:t>This shows the full Transformer architecture with two separate stacks.</a:t>
            </a:r>
            <a:endParaRPr/>
          </a:p>
          <a:p>
            <a:pPr marL="0" lvl="0" indent="0" algn="l" rtl="0">
              <a:lnSpc>
                <a:spcPct val="115000"/>
              </a:lnSpc>
              <a:spcBef>
                <a:spcPts val="0"/>
              </a:spcBef>
              <a:spcAft>
                <a:spcPts val="0"/>
              </a:spcAft>
              <a:buClr>
                <a:schemeClr val="dk1"/>
              </a:buClr>
              <a:buSzPts val="1100"/>
              <a:buFont typeface="Arial"/>
              <a:buNone/>
            </a:pPr>
            <a:r>
              <a:rPr lang="en"/>
              <a:t>         ┌─────────────────┐</a:t>
            </a:r>
            <a:endParaRPr/>
          </a:p>
          <a:p>
            <a:pPr marL="0" lvl="0" indent="0" algn="l" rtl="0">
              <a:lnSpc>
                <a:spcPct val="115000"/>
              </a:lnSpc>
              <a:spcBef>
                <a:spcPts val="0"/>
              </a:spcBef>
              <a:spcAft>
                <a:spcPts val="0"/>
              </a:spcAft>
              <a:buClr>
                <a:schemeClr val="dk1"/>
              </a:buClr>
              <a:buSzPts val="1100"/>
              <a:buFont typeface="Arial"/>
              <a:buNone/>
            </a:pPr>
            <a:r>
              <a:rPr lang="en"/>
              <a:t>         │   DECODER stack  │  ← generates output tokens</a:t>
            </a:r>
            <a:endParaRPr/>
          </a:p>
          <a:p>
            <a:pPr marL="0" lvl="0" indent="0" algn="l" rtl="0">
              <a:lnSpc>
                <a:spcPct val="115000"/>
              </a:lnSpc>
              <a:spcBef>
                <a:spcPts val="0"/>
              </a:spcBef>
              <a:spcAft>
                <a:spcPts val="0"/>
              </a:spcAft>
              <a:buClr>
                <a:schemeClr val="dk1"/>
              </a:buClr>
              <a:buSzPts val="1100"/>
              <a:buFont typeface="Arial"/>
              <a:buNone/>
            </a:pPr>
            <a:r>
              <a:rPr lang="en"/>
              <a:t>         │  (3 layers shown)│</a:t>
            </a:r>
            <a:endParaRPr/>
          </a:p>
          <a:p>
            <a:pPr marL="0" lvl="0" indent="0" algn="l" rtl="0">
              <a:lnSpc>
                <a:spcPct val="115000"/>
              </a:lnSpc>
              <a:spcBef>
                <a:spcPts val="0"/>
              </a:spcBef>
              <a:spcAft>
                <a:spcPts val="0"/>
              </a:spcAft>
              <a:buClr>
                <a:schemeClr val="dk1"/>
              </a:buClr>
              <a:buSzPts val="1100"/>
              <a:buFont typeface="Arial"/>
              <a:buNone/>
            </a:pPr>
            <a:r>
              <a:rPr lang="en"/>
              <a:t>         └────────┬────────┘</a:t>
            </a:r>
            <a:endParaRPr/>
          </a:p>
          <a:p>
            <a:pPr marL="0" lvl="0" indent="0" algn="l" rtl="0">
              <a:lnSpc>
                <a:spcPct val="115000"/>
              </a:lnSpc>
              <a:spcBef>
                <a:spcPts val="0"/>
              </a:spcBef>
              <a:spcAft>
                <a:spcPts val="0"/>
              </a:spcAft>
              <a:buClr>
                <a:schemeClr val="dk1"/>
              </a:buClr>
              <a:buSzPts val="1100"/>
              <a:buFont typeface="Arial"/>
              <a:buNone/>
            </a:pPr>
            <a:r>
              <a:rPr lang="en"/>
              <a:t>                  ↑ green arrows = cross-attention</a:t>
            </a:r>
            <a:endParaRPr/>
          </a:p>
          <a:p>
            <a:pPr marL="0" lvl="0" indent="0" algn="l" rtl="0">
              <a:lnSpc>
                <a:spcPct val="115000"/>
              </a:lnSpc>
              <a:spcBef>
                <a:spcPts val="0"/>
              </a:spcBef>
              <a:spcAft>
                <a:spcPts val="0"/>
              </a:spcAft>
              <a:buClr>
                <a:schemeClr val="dk1"/>
              </a:buClr>
              <a:buSzPts val="1100"/>
              <a:buFont typeface="Arial"/>
              <a:buNone/>
            </a:pPr>
            <a:r>
              <a:rPr lang="en"/>
              <a:t>         ┌────────┴────────┐</a:t>
            </a:r>
            <a:endParaRPr/>
          </a:p>
          <a:p>
            <a:pPr marL="0" lvl="0" indent="0" algn="l" rtl="0">
              <a:lnSpc>
                <a:spcPct val="115000"/>
              </a:lnSpc>
              <a:spcBef>
                <a:spcPts val="0"/>
              </a:spcBef>
              <a:spcAft>
                <a:spcPts val="0"/>
              </a:spcAft>
              <a:buClr>
                <a:schemeClr val="dk1"/>
              </a:buClr>
              <a:buSzPts val="1100"/>
              <a:buFont typeface="Arial"/>
              <a:buNone/>
            </a:pPr>
            <a:r>
              <a:rPr lang="en"/>
              <a:t>         │   ENCODER stack  │  ← reads input tokens</a:t>
            </a:r>
            <a:endParaRPr/>
          </a:p>
          <a:p>
            <a:pPr marL="0" lvl="0" indent="0" algn="l" rtl="0">
              <a:lnSpc>
                <a:spcPct val="115000"/>
              </a:lnSpc>
              <a:spcBef>
                <a:spcPts val="0"/>
              </a:spcBef>
              <a:spcAft>
                <a:spcPts val="0"/>
              </a:spcAft>
              <a:buClr>
                <a:schemeClr val="dk1"/>
              </a:buClr>
              <a:buSzPts val="1100"/>
              <a:buFont typeface="Arial"/>
              <a:buNone/>
            </a:pPr>
            <a:r>
              <a:rPr lang="en"/>
              <a:t>         │  (3 layers shown)│</a:t>
            </a:r>
            <a:endParaRPr/>
          </a:p>
          <a:p>
            <a:pPr marL="0" lvl="0" indent="0" algn="l" rtl="0">
              <a:lnSpc>
                <a:spcPct val="115000"/>
              </a:lnSpc>
              <a:spcBef>
                <a:spcPts val="0"/>
              </a:spcBef>
              <a:spcAft>
                <a:spcPts val="0"/>
              </a:spcAft>
              <a:buClr>
                <a:schemeClr val="dk1"/>
              </a:buClr>
              <a:buSzPts val="1100"/>
              <a:buFont typeface="Arial"/>
              <a:buNone/>
            </a:pPr>
            <a:r>
              <a:rPr lang="en"/>
              <a:t>         └─────────────────┘</a:t>
            </a:r>
            <a:endParaRPr/>
          </a:p>
          <a:p>
            <a:pPr marL="0" lvl="0" indent="0" algn="l" rtl="0">
              <a:lnSpc>
                <a:spcPct val="115000"/>
              </a:lnSpc>
              <a:spcBef>
                <a:spcPts val="0"/>
              </a:spcBef>
              <a:spcAft>
                <a:spcPts val="0"/>
              </a:spcAft>
              <a:buClr>
                <a:schemeClr val="dk1"/>
              </a:buClr>
              <a:buSzPts val="1100"/>
              <a:buFont typeface="Arial"/>
              <a:buNone/>
            </a:pPr>
            <a:r>
              <a:rPr lang="en"/>
              <a:t>The black arrows (within each stack)</a:t>
            </a:r>
            <a:endParaRPr/>
          </a:p>
          <a:p>
            <a:pPr marL="0" lvl="0" indent="0" algn="l" rtl="0">
              <a:lnSpc>
                <a:spcPct val="115000"/>
              </a:lnSpc>
              <a:spcBef>
                <a:spcPts val="0"/>
              </a:spcBef>
              <a:spcAft>
                <a:spcPts val="0"/>
              </a:spcAft>
              <a:buClr>
                <a:schemeClr val="dk1"/>
              </a:buClr>
              <a:buSzPts val="1100"/>
              <a:buFont typeface="Arial"/>
              <a:buNone/>
            </a:pPr>
            <a:r>
              <a:rPr lang="en"/>
              <a:t>These are self-attention connections — every token attending to every other token in the same layer. You can see each node connects to all nodes in the layer above it. This is what solves the "no intra-sequence attention" problem from your previous slide.</a:t>
            </a:r>
            <a:endParaRPr/>
          </a:p>
          <a:p>
            <a:pPr marL="0" lvl="0" indent="0" algn="l" rtl="0">
              <a:lnSpc>
                <a:spcPct val="115000"/>
              </a:lnSpc>
              <a:spcBef>
                <a:spcPts val="0"/>
              </a:spcBef>
              <a:spcAft>
                <a:spcPts val="0"/>
              </a:spcAft>
              <a:buClr>
                <a:schemeClr val="dk1"/>
              </a:buClr>
              <a:buSzPts val="1100"/>
              <a:buFont typeface="Arial"/>
              <a:buNone/>
            </a:pPr>
            <a:r>
              <a:rPr lang="en"/>
              <a:t>The green arrows (crossing between stacks)</a:t>
            </a:r>
            <a:endParaRPr/>
          </a:p>
          <a:p>
            <a:pPr marL="0" lvl="0" indent="0" algn="l" rtl="0">
              <a:lnSpc>
                <a:spcPct val="115000"/>
              </a:lnSpc>
              <a:spcBef>
                <a:spcPts val="0"/>
              </a:spcBef>
              <a:spcAft>
                <a:spcPts val="0"/>
              </a:spcAft>
              <a:buClr>
                <a:schemeClr val="dk1"/>
              </a:buClr>
              <a:buSzPts val="1100"/>
              <a:buFont typeface="Arial"/>
              <a:buNone/>
            </a:pPr>
            <a:r>
              <a:rPr lang="en"/>
              <a:t>These are cross-attention connections — the decoder attending to the encoder's output. Notice they go from all encoder positions to the decoder. This is the classic attention mechanism (like Bahdanau attention) but now operating on top of fully self-attended representations — so the encoder states are already high quality, unlike the diluted RNN hidden states.</a:t>
            </a:r>
            <a:endParaRPr/>
          </a:p>
          <a:p>
            <a:pPr marL="0" lvl="0" indent="0" algn="l" rtl="0">
              <a:lnSpc>
                <a:spcPct val="115000"/>
              </a:lnSpc>
              <a:spcBef>
                <a:spcPts val="0"/>
              </a:spcBef>
              <a:spcAft>
                <a:spcPts val="0"/>
              </a:spcAft>
              <a:buClr>
                <a:schemeClr val="dk1"/>
              </a:buClr>
              <a:buSzPts val="1100"/>
              <a:buFont typeface="Arial"/>
              <a:buNone/>
            </a:pPr>
            <a:r>
              <a:rPr lang="en"/>
              <a:t>How the two diagrams connect</a:t>
            </a:r>
            <a:endParaRPr/>
          </a:p>
          <a:p>
            <a:pPr marL="0" lvl="0" indent="0" algn="l" rtl="0">
              <a:lnSpc>
                <a:spcPct val="115000"/>
              </a:lnSpc>
              <a:spcBef>
                <a:spcPts val="0"/>
              </a:spcBef>
              <a:spcAft>
                <a:spcPts val="0"/>
              </a:spcAft>
              <a:buClr>
                <a:schemeClr val="dk1"/>
              </a:buClr>
              <a:buSzPts val="1100"/>
              <a:buFont typeface="Arial"/>
              <a:buNone/>
            </a:pPr>
            <a:r>
              <a:rPr lang="en"/>
              <a:t>ELMo (left)Transformer (right)ArchitectureBiLSTM layersSelf-attention layersPer-token representation3 layers, weighted sumcontextual via self-attentionContextBoth directions via BiLSTMBoth directions via self-attentionKey limitationStill sequentialFully parallel</a:t>
            </a:r>
            <a:endParaRPr/>
          </a:p>
          <a:p>
            <a:pPr marL="0" lvl="0" indent="0" algn="l" rtl="0">
              <a:lnSpc>
                <a:spcPct val="115000"/>
              </a:lnSpc>
              <a:spcBef>
                <a:spcPts val="0"/>
              </a:spcBef>
              <a:spcAft>
                <a:spcPts val="0"/>
              </a:spcAft>
              <a:buClr>
                <a:schemeClr val="dk1"/>
              </a:buClr>
              <a:buSzPts val="1100"/>
              <a:buFont typeface="Arial"/>
              <a:buNone/>
            </a:pPr>
            <a:r>
              <a:rPr lang="en"/>
              <a:t>ELMo was the bridge idea — contextual embeddings via layers — and the Transformer took the same layered thinking but replaced the sequential LSTM with parallel self-attention, solving the remaining problems shown in your previous slide.</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1200"/>
              </a:spcBef>
              <a:spcAft>
                <a:spcPts val="0"/>
              </a:spcAft>
              <a:buClr>
                <a:schemeClr val="dk1"/>
              </a:buClr>
              <a:buSzPts val="1100"/>
              <a:buFont typeface="Arial"/>
              <a:buNone/>
            </a:pPr>
            <a:r>
              <a:rPr lang="en"/>
              <a:t>Slide 1's diagram (the "Layer Stacking" one) draws the literal wiring of a single BiLSTM step: eᵢ feeds straight up into h¹ᵢ at the same position, and separately there are horizontal recurrent arrows (→ and ←) chaining h¹₁→h¹₂→h¹₃→h¹₄→h¹₅ and back. That's mechanically exactly what a BiLSTM does — position i's hidden state is built from its own input below it, plus a recurrent link passed hand-to-hand from its immediate neighbor. Information from position 1 can absolutely reach position 5, but only by relay, one step at a time down the chain — there's no direct edge jumping from position 1 straight to position 5.</a:t>
            </a:r>
            <a:endParaRPr/>
          </a:p>
          <a:p>
            <a:pPr marL="0" lvl="0" indent="0" algn="l" rtl="0">
              <a:lnSpc>
                <a:spcPct val="115000"/>
              </a:lnSpc>
              <a:spcBef>
                <a:spcPts val="1200"/>
              </a:spcBef>
              <a:spcAft>
                <a:spcPts val="0"/>
              </a:spcAft>
              <a:buClr>
                <a:schemeClr val="dk1"/>
              </a:buClr>
              <a:buSzPts val="1100"/>
              <a:buFont typeface="Arial"/>
              <a:buNone/>
            </a:pPr>
            <a:r>
              <a:rPr lang="en"/>
              <a:t>Slide 2's left cartoon collapses that whole relay into a shorthand: it picks one output token, and instead of drawing the 4-step relay that got information there, it just draws one fan of lines straight from every lower box to that single output box. It's not claiming there's a literal direct wire from embedding₈ to layer-1's box at position 1 — it's compressing "this eventually reached here after propagating through the recurrence" into "these are, in effect, the sources of what ended up in this vector." Notice it only draws the fan for one output position per row (not all 8×8 combinations) — it's illustrating the end result of recurrence for one example token, not a new all-pairs mechanism.</a:t>
            </a:r>
            <a:endParaRPr/>
          </a:p>
          <a:p>
            <a:pPr marL="0" lvl="0" indent="0" algn="l" rtl="0">
              <a:lnSpc>
                <a:spcPct val="115000"/>
              </a:lnSpc>
              <a:spcBef>
                <a:spcPts val="1200"/>
              </a:spcBef>
              <a:spcAft>
                <a:spcPts val="0"/>
              </a:spcAft>
              <a:buClr>
                <a:schemeClr val="dk1"/>
              </a:buClr>
              <a:buSzPts val="1100"/>
              <a:buFont typeface="Arial"/>
              <a:buNone/>
            </a:pPr>
            <a:r>
              <a:rPr lang="en"/>
              <a:t>The reason it visually resembles the fully-connected Transformer picture next to it: a BiLSTM's "final effect" (every position's output really is influenced by the whole sentence) and self-attention's "final effect" (same claim) happen to look identical when you only draw the influence diagram. The actual difference — the thing the slide is trying to teach — is how each gets there: BiLSTM reaches the whole sentence only by sequential relay (T steps, recency-biased, implicit), while self-attention reaches the whole sentence in one direct parallel step (explicit weighted lookup, no relay). So slide 1 shows you the relay mechanism, slide 2's left cartoon shows you the relay's end effect, and slide 2's right picture shows you the genuinely different, no-relay-needed mechanism it's being contrasted against.</a:t>
            </a:r>
            <a:endParaRPr/>
          </a:p>
          <a:p>
            <a:pPr marL="0" lvl="0" indent="0" algn="l" rtl="0">
              <a:lnSpc>
                <a:spcPct val="115000"/>
              </a:lnSpc>
              <a:spcBef>
                <a:spcPts val="120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
        <p:nvSpPr>
          <p:cNvPr id="1281" name="Google Shape;1281;g3d7337e18ce_0_1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g3f7247ff740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4" name="Google Shape;1294;g3f7247ff740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g3d7337e18ce_0_1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9" name="Google Shape;1329;g3d7337e18ce_0_15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4"/>
        <p:cNvGrpSpPr/>
        <p:nvPr/>
      </p:nvGrpSpPr>
      <p:grpSpPr>
        <a:xfrm>
          <a:off x="0" y="0"/>
          <a:ext cx="0" cy="0"/>
          <a:chOff x="0" y="0"/>
          <a:chExt cx="0" cy="0"/>
        </a:xfrm>
      </p:grpSpPr>
      <p:sp>
        <p:nvSpPr>
          <p:cNvPr id="1335" name="Google Shape;1335;g3d7337e18ce_0_163:notes"/>
          <p:cNvSpPr>
            <a:spLocks noGrp="1" noRot="1" noChangeAspect="1"/>
          </p:cNvSpPr>
          <p:nvPr>
            <p:ph type="sldImg" idx="2"/>
          </p:nvPr>
        </p:nvSpPr>
        <p:spPr>
          <a:xfrm>
            <a:off x="685800" y="857250"/>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6" name="Google Shape;1336;g3d7337e18ce_0_163: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337" name="Google Shape;1337;g3d7337e18ce_0_163: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36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6"/>
        <p:cNvGrpSpPr/>
        <p:nvPr/>
      </p:nvGrpSpPr>
      <p:grpSpPr>
        <a:xfrm>
          <a:off x="0" y="0"/>
          <a:ext cx="0" cy="0"/>
          <a:chOff x="0" y="0"/>
          <a:chExt cx="0" cy="0"/>
        </a:xfrm>
      </p:grpSpPr>
      <p:sp>
        <p:nvSpPr>
          <p:cNvPr id="1367" name="Google Shape;1367;g3d7337e18ce_0_194: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8" name="Google Shape;1368;g3d7337e18ce_0_194: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369" name="Google Shape;1369;g3d7337e18ce_0_194: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37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6"/>
        <p:cNvGrpSpPr/>
        <p:nvPr/>
      </p:nvGrpSpPr>
      <p:grpSpPr>
        <a:xfrm>
          <a:off x="0" y="0"/>
          <a:ext cx="0" cy="0"/>
          <a:chOff x="0" y="0"/>
          <a:chExt cx="0" cy="0"/>
        </a:xfrm>
      </p:grpSpPr>
      <p:sp>
        <p:nvSpPr>
          <p:cNvPr id="1397" name="Google Shape;1397;g3d7337e18ce_0_2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98" name="Google Shape;1398;g3d7337e18ce_0_2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g3d7337e18ce_0_2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08" name="Google Shape;1408;g3d7337e18ce_0_23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4"/>
        <p:cNvGrpSpPr/>
        <p:nvPr/>
      </p:nvGrpSpPr>
      <p:grpSpPr>
        <a:xfrm>
          <a:off x="0" y="0"/>
          <a:ext cx="0" cy="0"/>
          <a:chOff x="0" y="0"/>
          <a:chExt cx="0" cy="0"/>
        </a:xfrm>
      </p:grpSpPr>
      <p:sp>
        <p:nvSpPr>
          <p:cNvPr id="1415" name="Google Shape;1415;g3d7337e18ce_0_2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Matrix Representation</a:t>
            </a:r>
            <a:endParaRPr/>
          </a:p>
        </p:txBody>
      </p:sp>
      <p:sp>
        <p:nvSpPr>
          <p:cNvPr id="1416" name="Google Shape;1416;g3d7337e18ce_0_2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1"/>
        <p:cNvGrpSpPr/>
        <p:nvPr/>
      </p:nvGrpSpPr>
      <p:grpSpPr>
        <a:xfrm>
          <a:off x="0" y="0"/>
          <a:ext cx="0" cy="0"/>
          <a:chOff x="0" y="0"/>
          <a:chExt cx="0" cy="0"/>
        </a:xfrm>
      </p:grpSpPr>
      <p:sp>
        <p:nvSpPr>
          <p:cNvPr id="1422" name="Google Shape;1422;g3d7337e18ce_0_245:notes"/>
          <p:cNvSpPr>
            <a:spLocks noGrp="1" noRot="1" noChangeAspect="1"/>
          </p:cNvSpPr>
          <p:nvPr>
            <p:ph type="sldImg" idx="2"/>
          </p:nvPr>
        </p:nvSpPr>
        <p:spPr>
          <a:xfrm>
            <a:off x="685800" y="857250"/>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3" name="Google Shape;1423;g3d7337e18ce_0_245: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
              <a:t>Each Column of V = One Feature Dimension</a:t>
            </a:r>
            <a:endParaRPr/>
          </a:p>
          <a:p>
            <a:pPr marL="0" lvl="0" indent="0" algn="l" rtl="0">
              <a:lnSpc>
                <a:spcPct val="115000"/>
              </a:lnSpc>
              <a:spcBef>
                <a:spcPts val="0"/>
              </a:spcBef>
              <a:spcAft>
                <a:spcPts val="0"/>
              </a:spcAft>
              <a:buClr>
                <a:schemeClr val="dk1"/>
              </a:buClr>
              <a:buSzPts val="1100"/>
              <a:buFont typeface="Arial"/>
              <a:buNone/>
            </a:pPr>
            <a:r>
              <a:rPr lang="en"/>
              <a:t>V = [[1, 1],   ← "animal"</a:t>
            </a:r>
            <a:endParaRPr/>
          </a:p>
          <a:p>
            <a:pPr marL="0" lvl="0" indent="0" algn="l" rtl="0">
              <a:lnSpc>
                <a:spcPct val="115000"/>
              </a:lnSpc>
              <a:spcBef>
                <a:spcPts val="0"/>
              </a:spcBef>
              <a:spcAft>
                <a:spcPts val="0"/>
              </a:spcAft>
              <a:buClr>
                <a:schemeClr val="dk1"/>
              </a:buClr>
              <a:buSzPts val="1100"/>
              <a:buFont typeface="Arial"/>
              <a:buNone/>
            </a:pPr>
            <a:r>
              <a:rPr lang="en"/>
              <a:t>     [1, 0]]   ← "it"</a:t>
            </a:r>
            <a:endParaRPr/>
          </a:p>
          <a:p>
            <a:pPr marL="0" lvl="0" indent="0" algn="l" rtl="0">
              <a:lnSpc>
                <a:spcPct val="115000"/>
              </a:lnSpc>
              <a:spcBef>
                <a:spcPts val="0"/>
              </a:spcBef>
              <a:spcAft>
                <a:spcPts val="0"/>
              </a:spcAft>
              <a:buClr>
                <a:schemeClr val="dk1"/>
              </a:buClr>
              <a:buSzPts val="1100"/>
              <a:buFont typeface="Arial"/>
              <a:buNone/>
            </a:pPr>
            <a:r>
              <a:rPr lang="en"/>
              <a:t>      ↑   ↑</a:t>
            </a:r>
            <a:endParaRPr/>
          </a:p>
          <a:p>
            <a:pPr marL="0" lvl="0" indent="0" algn="l" rtl="0">
              <a:lnSpc>
                <a:spcPct val="115000"/>
              </a:lnSpc>
              <a:spcBef>
                <a:spcPts val="0"/>
              </a:spcBef>
              <a:spcAft>
                <a:spcPts val="0"/>
              </a:spcAft>
              <a:buClr>
                <a:schemeClr val="dk1"/>
              </a:buClr>
              <a:buSzPts val="1100"/>
              <a:buFont typeface="Arial"/>
              <a:buNone/>
            </a:pPr>
            <a:r>
              <a:rPr lang="en"/>
              <a:t>   Col 1  Col 2</a:t>
            </a:r>
            <a:endParaRPr/>
          </a:p>
          <a:p>
            <a:pPr marL="0" lvl="0" indent="0" algn="l" rtl="0">
              <a:lnSpc>
                <a:spcPct val="115000"/>
              </a:lnSpc>
              <a:spcBef>
                <a:spcPts val="0"/>
              </a:spcBef>
              <a:spcAft>
                <a:spcPts val="0"/>
              </a:spcAft>
              <a:buClr>
                <a:schemeClr val="dk1"/>
              </a:buClr>
              <a:buSzPts val="1100"/>
              <a:buFont typeface="Arial"/>
              <a:buNone/>
            </a:pPr>
            <a:r>
              <a:rPr lang="en"/>
              <a:t>Reading down each column:</a:t>
            </a:r>
            <a:endParaRPr/>
          </a:p>
          <a:p>
            <a:pPr marL="0" lvl="0" indent="0" algn="l" rtl="0">
              <a:lnSpc>
                <a:spcPct val="115000"/>
              </a:lnSpc>
              <a:spcBef>
                <a:spcPts val="0"/>
              </a:spcBef>
              <a:spcAft>
                <a:spcPts val="0"/>
              </a:spcAft>
              <a:buClr>
                <a:schemeClr val="dk1"/>
              </a:buClr>
              <a:buSzPts val="1100"/>
              <a:buFont typeface="Arial"/>
              <a:buNone/>
            </a:pPr>
            <a:r>
              <a:rPr lang="en"/>
              <a:t>Column 1Column 2"animal"11"it"10MeaningBoth tokens have thisOnly "animal" has this</a:t>
            </a:r>
            <a:endParaRPr/>
          </a:p>
          <a:p>
            <a:pPr marL="0" lvl="0" indent="0" algn="l" rtl="0">
              <a:lnSpc>
                <a:spcPct val="115000"/>
              </a:lnSpc>
              <a:spcBef>
                <a:spcPts val="0"/>
              </a:spcBef>
              <a:spcAft>
                <a:spcPts val="0"/>
              </a:spcAft>
              <a:buClr>
                <a:schemeClr val="dk1"/>
              </a:buClr>
              <a:buSzPts val="1100"/>
              <a:buFont typeface="Arial"/>
              <a:buNone/>
            </a:pPr>
            <a:r>
              <a:rPr lang="en"/>
              <a:t>What does each column represent?</a:t>
            </a:r>
            <a:endParaRPr/>
          </a:p>
          <a:p>
            <a:pPr marL="0" lvl="0" indent="0" algn="l" rtl="0">
              <a:lnSpc>
                <a:spcPct val="115000"/>
              </a:lnSpc>
              <a:spcBef>
                <a:spcPts val="0"/>
              </a:spcBef>
              <a:spcAft>
                <a:spcPts val="0"/>
              </a:spcAft>
              <a:buClr>
                <a:schemeClr val="dk1"/>
              </a:buClr>
              <a:buSzPts val="1100"/>
              <a:buFont typeface="Arial"/>
              <a:buNone/>
            </a:pPr>
            <a:r>
              <a:rPr lang="en"/>
              <a:t>Column 1 = [1, 1] — a feature that both tokens share</a:t>
            </a:r>
            <a:endParaRPr/>
          </a:p>
          <a:p>
            <a:pPr marL="0" lvl="0" indent="0" algn="l" rtl="0">
              <a:lnSpc>
                <a:spcPct val="115000"/>
              </a:lnSpc>
              <a:spcBef>
                <a:spcPts val="0"/>
              </a:spcBef>
              <a:spcAft>
                <a:spcPts val="0"/>
              </a:spcAft>
              <a:buClr>
                <a:schemeClr val="dk1"/>
              </a:buClr>
              <a:buSzPts val="1100"/>
              <a:buFont typeface="Arial"/>
              <a:buNone/>
            </a:pPr>
            <a:r>
              <a:rPr lang="en"/>
              <a:t>"animal" → 1   ✓</a:t>
            </a:r>
            <a:endParaRPr/>
          </a:p>
          <a:p>
            <a:pPr marL="0" lvl="0" indent="0" algn="l" rtl="0">
              <a:lnSpc>
                <a:spcPct val="115000"/>
              </a:lnSpc>
              <a:spcBef>
                <a:spcPts val="0"/>
              </a:spcBef>
              <a:spcAft>
                <a:spcPts val="0"/>
              </a:spcAft>
              <a:buClr>
                <a:schemeClr val="dk1"/>
              </a:buClr>
              <a:buSzPts val="1100"/>
              <a:buFont typeface="Arial"/>
              <a:buNone/>
            </a:pPr>
            <a:r>
              <a:rPr lang="en"/>
              <a:t>"it"     → 1   ✓</a:t>
            </a:r>
            <a:endParaRPr/>
          </a:p>
          <a:p>
            <a:pPr marL="0" lvl="0" indent="0" algn="l" rtl="0">
              <a:lnSpc>
                <a:spcPct val="115000"/>
              </a:lnSpc>
              <a:spcBef>
                <a:spcPts val="0"/>
              </a:spcBef>
              <a:spcAft>
                <a:spcPts val="0"/>
              </a:spcAft>
              <a:buClr>
                <a:schemeClr val="dk1"/>
              </a:buClr>
              <a:buSzPts val="1100"/>
              <a:buFont typeface="Arial"/>
              <a:buNone/>
            </a:pPr>
            <a:r>
              <a:rPr lang="en"/>
              <a:t>This could be thought of as "is a noun-like thing" — both "animal" and "it" function as nouns grammatically. Both carry this signal equally.</a:t>
            </a:r>
            <a:endParaRPr/>
          </a:p>
          <a:p>
            <a:pPr marL="0" lvl="0" indent="0" algn="l" rtl="0">
              <a:lnSpc>
                <a:spcPct val="115000"/>
              </a:lnSpc>
              <a:spcBef>
                <a:spcPts val="0"/>
              </a:spcBef>
              <a:spcAft>
                <a:spcPts val="0"/>
              </a:spcAft>
              <a:buClr>
                <a:schemeClr val="dk1"/>
              </a:buClr>
              <a:buSzPts val="1100"/>
              <a:buFont typeface="Arial"/>
              <a:buNone/>
            </a:pPr>
            <a:r>
              <a:rPr lang="en"/>
              <a:t>Column 2 = [1, 0] — a feature that only "animal" has</a:t>
            </a:r>
            <a:endParaRPr/>
          </a:p>
          <a:p>
            <a:pPr marL="0" lvl="0" indent="0" algn="l" rtl="0">
              <a:lnSpc>
                <a:spcPct val="115000"/>
              </a:lnSpc>
              <a:spcBef>
                <a:spcPts val="0"/>
              </a:spcBef>
              <a:spcAft>
                <a:spcPts val="0"/>
              </a:spcAft>
              <a:buClr>
                <a:schemeClr val="dk1"/>
              </a:buClr>
              <a:buSzPts val="1100"/>
              <a:buFont typeface="Arial"/>
              <a:buNone/>
            </a:pPr>
            <a:r>
              <a:rPr lang="en"/>
              <a:t>"animal" → 1   ✓</a:t>
            </a:r>
            <a:endParaRPr/>
          </a:p>
          <a:p>
            <a:pPr marL="0" lvl="0" indent="0" algn="l" rtl="0">
              <a:lnSpc>
                <a:spcPct val="115000"/>
              </a:lnSpc>
              <a:spcBef>
                <a:spcPts val="0"/>
              </a:spcBef>
              <a:spcAft>
                <a:spcPts val="0"/>
              </a:spcAft>
              <a:buClr>
                <a:schemeClr val="dk1"/>
              </a:buClr>
              <a:buSzPts val="1100"/>
              <a:buFont typeface="Arial"/>
              <a:buNone/>
            </a:pPr>
            <a:r>
              <a:rPr lang="en"/>
              <a:t>"it"     → 0   ✗</a:t>
            </a:r>
            <a:endParaRPr/>
          </a:p>
          <a:p>
            <a:pPr marL="0" lvl="0" indent="0" algn="l" rtl="0">
              <a:lnSpc>
                <a:spcPct val="115000"/>
              </a:lnSpc>
              <a:spcBef>
                <a:spcPts val="0"/>
              </a:spcBef>
              <a:spcAft>
                <a:spcPts val="0"/>
              </a:spcAft>
              <a:buClr>
                <a:schemeClr val="dk1"/>
              </a:buClr>
              <a:buSzPts val="1100"/>
              <a:buFont typeface="Arial"/>
              <a:buNone/>
            </a:pPr>
            <a:r>
              <a:rPr lang="en"/>
              <a:t>This is the discriminating dimension — something "animal" has that "it" doesn't. Concrete semantic content. Real-world entity. Meaning that can be transferred.</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
        <p:nvSpPr>
          <p:cNvPr id="1424" name="Google Shape;1424;g3d7337e18ce_0_245: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41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g3d7337e18ce_0_2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 name="Google Shape;1465;g3d7337e18ce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0"/>
        <p:cNvGrpSpPr/>
        <p:nvPr/>
      </p:nvGrpSpPr>
      <p:grpSpPr>
        <a:xfrm>
          <a:off x="0" y="0"/>
          <a:ext cx="0" cy="0"/>
          <a:chOff x="0" y="0"/>
          <a:chExt cx="0" cy="0"/>
        </a:xfrm>
      </p:grpSpPr>
      <p:sp>
        <p:nvSpPr>
          <p:cNvPr id="1471" name="Google Shape;1471;g3d7337e18ce_0_2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x_beetle enters FFN</a:t>
            </a:r>
            <a:endParaRPr/>
          </a:p>
          <a:p>
            <a:pPr marL="0" lvl="0" indent="0" algn="l" rtl="0">
              <a:lnSpc>
                <a:spcPct val="115000"/>
              </a:lnSpc>
              <a:spcBef>
                <a:spcPts val="0"/>
              </a:spcBef>
              <a:spcAft>
                <a:spcPts val="0"/>
              </a:spcAft>
              <a:buClr>
                <a:schemeClr val="dk1"/>
              </a:buClr>
              <a:buSzPts val="1100"/>
              <a:buFont typeface="Arial"/>
              <a:buNone/>
            </a:pPr>
            <a:r>
              <a:rPr lang="en"/>
              <a:t>↓</a:t>
            </a:r>
            <a:endParaRPr/>
          </a:p>
          <a:p>
            <a:pPr marL="0" lvl="0" indent="0" algn="l" rtl="0">
              <a:lnSpc>
                <a:spcPct val="115000"/>
              </a:lnSpc>
              <a:spcBef>
                <a:spcPts val="0"/>
              </a:spcBef>
              <a:spcAft>
                <a:spcPts val="0"/>
              </a:spcAft>
              <a:buClr>
                <a:schemeClr val="dk1"/>
              </a:buClr>
              <a:buSzPts val="1100"/>
              <a:buFont typeface="Arial"/>
              <a:buNone/>
            </a:pPr>
            <a:r>
              <a:rPr lang="en"/>
              <a:t>W₁ detects: "this is an insect" pattern fires</a:t>
            </a:r>
            <a:endParaRPr/>
          </a:p>
          <a:p>
            <a:pPr marL="0" lvl="0" indent="0" algn="l" rtl="0">
              <a:lnSpc>
                <a:spcPct val="115000"/>
              </a:lnSpc>
              <a:spcBef>
                <a:spcPts val="0"/>
              </a:spcBef>
              <a:spcAft>
                <a:spcPts val="0"/>
              </a:spcAft>
              <a:buClr>
                <a:schemeClr val="dk1"/>
              </a:buClr>
              <a:buSzPts val="1100"/>
              <a:buFont typeface="Arial"/>
              <a:buNone/>
            </a:pPr>
            <a:r>
              <a:rPr lang="en"/>
              <a:t>            "this is a Volkswagen" pattern also fires</a:t>
            </a:r>
            <a:endParaRPr/>
          </a:p>
          <a:p>
            <a:pPr marL="0" lvl="0" indent="0" algn="l" rtl="0">
              <a:lnSpc>
                <a:spcPct val="115000"/>
              </a:lnSpc>
              <a:spcBef>
                <a:spcPts val="0"/>
              </a:spcBef>
              <a:spcAft>
                <a:spcPts val="0"/>
              </a:spcAft>
              <a:buClr>
                <a:schemeClr val="dk1"/>
              </a:buClr>
              <a:buSzPts val="1100"/>
              <a:buFont typeface="Arial"/>
              <a:buNone/>
            </a:pPr>
            <a:r>
              <a:rPr lang="en"/>
              <a:t>↓</a:t>
            </a:r>
            <a:endParaRPr/>
          </a:p>
          <a:p>
            <a:pPr marL="0" lvl="0" indent="0" algn="l" rtl="0">
              <a:lnSpc>
                <a:spcPct val="115000"/>
              </a:lnSpc>
              <a:spcBef>
                <a:spcPts val="0"/>
              </a:spcBef>
              <a:spcAft>
                <a:spcPts val="0"/>
              </a:spcAft>
              <a:buClr>
                <a:schemeClr val="dk1"/>
              </a:buClr>
              <a:buSzPts val="1100"/>
              <a:buFont typeface="Arial"/>
              <a:buNone/>
            </a:pPr>
            <a:r>
              <a:rPr lang="en"/>
              <a:t>ReLU kills weak/negative activations — keeps only strong pattern matches</a:t>
            </a:r>
            <a:endParaRPr/>
          </a:p>
          <a:p>
            <a:pPr marL="0" lvl="0" indent="0" algn="l" rtl="0">
              <a:lnSpc>
                <a:spcPct val="115000"/>
              </a:lnSpc>
              <a:spcBef>
                <a:spcPts val="0"/>
              </a:spcBef>
              <a:spcAft>
                <a:spcPts val="0"/>
              </a:spcAft>
              <a:buClr>
                <a:schemeClr val="dk1"/>
              </a:buClr>
              <a:buSzPts val="1100"/>
              <a:buFont typeface="Arial"/>
              <a:buNone/>
            </a:pPr>
            <a:r>
              <a:rPr lang="en"/>
              <a:t>↓</a:t>
            </a:r>
            <a:endParaRPr/>
          </a:p>
          <a:p>
            <a:pPr marL="0" lvl="0" indent="0" algn="l" rtl="0">
              <a:lnSpc>
                <a:spcPct val="115000"/>
              </a:lnSpc>
              <a:spcBef>
                <a:spcPts val="0"/>
              </a:spcBef>
              <a:spcAft>
                <a:spcPts val="0"/>
              </a:spcAft>
              <a:buClr>
                <a:schemeClr val="dk1"/>
              </a:buClr>
              <a:buSzPts val="1100"/>
              <a:buFont typeface="Arial"/>
              <a:buNone/>
            </a:pPr>
            <a:r>
              <a:rPr lang="en"/>
              <a:t>W₂ writes back: insect features + vehicle features blended</a:t>
            </a:r>
            <a:endParaRPr/>
          </a:p>
          <a:p>
            <a:pPr marL="0" lvl="0" indent="0" algn="l" rtl="0">
              <a:lnSpc>
                <a:spcPct val="115000"/>
              </a:lnSpc>
              <a:spcBef>
                <a:spcPts val="0"/>
              </a:spcBef>
              <a:spcAft>
                <a:spcPts val="0"/>
              </a:spcAft>
              <a:buClr>
                <a:schemeClr val="dk1"/>
              </a:buClr>
              <a:buSzPts val="1100"/>
              <a:buFont typeface="Arial"/>
              <a:buNone/>
            </a:pPr>
            <a:r>
              <a:rPr lang="en"/>
              <a:t>↓</a:t>
            </a:r>
            <a:endParaRPr/>
          </a:p>
          <a:p>
            <a:pPr marL="0" lvl="0" indent="0" algn="l" rtl="0">
              <a:lnSpc>
                <a:spcPct val="115000"/>
              </a:lnSpc>
              <a:spcBef>
                <a:spcPts val="0"/>
              </a:spcBef>
              <a:spcAft>
                <a:spcPts val="0"/>
              </a:spcAft>
              <a:buClr>
                <a:schemeClr val="dk1"/>
              </a:buClr>
              <a:buSzPts val="1100"/>
              <a:buFont typeface="Arial"/>
              <a:buNone/>
            </a:pPr>
            <a:r>
              <a:rPr lang="en"/>
              <a:t>output has enriched "beetle" — context-dependent meaning stored</a:t>
            </a:r>
            <a:endParaRPr/>
          </a:p>
          <a:p>
            <a:pPr marL="0" lvl="0" indent="0" algn="l" rtl="0">
              <a:lnSpc>
                <a:spcPct val="100000"/>
              </a:lnSpc>
              <a:spcBef>
                <a:spcPts val="0"/>
              </a:spcBef>
              <a:spcAft>
                <a:spcPts val="0"/>
              </a:spcAft>
              <a:buSzPts val="1100"/>
              <a:buNone/>
            </a:pPr>
            <a:endParaRPr/>
          </a:p>
        </p:txBody>
      </p:sp>
      <p:sp>
        <p:nvSpPr>
          <p:cNvPr id="1472" name="Google Shape;1472;g3d7337e18ce_0_29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0"/>
        <p:cNvGrpSpPr/>
        <p:nvPr/>
      </p:nvGrpSpPr>
      <p:grpSpPr>
        <a:xfrm>
          <a:off x="0" y="0"/>
          <a:ext cx="0" cy="0"/>
          <a:chOff x="0" y="0"/>
          <a:chExt cx="0" cy="0"/>
        </a:xfrm>
      </p:grpSpPr>
      <p:sp>
        <p:nvSpPr>
          <p:cNvPr id="1491" name="Google Shape;1491;g3d7337e18ce_0_3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2" name="Google Shape;1492;g3d7337e18ce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g3d7337e18ce_0_3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2" name="Google Shape;1502;g3d7337e18ce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9"/>
        <p:cNvGrpSpPr/>
        <p:nvPr/>
      </p:nvGrpSpPr>
      <p:grpSpPr>
        <a:xfrm>
          <a:off x="0" y="0"/>
          <a:ext cx="0" cy="0"/>
          <a:chOff x="0" y="0"/>
          <a:chExt cx="0" cy="0"/>
        </a:xfrm>
      </p:grpSpPr>
      <p:sp>
        <p:nvSpPr>
          <p:cNvPr id="1510" name="Google Shape;1510;g3d7337e18ce_0_3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1" name="Google Shape;1511;g3d7337e18ce_0_3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p:cNvGrpSpPr/>
        <p:nvPr/>
      </p:nvGrpSpPr>
      <p:grpSpPr>
        <a:xfrm>
          <a:off x="0" y="0"/>
          <a:ext cx="0" cy="0"/>
          <a:chOff x="0" y="0"/>
          <a:chExt cx="0" cy="0"/>
        </a:xfrm>
      </p:grpSpPr>
      <p:sp>
        <p:nvSpPr>
          <p:cNvPr id="1518" name="Google Shape;1518;g3d7337e18ce_0_3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9" name="Google Shape;1519;g3d7337e18ce_0_3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8"/>
        <p:cNvGrpSpPr/>
        <p:nvPr/>
      </p:nvGrpSpPr>
      <p:grpSpPr>
        <a:xfrm>
          <a:off x="0" y="0"/>
          <a:ext cx="0" cy="0"/>
          <a:chOff x="0" y="0"/>
          <a:chExt cx="0" cy="0"/>
        </a:xfrm>
      </p:grpSpPr>
      <p:sp>
        <p:nvSpPr>
          <p:cNvPr id="1529" name="Google Shape;1529;g3d7337e18ce_0_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0" name="Google Shape;1530;g3d7337e18ce_0_3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8"/>
        <p:cNvGrpSpPr/>
        <p:nvPr/>
      </p:nvGrpSpPr>
      <p:grpSpPr>
        <a:xfrm>
          <a:off x="0" y="0"/>
          <a:ext cx="0" cy="0"/>
          <a:chOff x="0" y="0"/>
          <a:chExt cx="0" cy="0"/>
        </a:xfrm>
      </p:grpSpPr>
      <p:sp>
        <p:nvSpPr>
          <p:cNvPr id="1539" name="Google Shape;1539;g3d7337e18ce_0_3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0" name="Google Shape;1540;g3d7337e18ce_0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7"/>
        <p:cNvGrpSpPr/>
        <p:nvPr/>
      </p:nvGrpSpPr>
      <p:grpSpPr>
        <a:xfrm>
          <a:off x="0" y="0"/>
          <a:ext cx="0" cy="0"/>
          <a:chOff x="0" y="0"/>
          <a:chExt cx="0" cy="0"/>
        </a:xfrm>
      </p:grpSpPr>
      <p:sp>
        <p:nvSpPr>
          <p:cNvPr id="1548" name="Google Shape;1548;g3d7337e18ce_0_3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49" name="Google Shape;1549;g3d7337e18ce_0_36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0"/>
        <p:cNvGrpSpPr/>
        <p:nvPr/>
      </p:nvGrpSpPr>
      <p:grpSpPr>
        <a:xfrm>
          <a:off x="0" y="0"/>
          <a:ext cx="0" cy="0"/>
          <a:chOff x="0" y="0"/>
          <a:chExt cx="0" cy="0"/>
        </a:xfrm>
      </p:grpSpPr>
      <p:sp>
        <p:nvSpPr>
          <p:cNvPr id="1561" name="Google Shape;1561;g3eaff83140e_0_125:notes"/>
          <p:cNvSpPr>
            <a:spLocks noGrp="1" noRot="1" noChangeAspect="1"/>
          </p:cNvSpPr>
          <p:nvPr>
            <p:ph type="sldImg" idx="2"/>
          </p:nvPr>
        </p:nvSpPr>
        <p:spPr>
          <a:xfrm>
            <a:off x="685800" y="857250"/>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2" name="Google Shape;1562;g3eaff83140e_0_125: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563" name="Google Shape;1563;g3eaff83140e_0_125: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9"/>
        <p:cNvGrpSpPr/>
        <p:nvPr/>
      </p:nvGrpSpPr>
      <p:grpSpPr>
        <a:xfrm>
          <a:off x="0" y="0"/>
          <a:ext cx="0" cy="0"/>
          <a:chOff x="0" y="0"/>
          <a:chExt cx="0" cy="0"/>
        </a:xfrm>
      </p:grpSpPr>
      <p:sp>
        <p:nvSpPr>
          <p:cNvPr id="1570" name="Google Shape;1570;g3eee001534e_0_8:notes"/>
          <p:cNvSpPr>
            <a:spLocks noGrp="1" noRot="1" noChangeAspect="1"/>
          </p:cNvSpPr>
          <p:nvPr>
            <p:ph type="sldImg" idx="2"/>
          </p:nvPr>
        </p:nvSpPr>
        <p:spPr>
          <a:xfrm>
            <a:off x="685800" y="857250"/>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1" name="Google Shape;1571;g3eee001534e_0_8: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572" name="Google Shape;1572;g3eee001534e_0_8: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0"/>
        <p:cNvGrpSpPr/>
        <p:nvPr/>
      </p:nvGrpSpPr>
      <p:grpSpPr>
        <a:xfrm>
          <a:off x="0" y="0"/>
          <a:ext cx="0" cy="0"/>
          <a:chOff x="0" y="0"/>
          <a:chExt cx="0" cy="0"/>
        </a:xfrm>
      </p:grpSpPr>
      <p:sp>
        <p:nvSpPr>
          <p:cNvPr id="1581" name="Google Shape;1581;g3eaff83140e_0_202:notes"/>
          <p:cNvSpPr>
            <a:spLocks noGrp="1" noRot="1" noChangeAspect="1"/>
          </p:cNvSpPr>
          <p:nvPr>
            <p:ph type="sldImg" idx="2"/>
          </p:nvPr>
        </p:nvSpPr>
        <p:spPr>
          <a:xfrm>
            <a:off x="685800" y="857250"/>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2" name="Google Shape;1582;g3eaff83140e_0_202: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583" name="Google Shape;1583;g3eaff83140e_0_202: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0"/>
        <p:cNvGrpSpPr/>
        <p:nvPr/>
      </p:nvGrpSpPr>
      <p:grpSpPr>
        <a:xfrm>
          <a:off x="0" y="0"/>
          <a:ext cx="0" cy="0"/>
          <a:chOff x="0" y="0"/>
          <a:chExt cx="0" cy="0"/>
        </a:xfrm>
      </p:grpSpPr>
      <p:sp>
        <p:nvSpPr>
          <p:cNvPr id="1621" name="Google Shape;1621;g3d7337e18ce_0_4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2" name="Google Shape;1622;g3d7337e18ce_0_47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8"/>
        <p:cNvGrpSpPr/>
        <p:nvPr/>
      </p:nvGrpSpPr>
      <p:grpSpPr>
        <a:xfrm>
          <a:off x="0" y="0"/>
          <a:ext cx="0" cy="0"/>
          <a:chOff x="0" y="0"/>
          <a:chExt cx="0" cy="0"/>
        </a:xfrm>
      </p:grpSpPr>
      <p:sp>
        <p:nvSpPr>
          <p:cNvPr id="1629" name="Google Shape;1629;g3d7337e18ce_0_482:notes"/>
          <p:cNvSpPr>
            <a:spLocks noGrp="1" noRot="1" noChangeAspect="1"/>
          </p:cNvSpPr>
          <p:nvPr>
            <p:ph type="sldImg" idx="2"/>
          </p:nvPr>
        </p:nvSpPr>
        <p:spPr>
          <a:xfrm>
            <a:off x="685800" y="857250"/>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0" name="Google Shape;1630;g3d7337e18ce_0_482: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631" name="Google Shape;1631;g3d7337e18ce_0_482: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1"/>
        <p:cNvGrpSpPr/>
        <p:nvPr/>
      </p:nvGrpSpPr>
      <p:grpSpPr>
        <a:xfrm>
          <a:off x="0" y="0"/>
          <a:ext cx="0" cy="0"/>
          <a:chOff x="0" y="0"/>
          <a:chExt cx="0" cy="0"/>
        </a:xfrm>
      </p:grpSpPr>
      <p:sp>
        <p:nvSpPr>
          <p:cNvPr id="1662" name="Google Shape;1662;g3f723c8630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3" name="Google Shape;1663;g3f723c8630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700118" y="443102"/>
            <a:ext cx="7318500" cy="5676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800"/>
              <a:buNone/>
              <a:defRPr sz="3600" b="0" i="0">
                <a:solidFill>
                  <a:srgbClr val="002060"/>
                </a:solidFill>
                <a:latin typeface="Times New Roman"/>
                <a:ea typeface="Times New Roman"/>
                <a:cs typeface="Times New Roman"/>
                <a:sym typeface="Times New Roma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1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3"/>
          <p:cNvSpPr txBox="1">
            <a:spLocks noGrp="1"/>
          </p:cNvSpPr>
          <p:nvPr>
            <p:ph type="sldNum" idx="12"/>
          </p:nvPr>
        </p:nvSpPr>
        <p:spPr>
          <a:xfrm>
            <a:off x="6583680" y="4783455"/>
            <a:ext cx="2103000" cy="153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6"/>
        <p:cNvGrpSpPr/>
        <p:nvPr/>
      </p:nvGrpSpPr>
      <p:grpSpPr>
        <a:xfrm>
          <a:off x="0" y="0"/>
          <a:ext cx="0" cy="0"/>
          <a:chOff x="0" y="0"/>
          <a:chExt cx="0" cy="0"/>
        </a:xfrm>
      </p:grpSpPr>
      <p:sp>
        <p:nvSpPr>
          <p:cNvPr id="57" name="Google Shape;57;p15"/>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8" name="Google Shape;58;p15"/>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1200"/>
              </a:spcBef>
              <a:spcAft>
                <a:spcPts val="0"/>
              </a:spcAft>
              <a:buClr>
                <a:schemeClr val="dk1"/>
              </a:buClr>
              <a:buSzPts val="1800"/>
              <a:buChar char="○"/>
              <a:defRPr/>
            </a:lvl2pPr>
            <a:lvl3pPr marL="1371600" lvl="2" indent="-342900" algn="l">
              <a:spcBef>
                <a:spcPts val="1200"/>
              </a:spcBef>
              <a:spcAft>
                <a:spcPts val="0"/>
              </a:spcAft>
              <a:buClr>
                <a:schemeClr val="dk1"/>
              </a:buClr>
              <a:buSzPts val="1800"/>
              <a:buChar char="■"/>
              <a:defRPr/>
            </a:lvl3pPr>
            <a:lvl4pPr marL="1828800" lvl="3" indent="-342900" algn="l">
              <a:spcBef>
                <a:spcPts val="1200"/>
              </a:spcBef>
              <a:spcAft>
                <a:spcPts val="0"/>
              </a:spcAft>
              <a:buClr>
                <a:schemeClr val="dk1"/>
              </a:buClr>
              <a:buSzPts val="1800"/>
              <a:buChar char="●"/>
              <a:defRPr/>
            </a:lvl4pPr>
            <a:lvl5pPr marL="2286000" lvl="4" indent="-342900" algn="l">
              <a:spcBef>
                <a:spcPts val="1200"/>
              </a:spcBef>
              <a:spcAft>
                <a:spcPts val="0"/>
              </a:spcAft>
              <a:buClr>
                <a:schemeClr val="dk1"/>
              </a:buClr>
              <a:buSzPts val="1800"/>
              <a:buChar char="○"/>
              <a:defRPr/>
            </a:lvl5pPr>
            <a:lvl6pPr marL="2743200" lvl="5" indent="-342900" algn="l">
              <a:spcBef>
                <a:spcPts val="1200"/>
              </a:spcBef>
              <a:spcAft>
                <a:spcPts val="0"/>
              </a:spcAft>
              <a:buClr>
                <a:schemeClr val="dk1"/>
              </a:buClr>
              <a:buSzPts val="1800"/>
              <a:buChar char="■"/>
              <a:defRPr/>
            </a:lvl6pPr>
            <a:lvl7pPr marL="3200400" lvl="6" indent="-342900" algn="l">
              <a:spcBef>
                <a:spcPts val="1200"/>
              </a:spcBef>
              <a:spcAft>
                <a:spcPts val="0"/>
              </a:spcAft>
              <a:buClr>
                <a:schemeClr val="dk1"/>
              </a:buClr>
              <a:buSzPts val="1800"/>
              <a:buChar char="●"/>
              <a:defRPr/>
            </a:lvl7pPr>
            <a:lvl8pPr marL="3657600" lvl="7" indent="-342900" algn="l">
              <a:spcBef>
                <a:spcPts val="1200"/>
              </a:spcBef>
              <a:spcAft>
                <a:spcPts val="0"/>
              </a:spcAft>
              <a:buClr>
                <a:schemeClr val="dk1"/>
              </a:buClr>
              <a:buSzPts val="1800"/>
              <a:buChar char="○"/>
              <a:defRPr/>
            </a:lvl8pPr>
            <a:lvl9pPr marL="4114800" lvl="8" indent="-342900" algn="l">
              <a:spcBef>
                <a:spcPts val="1200"/>
              </a:spcBef>
              <a:spcAft>
                <a:spcPts val="1200"/>
              </a:spcAft>
              <a:buClr>
                <a:schemeClr val="dk1"/>
              </a:buClr>
              <a:buSzPts val="1800"/>
              <a:buChar char="■"/>
              <a:defRPr/>
            </a:lvl9pPr>
          </a:lstStyle>
          <a:p>
            <a:endParaRPr/>
          </a:p>
        </p:txBody>
      </p:sp>
      <p:sp>
        <p:nvSpPr>
          <p:cNvPr id="59" name="Google Shape;59;p15"/>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5"/>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5"/>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EFAULT 1">
  <p:cSld name="DEFAULT_1">
    <p:bg>
      <p:bgPr>
        <a:solidFill>
          <a:schemeClr val="lt1"/>
        </a:solidFill>
        <a:effectLst/>
      </p:bgPr>
    </p:bg>
    <p:spTree>
      <p:nvGrpSpPr>
        <p:cNvPr id="1" name="Shape 62"/>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Blank 1">
  <p:cSld name="Blank">
    <p:bg>
      <p:bgPr>
        <a:solidFill>
          <a:schemeClr val="lt1"/>
        </a:solidFill>
        <a:effectLst/>
      </p:bgPr>
    </p:bg>
    <p:spTree>
      <p:nvGrpSpPr>
        <p:cNvPr id="1" name="Shape 63"/>
        <p:cNvGrpSpPr/>
        <p:nvPr/>
      </p:nvGrpSpPr>
      <p:grpSpPr>
        <a:xfrm>
          <a:off x="0" y="0"/>
          <a:ext cx="0" cy="0"/>
          <a:chOff x="0" y="0"/>
          <a:chExt cx="0" cy="0"/>
        </a:xfrm>
      </p:grpSpPr>
      <p:sp>
        <p:nvSpPr>
          <p:cNvPr id="64" name="Google Shape;64;p17"/>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7"/>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7"/>
          <p:cNvSpPr txBox="1">
            <a:spLocks noGrp="1"/>
          </p:cNvSpPr>
          <p:nvPr>
            <p:ph type="sldNum" idx="12"/>
          </p:nvPr>
        </p:nvSpPr>
        <p:spPr>
          <a:xfrm>
            <a:off x="6583680" y="4783455"/>
            <a:ext cx="2103000" cy="153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4.xml"/><Relationship Id="rId5" Type="http://schemas.openxmlformats.org/officeDocument/2006/relationships/image" Target="../media/image6.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hyperlink" Target="https://www.youtube.com/watch?v=LWMzyfvuehA" TargetMode="Externa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jpg"/><Relationship Id="rId7"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4.xml"/><Relationship Id="rId6" Type="http://schemas.openxmlformats.org/officeDocument/2006/relationships/image" Target="../media/image13.png"/><Relationship Id="rId5" Type="http://schemas.openxmlformats.org/officeDocument/2006/relationships/image" Target="../media/image12.jp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jpg"/><Relationship Id="rId7"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1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9.xml"/><Relationship Id="rId1" Type="http://schemas.openxmlformats.org/officeDocument/2006/relationships/slideLayout" Target="../slideLayouts/slideLayout16.xml"/><Relationship Id="rId5" Type="http://schemas.openxmlformats.org/officeDocument/2006/relationships/image" Target="../media/image2.png"/><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16.xml"/><Relationship Id="rId5" Type="http://schemas.openxmlformats.org/officeDocument/2006/relationships/image" Target="../media/image2.png"/><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1.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26.jpg"/><Relationship Id="rId4" Type="http://schemas.openxmlformats.org/officeDocument/2006/relationships/image" Target="../media/image25.jpg"/></Relationships>
</file>

<file path=ppt/slides/_rels/slide43.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hyperlink" Target="https://deepmind.com/learning-resources/deep-learning-lecture-series-2020" TargetMode="External"/><Relationship Id="rId3" Type="http://schemas.openxmlformats.org/officeDocument/2006/relationships/image" Target="../media/image1.jp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jpg"/><Relationship Id="rId10" Type="http://schemas.openxmlformats.org/officeDocument/2006/relationships/image" Target="../media/image32.png"/><Relationship Id="rId4" Type="http://schemas.openxmlformats.org/officeDocument/2006/relationships/image" Target="../media/image2.png"/><Relationship Id="rId9" Type="http://schemas.openxmlformats.org/officeDocument/2006/relationships/image" Target="../media/image31.png"/><Relationship Id="rId1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hyperlink" Target="https://web.stanford.edu/class/cs224n/" TargetMode="External"/><Relationship Id="rId4" Type="http://schemas.openxmlformats.org/officeDocument/2006/relationships/image" Target="../media/image26.jpg"/></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5.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36.jpg"/></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6.xml"/><Relationship Id="rId1" Type="http://schemas.openxmlformats.org/officeDocument/2006/relationships/slideLayout" Target="../slideLayouts/slideLayout14.xml"/><Relationship Id="rId6" Type="http://schemas.openxmlformats.org/officeDocument/2006/relationships/image" Target="../media/image37.jpg"/><Relationship Id="rId5" Type="http://schemas.openxmlformats.org/officeDocument/2006/relationships/hyperlink" Target="https://web.stanford.edu/class/cs224n/" TargetMode="Externa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9.jpg"/><Relationship Id="rId2" Type="http://schemas.openxmlformats.org/officeDocument/2006/relationships/notesSlide" Target="../notesSlides/notesSlide47.xml"/><Relationship Id="rId1" Type="http://schemas.openxmlformats.org/officeDocument/2006/relationships/slideLayout" Target="../slideLayouts/slideLayout14.xml"/><Relationship Id="rId6" Type="http://schemas.openxmlformats.org/officeDocument/2006/relationships/image" Target="../media/image38.jpg"/><Relationship Id="rId5" Type="http://schemas.openxmlformats.org/officeDocument/2006/relationships/hyperlink" Target="https://web.stanford.edu/class/cs224n/" TargetMode="Externa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41.jp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hyperlink" Target="https://web.stanford.edu/class/cs224n/" TargetMode="External"/><Relationship Id="rId5" Type="http://schemas.openxmlformats.org/officeDocument/2006/relationships/image" Target="../media/image40.jp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43.png"/><Relationship Id="rId5" Type="http://schemas.openxmlformats.org/officeDocument/2006/relationships/image" Target="../media/image2.png"/><Relationship Id="rId4" Type="http://schemas.openxmlformats.org/officeDocument/2006/relationships/image" Target="../media/image42.jpg"/></Relationships>
</file>

<file path=ppt/slides/_rels/slide5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jpg"/><Relationship Id="rId7" Type="http://schemas.openxmlformats.org/officeDocument/2006/relationships/image" Target="../media/image47.png"/><Relationship Id="rId2" Type="http://schemas.openxmlformats.org/officeDocument/2006/relationships/notesSlide" Target="../notesSlides/notesSlide50.xml"/><Relationship Id="rId1" Type="http://schemas.openxmlformats.org/officeDocument/2006/relationships/slideLayout" Target="../slideLayouts/slideLayout14.xml"/><Relationship Id="rId6" Type="http://schemas.openxmlformats.org/officeDocument/2006/relationships/image" Target="../media/image46.jpg"/><Relationship Id="rId5" Type="http://schemas.openxmlformats.org/officeDocument/2006/relationships/image" Target="../media/image45.png"/><Relationship Id="rId4" Type="http://schemas.openxmlformats.org/officeDocument/2006/relationships/image" Target="../media/image44.jpg"/></Relationships>
</file>

<file path=ppt/slides/_rels/slide5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1.xml"/><Relationship Id="rId1" Type="http://schemas.openxmlformats.org/officeDocument/2006/relationships/slideLayout" Target="../slideLayouts/slideLayout15.xml"/><Relationship Id="rId5" Type="http://schemas.openxmlformats.org/officeDocument/2006/relationships/image" Target="../media/image5.pn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image" Target="../media/image48.pn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15.xml"/><Relationship Id="rId6" Type="http://schemas.openxmlformats.org/officeDocument/2006/relationships/image" Target="../media/image48.png"/><Relationship Id="rId5" Type="http://schemas.openxmlformats.org/officeDocument/2006/relationships/image" Target="../media/image7.pn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4.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50.jpg"/><Relationship Id="rId4" Type="http://schemas.openxmlformats.org/officeDocument/2006/relationships/image" Target="../media/image49.jpg"/></Relationships>
</file>

<file path=ppt/slides/_rels/slide5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5.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1.jpg"/><Relationship Id="rId7" Type="http://schemas.openxmlformats.org/officeDocument/2006/relationships/image" Target="../media/image53.jpg"/><Relationship Id="rId2" Type="http://schemas.openxmlformats.org/officeDocument/2006/relationships/notesSlide" Target="../notesSlides/notesSlide56.xml"/><Relationship Id="rId1" Type="http://schemas.openxmlformats.org/officeDocument/2006/relationships/slideLayout" Target="../slideLayouts/slideLayout11.xml"/><Relationship Id="rId6" Type="http://schemas.openxmlformats.org/officeDocument/2006/relationships/image" Target="../media/image52.png"/><Relationship Id="rId5" Type="http://schemas.openxmlformats.org/officeDocument/2006/relationships/image" Target="../media/image51.jpg"/><Relationship Id="rId4" Type="http://schemas.openxmlformats.org/officeDocument/2006/relationships/image" Target="../media/image2.png"/><Relationship Id="rId9"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
        <p:cNvGrpSpPr/>
        <p:nvPr/>
      </p:nvGrpSpPr>
      <p:grpSpPr>
        <a:xfrm>
          <a:off x="0" y="0"/>
          <a:ext cx="0" cy="0"/>
          <a:chOff x="0" y="0"/>
          <a:chExt cx="0" cy="0"/>
        </a:xfrm>
      </p:grpSpPr>
      <p:sp>
        <p:nvSpPr>
          <p:cNvPr id="71" name="Google Shape;71;p18"/>
          <p:cNvSpPr txBox="1"/>
          <p:nvPr/>
        </p:nvSpPr>
        <p:spPr>
          <a:xfrm>
            <a:off x="685800" y="82600"/>
            <a:ext cx="7772400" cy="1470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4400" b="1">
                <a:solidFill>
                  <a:srgbClr val="C00000"/>
                </a:solidFill>
                <a:latin typeface="Calibri"/>
                <a:ea typeface="Calibri"/>
                <a:cs typeface="Calibri"/>
                <a:sym typeface="Calibri"/>
              </a:rPr>
              <a:t>RNN, Transformer Architecture and Attention</a:t>
            </a:r>
            <a:endParaRPr sz="4400" b="1">
              <a:solidFill>
                <a:srgbClr val="C00000"/>
              </a:solidFill>
              <a:latin typeface="Calibri"/>
              <a:ea typeface="Calibri"/>
              <a:cs typeface="Calibri"/>
              <a:sym typeface="Calibri"/>
            </a:endParaRPr>
          </a:p>
        </p:txBody>
      </p:sp>
      <p:sp>
        <p:nvSpPr>
          <p:cNvPr id="72" name="Google Shape;72;p18"/>
          <p:cNvSpPr txBox="1"/>
          <p:nvPr/>
        </p:nvSpPr>
        <p:spPr>
          <a:xfrm>
            <a:off x="1371600" y="1552600"/>
            <a:ext cx="6400800" cy="1470000"/>
          </a:xfrm>
          <a:prstGeom prst="rect">
            <a:avLst/>
          </a:prstGeom>
          <a:noFill/>
          <a:ln>
            <a:noFill/>
          </a:ln>
        </p:spPr>
        <p:txBody>
          <a:bodyPr spcFirstLastPara="1" wrap="square" lIns="91425" tIns="45700" rIns="91425" bIns="45700" anchor="t" anchorCtr="0">
            <a:normAutofit lnSpcReduction="10000"/>
          </a:bodyPr>
          <a:lstStyle/>
          <a:p>
            <a:pPr marL="0" lvl="0" indent="0" algn="ctr" rtl="0">
              <a:spcBef>
                <a:spcPts val="448"/>
              </a:spcBef>
              <a:spcAft>
                <a:spcPts val="0"/>
              </a:spcAft>
              <a:buNone/>
            </a:pPr>
            <a:r>
              <a:rPr lang="en" sz="2900" b="1">
                <a:solidFill>
                  <a:srgbClr val="002060"/>
                </a:solidFill>
                <a:latin typeface="Calibri"/>
                <a:ea typeface="Calibri"/>
                <a:cs typeface="Calibri"/>
                <a:sym typeface="Calibri"/>
              </a:rPr>
              <a:t>Niloy Ganguly</a:t>
            </a:r>
            <a:endParaRPr sz="2900" b="1">
              <a:solidFill>
                <a:schemeClr val="dk1"/>
              </a:solidFill>
              <a:latin typeface="Calibri"/>
              <a:ea typeface="Calibri"/>
              <a:cs typeface="Calibri"/>
              <a:sym typeface="Calibri"/>
            </a:endParaRPr>
          </a:p>
          <a:p>
            <a:pPr marL="0" lvl="0" indent="0" algn="ctr" rtl="0">
              <a:spcBef>
                <a:spcPts val="448"/>
              </a:spcBef>
              <a:spcAft>
                <a:spcPts val="0"/>
              </a:spcAft>
              <a:buClr>
                <a:schemeClr val="dk1"/>
              </a:buClr>
              <a:buSzPts val="1100"/>
              <a:buFont typeface="Arial"/>
              <a:buNone/>
            </a:pPr>
            <a:r>
              <a:rPr lang="en" sz="2900" b="1">
                <a:solidFill>
                  <a:srgbClr val="002060"/>
                </a:solidFill>
                <a:latin typeface="Calibri"/>
                <a:ea typeface="Calibri"/>
                <a:cs typeface="Calibri"/>
                <a:sym typeface="Calibri"/>
              </a:rPr>
              <a:t>Professor</a:t>
            </a:r>
            <a:endParaRPr sz="2900" b="1">
              <a:solidFill>
                <a:schemeClr val="dk1"/>
              </a:solidFill>
              <a:latin typeface="Calibri"/>
              <a:ea typeface="Calibri"/>
              <a:cs typeface="Calibri"/>
              <a:sym typeface="Calibri"/>
            </a:endParaRPr>
          </a:p>
          <a:p>
            <a:pPr marL="0" lvl="0" indent="0" algn="ctr" rtl="0">
              <a:spcBef>
                <a:spcPts val="448"/>
              </a:spcBef>
              <a:spcAft>
                <a:spcPts val="0"/>
              </a:spcAft>
              <a:buNone/>
            </a:pPr>
            <a:r>
              <a:rPr lang="en" sz="2900" b="1">
                <a:solidFill>
                  <a:schemeClr val="dk1"/>
                </a:solidFill>
                <a:latin typeface="Calibri"/>
                <a:ea typeface="Calibri"/>
                <a:cs typeface="Calibri"/>
                <a:sym typeface="Calibri"/>
              </a:rPr>
              <a:t>IIT Kharagpur</a:t>
            </a:r>
            <a:endParaRPr sz="2900" b="1">
              <a:solidFill>
                <a:schemeClr val="dk1"/>
              </a:solidFill>
              <a:latin typeface="Calibri"/>
              <a:ea typeface="Calibri"/>
              <a:cs typeface="Calibri"/>
              <a:sym typeface="Calibri"/>
            </a:endParaRPr>
          </a:p>
        </p:txBody>
      </p:sp>
      <p:pic>
        <p:nvPicPr>
          <p:cNvPr id="73" name="Google Shape;73;p18"/>
          <p:cNvPicPr preferRelativeResize="0"/>
          <p:nvPr/>
        </p:nvPicPr>
        <p:blipFill>
          <a:blip r:embed="rId4">
            <a:alphaModFix/>
          </a:blip>
          <a:stretch>
            <a:fillRect/>
          </a:stretch>
        </p:blipFill>
        <p:spPr>
          <a:xfrm>
            <a:off x="2846650" y="3022600"/>
            <a:ext cx="1106651" cy="1238477"/>
          </a:xfrm>
          <a:prstGeom prst="rect">
            <a:avLst/>
          </a:prstGeom>
          <a:noFill/>
          <a:ln>
            <a:noFill/>
          </a:ln>
        </p:spPr>
      </p:pic>
      <p:pic>
        <p:nvPicPr>
          <p:cNvPr id="74" name="Google Shape;74;p18"/>
          <p:cNvPicPr preferRelativeResize="0"/>
          <p:nvPr/>
        </p:nvPicPr>
        <p:blipFill rotWithShape="1">
          <a:blip r:embed="rId5">
            <a:alphaModFix/>
          </a:blip>
          <a:srcRect l="22319" r="21419" b="5553"/>
          <a:stretch/>
        </p:blipFill>
        <p:spPr>
          <a:xfrm>
            <a:off x="5266350" y="3065963"/>
            <a:ext cx="1031000" cy="1151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79"/>
        <p:cNvGrpSpPr/>
        <p:nvPr/>
      </p:nvGrpSpPr>
      <p:grpSpPr>
        <a:xfrm>
          <a:off x="0" y="0"/>
          <a:ext cx="0" cy="0"/>
          <a:chOff x="0" y="0"/>
          <a:chExt cx="0" cy="0"/>
        </a:xfrm>
      </p:grpSpPr>
      <p:sp>
        <p:nvSpPr>
          <p:cNvPr id="80" name="Google Shape;80;p19"/>
          <p:cNvSpPr/>
          <p:nvPr/>
        </p:nvSpPr>
        <p:spPr>
          <a:xfrm>
            <a:off x="274320" y="109728"/>
            <a:ext cx="8595300" cy="502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2200"/>
              <a:buFont typeface="Calibri"/>
              <a:buNone/>
            </a:pPr>
            <a:r>
              <a:rPr lang="en" sz="2200" b="1" i="0" u="none" strike="noStrike" cap="none">
                <a:solidFill>
                  <a:srgbClr val="1E293B"/>
                </a:solidFill>
                <a:latin typeface="Calibri"/>
                <a:ea typeface="Calibri"/>
                <a:cs typeface="Calibri"/>
                <a:sym typeface="Calibri"/>
              </a:rPr>
              <a:t>From Perceptron to Specialized Architectures</a:t>
            </a:r>
            <a:endParaRPr sz="2200" b="0" i="0" u="none" strike="noStrike" cap="none">
              <a:solidFill>
                <a:schemeClr val="dk1"/>
              </a:solidFill>
              <a:latin typeface="Calibri"/>
              <a:ea typeface="Calibri"/>
              <a:cs typeface="Calibri"/>
              <a:sym typeface="Calibri"/>
            </a:endParaRPr>
          </a:p>
        </p:txBody>
      </p:sp>
      <p:sp>
        <p:nvSpPr>
          <p:cNvPr id="81" name="Google Shape;81;p19"/>
          <p:cNvSpPr/>
          <p:nvPr/>
        </p:nvSpPr>
        <p:spPr>
          <a:xfrm>
            <a:off x="3200400" y="621792"/>
            <a:ext cx="2743200" cy="27300"/>
          </a:xfrm>
          <a:prstGeom prst="rect">
            <a:avLst/>
          </a:prstGeom>
          <a:solidFill>
            <a:srgbClr val="0EA5E9"/>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9"/>
          <p:cNvSpPr/>
          <p:nvPr/>
        </p:nvSpPr>
        <p:spPr>
          <a:xfrm>
            <a:off x="228600" y="4206240"/>
            <a:ext cx="8686800" cy="36600"/>
          </a:xfrm>
          <a:prstGeom prst="rect">
            <a:avLst/>
          </a:prstGeom>
          <a:solidFill>
            <a:srgbClr val="CBD5E1"/>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9"/>
          <p:cNvSpPr/>
          <p:nvPr/>
        </p:nvSpPr>
        <p:spPr>
          <a:xfrm>
            <a:off x="8823960" y="4142232"/>
            <a:ext cx="109800" cy="164700"/>
          </a:xfrm>
          <a:prstGeom prst="rect">
            <a:avLst/>
          </a:prstGeom>
          <a:solidFill>
            <a:srgbClr val="0EA5E9"/>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9"/>
          <p:cNvSpPr/>
          <p:nvPr/>
        </p:nvSpPr>
        <p:spPr>
          <a:xfrm>
            <a:off x="164592" y="749808"/>
            <a:ext cx="1664100" cy="3291900"/>
          </a:xfrm>
          <a:prstGeom prst="rect">
            <a:avLst/>
          </a:prstGeom>
          <a:solidFill>
            <a:srgbClr val="FFFFFF"/>
          </a:solidFill>
          <a:ln w="15225" cap="flat" cmpd="sng">
            <a:solidFill>
              <a:srgbClr val="6366F1"/>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9"/>
          <p:cNvSpPr/>
          <p:nvPr/>
        </p:nvSpPr>
        <p:spPr>
          <a:xfrm>
            <a:off x="164592" y="749808"/>
            <a:ext cx="1664100" cy="63900"/>
          </a:xfrm>
          <a:prstGeom prst="rect">
            <a:avLst/>
          </a:prstGeom>
          <a:solidFill>
            <a:srgbClr val="6366F1"/>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9"/>
          <p:cNvSpPr/>
          <p:nvPr/>
        </p:nvSpPr>
        <p:spPr>
          <a:xfrm>
            <a:off x="237744" y="841248"/>
            <a:ext cx="1518000" cy="201300"/>
          </a:xfrm>
          <a:prstGeom prst="rect">
            <a:avLst/>
          </a:prstGeom>
          <a:solidFill>
            <a:srgbClr val="6366F1">
              <a:alpha val="14900"/>
            </a:srgbClr>
          </a:solidFill>
          <a:ln w="9525"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9"/>
          <p:cNvSpPr/>
          <p:nvPr/>
        </p:nvSpPr>
        <p:spPr>
          <a:xfrm>
            <a:off x="23774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366F1"/>
              </a:buClr>
              <a:buSzPts val="800"/>
              <a:buFont typeface="Calibri"/>
              <a:buNone/>
            </a:pPr>
            <a:r>
              <a:rPr lang="en" sz="800" b="1" i="0" u="none" strike="noStrike" cap="none">
                <a:solidFill>
                  <a:srgbClr val="6366F1"/>
                </a:solidFill>
                <a:latin typeface="Calibri"/>
                <a:ea typeface="Calibri"/>
                <a:cs typeface="Calibri"/>
                <a:sym typeface="Calibri"/>
              </a:rPr>
              <a:t>1958</a:t>
            </a:r>
            <a:endParaRPr sz="800" b="0" i="0" u="none" strike="noStrike" cap="none">
              <a:solidFill>
                <a:schemeClr val="dk1"/>
              </a:solidFill>
              <a:latin typeface="Calibri"/>
              <a:ea typeface="Calibri"/>
              <a:cs typeface="Calibri"/>
              <a:sym typeface="Calibri"/>
            </a:endParaRPr>
          </a:p>
        </p:txBody>
      </p:sp>
      <p:sp>
        <p:nvSpPr>
          <p:cNvPr id="88" name="Google Shape;88;p19"/>
          <p:cNvSpPr/>
          <p:nvPr/>
        </p:nvSpPr>
        <p:spPr>
          <a:xfrm>
            <a:off x="21945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Perceptron</a:t>
            </a:r>
            <a:endParaRPr sz="1300" b="0" i="0" u="none" strike="noStrike" cap="none">
              <a:solidFill>
                <a:schemeClr val="dk1"/>
              </a:solidFill>
              <a:latin typeface="Calibri"/>
              <a:ea typeface="Calibri"/>
              <a:cs typeface="Calibri"/>
              <a:sym typeface="Calibri"/>
            </a:endParaRPr>
          </a:p>
        </p:txBody>
      </p:sp>
      <p:sp>
        <p:nvSpPr>
          <p:cNvPr id="89" name="Google Shape;89;p19"/>
          <p:cNvSpPr/>
          <p:nvPr/>
        </p:nvSpPr>
        <p:spPr>
          <a:xfrm>
            <a:off x="23774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9"/>
          <p:cNvSpPr/>
          <p:nvPr/>
        </p:nvSpPr>
        <p:spPr>
          <a:xfrm>
            <a:off x="283464" y="1481328"/>
            <a:ext cx="183000" cy="183000"/>
          </a:xfrm>
          <a:prstGeom prst="ellipse">
            <a:avLst/>
          </a:prstGeom>
          <a:solidFill>
            <a:srgbClr val="E2E8F0"/>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91" name="Google Shape;91;p19"/>
          <p:cNvCxnSpPr/>
          <p:nvPr/>
        </p:nvCxnSpPr>
        <p:spPr>
          <a:xfrm>
            <a:off x="466344" y="1572768"/>
            <a:ext cx="502800" cy="0"/>
          </a:xfrm>
          <a:prstGeom prst="straightConnector1">
            <a:avLst/>
          </a:prstGeom>
          <a:noFill/>
          <a:ln w="12700" cap="flat" cmpd="sng">
            <a:solidFill>
              <a:srgbClr val="818CF8"/>
            </a:solidFill>
            <a:prstDash val="solid"/>
            <a:round/>
            <a:headEnd type="none" w="sm" len="sm"/>
            <a:tailEnd type="none" w="sm" len="sm"/>
          </a:ln>
        </p:spPr>
      </p:cxnSp>
      <p:sp>
        <p:nvSpPr>
          <p:cNvPr id="92" name="Google Shape;92;p19"/>
          <p:cNvSpPr/>
          <p:nvPr/>
        </p:nvSpPr>
        <p:spPr>
          <a:xfrm>
            <a:off x="283464" y="1801368"/>
            <a:ext cx="183000" cy="183000"/>
          </a:xfrm>
          <a:prstGeom prst="ellipse">
            <a:avLst/>
          </a:prstGeom>
          <a:solidFill>
            <a:srgbClr val="E2E8F0"/>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93" name="Google Shape;93;p19"/>
          <p:cNvCxnSpPr/>
          <p:nvPr/>
        </p:nvCxnSpPr>
        <p:spPr>
          <a:xfrm>
            <a:off x="466344" y="1892808"/>
            <a:ext cx="502800" cy="0"/>
          </a:xfrm>
          <a:prstGeom prst="straightConnector1">
            <a:avLst/>
          </a:prstGeom>
          <a:noFill/>
          <a:ln w="12700" cap="flat" cmpd="sng">
            <a:solidFill>
              <a:srgbClr val="818CF8"/>
            </a:solidFill>
            <a:prstDash val="solid"/>
            <a:round/>
            <a:headEnd type="none" w="sm" len="sm"/>
            <a:tailEnd type="none" w="sm" len="sm"/>
          </a:ln>
        </p:spPr>
      </p:cxnSp>
      <p:sp>
        <p:nvSpPr>
          <p:cNvPr id="94" name="Google Shape;94;p19"/>
          <p:cNvSpPr/>
          <p:nvPr/>
        </p:nvSpPr>
        <p:spPr>
          <a:xfrm>
            <a:off x="283464" y="2121408"/>
            <a:ext cx="183000" cy="183000"/>
          </a:xfrm>
          <a:prstGeom prst="ellipse">
            <a:avLst/>
          </a:prstGeom>
          <a:solidFill>
            <a:srgbClr val="E2E8F0"/>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95" name="Google Shape;95;p19"/>
          <p:cNvCxnSpPr/>
          <p:nvPr/>
        </p:nvCxnSpPr>
        <p:spPr>
          <a:xfrm>
            <a:off x="466344" y="2212848"/>
            <a:ext cx="502800" cy="0"/>
          </a:xfrm>
          <a:prstGeom prst="straightConnector1">
            <a:avLst/>
          </a:prstGeom>
          <a:noFill/>
          <a:ln w="12700" cap="flat" cmpd="sng">
            <a:solidFill>
              <a:srgbClr val="818CF8"/>
            </a:solidFill>
            <a:prstDash val="solid"/>
            <a:round/>
            <a:headEnd type="none" w="sm" len="sm"/>
            <a:tailEnd type="none" w="sm" len="sm"/>
          </a:ln>
        </p:spPr>
      </p:cxnSp>
      <p:sp>
        <p:nvSpPr>
          <p:cNvPr id="96" name="Google Shape;96;p19"/>
          <p:cNvSpPr/>
          <p:nvPr/>
        </p:nvSpPr>
        <p:spPr>
          <a:xfrm>
            <a:off x="877824" y="1755648"/>
            <a:ext cx="347400" cy="347400"/>
          </a:xfrm>
          <a:prstGeom prst="ellipse">
            <a:avLst/>
          </a:prstGeom>
          <a:solidFill>
            <a:srgbClr val="6366F1">
              <a:alpha val="70200"/>
            </a:srgbClr>
          </a:solidFill>
          <a:ln w="1905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97" name="Google Shape;97;p19"/>
          <p:cNvCxnSpPr/>
          <p:nvPr/>
        </p:nvCxnSpPr>
        <p:spPr>
          <a:xfrm>
            <a:off x="1225296" y="1929384"/>
            <a:ext cx="411600" cy="0"/>
          </a:xfrm>
          <a:prstGeom prst="straightConnector1">
            <a:avLst/>
          </a:prstGeom>
          <a:noFill/>
          <a:ln w="12700" cap="flat" cmpd="sng">
            <a:solidFill>
              <a:srgbClr val="818CF8"/>
            </a:solidFill>
            <a:prstDash val="solid"/>
            <a:round/>
            <a:headEnd type="none" w="sm" len="sm"/>
            <a:tailEnd type="none" w="sm" len="sm"/>
          </a:ln>
        </p:spPr>
      </p:cxnSp>
      <p:sp>
        <p:nvSpPr>
          <p:cNvPr id="98" name="Google Shape;98;p19"/>
          <p:cNvSpPr/>
          <p:nvPr/>
        </p:nvSpPr>
        <p:spPr>
          <a:xfrm>
            <a:off x="1527048" y="1837944"/>
            <a:ext cx="183000" cy="183000"/>
          </a:xfrm>
          <a:prstGeom prst="ellipse">
            <a:avLst/>
          </a:prstGeom>
          <a:solidFill>
            <a:srgbClr val="E2E8F0"/>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9"/>
          <p:cNvSpPr/>
          <p:nvPr/>
        </p:nvSpPr>
        <p:spPr>
          <a:xfrm>
            <a:off x="877824" y="1755648"/>
            <a:ext cx="3474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0" i="0" u="none" strike="noStrike" cap="none">
                <a:solidFill>
                  <a:srgbClr val="FFFFFF"/>
                </a:solidFill>
                <a:latin typeface="Calibri"/>
                <a:ea typeface="Calibri"/>
                <a:cs typeface="Calibri"/>
                <a:sym typeface="Calibri"/>
              </a:rPr>
              <a:t>Σ</a:t>
            </a:r>
            <a:endParaRPr sz="1200" b="0" i="0" u="none" strike="noStrike" cap="none">
              <a:solidFill>
                <a:schemeClr val="dk1"/>
              </a:solidFill>
              <a:latin typeface="Calibri"/>
              <a:ea typeface="Calibri"/>
              <a:cs typeface="Calibri"/>
              <a:sym typeface="Calibri"/>
            </a:endParaRPr>
          </a:p>
        </p:txBody>
      </p:sp>
      <p:sp>
        <p:nvSpPr>
          <p:cNvPr id="100" name="Google Shape;100;p19"/>
          <p:cNvSpPr/>
          <p:nvPr/>
        </p:nvSpPr>
        <p:spPr>
          <a:xfrm>
            <a:off x="23774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6366F1"/>
              </a:buClr>
              <a:buSzPts val="900"/>
              <a:buFont typeface="Calibri"/>
              <a:buNone/>
            </a:pPr>
            <a:r>
              <a:rPr lang="en" sz="900" b="1" i="0" u="none" strike="noStrike" cap="none">
                <a:solidFill>
                  <a:srgbClr val="6366F1"/>
                </a:solidFill>
                <a:latin typeface="Calibri"/>
                <a:ea typeface="Calibri"/>
                <a:cs typeface="Calibri"/>
                <a:sym typeface="Calibri"/>
              </a:rPr>
              <a:t>Single neuron</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Binary output</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Linear boundary</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Step activation</a:t>
            </a:r>
            <a:endParaRPr sz="900" b="0" i="0" u="none" strike="noStrike" cap="none">
              <a:solidFill>
                <a:schemeClr val="dk1"/>
              </a:solidFill>
              <a:latin typeface="Calibri"/>
              <a:ea typeface="Calibri"/>
              <a:cs typeface="Calibri"/>
              <a:sym typeface="Calibri"/>
            </a:endParaRPr>
          </a:p>
        </p:txBody>
      </p:sp>
      <p:sp>
        <p:nvSpPr>
          <p:cNvPr id="101" name="Google Shape;101;p19"/>
          <p:cNvSpPr/>
          <p:nvPr/>
        </p:nvSpPr>
        <p:spPr>
          <a:xfrm>
            <a:off x="914400" y="4142232"/>
            <a:ext cx="164700" cy="164700"/>
          </a:xfrm>
          <a:prstGeom prst="ellipse">
            <a:avLst/>
          </a:prstGeom>
          <a:solidFill>
            <a:srgbClr val="6366F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19"/>
          <p:cNvSpPr/>
          <p:nvPr/>
        </p:nvSpPr>
        <p:spPr>
          <a:xfrm>
            <a:off x="1901952" y="749808"/>
            <a:ext cx="1664100" cy="3291900"/>
          </a:xfrm>
          <a:prstGeom prst="rect">
            <a:avLst/>
          </a:prstGeom>
          <a:solidFill>
            <a:srgbClr val="FFFFFF"/>
          </a:solidFill>
          <a:ln w="15225" cap="flat" cmpd="sng">
            <a:solidFill>
              <a:srgbClr val="0EA5E9"/>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9"/>
          <p:cNvSpPr/>
          <p:nvPr/>
        </p:nvSpPr>
        <p:spPr>
          <a:xfrm>
            <a:off x="1901952" y="749808"/>
            <a:ext cx="1664100" cy="63900"/>
          </a:xfrm>
          <a:prstGeom prst="rect">
            <a:avLst/>
          </a:prstGeom>
          <a:solidFill>
            <a:srgbClr val="0EA5E9"/>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9"/>
          <p:cNvSpPr/>
          <p:nvPr/>
        </p:nvSpPr>
        <p:spPr>
          <a:xfrm>
            <a:off x="1975104" y="841248"/>
            <a:ext cx="1518000" cy="201300"/>
          </a:xfrm>
          <a:prstGeom prst="rect">
            <a:avLst/>
          </a:prstGeom>
          <a:solidFill>
            <a:srgbClr val="0EA5E9">
              <a:alpha val="14900"/>
            </a:srgbClr>
          </a:solidFill>
          <a:ln w="9525"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9"/>
          <p:cNvSpPr/>
          <p:nvPr/>
        </p:nvSpPr>
        <p:spPr>
          <a:xfrm>
            <a:off x="197510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EA5E9"/>
              </a:buClr>
              <a:buSzPts val="800"/>
              <a:buFont typeface="Calibri"/>
              <a:buNone/>
            </a:pPr>
            <a:r>
              <a:rPr lang="en" sz="800" b="1" i="0" u="none" strike="noStrike" cap="none">
                <a:solidFill>
                  <a:srgbClr val="0EA5E9"/>
                </a:solidFill>
                <a:latin typeface="Calibri"/>
                <a:ea typeface="Calibri"/>
                <a:cs typeface="Calibri"/>
                <a:sym typeface="Calibri"/>
              </a:rPr>
              <a:t>1980s</a:t>
            </a:r>
            <a:endParaRPr sz="800" b="0" i="0" u="none" strike="noStrike" cap="none">
              <a:solidFill>
                <a:schemeClr val="dk1"/>
              </a:solidFill>
              <a:latin typeface="Calibri"/>
              <a:ea typeface="Calibri"/>
              <a:cs typeface="Calibri"/>
              <a:sym typeface="Calibri"/>
            </a:endParaRPr>
          </a:p>
        </p:txBody>
      </p:sp>
      <p:sp>
        <p:nvSpPr>
          <p:cNvPr id="106" name="Google Shape;106;p19"/>
          <p:cNvSpPr/>
          <p:nvPr/>
        </p:nvSpPr>
        <p:spPr>
          <a:xfrm>
            <a:off x="195681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MLP</a:t>
            </a:r>
            <a:endParaRPr sz="1300" b="0" i="0" u="none" strike="noStrike" cap="none">
              <a:solidFill>
                <a:schemeClr val="dk1"/>
              </a:solidFill>
              <a:latin typeface="Calibri"/>
              <a:ea typeface="Calibri"/>
              <a:cs typeface="Calibri"/>
              <a:sym typeface="Calibri"/>
            </a:endParaRPr>
          </a:p>
        </p:txBody>
      </p:sp>
      <p:sp>
        <p:nvSpPr>
          <p:cNvPr id="107" name="Google Shape;107;p19"/>
          <p:cNvSpPr/>
          <p:nvPr/>
        </p:nvSpPr>
        <p:spPr>
          <a:xfrm>
            <a:off x="197510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9"/>
          <p:cNvSpPr/>
          <p:nvPr/>
        </p:nvSpPr>
        <p:spPr>
          <a:xfrm>
            <a:off x="2048256" y="1481328"/>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19"/>
          <p:cNvSpPr/>
          <p:nvPr/>
        </p:nvSpPr>
        <p:spPr>
          <a:xfrm>
            <a:off x="2048256" y="1801368"/>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9"/>
          <p:cNvSpPr/>
          <p:nvPr/>
        </p:nvSpPr>
        <p:spPr>
          <a:xfrm>
            <a:off x="2048256" y="2121408"/>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9"/>
          <p:cNvSpPr/>
          <p:nvPr/>
        </p:nvSpPr>
        <p:spPr>
          <a:xfrm>
            <a:off x="2642616" y="1591056"/>
            <a:ext cx="183000" cy="183000"/>
          </a:xfrm>
          <a:prstGeom prst="ellipse">
            <a:avLst/>
          </a:prstGeom>
          <a:solidFill>
            <a:srgbClr val="0EA5E9">
              <a:alpha val="80000"/>
            </a:srgbClr>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19"/>
          <p:cNvSpPr/>
          <p:nvPr/>
        </p:nvSpPr>
        <p:spPr>
          <a:xfrm>
            <a:off x="2642616" y="1837944"/>
            <a:ext cx="183000" cy="183000"/>
          </a:xfrm>
          <a:prstGeom prst="ellipse">
            <a:avLst/>
          </a:prstGeom>
          <a:solidFill>
            <a:srgbClr val="0EA5E9">
              <a:alpha val="80000"/>
            </a:srgbClr>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19"/>
          <p:cNvSpPr/>
          <p:nvPr/>
        </p:nvSpPr>
        <p:spPr>
          <a:xfrm>
            <a:off x="2642616" y="2084832"/>
            <a:ext cx="183000" cy="183000"/>
          </a:xfrm>
          <a:prstGeom prst="ellipse">
            <a:avLst/>
          </a:prstGeom>
          <a:solidFill>
            <a:srgbClr val="0EA5E9">
              <a:alpha val="80000"/>
            </a:srgbClr>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19"/>
          <p:cNvSpPr/>
          <p:nvPr/>
        </p:nvSpPr>
        <p:spPr>
          <a:xfrm>
            <a:off x="3236976" y="1709928"/>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9"/>
          <p:cNvSpPr/>
          <p:nvPr/>
        </p:nvSpPr>
        <p:spPr>
          <a:xfrm>
            <a:off x="3236976" y="1956816"/>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6" name="Google Shape;116;p19"/>
          <p:cNvCxnSpPr/>
          <p:nvPr/>
        </p:nvCxnSpPr>
        <p:spPr>
          <a:xfrm>
            <a:off x="2231136" y="1572768"/>
            <a:ext cx="411600" cy="109800"/>
          </a:xfrm>
          <a:prstGeom prst="straightConnector1">
            <a:avLst/>
          </a:prstGeom>
          <a:noFill/>
          <a:ln w="9525" cap="flat" cmpd="sng">
            <a:solidFill>
              <a:srgbClr val="CBD5E1"/>
            </a:solidFill>
            <a:prstDash val="solid"/>
            <a:round/>
            <a:headEnd type="none" w="sm" len="sm"/>
            <a:tailEnd type="none" w="sm" len="sm"/>
          </a:ln>
        </p:spPr>
      </p:cxnSp>
      <p:cxnSp>
        <p:nvCxnSpPr>
          <p:cNvPr id="117" name="Google Shape;117;p19"/>
          <p:cNvCxnSpPr/>
          <p:nvPr/>
        </p:nvCxnSpPr>
        <p:spPr>
          <a:xfrm>
            <a:off x="2231136" y="1572768"/>
            <a:ext cx="411600" cy="356700"/>
          </a:xfrm>
          <a:prstGeom prst="straightConnector1">
            <a:avLst/>
          </a:prstGeom>
          <a:noFill/>
          <a:ln w="9525" cap="flat" cmpd="sng">
            <a:solidFill>
              <a:srgbClr val="CBD5E1"/>
            </a:solidFill>
            <a:prstDash val="solid"/>
            <a:round/>
            <a:headEnd type="none" w="sm" len="sm"/>
            <a:tailEnd type="none" w="sm" len="sm"/>
          </a:ln>
        </p:spPr>
      </p:cxnSp>
      <p:cxnSp>
        <p:nvCxnSpPr>
          <p:cNvPr id="118" name="Google Shape;118;p19"/>
          <p:cNvCxnSpPr/>
          <p:nvPr/>
        </p:nvCxnSpPr>
        <p:spPr>
          <a:xfrm>
            <a:off x="2231136" y="1572768"/>
            <a:ext cx="411600" cy="603600"/>
          </a:xfrm>
          <a:prstGeom prst="straightConnector1">
            <a:avLst/>
          </a:prstGeom>
          <a:noFill/>
          <a:ln w="9525" cap="flat" cmpd="sng">
            <a:solidFill>
              <a:srgbClr val="CBD5E1"/>
            </a:solidFill>
            <a:prstDash val="solid"/>
            <a:round/>
            <a:headEnd type="none" w="sm" len="sm"/>
            <a:tailEnd type="none" w="sm" len="sm"/>
          </a:ln>
        </p:spPr>
      </p:cxnSp>
      <p:cxnSp>
        <p:nvCxnSpPr>
          <p:cNvPr id="119" name="Google Shape;119;p19"/>
          <p:cNvCxnSpPr/>
          <p:nvPr/>
        </p:nvCxnSpPr>
        <p:spPr>
          <a:xfrm>
            <a:off x="2231136" y="1892808"/>
            <a:ext cx="411600" cy="0"/>
          </a:xfrm>
          <a:prstGeom prst="straightConnector1">
            <a:avLst/>
          </a:prstGeom>
          <a:noFill/>
          <a:ln w="9525" cap="flat" cmpd="sng">
            <a:solidFill>
              <a:srgbClr val="CBD5E1"/>
            </a:solidFill>
            <a:prstDash val="solid"/>
            <a:round/>
            <a:headEnd type="none" w="sm" len="sm"/>
            <a:tailEnd type="none" w="sm" len="sm"/>
          </a:ln>
        </p:spPr>
      </p:cxnSp>
      <p:cxnSp>
        <p:nvCxnSpPr>
          <p:cNvPr id="120" name="Google Shape;120;p19"/>
          <p:cNvCxnSpPr/>
          <p:nvPr/>
        </p:nvCxnSpPr>
        <p:spPr>
          <a:xfrm>
            <a:off x="2231136" y="1892808"/>
            <a:ext cx="411600" cy="36600"/>
          </a:xfrm>
          <a:prstGeom prst="straightConnector1">
            <a:avLst/>
          </a:prstGeom>
          <a:noFill/>
          <a:ln w="9525" cap="flat" cmpd="sng">
            <a:solidFill>
              <a:srgbClr val="CBD5E1"/>
            </a:solidFill>
            <a:prstDash val="solid"/>
            <a:round/>
            <a:headEnd type="none" w="sm" len="sm"/>
            <a:tailEnd type="none" w="sm" len="sm"/>
          </a:ln>
        </p:spPr>
      </p:cxnSp>
      <p:cxnSp>
        <p:nvCxnSpPr>
          <p:cNvPr id="121" name="Google Shape;121;p19"/>
          <p:cNvCxnSpPr/>
          <p:nvPr/>
        </p:nvCxnSpPr>
        <p:spPr>
          <a:xfrm>
            <a:off x="2231136" y="1892808"/>
            <a:ext cx="411600" cy="283500"/>
          </a:xfrm>
          <a:prstGeom prst="straightConnector1">
            <a:avLst/>
          </a:prstGeom>
          <a:noFill/>
          <a:ln w="9525" cap="flat" cmpd="sng">
            <a:solidFill>
              <a:srgbClr val="CBD5E1"/>
            </a:solidFill>
            <a:prstDash val="solid"/>
            <a:round/>
            <a:headEnd type="none" w="sm" len="sm"/>
            <a:tailEnd type="none" w="sm" len="sm"/>
          </a:ln>
        </p:spPr>
      </p:cxnSp>
      <p:cxnSp>
        <p:nvCxnSpPr>
          <p:cNvPr id="122" name="Google Shape;122;p19"/>
          <p:cNvCxnSpPr/>
          <p:nvPr/>
        </p:nvCxnSpPr>
        <p:spPr>
          <a:xfrm>
            <a:off x="2231136" y="2212848"/>
            <a:ext cx="411600" cy="0"/>
          </a:xfrm>
          <a:prstGeom prst="straightConnector1">
            <a:avLst/>
          </a:prstGeom>
          <a:noFill/>
          <a:ln w="9525" cap="flat" cmpd="sng">
            <a:solidFill>
              <a:srgbClr val="CBD5E1"/>
            </a:solidFill>
            <a:prstDash val="solid"/>
            <a:round/>
            <a:headEnd type="none" w="sm" len="sm"/>
            <a:tailEnd type="none" w="sm" len="sm"/>
          </a:ln>
        </p:spPr>
      </p:cxnSp>
      <p:cxnSp>
        <p:nvCxnSpPr>
          <p:cNvPr id="123" name="Google Shape;123;p19"/>
          <p:cNvCxnSpPr/>
          <p:nvPr/>
        </p:nvCxnSpPr>
        <p:spPr>
          <a:xfrm>
            <a:off x="2231136" y="2212848"/>
            <a:ext cx="411600" cy="0"/>
          </a:xfrm>
          <a:prstGeom prst="straightConnector1">
            <a:avLst/>
          </a:prstGeom>
          <a:noFill/>
          <a:ln w="9525" cap="flat" cmpd="sng">
            <a:solidFill>
              <a:srgbClr val="CBD5E1"/>
            </a:solidFill>
            <a:prstDash val="solid"/>
            <a:round/>
            <a:headEnd type="none" w="sm" len="sm"/>
            <a:tailEnd type="none" w="sm" len="sm"/>
          </a:ln>
        </p:spPr>
      </p:cxnSp>
      <p:cxnSp>
        <p:nvCxnSpPr>
          <p:cNvPr id="124" name="Google Shape;124;p19"/>
          <p:cNvCxnSpPr/>
          <p:nvPr/>
        </p:nvCxnSpPr>
        <p:spPr>
          <a:xfrm>
            <a:off x="2231136" y="2212848"/>
            <a:ext cx="411600" cy="0"/>
          </a:xfrm>
          <a:prstGeom prst="straightConnector1">
            <a:avLst/>
          </a:prstGeom>
          <a:noFill/>
          <a:ln w="9525" cap="flat" cmpd="sng">
            <a:solidFill>
              <a:srgbClr val="CBD5E1"/>
            </a:solidFill>
            <a:prstDash val="solid"/>
            <a:round/>
            <a:headEnd type="none" w="sm" len="sm"/>
            <a:tailEnd type="none" w="sm" len="sm"/>
          </a:ln>
        </p:spPr>
      </p:cxnSp>
      <p:cxnSp>
        <p:nvCxnSpPr>
          <p:cNvPr id="125" name="Google Shape;125;p19"/>
          <p:cNvCxnSpPr/>
          <p:nvPr/>
        </p:nvCxnSpPr>
        <p:spPr>
          <a:xfrm>
            <a:off x="2825496" y="1682496"/>
            <a:ext cx="411600" cy="118800"/>
          </a:xfrm>
          <a:prstGeom prst="straightConnector1">
            <a:avLst/>
          </a:prstGeom>
          <a:noFill/>
          <a:ln w="9525" cap="flat" cmpd="sng">
            <a:solidFill>
              <a:srgbClr val="CBD5E1"/>
            </a:solidFill>
            <a:prstDash val="solid"/>
            <a:round/>
            <a:headEnd type="none" w="sm" len="sm"/>
            <a:tailEnd type="none" w="sm" len="sm"/>
          </a:ln>
        </p:spPr>
      </p:cxnSp>
      <p:cxnSp>
        <p:nvCxnSpPr>
          <p:cNvPr id="126" name="Google Shape;126;p19"/>
          <p:cNvCxnSpPr/>
          <p:nvPr/>
        </p:nvCxnSpPr>
        <p:spPr>
          <a:xfrm>
            <a:off x="2825496" y="1682496"/>
            <a:ext cx="411600" cy="365700"/>
          </a:xfrm>
          <a:prstGeom prst="straightConnector1">
            <a:avLst/>
          </a:prstGeom>
          <a:noFill/>
          <a:ln w="9525" cap="flat" cmpd="sng">
            <a:solidFill>
              <a:srgbClr val="CBD5E1"/>
            </a:solidFill>
            <a:prstDash val="solid"/>
            <a:round/>
            <a:headEnd type="none" w="sm" len="sm"/>
            <a:tailEnd type="none" w="sm" len="sm"/>
          </a:ln>
        </p:spPr>
      </p:cxnSp>
      <p:cxnSp>
        <p:nvCxnSpPr>
          <p:cNvPr id="127" name="Google Shape;127;p19"/>
          <p:cNvCxnSpPr/>
          <p:nvPr/>
        </p:nvCxnSpPr>
        <p:spPr>
          <a:xfrm>
            <a:off x="2825496" y="1929384"/>
            <a:ext cx="411600" cy="0"/>
          </a:xfrm>
          <a:prstGeom prst="straightConnector1">
            <a:avLst/>
          </a:prstGeom>
          <a:noFill/>
          <a:ln w="9525" cap="flat" cmpd="sng">
            <a:solidFill>
              <a:srgbClr val="CBD5E1"/>
            </a:solidFill>
            <a:prstDash val="solid"/>
            <a:round/>
            <a:headEnd type="none" w="sm" len="sm"/>
            <a:tailEnd type="none" w="sm" len="sm"/>
          </a:ln>
        </p:spPr>
      </p:cxnSp>
      <p:cxnSp>
        <p:nvCxnSpPr>
          <p:cNvPr id="128" name="Google Shape;128;p19"/>
          <p:cNvCxnSpPr/>
          <p:nvPr/>
        </p:nvCxnSpPr>
        <p:spPr>
          <a:xfrm>
            <a:off x="2825496" y="1929384"/>
            <a:ext cx="411600" cy="118800"/>
          </a:xfrm>
          <a:prstGeom prst="straightConnector1">
            <a:avLst/>
          </a:prstGeom>
          <a:noFill/>
          <a:ln w="9525" cap="flat" cmpd="sng">
            <a:solidFill>
              <a:srgbClr val="CBD5E1"/>
            </a:solidFill>
            <a:prstDash val="solid"/>
            <a:round/>
            <a:headEnd type="none" w="sm" len="sm"/>
            <a:tailEnd type="none" w="sm" len="sm"/>
          </a:ln>
        </p:spPr>
      </p:cxnSp>
      <p:cxnSp>
        <p:nvCxnSpPr>
          <p:cNvPr id="129" name="Google Shape;129;p19"/>
          <p:cNvCxnSpPr/>
          <p:nvPr/>
        </p:nvCxnSpPr>
        <p:spPr>
          <a:xfrm>
            <a:off x="2825496" y="2176272"/>
            <a:ext cx="411600" cy="0"/>
          </a:xfrm>
          <a:prstGeom prst="straightConnector1">
            <a:avLst/>
          </a:prstGeom>
          <a:noFill/>
          <a:ln w="9525" cap="flat" cmpd="sng">
            <a:solidFill>
              <a:srgbClr val="CBD5E1"/>
            </a:solidFill>
            <a:prstDash val="solid"/>
            <a:round/>
            <a:headEnd type="none" w="sm" len="sm"/>
            <a:tailEnd type="none" w="sm" len="sm"/>
          </a:ln>
        </p:spPr>
      </p:cxnSp>
      <p:cxnSp>
        <p:nvCxnSpPr>
          <p:cNvPr id="130" name="Google Shape;130;p19"/>
          <p:cNvCxnSpPr/>
          <p:nvPr/>
        </p:nvCxnSpPr>
        <p:spPr>
          <a:xfrm>
            <a:off x="2825496" y="2176272"/>
            <a:ext cx="411600" cy="0"/>
          </a:xfrm>
          <a:prstGeom prst="straightConnector1">
            <a:avLst/>
          </a:prstGeom>
          <a:noFill/>
          <a:ln w="9525" cap="flat" cmpd="sng">
            <a:solidFill>
              <a:srgbClr val="CBD5E1"/>
            </a:solidFill>
            <a:prstDash val="solid"/>
            <a:round/>
            <a:headEnd type="none" w="sm" len="sm"/>
            <a:tailEnd type="none" w="sm" len="sm"/>
          </a:ln>
        </p:spPr>
      </p:cxnSp>
      <p:sp>
        <p:nvSpPr>
          <p:cNvPr id="131" name="Google Shape;131;p19"/>
          <p:cNvSpPr/>
          <p:nvPr/>
        </p:nvSpPr>
        <p:spPr>
          <a:xfrm>
            <a:off x="197510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0EA5E9"/>
              </a:buClr>
              <a:buSzPts val="900"/>
              <a:buFont typeface="Calibri"/>
              <a:buNone/>
            </a:pPr>
            <a:r>
              <a:rPr lang="en" sz="900" b="1" i="0" u="none" strike="noStrike" cap="none">
                <a:solidFill>
                  <a:srgbClr val="0EA5E9"/>
                </a:solidFill>
                <a:latin typeface="Calibri"/>
                <a:ea typeface="Calibri"/>
                <a:cs typeface="Calibri"/>
                <a:sym typeface="Calibri"/>
              </a:rPr>
              <a:t>Hidden layers</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Backpropagation</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Non-linear fn</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Universal approx</a:t>
            </a:r>
            <a:endParaRPr sz="900" b="0" i="0" u="none" strike="noStrike" cap="none">
              <a:solidFill>
                <a:schemeClr val="dk1"/>
              </a:solidFill>
              <a:latin typeface="Calibri"/>
              <a:ea typeface="Calibri"/>
              <a:cs typeface="Calibri"/>
              <a:sym typeface="Calibri"/>
            </a:endParaRPr>
          </a:p>
        </p:txBody>
      </p:sp>
      <p:sp>
        <p:nvSpPr>
          <p:cNvPr id="132" name="Google Shape;132;p19"/>
          <p:cNvSpPr/>
          <p:nvPr/>
        </p:nvSpPr>
        <p:spPr>
          <a:xfrm>
            <a:off x="2651760" y="4142232"/>
            <a:ext cx="164700" cy="164700"/>
          </a:xfrm>
          <a:prstGeom prst="ellipse">
            <a:avLst/>
          </a:prstGeom>
          <a:solidFill>
            <a:srgbClr val="0EA5E9"/>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19"/>
          <p:cNvSpPr/>
          <p:nvPr/>
        </p:nvSpPr>
        <p:spPr>
          <a:xfrm>
            <a:off x="3639312" y="749808"/>
            <a:ext cx="1664100" cy="3291900"/>
          </a:xfrm>
          <a:prstGeom prst="rect">
            <a:avLst/>
          </a:prstGeom>
          <a:solidFill>
            <a:srgbClr val="FFFFFF"/>
          </a:solidFill>
          <a:ln w="15225" cap="flat" cmpd="sng">
            <a:solidFill>
              <a:srgbClr val="10B981"/>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19"/>
          <p:cNvSpPr/>
          <p:nvPr/>
        </p:nvSpPr>
        <p:spPr>
          <a:xfrm>
            <a:off x="3639312" y="749808"/>
            <a:ext cx="1664100" cy="63900"/>
          </a:xfrm>
          <a:prstGeom prst="rect">
            <a:avLst/>
          </a:prstGeom>
          <a:solidFill>
            <a:srgbClr val="10B981"/>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19"/>
          <p:cNvSpPr/>
          <p:nvPr/>
        </p:nvSpPr>
        <p:spPr>
          <a:xfrm>
            <a:off x="3712464" y="841248"/>
            <a:ext cx="1518000" cy="201300"/>
          </a:xfrm>
          <a:prstGeom prst="rect">
            <a:avLst/>
          </a:prstGeom>
          <a:solidFill>
            <a:srgbClr val="10B981">
              <a:alpha val="14900"/>
            </a:srgbClr>
          </a:solidFill>
          <a:ln w="9525"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9"/>
          <p:cNvSpPr/>
          <p:nvPr/>
        </p:nvSpPr>
        <p:spPr>
          <a:xfrm>
            <a:off x="371246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0B981"/>
              </a:buClr>
              <a:buSzPts val="800"/>
              <a:buFont typeface="Calibri"/>
              <a:buNone/>
            </a:pPr>
            <a:r>
              <a:rPr lang="en" sz="800" b="1" i="0" u="none" strike="noStrike" cap="none">
                <a:solidFill>
                  <a:srgbClr val="10B981"/>
                </a:solidFill>
                <a:latin typeface="Calibri"/>
                <a:ea typeface="Calibri"/>
                <a:cs typeface="Calibri"/>
                <a:sym typeface="Calibri"/>
              </a:rPr>
              <a:t>1990s</a:t>
            </a:r>
            <a:endParaRPr sz="800" b="0" i="0" u="none" strike="noStrike" cap="none">
              <a:solidFill>
                <a:schemeClr val="dk1"/>
              </a:solidFill>
              <a:latin typeface="Calibri"/>
              <a:ea typeface="Calibri"/>
              <a:cs typeface="Calibri"/>
              <a:sym typeface="Calibri"/>
            </a:endParaRPr>
          </a:p>
        </p:txBody>
      </p:sp>
      <p:sp>
        <p:nvSpPr>
          <p:cNvPr id="137" name="Google Shape;137;p19"/>
          <p:cNvSpPr/>
          <p:nvPr/>
        </p:nvSpPr>
        <p:spPr>
          <a:xfrm>
            <a:off x="369417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CNN</a:t>
            </a:r>
            <a:endParaRPr sz="1300" b="0" i="0" u="none" strike="noStrike" cap="none">
              <a:solidFill>
                <a:schemeClr val="dk1"/>
              </a:solidFill>
              <a:latin typeface="Calibri"/>
              <a:ea typeface="Calibri"/>
              <a:cs typeface="Calibri"/>
              <a:sym typeface="Calibri"/>
            </a:endParaRPr>
          </a:p>
        </p:txBody>
      </p:sp>
      <p:sp>
        <p:nvSpPr>
          <p:cNvPr id="138" name="Google Shape;138;p19"/>
          <p:cNvSpPr/>
          <p:nvPr/>
        </p:nvSpPr>
        <p:spPr>
          <a:xfrm>
            <a:off x="371246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19"/>
          <p:cNvSpPr/>
          <p:nvPr/>
        </p:nvSpPr>
        <p:spPr>
          <a:xfrm>
            <a:off x="3785616" y="1527048"/>
            <a:ext cx="201300" cy="749700"/>
          </a:xfrm>
          <a:prstGeom prst="rect">
            <a:avLst/>
          </a:prstGeom>
          <a:solidFill>
            <a:srgbClr val="BFDBFE"/>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19"/>
          <p:cNvSpPr/>
          <p:nvPr/>
        </p:nvSpPr>
        <p:spPr>
          <a:xfrm>
            <a:off x="4041648" y="1527048"/>
            <a:ext cx="201300" cy="749700"/>
          </a:xfrm>
          <a:prstGeom prst="rect">
            <a:avLst/>
          </a:prstGeom>
          <a:solidFill>
            <a:srgbClr val="BBF7D0"/>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19"/>
          <p:cNvSpPr/>
          <p:nvPr/>
        </p:nvSpPr>
        <p:spPr>
          <a:xfrm>
            <a:off x="4297680" y="1527048"/>
            <a:ext cx="201300" cy="749700"/>
          </a:xfrm>
          <a:prstGeom prst="rect">
            <a:avLst/>
          </a:prstGeom>
          <a:solidFill>
            <a:srgbClr val="BFDBFE"/>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19"/>
          <p:cNvSpPr/>
          <p:nvPr/>
        </p:nvSpPr>
        <p:spPr>
          <a:xfrm>
            <a:off x="4608576" y="1645920"/>
            <a:ext cx="146400" cy="521100"/>
          </a:xfrm>
          <a:prstGeom prst="rect">
            <a:avLst/>
          </a:prstGeom>
          <a:solidFill>
            <a:srgbClr val="DBEAFE"/>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19"/>
          <p:cNvSpPr/>
          <p:nvPr/>
        </p:nvSpPr>
        <p:spPr>
          <a:xfrm>
            <a:off x="4828032" y="1737360"/>
            <a:ext cx="109800" cy="347400"/>
          </a:xfrm>
          <a:prstGeom prst="rect">
            <a:avLst/>
          </a:prstGeom>
          <a:solidFill>
            <a:srgbClr val="10B981">
              <a:alpha val="60000"/>
            </a:srgbClr>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19"/>
          <p:cNvSpPr/>
          <p:nvPr/>
        </p:nvSpPr>
        <p:spPr>
          <a:xfrm>
            <a:off x="3785616" y="2304288"/>
            <a:ext cx="731400" cy="10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600"/>
              <a:buFont typeface="Calibri"/>
              <a:buNone/>
            </a:pPr>
            <a:r>
              <a:rPr lang="en" sz="600" b="0" i="0" u="none" strike="noStrike" cap="none">
                <a:solidFill>
                  <a:srgbClr val="64748B"/>
                </a:solidFill>
                <a:latin typeface="Calibri"/>
                <a:ea typeface="Calibri"/>
                <a:cs typeface="Calibri"/>
                <a:sym typeface="Calibri"/>
              </a:rPr>
              <a:t>conv</a:t>
            </a:r>
            <a:endParaRPr sz="600" b="0" i="0" u="none" strike="noStrike" cap="none">
              <a:solidFill>
                <a:schemeClr val="dk1"/>
              </a:solidFill>
              <a:latin typeface="Calibri"/>
              <a:ea typeface="Calibri"/>
              <a:cs typeface="Calibri"/>
              <a:sym typeface="Calibri"/>
            </a:endParaRPr>
          </a:p>
        </p:txBody>
      </p:sp>
      <p:sp>
        <p:nvSpPr>
          <p:cNvPr id="145" name="Google Shape;145;p19"/>
          <p:cNvSpPr/>
          <p:nvPr/>
        </p:nvSpPr>
        <p:spPr>
          <a:xfrm>
            <a:off x="4535424" y="2304288"/>
            <a:ext cx="274200" cy="10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600"/>
              <a:buFont typeface="Calibri"/>
              <a:buNone/>
            </a:pPr>
            <a:r>
              <a:rPr lang="en" sz="600" b="0" i="0" u="none" strike="noStrike" cap="none">
                <a:solidFill>
                  <a:srgbClr val="64748B"/>
                </a:solidFill>
                <a:latin typeface="Calibri"/>
                <a:ea typeface="Calibri"/>
                <a:cs typeface="Calibri"/>
                <a:sym typeface="Calibri"/>
              </a:rPr>
              <a:t>pool</a:t>
            </a:r>
            <a:endParaRPr sz="600" b="0" i="0" u="none" strike="noStrike" cap="none">
              <a:solidFill>
                <a:schemeClr val="dk1"/>
              </a:solidFill>
              <a:latin typeface="Calibri"/>
              <a:ea typeface="Calibri"/>
              <a:cs typeface="Calibri"/>
              <a:sym typeface="Calibri"/>
            </a:endParaRPr>
          </a:p>
        </p:txBody>
      </p:sp>
      <p:sp>
        <p:nvSpPr>
          <p:cNvPr id="146" name="Google Shape;146;p19"/>
          <p:cNvSpPr/>
          <p:nvPr/>
        </p:nvSpPr>
        <p:spPr>
          <a:xfrm>
            <a:off x="4791456" y="2304288"/>
            <a:ext cx="228600" cy="10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600"/>
              <a:buFont typeface="Calibri"/>
              <a:buNone/>
            </a:pPr>
            <a:r>
              <a:rPr lang="en" sz="600" b="0" i="0" u="none" strike="noStrike" cap="none">
                <a:solidFill>
                  <a:srgbClr val="64748B"/>
                </a:solidFill>
                <a:latin typeface="Calibri"/>
                <a:ea typeface="Calibri"/>
                <a:cs typeface="Calibri"/>
                <a:sym typeface="Calibri"/>
              </a:rPr>
              <a:t>FC</a:t>
            </a:r>
            <a:endParaRPr sz="600" b="0" i="0" u="none" strike="noStrike" cap="none">
              <a:solidFill>
                <a:schemeClr val="dk1"/>
              </a:solidFill>
              <a:latin typeface="Calibri"/>
              <a:ea typeface="Calibri"/>
              <a:cs typeface="Calibri"/>
              <a:sym typeface="Calibri"/>
            </a:endParaRPr>
          </a:p>
        </p:txBody>
      </p:sp>
      <p:sp>
        <p:nvSpPr>
          <p:cNvPr id="147" name="Google Shape;147;p19"/>
          <p:cNvSpPr/>
          <p:nvPr/>
        </p:nvSpPr>
        <p:spPr>
          <a:xfrm>
            <a:off x="371246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10B981"/>
              </a:buClr>
              <a:buSzPts val="900"/>
              <a:buFont typeface="Calibri"/>
              <a:buNone/>
            </a:pPr>
            <a:r>
              <a:rPr lang="en" sz="900" b="1" i="0" u="none" strike="noStrike" cap="none">
                <a:solidFill>
                  <a:srgbClr val="10B981"/>
                </a:solidFill>
                <a:latin typeface="Calibri"/>
                <a:ea typeface="Calibri"/>
                <a:cs typeface="Calibri"/>
                <a:sym typeface="Calibri"/>
              </a:rPr>
              <a:t>Conv filters</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Spatial hierarchy</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Weight sharing</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Image/vision tasks</a:t>
            </a:r>
            <a:endParaRPr sz="900" b="0" i="0" u="none" strike="noStrike" cap="none">
              <a:solidFill>
                <a:schemeClr val="dk1"/>
              </a:solidFill>
              <a:latin typeface="Calibri"/>
              <a:ea typeface="Calibri"/>
              <a:cs typeface="Calibri"/>
              <a:sym typeface="Calibri"/>
            </a:endParaRPr>
          </a:p>
        </p:txBody>
      </p:sp>
      <p:sp>
        <p:nvSpPr>
          <p:cNvPr id="148" name="Google Shape;148;p19"/>
          <p:cNvSpPr/>
          <p:nvPr/>
        </p:nvSpPr>
        <p:spPr>
          <a:xfrm>
            <a:off x="4389120" y="4142232"/>
            <a:ext cx="164700" cy="164700"/>
          </a:xfrm>
          <a:prstGeom prst="ellipse">
            <a:avLst/>
          </a:prstGeom>
          <a:solidFill>
            <a:srgbClr val="10B98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19"/>
          <p:cNvSpPr/>
          <p:nvPr/>
        </p:nvSpPr>
        <p:spPr>
          <a:xfrm>
            <a:off x="5376672" y="749808"/>
            <a:ext cx="1664100" cy="3291900"/>
          </a:xfrm>
          <a:prstGeom prst="rect">
            <a:avLst/>
          </a:prstGeom>
          <a:solidFill>
            <a:srgbClr val="FFFFFF"/>
          </a:solidFill>
          <a:ln w="15225" cap="flat" cmpd="sng">
            <a:solidFill>
              <a:srgbClr val="F59E0B"/>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19"/>
          <p:cNvSpPr/>
          <p:nvPr/>
        </p:nvSpPr>
        <p:spPr>
          <a:xfrm>
            <a:off x="5376672" y="749808"/>
            <a:ext cx="1664100" cy="6390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19"/>
          <p:cNvSpPr/>
          <p:nvPr/>
        </p:nvSpPr>
        <p:spPr>
          <a:xfrm>
            <a:off x="5449824" y="841248"/>
            <a:ext cx="1518000" cy="201300"/>
          </a:xfrm>
          <a:prstGeom prst="rect">
            <a:avLst/>
          </a:prstGeom>
          <a:solidFill>
            <a:srgbClr val="F59E0B">
              <a:alpha val="14900"/>
            </a:srgbClr>
          </a:solidFill>
          <a:ln w="9525"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19"/>
          <p:cNvSpPr/>
          <p:nvPr/>
        </p:nvSpPr>
        <p:spPr>
          <a:xfrm>
            <a:off x="544982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59E0B"/>
              </a:buClr>
              <a:buSzPts val="800"/>
              <a:buFont typeface="Calibri"/>
              <a:buNone/>
            </a:pPr>
            <a:r>
              <a:rPr lang="en" sz="800" b="1" i="0" u="none" strike="noStrike" cap="none">
                <a:solidFill>
                  <a:srgbClr val="F59E0B"/>
                </a:solidFill>
                <a:latin typeface="Calibri"/>
                <a:ea typeface="Calibri"/>
                <a:cs typeface="Calibri"/>
                <a:sym typeface="Calibri"/>
              </a:rPr>
              <a:t>1990s</a:t>
            </a:r>
            <a:endParaRPr sz="800" b="0" i="0" u="none" strike="noStrike" cap="none">
              <a:solidFill>
                <a:schemeClr val="dk1"/>
              </a:solidFill>
              <a:latin typeface="Calibri"/>
              <a:ea typeface="Calibri"/>
              <a:cs typeface="Calibri"/>
              <a:sym typeface="Calibri"/>
            </a:endParaRPr>
          </a:p>
        </p:txBody>
      </p:sp>
      <p:sp>
        <p:nvSpPr>
          <p:cNvPr id="153" name="Google Shape;153;p19"/>
          <p:cNvSpPr/>
          <p:nvPr/>
        </p:nvSpPr>
        <p:spPr>
          <a:xfrm>
            <a:off x="543153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RNN / LSTM</a:t>
            </a:r>
            <a:endParaRPr sz="1300" b="0" i="0" u="none" strike="noStrike" cap="none">
              <a:solidFill>
                <a:schemeClr val="dk1"/>
              </a:solidFill>
              <a:latin typeface="Calibri"/>
              <a:ea typeface="Calibri"/>
              <a:cs typeface="Calibri"/>
              <a:sym typeface="Calibri"/>
            </a:endParaRPr>
          </a:p>
        </p:txBody>
      </p:sp>
      <p:sp>
        <p:nvSpPr>
          <p:cNvPr id="154" name="Google Shape;154;p19"/>
          <p:cNvSpPr/>
          <p:nvPr/>
        </p:nvSpPr>
        <p:spPr>
          <a:xfrm>
            <a:off x="544982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19"/>
          <p:cNvSpPr/>
          <p:nvPr/>
        </p:nvSpPr>
        <p:spPr>
          <a:xfrm>
            <a:off x="5541264" y="1709928"/>
            <a:ext cx="320100" cy="320100"/>
          </a:xfrm>
          <a:prstGeom prst="rect">
            <a:avLst/>
          </a:prstGeom>
          <a:solidFill>
            <a:srgbClr val="F59E0B">
              <a:alpha val="50200"/>
            </a:srgbClr>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19"/>
          <p:cNvSpPr/>
          <p:nvPr/>
        </p:nvSpPr>
        <p:spPr>
          <a:xfrm>
            <a:off x="5541264" y="1709928"/>
            <a:ext cx="320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00"/>
              <a:buFont typeface="Calibri"/>
              <a:buNone/>
            </a:pPr>
            <a:r>
              <a:rPr lang="en" sz="1000" b="1" i="1" u="none" strike="noStrike" cap="none">
                <a:solidFill>
                  <a:srgbClr val="1E293B"/>
                </a:solidFill>
                <a:latin typeface="Calibri"/>
                <a:ea typeface="Calibri"/>
                <a:cs typeface="Calibri"/>
                <a:sym typeface="Calibri"/>
              </a:rPr>
              <a:t>h</a:t>
            </a:r>
            <a:endParaRPr sz="1000" b="0" i="0" u="none" strike="noStrike" cap="none">
              <a:solidFill>
                <a:schemeClr val="dk1"/>
              </a:solidFill>
              <a:latin typeface="Calibri"/>
              <a:ea typeface="Calibri"/>
              <a:cs typeface="Calibri"/>
              <a:sym typeface="Calibri"/>
            </a:endParaRPr>
          </a:p>
        </p:txBody>
      </p:sp>
      <p:cxnSp>
        <p:nvCxnSpPr>
          <p:cNvPr id="157" name="Google Shape;157;p19"/>
          <p:cNvCxnSpPr/>
          <p:nvPr/>
        </p:nvCxnSpPr>
        <p:spPr>
          <a:xfrm>
            <a:off x="5861304" y="1869948"/>
            <a:ext cx="183000" cy="0"/>
          </a:xfrm>
          <a:prstGeom prst="straightConnector1">
            <a:avLst/>
          </a:prstGeom>
          <a:noFill/>
          <a:ln w="15225" cap="flat" cmpd="sng">
            <a:solidFill>
              <a:srgbClr val="F59E0B"/>
            </a:solidFill>
            <a:prstDash val="solid"/>
            <a:round/>
            <a:headEnd type="none" w="sm" len="sm"/>
            <a:tailEnd type="none" w="sm" len="sm"/>
          </a:ln>
        </p:spPr>
      </p:cxnSp>
      <p:cxnSp>
        <p:nvCxnSpPr>
          <p:cNvPr id="158" name="Google Shape;158;p19"/>
          <p:cNvCxnSpPr/>
          <p:nvPr/>
        </p:nvCxnSpPr>
        <p:spPr>
          <a:xfrm>
            <a:off x="5701284" y="1527048"/>
            <a:ext cx="0" cy="183000"/>
          </a:xfrm>
          <a:prstGeom prst="straightConnector1">
            <a:avLst/>
          </a:prstGeom>
          <a:noFill/>
          <a:ln w="12700" cap="flat" cmpd="sng">
            <a:solidFill>
              <a:srgbClr val="94A3B8"/>
            </a:solidFill>
            <a:prstDash val="solid"/>
            <a:round/>
            <a:headEnd type="none" w="sm" len="sm"/>
            <a:tailEnd type="none" w="sm" len="sm"/>
          </a:ln>
        </p:spPr>
      </p:cxnSp>
      <p:sp>
        <p:nvSpPr>
          <p:cNvPr id="159" name="Google Shape;159;p19"/>
          <p:cNvSpPr/>
          <p:nvPr/>
        </p:nvSpPr>
        <p:spPr>
          <a:xfrm>
            <a:off x="5609844" y="1435608"/>
            <a:ext cx="183000" cy="12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700"/>
              <a:buFont typeface="Calibri"/>
              <a:buNone/>
            </a:pPr>
            <a:r>
              <a:rPr lang="en" sz="700" b="0" i="1" u="none" strike="noStrike" cap="none">
                <a:solidFill>
                  <a:srgbClr val="64748B"/>
                </a:solidFill>
                <a:latin typeface="Calibri"/>
                <a:ea typeface="Calibri"/>
                <a:cs typeface="Calibri"/>
                <a:sym typeface="Calibri"/>
              </a:rPr>
              <a:t>x1</a:t>
            </a:r>
            <a:endParaRPr sz="700" b="0" i="0" u="none" strike="noStrike" cap="none">
              <a:solidFill>
                <a:schemeClr val="dk1"/>
              </a:solidFill>
              <a:latin typeface="Calibri"/>
              <a:ea typeface="Calibri"/>
              <a:cs typeface="Calibri"/>
              <a:sym typeface="Calibri"/>
            </a:endParaRPr>
          </a:p>
        </p:txBody>
      </p:sp>
      <p:sp>
        <p:nvSpPr>
          <p:cNvPr id="160" name="Google Shape;160;p19"/>
          <p:cNvSpPr/>
          <p:nvPr/>
        </p:nvSpPr>
        <p:spPr>
          <a:xfrm>
            <a:off x="5952744" y="1709928"/>
            <a:ext cx="320100" cy="320100"/>
          </a:xfrm>
          <a:prstGeom prst="rect">
            <a:avLst/>
          </a:prstGeom>
          <a:solidFill>
            <a:srgbClr val="F59E0B">
              <a:alpha val="50200"/>
            </a:srgbClr>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19"/>
          <p:cNvSpPr/>
          <p:nvPr/>
        </p:nvSpPr>
        <p:spPr>
          <a:xfrm>
            <a:off x="5952744" y="1709928"/>
            <a:ext cx="320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00"/>
              <a:buFont typeface="Calibri"/>
              <a:buNone/>
            </a:pPr>
            <a:r>
              <a:rPr lang="en" sz="1000" b="1" i="1" u="none" strike="noStrike" cap="none">
                <a:solidFill>
                  <a:srgbClr val="1E293B"/>
                </a:solidFill>
                <a:latin typeface="Calibri"/>
                <a:ea typeface="Calibri"/>
                <a:cs typeface="Calibri"/>
                <a:sym typeface="Calibri"/>
              </a:rPr>
              <a:t>h</a:t>
            </a:r>
            <a:endParaRPr sz="1000" b="0" i="0" u="none" strike="noStrike" cap="none">
              <a:solidFill>
                <a:schemeClr val="dk1"/>
              </a:solidFill>
              <a:latin typeface="Calibri"/>
              <a:ea typeface="Calibri"/>
              <a:cs typeface="Calibri"/>
              <a:sym typeface="Calibri"/>
            </a:endParaRPr>
          </a:p>
        </p:txBody>
      </p:sp>
      <p:cxnSp>
        <p:nvCxnSpPr>
          <p:cNvPr id="162" name="Google Shape;162;p19"/>
          <p:cNvCxnSpPr/>
          <p:nvPr/>
        </p:nvCxnSpPr>
        <p:spPr>
          <a:xfrm>
            <a:off x="6272784" y="1869948"/>
            <a:ext cx="183000" cy="0"/>
          </a:xfrm>
          <a:prstGeom prst="straightConnector1">
            <a:avLst/>
          </a:prstGeom>
          <a:noFill/>
          <a:ln w="15225" cap="flat" cmpd="sng">
            <a:solidFill>
              <a:srgbClr val="F59E0B"/>
            </a:solidFill>
            <a:prstDash val="solid"/>
            <a:round/>
            <a:headEnd type="none" w="sm" len="sm"/>
            <a:tailEnd type="none" w="sm" len="sm"/>
          </a:ln>
        </p:spPr>
      </p:cxnSp>
      <p:cxnSp>
        <p:nvCxnSpPr>
          <p:cNvPr id="163" name="Google Shape;163;p19"/>
          <p:cNvCxnSpPr/>
          <p:nvPr/>
        </p:nvCxnSpPr>
        <p:spPr>
          <a:xfrm>
            <a:off x="6112764" y="1527048"/>
            <a:ext cx="0" cy="183000"/>
          </a:xfrm>
          <a:prstGeom prst="straightConnector1">
            <a:avLst/>
          </a:prstGeom>
          <a:noFill/>
          <a:ln w="12700" cap="flat" cmpd="sng">
            <a:solidFill>
              <a:srgbClr val="94A3B8"/>
            </a:solidFill>
            <a:prstDash val="solid"/>
            <a:round/>
            <a:headEnd type="none" w="sm" len="sm"/>
            <a:tailEnd type="none" w="sm" len="sm"/>
          </a:ln>
        </p:spPr>
      </p:cxnSp>
      <p:sp>
        <p:nvSpPr>
          <p:cNvPr id="164" name="Google Shape;164;p19"/>
          <p:cNvSpPr/>
          <p:nvPr/>
        </p:nvSpPr>
        <p:spPr>
          <a:xfrm>
            <a:off x="6021324" y="1435608"/>
            <a:ext cx="183000" cy="12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700"/>
              <a:buFont typeface="Calibri"/>
              <a:buNone/>
            </a:pPr>
            <a:r>
              <a:rPr lang="en" sz="700" b="0" i="1" u="none" strike="noStrike" cap="none">
                <a:solidFill>
                  <a:srgbClr val="64748B"/>
                </a:solidFill>
                <a:latin typeface="Calibri"/>
                <a:ea typeface="Calibri"/>
                <a:cs typeface="Calibri"/>
                <a:sym typeface="Calibri"/>
              </a:rPr>
              <a:t>x2</a:t>
            </a:r>
            <a:endParaRPr sz="700" b="0" i="0" u="none" strike="noStrike" cap="none">
              <a:solidFill>
                <a:schemeClr val="dk1"/>
              </a:solidFill>
              <a:latin typeface="Calibri"/>
              <a:ea typeface="Calibri"/>
              <a:cs typeface="Calibri"/>
              <a:sym typeface="Calibri"/>
            </a:endParaRPr>
          </a:p>
        </p:txBody>
      </p:sp>
      <p:sp>
        <p:nvSpPr>
          <p:cNvPr id="165" name="Google Shape;165;p19"/>
          <p:cNvSpPr/>
          <p:nvPr/>
        </p:nvSpPr>
        <p:spPr>
          <a:xfrm>
            <a:off x="6364224" y="1709928"/>
            <a:ext cx="320100" cy="320100"/>
          </a:xfrm>
          <a:prstGeom prst="rect">
            <a:avLst/>
          </a:prstGeom>
          <a:solidFill>
            <a:srgbClr val="F59E0B">
              <a:alpha val="50200"/>
            </a:srgbClr>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19"/>
          <p:cNvSpPr/>
          <p:nvPr/>
        </p:nvSpPr>
        <p:spPr>
          <a:xfrm>
            <a:off x="6364224" y="1709928"/>
            <a:ext cx="320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00"/>
              <a:buFont typeface="Calibri"/>
              <a:buNone/>
            </a:pPr>
            <a:r>
              <a:rPr lang="en" sz="1000" b="1" i="1" u="none" strike="noStrike" cap="none">
                <a:solidFill>
                  <a:srgbClr val="1E293B"/>
                </a:solidFill>
                <a:latin typeface="Calibri"/>
                <a:ea typeface="Calibri"/>
                <a:cs typeface="Calibri"/>
                <a:sym typeface="Calibri"/>
              </a:rPr>
              <a:t>h</a:t>
            </a:r>
            <a:endParaRPr sz="1000" b="0" i="0" u="none" strike="noStrike" cap="none">
              <a:solidFill>
                <a:schemeClr val="dk1"/>
              </a:solidFill>
              <a:latin typeface="Calibri"/>
              <a:ea typeface="Calibri"/>
              <a:cs typeface="Calibri"/>
              <a:sym typeface="Calibri"/>
            </a:endParaRPr>
          </a:p>
        </p:txBody>
      </p:sp>
      <p:cxnSp>
        <p:nvCxnSpPr>
          <p:cNvPr id="167" name="Google Shape;167;p19"/>
          <p:cNvCxnSpPr/>
          <p:nvPr/>
        </p:nvCxnSpPr>
        <p:spPr>
          <a:xfrm>
            <a:off x="6524244" y="1527048"/>
            <a:ext cx="0" cy="183000"/>
          </a:xfrm>
          <a:prstGeom prst="straightConnector1">
            <a:avLst/>
          </a:prstGeom>
          <a:noFill/>
          <a:ln w="12700" cap="flat" cmpd="sng">
            <a:solidFill>
              <a:srgbClr val="94A3B8"/>
            </a:solidFill>
            <a:prstDash val="solid"/>
            <a:round/>
            <a:headEnd type="none" w="sm" len="sm"/>
            <a:tailEnd type="none" w="sm" len="sm"/>
          </a:ln>
        </p:spPr>
      </p:cxnSp>
      <p:sp>
        <p:nvSpPr>
          <p:cNvPr id="168" name="Google Shape;168;p19"/>
          <p:cNvSpPr/>
          <p:nvPr/>
        </p:nvSpPr>
        <p:spPr>
          <a:xfrm>
            <a:off x="6432804" y="1435608"/>
            <a:ext cx="183000" cy="12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700"/>
              <a:buFont typeface="Calibri"/>
              <a:buNone/>
            </a:pPr>
            <a:r>
              <a:rPr lang="en" sz="700" b="0" i="1" u="none" strike="noStrike" cap="none">
                <a:solidFill>
                  <a:srgbClr val="64748B"/>
                </a:solidFill>
                <a:latin typeface="Calibri"/>
                <a:ea typeface="Calibri"/>
                <a:cs typeface="Calibri"/>
                <a:sym typeface="Calibri"/>
              </a:rPr>
              <a:t>x3</a:t>
            </a:r>
            <a:endParaRPr sz="700" b="0" i="0" u="none" strike="noStrike" cap="none">
              <a:solidFill>
                <a:schemeClr val="dk1"/>
              </a:solidFill>
              <a:latin typeface="Calibri"/>
              <a:ea typeface="Calibri"/>
              <a:cs typeface="Calibri"/>
              <a:sym typeface="Calibri"/>
            </a:endParaRPr>
          </a:p>
        </p:txBody>
      </p:sp>
      <p:cxnSp>
        <p:nvCxnSpPr>
          <p:cNvPr id="169" name="Google Shape;169;p19"/>
          <p:cNvCxnSpPr/>
          <p:nvPr/>
        </p:nvCxnSpPr>
        <p:spPr>
          <a:xfrm>
            <a:off x="5705856" y="1572768"/>
            <a:ext cx="658500" cy="0"/>
          </a:xfrm>
          <a:prstGeom prst="straightConnector1">
            <a:avLst/>
          </a:prstGeom>
          <a:noFill/>
          <a:ln w="10150" cap="flat" cmpd="sng">
            <a:solidFill>
              <a:srgbClr val="F59E0B"/>
            </a:solidFill>
            <a:prstDash val="dash"/>
            <a:round/>
            <a:headEnd type="none" w="sm" len="sm"/>
            <a:tailEnd type="none" w="sm" len="sm"/>
          </a:ln>
        </p:spPr>
      </p:cxnSp>
      <p:sp>
        <p:nvSpPr>
          <p:cNvPr id="170" name="Google Shape;170;p19"/>
          <p:cNvSpPr/>
          <p:nvPr/>
        </p:nvSpPr>
        <p:spPr>
          <a:xfrm>
            <a:off x="544982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F59E0B"/>
              </a:buClr>
              <a:buSzPts val="900"/>
              <a:buFont typeface="Calibri"/>
              <a:buNone/>
            </a:pPr>
            <a:r>
              <a:rPr lang="en" sz="900" b="1" i="0" u="none" strike="noStrike" cap="none">
                <a:solidFill>
                  <a:srgbClr val="F59E0B"/>
                </a:solidFill>
                <a:latin typeface="Calibri"/>
                <a:ea typeface="Calibri"/>
                <a:cs typeface="Calibri"/>
                <a:sym typeface="Calibri"/>
              </a:rPr>
              <a:t>Sequential data</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Hidden state</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Long-term memory</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NLP / time-series</a:t>
            </a:r>
            <a:endParaRPr sz="900" b="0" i="0" u="none" strike="noStrike" cap="none">
              <a:solidFill>
                <a:schemeClr val="dk1"/>
              </a:solidFill>
              <a:latin typeface="Calibri"/>
              <a:ea typeface="Calibri"/>
              <a:cs typeface="Calibri"/>
              <a:sym typeface="Calibri"/>
            </a:endParaRPr>
          </a:p>
        </p:txBody>
      </p:sp>
      <p:sp>
        <p:nvSpPr>
          <p:cNvPr id="171" name="Google Shape;171;p19"/>
          <p:cNvSpPr/>
          <p:nvPr/>
        </p:nvSpPr>
        <p:spPr>
          <a:xfrm>
            <a:off x="6126480" y="4142232"/>
            <a:ext cx="164700" cy="164700"/>
          </a:xfrm>
          <a:prstGeom prst="ellipse">
            <a:avLst/>
          </a:prstGeom>
          <a:solidFill>
            <a:srgbClr val="F59E0B"/>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19"/>
          <p:cNvSpPr/>
          <p:nvPr/>
        </p:nvSpPr>
        <p:spPr>
          <a:xfrm>
            <a:off x="7114032" y="749808"/>
            <a:ext cx="1664100" cy="3291900"/>
          </a:xfrm>
          <a:prstGeom prst="rect">
            <a:avLst/>
          </a:prstGeom>
          <a:solidFill>
            <a:srgbClr val="FFFFFF"/>
          </a:solidFill>
          <a:ln w="15225" cap="flat" cmpd="sng">
            <a:solidFill>
              <a:srgbClr val="EC4899"/>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19"/>
          <p:cNvSpPr/>
          <p:nvPr/>
        </p:nvSpPr>
        <p:spPr>
          <a:xfrm>
            <a:off x="7114032" y="749808"/>
            <a:ext cx="1664100" cy="63900"/>
          </a:xfrm>
          <a:prstGeom prst="rect">
            <a:avLst/>
          </a:prstGeom>
          <a:solidFill>
            <a:srgbClr val="EC4899"/>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19"/>
          <p:cNvSpPr/>
          <p:nvPr/>
        </p:nvSpPr>
        <p:spPr>
          <a:xfrm>
            <a:off x="7187184" y="841248"/>
            <a:ext cx="1518000" cy="201300"/>
          </a:xfrm>
          <a:prstGeom prst="rect">
            <a:avLst/>
          </a:prstGeom>
          <a:solidFill>
            <a:srgbClr val="EC4899">
              <a:alpha val="14900"/>
            </a:srgbClr>
          </a:solidFill>
          <a:ln w="9525"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19"/>
          <p:cNvSpPr/>
          <p:nvPr/>
        </p:nvSpPr>
        <p:spPr>
          <a:xfrm>
            <a:off x="718718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C4899"/>
              </a:buClr>
              <a:buSzPts val="800"/>
              <a:buFont typeface="Calibri"/>
              <a:buNone/>
            </a:pPr>
            <a:r>
              <a:rPr lang="en" sz="800" b="1" i="0" u="none" strike="noStrike" cap="none">
                <a:solidFill>
                  <a:srgbClr val="EC4899"/>
                </a:solidFill>
                <a:latin typeface="Calibri"/>
                <a:ea typeface="Calibri"/>
                <a:cs typeface="Calibri"/>
                <a:sym typeface="Calibri"/>
              </a:rPr>
              <a:t>2017–now</a:t>
            </a:r>
            <a:endParaRPr sz="800" b="0" i="0" u="none" strike="noStrike" cap="none">
              <a:solidFill>
                <a:schemeClr val="dk1"/>
              </a:solidFill>
              <a:latin typeface="Calibri"/>
              <a:ea typeface="Calibri"/>
              <a:cs typeface="Calibri"/>
              <a:sym typeface="Calibri"/>
            </a:endParaRPr>
          </a:p>
        </p:txBody>
      </p:sp>
      <p:sp>
        <p:nvSpPr>
          <p:cNvPr id="176" name="Google Shape;176;p19"/>
          <p:cNvSpPr/>
          <p:nvPr/>
        </p:nvSpPr>
        <p:spPr>
          <a:xfrm>
            <a:off x="716889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Transformer</a:t>
            </a:r>
            <a:endParaRPr sz="1300" b="0" i="0" u="none" strike="noStrike" cap="none">
              <a:solidFill>
                <a:schemeClr val="dk1"/>
              </a:solidFill>
              <a:latin typeface="Calibri"/>
              <a:ea typeface="Calibri"/>
              <a:cs typeface="Calibri"/>
              <a:sym typeface="Calibri"/>
            </a:endParaRPr>
          </a:p>
        </p:txBody>
      </p:sp>
      <p:sp>
        <p:nvSpPr>
          <p:cNvPr id="177" name="Google Shape;177;p19"/>
          <p:cNvSpPr/>
          <p:nvPr/>
        </p:nvSpPr>
        <p:spPr>
          <a:xfrm>
            <a:off x="718718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19"/>
          <p:cNvSpPr/>
          <p:nvPr/>
        </p:nvSpPr>
        <p:spPr>
          <a:xfrm>
            <a:off x="7260336" y="1527048"/>
            <a:ext cx="1280100" cy="201300"/>
          </a:xfrm>
          <a:prstGeom prst="rect">
            <a:avLst/>
          </a:prstGeom>
          <a:solidFill>
            <a:srgbClr val="EC4899">
              <a:alpha val="20000"/>
            </a:srgbClr>
          </a:solidFill>
          <a:ln w="1015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19"/>
          <p:cNvSpPr/>
          <p:nvPr/>
        </p:nvSpPr>
        <p:spPr>
          <a:xfrm>
            <a:off x="7278624" y="1563624"/>
            <a:ext cx="205800" cy="128100"/>
          </a:xfrm>
          <a:prstGeom prst="rect">
            <a:avLst/>
          </a:prstGeom>
          <a:solidFill>
            <a:srgbClr val="EC4899">
              <a:alpha val="70200"/>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19"/>
          <p:cNvSpPr/>
          <p:nvPr/>
        </p:nvSpPr>
        <p:spPr>
          <a:xfrm>
            <a:off x="7520940" y="1563624"/>
            <a:ext cx="493800" cy="128100"/>
          </a:xfrm>
          <a:prstGeom prst="rect">
            <a:avLst/>
          </a:prstGeom>
          <a:solidFill>
            <a:srgbClr val="EC4899">
              <a:alpha val="70200"/>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19"/>
          <p:cNvSpPr/>
          <p:nvPr/>
        </p:nvSpPr>
        <p:spPr>
          <a:xfrm>
            <a:off x="8051292" y="1563624"/>
            <a:ext cx="288000" cy="128100"/>
          </a:xfrm>
          <a:prstGeom prst="rect">
            <a:avLst/>
          </a:prstGeom>
          <a:solidFill>
            <a:srgbClr val="EC4899">
              <a:alpha val="70200"/>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19"/>
          <p:cNvSpPr/>
          <p:nvPr/>
        </p:nvSpPr>
        <p:spPr>
          <a:xfrm>
            <a:off x="8375904" y="1563624"/>
            <a:ext cx="164700" cy="128100"/>
          </a:xfrm>
          <a:prstGeom prst="rect">
            <a:avLst/>
          </a:prstGeom>
          <a:solidFill>
            <a:srgbClr val="EC4899">
              <a:alpha val="70200"/>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19"/>
          <p:cNvSpPr/>
          <p:nvPr/>
        </p:nvSpPr>
        <p:spPr>
          <a:xfrm>
            <a:off x="7260336" y="1527048"/>
            <a:ext cx="502800" cy="201300"/>
          </a:xfrm>
          <a:prstGeom prst="rect">
            <a:avLst/>
          </a:prstGeom>
          <a:no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Clr>
                <a:srgbClr val="1E293B"/>
              </a:buClr>
              <a:buSzPts val="600"/>
              <a:buFont typeface="Calibri"/>
              <a:buNone/>
            </a:pPr>
            <a:r>
              <a:rPr lang="en" sz="600" b="0" i="0" u="none" strike="noStrike" cap="none">
                <a:solidFill>
                  <a:srgbClr val="1E293B"/>
                </a:solidFill>
                <a:latin typeface="Calibri"/>
                <a:ea typeface="Calibri"/>
                <a:cs typeface="Calibri"/>
                <a:sym typeface="Calibri"/>
              </a:rPr>
              <a:t>Head 1</a:t>
            </a:r>
            <a:endParaRPr sz="600" b="0" i="0" u="none" strike="noStrike" cap="none">
              <a:solidFill>
                <a:schemeClr val="dk1"/>
              </a:solidFill>
              <a:latin typeface="Calibri"/>
              <a:ea typeface="Calibri"/>
              <a:cs typeface="Calibri"/>
              <a:sym typeface="Calibri"/>
            </a:endParaRPr>
          </a:p>
        </p:txBody>
      </p:sp>
      <p:sp>
        <p:nvSpPr>
          <p:cNvPr id="184" name="Google Shape;184;p19"/>
          <p:cNvSpPr/>
          <p:nvPr/>
        </p:nvSpPr>
        <p:spPr>
          <a:xfrm>
            <a:off x="7260336" y="1783080"/>
            <a:ext cx="1280100" cy="201300"/>
          </a:xfrm>
          <a:prstGeom prst="rect">
            <a:avLst/>
          </a:prstGeom>
          <a:solidFill>
            <a:srgbClr val="6366F1">
              <a:alpha val="20000"/>
            </a:srgbClr>
          </a:solidFill>
          <a:ln w="1015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19"/>
          <p:cNvSpPr/>
          <p:nvPr/>
        </p:nvSpPr>
        <p:spPr>
          <a:xfrm>
            <a:off x="7278624" y="1819656"/>
            <a:ext cx="205800" cy="128100"/>
          </a:xfrm>
          <a:prstGeom prst="rect">
            <a:avLst/>
          </a:prstGeom>
          <a:solidFill>
            <a:srgbClr val="6366F1">
              <a:alpha val="70200"/>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19"/>
          <p:cNvSpPr/>
          <p:nvPr/>
        </p:nvSpPr>
        <p:spPr>
          <a:xfrm>
            <a:off x="7520940" y="1819656"/>
            <a:ext cx="493800" cy="128100"/>
          </a:xfrm>
          <a:prstGeom prst="rect">
            <a:avLst/>
          </a:prstGeom>
          <a:solidFill>
            <a:srgbClr val="6366F1">
              <a:alpha val="70200"/>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19"/>
          <p:cNvSpPr/>
          <p:nvPr/>
        </p:nvSpPr>
        <p:spPr>
          <a:xfrm>
            <a:off x="8051292" y="1819656"/>
            <a:ext cx="288000" cy="128100"/>
          </a:xfrm>
          <a:prstGeom prst="rect">
            <a:avLst/>
          </a:prstGeom>
          <a:solidFill>
            <a:srgbClr val="6366F1">
              <a:alpha val="70200"/>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19"/>
          <p:cNvSpPr/>
          <p:nvPr/>
        </p:nvSpPr>
        <p:spPr>
          <a:xfrm>
            <a:off x="8375904" y="1819656"/>
            <a:ext cx="164700" cy="128100"/>
          </a:xfrm>
          <a:prstGeom prst="rect">
            <a:avLst/>
          </a:prstGeom>
          <a:solidFill>
            <a:srgbClr val="6366F1">
              <a:alpha val="70200"/>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19"/>
          <p:cNvSpPr/>
          <p:nvPr/>
        </p:nvSpPr>
        <p:spPr>
          <a:xfrm>
            <a:off x="7260336" y="1783080"/>
            <a:ext cx="502800" cy="201300"/>
          </a:xfrm>
          <a:prstGeom prst="rect">
            <a:avLst/>
          </a:prstGeom>
          <a:no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Clr>
                <a:srgbClr val="1E293B"/>
              </a:buClr>
              <a:buSzPts val="600"/>
              <a:buFont typeface="Calibri"/>
              <a:buNone/>
            </a:pPr>
            <a:r>
              <a:rPr lang="en" sz="600" b="0" i="0" u="none" strike="noStrike" cap="none">
                <a:solidFill>
                  <a:srgbClr val="1E293B"/>
                </a:solidFill>
                <a:latin typeface="Calibri"/>
                <a:ea typeface="Calibri"/>
                <a:cs typeface="Calibri"/>
                <a:sym typeface="Calibri"/>
              </a:rPr>
              <a:t>Head 2</a:t>
            </a:r>
            <a:endParaRPr sz="600" b="0" i="0" u="none" strike="noStrike" cap="none">
              <a:solidFill>
                <a:schemeClr val="dk1"/>
              </a:solidFill>
              <a:latin typeface="Calibri"/>
              <a:ea typeface="Calibri"/>
              <a:cs typeface="Calibri"/>
              <a:sym typeface="Calibri"/>
            </a:endParaRPr>
          </a:p>
        </p:txBody>
      </p:sp>
      <p:sp>
        <p:nvSpPr>
          <p:cNvPr id="190" name="Google Shape;190;p19"/>
          <p:cNvSpPr/>
          <p:nvPr/>
        </p:nvSpPr>
        <p:spPr>
          <a:xfrm>
            <a:off x="7260336" y="2039112"/>
            <a:ext cx="1280100" cy="201300"/>
          </a:xfrm>
          <a:prstGeom prst="rect">
            <a:avLst/>
          </a:prstGeom>
          <a:solidFill>
            <a:srgbClr val="10B981">
              <a:alpha val="20000"/>
            </a:srgbClr>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19"/>
          <p:cNvSpPr/>
          <p:nvPr/>
        </p:nvSpPr>
        <p:spPr>
          <a:xfrm>
            <a:off x="7278624" y="2075688"/>
            <a:ext cx="205800" cy="128100"/>
          </a:xfrm>
          <a:prstGeom prst="rect">
            <a:avLst/>
          </a:prstGeom>
          <a:solidFill>
            <a:srgbClr val="10B981">
              <a:alpha val="70200"/>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19"/>
          <p:cNvSpPr/>
          <p:nvPr/>
        </p:nvSpPr>
        <p:spPr>
          <a:xfrm>
            <a:off x="7520940" y="2075688"/>
            <a:ext cx="493800" cy="128100"/>
          </a:xfrm>
          <a:prstGeom prst="rect">
            <a:avLst/>
          </a:prstGeom>
          <a:solidFill>
            <a:srgbClr val="10B981">
              <a:alpha val="70200"/>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19"/>
          <p:cNvSpPr/>
          <p:nvPr/>
        </p:nvSpPr>
        <p:spPr>
          <a:xfrm>
            <a:off x="8051292" y="2075688"/>
            <a:ext cx="288000" cy="128100"/>
          </a:xfrm>
          <a:prstGeom prst="rect">
            <a:avLst/>
          </a:prstGeom>
          <a:solidFill>
            <a:srgbClr val="10B981">
              <a:alpha val="70200"/>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19"/>
          <p:cNvSpPr/>
          <p:nvPr/>
        </p:nvSpPr>
        <p:spPr>
          <a:xfrm>
            <a:off x="8375904" y="2075688"/>
            <a:ext cx="164700" cy="128100"/>
          </a:xfrm>
          <a:prstGeom prst="rect">
            <a:avLst/>
          </a:prstGeom>
          <a:solidFill>
            <a:srgbClr val="10B981">
              <a:alpha val="70200"/>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19"/>
          <p:cNvSpPr/>
          <p:nvPr/>
        </p:nvSpPr>
        <p:spPr>
          <a:xfrm>
            <a:off x="7260336" y="2039112"/>
            <a:ext cx="502800" cy="201300"/>
          </a:xfrm>
          <a:prstGeom prst="rect">
            <a:avLst/>
          </a:prstGeom>
          <a:no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Clr>
                <a:srgbClr val="1E293B"/>
              </a:buClr>
              <a:buSzPts val="600"/>
              <a:buFont typeface="Calibri"/>
              <a:buNone/>
            </a:pPr>
            <a:r>
              <a:rPr lang="en" sz="600" b="0" i="0" u="none" strike="noStrike" cap="none">
                <a:solidFill>
                  <a:srgbClr val="1E293B"/>
                </a:solidFill>
                <a:latin typeface="Calibri"/>
                <a:ea typeface="Calibri"/>
                <a:cs typeface="Calibri"/>
                <a:sym typeface="Calibri"/>
              </a:rPr>
              <a:t>Head 3</a:t>
            </a:r>
            <a:endParaRPr sz="600" b="0" i="0" u="none" strike="noStrike" cap="none">
              <a:solidFill>
                <a:schemeClr val="dk1"/>
              </a:solidFill>
              <a:latin typeface="Calibri"/>
              <a:ea typeface="Calibri"/>
              <a:cs typeface="Calibri"/>
              <a:sym typeface="Calibri"/>
            </a:endParaRPr>
          </a:p>
        </p:txBody>
      </p:sp>
      <p:sp>
        <p:nvSpPr>
          <p:cNvPr id="196" name="Google Shape;196;p19"/>
          <p:cNvSpPr/>
          <p:nvPr/>
        </p:nvSpPr>
        <p:spPr>
          <a:xfrm>
            <a:off x="7260336" y="2304288"/>
            <a:ext cx="1280100" cy="109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600"/>
              <a:buFont typeface="Calibri"/>
              <a:buNone/>
            </a:pPr>
            <a:r>
              <a:rPr lang="en" sz="600" b="0" i="0" u="none" strike="noStrike" cap="none">
                <a:solidFill>
                  <a:srgbClr val="64748B"/>
                </a:solidFill>
                <a:latin typeface="Calibri"/>
                <a:ea typeface="Calibri"/>
                <a:cs typeface="Calibri"/>
                <a:sym typeface="Calibri"/>
              </a:rPr>
              <a:t>Multi-Head Attention</a:t>
            </a:r>
            <a:endParaRPr sz="600" b="0" i="0" u="none" strike="noStrike" cap="none">
              <a:solidFill>
                <a:schemeClr val="dk1"/>
              </a:solidFill>
              <a:latin typeface="Calibri"/>
              <a:ea typeface="Calibri"/>
              <a:cs typeface="Calibri"/>
              <a:sym typeface="Calibri"/>
            </a:endParaRPr>
          </a:p>
        </p:txBody>
      </p:sp>
      <p:sp>
        <p:nvSpPr>
          <p:cNvPr id="197" name="Google Shape;197;p19"/>
          <p:cNvSpPr/>
          <p:nvPr/>
        </p:nvSpPr>
        <p:spPr>
          <a:xfrm>
            <a:off x="718718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EC4899"/>
              </a:buClr>
              <a:buSzPts val="900"/>
              <a:buFont typeface="Calibri"/>
              <a:buNone/>
            </a:pPr>
            <a:r>
              <a:rPr lang="en" sz="900" b="1" i="0" u="none" strike="noStrike" cap="none">
                <a:solidFill>
                  <a:srgbClr val="EC4899"/>
                </a:solidFill>
                <a:latin typeface="Calibri"/>
                <a:ea typeface="Calibri"/>
                <a:cs typeface="Calibri"/>
                <a:sym typeface="Calibri"/>
              </a:rPr>
              <a:t>Self-attention</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Parallelizable</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Positional enc.</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LLMs / GPT / BERT</a:t>
            </a:r>
            <a:endParaRPr sz="900" b="0" i="0" u="none" strike="noStrike" cap="none">
              <a:solidFill>
                <a:schemeClr val="dk1"/>
              </a:solidFill>
              <a:latin typeface="Calibri"/>
              <a:ea typeface="Calibri"/>
              <a:cs typeface="Calibri"/>
              <a:sym typeface="Calibri"/>
            </a:endParaRPr>
          </a:p>
        </p:txBody>
      </p:sp>
      <p:sp>
        <p:nvSpPr>
          <p:cNvPr id="198" name="Google Shape;198;p19"/>
          <p:cNvSpPr/>
          <p:nvPr/>
        </p:nvSpPr>
        <p:spPr>
          <a:xfrm>
            <a:off x="7863840" y="4142232"/>
            <a:ext cx="164700" cy="164700"/>
          </a:xfrm>
          <a:prstGeom prst="ellipse">
            <a:avLst/>
          </a:prstGeom>
          <a:solidFill>
            <a:srgbClr val="EC4899"/>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p19"/>
          <p:cNvSpPr/>
          <p:nvPr/>
        </p:nvSpPr>
        <p:spPr>
          <a:xfrm>
            <a:off x="228600" y="4828032"/>
            <a:ext cx="36576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4A3B8"/>
              </a:buClr>
              <a:buSzPts val="800"/>
              <a:buFont typeface="Calibri"/>
              <a:buNone/>
            </a:pPr>
            <a:r>
              <a:rPr lang="en" sz="800" b="0" i="0" u="none" strike="noStrike" cap="none">
                <a:solidFill>
                  <a:srgbClr val="94A3B8"/>
                </a:solidFill>
                <a:latin typeface="Calibri"/>
                <a:ea typeface="Calibri"/>
                <a:cs typeface="Calibri"/>
                <a:sym typeface="Calibri"/>
              </a:rPr>
              <a:t>Deep Learning · IIT Kharagpur</a:t>
            </a:r>
            <a:endParaRPr sz="800" b="0" i="0" u="none" strike="noStrike" cap="none">
              <a:solidFill>
                <a:schemeClr val="dk1"/>
              </a:solidFill>
              <a:latin typeface="Calibri"/>
              <a:ea typeface="Calibri"/>
              <a:cs typeface="Calibri"/>
              <a:sym typeface="Calibri"/>
            </a:endParaRPr>
          </a:p>
        </p:txBody>
      </p:sp>
      <p:sp>
        <p:nvSpPr>
          <p:cNvPr id="200" name="Google Shape;200;p19"/>
          <p:cNvSpPr/>
          <p:nvPr/>
        </p:nvSpPr>
        <p:spPr>
          <a:xfrm>
            <a:off x="228600" y="4828032"/>
            <a:ext cx="8686800" cy="2013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94A3B8"/>
              </a:buClr>
              <a:buSzPts val="800"/>
              <a:buFont typeface="Calibri"/>
              <a:buNone/>
            </a:pPr>
            <a:r>
              <a:rPr lang="en" sz="800" b="0" i="1" u="none" strike="noStrike" cap="none">
                <a:solidFill>
                  <a:srgbClr val="94A3B8"/>
                </a:solidFill>
                <a:latin typeface="Calibri"/>
                <a:ea typeface="Calibri"/>
                <a:cs typeface="Calibri"/>
                <a:sym typeface="Calibri"/>
              </a:rPr>
              <a:t>Complexity &amp; Specialization →</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4"/>
        <p:cNvGrpSpPr/>
        <p:nvPr/>
      </p:nvGrpSpPr>
      <p:grpSpPr>
        <a:xfrm>
          <a:off x="0" y="0"/>
          <a:ext cx="0" cy="0"/>
          <a:chOff x="0" y="0"/>
          <a:chExt cx="0" cy="0"/>
        </a:xfrm>
      </p:grpSpPr>
      <p:pic>
        <p:nvPicPr>
          <p:cNvPr id="205" name="Google Shape;205;p20"/>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206" name="Google Shape;206;p20"/>
          <p:cNvSpPr txBox="1"/>
          <p:nvPr/>
        </p:nvSpPr>
        <p:spPr>
          <a:xfrm>
            <a:off x="1512201" y="166300"/>
            <a:ext cx="6618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D1B2A"/>
              </a:buClr>
              <a:buSzPts val="2600"/>
              <a:buFont typeface="Calibri"/>
              <a:buNone/>
            </a:pPr>
            <a:r>
              <a:rPr lang="en" sz="2600" b="1">
                <a:solidFill>
                  <a:srgbClr val="0D1B2A"/>
                </a:solidFill>
                <a:latin typeface="Calibri"/>
                <a:ea typeface="Calibri"/>
                <a:cs typeface="Calibri"/>
                <a:sym typeface="Calibri"/>
              </a:rPr>
              <a:t>Recurrent Neural Networks (RNNs) &amp; LSTMs</a:t>
            </a:r>
            <a:endParaRPr sz="2800" b="1">
              <a:solidFill>
                <a:srgbClr val="000000"/>
              </a:solidFill>
              <a:latin typeface="Calibri"/>
              <a:ea typeface="Calibri"/>
              <a:cs typeface="Calibri"/>
              <a:sym typeface="Calibri"/>
            </a:endParaRPr>
          </a:p>
          <a:p>
            <a:pPr marL="0" lvl="0" indent="0" algn="l" rtl="0">
              <a:spcBef>
                <a:spcPts val="0"/>
              </a:spcBef>
              <a:spcAft>
                <a:spcPts val="0"/>
              </a:spcAft>
              <a:buSzPts val="2600"/>
              <a:buNone/>
            </a:pPr>
            <a:endParaRPr sz="2600" b="1">
              <a:solidFill>
                <a:srgbClr val="0D1B2A"/>
              </a:solidFill>
              <a:latin typeface="Calibri"/>
              <a:ea typeface="Calibri"/>
              <a:cs typeface="Calibri"/>
              <a:sym typeface="Calibri"/>
            </a:endParaRPr>
          </a:p>
        </p:txBody>
      </p:sp>
      <p:sp>
        <p:nvSpPr>
          <p:cNvPr id="207" name="Google Shape;207;p20"/>
          <p:cNvSpPr txBox="1"/>
          <p:nvPr/>
        </p:nvSpPr>
        <p:spPr>
          <a:xfrm>
            <a:off x="99150" y="719875"/>
            <a:ext cx="4659600" cy="468000"/>
          </a:xfrm>
          <a:prstGeom prst="rect">
            <a:avLst/>
          </a:prstGeom>
          <a:noFill/>
          <a:ln>
            <a:noFill/>
          </a:ln>
        </p:spPr>
        <p:txBody>
          <a:bodyPr spcFirstLastPara="1" wrap="square" lIns="70575" tIns="35300" rIns="70575" bIns="35300" anchor="t" anchorCtr="0">
            <a:normAutofit/>
          </a:bodyPr>
          <a:lstStyle/>
          <a:p>
            <a:pPr marL="0" lvl="0" indent="0" algn="l" rtl="0">
              <a:spcBef>
                <a:spcPts val="371"/>
              </a:spcBef>
              <a:spcAft>
                <a:spcPts val="0"/>
              </a:spcAft>
              <a:buNone/>
            </a:pPr>
            <a:r>
              <a:rPr lang="en" sz="1853">
                <a:latin typeface="Calibri"/>
                <a:ea typeface="Calibri"/>
                <a:cs typeface="Calibri"/>
                <a:sym typeface="Calibri"/>
              </a:rPr>
              <a:t>RNN Applications &amp; CNN vs. RNN</a:t>
            </a:r>
            <a:endParaRPr sz="1853">
              <a:latin typeface="Calibri"/>
              <a:ea typeface="Calibri"/>
              <a:cs typeface="Calibri"/>
              <a:sym typeface="Calibri"/>
            </a:endParaRPr>
          </a:p>
        </p:txBody>
      </p:sp>
      <p:sp>
        <p:nvSpPr>
          <p:cNvPr id="208" name="Google Shape;208;p20"/>
          <p:cNvSpPr/>
          <p:nvPr/>
        </p:nvSpPr>
        <p:spPr>
          <a:xfrm>
            <a:off x="380275" y="1082949"/>
            <a:ext cx="3791100" cy="1937700"/>
          </a:xfrm>
          <a:prstGeom prst="rect">
            <a:avLst/>
          </a:prstGeom>
          <a:solidFill>
            <a:schemeClr val="lt1"/>
          </a:solidFill>
          <a:ln w="9525" cap="flat" cmpd="sng">
            <a:solidFill>
              <a:srgbClr val="00B050"/>
            </a:solidFill>
            <a:prstDash val="solid"/>
            <a:round/>
            <a:headEnd type="none" w="sm" len="sm"/>
            <a:tailEnd type="none" w="sm" len="sm"/>
          </a:ln>
          <a:effectLst>
            <a:outerShdw blurRad="93610" dist="35104" dir="8100000" algn="bl" rotWithShape="0">
              <a:srgbClr val="000000">
                <a:alpha val="14900"/>
              </a:srgbClr>
            </a:outerShdw>
          </a:effectLst>
        </p:spPr>
        <p:txBody>
          <a:bodyPr spcFirstLastPara="1" wrap="square" lIns="84225" tIns="84225" rIns="84225" bIns="84225" anchor="ctr" anchorCtr="0">
            <a:noAutofit/>
          </a:bodyPr>
          <a:lstStyle/>
          <a:p>
            <a:pPr marL="0" lvl="0" indent="0" algn="l" rtl="0">
              <a:spcBef>
                <a:spcPts val="0"/>
              </a:spcBef>
              <a:spcAft>
                <a:spcPts val="0"/>
              </a:spcAft>
              <a:buNone/>
            </a:pPr>
            <a:endParaRPr/>
          </a:p>
        </p:txBody>
      </p:sp>
      <p:sp>
        <p:nvSpPr>
          <p:cNvPr id="209" name="Google Shape;209;p20"/>
          <p:cNvSpPr/>
          <p:nvPr/>
        </p:nvSpPr>
        <p:spPr>
          <a:xfrm>
            <a:off x="380275" y="1082949"/>
            <a:ext cx="3791100" cy="421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44"/>
              <a:buFont typeface="Calibri"/>
              <a:buNone/>
            </a:pPr>
            <a:r>
              <a:rPr lang="en" sz="1244" b="1">
                <a:solidFill>
                  <a:schemeClr val="dk1"/>
                </a:solidFill>
                <a:latin typeface="Calibri"/>
                <a:ea typeface="Calibri"/>
                <a:cs typeface="Calibri"/>
                <a:sym typeface="Calibri"/>
              </a:rPr>
              <a:t>Natural Language Processing</a:t>
            </a:r>
            <a:endParaRPr sz="1244">
              <a:solidFill>
                <a:schemeClr val="dk1"/>
              </a:solidFill>
              <a:latin typeface="Calibri"/>
              <a:ea typeface="Calibri"/>
              <a:cs typeface="Calibri"/>
              <a:sym typeface="Calibri"/>
            </a:endParaRPr>
          </a:p>
        </p:txBody>
      </p:sp>
      <p:sp>
        <p:nvSpPr>
          <p:cNvPr id="210" name="Google Shape;210;p20"/>
          <p:cNvSpPr/>
          <p:nvPr/>
        </p:nvSpPr>
        <p:spPr>
          <a:xfrm>
            <a:off x="506647" y="1588444"/>
            <a:ext cx="3538500" cy="1390200"/>
          </a:xfrm>
          <a:prstGeom prst="rect">
            <a:avLst/>
          </a:prstGeom>
          <a:noFill/>
          <a:ln>
            <a:noFill/>
          </a:ln>
        </p:spPr>
        <p:txBody>
          <a:bodyPr spcFirstLastPara="1" wrap="square" lIns="0" tIns="0" rIns="0" bIns="0" anchor="t" anchorCtr="0">
            <a:noAutofit/>
          </a:bodyPr>
          <a:lstStyle/>
          <a:p>
            <a:pPr marL="315933" marR="0" lvl="0" indent="-353962" algn="l" rtl="0">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Machine Translation</a:t>
            </a:r>
            <a:endParaRPr sz="1658">
              <a:solidFill>
                <a:schemeClr val="dk1"/>
              </a:solidFill>
              <a:latin typeface="Calibri"/>
              <a:ea typeface="Calibri"/>
              <a:cs typeface="Calibri"/>
              <a:sym typeface="Calibri"/>
            </a:endParaRPr>
          </a:p>
          <a:p>
            <a:pPr marL="315933" marR="0" lvl="0" indent="-353962" algn="l" rtl="0">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Sentiment Analysis</a:t>
            </a:r>
            <a:endParaRPr sz="1658">
              <a:solidFill>
                <a:schemeClr val="dk1"/>
              </a:solidFill>
              <a:latin typeface="Calibri"/>
              <a:ea typeface="Calibri"/>
              <a:cs typeface="Calibri"/>
              <a:sym typeface="Calibri"/>
            </a:endParaRPr>
          </a:p>
          <a:p>
            <a:pPr marL="315933" marR="0" lvl="0" indent="-353962" algn="l" rtl="0">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Named Entity Recognition</a:t>
            </a:r>
            <a:endParaRPr sz="1658">
              <a:solidFill>
                <a:schemeClr val="dk1"/>
              </a:solidFill>
              <a:latin typeface="Calibri"/>
              <a:ea typeface="Calibri"/>
              <a:cs typeface="Calibri"/>
              <a:sym typeface="Calibri"/>
            </a:endParaRPr>
          </a:p>
          <a:p>
            <a:pPr marL="315933" marR="0" lvl="0" indent="-353962" algn="l" rtl="0">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Text Generation / LLMs</a:t>
            </a:r>
            <a:endParaRPr sz="1658">
              <a:solidFill>
                <a:schemeClr val="dk1"/>
              </a:solidFill>
              <a:latin typeface="Calibri"/>
              <a:ea typeface="Calibri"/>
              <a:cs typeface="Calibri"/>
              <a:sym typeface="Calibri"/>
            </a:endParaRPr>
          </a:p>
        </p:txBody>
      </p:sp>
      <p:sp>
        <p:nvSpPr>
          <p:cNvPr id="211" name="Google Shape;211;p20"/>
          <p:cNvSpPr/>
          <p:nvPr/>
        </p:nvSpPr>
        <p:spPr>
          <a:xfrm>
            <a:off x="380275" y="1504195"/>
            <a:ext cx="3791100" cy="42000"/>
          </a:xfrm>
          <a:prstGeom prst="rect">
            <a:avLst/>
          </a:prstGeom>
          <a:solidFill>
            <a:srgbClr val="52B788"/>
          </a:solidFill>
          <a:ln>
            <a:noFill/>
          </a:ln>
        </p:spPr>
        <p:txBody>
          <a:bodyPr spcFirstLastPara="1" wrap="square" lIns="84225" tIns="84225" rIns="84225" bIns="84225" anchor="ctr" anchorCtr="0">
            <a:noAutofit/>
          </a:bodyPr>
          <a:lstStyle/>
          <a:p>
            <a:pPr marL="0" lvl="0" indent="0" algn="l" rtl="0">
              <a:spcBef>
                <a:spcPts val="0"/>
              </a:spcBef>
              <a:spcAft>
                <a:spcPts val="0"/>
              </a:spcAft>
              <a:buNone/>
            </a:pPr>
            <a:endParaRPr/>
          </a:p>
        </p:txBody>
      </p:sp>
      <p:sp>
        <p:nvSpPr>
          <p:cNvPr id="212" name="Google Shape;212;p20"/>
          <p:cNvSpPr/>
          <p:nvPr/>
        </p:nvSpPr>
        <p:spPr>
          <a:xfrm>
            <a:off x="4484113" y="1056326"/>
            <a:ext cx="3791100" cy="1937700"/>
          </a:xfrm>
          <a:prstGeom prst="rect">
            <a:avLst/>
          </a:prstGeom>
          <a:solidFill>
            <a:schemeClr val="lt1"/>
          </a:solidFill>
          <a:ln w="9525" cap="flat" cmpd="sng">
            <a:solidFill>
              <a:srgbClr val="00B050"/>
            </a:solidFill>
            <a:prstDash val="solid"/>
            <a:round/>
            <a:headEnd type="none" w="sm" len="sm"/>
            <a:tailEnd type="none" w="sm" len="sm"/>
          </a:ln>
          <a:effectLst>
            <a:outerShdw blurRad="93610" dist="35104" dir="8100000" algn="bl" rotWithShape="0">
              <a:srgbClr val="000000">
                <a:alpha val="14900"/>
              </a:srgbClr>
            </a:outerShdw>
          </a:effectLst>
        </p:spPr>
        <p:txBody>
          <a:bodyPr spcFirstLastPara="1" wrap="square" lIns="84225" tIns="84225" rIns="84225" bIns="84225" anchor="ctr" anchorCtr="0">
            <a:noAutofit/>
          </a:bodyPr>
          <a:lstStyle/>
          <a:p>
            <a:pPr marL="0" lvl="0" indent="0" algn="l" rtl="0">
              <a:spcBef>
                <a:spcPts val="0"/>
              </a:spcBef>
              <a:spcAft>
                <a:spcPts val="0"/>
              </a:spcAft>
              <a:buNone/>
            </a:pPr>
            <a:endParaRPr/>
          </a:p>
        </p:txBody>
      </p:sp>
      <p:sp>
        <p:nvSpPr>
          <p:cNvPr id="213" name="Google Shape;213;p20"/>
          <p:cNvSpPr/>
          <p:nvPr/>
        </p:nvSpPr>
        <p:spPr>
          <a:xfrm>
            <a:off x="4484113" y="1056326"/>
            <a:ext cx="3791100" cy="421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44"/>
              <a:buFont typeface="Calibri"/>
              <a:buNone/>
            </a:pPr>
            <a:r>
              <a:rPr lang="en" sz="1658" b="1">
                <a:solidFill>
                  <a:schemeClr val="dk1"/>
                </a:solidFill>
                <a:latin typeface="Calibri"/>
                <a:ea typeface="Calibri"/>
                <a:cs typeface="Calibri"/>
                <a:sym typeface="Calibri"/>
              </a:rPr>
              <a:t>Time Series &amp; Audio</a:t>
            </a:r>
            <a:endParaRPr sz="1658">
              <a:solidFill>
                <a:schemeClr val="dk1"/>
              </a:solidFill>
              <a:latin typeface="Calibri"/>
              <a:ea typeface="Calibri"/>
              <a:cs typeface="Calibri"/>
              <a:sym typeface="Calibri"/>
            </a:endParaRPr>
          </a:p>
        </p:txBody>
      </p:sp>
      <p:sp>
        <p:nvSpPr>
          <p:cNvPr id="214" name="Google Shape;214;p20"/>
          <p:cNvSpPr/>
          <p:nvPr/>
        </p:nvSpPr>
        <p:spPr>
          <a:xfrm>
            <a:off x="4484113" y="1477571"/>
            <a:ext cx="3791100" cy="42000"/>
          </a:xfrm>
          <a:prstGeom prst="rect">
            <a:avLst/>
          </a:prstGeom>
          <a:solidFill>
            <a:srgbClr val="52B788"/>
          </a:solidFill>
          <a:ln>
            <a:noFill/>
          </a:ln>
        </p:spPr>
        <p:txBody>
          <a:bodyPr spcFirstLastPara="1" wrap="square" lIns="84225" tIns="84225" rIns="84225" bIns="84225" anchor="ctr" anchorCtr="0">
            <a:noAutofit/>
          </a:bodyPr>
          <a:lstStyle/>
          <a:p>
            <a:pPr marL="0" lvl="0" indent="0" algn="l" rtl="0">
              <a:spcBef>
                <a:spcPts val="0"/>
              </a:spcBef>
              <a:spcAft>
                <a:spcPts val="0"/>
              </a:spcAft>
              <a:buNone/>
            </a:pPr>
            <a:endParaRPr/>
          </a:p>
        </p:txBody>
      </p:sp>
      <p:sp>
        <p:nvSpPr>
          <p:cNvPr id="215" name="Google Shape;215;p20"/>
          <p:cNvSpPr/>
          <p:nvPr/>
        </p:nvSpPr>
        <p:spPr>
          <a:xfrm>
            <a:off x="4610486" y="1561820"/>
            <a:ext cx="3538500" cy="1390200"/>
          </a:xfrm>
          <a:prstGeom prst="rect">
            <a:avLst/>
          </a:prstGeom>
          <a:noFill/>
          <a:ln>
            <a:noFill/>
          </a:ln>
        </p:spPr>
        <p:txBody>
          <a:bodyPr spcFirstLastPara="1" wrap="square" lIns="0" tIns="0" rIns="0" bIns="0" anchor="t" anchorCtr="0">
            <a:noAutofit/>
          </a:bodyPr>
          <a:lstStyle/>
          <a:p>
            <a:pPr marL="315933" marR="0" lvl="0" indent="-353962" algn="l" rtl="0">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Speech Recognition</a:t>
            </a:r>
            <a:endParaRPr sz="1658">
              <a:solidFill>
                <a:schemeClr val="dk1"/>
              </a:solidFill>
              <a:latin typeface="Calibri"/>
              <a:ea typeface="Calibri"/>
              <a:cs typeface="Calibri"/>
              <a:sym typeface="Calibri"/>
            </a:endParaRPr>
          </a:p>
          <a:p>
            <a:pPr marL="315933" marR="0" lvl="0" indent="-353962" algn="l" rtl="0">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Music Generation</a:t>
            </a:r>
            <a:endParaRPr sz="1658">
              <a:solidFill>
                <a:schemeClr val="dk1"/>
              </a:solidFill>
              <a:latin typeface="Calibri"/>
              <a:ea typeface="Calibri"/>
              <a:cs typeface="Calibri"/>
              <a:sym typeface="Calibri"/>
            </a:endParaRPr>
          </a:p>
          <a:p>
            <a:pPr marL="315933" marR="0" lvl="0" indent="-353962" algn="l" rtl="0">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Stock Price Forecasting</a:t>
            </a:r>
            <a:endParaRPr sz="1658">
              <a:solidFill>
                <a:schemeClr val="dk1"/>
              </a:solidFill>
              <a:latin typeface="Calibri"/>
              <a:ea typeface="Calibri"/>
              <a:cs typeface="Calibri"/>
              <a:sym typeface="Calibri"/>
            </a:endParaRPr>
          </a:p>
          <a:p>
            <a:pPr marL="315933" marR="0" lvl="0" indent="-353962" algn="l" rtl="0">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Anomaly Detection in Signals</a:t>
            </a:r>
            <a:endParaRPr sz="1658">
              <a:solidFill>
                <a:schemeClr val="dk1"/>
              </a:solidFill>
              <a:latin typeface="Calibri"/>
              <a:ea typeface="Calibri"/>
              <a:cs typeface="Calibri"/>
              <a:sym typeface="Calibri"/>
            </a:endParaRPr>
          </a:p>
        </p:txBody>
      </p:sp>
      <p:sp>
        <p:nvSpPr>
          <p:cNvPr id="216" name="Google Shape;216;p20"/>
          <p:cNvSpPr/>
          <p:nvPr/>
        </p:nvSpPr>
        <p:spPr>
          <a:xfrm>
            <a:off x="396522" y="3098734"/>
            <a:ext cx="7326000" cy="296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193"/>
              <a:buFont typeface="Calibri"/>
              <a:buNone/>
            </a:pPr>
            <a:r>
              <a:rPr lang="en" sz="1800">
                <a:solidFill>
                  <a:schemeClr val="dk1"/>
                </a:solidFill>
                <a:latin typeface="Calibri"/>
                <a:ea typeface="Calibri"/>
                <a:cs typeface="Calibri"/>
                <a:sym typeface="Calibri"/>
              </a:rPr>
              <a:t>CNN vs. RNN — At a Glance</a:t>
            </a:r>
            <a:endParaRPr sz="1800">
              <a:solidFill>
                <a:schemeClr val="dk1"/>
              </a:solidFill>
              <a:latin typeface="Calibri"/>
              <a:ea typeface="Calibri"/>
              <a:cs typeface="Calibri"/>
              <a:sym typeface="Calibri"/>
            </a:endParaRPr>
          </a:p>
        </p:txBody>
      </p:sp>
      <p:sp>
        <p:nvSpPr>
          <p:cNvPr id="217" name="Google Shape;217;p20"/>
          <p:cNvSpPr/>
          <p:nvPr/>
        </p:nvSpPr>
        <p:spPr>
          <a:xfrm>
            <a:off x="380277" y="3427449"/>
            <a:ext cx="1861200" cy="321300"/>
          </a:xfrm>
          <a:prstGeom prst="rect">
            <a:avLst/>
          </a:prstGeom>
          <a:solidFill>
            <a:srgbClr val="1B4332"/>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18" name="Google Shape;218;p20"/>
          <p:cNvSpPr/>
          <p:nvPr/>
        </p:nvSpPr>
        <p:spPr>
          <a:xfrm>
            <a:off x="422572" y="3427449"/>
            <a:ext cx="1776600" cy="321300"/>
          </a:xfrm>
          <a:prstGeom prst="rect">
            <a:avLst/>
          </a:prstGeom>
          <a:solidFill>
            <a:schemeClr val="lt1"/>
          </a:solidFill>
          <a:ln w="9525" cap="flat" cmpd="sng">
            <a:solidFill>
              <a:srgbClr val="00B05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110"/>
              <a:buFont typeface="Calibri"/>
              <a:buNone/>
            </a:pPr>
            <a:r>
              <a:rPr lang="en" sz="1110">
                <a:solidFill>
                  <a:schemeClr val="dk1"/>
                </a:solidFill>
                <a:latin typeface="Calibri"/>
                <a:ea typeface="Calibri"/>
                <a:cs typeface="Calibri"/>
                <a:sym typeface="Calibri"/>
              </a:rPr>
              <a:t>                        Aspect</a:t>
            </a:r>
            <a:endParaRPr sz="1110">
              <a:solidFill>
                <a:schemeClr val="dk1"/>
              </a:solidFill>
              <a:latin typeface="Calibri"/>
              <a:ea typeface="Calibri"/>
              <a:cs typeface="Calibri"/>
              <a:sym typeface="Calibri"/>
            </a:endParaRPr>
          </a:p>
        </p:txBody>
      </p:sp>
      <p:sp>
        <p:nvSpPr>
          <p:cNvPr id="219" name="Google Shape;219;p20"/>
          <p:cNvSpPr/>
          <p:nvPr/>
        </p:nvSpPr>
        <p:spPr>
          <a:xfrm>
            <a:off x="2283557" y="3427449"/>
            <a:ext cx="2960700" cy="321300"/>
          </a:xfrm>
          <a:prstGeom prst="rect">
            <a:avLst/>
          </a:prstGeom>
          <a:solidFill>
            <a:srgbClr val="1B4332"/>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20" name="Google Shape;220;p20"/>
          <p:cNvSpPr/>
          <p:nvPr/>
        </p:nvSpPr>
        <p:spPr>
          <a:xfrm>
            <a:off x="2325852" y="3427449"/>
            <a:ext cx="2876100" cy="321300"/>
          </a:xfrm>
          <a:prstGeom prst="rect">
            <a:avLst/>
          </a:prstGeom>
          <a:solidFill>
            <a:schemeClr val="lt1"/>
          </a:solidFill>
          <a:ln w="9525" cap="flat" cmpd="sng">
            <a:solidFill>
              <a:srgbClr val="00B050"/>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10"/>
              <a:buFont typeface="Calibri"/>
              <a:buNone/>
            </a:pPr>
            <a:r>
              <a:rPr lang="en" sz="1110">
                <a:solidFill>
                  <a:schemeClr val="dk1"/>
                </a:solidFill>
                <a:latin typeface="Calibri"/>
                <a:ea typeface="Calibri"/>
                <a:cs typeface="Calibri"/>
                <a:sym typeface="Calibri"/>
              </a:rPr>
              <a:t>CNN</a:t>
            </a:r>
            <a:endParaRPr sz="1110">
              <a:solidFill>
                <a:schemeClr val="dk1"/>
              </a:solidFill>
              <a:latin typeface="Calibri"/>
              <a:ea typeface="Calibri"/>
              <a:cs typeface="Calibri"/>
              <a:sym typeface="Calibri"/>
            </a:endParaRPr>
          </a:p>
        </p:txBody>
      </p:sp>
      <p:sp>
        <p:nvSpPr>
          <p:cNvPr id="221" name="Google Shape;221;p20"/>
          <p:cNvSpPr/>
          <p:nvPr/>
        </p:nvSpPr>
        <p:spPr>
          <a:xfrm>
            <a:off x="5286510" y="3427449"/>
            <a:ext cx="2960700" cy="321300"/>
          </a:xfrm>
          <a:prstGeom prst="rect">
            <a:avLst/>
          </a:prstGeom>
          <a:solidFill>
            <a:srgbClr val="1B4332"/>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22" name="Google Shape;222;p20"/>
          <p:cNvSpPr/>
          <p:nvPr/>
        </p:nvSpPr>
        <p:spPr>
          <a:xfrm>
            <a:off x="5328805" y="3427449"/>
            <a:ext cx="2876100" cy="321300"/>
          </a:xfrm>
          <a:prstGeom prst="rect">
            <a:avLst/>
          </a:prstGeom>
          <a:solidFill>
            <a:schemeClr val="lt1"/>
          </a:solidFill>
          <a:ln w="9525" cap="flat" cmpd="sng">
            <a:solidFill>
              <a:srgbClr val="00B050"/>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10"/>
              <a:buFont typeface="Calibri"/>
              <a:buNone/>
            </a:pPr>
            <a:r>
              <a:rPr lang="en" sz="1110">
                <a:solidFill>
                  <a:schemeClr val="dk1"/>
                </a:solidFill>
                <a:latin typeface="Calibri"/>
                <a:ea typeface="Calibri"/>
                <a:cs typeface="Calibri"/>
                <a:sym typeface="Calibri"/>
              </a:rPr>
              <a:t>RNN</a:t>
            </a:r>
            <a:endParaRPr sz="1110">
              <a:solidFill>
                <a:schemeClr val="dk1"/>
              </a:solidFill>
              <a:latin typeface="Calibri"/>
              <a:ea typeface="Calibri"/>
              <a:cs typeface="Calibri"/>
              <a:sym typeface="Calibri"/>
            </a:endParaRPr>
          </a:p>
        </p:txBody>
      </p:sp>
      <p:sp>
        <p:nvSpPr>
          <p:cNvPr id="223" name="Google Shape;223;p20"/>
          <p:cNvSpPr/>
          <p:nvPr/>
        </p:nvSpPr>
        <p:spPr>
          <a:xfrm>
            <a:off x="380277" y="3748894"/>
            <a:ext cx="1861200" cy="321300"/>
          </a:xfrm>
          <a:prstGeom prst="rect">
            <a:avLst/>
          </a:prstGeom>
          <a:solidFill>
            <a:srgbClr val="E8F5E9"/>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24" name="Google Shape;224;p20"/>
          <p:cNvSpPr/>
          <p:nvPr/>
        </p:nvSpPr>
        <p:spPr>
          <a:xfrm>
            <a:off x="422572" y="3748894"/>
            <a:ext cx="1776600" cy="32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Best For</a:t>
            </a:r>
            <a:endParaRPr sz="1018">
              <a:solidFill>
                <a:srgbClr val="000000"/>
              </a:solidFill>
              <a:latin typeface="Calibri"/>
              <a:ea typeface="Calibri"/>
              <a:cs typeface="Calibri"/>
              <a:sym typeface="Calibri"/>
            </a:endParaRPr>
          </a:p>
        </p:txBody>
      </p:sp>
      <p:sp>
        <p:nvSpPr>
          <p:cNvPr id="225" name="Google Shape;225;p20"/>
          <p:cNvSpPr/>
          <p:nvPr/>
        </p:nvSpPr>
        <p:spPr>
          <a:xfrm>
            <a:off x="2283557" y="3748894"/>
            <a:ext cx="2960700" cy="321300"/>
          </a:xfrm>
          <a:prstGeom prst="rect">
            <a:avLst/>
          </a:prstGeom>
          <a:solidFill>
            <a:srgbClr val="E8F5E9"/>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26" name="Google Shape;226;p20"/>
          <p:cNvSpPr/>
          <p:nvPr/>
        </p:nvSpPr>
        <p:spPr>
          <a:xfrm>
            <a:off x="2325852" y="3748894"/>
            <a:ext cx="2876100" cy="32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Spatial / grid data</a:t>
            </a:r>
            <a:endParaRPr sz="1018">
              <a:solidFill>
                <a:srgbClr val="000000"/>
              </a:solidFill>
              <a:latin typeface="Calibri"/>
              <a:ea typeface="Calibri"/>
              <a:cs typeface="Calibri"/>
              <a:sym typeface="Calibri"/>
            </a:endParaRPr>
          </a:p>
        </p:txBody>
      </p:sp>
      <p:sp>
        <p:nvSpPr>
          <p:cNvPr id="227" name="Google Shape;227;p20"/>
          <p:cNvSpPr/>
          <p:nvPr/>
        </p:nvSpPr>
        <p:spPr>
          <a:xfrm>
            <a:off x="5286510" y="3748894"/>
            <a:ext cx="2960700" cy="321300"/>
          </a:xfrm>
          <a:prstGeom prst="rect">
            <a:avLst/>
          </a:prstGeom>
          <a:solidFill>
            <a:srgbClr val="E8F5E9"/>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28" name="Google Shape;228;p20"/>
          <p:cNvSpPr/>
          <p:nvPr/>
        </p:nvSpPr>
        <p:spPr>
          <a:xfrm>
            <a:off x="5328805" y="3748894"/>
            <a:ext cx="2876100" cy="32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Sequential / temporal data</a:t>
            </a:r>
            <a:endParaRPr sz="1018">
              <a:solidFill>
                <a:srgbClr val="000000"/>
              </a:solidFill>
              <a:latin typeface="Calibri"/>
              <a:ea typeface="Calibri"/>
              <a:cs typeface="Calibri"/>
              <a:sym typeface="Calibri"/>
            </a:endParaRPr>
          </a:p>
        </p:txBody>
      </p:sp>
      <p:sp>
        <p:nvSpPr>
          <p:cNvPr id="229" name="Google Shape;229;p20"/>
          <p:cNvSpPr/>
          <p:nvPr/>
        </p:nvSpPr>
        <p:spPr>
          <a:xfrm>
            <a:off x="380277" y="4070339"/>
            <a:ext cx="1861200" cy="321300"/>
          </a:xfrm>
          <a:prstGeom prst="rect">
            <a:avLst/>
          </a:prstGeom>
          <a:solidFill>
            <a:srgbClr val="FFFFFF"/>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30" name="Google Shape;230;p20"/>
          <p:cNvSpPr/>
          <p:nvPr/>
        </p:nvSpPr>
        <p:spPr>
          <a:xfrm>
            <a:off x="422572" y="4070339"/>
            <a:ext cx="1776600" cy="32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Memory</a:t>
            </a:r>
            <a:endParaRPr sz="1018">
              <a:solidFill>
                <a:srgbClr val="000000"/>
              </a:solidFill>
              <a:latin typeface="Calibri"/>
              <a:ea typeface="Calibri"/>
              <a:cs typeface="Calibri"/>
              <a:sym typeface="Calibri"/>
            </a:endParaRPr>
          </a:p>
        </p:txBody>
      </p:sp>
      <p:sp>
        <p:nvSpPr>
          <p:cNvPr id="231" name="Google Shape;231;p20"/>
          <p:cNvSpPr/>
          <p:nvPr/>
        </p:nvSpPr>
        <p:spPr>
          <a:xfrm>
            <a:off x="2283557" y="4070339"/>
            <a:ext cx="2960700" cy="321300"/>
          </a:xfrm>
          <a:prstGeom prst="rect">
            <a:avLst/>
          </a:prstGeom>
          <a:solidFill>
            <a:srgbClr val="FFFFFF"/>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32" name="Google Shape;232;p20"/>
          <p:cNvSpPr/>
          <p:nvPr/>
        </p:nvSpPr>
        <p:spPr>
          <a:xfrm>
            <a:off x="2325852" y="4070339"/>
            <a:ext cx="2876100" cy="32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None (feedforward)</a:t>
            </a:r>
            <a:endParaRPr sz="1018">
              <a:solidFill>
                <a:srgbClr val="000000"/>
              </a:solidFill>
              <a:latin typeface="Calibri"/>
              <a:ea typeface="Calibri"/>
              <a:cs typeface="Calibri"/>
              <a:sym typeface="Calibri"/>
            </a:endParaRPr>
          </a:p>
        </p:txBody>
      </p:sp>
      <p:sp>
        <p:nvSpPr>
          <p:cNvPr id="233" name="Google Shape;233;p20"/>
          <p:cNvSpPr/>
          <p:nvPr/>
        </p:nvSpPr>
        <p:spPr>
          <a:xfrm>
            <a:off x="5286510" y="4070339"/>
            <a:ext cx="2960700" cy="321300"/>
          </a:xfrm>
          <a:prstGeom prst="rect">
            <a:avLst/>
          </a:prstGeom>
          <a:solidFill>
            <a:srgbClr val="FFFFFF"/>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34" name="Google Shape;234;p20"/>
          <p:cNvSpPr/>
          <p:nvPr/>
        </p:nvSpPr>
        <p:spPr>
          <a:xfrm>
            <a:off x="5328805" y="4070339"/>
            <a:ext cx="2876100" cy="32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Hidden state across timesteps</a:t>
            </a:r>
            <a:endParaRPr sz="1018">
              <a:solidFill>
                <a:srgbClr val="000000"/>
              </a:solidFill>
              <a:latin typeface="Calibri"/>
              <a:ea typeface="Calibri"/>
              <a:cs typeface="Calibri"/>
              <a:sym typeface="Calibri"/>
            </a:endParaRPr>
          </a:p>
        </p:txBody>
      </p:sp>
      <p:sp>
        <p:nvSpPr>
          <p:cNvPr id="235" name="Google Shape;235;p20"/>
          <p:cNvSpPr/>
          <p:nvPr/>
        </p:nvSpPr>
        <p:spPr>
          <a:xfrm>
            <a:off x="380277" y="4391784"/>
            <a:ext cx="1861200" cy="321300"/>
          </a:xfrm>
          <a:prstGeom prst="rect">
            <a:avLst/>
          </a:prstGeom>
          <a:solidFill>
            <a:srgbClr val="E8F5E9"/>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36" name="Google Shape;236;p20"/>
          <p:cNvSpPr/>
          <p:nvPr/>
        </p:nvSpPr>
        <p:spPr>
          <a:xfrm>
            <a:off x="422572" y="4391784"/>
            <a:ext cx="1776600" cy="32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Key Op.</a:t>
            </a:r>
            <a:endParaRPr sz="1018">
              <a:solidFill>
                <a:srgbClr val="000000"/>
              </a:solidFill>
              <a:latin typeface="Calibri"/>
              <a:ea typeface="Calibri"/>
              <a:cs typeface="Calibri"/>
              <a:sym typeface="Calibri"/>
            </a:endParaRPr>
          </a:p>
        </p:txBody>
      </p:sp>
      <p:sp>
        <p:nvSpPr>
          <p:cNvPr id="237" name="Google Shape;237;p20"/>
          <p:cNvSpPr/>
          <p:nvPr/>
        </p:nvSpPr>
        <p:spPr>
          <a:xfrm>
            <a:off x="2283557" y="4391784"/>
            <a:ext cx="2960700" cy="321300"/>
          </a:xfrm>
          <a:prstGeom prst="rect">
            <a:avLst/>
          </a:prstGeom>
          <a:solidFill>
            <a:srgbClr val="E8F5E9"/>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38" name="Google Shape;238;p20"/>
          <p:cNvSpPr/>
          <p:nvPr/>
        </p:nvSpPr>
        <p:spPr>
          <a:xfrm>
            <a:off x="2325852" y="4391784"/>
            <a:ext cx="2876100" cy="32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Convolution + pooling</a:t>
            </a:r>
            <a:endParaRPr sz="1018">
              <a:solidFill>
                <a:srgbClr val="000000"/>
              </a:solidFill>
              <a:latin typeface="Calibri"/>
              <a:ea typeface="Calibri"/>
              <a:cs typeface="Calibri"/>
              <a:sym typeface="Calibri"/>
            </a:endParaRPr>
          </a:p>
        </p:txBody>
      </p:sp>
      <p:sp>
        <p:nvSpPr>
          <p:cNvPr id="239" name="Google Shape;239;p20"/>
          <p:cNvSpPr/>
          <p:nvPr/>
        </p:nvSpPr>
        <p:spPr>
          <a:xfrm>
            <a:off x="5286510" y="4391784"/>
            <a:ext cx="2960700" cy="321300"/>
          </a:xfrm>
          <a:prstGeom prst="rect">
            <a:avLst/>
          </a:prstGeom>
          <a:solidFill>
            <a:srgbClr val="E8F5E9"/>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40" name="Google Shape;240;p20"/>
          <p:cNvSpPr/>
          <p:nvPr/>
        </p:nvSpPr>
        <p:spPr>
          <a:xfrm>
            <a:off x="5328805" y="4391784"/>
            <a:ext cx="2876100" cy="32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Recurrent weight updates</a:t>
            </a:r>
            <a:endParaRPr sz="1018">
              <a:solidFill>
                <a:srgbClr val="000000"/>
              </a:solidFill>
              <a:latin typeface="Calibri"/>
              <a:ea typeface="Calibri"/>
              <a:cs typeface="Calibri"/>
              <a:sym typeface="Calibri"/>
            </a:endParaRPr>
          </a:p>
        </p:txBody>
      </p:sp>
      <p:sp>
        <p:nvSpPr>
          <p:cNvPr id="241" name="Google Shape;241;p20"/>
          <p:cNvSpPr/>
          <p:nvPr/>
        </p:nvSpPr>
        <p:spPr>
          <a:xfrm>
            <a:off x="380277" y="4713230"/>
            <a:ext cx="1861200" cy="321300"/>
          </a:xfrm>
          <a:prstGeom prst="rect">
            <a:avLst/>
          </a:prstGeom>
          <a:solidFill>
            <a:srgbClr val="FFFFFF"/>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42" name="Google Shape;242;p20"/>
          <p:cNvSpPr/>
          <p:nvPr/>
        </p:nvSpPr>
        <p:spPr>
          <a:xfrm>
            <a:off x="422572" y="4713230"/>
            <a:ext cx="1776600" cy="32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Famous</a:t>
            </a:r>
            <a:endParaRPr sz="1018">
              <a:solidFill>
                <a:srgbClr val="000000"/>
              </a:solidFill>
              <a:latin typeface="Calibri"/>
              <a:ea typeface="Calibri"/>
              <a:cs typeface="Calibri"/>
              <a:sym typeface="Calibri"/>
            </a:endParaRPr>
          </a:p>
        </p:txBody>
      </p:sp>
      <p:sp>
        <p:nvSpPr>
          <p:cNvPr id="243" name="Google Shape;243;p20"/>
          <p:cNvSpPr/>
          <p:nvPr/>
        </p:nvSpPr>
        <p:spPr>
          <a:xfrm>
            <a:off x="2283557" y="4713230"/>
            <a:ext cx="2960700" cy="321300"/>
          </a:xfrm>
          <a:prstGeom prst="rect">
            <a:avLst/>
          </a:prstGeom>
          <a:solidFill>
            <a:srgbClr val="FFFFFF"/>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44" name="Google Shape;244;p20"/>
          <p:cNvSpPr/>
          <p:nvPr/>
        </p:nvSpPr>
        <p:spPr>
          <a:xfrm>
            <a:off x="2325852" y="4713230"/>
            <a:ext cx="2876100" cy="32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ResNet, EfficientNet</a:t>
            </a:r>
            <a:endParaRPr sz="1018">
              <a:solidFill>
                <a:srgbClr val="000000"/>
              </a:solidFill>
              <a:latin typeface="Calibri"/>
              <a:ea typeface="Calibri"/>
              <a:cs typeface="Calibri"/>
              <a:sym typeface="Calibri"/>
            </a:endParaRPr>
          </a:p>
        </p:txBody>
      </p:sp>
      <p:sp>
        <p:nvSpPr>
          <p:cNvPr id="245" name="Google Shape;245;p20"/>
          <p:cNvSpPr/>
          <p:nvPr/>
        </p:nvSpPr>
        <p:spPr>
          <a:xfrm>
            <a:off x="5286510" y="4713230"/>
            <a:ext cx="2960700" cy="321300"/>
          </a:xfrm>
          <a:prstGeom prst="rect">
            <a:avLst/>
          </a:prstGeom>
          <a:solidFill>
            <a:srgbClr val="FFFFFF"/>
          </a:solidFill>
          <a:ln>
            <a:noFill/>
          </a:ln>
        </p:spPr>
        <p:txBody>
          <a:bodyPr spcFirstLastPara="1" wrap="square" lIns="84575" tIns="84575" rIns="84575" bIns="84575" anchor="ctr" anchorCtr="0">
            <a:noAutofit/>
          </a:bodyPr>
          <a:lstStyle/>
          <a:p>
            <a:pPr marL="0" lvl="0" indent="0" algn="l" rtl="0">
              <a:spcBef>
                <a:spcPts val="0"/>
              </a:spcBef>
              <a:spcAft>
                <a:spcPts val="0"/>
              </a:spcAft>
              <a:buNone/>
            </a:pPr>
            <a:endParaRPr/>
          </a:p>
        </p:txBody>
      </p:sp>
      <p:sp>
        <p:nvSpPr>
          <p:cNvPr id="246" name="Google Shape;246;p20"/>
          <p:cNvSpPr/>
          <p:nvPr/>
        </p:nvSpPr>
        <p:spPr>
          <a:xfrm>
            <a:off x="5328805" y="4713230"/>
            <a:ext cx="2876100" cy="32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LSTM, GRU, Transformer</a:t>
            </a:r>
            <a:endParaRPr sz="1018">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0"/>
        <p:cNvGrpSpPr/>
        <p:nvPr/>
      </p:nvGrpSpPr>
      <p:grpSpPr>
        <a:xfrm>
          <a:off x="0" y="0"/>
          <a:ext cx="0" cy="0"/>
          <a:chOff x="0" y="0"/>
          <a:chExt cx="0" cy="0"/>
        </a:xfrm>
      </p:grpSpPr>
      <p:pic>
        <p:nvPicPr>
          <p:cNvPr id="251" name="Google Shape;251;p21"/>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252" name="Google Shape;252;p21"/>
          <p:cNvSpPr txBox="1"/>
          <p:nvPr/>
        </p:nvSpPr>
        <p:spPr>
          <a:xfrm>
            <a:off x="1512201" y="166300"/>
            <a:ext cx="6618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D1B2A"/>
              </a:buClr>
              <a:buSzPts val="2600"/>
              <a:buFont typeface="Calibri"/>
              <a:buNone/>
            </a:pPr>
            <a:r>
              <a:rPr lang="en" sz="2600" b="1">
                <a:solidFill>
                  <a:srgbClr val="0D1B2A"/>
                </a:solidFill>
                <a:latin typeface="Calibri"/>
                <a:ea typeface="Calibri"/>
                <a:cs typeface="Calibri"/>
                <a:sym typeface="Calibri"/>
              </a:rPr>
              <a:t>Recurrent Neural Networks (RNNs) &amp; LSTMs</a:t>
            </a:r>
            <a:endParaRPr sz="2800" b="1">
              <a:solidFill>
                <a:srgbClr val="000000"/>
              </a:solidFill>
              <a:latin typeface="Calibri"/>
              <a:ea typeface="Calibri"/>
              <a:cs typeface="Calibri"/>
              <a:sym typeface="Calibri"/>
            </a:endParaRPr>
          </a:p>
          <a:p>
            <a:pPr marL="0" lvl="0" indent="0" algn="l" rtl="0">
              <a:spcBef>
                <a:spcPts val="0"/>
              </a:spcBef>
              <a:spcAft>
                <a:spcPts val="0"/>
              </a:spcAft>
              <a:buSzPts val="2600"/>
              <a:buNone/>
            </a:pPr>
            <a:endParaRPr sz="2600" b="1">
              <a:solidFill>
                <a:srgbClr val="0D1B2A"/>
              </a:solidFill>
              <a:latin typeface="Calibri"/>
              <a:ea typeface="Calibri"/>
              <a:cs typeface="Calibri"/>
              <a:sym typeface="Calibri"/>
            </a:endParaRPr>
          </a:p>
        </p:txBody>
      </p:sp>
      <p:sp>
        <p:nvSpPr>
          <p:cNvPr id="253" name="Google Shape;253;p21"/>
          <p:cNvSpPr/>
          <p:nvPr/>
        </p:nvSpPr>
        <p:spPr>
          <a:xfrm>
            <a:off x="365760" y="1051560"/>
            <a:ext cx="41148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700"/>
              <a:buFont typeface="Calibri"/>
              <a:buNone/>
            </a:pPr>
            <a:r>
              <a:rPr lang="en" sz="1800">
                <a:solidFill>
                  <a:srgbClr val="0D1B2A"/>
                </a:solidFill>
                <a:latin typeface="Calibri"/>
                <a:ea typeface="Calibri"/>
                <a:cs typeface="Calibri"/>
                <a:sym typeface="Calibri"/>
              </a:rPr>
              <a:t>What is Sequential Data?</a:t>
            </a:r>
            <a:endParaRPr sz="1800">
              <a:solidFill>
                <a:srgbClr val="000000"/>
              </a:solidFill>
              <a:latin typeface="Calibri"/>
              <a:ea typeface="Calibri"/>
              <a:cs typeface="Calibri"/>
              <a:sym typeface="Calibri"/>
            </a:endParaRPr>
          </a:p>
        </p:txBody>
      </p:sp>
      <p:sp>
        <p:nvSpPr>
          <p:cNvPr id="254" name="Google Shape;254;p21"/>
          <p:cNvSpPr/>
          <p:nvPr/>
        </p:nvSpPr>
        <p:spPr>
          <a:xfrm>
            <a:off x="365760" y="1508760"/>
            <a:ext cx="4114800" cy="11886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Data where order matters</a:t>
            </a:r>
            <a:endParaRPr sz="13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Each element depends on previous ones</a:t>
            </a:r>
            <a:endParaRPr sz="13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Standard networks treat inputs independently and fail</a:t>
            </a:r>
            <a:endParaRPr sz="1300">
              <a:solidFill>
                <a:schemeClr val="dk1"/>
              </a:solidFill>
              <a:latin typeface="Calibri"/>
              <a:ea typeface="Calibri"/>
              <a:cs typeface="Calibri"/>
              <a:sym typeface="Calibri"/>
            </a:endParaRPr>
          </a:p>
        </p:txBody>
      </p:sp>
      <p:sp>
        <p:nvSpPr>
          <p:cNvPr id="255" name="Google Shape;255;p21"/>
          <p:cNvSpPr/>
          <p:nvPr/>
        </p:nvSpPr>
        <p:spPr>
          <a:xfrm>
            <a:off x="365760" y="2880360"/>
            <a:ext cx="1828800" cy="594300"/>
          </a:xfrm>
          <a:prstGeom prst="rect">
            <a:avLst/>
          </a:prstGeom>
          <a:solidFill>
            <a:srgbClr val="00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1"/>
          <p:cNvSpPr/>
          <p:nvPr/>
        </p:nvSpPr>
        <p:spPr>
          <a:xfrm>
            <a:off x="365760" y="2880360"/>
            <a:ext cx="1828800" cy="594300"/>
          </a:xfrm>
          <a:prstGeom prst="rect">
            <a:avLst/>
          </a:prstGeom>
          <a:solidFill>
            <a:schemeClr val="lt1"/>
          </a:solidFill>
          <a:ln w="9525" cap="flat" cmpd="sng">
            <a:solidFill>
              <a:srgbClr val="00B050"/>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 sz="1200" b="1">
                <a:solidFill>
                  <a:schemeClr val="dk1"/>
                </a:solidFill>
                <a:latin typeface="Calibri"/>
                <a:ea typeface="Calibri"/>
                <a:cs typeface="Calibri"/>
                <a:sym typeface="Calibri"/>
              </a:rPr>
              <a:t>Text &amp; NLP</a:t>
            </a:r>
            <a:endParaRPr sz="1200">
              <a:solidFill>
                <a:schemeClr val="dk1"/>
              </a:solidFill>
              <a:latin typeface="Calibri"/>
              <a:ea typeface="Calibri"/>
              <a:cs typeface="Calibri"/>
              <a:sym typeface="Calibri"/>
            </a:endParaRPr>
          </a:p>
        </p:txBody>
      </p:sp>
      <p:sp>
        <p:nvSpPr>
          <p:cNvPr id="257" name="Google Shape;257;p21"/>
          <p:cNvSpPr/>
          <p:nvPr/>
        </p:nvSpPr>
        <p:spPr>
          <a:xfrm>
            <a:off x="2377440" y="2880360"/>
            <a:ext cx="1828800" cy="594300"/>
          </a:xfrm>
          <a:prstGeom prst="rect">
            <a:avLst/>
          </a:prstGeom>
          <a:solidFill>
            <a:srgbClr val="1565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1"/>
          <p:cNvSpPr/>
          <p:nvPr/>
        </p:nvSpPr>
        <p:spPr>
          <a:xfrm>
            <a:off x="2377440" y="2880360"/>
            <a:ext cx="1828800" cy="594300"/>
          </a:xfrm>
          <a:prstGeom prst="rect">
            <a:avLst/>
          </a:prstGeom>
          <a:solidFill>
            <a:schemeClr val="lt1"/>
          </a:solidFill>
          <a:ln w="9525" cap="flat" cmpd="sng">
            <a:solidFill>
              <a:srgbClr val="00B050"/>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 sz="1200" b="1">
                <a:solidFill>
                  <a:schemeClr val="dk1"/>
                </a:solidFill>
                <a:latin typeface="Calibri"/>
                <a:ea typeface="Calibri"/>
                <a:cs typeface="Calibri"/>
                <a:sym typeface="Calibri"/>
              </a:rPr>
              <a:t>Audio &amp; Speech</a:t>
            </a:r>
            <a:endParaRPr sz="1200">
              <a:solidFill>
                <a:schemeClr val="dk1"/>
              </a:solidFill>
              <a:latin typeface="Calibri"/>
              <a:ea typeface="Calibri"/>
              <a:cs typeface="Calibri"/>
              <a:sym typeface="Calibri"/>
            </a:endParaRPr>
          </a:p>
        </p:txBody>
      </p:sp>
      <p:sp>
        <p:nvSpPr>
          <p:cNvPr id="259" name="Google Shape;259;p21"/>
          <p:cNvSpPr/>
          <p:nvPr/>
        </p:nvSpPr>
        <p:spPr>
          <a:xfrm>
            <a:off x="4389120" y="2880360"/>
            <a:ext cx="1828800" cy="594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 sz="1200" b="1">
                <a:solidFill>
                  <a:srgbClr val="FFFFFF"/>
                </a:solidFill>
                <a:latin typeface="Calibri"/>
                <a:ea typeface="Calibri"/>
                <a:cs typeface="Calibri"/>
                <a:sym typeface="Calibri"/>
              </a:rPr>
              <a:t>Time Series</a:t>
            </a:r>
            <a:endParaRPr sz="1200">
              <a:solidFill>
                <a:srgbClr val="000000"/>
              </a:solidFill>
              <a:latin typeface="Calibri"/>
              <a:ea typeface="Calibri"/>
              <a:cs typeface="Calibri"/>
              <a:sym typeface="Calibri"/>
            </a:endParaRPr>
          </a:p>
        </p:txBody>
      </p:sp>
      <p:sp>
        <p:nvSpPr>
          <p:cNvPr id="260" name="Google Shape;260;p21"/>
          <p:cNvSpPr/>
          <p:nvPr/>
        </p:nvSpPr>
        <p:spPr>
          <a:xfrm>
            <a:off x="365760" y="3657600"/>
            <a:ext cx="1828800" cy="594300"/>
          </a:xfrm>
          <a:prstGeom prst="rect">
            <a:avLst/>
          </a:prstGeom>
          <a:solidFill>
            <a:srgbClr val="00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1"/>
          <p:cNvSpPr/>
          <p:nvPr/>
        </p:nvSpPr>
        <p:spPr>
          <a:xfrm>
            <a:off x="365760" y="3657600"/>
            <a:ext cx="1828800" cy="594300"/>
          </a:xfrm>
          <a:prstGeom prst="rect">
            <a:avLst/>
          </a:prstGeom>
          <a:solidFill>
            <a:schemeClr val="lt1"/>
          </a:solidFill>
          <a:ln w="9525" cap="flat" cmpd="sng">
            <a:solidFill>
              <a:srgbClr val="00B050"/>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 sz="1200" b="1">
                <a:solidFill>
                  <a:schemeClr val="dk1"/>
                </a:solidFill>
                <a:latin typeface="Calibri"/>
                <a:ea typeface="Calibri"/>
                <a:cs typeface="Calibri"/>
                <a:sym typeface="Calibri"/>
              </a:rPr>
              <a:t>DNA Sequences</a:t>
            </a:r>
            <a:endParaRPr sz="1200">
              <a:solidFill>
                <a:schemeClr val="dk1"/>
              </a:solidFill>
              <a:latin typeface="Calibri"/>
              <a:ea typeface="Calibri"/>
              <a:cs typeface="Calibri"/>
              <a:sym typeface="Calibri"/>
            </a:endParaRPr>
          </a:p>
        </p:txBody>
      </p:sp>
      <p:sp>
        <p:nvSpPr>
          <p:cNvPr id="262" name="Google Shape;262;p21"/>
          <p:cNvSpPr/>
          <p:nvPr/>
        </p:nvSpPr>
        <p:spPr>
          <a:xfrm>
            <a:off x="2377440" y="3657600"/>
            <a:ext cx="1828800" cy="594300"/>
          </a:xfrm>
          <a:prstGeom prst="rect">
            <a:avLst/>
          </a:prstGeom>
          <a:solidFill>
            <a:srgbClr val="1565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1"/>
          <p:cNvSpPr/>
          <p:nvPr/>
        </p:nvSpPr>
        <p:spPr>
          <a:xfrm>
            <a:off x="2377440" y="3657600"/>
            <a:ext cx="1828800" cy="594300"/>
          </a:xfrm>
          <a:prstGeom prst="rect">
            <a:avLst/>
          </a:prstGeom>
          <a:solidFill>
            <a:schemeClr val="lt1"/>
          </a:solidFill>
          <a:ln w="9525" cap="flat" cmpd="sng">
            <a:solidFill>
              <a:srgbClr val="0A9396"/>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 sz="1200" b="1">
                <a:solidFill>
                  <a:schemeClr val="dk1"/>
                </a:solidFill>
                <a:latin typeface="Calibri"/>
                <a:ea typeface="Calibri"/>
                <a:cs typeface="Calibri"/>
                <a:sym typeface="Calibri"/>
              </a:rPr>
              <a:t>Video Frames</a:t>
            </a:r>
            <a:endParaRPr sz="1200">
              <a:solidFill>
                <a:schemeClr val="dk1"/>
              </a:solidFill>
              <a:latin typeface="Calibri"/>
              <a:ea typeface="Calibri"/>
              <a:cs typeface="Calibri"/>
              <a:sym typeface="Calibri"/>
            </a:endParaRPr>
          </a:p>
        </p:txBody>
      </p:sp>
      <p:sp>
        <p:nvSpPr>
          <p:cNvPr id="264" name="Google Shape;264;p21"/>
          <p:cNvSpPr/>
          <p:nvPr/>
        </p:nvSpPr>
        <p:spPr>
          <a:xfrm>
            <a:off x="4389120" y="3657600"/>
            <a:ext cx="1828800" cy="594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 sz="1200" b="1">
                <a:solidFill>
                  <a:srgbClr val="FFFFFF"/>
                </a:solidFill>
                <a:latin typeface="Calibri"/>
                <a:ea typeface="Calibri"/>
                <a:cs typeface="Calibri"/>
                <a:sym typeface="Calibri"/>
              </a:rPr>
              <a:t>Stock Prices</a:t>
            </a:r>
            <a:endParaRPr sz="1200">
              <a:solidFill>
                <a:srgbClr val="000000"/>
              </a:solidFill>
              <a:latin typeface="Calibri"/>
              <a:ea typeface="Calibri"/>
              <a:cs typeface="Calibri"/>
              <a:sym typeface="Calibri"/>
            </a:endParaRPr>
          </a:p>
        </p:txBody>
      </p:sp>
      <p:sp>
        <p:nvSpPr>
          <p:cNvPr id="265" name="Google Shape;265;p21"/>
          <p:cNvSpPr/>
          <p:nvPr/>
        </p:nvSpPr>
        <p:spPr>
          <a:xfrm>
            <a:off x="4846320" y="1005840"/>
            <a:ext cx="3931800" cy="3749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1"/>
          <p:cNvSpPr/>
          <p:nvPr/>
        </p:nvSpPr>
        <p:spPr>
          <a:xfrm>
            <a:off x="5029200" y="1188720"/>
            <a:ext cx="3657600" cy="411600"/>
          </a:xfrm>
          <a:prstGeom prst="rect">
            <a:avLst/>
          </a:prstGeom>
          <a:noFill/>
          <a:ln w="9525" cap="flat" cmpd="sng">
            <a:solidFill>
              <a:srgbClr val="00B05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00BCD4"/>
              </a:buClr>
              <a:buSzPts val="1600"/>
              <a:buFont typeface="Calibri"/>
              <a:buNone/>
            </a:pPr>
            <a:r>
              <a:rPr lang="en" sz="1600" b="1">
                <a:solidFill>
                  <a:srgbClr val="00BCD4"/>
                </a:solidFill>
                <a:latin typeface="Calibri"/>
                <a:ea typeface="Calibri"/>
                <a:cs typeface="Calibri"/>
                <a:sym typeface="Calibri"/>
              </a:rPr>
              <a:t> </a:t>
            </a:r>
            <a:r>
              <a:rPr lang="en" sz="1600">
                <a:solidFill>
                  <a:schemeClr val="dk1"/>
                </a:solidFill>
                <a:latin typeface="Calibri"/>
                <a:ea typeface="Calibri"/>
                <a:cs typeface="Calibri"/>
                <a:sym typeface="Calibri"/>
              </a:rPr>
              <a:t>Key Insight</a:t>
            </a:r>
            <a:endParaRPr sz="1600">
              <a:solidFill>
                <a:schemeClr val="dk1"/>
              </a:solidFill>
              <a:latin typeface="Calibri"/>
              <a:ea typeface="Calibri"/>
              <a:cs typeface="Calibri"/>
              <a:sym typeface="Calibri"/>
            </a:endParaRPr>
          </a:p>
        </p:txBody>
      </p:sp>
      <p:sp>
        <p:nvSpPr>
          <p:cNvPr id="267" name="Google Shape;267;p21"/>
          <p:cNvSpPr/>
          <p:nvPr/>
        </p:nvSpPr>
        <p:spPr>
          <a:xfrm>
            <a:off x="5074950" y="1805908"/>
            <a:ext cx="3566100" cy="2743200"/>
          </a:xfrm>
          <a:prstGeom prst="rect">
            <a:avLst/>
          </a:prstGeom>
          <a:solidFill>
            <a:schemeClr val="lt1"/>
          </a:solidFill>
          <a:ln w="9525"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rgbClr val="FFFFFF"/>
              </a:buClr>
              <a:buSzPts val="1300"/>
              <a:buFont typeface="Calibri"/>
              <a:buNone/>
            </a:pPr>
            <a:r>
              <a:rPr lang="en" sz="1600">
                <a:solidFill>
                  <a:schemeClr val="dk1"/>
                </a:solidFill>
                <a:latin typeface="Calibri"/>
                <a:ea typeface="Calibri"/>
                <a:cs typeface="Calibri"/>
                <a:sym typeface="Calibri"/>
              </a:rPr>
              <a:t>Traditional feedforward networks assume inputs are independent.</a:t>
            </a:r>
            <a:endParaRPr sz="160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300"/>
              <a:buFont typeface="Calibri"/>
              <a:buNone/>
            </a:pPr>
            <a:endParaRPr sz="1600">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1300"/>
              <a:buFont typeface="Calibri"/>
              <a:buNone/>
            </a:pPr>
            <a:r>
              <a:rPr lang="en" sz="1600">
                <a:solidFill>
                  <a:schemeClr val="dk1"/>
                </a:solidFill>
                <a:latin typeface="Calibri"/>
                <a:ea typeface="Calibri"/>
                <a:cs typeface="Calibri"/>
                <a:sym typeface="Calibri"/>
              </a:rPr>
              <a:t>But in "The cat sat on the ___", predicting the next word requires remembering ALL previous words.</a:t>
            </a:r>
            <a:endParaRPr sz="160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300"/>
              <a:buFont typeface="Calibri"/>
              <a:buNone/>
            </a:pPr>
            <a:endParaRPr sz="1600">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1300"/>
              <a:buFont typeface="Calibri"/>
              <a:buNone/>
            </a:pPr>
            <a:r>
              <a:rPr lang="en" sz="1600">
                <a:solidFill>
                  <a:schemeClr val="dk1"/>
                </a:solidFill>
                <a:latin typeface="Calibri"/>
                <a:ea typeface="Calibri"/>
                <a:cs typeface="Calibri"/>
                <a:sym typeface="Calibri"/>
              </a:rPr>
              <a:t>We need a model with memory.</a:t>
            </a:r>
            <a:endParaRPr sz="1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1"/>
        <p:cNvGrpSpPr/>
        <p:nvPr/>
      </p:nvGrpSpPr>
      <p:grpSpPr>
        <a:xfrm>
          <a:off x="0" y="0"/>
          <a:ext cx="0" cy="0"/>
          <a:chOff x="0" y="0"/>
          <a:chExt cx="0" cy="0"/>
        </a:xfrm>
      </p:grpSpPr>
      <p:pic>
        <p:nvPicPr>
          <p:cNvPr id="272" name="Google Shape;272;p22"/>
          <p:cNvPicPr preferRelativeResize="0"/>
          <p:nvPr/>
        </p:nvPicPr>
        <p:blipFill>
          <a:blip r:embed="rId4">
            <a:alphaModFix/>
          </a:blip>
          <a:stretch>
            <a:fillRect/>
          </a:stretch>
        </p:blipFill>
        <p:spPr>
          <a:xfrm>
            <a:off x="8369125" y="0"/>
            <a:ext cx="774877" cy="867174"/>
          </a:xfrm>
          <a:prstGeom prst="rect">
            <a:avLst/>
          </a:prstGeom>
          <a:noFill/>
          <a:ln>
            <a:noFill/>
          </a:ln>
        </p:spPr>
      </p:pic>
      <p:cxnSp>
        <p:nvCxnSpPr>
          <p:cNvPr id="273" name="Google Shape;273;p22"/>
          <p:cNvCxnSpPr/>
          <p:nvPr/>
        </p:nvCxnSpPr>
        <p:spPr>
          <a:xfrm>
            <a:off x="2103120" y="2217900"/>
            <a:ext cx="457200" cy="0"/>
          </a:xfrm>
          <a:prstGeom prst="straightConnector1">
            <a:avLst/>
          </a:prstGeom>
          <a:noFill/>
          <a:ln w="25400" cap="flat" cmpd="sng">
            <a:solidFill>
              <a:srgbClr val="546E7A"/>
            </a:solidFill>
            <a:prstDash val="solid"/>
            <a:round/>
            <a:headEnd type="none" w="sm" len="sm"/>
            <a:tailEnd type="none" w="sm" len="sm"/>
          </a:ln>
        </p:spPr>
      </p:cxnSp>
      <p:cxnSp>
        <p:nvCxnSpPr>
          <p:cNvPr id="274" name="Google Shape;274;p22"/>
          <p:cNvCxnSpPr/>
          <p:nvPr/>
        </p:nvCxnSpPr>
        <p:spPr>
          <a:xfrm>
            <a:off x="3931920" y="2217900"/>
            <a:ext cx="457200" cy="0"/>
          </a:xfrm>
          <a:prstGeom prst="straightConnector1">
            <a:avLst/>
          </a:prstGeom>
          <a:noFill/>
          <a:ln w="25400" cap="flat" cmpd="sng">
            <a:solidFill>
              <a:srgbClr val="546E7A"/>
            </a:solidFill>
            <a:prstDash val="solid"/>
            <a:round/>
            <a:headEnd type="none" w="sm" len="sm"/>
            <a:tailEnd type="none" w="sm" len="sm"/>
          </a:ln>
        </p:spPr>
      </p:cxnSp>
      <p:cxnSp>
        <p:nvCxnSpPr>
          <p:cNvPr id="275" name="Google Shape;275;p22"/>
          <p:cNvCxnSpPr/>
          <p:nvPr/>
        </p:nvCxnSpPr>
        <p:spPr>
          <a:xfrm>
            <a:off x="5760270" y="2217900"/>
            <a:ext cx="457200" cy="0"/>
          </a:xfrm>
          <a:prstGeom prst="straightConnector1">
            <a:avLst/>
          </a:prstGeom>
          <a:noFill/>
          <a:ln w="25400" cap="flat" cmpd="sng">
            <a:solidFill>
              <a:srgbClr val="546E7A"/>
            </a:solidFill>
            <a:prstDash val="solid"/>
            <a:round/>
            <a:headEnd type="none" w="sm" len="sm"/>
            <a:tailEnd type="none" w="sm" len="sm"/>
          </a:ln>
        </p:spPr>
      </p:cxnSp>
      <p:cxnSp>
        <p:nvCxnSpPr>
          <p:cNvPr id="276" name="Google Shape;276;p22"/>
          <p:cNvCxnSpPr/>
          <p:nvPr/>
        </p:nvCxnSpPr>
        <p:spPr>
          <a:xfrm>
            <a:off x="7588620" y="2217900"/>
            <a:ext cx="457200" cy="0"/>
          </a:xfrm>
          <a:prstGeom prst="straightConnector1">
            <a:avLst/>
          </a:prstGeom>
          <a:noFill/>
          <a:ln w="25400" cap="flat" cmpd="sng">
            <a:solidFill>
              <a:srgbClr val="546E7A"/>
            </a:solidFill>
            <a:prstDash val="solid"/>
            <a:round/>
            <a:headEnd type="none" w="sm" len="sm"/>
            <a:tailEnd type="none" w="sm" len="sm"/>
          </a:ln>
        </p:spPr>
      </p:cxnSp>
      <p:sp>
        <p:nvSpPr>
          <p:cNvPr id="277" name="Google Shape;277;p22"/>
          <p:cNvSpPr/>
          <p:nvPr/>
        </p:nvSpPr>
        <p:spPr>
          <a:xfrm>
            <a:off x="731520" y="1875000"/>
            <a:ext cx="1371600" cy="685800"/>
          </a:xfrm>
          <a:prstGeom prst="rect">
            <a:avLst/>
          </a:prstGeom>
          <a:solidFill>
            <a:srgbClr val="0D1B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2"/>
          <p:cNvSpPr/>
          <p:nvPr/>
        </p:nvSpPr>
        <p:spPr>
          <a:xfrm>
            <a:off x="731520" y="1875000"/>
            <a:ext cx="13716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000">
                <a:solidFill>
                  <a:srgbClr val="FFFFFF"/>
                </a:solidFill>
                <a:latin typeface="Calibri"/>
                <a:ea typeface="Calibri"/>
                <a:cs typeface="Calibri"/>
                <a:sym typeface="Calibri"/>
              </a:rPr>
              <a:t>RNN cell</a:t>
            </a:r>
            <a:endParaRPr/>
          </a:p>
          <a:p>
            <a:pPr marL="0" marR="0" lvl="0" indent="0" algn="ctr" rtl="0">
              <a:spcBef>
                <a:spcPts val="0"/>
              </a:spcBef>
              <a:spcAft>
                <a:spcPts val="0"/>
              </a:spcAft>
              <a:buNone/>
            </a:pPr>
            <a:r>
              <a:rPr lang="en" sz="1000">
                <a:solidFill>
                  <a:srgbClr val="FFFFFF"/>
                </a:solidFill>
                <a:latin typeface="Calibri"/>
                <a:ea typeface="Calibri"/>
                <a:cs typeface="Calibri"/>
                <a:sym typeface="Calibri"/>
              </a:rPr>
              <a:t>h0</a:t>
            </a:r>
            <a:endParaRPr/>
          </a:p>
        </p:txBody>
      </p:sp>
      <p:cxnSp>
        <p:nvCxnSpPr>
          <p:cNvPr id="279" name="Google Shape;279;p22"/>
          <p:cNvCxnSpPr/>
          <p:nvPr/>
        </p:nvCxnSpPr>
        <p:spPr>
          <a:xfrm>
            <a:off x="1417320" y="2560800"/>
            <a:ext cx="0" cy="364200"/>
          </a:xfrm>
          <a:prstGeom prst="straightConnector1">
            <a:avLst/>
          </a:prstGeom>
          <a:noFill/>
          <a:ln w="15225" cap="flat" cmpd="sng">
            <a:solidFill>
              <a:srgbClr val="546E7A"/>
            </a:solidFill>
            <a:prstDash val="solid"/>
            <a:round/>
            <a:headEnd type="none" w="sm" len="sm"/>
            <a:tailEnd type="none" w="sm" len="sm"/>
          </a:ln>
        </p:spPr>
      </p:cxnSp>
      <p:sp>
        <p:nvSpPr>
          <p:cNvPr id="280" name="Google Shape;280;p22"/>
          <p:cNvSpPr/>
          <p:nvPr/>
        </p:nvSpPr>
        <p:spPr>
          <a:xfrm>
            <a:off x="731520" y="2925000"/>
            <a:ext cx="1371600" cy="567000"/>
          </a:xfrm>
          <a:prstGeom prst="rect">
            <a:avLst/>
          </a:prstGeom>
          <a:solidFill>
            <a:srgbClr val="00BC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2"/>
          <p:cNvSpPr/>
          <p:nvPr/>
        </p:nvSpPr>
        <p:spPr>
          <a:xfrm>
            <a:off x="731520" y="2925000"/>
            <a:ext cx="1371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400" b="1">
                <a:solidFill>
                  <a:srgbClr val="0D1B2A"/>
                </a:solidFill>
                <a:latin typeface="Calibri"/>
                <a:ea typeface="Calibri"/>
                <a:cs typeface="Calibri"/>
                <a:sym typeface="Calibri"/>
              </a:rPr>
              <a:t>x₀</a:t>
            </a:r>
            <a:endParaRPr/>
          </a:p>
        </p:txBody>
      </p:sp>
      <p:sp>
        <p:nvSpPr>
          <p:cNvPr id="282" name="Google Shape;282;p22"/>
          <p:cNvSpPr/>
          <p:nvPr/>
        </p:nvSpPr>
        <p:spPr>
          <a:xfrm>
            <a:off x="2560320" y="1875000"/>
            <a:ext cx="1371600" cy="685800"/>
          </a:xfrm>
          <a:prstGeom prst="rect">
            <a:avLst/>
          </a:prstGeom>
          <a:solidFill>
            <a:srgbClr val="0D1B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2"/>
          <p:cNvSpPr/>
          <p:nvPr/>
        </p:nvSpPr>
        <p:spPr>
          <a:xfrm>
            <a:off x="2560320" y="1875000"/>
            <a:ext cx="13716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000">
                <a:solidFill>
                  <a:srgbClr val="FFFFFF"/>
                </a:solidFill>
                <a:latin typeface="Calibri"/>
                <a:ea typeface="Calibri"/>
                <a:cs typeface="Calibri"/>
                <a:sym typeface="Calibri"/>
              </a:rPr>
              <a:t>RNN cell</a:t>
            </a:r>
            <a:endParaRPr/>
          </a:p>
          <a:p>
            <a:pPr marL="0" marR="0" lvl="0" indent="0" algn="ctr" rtl="0">
              <a:spcBef>
                <a:spcPts val="0"/>
              </a:spcBef>
              <a:spcAft>
                <a:spcPts val="0"/>
              </a:spcAft>
              <a:buNone/>
            </a:pPr>
            <a:r>
              <a:rPr lang="en" sz="1000">
                <a:solidFill>
                  <a:srgbClr val="FFFFFF"/>
                </a:solidFill>
                <a:latin typeface="Calibri"/>
                <a:ea typeface="Calibri"/>
                <a:cs typeface="Calibri"/>
                <a:sym typeface="Calibri"/>
              </a:rPr>
              <a:t>h1</a:t>
            </a:r>
            <a:endParaRPr/>
          </a:p>
        </p:txBody>
      </p:sp>
      <p:cxnSp>
        <p:nvCxnSpPr>
          <p:cNvPr id="284" name="Google Shape;284;p22"/>
          <p:cNvCxnSpPr/>
          <p:nvPr/>
        </p:nvCxnSpPr>
        <p:spPr>
          <a:xfrm>
            <a:off x="3246120" y="2560800"/>
            <a:ext cx="0" cy="364200"/>
          </a:xfrm>
          <a:prstGeom prst="straightConnector1">
            <a:avLst/>
          </a:prstGeom>
          <a:noFill/>
          <a:ln w="15225" cap="flat" cmpd="sng">
            <a:solidFill>
              <a:srgbClr val="546E7A"/>
            </a:solidFill>
            <a:prstDash val="solid"/>
            <a:round/>
            <a:headEnd type="none" w="sm" len="sm"/>
            <a:tailEnd type="none" w="sm" len="sm"/>
          </a:ln>
        </p:spPr>
      </p:cxnSp>
      <p:sp>
        <p:nvSpPr>
          <p:cNvPr id="285" name="Google Shape;285;p22"/>
          <p:cNvSpPr/>
          <p:nvPr/>
        </p:nvSpPr>
        <p:spPr>
          <a:xfrm>
            <a:off x="2560320" y="2925000"/>
            <a:ext cx="1371600" cy="567000"/>
          </a:xfrm>
          <a:prstGeom prst="rect">
            <a:avLst/>
          </a:prstGeom>
          <a:solidFill>
            <a:srgbClr val="00BC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2"/>
          <p:cNvSpPr/>
          <p:nvPr/>
        </p:nvSpPr>
        <p:spPr>
          <a:xfrm>
            <a:off x="2560320" y="2925000"/>
            <a:ext cx="1371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400" b="1">
                <a:solidFill>
                  <a:srgbClr val="0D1B2A"/>
                </a:solidFill>
                <a:latin typeface="Calibri"/>
                <a:ea typeface="Calibri"/>
                <a:cs typeface="Calibri"/>
                <a:sym typeface="Calibri"/>
              </a:rPr>
              <a:t>x₁</a:t>
            </a:r>
            <a:endParaRPr/>
          </a:p>
        </p:txBody>
      </p:sp>
      <p:sp>
        <p:nvSpPr>
          <p:cNvPr id="287" name="Google Shape;287;p22"/>
          <p:cNvSpPr/>
          <p:nvPr/>
        </p:nvSpPr>
        <p:spPr>
          <a:xfrm>
            <a:off x="4388670" y="1875000"/>
            <a:ext cx="1371600" cy="685800"/>
          </a:xfrm>
          <a:prstGeom prst="rect">
            <a:avLst/>
          </a:prstGeom>
          <a:solidFill>
            <a:srgbClr val="0D1B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2"/>
          <p:cNvSpPr/>
          <p:nvPr/>
        </p:nvSpPr>
        <p:spPr>
          <a:xfrm>
            <a:off x="4388670" y="1875000"/>
            <a:ext cx="13716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000">
                <a:solidFill>
                  <a:srgbClr val="FFFFFF"/>
                </a:solidFill>
                <a:latin typeface="Calibri"/>
                <a:ea typeface="Calibri"/>
                <a:cs typeface="Calibri"/>
                <a:sym typeface="Calibri"/>
              </a:rPr>
              <a:t>RNN cell</a:t>
            </a:r>
            <a:endParaRPr/>
          </a:p>
          <a:p>
            <a:pPr marL="0" marR="0" lvl="0" indent="0" algn="ctr" rtl="0">
              <a:spcBef>
                <a:spcPts val="0"/>
              </a:spcBef>
              <a:spcAft>
                <a:spcPts val="0"/>
              </a:spcAft>
              <a:buNone/>
            </a:pPr>
            <a:r>
              <a:rPr lang="en" sz="1000">
                <a:solidFill>
                  <a:srgbClr val="FFFFFF"/>
                </a:solidFill>
                <a:latin typeface="Calibri"/>
                <a:ea typeface="Calibri"/>
                <a:cs typeface="Calibri"/>
                <a:sym typeface="Calibri"/>
              </a:rPr>
              <a:t>h2</a:t>
            </a:r>
            <a:endParaRPr/>
          </a:p>
        </p:txBody>
      </p:sp>
      <p:cxnSp>
        <p:nvCxnSpPr>
          <p:cNvPr id="289" name="Google Shape;289;p22"/>
          <p:cNvCxnSpPr/>
          <p:nvPr/>
        </p:nvCxnSpPr>
        <p:spPr>
          <a:xfrm>
            <a:off x="5074470" y="2560800"/>
            <a:ext cx="0" cy="364200"/>
          </a:xfrm>
          <a:prstGeom prst="straightConnector1">
            <a:avLst/>
          </a:prstGeom>
          <a:noFill/>
          <a:ln w="15225" cap="flat" cmpd="sng">
            <a:solidFill>
              <a:srgbClr val="546E7A"/>
            </a:solidFill>
            <a:prstDash val="solid"/>
            <a:round/>
            <a:headEnd type="none" w="sm" len="sm"/>
            <a:tailEnd type="none" w="sm" len="sm"/>
          </a:ln>
        </p:spPr>
      </p:cxnSp>
      <p:sp>
        <p:nvSpPr>
          <p:cNvPr id="290" name="Google Shape;290;p22"/>
          <p:cNvSpPr/>
          <p:nvPr/>
        </p:nvSpPr>
        <p:spPr>
          <a:xfrm>
            <a:off x="4388670" y="2925000"/>
            <a:ext cx="1371600" cy="567000"/>
          </a:xfrm>
          <a:prstGeom prst="rect">
            <a:avLst/>
          </a:prstGeom>
          <a:solidFill>
            <a:srgbClr val="00BC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2"/>
          <p:cNvSpPr/>
          <p:nvPr/>
        </p:nvSpPr>
        <p:spPr>
          <a:xfrm>
            <a:off x="4388670" y="2925000"/>
            <a:ext cx="1371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400" b="1">
                <a:solidFill>
                  <a:srgbClr val="0D1B2A"/>
                </a:solidFill>
                <a:latin typeface="Calibri"/>
                <a:ea typeface="Calibri"/>
                <a:cs typeface="Calibri"/>
                <a:sym typeface="Calibri"/>
              </a:rPr>
              <a:t>x₂</a:t>
            </a:r>
            <a:endParaRPr/>
          </a:p>
        </p:txBody>
      </p:sp>
      <p:sp>
        <p:nvSpPr>
          <p:cNvPr id="292" name="Google Shape;292;p22"/>
          <p:cNvSpPr/>
          <p:nvPr/>
        </p:nvSpPr>
        <p:spPr>
          <a:xfrm>
            <a:off x="6217020" y="1875000"/>
            <a:ext cx="1371600" cy="685800"/>
          </a:xfrm>
          <a:prstGeom prst="rect">
            <a:avLst/>
          </a:prstGeom>
          <a:solidFill>
            <a:srgbClr val="0D1B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2"/>
          <p:cNvSpPr/>
          <p:nvPr/>
        </p:nvSpPr>
        <p:spPr>
          <a:xfrm>
            <a:off x="6217020" y="1875000"/>
            <a:ext cx="13716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000">
                <a:solidFill>
                  <a:srgbClr val="FFFFFF"/>
                </a:solidFill>
                <a:latin typeface="Calibri"/>
                <a:ea typeface="Calibri"/>
                <a:cs typeface="Calibri"/>
                <a:sym typeface="Calibri"/>
              </a:rPr>
              <a:t>RNN cell</a:t>
            </a:r>
            <a:endParaRPr/>
          </a:p>
          <a:p>
            <a:pPr marL="0" marR="0" lvl="0" indent="0" algn="ctr" rtl="0">
              <a:spcBef>
                <a:spcPts val="0"/>
              </a:spcBef>
              <a:spcAft>
                <a:spcPts val="0"/>
              </a:spcAft>
              <a:buNone/>
            </a:pPr>
            <a:r>
              <a:rPr lang="en" sz="1000">
                <a:solidFill>
                  <a:srgbClr val="FFFFFF"/>
                </a:solidFill>
                <a:latin typeface="Calibri"/>
                <a:ea typeface="Calibri"/>
                <a:cs typeface="Calibri"/>
                <a:sym typeface="Calibri"/>
              </a:rPr>
              <a:t>h3</a:t>
            </a:r>
            <a:endParaRPr/>
          </a:p>
        </p:txBody>
      </p:sp>
      <p:cxnSp>
        <p:nvCxnSpPr>
          <p:cNvPr id="294" name="Google Shape;294;p22"/>
          <p:cNvCxnSpPr/>
          <p:nvPr/>
        </p:nvCxnSpPr>
        <p:spPr>
          <a:xfrm>
            <a:off x="6902820" y="2560800"/>
            <a:ext cx="0" cy="364200"/>
          </a:xfrm>
          <a:prstGeom prst="straightConnector1">
            <a:avLst/>
          </a:prstGeom>
          <a:noFill/>
          <a:ln w="15225" cap="flat" cmpd="sng">
            <a:solidFill>
              <a:srgbClr val="546E7A"/>
            </a:solidFill>
            <a:prstDash val="solid"/>
            <a:round/>
            <a:headEnd type="none" w="sm" len="sm"/>
            <a:tailEnd type="none" w="sm" len="sm"/>
          </a:ln>
        </p:spPr>
      </p:cxnSp>
      <p:sp>
        <p:nvSpPr>
          <p:cNvPr id="295" name="Google Shape;295;p22"/>
          <p:cNvSpPr/>
          <p:nvPr/>
        </p:nvSpPr>
        <p:spPr>
          <a:xfrm>
            <a:off x="6217020" y="2925000"/>
            <a:ext cx="1371600" cy="567000"/>
          </a:xfrm>
          <a:prstGeom prst="rect">
            <a:avLst/>
          </a:prstGeom>
          <a:solidFill>
            <a:srgbClr val="00BC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2"/>
          <p:cNvSpPr/>
          <p:nvPr/>
        </p:nvSpPr>
        <p:spPr>
          <a:xfrm>
            <a:off x="6217020" y="2925000"/>
            <a:ext cx="1371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400" b="1">
                <a:solidFill>
                  <a:srgbClr val="0D1B2A"/>
                </a:solidFill>
                <a:latin typeface="Calibri"/>
                <a:ea typeface="Calibri"/>
                <a:cs typeface="Calibri"/>
                <a:sym typeface="Calibri"/>
              </a:rPr>
              <a:t>x₃</a:t>
            </a:r>
            <a:endParaRPr/>
          </a:p>
        </p:txBody>
      </p:sp>
      <p:sp>
        <p:nvSpPr>
          <p:cNvPr id="297" name="Google Shape;297;p22"/>
          <p:cNvSpPr/>
          <p:nvPr/>
        </p:nvSpPr>
        <p:spPr>
          <a:xfrm>
            <a:off x="731520" y="3712500"/>
            <a:ext cx="7680900" cy="457200"/>
          </a:xfrm>
          <a:prstGeom prst="rect">
            <a:avLst/>
          </a:prstGeom>
          <a:solidFill>
            <a:srgbClr val="E8F5E9"/>
          </a:solidFill>
          <a:ln w="12700" cap="flat" cmpd="sng">
            <a:solidFill>
              <a:srgbClr val="388E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2"/>
          <p:cNvSpPr/>
          <p:nvPr/>
        </p:nvSpPr>
        <p:spPr>
          <a:xfrm>
            <a:off x="731520" y="3712500"/>
            <a:ext cx="7680900" cy="4572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200" b="1">
                <a:solidFill>
                  <a:srgbClr val="1B5E20"/>
                </a:solidFill>
                <a:latin typeface="Calibri"/>
                <a:ea typeface="Calibri"/>
                <a:cs typeface="Calibri"/>
                <a:sym typeface="Calibri"/>
              </a:rPr>
              <a:t>Update rule:  hₜ = tanh( Wₕ · hₜ₋₁ + Wₓ · xₜ + b )</a:t>
            </a:r>
            <a:endParaRPr/>
          </a:p>
        </p:txBody>
      </p:sp>
      <p:sp>
        <p:nvSpPr>
          <p:cNvPr id="299" name="Google Shape;299;p22"/>
          <p:cNvSpPr/>
          <p:nvPr/>
        </p:nvSpPr>
        <p:spPr>
          <a:xfrm>
            <a:off x="274320" y="4350000"/>
            <a:ext cx="85953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600" i="1">
                <a:solidFill>
                  <a:srgbClr val="388E3C"/>
                </a:solidFill>
                <a:latin typeface="Calibri"/>
                <a:ea typeface="Calibri"/>
                <a:cs typeface="Calibri"/>
                <a:sym typeface="Calibri"/>
              </a:rPr>
              <a:t>No forget gate · No input gate · No cell state — just hₜ carrying memory through time</a:t>
            </a:r>
            <a:endParaRPr sz="1900"/>
          </a:p>
        </p:txBody>
      </p:sp>
      <p:sp>
        <p:nvSpPr>
          <p:cNvPr id="300" name="Google Shape;300;p22"/>
          <p:cNvSpPr txBox="1"/>
          <p:nvPr/>
        </p:nvSpPr>
        <p:spPr>
          <a:xfrm>
            <a:off x="2359675" y="232075"/>
            <a:ext cx="4339200" cy="6351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Font typeface="Arial"/>
              <a:buNone/>
            </a:pPr>
            <a:r>
              <a:rPr lang="en" sz="2600" b="1">
                <a:solidFill>
                  <a:schemeClr val="dk1"/>
                </a:solidFill>
                <a:latin typeface="Calibri"/>
                <a:ea typeface="Calibri"/>
                <a:cs typeface="Calibri"/>
                <a:sym typeface="Calibri"/>
              </a:rPr>
              <a:t>Vanilla RNN (No Gates)</a:t>
            </a:r>
            <a:endParaRPr sz="2600" b="1">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4"/>
        <p:cNvGrpSpPr/>
        <p:nvPr/>
      </p:nvGrpSpPr>
      <p:grpSpPr>
        <a:xfrm>
          <a:off x="0" y="0"/>
          <a:ext cx="0" cy="0"/>
          <a:chOff x="0" y="0"/>
          <a:chExt cx="0" cy="0"/>
        </a:xfrm>
      </p:grpSpPr>
      <p:pic>
        <p:nvPicPr>
          <p:cNvPr id="305" name="Google Shape;305;p23"/>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306" name="Google Shape;306;p23"/>
          <p:cNvSpPr/>
          <p:nvPr/>
        </p:nvSpPr>
        <p:spPr>
          <a:xfrm>
            <a:off x="173110" y="923905"/>
            <a:ext cx="8412600" cy="960000"/>
          </a:xfrm>
          <a:prstGeom prst="rect">
            <a:avLst/>
          </a:prstGeom>
          <a:solidFill>
            <a:schemeClr val="lt1"/>
          </a:solidFill>
          <a:ln w="9525" cap="flat" cmpd="sng">
            <a:solidFill>
              <a:srgbClr val="00B050"/>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3"/>
          <p:cNvSpPr/>
          <p:nvPr/>
        </p:nvSpPr>
        <p:spPr>
          <a:xfrm>
            <a:off x="173110" y="923905"/>
            <a:ext cx="109800" cy="960000"/>
          </a:xfrm>
          <a:prstGeom prst="rect">
            <a:avLst/>
          </a:prstGeom>
          <a:solidFill>
            <a:srgbClr val="00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3"/>
          <p:cNvSpPr/>
          <p:nvPr/>
        </p:nvSpPr>
        <p:spPr>
          <a:xfrm>
            <a:off x="401710" y="978769"/>
            <a:ext cx="36576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897B"/>
              </a:buClr>
              <a:buSzPts val="1300"/>
              <a:buFont typeface="Calibri"/>
              <a:buNone/>
            </a:pPr>
            <a:r>
              <a:rPr lang="en" sz="1800" b="1">
                <a:solidFill>
                  <a:schemeClr val="dk1"/>
                </a:solidFill>
                <a:latin typeface="Calibri"/>
                <a:ea typeface="Calibri"/>
                <a:cs typeface="Calibri"/>
                <a:sym typeface="Calibri"/>
              </a:rPr>
              <a:t>Hidden State Update</a:t>
            </a:r>
            <a:endParaRPr sz="1800">
              <a:solidFill>
                <a:schemeClr val="dk1"/>
              </a:solidFill>
              <a:latin typeface="Calibri"/>
              <a:ea typeface="Calibri"/>
              <a:cs typeface="Calibri"/>
              <a:sym typeface="Calibri"/>
            </a:endParaRPr>
          </a:p>
        </p:txBody>
      </p:sp>
      <p:sp>
        <p:nvSpPr>
          <p:cNvPr id="309" name="Google Shape;309;p23"/>
          <p:cNvSpPr/>
          <p:nvPr/>
        </p:nvSpPr>
        <p:spPr>
          <a:xfrm>
            <a:off x="401710" y="1344529"/>
            <a:ext cx="79554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600"/>
              <a:buFont typeface="Consolas"/>
              <a:buNone/>
            </a:pPr>
            <a:r>
              <a:rPr lang="en" sz="1800">
                <a:solidFill>
                  <a:srgbClr val="0D1B2A"/>
                </a:solidFill>
                <a:latin typeface="Calibri"/>
                <a:ea typeface="Calibri"/>
                <a:cs typeface="Calibri"/>
                <a:sym typeface="Calibri"/>
              </a:rPr>
              <a:t>hₜ = tanh( Wₕ · hₜ₋₁  +  Wₓ · xₜ  +  b )</a:t>
            </a:r>
            <a:endParaRPr sz="1800">
              <a:solidFill>
                <a:srgbClr val="000000"/>
              </a:solidFill>
              <a:latin typeface="Calibri"/>
              <a:ea typeface="Calibri"/>
              <a:cs typeface="Calibri"/>
              <a:sym typeface="Calibri"/>
            </a:endParaRPr>
          </a:p>
        </p:txBody>
      </p:sp>
      <p:sp>
        <p:nvSpPr>
          <p:cNvPr id="310" name="Google Shape;310;p23"/>
          <p:cNvSpPr/>
          <p:nvPr/>
        </p:nvSpPr>
        <p:spPr>
          <a:xfrm>
            <a:off x="173110" y="2039473"/>
            <a:ext cx="8412600" cy="960000"/>
          </a:xfrm>
          <a:prstGeom prst="rect">
            <a:avLst/>
          </a:prstGeom>
          <a:solidFill>
            <a:schemeClr val="lt1"/>
          </a:solidFill>
          <a:ln w="9525" cap="flat" cmpd="sng">
            <a:solidFill>
              <a:srgbClr val="00B050"/>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3"/>
          <p:cNvSpPr/>
          <p:nvPr/>
        </p:nvSpPr>
        <p:spPr>
          <a:xfrm>
            <a:off x="173110" y="2039473"/>
            <a:ext cx="109800" cy="960000"/>
          </a:xfrm>
          <a:prstGeom prst="rect">
            <a:avLst/>
          </a:prstGeom>
          <a:solidFill>
            <a:srgbClr val="1565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3"/>
          <p:cNvSpPr/>
          <p:nvPr/>
        </p:nvSpPr>
        <p:spPr>
          <a:xfrm>
            <a:off x="401710" y="2094337"/>
            <a:ext cx="36576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565C0"/>
              </a:buClr>
              <a:buSzPts val="1300"/>
              <a:buFont typeface="Calibri"/>
              <a:buNone/>
            </a:pPr>
            <a:r>
              <a:rPr lang="en" sz="1800" b="1">
                <a:solidFill>
                  <a:schemeClr val="dk1"/>
                </a:solidFill>
                <a:latin typeface="Calibri"/>
                <a:ea typeface="Calibri"/>
                <a:cs typeface="Calibri"/>
                <a:sym typeface="Calibri"/>
              </a:rPr>
              <a:t>Output Computation</a:t>
            </a:r>
            <a:endParaRPr sz="1800" b="1">
              <a:solidFill>
                <a:schemeClr val="dk1"/>
              </a:solidFill>
              <a:latin typeface="Calibri"/>
              <a:ea typeface="Calibri"/>
              <a:cs typeface="Calibri"/>
              <a:sym typeface="Calibri"/>
            </a:endParaRPr>
          </a:p>
        </p:txBody>
      </p:sp>
      <p:sp>
        <p:nvSpPr>
          <p:cNvPr id="313" name="Google Shape;313;p23"/>
          <p:cNvSpPr/>
          <p:nvPr/>
        </p:nvSpPr>
        <p:spPr>
          <a:xfrm>
            <a:off x="401710" y="2460097"/>
            <a:ext cx="79554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600"/>
              <a:buFont typeface="Consolas"/>
              <a:buNone/>
            </a:pPr>
            <a:r>
              <a:rPr lang="en" sz="1800">
                <a:solidFill>
                  <a:srgbClr val="0D1B2A"/>
                </a:solidFill>
                <a:latin typeface="Calibri"/>
                <a:ea typeface="Calibri"/>
                <a:cs typeface="Calibri"/>
                <a:sym typeface="Calibri"/>
              </a:rPr>
              <a:t>yₜ = g( Wᵧ · hₜ )</a:t>
            </a:r>
            <a:endParaRPr sz="1800">
              <a:solidFill>
                <a:srgbClr val="000000"/>
              </a:solidFill>
              <a:latin typeface="Calibri"/>
              <a:ea typeface="Calibri"/>
              <a:cs typeface="Calibri"/>
              <a:sym typeface="Calibri"/>
            </a:endParaRPr>
          </a:p>
        </p:txBody>
      </p:sp>
      <p:sp>
        <p:nvSpPr>
          <p:cNvPr id="314" name="Google Shape;314;p23"/>
          <p:cNvSpPr/>
          <p:nvPr/>
        </p:nvSpPr>
        <p:spPr>
          <a:xfrm>
            <a:off x="173110" y="3155041"/>
            <a:ext cx="8412600" cy="960000"/>
          </a:xfrm>
          <a:prstGeom prst="rect">
            <a:avLst/>
          </a:prstGeom>
          <a:solidFill>
            <a:schemeClr val="lt1"/>
          </a:solidFill>
          <a:ln w="9525" cap="flat" cmpd="sng">
            <a:solidFill>
              <a:srgbClr val="00B050"/>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3"/>
          <p:cNvSpPr/>
          <p:nvPr/>
        </p:nvSpPr>
        <p:spPr>
          <a:xfrm>
            <a:off x="173110" y="3155041"/>
            <a:ext cx="109800" cy="960000"/>
          </a:xfrm>
          <a:prstGeom prst="rect">
            <a:avLst/>
          </a:prstGeom>
          <a:solidFill>
            <a:srgbClr val="FF7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3"/>
          <p:cNvSpPr/>
          <p:nvPr/>
        </p:nvSpPr>
        <p:spPr>
          <a:xfrm>
            <a:off x="401710" y="3209905"/>
            <a:ext cx="36576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7043"/>
              </a:buClr>
              <a:buSzPts val="1300"/>
              <a:buFont typeface="Calibri"/>
              <a:buNone/>
            </a:pPr>
            <a:r>
              <a:rPr lang="en" sz="1800" b="1">
                <a:solidFill>
                  <a:schemeClr val="dk1"/>
                </a:solidFill>
                <a:latin typeface="Calibri"/>
                <a:ea typeface="Calibri"/>
                <a:cs typeface="Calibri"/>
                <a:sym typeface="Calibri"/>
              </a:rPr>
              <a:t>Loss (Cross-Entropy)</a:t>
            </a:r>
            <a:endParaRPr sz="1800">
              <a:solidFill>
                <a:schemeClr val="dk1"/>
              </a:solidFill>
              <a:latin typeface="Calibri"/>
              <a:ea typeface="Calibri"/>
              <a:cs typeface="Calibri"/>
              <a:sym typeface="Calibri"/>
            </a:endParaRPr>
          </a:p>
        </p:txBody>
      </p:sp>
      <p:sp>
        <p:nvSpPr>
          <p:cNvPr id="317" name="Google Shape;317;p23"/>
          <p:cNvSpPr/>
          <p:nvPr/>
        </p:nvSpPr>
        <p:spPr>
          <a:xfrm>
            <a:off x="401710" y="3575665"/>
            <a:ext cx="79554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600"/>
              <a:buFont typeface="Consolas"/>
              <a:buNone/>
            </a:pPr>
            <a:r>
              <a:rPr lang="en" sz="1800">
                <a:solidFill>
                  <a:srgbClr val="0D1B2A"/>
                </a:solidFill>
                <a:latin typeface="Calibri"/>
                <a:ea typeface="Calibri"/>
                <a:cs typeface="Calibri"/>
                <a:sym typeface="Calibri"/>
              </a:rPr>
              <a:t>L = − Σₜ  log P(yₜ | x₁…xₜ)</a:t>
            </a:r>
            <a:endParaRPr sz="1800">
              <a:solidFill>
                <a:srgbClr val="000000"/>
              </a:solidFill>
              <a:latin typeface="Calibri"/>
              <a:ea typeface="Calibri"/>
              <a:cs typeface="Calibri"/>
              <a:sym typeface="Calibri"/>
            </a:endParaRPr>
          </a:p>
        </p:txBody>
      </p:sp>
      <p:sp>
        <p:nvSpPr>
          <p:cNvPr id="318" name="Google Shape;318;p23"/>
          <p:cNvSpPr/>
          <p:nvPr/>
        </p:nvSpPr>
        <p:spPr>
          <a:xfrm>
            <a:off x="173110" y="4234033"/>
            <a:ext cx="8412600" cy="658500"/>
          </a:xfrm>
          <a:prstGeom prst="rect">
            <a:avLst/>
          </a:prstGeom>
          <a:solidFill>
            <a:schemeClr val="lt1"/>
          </a:solid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3"/>
          <p:cNvSpPr/>
          <p:nvPr/>
        </p:nvSpPr>
        <p:spPr>
          <a:xfrm>
            <a:off x="355990" y="4270609"/>
            <a:ext cx="82296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CD4"/>
              </a:buClr>
              <a:buSzPts val="1200"/>
              <a:buFont typeface="Calibri"/>
              <a:buNone/>
            </a:pPr>
            <a:r>
              <a:rPr lang="en" sz="1800" b="1">
                <a:solidFill>
                  <a:schemeClr val="dk1"/>
                </a:solidFill>
                <a:latin typeface="Calibri"/>
                <a:ea typeface="Calibri"/>
                <a:cs typeface="Calibri"/>
                <a:sym typeface="Calibri"/>
              </a:rPr>
              <a:t>xₜ </a:t>
            </a:r>
            <a:r>
              <a:rPr lang="en" sz="1800">
                <a:solidFill>
                  <a:schemeClr val="dk1"/>
                </a:solidFill>
                <a:latin typeface="Calibri"/>
                <a:ea typeface="Calibri"/>
                <a:cs typeface="Calibri"/>
                <a:sym typeface="Calibri"/>
              </a:rPr>
              <a:t>= input   </a:t>
            </a:r>
            <a:r>
              <a:rPr lang="en" sz="1800" b="1">
                <a:solidFill>
                  <a:schemeClr val="dk1"/>
                </a:solidFill>
                <a:latin typeface="Calibri"/>
                <a:ea typeface="Calibri"/>
                <a:cs typeface="Calibri"/>
                <a:sym typeface="Calibri"/>
              </a:rPr>
              <a:t>hₜ </a:t>
            </a:r>
            <a:r>
              <a:rPr lang="en" sz="1800">
                <a:solidFill>
                  <a:schemeClr val="dk1"/>
                </a:solidFill>
                <a:latin typeface="Calibri"/>
                <a:ea typeface="Calibri"/>
                <a:cs typeface="Calibri"/>
                <a:sym typeface="Calibri"/>
              </a:rPr>
              <a:t>= hidden state   </a:t>
            </a:r>
            <a:r>
              <a:rPr lang="en" sz="1800" b="1">
                <a:solidFill>
                  <a:schemeClr val="dk1"/>
                </a:solidFill>
                <a:latin typeface="Calibri"/>
                <a:ea typeface="Calibri"/>
                <a:cs typeface="Calibri"/>
                <a:sym typeface="Calibri"/>
              </a:rPr>
              <a:t>Wₕ, Wₓ, Wᵧ </a:t>
            </a:r>
            <a:r>
              <a:rPr lang="en" sz="1800">
                <a:solidFill>
                  <a:schemeClr val="dk1"/>
                </a:solidFill>
                <a:latin typeface="Calibri"/>
                <a:ea typeface="Calibri"/>
                <a:cs typeface="Calibri"/>
                <a:sym typeface="Calibri"/>
              </a:rPr>
              <a:t>= learnable weights   </a:t>
            </a:r>
            <a:r>
              <a:rPr lang="en" sz="1800" b="1">
                <a:solidFill>
                  <a:schemeClr val="dk1"/>
                </a:solidFill>
                <a:latin typeface="Calibri"/>
                <a:ea typeface="Calibri"/>
                <a:cs typeface="Calibri"/>
                <a:sym typeface="Calibri"/>
              </a:rPr>
              <a:t>b </a:t>
            </a:r>
            <a:r>
              <a:rPr lang="en" sz="1800">
                <a:solidFill>
                  <a:schemeClr val="dk1"/>
                </a:solidFill>
                <a:latin typeface="Calibri"/>
                <a:ea typeface="Calibri"/>
                <a:cs typeface="Calibri"/>
                <a:sym typeface="Calibri"/>
              </a:rPr>
              <a:t>= bias</a:t>
            </a:r>
            <a:endParaRPr sz="1800">
              <a:solidFill>
                <a:schemeClr val="dk1"/>
              </a:solidFill>
              <a:latin typeface="Calibri"/>
              <a:ea typeface="Calibri"/>
              <a:cs typeface="Calibri"/>
              <a:sym typeface="Calibri"/>
            </a:endParaRPr>
          </a:p>
        </p:txBody>
      </p:sp>
      <p:sp>
        <p:nvSpPr>
          <p:cNvPr id="320" name="Google Shape;320;p23"/>
          <p:cNvSpPr txBox="1"/>
          <p:nvPr/>
        </p:nvSpPr>
        <p:spPr>
          <a:xfrm>
            <a:off x="2854550" y="232075"/>
            <a:ext cx="3738300" cy="635100"/>
          </a:xfrm>
          <a:prstGeom prst="rect">
            <a:avLst/>
          </a:prstGeom>
          <a:noFill/>
          <a:ln>
            <a:noFill/>
          </a:ln>
        </p:spPr>
        <p:txBody>
          <a:bodyPr spcFirstLastPara="1" wrap="square" lIns="91425" tIns="45700" rIns="91425" bIns="45700" anchor="ctr" anchorCtr="0">
            <a:normAutofit fontScale="92500"/>
          </a:bodyPr>
          <a:lstStyle/>
          <a:p>
            <a:pPr marL="0" lvl="0" indent="0" algn="l" rtl="0">
              <a:spcBef>
                <a:spcPts val="0"/>
              </a:spcBef>
              <a:spcAft>
                <a:spcPts val="0"/>
              </a:spcAft>
              <a:buClr>
                <a:schemeClr val="lt1"/>
              </a:buClr>
              <a:buSzPct val="88571"/>
              <a:buFont typeface="Calibri"/>
              <a:buNone/>
            </a:pPr>
            <a:r>
              <a:rPr lang="en" sz="3387" b="1">
                <a:solidFill>
                  <a:schemeClr val="dk1"/>
                </a:solidFill>
                <a:latin typeface="Calibri"/>
                <a:ea typeface="Calibri"/>
                <a:cs typeface="Calibri"/>
                <a:sym typeface="Calibri"/>
              </a:rPr>
              <a:t>RNN — Mathematics</a:t>
            </a:r>
            <a:endParaRPr sz="2987" b="1">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4"/>
        <p:cNvGrpSpPr/>
        <p:nvPr/>
      </p:nvGrpSpPr>
      <p:grpSpPr>
        <a:xfrm>
          <a:off x="0" y="0"/>
          <a:ext cx="0" cy="0"/>
          <a:chOff x="0" y="0"/>
          <a:chExt cx="0" cy="0"/>
        </a:xfrm>
      </p:grpSpPr>
      <p:pic>
        <p:nvPicPr>
          <p:cNvPr id="325" name="Google Shape;325;p24"/>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326" name="Google Shape;326;p24"/>
          <p:cNvSpPr txBox="1"/>
          <p:nvPr/>
        </p:nvSpPr>
        <p:spPr>
          <a:xfrm>
            <a:off x="1502400" y="232075"/>
            <a:ext cx="5788500" cy="6351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1430"/>
              <a:buFont typeface="Calibri"/>
              <a:buNone/>
            </a:pPr>
            <a:r>
              <a:rPr lang="en" sz="2630" b="1" i="0" u="none" strike="noStrike" cap="none">
                <a:solidFill>
                  <a:schemeClr val="dk1"/>
                </a:solidFill>
                <a:latin typeface="Calibri"/>
                <a:ea typeface="Calibri"/>
                <a:cs typeface="Calibri"/>
                <a:sym typeface="Calibri"/>
              </a:rPr>
              <a:t>Training RNNs &amp; The Gradient Problem</a:t>
            </a:r>
            <a:endParaRPr sz="2630" b="1" i="0" u="none" strike="noStrike" cap="none">
              <a:solidFill>
                <a:schemeClr val="dk1"/>
              </a:solidFill>
              <a:latin typeface="Calibri"/>
              <a:ea typeface="Calibri"/>
              <a:cs typeface="Calibri"/>
              <a:sym typeface="Calibri"/>
            </a:endParaRPr>
          </a:p>
        </p:txBody>
      </p:sp>
      <p:sp>
        <p:nvSpPr>
          <p:cNvPr id="327" name="Google Shape;327;p24"/>
          <p:cNvSpPr/>
          <p:nvPr/>
        </p:nvSpPr>
        <p:spPr>
          <a:xfrm>
            <a:off x="365760" y="1005840"/>
            <a:ext cx="4023300" cy="1920300"/>
          </a:xfrm>
          <a:prstGeom prst="rect">
            <a:avLst/>
          </a:prstGeom>
          <a:solidFill>
            <a:schemeClr val="lt1"/>
          </a:solidFill>
          <a:ln w="9525" cap="flat" cmpd="sng">
            <a:solidFill>
              <a:srgbClr val="94D2BD"/>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24"/>
          <p:cNvSpPr/>
          <p:nvPr/>
        </p:nvSpPr>
        <p:spPr>
          <a:xfrm>
            <a:off x="502920" y="1097280"/>
            <a:ext cx="37491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7043"/>
              </a:buClr>
              <a:buSzPts val="1400"/>
              <a:buFont typeface="Calibri"/>
              <a:buNone/>
            </a:pPr>
            <a:r>
              <a:rPr lang="en" sz="1400" b="1" i="0" u="none" strike="noStrike" cap="none">
                <a:solidFill>
                  <a:schemeClr val="dk1"/>
                </a:solidFill>
                <a:latin typeface="Calibri"/>
                <a:ea typeface="Calibri"/>
                <a:cs typeface="Calibri"/>
                <a:sym typeface="Calibri"/>
              </a:rPr>
              <a:t>Backprop Through Time (BPTT)</a:t>
            </a:r>
            <a:endParaRPr sz="1400" b="0" i="0" u="none" strike="noStrike" cap="none">
              <a:solidFill>
                <a:schemeClr val="dk1"/>
              </a:solidFill>
              <a:latin typeface="Calibri"/>
              <a:ea typeface="Calibri"/>
              <a:cs typeface="Calibri"/>
              <a:sym typeface="Calibri"/>
            </a:endParaRPr>
          </a:p>
        </p:txBody>
      </p:sp>
      <p:sp>
        <p:nvSpPr>
          <p:cNvPr id="329" name="Google Shape;329;p24"/>
          <p:cNvSpPr/>
          <p:nvPr/>
        </p:nvSpPr>
        <p:spPr>
          <a:xfrm>
            <a:off x="502920" y="1554480"/>
            <a:ext cx="3749100" cy="11886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Unfold RNN across T time steps</a:t>
            </a:r>
            <a:endParaRPr sz="12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Compute gradients at each step</a:t>
            </a:r>
            <a:endParaRPr sz="12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Sum gradients and update weights</a:t>
            </a:r>
            <a:endParaRPr sz="12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Gradient = chain of partial derivatives</a:t>
            </a:r>
            <a:endParaRPr sz="1200" b="0" i="0" u="none" strike="noStrike" cap="none">
              <a:solidFill>
                <a:schemeClr val="dk1"/>
              </a:solidFill>
              <a:latin typeface="Calibri"/>
              <a:ea typeface="Calibri"/>
              <a:cs typeface="Calibri"/>
              <a:sym typeface="Calibri"/>
            </a:endParaRPr>
          </a:p>
        </p:txBody>
      </p:sp>
      <p:pic>
        <p:nvPicPr>
          <p:cNvPr id="330" name="Google Shape;330;p24"/>
          <p:cNvPicPr preferRelativeResize="0"/>
          <p:nvPr/>
        </p:nvPicPr>
        <p:blipFill rotWithShape="1">
          <a:blip r:embed="rId5">
            <a:alphaModFix/>
          </a:blip>
          <a:srcRect l="19993" r="20131"/>
          <a:stretch/>
        </p:blipFill>
        <p:spPr>
          <a:xfrm>
            <a:off x="396300" y="3119275"/>
            <a:ext cx="2942525" cy="1457850"/>
          </a:xfrm>
          <a:prstGeom prst="rect">
            <a:avLst/>
          </a:prstGeom>
          <a:noFill/>
          <a:ln>
            <a:noFill/>
          </a:ln>
        </p:spPr>
      </p:pic>
      <p:sp>
        <p:nvSpPr>
          <p:cNvPr id="331" name="Google Shape;331;p24"/>
          <p:cNvSpPr/>
          <p:nvPr/>
        </p:nvSpPr>
        <p:spPr>
          <a:xfrm>
            <a:off x="4709160" y="1005840"/>
            <a:ext cx="4114800" cy="1143000"/>
          </a:xfrm>
          <a:prstGeom prst="rect">
            <a:avLst/>
          </a:prstGeom>
          <a:solidFill>
            <a:srgbClr val="F0FAFA"/>
          </a:solidFill>
          <a:ln w="9525" cap="flat" cmpd="sng">
            <a:solidFill>
              <a:srgbClr val="D1E8E8"/>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 name="Google Shape;332;p24"/>
          <p:cNvSpPr/>
          <p:nvPr/>
        </p:nvSpPr>
        <p:spPr>
          <a:xfrm>
            <a:off x="4709160" y="1005840"/>
            <a:ext cx="109800" cy="1143000"/>
          </a:xfrm>
          <a:prstGeom prst="rect">
            <a:avLst/>
          </a:prstGeom>
          <a:solidFill>
            <a:srgbClr val="02809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3" name="Google Shape;333;p24"/>
          <p:cNvSpPr txBox="1"/>
          <p:nvPr/>
        </p:nvSpPr>
        <p:spPr>
          <a:xfrm>
            <a:off x="4892040" y="1097280"/>
            <a:ext cx="3749100" cy="492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300" b="1" i="0" u="none" strike="noStrike" cap="none">
                <a:solidFill>
                  <a:srgbClr val="1C3144"/>
                </a:solidFill>
                <a:latin typeface="Arial"/>
                <a:ea typeface="Arial"/>
                <a:cs typeface="Arial"/>
                <a:sym typeface="Arial"/>
              </a:rPr>
              <a:t>Step 1 — Compute gradients at every time step</a:t>
            </a:r>
            <a:endParaRPr/>
          </a:p>
        </p:txBody>
      </p:sp>
      <p:sp>
        <p:nvSpPr>
          <p:cNvPr id="334" name="Google Shape;334;p24"/>
          <p:cNvSpPr txBox="1"/>
          <p:nvPr/>
        </p:nvSpPr>
        <p:spPr>
          <a:xfrm>
            <a:off x="4892040" y="1426464"/>
            <a:ext cx="37491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200" b="0" i="0" u="none" strike="noStrike" cap="none">
                <a:solidFill>
                  <a:srgbClr val="2D4A5A"/>
                </a:solidFill>
                <a:latin typeface="Arial"/>
                <a:ea typeface="Arial"/>
                <a:cs typeface="Arial"/>
                <a:sym typeface="Arial"/>
              </a:rPr>
              <a:t>At each time step t, backpropagate through the unrolled RNN:</a:t>
            </a:r>
            <a:endParaRPr/>
          </a:p>
          <a:p>
            <a:pPr marL="0" marR="0" lvl="0" indent="0" algn="l" rtl="0">
              <a:lnSpc>
                <a:spcPct val="100000"/>
              </a:lnSpc>
              <a:spcBef>
                <a:spcPts val="0"/>
              </a:spcBef>
              <a:spcAft>
                <a:spcPts val="0"/>
              </a:spcAft>
              <a:buNone/>
            </a:pPr>
            <a:r>
              <a:rPr lang="en" sz="1200" b="0" i="0" u="none" strike="noStrike" cap="none">
                <a:solidFill>
                  <a:srgbClr val="2D4A5A"/>
                </a:solidFill>
                <a:latin typeface="Arial"/>
                <a:ea typeface="Arial"/>
                <a:cs typeface="Arial"/>
                <a:sym typeface="Arial"/>
              </a:rPr>
              <a:t>      ∂Lt / ∂Wh</a:t>
            </a:r>
            <a:endParaRPr/>
          </a:p>
        </p:txBody>
      </p:sp>
      <p:sp>
        <p:nvSpPr>
          <p:cNvPr id="335" name="Google Shape;335;p24"/>
          <p:cNvSpPr/>
          <p:nvPr/>
        </p:nvSpPr>
        <p:spPr>
          <a:xfrm>
            <a:off x="4709160" y="2286000"/>
            <a:ext cx="4114800" cy="1371600"/>
          </a:xfrm>
          <a:prstGeom prst="rect">
            <a:avLst/>
          </a:prstGeom>
          <a:solidFill>
            <a:srgbClr val="F0FAFA"/>
          </a:solidFill>
          <a:ln w="9525" cap="flat" cmpd="sng">
            <a:solidFill>
              <a:srgbClr val="D1E8E8"/>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 name="Google Shape;336;p24"/>
          <p:cNvSpPr/>
          <p:nvPr/>
        </p:nvSpPr>
        <p:spPr>
          <a:xfrm>
            <a:off x="4709160" y="2286000"/>
            <a:ext cx="109800" cy="1371600"/>
          </a:xfrm>
          <a:prstGeom prst="rect">
            <a:avLst/>
          </a:prstGeom>
          <a:solidFill>
            <a:srgbClr val="02809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 name="Google Shape;337;p24"/>
          <p:cNvSpPr txBox="1"/>
          <p:nvPr/>
        </p:nvSpPr>
        <p:spPr>
          <a:xfrm>
            <a:off x="4892040" y="2377440"/>
            <a:ext cx="37491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300" b="1" i="0" u="none" strike="noStrike" cap="none">
                <a:solidFill>
                  <a:srgbClr val="1C3144"/>
                </a:solidFill>
                <a:latin typeface="Arial"/>
                <a:ea typeface="Arial"/>
                <a:cs typeface="Arial"/>
                <a:sym typeface="Arial"/>
              </a:rPr>
              <a:t>Step 2 — Accumulate across all time steps</a:t>
            </a:r>
            <a:endParaRPr/>
          </a:p>
        </p:txBody>
      </p:sp>
      <p:sp>
        <p:nvSpPr>
          <p:cNvPr id="338" name="Google Shape;338;p24"/>
          <p:cNvSpPr txBox="1"/>
          <p:nvPr/>
        </p:nvSpPr>
        <p:spPr>
          <a:xfrm>
            <a:off x="4892040" y="2706624"/>
            <a:ext cx="37491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200" b="0" i="0" u="none" strike="noStrike" cap="none">
                <a:solidFill>
                  <a:srgbClr val="2D4A5A"/>
                </a:solidFill>
                <a:latin typeface="Arial"/>
                <a:ea typeface="Arial"/>
                <a:cs typeface="Arial"/>
                <a:sym typeface="Arial"/>
              </a:rPr>
              <a:t>∂L / ∂Wh  =  Σt  ∂Lt / ∂Wh</a:t>
            </a:r>
            <a:endParaRPr/>
          </a:p>
          <a:p>
            <a:pPr marL="0" marR="0" lvl="0" indent="0" algn="l" rtl="0">
              <a:lnSpc>
                <a:spcPct val="100000"/>
              </a:lnSpc>
              <a:spcBef>
                <a:spcPts val="0"/>
              </a:spcBef>
              <a:spcAft>
                <a:spcPts val="0"/>
              </a:spcAft>
              <a:buNone/>
            </a:pPr>
            <a:endParaRPr sz="1200" b="0" i="0" u="none" strike="noStrike" cap="none">
              <a:solidFill>
                <a:srgbClr val="2D4A5A"/>
              </a:solidFill>
              <a:latin typeface="Arial"/>
              <a:ea typeface="Arial"/>
              <a:cs typeface="Arial"/>
              <a:sym typeface="Arial"/>
            </a:endParaRPr>
          </a:p>
          <a:p>
            <a:pPr marL="0" marR="0" lvl="0" indent="0" algn="l" rtl="0">
              <a:lnSpc>
                <a:spcPct val="100000"/>
              </a:lnSpc>
              <a:spcBef>
                <a:spcPts val="0"/>
              </a:spcBef>
              <a:spcAft>
                <a:spcPts val="0"/>
              </a:spcAft>
              <a:buNone/>
            </a:pPr>
            <a:r>
              <a:rPr lang="en" sz="1200" b="0" i="0" u="none" strike="noStrike" cap="none">
                <a:solidFill>
                  <a:srgbClr val="2D4A5A"/>
                </a:solidFill>
                <a:latin typeface="Arial"/>
                <a:ea typeface="Arial"/>
                <a:cs typeface="Arial"/>
                <a:sym typeface="Arial"/>
              </a:rPr>
              <a:t>Sum the gradient contributions from every time step.</a:t>
            </a:r>
            <a:endParaRPr/>
          </a:p>
        </p:txBody>
      </p:sp>
      <p:sp>
        <p:nvSpPr>
          <p:cNvPr id="339" name="Google Shape;339;p24"/>
          <p:cNvSpPr/>
          <p:nvPr/>
        </p:nvSpPr>
        <p:spPr>
          <a:xfrm>
            <a:off x="4709160" y="3794760"/>
            <a:ext cx="4114800" cy="1005900"/>
          </a:xfrm>
          <a:prstGeom prst="rect">
            <a:avLst/>
          </a:prstGeom>
          <a:solidFill>
            <a:srgbClr val="F0FAFA"/>
          </a:solidFill>
          <a:ln w="9525" cap="flat" cmpd="sng">
            <a:solidFill>
              <a:srgbClr val="D1E8E8"/>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0" name="Google Shape;340;p24"/>
          <p:cNvSpPr/>
          <p:nvPr/>
        </p:nvSpPr>
        <p:spPr>
          <a:xfrm>
            <a:off x="4709160" y="3794760"/>
            <a:ext cx="109800" cy="1005900"/>
          </a:xfrm>
          <a:prstGeom prst="rect">
            <a:avLst/>
          </a:prstGeom>
          <a:solidFill>
            <a:srgbClr val="02809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1" name="Google Shape;341;p24"/>
          <p:cNvSpPr txBox="1"/>
          <p:nvPr/>
        </p:nvSpPr>
        <p:spPr>
          <a:xfrm>
            <a:off x="4892040" y="3886200"/>
            <a:ext cx="37491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300" b="1" i="0" u="none" strike="noStrike" cap="none">
                <a:solidFill>
                  <a:srgbClr val="1C3144"/>
                </a:solidFill>
                <a:latin typeface="Arial"/>
                <a:ea typeface="Arial"/>
                <a:cs typeface="Arial"/>
                <a:sym typeface="Arial"/>
              </a:rPr>
              <a:t>Step 3 — Update Whh once</a:t>
            </a:r>
            <a:endParaRPr/>
          </a:p>
        </p:txBody>
      </p:sp>
      <p:sp>
        <p:nvSpPr>
          <p:cNvPr id="342" name="Google Shape;342;p24"/>
          <p:cNvSpPr txBox="1"/>
          <p:nvPr/>
        </p:nvSpPr>
        <p:spPr>
          <a:xfrm>
            <a:off x="4892040" y="4215384"/>
            <a:ext cx="37491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200" b="0" i="0" u="none" strike="noStrike" cap="none">
                <a:solidFill>
                  <a:srgbClr val="2D4A5A"/>
                </a:solidFill>
                <a:latin typeface="Arial"/>
                <a:ea typeface="Arial"/>
                <a:cs typeface="Arial"/>
                <a:sym typeface="Arial"/>
              </a:rPr>
              <a:t>Apply a single weight update using the accumulated gradient.</a:t>
            </a:r>
            <a:endParaRPr/>
          </a:p>
          <a:p>
            <a:pPr marL="0" marR="0" lvl="0" indent="0" algn="l" rtl="0">
              <a:lnSpc>
                <a:spcPct val="100000"/>
              </a:lnSpc>
              <a:spcBef>
                <a:spcPts val="0"/>
              </a:spcBef>
              <a:spcAft>
                <a:spcPts val="0"/>
              </a:spcAft>
              <a:buNone/>
            </a:pPr>
            <a:r>
              <a:rPr lang="en" sz="1200" b="0" i="0" u="none" strike="noStrike" cap="none">
                <a:solidFill>
                  <a:srgbClr val="2D4A5A"/>
                </a:solidFill>
                <a:latin typeface="Arial"/>
                <a:ea typeface="Arial"/>
                <a:cs typeface="Arial"/>
                <a:sym typeface="Arial"/>
              </a:rPr>
              <a:t>Wh  ←  Wh  −  η · ∂L/∂Wh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47"/>
        <p:cNvGrpSpPr/>
        <p:nvPr/>
      </p:nvGrpSpPr>
      <p:grpSpPr>
        <a:xfrm>
          <a:off x="0" y="0"/>
          <a:ext cx="0" cy="0"/>
          <a:chOff x="0" y="0"/>
          <a:chExt cx="0" cy="0"/>
        </a:xfrm>
      </p:grpSpPr>
      <p:sp>
        <p:nvSpPr>
          <p:cNvPr id="348" name="Google Shape;348;p25"/>
          <p:cNvSpPr/>
          <p:nvPr/>
        </p:nvSpPr>
        <p:spPr>
          <a:xfrm>
            <a:off x="274320" y="73152"/>
            <a:ext cx="8595300" cy="4023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2600"/>
              <a:buFont typeface="Calibri"/>
              <a:buNone/>
            </a:pPr>
            <a:r>
              <a:rPr lang="en" sz="2600" b="1" i="0" u="none" strike="noStrike" cap="none">
                <a:solidFill>
                  <a:srgbClr val="1E293B"/>
                </a:solidFill>
                <a:latin typeface="Calibri"/>
                <a:ea typeface="Calibri"/>
                <a:cs typeface="Calibri"/>
                <a:sym typeface="Calibri"/>
              </a:rPr>
              <a:t>RNN in Action</a:t>
            </a:r>
            <a:endParaRPr sz="2600" b="0" i="0" u="none" strike="noStrike" cap="none">
              <a:solidFill>
                <a:schemeClr val="dk1"/>
              </a:solidFill>
              <a:latin typeface="Calibri"/>
              <a:ea typeface="Calibri"/>
              <a:cs typeface="Calibri"/>
              <a:sym typeface="Calibri"/>
            </a:endParaRPr>
          </a:p>
        </p:txBody>
      </p:sp>
      <p:sp>
        <p:nvSpPr>
          <p:cNvPr id="349" name="Google Shape;349;p25"/>
          <p:cNvSpPr/>
          <p:nvPr/>
        </p:nvSpPr>
        <p:spPr>
          <a:xfrm>
            <a:off x="274320" y="457200"/>
            <a:ext cx="8595300" cy="237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50"/>
              <a:buFont typeface="Calibri"/>
              <a:buNone/>
            </a:pPr>
            <a:r>
              <a:rPr lang="en" sz="1050" b="0" i="1" u="none" strike="noStrike" cap="none">
                <a:solidFill>
                  <a:srgbClr val="64748B"/>
                </a:solidFill>
                <a:latin typeface="Calibri"/>
                <a:ea typeface="Calibri"/>
                <a:cs typeface="Calibri"/>
                <a:sym typeface="Calibri"/>
              </a:rPr>
              <a:t>Example: predicting next word in  "The  cat  sat  on  the  ___"</a:t>
            </a:r>
            <a:endParaRPr sz="1050" b="0" i="0" u="none" strike="noStrike" cap="none">
              <a:solidFill>
                <a:schemeClr val="dk1"/>
              </a:solidFill>
              <a:latin typeface="Calibri"/>
              <a:ea typeface="Calibri"/>
              <a:cs typeface="Calibri"/>
              <a:sym typeface="Calibri"/>
            </a:endParaRPr>
          </a:p>
        </p:txBody>
      </p:sp>
      <p:sp>
        <p:nvSpPr>
          <p:cNvPr id="350" name="Google Shape;350;p25"/>
          <p:cNvSpPr/>
          <p:nvPr/>
        </p:nvSpPr>
        <p:spPr>
          <a:xfrm>
            <a:off x="402336" y="566928"/>
            <a:ext cx="19203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onsolas"/>
              <a:buNone/>
            </a:pPr>
            <a:r>
              <a:rPr lang="en" sz="900" b="0" i="0" u="none" strike="noStrike" cap="none">
                <a:solidFill>
                  <a:srgbClr val="94A3B8"/>
                </a:solidFill>
                <a:latin typeface="Consolas"/>
                <a:ea typeface="Consolas"/>
                <a:cs typeface="Consolas"/>
                <a:sym typeface="Consolas"/>
              </a:rPr>
              <a:t>t = 1</a:t>
            </a:r>
            <a:endParaRPr sz="900" b="0" i="0" u="none" strike="noStrike" cap="none">
              <a:solidFill>
                <a:schemeClr val="dk1"/>
              </a:solidFill>
              <a:latin typeface="Calibri"/>
              <a:ea typeface="Calibri"/>
              <a:cs typeface="Calibri"/>
              <a:sym typeface="Calibri"/>
            </a:endParaRPr>
          </a:p>
        </p:txBody>
      </p:sp>
      <p:sp>
        <p:nvSpPr>
          <p:cNvPr id="351" name="Google Shape;351;p25"/>
          <p:cNvSpPr/>
          <p:nvPr/>
        </p:nvSpPr>
        <p:spPr>
          <a:xfrm>
            <a:off x="402336" y="804672"/>
            <a:ext cx="1920300" cy="713100"/>
          </a:xfrm>
          <a:prstGeom prst="rect">
            <a:avLst/>
          </a:prstGeom>
          <a:solidFill>
            <a:srgbClr val="DBEAFE"/>
          </a:solidFill>
          <a:ln w="16500" cap="flat" cmpd="sng">
            <a:solidFill>
              <a:srgbClr val="3B82F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5"/>
          <p:cNvSpPr/>
          <p:nvPr/>
        </p:nvSpPr>
        <p:spPr>
          <a:xfrm>
            <a:off x="402336" y="868680"/>
            <a:ext cx="192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4ED8"/>
              </a:buClr>
              <a:buSzPts val="1100"/>
              <a:buFont typeface="Calibri"/>
              <a:buNone/>
            </a:pPr>
            <a:r>
              <a:rPr lang="en" sz="1100" b="1" i="0" u="none" strike="noStrike" cap="none">
                <a:solidFill>
                  <a:srgbClr val="1D4ED8"/>
                </a:solidFill>
                <a:latin typeface="Calibri"/>
                <a:ea typeface="Calibri"/>
                <a:cs typeface="Calibri"/>
                <a:sym typeface="Calibri"/>
              </a:rPr>
              <a:t>xₜ = x₁</a:t>
            </a:r>
            <a:endParaRPr sz="1100" b="0" i="0" u="none" strike="noStrike" cap="none">
              <a:solidFill>
                <a:schemeClr val="dk1"/>
              </a:solidFill>
              <a:latin typeface="Calibri"/>
              <a:ea typeface="Calibri"/>
              <a:cs typeface="Calibri"/>
              <a:sym typeface="Calibri"/>
            </a:endParaRPr>
          </a:p>
        </p:txBody>
      </p:sp>
      <p:sp>
        <p:nvSpPr>
          <p:cNvPr id="353" name="Google Shape;353;p25"/>
          <p:cNvSpPr/>
          <p:nvPr/>
        </p:nvSpPr>
        <p:spPr>
          <a:xfrm>
            <a:off x="457200" y="1152144"/>
            <a:ext cx="18105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B82F6"/>
              </a:buClr>
              <a:buSzPts val="850"/>
              <a:buFont typeface="Consolas"/>
              <a:buNone/>
            </a:pPr>
            <a:r>
              <a:rPr lang="en" sz="850" b="0" i="0" u="none" strike="noStrike" cap="none">
                <a:solidFill>
                  <a:srgbClr val="3B82F6"/>
                </a:solidFill>
                <a:latin typeface="Consolas"/>
                <a:ea typeface="Consolas"/>
                <a:cs typeface="Consolas"/>
                <a:sym typeface="Consolas"/>
              </a:rPr>
              <a:t>input: "The"</a:t>
            </a:r>
            <a:endParaRPr sz="850" b="0" i="0" u="none" strike="noStrike" cap="none">
              <a:solidFill>
                <a:schemeClr val="dk1"/>
              </a:solidFill>
              <a:latin typeface="Calibri"/>
              <a:ea typeface="Calibri"/>
              <a:cs typeface="Calibri"/>
              <a:sym typeface="Calibri"/>
            </a:endParaRPr>
          </a:p>
        </p:txBody>
      </p:sp>
      <p:cxnSp>
        <p:nvCxnSpPr>
          <p:cNvPr id="354" name="Google Shape;354;p25"/>
          <p:cNvCxnSpPr/>
          <p:nvPr/>
        </p:nvCxnSpPr>
        <p:spPr>
          <a:xfrm>
            <a:off x="1362456" y="1536192"/>
            <a:ext cx="0" cy="164700"/>
          </a:xfrm>
          <a:prstGeom prst="straightConnector1">
            <a:avLst/>
          </a:prstGeom>
          <a:noFill/>
          <a:ln w="16500" cap="flat" cmpd="sng">
            <a:solidFill>
              <a:srgbClr val="94A3B8"/>
            </a:solidFill>
            <a:prstDash val="solid"/>
            <a:round/>
            <a:headEnd type="none" w="sm" len="sm"/>
            <a:tailEnd type="triangle" w="med" len="med"/>
          </a:ln>
        </p:spPr>
      </p:cxnSp>
      <p:sp>
        <p:nvSpPr>
          <p:cNvPr id="355" name="Google Shape;355;p25"/>
          <p:cNvSpPr/>
          <p:nvPr/>
        </p:nvSpPr>
        <p:spPr>
          <a:xfrm>
            <a:off x="402336" y="1719072"/>
            <a:ext cx="1920300" cy="713100"/>
          </a:xfrm>
          <a:prstGeom prst="rect">
            <a:avLst/>
          </a:prstGeom>
          <a:solidFill>
            <a:srgbClr val="DCFCE7"/>
          </a:solidFill>
          <a:ln w="165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5"/>
          <p:cNvSpPr/>
          <p:nvPr/>
        </p:nvSpPr>
        <p:spPr>
          <a:xfrm>
            <a:off x="402336" y="1783080"/>
            <a:ext cx="192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5803D"/>
              </a:buClr>
              <a:buSzPts val="1100"/>
              <a:buFont typeface="Calibri"/>
              <a:buNone/>
            </a:pPr>
            <a:r>
              <a:rPr lang="en" sz="1100" b="1" i="0" u="none" strike="noStrike" cap="none">
                <a:solidFill>
                  <a:srgbClr val="15803D"/>
                </a:solidFill>
                <a:latin typeface="Calibri"/>
                <a:ea typeface="Calibri"/>
                <a:cs typeface="Calibri"/>
                <a:sym typeface="Calibri"/>
              </a:rPr>
              <a:t>hₜ = h₁</a:t>
            </a:r>
            <a:endParaRPr sz="1100" b="0" i="0" u="none" strike="noStrike" cap="none">
              <a:solidFill>
                <a:schemeClr val="dk1"/>
              </a:solidFill>
              <a:latin typeface="Calibri"/>
              <a:ea typeface="Calibri"/>
              <a:cs typeface="Calibri"/>
              <a:sym typeface="Calibri"/>
            </a:endParaRPr>
          </a:p>
        </p:txBody>
      </p:sp>
      <p:sp>
        <p:nvSpPr>
          <p:cNvPr id="357" name="Google Shape;357;p25"/>
          <p:cNvSpPr/>
          <p:nvPr/>
        </p:nvSpPr>
        <p:spPr>
          <a:xfrm>
            <a:off x="457200" y="2066544"/>
            <a:ext cx="18105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A34A"/>
              </a:buClr>
              <a:buSzPts val="850"/>
              <a:buFont typeface="Consolas"/>
              <a:buNone/>
            </a:pPr>
            <a:r>
              <a:rPr lang="en" sz="850" b="0" i="0" u="none" strike="noStrike" cap="none">
                <a:solidFill>
                  <a:srgbClr val="16A34A"/>
                </a:solidFill>
                <a:latin typeface="Consolas"/>
                <a:ea typeface="Consolas"/>
                <a:cs typeface="Consolas"/>
                <a:sym typeface="Consolas"/>
              </a:rPr>
              <a:t>tanh(Wₕhₜ₋₁ + Wₓxₜ + b)</a:t>
            </a:r>
            <a:endParaRPr sz="850" b="0" i="0" u="none" strike="noStrike" cap="none">
              <a:solidFill>
                <a:schemeClr val="dk1"/>
              </a:solidFill>
              <a:latin typeface="Calibri"/>
              <a:ea typeface="Calibri"/>
              <a:cs typeface="Calibri"/>
              <a:sym typeface="Calibri"/>
            </a:endParaRPr>
          </a:p>
        </p:txBody>
      </p:sp>
      <p:cxnSp>
        <p:nvCxnSpPr>
          <p:cNvPr id="358" name="Google Shape;358;p25"/>
          <p:cNvCxnSpPr/>
          <p:nvPr/>
        </p:nvCxnSpPr>
        <p:spPr>
          <a:xfrm>
            <a:off x="1362456" y="2450592"/>
            <a:ext cx="0" cy="164700"/>
          </a:xfrm>
          <a:prstGeom prst="straightConnector1">
            <a:avLst/>
          </a:prstGeom>
          <a:noFill/>
          <a:ln w="16500" cap="flat" cmpd="sng">
            <a:solidFill>
              <a:srgbClr val="94A3B8"/>
            </a:solidFill>
            <a:prstDash val="solid"/>
            <a:round/>
            <a:headEnd type="none" w="sm" len="sm"/>
            <a:tailEnd type="triangle" w="med" len="med"/>
          </a:ln>
        </p:spPr>
      </p:cxnSp>
      <p:sp>
        <p:nvSpPr>
          <p:cNvPr id="359" name="Google Shape;359;p25"/>
          <p:cNvSpPr/>
          <p:nvPr/>
        </p:nvSpPr>
        <p:spPr>
          <a:xfrm>
            <a:off x="402336" y="2633472"/>
            <a:ext cx="1920300" cy="713100"/>
          </a:xfrm>
          <a:prstGeom prst="rect">
            <a:avLst/>
          </a:prstGeom>
          <a:solidFill>
            <a:srgbClr val="F3E8FF"/>
          </a:solidFill>
          <a:ln w="16500" cap="flat" cmpd="sng">
            <a:solidFill>
              <a:srgbClr val="9333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5"/>
          <p:cNvSpPr/>
          <p:nvPr/>
        </p:nvSpPr>
        <p:spPr>
          <a:xfrm>
            <a:off x="402336" y="2697480"/>
            <a:ext cx="192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E22CE"/>
              </a:buClr>
              <a:buSzPts val="1100"/>
              <a:buFont typeface="Calibri"/>
              <a:buNone/>
            </a:pPr>
            <a:r>
              <a:rPr lang="en" sz="1100" b="1" i="0" u="none" strike="noStrike" cap="none">
                <a:solidFill>
                  <a:srgbClr val="7E22CE"/>
                </a:solidFill>
                <a:latin typeface="Calibri"/>
                <a:ea typeface="Calibri"/>
                <a:cs typeface="Calibri"/>
                <a:sym typeface="Calibri"/>
              </a:rPr>
              <a:t>ŷₜ = g(Wᵧhₜ)</a:t>
            </a:r>
            <a:endParaRPr sz="1100" b="0" i="0" u="none" strike="noStrike" cap="none">
              <a:solidFill>
                <a:schemeClr val="dk1"/>
              </a:solidFill>
              <a:latin typeface="Calibri"/>
              <a:ea typeface="Calibri"/>
              <a:cs typeface="Calibri"/>
              <a:sym typeface="Calibri"/>
            </a:endParaRPr>
          </a:p>
        </p:txBody>
      </p:sp>
      <p:sp>
        <p:nvSpPr>
          <p:cNvPr id="361" name="Google Shape;361;p25"/>
          <p:cNvSpPr/>
          <p:nvPr/>
        </p:nvSpPr>
        <p:spPr>
          <a:xfrm>
            <a:off x="457200" y="2980944"/>
            <a:ext cx="18105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333EA"/>
              </a:buClr>
              <a:buSzPts val="850"/>
              <a:buFont typeface="Consolas"/>
              <a:buNone/>
            </a:pPr>
            <a:r>
              <a:rPr lang="en" sz="850" b="0" i="0" u="none" strike="noStrike" cap="none">
                <a:solidFill>
                  <a:srgbClr val="9333EA"/>
                </a:solidFill>
                <a:latin typeface="Consolas"/>
                <a:ea typeface="Consolas"/>
                <a:cs typeface="Consolas"/>
                <a:sym typeface="Consolas"/>
              </a:rPr>
              <a:t>predicts: "cat"</a:t>
            </a:r>
            <a:endParaRPr sz="850" b="0" i="0" u="none" strike="noStrike" cap="none">
              <a:solidFill>
                <a:schemeClr val="dk1"/>
              </a:solidFill>
              <a:latin typeface="Calibri"/>
              <a:ea typeface="Calibri"/>
              <a:cs typeface="Calibri"/>
              <a:sym typeface="Calibri"/>
            </a:endParaRPr>
          </a:p>
        </p:txBody>
      </p:sp>
      <p:cxnSp>
        <p:nvCxnSpPr>
          <p:cNvPr id="362" name="Google Shape;362;p25"/>
          <p:cNvCxnSpPr/>
          <p:nvPr/>
        </p:nvCxnSpPr>
        <p:spPr>
          <a:xfrm>
            <a:off x="2340864" y="2075688"/>
            <a:ext cx="183000" cy="0"/>
          </a:xfrm>
          <a:prstGeom prst="straightConnector1">
            <a:avLst/>
          </a:prstGeom>
          <a:noFill/>
          <a:ln w="17775" cap="flat" cmpd="sng">
            <a:solidFill>
              <a:srgbClr val="16A34A"/>
            </a:solidFill>
            <a:prstDash val="dash"/>
            <a:round/>
            <a:headEnd type="none" w="sm" len="sm"/>
            <a:tailEnd type="triangle" w="med" len="med"/>
          </a:ln>
        </p:spPr>
      </p:cxnSp>
      <p:sp>
        <p:nvSpPr>
          <p:cNvPr id="363" name="Google Shape;363;p25"/>
          <p:cNvSpPr/>
          <p:nvPr/>
        </p:nvSpPr>
        <p:spPr>
          <a:xfrm>
            <a:off x="2340864" y="1874520"/>
            <a:ext cx="1830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A34A"/>
              </a:buClr>
              <a:buSzPts val="800"/>
              <a:buFont typeface="Consolas"/>
              <a:buNone/>
            </a:pPr>
            <a:r>
              <a:rPr lang="en" sz="800" b="0" i="0" u="none" strike="noStrike" cap="none">
                <a:solidFill>
                  <a:srgbClr val="16A34A"/>
                </a:solidFill>
                <a:latin typeface="Consolas"/>
                <a:ea typeface="Consolas"/>
                <a:cs typeface="Consolas"/>
                <a:sym typeface="Consolas"/>
              </a:rPr>
              <a:t>h₁</a:t>
            </a:r>
            <a:endParaRPr sz="800" b="0" i="0" u="none" strike="noStrike" cap="none">
              <a:solidFill>
                <a:schemeClr val="dk1"/>
              </a:solidFill>
              <a:latin typeface="Calibri"/>
              <a:ea typeface="Calibri"/>
              <a:cs typeface="Calibri"/>
              <a:sym typeface="Calibri"/>
            </a:endParaRPr>
          </a:p>
        </p:txBody>
      </p:sp>
      <p:sp>
        <p:nvSpPr>
          <p:cNvPr id="364" name="Google Shape;364;p25"/>
          <p:cNvSpPr/>
          <p:nvPr/>
        </p:nvSpPr>
        <p:spPr>
          <a:xfrm>
            <a:off x="539496" y="3456432"/>
            <a:ext cx="1645800" cy="292500"/>
          </a:xfrm>
          <a:prstGeom prst="rect">
            <a:avLst/>
          </a:prstGeom>
          <a:solidFill>
            <a:srgbClr val="FFE4E6"/>
          </a:solidFill>
          <a:ln w="10150" cap="flat" cmpd="sng">
            <a:solidFill>
              <a:srgbClr val="F43F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5"/>
          <p:cNvSpPr/>
          <p:nvPr/>
        </p:nvSpPr>
        <p:spPr>
          <a:xfrm>
            <a:off x="539496" y="3456432"/>
            <a:ext cx="1645800" cy="29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E123C"/>
              </a:buClr>
              <a:buSzPts val="800"/>
              <a:buFont typeface="Consolas"/>
              <a:buNone/>
            </a:pPr>
            <a:r>
              <a:rPr lang="en" sz="800" b="0" i="0" u="none" strike="noStrike" cap="none">
                <a:solidFill>
                  <a:srgbClr val="BE123C"/>
                </a:solidFill>
                <a:latin typeface="Consolas"/>
                <a:ea typeface="Consolas"/>
                <a:cs typeface="Consolas"/>
                <a:sym typeface="Consolas"/>
              </a:rPr>
              <a:t>L1 = −log P(ŷ1)</a:t>
            </a:r>
            <a:endParaRPr sz="800" b="0" i="0" u="none" strike="noStrike" cap="none">
              <a:solidFill>
                <a:schemeClr val="dk1"/>
              </a:solidFill>
              <a:latin typeface="Calibri"/>
              <a:ea typeface="Calibri"/>
              <a:cs typeface="Calibri"/>
              <a:sym typeface="Calibri"/>
            </a:endParaRPr>
          </a:p>
        </p:txBody>
      </p:sp>
      <p:cxnSp>
        <p:nvCxnSpPr>
          <p:cNvPr id="366" name="Google Shape;366;p25"/>
          <p:cNvCxnSpPr/>
          <p:nvPr/>
        </p:nvCxnSpPr>
        <p:spPr>
          <a:xfrm>
            <a:off x="1362456" y="3364992"/>
            <a:ext cx="0" cy="91500"/>
          </a:xfrm>
          <a:prstGeom prst="straightConnector1">
            <a:avLst/>
          </a:prstGeom>
          <a:noFill/>
          <a:ln w="12700" cap="flat" cmpd="sng">
            <a:solidFill>
              <a:srgbClr val="F43F5E"/>
            </a:solidFill>
            <a:prstDash val="solid"/>
            <a:round/>
            <a:headEnd type="none" w="sm" len="sm"/>
            <a:tailEnd type="triangle" w="med" len="med"/>
          </a:ln>
        </p:spPr>
      </p:cxnSp>
      <p:sp>
        <p:nvSpPr>
          <p:cNvPr id="367" name="Google Shape;367;p25"/>
          <p:cNvSpPr/>
          <p:nvPr/>
        </p:nvSpPr>
        <p:spPr>
          <a:xfrm>
            <a:off x="2542032" y="566928"/>
            <a:ext cx="19203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onsolas"/>
              <a:buNone/>
            </a:pPr>
            <a:r>
              <a:rPr lang="en" sz="900" b="0" i="0" u="none" strike="noStrike" cap="none">
                <a:solidFill>
                  <a:srgbClr val="94A3B8"/>
                </a:solidFill>
                <a:latin typeface="Consolas"/>
                <a:ea typeface="Consolas"/>
                <a:cs typeface="Consolas"/>
                <a:sym typeface="Consolas"/>
              </a:rPr>
              <a:t>t = 2</a:t>
            </a:r>
            <a:endParaRPr sz="900" b="0" i="0" u="none" strike="noStrike" cap="none">
              <a:solidFill>
                <a:schemeClr val="dk1"/>
              </a:solidFill>
              <a:latin typeface="Calibri"/>
              <a:ea typeface="Calibri"/>
              <a:cs typeface="Calibri"/>
              <a:sym typeface="Calibri"/>
            </a:endParaRPr>
          </a:p>
        </p:txBody>
      </p:sp>
      <p:sp>
        <p:nvSpPr>
          <p:cNvPr id="368" name="Google Shape;368;p25"/>
          <p:cNvSpPr/>
          <p:nvPr/>
        </p:nvSpPr>
        <p:spPr>
          <a:xfrm>
            <a:off x="2542032" y="804672"/>
            <a:ext cx="1920300" cy="713100"/>
          </a:xfrm>
          <a:prstGeom prst="rect">
            <a:avLst/>
          </a:prstGeom>
          <a:solidFill>
            <a:srgbClr val="DBEAFE"/>
          </a:solidFill>
          <a:ln w="16500" cap="flat" cmpd="sng">
            <a:solidFill>
              <a:srgbClr val="3B82F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5"/>
          <p:cNvSpPr/>
          <p:nvPr/>
        </p:nvSpPr>
        <p:spPr>
          <a:xfrm>
            <a:off x="2542032" y="868680"/>
            <a:ext cx="192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4ED8"/>
              </a:buClr>
              <a:buSzPts val="1100"/>
              <a:buFont typeface="Calibri"/>
              <a:buNone/>
            </a:pPr>
            <a:r>
              <a:rPr lang="en" sz="1100" b="1" i="0" u="none" strike="noStrike" cap="none">
                <a:solidFill>
                  <a:srgbClr val="1D4ED8"/>
                </a:solidFill>
                <a:latin typeface="Calibri"/>
                <a:ea typeface="Calibri"/>
                <a:cs typeface="Calibri"/>
                <a:sym typeface="Calibri"/>
              </a:rPr>
              <a:t>xₜ = x₂</a:t>
            </a:r>
            <a:endParaRPr sz="1100" b="0" i="0" u="none" strike="noStrike" cap="none">
              <a:solidFill>
                <a:schemeClr val="dk1"/>
              </a:solidFill>
              <a:latin typeface="Calibri"/>
              <a:ea typeface="Calibri"/>
              <a:cs typeface="Calibri"/>
              <a:sym typeface="Calibri"/>
            </a:endParaRPr>
          </a:p>
        </p:txBody>
      </p:sp>
      <p:sp>
        <p:nvSpPr>
          <p:cNvPr id="370" name="Google Shape;370;p25"/>
          <p:cNvSpPr/>
          <p:nvPr/>
        </p:nvSpPr>
        <p:spPr>
          <a:xfrm>
            <a:off x="2596896" y="1152144"/>
            <a:ext cx="18105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B82F6"/>
              </a:buClr>
              <a:buSzPts val="850"/>
              <a:buFont typeface="Consolas"/>
              <a:buNone/>
            </a:pPr>
            <a:r>
              <a:rPr lang="en" sz="850" b="0" i="0" u="none" strike="noStrike" cap="none">
                <a:solidFill>
                  <a:srgbClr val="3B82F6"/>
                </a:solidFill>
                <a:latin typeface="Consolas"/>
                <a:ea typeface="Consolas"/>
                <a:cs typeface="Consolas"/>
                <a:sym typeface="Consolas"/>
              </a:rPr>
              <a:t>input: "cat"</a:t>
            </a:r>
            <a:endParaRPr sz="850" b="0" i="0" u="none" strike="noStrike" cap="none">
              <a:solidFill>
                <a:schemeClr val="dk1"/>
              </a:solidFill>
              <a:latin typeface="Calibri"/>
              <a:ea typeface="Calibri"/>
              <a:cs typeface="Calibri"/>
              <a:sym typeface="Calibri"/>
            </a:endParaRPr>
          </a:p>
        </p:txBody>
      </p:sp>
      <p:cxnSp>
        <p:nvCxnSpPr>
          <p:cNvPr id="371" name="Google Shape;371;p25"/>
          <p:cNvCxnSpPr/>
          <p:nvPr/>
        </p:nvCxnSpPr>
        <p:spPr>
          <a:xfrm>
            <a:off x="3502152" y="1536192"/>
            <a:ext cx="0" cy="164700"/>
          </a:xfrm>
          <a:prstGeom prst="straightConnector1">
            <a:avLst/>
          </a:prstGeom>
          <a:noFill/>
          <a:ln w="16500" cap="flat" cmpd="sng">
            <a:solidFill>
              <a:srgbClr val="94A3B8"/>
            </a:solidFill>
            <a:prstDash val="solid"/>
            <a:round/>
            <a:headEnd type="none" w="sm" len="sm"/>
            <a:tailEnd type="triangle" w="med" len="med"/>
          </a:ln>
        </p:spPr>
      </p:cxnSp>
      <p:sp>
        <p:nvSpPr>
          <p:cNvPr id="372" name="Google Shape;372;p25"/>
          <p:cNvSpPr/>
          <p:nvPr/>
        </p:nvSpPr>
        <p:spPr>
          <a:xfrm>
            <a:off x="2542032" y="1719072"/>
            <a:ext cx="1920300" cy="713100"/>
          </a:xfrm>
          <a:prstGeom prst="rect">
            <a:avLst/>
          </a:prstGeom>
          <a:solidFill>
            <a:srgbClr val="DCFCE7"/>
          </a:solidFill>
          <a:ln w="165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5"/>
          <p:cNvSpPr/>
          <p:nvPr/>
        </p:nvSpPr>
        <p:spPr>
          <a:xfrm>
            <a:off x="2542032" y="1783080"/>
            <a:ext cx="192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5803D"/>
              </a:buClr>
              <a:buSzPts val="1100"/>
              <a:buFont typeface="Calibri"/>
              <a:buNone/>
            </a:pPr>
            <a:r>
              <a:rPr lang="en" sz="1100" b="1" i="0" u="none" strike="noStrike" cap="none">
                <a:solidFill>
                  <a:srgbClr val="15803D"/>
                </a:solidFill>
                <a:latin typeface="Calibri"/>
                <a:ea typeface="Calibri"/>
                <a:cs typeface="Calibri"/>
                <a:sym typeface="Calibri"/>
              </a:rPr>
              <a:t>hₜ = h₂</a:t>
            </a:r>
            <a:endParaRPr sz="1100" b="0" i="0" u="none" strike="noStrike" cap="none">
              <a:solidFill>
                <a:schemeClr val="dk1"/>
              </a:solidFill>
              <a:latin typeface="Calibri"/>
              <a:ea typeface="Calibri"/>
              <a:cs typeface="Calibri"/>
              <a:sym typeface="Calibri"/>
            </a:endParaRPr>
          </a:p>
        </p:txBody>
      </p:sp>
      <p:sp>
        <p:nvSpPr>
          <p:cNvPr id="374" name="Google Shape;374;p25"/>
          <p:cNvSpPr/>
          <p:nvPr/>
        </p:nvSpPr>
        <p:spPr>
          <a:xfrm>
            <a:off x="2596896" y="2066544"/>
            <a:ext cx="18105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A34A"/>
              </a:buClr>
              <a:buSzPts val="850"/>
              <a:buFont typeface="Consolas"/>
              <a:buNone/>
            </a:pPr>
            <a:r>
              <a:rPr lang="en" sz="850" b="0" i="0" u="none" strike="noStrike" cap="none">
                <a:solidFill>
                  <a:srgbClr val="16A34A"/>
                </a:solidFill>
                <a:latin typeface="Consolas"/>
                <a:ea typeface="Consolas"/>
                <a:cs typeface="Consolas"/>
                <a:sym typeface="Consolas"/>
              </a:rPr>
              <a:t>tanh(Wₕhₜ₋₁ + Wₓxₜ + b)</a:t>
            </a:r>
            <a:endParaRPr sz="850" b="0" i="0" u="none" strike="noStrike" cap="none">
              <a:solidFill>
                <a:schemeClr val="dk1"/>
              </a:solidFill>
              <a:latin typeface="Calibri"/>
              <a:ea typeface="Calibri"/>
              <a:cs typeface="Calibri"/>
              <a:sym typeface="Calibri"/>
            </a:endParaRPr>
          </a:p>
        </p:txBody>
      </p:sp>
      <p:cxnSp>
        <p:nvCxnSpPr>
          <p:cNvPr id="375" name="Google Shape;375;p25"/>
          <p:cNvCxnSpPr/>
          <p:nvPr/>
        </p:nvCxnSpPr>
        <p:spPr>
          <a:xfrm>
            <a:off x="3502152" y="2450592"/>
            <a:ext cx="0" cy="164700"/>
          </a:xfrm>
          <a:prstGeom prst="straightConnector1">
            <a:avLst/>
          </a:prstGeom>
          <a:noFill/>
          <a:ln w="16500" cap="flat" cmpd="sng">
            <a:solidFill>
              <a:srgbClr val="94A3B8"/>
            </a:solidFill>
            <a:prstDash val="solid"/>
            <a:round/>
            <a:headEnd type="none" w="sm" len="sm"/>
            <a:tailEnd type="triangle" w="med" len="med"/>
          </a:ln>
        </p:spPr>
      </p:cxnSp>
      <p:sp>
        <p:nvSpPr>
          <p:cNvPr id="376" name="Google Shape;376;p25"/>
          <p:cNvSpPr/>
          <p:nvPr/>
        </p:nvSpPr>
        <p:spPr>
          <a:xfrm>
            <a:off x="2542032" y="2633472"/>
            <a:ext cx="1920300" cy="713100"/>
          </a:xfrm>
          <a:prstGeom prst="rect">
            <a:avLst/>
          </a:prstGeom>
          <a:solidFill>
            <a:srgbClr val="F3E8FF"/>
          </a:solidFill>
          <a:ln w="16500" cap="flat" cmpd="sng">
            <a:solidFill>
              <a:srgbClr val="9333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5"/>
          <p:cNvSpPr/>
          <p:nvPr/>
        </p:nvSpPr>
        <p:spPr>
          <a:xfrm>
            <a:off x="2542032" y="2697480"/>
            <a:ext cx="192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E22CE"/>
              </a:buClr>
              <a:buSzPts val="1100"/>
              <a:buFont typeface="Calibri"/>
              <a:buNone/>
            </a:pPr>
            <a:r>
              <a:rPr lang="en" sz="1100" b="1" i="0" u="none" strike="noStrike" cap="none">
                <a:solidFill>
                  <a:srgbClr val="7E22CE"/>
                </a:solidFill>
                <a:latin typeface="Calibri"/>
                <a:ea typeface="Calibri"/>
                <a:cs typeface="Calibri"/>
                <a:sym typeface="Calibri"/>
              </a:rPr>
              <a:t>ŷₜ = g(Wᵧhₜ)</a:t>
            </a:r>
            <a:endParaRPr sz="1100" b="0" i="0" u="none" strike="noStrike" cap="none">
              <a:solidFill>
                <a:schemeClr val="dk1"/>
              </a:solidFill>
              <a:latin typeface="Calibri"/>
              <a:ea typeface="Calibri"/>
              <a:cs typeface="Calibri"/>
              <a:sym typeface="Calibri"/>
            </a:endParaRPr>
          </a:p>
        </p:txBody>
      </p:sp>
      <p:sp>
        <p:nvSpPr>
          <p:cNvPr id="378" name="Google Shape;378;p25"/>
          <p:cNvSpPr/>
          <p:nvPr/>
        </p:nvSpPr>
        <p:spPr>
          <a:xfrm>
            <a:off x="2596896" y="2980944"/>
            <a:ext cx="18105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333EA"/>
              </a:buClr>
              <a:buSzPts val="850"/>
              <a:buFont typeface="Consolas"/>
              <a:buNone/>
            </a:pPr>
            <a:r>
              <a:rPr lang="en" sz="850" b="0" i="0" u="none" strike="noStrike" cap="none">
                <a:solidFill>
                  <a:srgbClr val="9333EA"/>
                </a:solidFill>
                <a:latin typeface="Consolas"/>
                <a:ea typeface="Consolas"/>
                <a:cs typeface="Consolas"/>
                <a:sym typeface="Consolas"/>
              </a:rPr>
              <a:t>predicts: "sat"</a:t>
            </a:r>
            <a:endParaRPr sz="850" b="0" i="0" u="none" strike="noStrike" cap="none">
              <a:solidFill>
                <a:schemeClr val="dk1"/>
              </a:solidFill>
              <a:latin typeface="Calibri"/>
              <a:ea typeface="Calibri"/>
              <a:cs typeface="Calibri"/>
              <a:sym typeface="Calibri"/>
            </a:endParaRPr>
          </a:p>
        </p:txBody>
      </p:sp>
      <p:cxnSp>
        <p:nvCxnSpPr>
          <p:cNvPr id="379" name="Google Shape;379;p25"/>
          <p:cNvCxnSpPr/>
          <p:nvPr/>
        </p:nvCxnSpPr>
        <p:spPr>
          <a:xfrm>
            <a:off x="4480560" y="2075688"/>
            <a:ext cx="183000" cy="0"/>
          </a:xfrm>
          <a:prstGeom prst="straightConnector1">
            <a:avLst/>
          </a:prstGeom>
          <a:noFill/>
          <a:ln w="17775" cap="flat" cmpd="sng">
            <a:solidFill>
              <a:srgbClr val="16A34A"/>
            </a:solidFill>
            <a:prstDash val="dash"/>
            <a:round/>
            <a:headEnd type="none" w="sm" len="sm"/>
            <a:tailEnd type="triangle" w="med" len="med"/>
          </a:ln>
        </p:spPr>
      </p:cxnSp>
      <p:sp>
        <p:nvSpPr>
          <p:cNvPr id="380" name="Google Shape;380;p25"/>
          <p:cNvSpPr/>
          <p:nvPr/>
        </p:nvSpPr>
        <p:spPr>
          <a:xfrm>
            <a:off x="4480560" y="1874520"/>
            <a:ext cx="1830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A34A"/>
              </a:buClr>
              <a:buSzPts val="800"/>
              <a:buFont typeface="Consolas"/>
              <a:buNone/>
            </a:pPr>
            <a:r>
              <a:rPr lang="en" sz="800" b="0" i="0" u="none" strike="noStrike" cap="none">
                <a:solidFill>
                  <a:srgbClr val="16A34A"/>
                </a:solidFill>
                <a:latin typeface="Consolas"/>
                <a:ea typeface="Consolas"/>
                <a:cs typeface="Consolas"/>
                <a:sym typeface="Consolas"/>
              </a:rPr>
              <a:t>h₂</a:t>
            </a:r>
            <a:endParaRPr sz="800" b="0" i="0" u="none" strike="noStrike" cap="none">
              <a:solidFill>
                <a:schemeClr val="dk1"/>
              </a:solidFill>
              <a:latin typeface="Calibri"/>
              <a:ea typeface="Calibri"/>
              <a:cs typeface="Calibri"/>
              <a:sym typeface="Calibri"/>
            </a:endParaRPr>
          </a:p>
        </p:txBody>
      </p:sp>
      <p:sp>
        <p:nvSpPr>
          <p:cNvPr id="381" name="Google Shape;381;p25"/>
          <p:cNvSpPr/>
          <p:nvPr/>
        </p:nvSpPr>
        <p:spPr>
          <a:xfrm>
            <a:off x="2679192" y="3456432"/>
            <a:ext cx="1645800" cy="292500"/>
          </a:xfrm>
          <a:prstGeom prst="rect">
            <a:avLst/>
          </a:prstGeom>
          <a:solidFill>
            <a:srgbClr val="FFE4E6"/>
          </a:solidFill>
          <a:ln w="10150" cap="flat" cmpd="sng">
            <a:solidFill>
              <a:srgbClr val="F43F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5"/>
          <p:cNvSpPr/>
          <p:nvPr/>
        </p:nvSpPr>
        <p:spPr>
          <a:xfrm>
            <a:off x="2679192" y="3456432"/>
            <a:ext cx="1645800" cy="29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E123C"/>
              </a:buClr>
              <a:buSzPts val="800"/>
              <a:buFont typeface="Consolas"/>
              <a:buNone/>
            </a:pPr>
            <a:r>
              <a:rPr lang="en" sz="800" b="0" i="0" u="none" strike="noStrike" cap="none">
                <a:solidFill>
                  <a:srgbClr val="BE123C"/>
                </a:solidFill>
                <a:latin typeface="Consolas"/>
                <a:ea typeface="Consolas"/>
                <a:cs typeface="Consolas"/>
                <a:sym typeface="Consolas"/>
              </a:rPr>
              <a:t>L2 = −log P(ŷ2)</a:t>
            </a:r>
            <a:endParaRPr sz="800" b="0" i="0" u="none" strike="noStrike" cap="none">
              <a:solidFill>
                <a:schemeClr val="dk1"/>
              </a:solidFill>
              <a:latin typeface="Calibri"/>
              <a:ea typeface="Calibri"/>
              <a:cs typeface="Calibri"/>
              <a:sym typeface="Calibri"/>
            </a:endParaRPr>
          </a:p>
        </p:txBody>
      </p:sp>
      <p:cxnSp>
        <p:nvCxnSpPr>
          <p:cNvPr id="383" name="Google Shape;383;p25"/>
          <p:cNvCxnSpPr/>
          <p:nvPr/>
        </p:nvCxnSpPr>
        <p:spPr>
          <a:xfrm>
            <a:off x="3502152" y="3364992"/>
            <a:ext cx="0" cy="91500"/>
          </a:xfrm>
          <a:prstGeom prst="straightConnector1">
            <a:avLst/>
          </a:prstGeom>
          <a:noFill/>
          <a:ln w="12700" cap="flat" cmpd="sng">
            <a:solidFill>
              <a:srgbClr val="F43F5E"/>
            </a:solidFill>
            <a:prstDash val="solid"/>
            <a:round/>
            <a:headEnd type="none" w="sm" len="sm"/>
            <a:tailEnd type="triangle" w="med" len="med"/>
          </a:ln>
        </p:spPr>
      </p:cxnSp>
      <p:sp>
        <p:nvSpPr>
          <p:cNvPr id="384" name="Google Shape;384;p25"/>
          <p:cNvSpPr/>
          <p:nvPr/>
        </p:nvSpPr>
        <p:spPr>
          <a:xfrm>
            <a:off x="4681728" y="566928"/>
            <a:ext cx="19203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onsolas"/>
              <a:buNone/>
            </a:pPr>
            <a:r>
              <a:rPr lang="en" sz="900" b="0" i="0" u="none" strike="noStrike" cap="none">
                <a:solidFill>
                  <a:srgbClr val="94A3B8"/>
                </a:solidFill>
                <a:latin typeface="Consolas"/>
                <a:ea typeface="Consolas"/>
                <a:cs typeface="Consolas"/>
                <a:sym typeface="Consolas"/>
              </a:rPr>
              <a:t>t = 3</a:t>
            </a:r>
            <a:endParaRPr sz="900" b="0" i="0" u="none" strike="noStrike" cap="none">
              <a:solidFill>
                <a:schemeClr val="dk1"/>
              </a:solidFill>
              <a:latin typeface="Calibri"/>
              <a:ea typeface="Calibri"/>
              <a:cs typeface="Calibri"/>
              <a:sym typeface="Calibri"/>
            </a:endParaRPr>
          </a:p>
        </p:txBody>
      </p:sp>
      <p:sp>
        <p:nvSpPr>
          <p:cNvPr id="385" name="Google Shape;385;p25"/>
          <p:cNvSpPr/>
          <p:nvPr/>
        </p:nvSpPr>
        <p:spPr>
          <a:xfrm>
            <a:off x="4681728" y="804672"/>
            <a:ext cx="1920300" cy="713100"/>
          </a:xfrm>
          <a:prstGeom prst="rect">
            <a:avLst/>
          </a:prstGeom>
          <a:solidFill>
            <a:srgbClr val="DBEAFE"/>
          </a:solidFill>
          <a:ln w="16500" cap="flat" cmpd="sng">
            <a:solidFill>
              <a:srgbClr val="3B82F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5"/>
          <p:cNvSpPr/>
          <p:nvPr/>
        </p:nvSpPr>
        <p:spPr>
          <a:xfrm>
            <a:off x="4681728" y="868680"/>
            <a:ext cx="192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4ED8"/>
              </a:buClr>
              <a:buSzPts val="1100"/>
              <a:buFont typeface="Calibri"/>
              <a:buNone/>
            </a:pPr>
            <a:r>
              <a:rPr lang="en" sz="1100" b="1" i="0" u="none" strike="noStrike" cap="none">
                <a:solidFill>
                  <a:srgbClr val="1D4ED8"/>
                </a:solidFill>
                <a:latin typeface="Calibri"/>
                <a:ea typeface="Calibri"/>
                <a:cs typeface="Calibri"/>
                <a:sym typeface="Calibri"/>
              </a:rPr>
              <a:t>xₜ = x₃</a:t>
            </a:r>
            <a:endParaRPr sz="1100" b="0" i="0" u="none" strike="noStrike" cap="none">
              <a:solidFill>
                <a:schemeClr val="dk1"/>
              </a:solidFill>
              <a:latin typeface="Calibri"/>
              <a:ea typeface="Calibri"/>
              <a:cs typeface="Calibri"/>
              <a:sym typeface="Calibri"/>
            </a:endParaRPr>
          </a:p>
        </p:txBody>
      </p:sp>
      <p:sp>
        <p:nvSpPr>
          <p:cNvPr id="387" name="Google Shape;387;p25"/>
          <p:cNvSpPr/>
          <p:nvPr/>
        </p:nvSpPr>
        <p:spPr>
          <a:xfrm>
            <a:off x="4736592" y="1152144"/>
            <a:ext cx="18105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B82F6"/>
              </a:buClr>
              <a:buSzPts val="850"/>
              <a:buFont typeface="Consolas"/>
              <a:buNone/>
            </a:pPr>
            <a:r>
              <a:rPr lang="en" sz="850" b="0" i="0" u="none" strike="noStrike" cap="none">
                <a:solidFill>
                  <a:srgbClr val="3B82F6"/>
                </a:solidFill>
                <a:latin typeface="Consolas"/>
                <a:ea typeface="Consolas"/>
                <a:cs typeface="Consolas"/>
                <a:sym typeface="Consolas"/>
              </a:rPr>
              <a:t>input: "sat"</a:t>
            </a:r>
            <a:endParaRPr sz="850" b="0" i="0" u="none" strike="noStrike" cap="none">
              <a:solidFill>
                <a:schemeClr val="dk1"/>
              </a:solidFill>
              <a:latin typeface="Calibri"/>
              <a:ea typeface="Calibri"/>
              <a:cs typeface="Calibri"/>
              <a:sym typeface="Calibri"/>
            </a:endParaRPr>
          </a:p>
        </p:txBody>
      </p:sp>
      <p:cxnSp>
        <p:nvCxnSpPr>
          <p:cNvPr id="388" name="Google Shape;388;p25"/>
          <p:cNvCxnSpPr/>
          <p:nvPr/>
        </p:nvCxnSpPr>
        <p:spPr>
          <a:xfrm>
            <a:off x="5641848" y="1536192"/>
            <a:ext cx="0" cy="164700"/>
          </a:xfrm>
          <a:prstGeom prst="straightConnector1">
            <a:avLst/>
          </a:prstGeom>
          <a:noFill/>
          <a:ln w="16500" cap="flat" cmpd="sng">
            <a:solidFill>
              <a:srgbClr val="94A3B8"/>
            </a:solidFill>
            <a:prstDash val="solid"/>
            <a:round/>
            <a:headEnd type="none" w="sm" len="sm"/>
            <a:tailEnd type="triangle" w="med" len="med"/>
          </a:ln>
        </p:spPr>
      </p:cxnSp>
      <p:sp>
        <p:nvSpPr>
          <p:cNvPr id="389" name="Google Shape;389;p25"/>
          <p:cNvSpPr/>
          <p:nvPr/>
        </p:nvSpPr>
        <p:spPr>
          <a:xfrm>
            <a:off x="4681728" y="1719072"/>
            <a:ext cx="1920300" cy="713100"/>
          </a:xfrm>
          <a:prstGeom prst="rect">
            <a:avLst/>
          </a:prstGeom>
          <a:solidFill>
            <a:srgbClr val="DCFCE7"/>
          </a:solidFill>
          <a:ln w="165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5"/>
          <p:cNvSpPr/>
          <p:nvPr/>
        </p:nvSpPr>
        <p:spPr>
          <a:xfrm>
            <a:off x="4681728" y="1783080"/>
            <a:ext cx="192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5803D"/>
              </a:buClr>
              <a:buSzPts val="1100"/>
              <a:buFont typeface="Calibri"/>
              <a:buNone/>
            </a:pPr>
            <a:r>
              <a:rPr lang="en" sz="1100" b="1" i="0" u="none" strike="noStrike" cap="none">
                <a:solidFill>
                  <a:srgbClr val="15803D"/>
                </a:solidFill>
                <a:latin typeface="Calibri"/>
                <a:ea typeface="Calibri"/>
                <a:cs typeface="Calibri"/>
                <a:sym typeface="Calibri"/>
              </a:rPr>
              <a:t>hₜ = h₃</a:t>
            </a:r>
            <a:endParaRPr sz="1100" b="0" i="0" u="none" strike="noStrike" cap="none">
              <a:solidFill>
                <a:schemeClr val="dk1"/>
              </a:solidFill>
              <a:latin typeface="Calibri"/>
              <a:ea typeface="Calibri"/>
              <a:cs typeface="Calibri"/>
              <a:sym typeface="Calibri"/>
            </a:endParaRPr>
          </a:p>
        </p:txBody>
      </p:sp>
      <p:sp>
        <p:nvSpPr>
          <p:cNvPr id="391" name="Google Shape;391;p25"/>
          <p:cNvSpPr/>
          <p:nvPr/>
        </p:nvSpPr>
        <p:spPr>
          <a:xfrm>
            <a:off x="4736592" y="2066544"/>
            <a:ext cx="18105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A34A"/>
              </a:buClr>
              <a:buSzPts val="850"/>
              <a:buFont typeface="Consolas"/>
              <a:buNone/>
            </a:pPr>
            <a:r>
              <a:rPr lang="en" sz="850" b="0" i="0" u="none" strike="noStrike" cap="none">
                <a:solidFill>
                  <a:srgbClr val="16A34A"/>
                </a:solidFill>
                <a:latin typeface="Consolas"/>
                <a:ea typeface="Consolas"/>
                <a:cs typeface="Consolas"/>
                <a:sym typeface="Consolas"/>
              </a:rPr>
              <a:t>tanh(Wₕhₜ₋₁ + Wₓxₜ + b)</a:t>
            </a:r>
            <a:endParaRPr sz="850" b="0" i="0" u="none" strike="noStrike" cap="none">
              <a:solidFill>
                <a:schemeClr val="dk1"/>
              </a:solidFill>
              <a:latin typeface="Calibri"/>
              <a:ea typeface="Calibri"/>
              <a:cs typeface="Calibri"/>
              <a:sym typeface="Calibri"/>
            </a:endParaRPr>
          </a:p>
        </p:txBody>
      </p:sp>
      <p:cxnSp>
        <p:nvCxnSpPr>
          <p:cNvPr id="392" name="Google Shape;392;p25"/>
          <p:cNvCxnSpPr/>
          <p:nvPr/>
        </p:nvCxnSpPr>
        <p:spPr>
          <a:xfrm>
            <a:off x="5641848" y="2450592"/>
            <a:ext cx="0" cy="164700"/>
          </a:xfrm>
          <a:prstGeom prst="straightConnector1">
            <a:avLst/>
          </a:prstGeom>
          <a:noFill/>
          <a:ln w="16500" cap="flat" cmpd="sng">
            <a:solidFill>
              <a:srgbClr val="94A3B8"/>
            </a:solidFill>
            <a:prstDash val="solid"/>
            <a:round/>
            <a:headEnd type="none" w="sm" len="sm"/>
            <a:tailEnd type="triangle" w="med" len="med"/>
          </a:ln>
        </p:spPr>
      </p:cxnSp>
      <p:sp>
        <p:nvSpPr>
          <p:cNvPr id="393" name="Google Shape;393;p25"/>
          <p:cNvSpPr/>
          <p:nvPr/>
        </p:nvSpPr>
        <p:spPr>
          <a:xfrm>
            <a:off x="4681728" y="2633472"/>
            <a:ext cx="1920300" cy="713100"/>
          </a:xfrm>
          <a:prstGeom prst="rect">
            <a:avLst/>
          </a:prstGeom>
          <a:solidFill>
            <a:srgbClr val="F3E8FF"/>
          </a:solidFill>
          <a:ln w="16500" cap="flat" cmpd="sng">
            <a:solidFill>
              <a:srgbClr val="9333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5"/>
          <p:cNvSpPr/>
          <p:nvPr/>
        </p:nvSpPr>
        <p:spPr>
          <a:xfrm>
            <a:off x="4681728" y="2697480"/>
            <a:ext cx="192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E22CE"/>
              </a:buClr>
              <a:buSzPts val="1100"/>
              <a:buFont typeface="Calibri"/>
              <a:buNone/>
            </a:pPr>
            <a:r>
              <a:rPr lang="en" sz="1100" b="1" i="0" u="none" strike="noStrike" cap="none">
                <a:solidFill>
                  <a:srgbClr val="7E22CE"/>
                </a:solidFill>
                <a:latin typeface="Calibri"/>
                <a:ea typeface="Calibri"/>
                <a:cs typeface="Calibri"/>
                <a:sym typeface="Calibri"/>
              </a:rPr>
              <a:t>ŷₜ = g(Wᵧhₜ)</a:t>
            </a:r>
            <a:endParaRPr sz="1100" b="0" i="0" u="none" strike="noStrike" cap="none">
              <a:solidFill>
                <a:schemeClr val="dk1"/>
              </a:solidFill>
              <a:latin typeface="Calibri"/>
              <a:ea typeface="Calibri"/>
              <a:cs typeface="Calibri"/>
              <a:sym typeface="Calibri"/>
            </a:endParaRPr>
          </a:p>
        </p:txBody>
      </p:sp>
      <p:sp>
        <p:nvSpPr>
          <p:cNvPr id="395" name="Google Shape;395;p25"/>
          <p:cNvSpPr/>
          <p:nvPr/>
        </p:nvSpPr>
        <p:spPr>
          <a:xfrm>
            <a:off x="4736592" y="2980944"/>
            <a:ext cx="18105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333EA"/>
              </a:buClr>
              <a:buSzPts val="850"/>
              <a:buFont typeface="Consolas"/>
              <a:buNone/>
            </a:pPr>
            <a:r>
              <a:rPr lang="en" sz="850" b="0" i="0" u="none" strike="noStrike" cap="none">
                <a:solidFill>
                  <a:srgbClr val="9333EA"/>
                </a:solidFill>
                <a:latin typeface="Consolas"/>
                <a:ea typeface="Consolas"/>
                <a:cs typeface="Consolas"/>
                <a:sym typeface="Consolas"/>
              </a:rPr>
              <a:t>predicts: "on"</a:t>
            </a:r>
            <a:endParaRPr sz="850" b="0" i="0" u="none" strike="noStrike" cap="none">
              <a:solidFill>
                <a:schemeClr val="dk1"/>
              </a:solidFill>
              <a:latin typeface="Calibri"/>
              <a:ea typeface="Calibri"/>
              <a:cs typeface="Calibri"/>
              <a:sym typeface="Calibri"/>
            </a:endParaRPr>
          </a:p>
        </p:txBody>
      </p:sp>
      <p:cxnSp>
        <p:nvCxnSpPr>
          <p:cNvPr id="396" name="Google Shape;396;p25"/>
          <p:cNvCxnSpPr/>
          <p:nvPr/>
        </p:nvCxnSpPr>
        <p:spPr>
          <a:xfrm>
            <a:off x="6620256" y="2075688"/>
            <a:ext cx="183000" cy="0"/>
          </a:xfrm>
          <a:prstGeom prst="straightConnector1">
            <a:avLst/>
          </a:prstGeom>
          <a:noFill/>
          <a:ln w="17775" cap="flat" cmpd="sng">
            <a:solidFill>
              <a:srgbClr val="16A34A"/>
            </a:solidFill>
            <a:prstDash val="dash"/>
            <a:round/>
            <a:headEnd type="none" w="sm" len="sm"/>
            <a:tailEnd type="triangle" w="med" len="med"/>
          </a:ln>
        </p:spPr>
      </p:cxnSp>
      <p:sp>
        <p:nvSpPr>
          <p:cNvPr id="397" name="Google Shape;397;p25"/>
          <p:cNvSpPr/>
          <p:nvPr/>
        </p:nvSpPr>
        <p:spPr>
          <a:xfrm>
            <a:off x="6620256" y="1874520"/>
            <a:ext cx="1830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A34A"/>
              </a:buClr>
              <a:buSzPts val="800"/>
              <a:buFont typeface="Consolas"/>
              <a:buNone/>
            </a:pPr>
            <a:r>
              <a:rPr lang="en" sz="800" b="0" i="0" u="none" strike="noStrike" cap="none">
                <a:solidFill>
                  <a:srgbClr val="16A34A"/>
                </a:solidFill>
                <a:latin typeface="Consolas"/>
                <a:ea typeface="Consolas"/>
                <a:cs typeface="Consolas"/>
                <a:sym typeface="Consolas"/>
              </a:rPr>
              <a:t>h₃</a:t>
            </a:r>
            <a:endParaRPr sz="800" b="0" i="0" u="none" strike="noStrike" cap="none">
              <a:solidFill>
                <a:schemeClr val="dk1"/>
              </a:solidFill>
              <a:latin typeface="Calibri"/>
              <a:ea typeface="Calibri"/>
              <a:cs typeface="Calibri"/>
              <a:sym typeface="Calibri"/>
            </a:endParaRPr>
          </a:p>
        </p:txBody>
      </p:sp>
      <p:sp>
        <p:nvSpPr>
          <p:cNvPr id="398" name="Google Shape;398;p25"/>
          <p:cNvSpPr/>
          <p:nvPr/>
        </p:nvSpPr>
        <p:spPr>
          <a:xfrm>
            <a:off x="4818888" y="3456432"/>
            <a:ext cx="1645800" cy="292500"/>
          </a:xfrm>
          <a:prstGeom prst="rect">
            <a:avLst/>
          </a:prstGeom>
          <a:solidFill>
            <a:srgbClr val="FFE4E6"/>
          </a:solidFill>
          <a:ln w="10150" cap="flat" cmpd="sng">
            <a:solidFill>
              <a:srgbClr val="F43F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5"/>
          <p:cNvSpPr/>
          <p:nvPr/>
        </p:nvSpPr>
        <p:spPr>
          <a:xfrm>
            <a:off x="4818888" y="3456432"/>
            <a:ext cx="1645800" cy="29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E123C"/>
              </a:buClr>
              <a:buSzPts val="800"/>
              <a:buFont typeface="Consolas"/>
              <a:buNone/>
            </a:pPr>
            <a:r>
              <a:rPr lang="en" sz="800" b="0" i="0" u="none" strike="noStrike" cap="none">
                <a:solidFill>
                  <a:srgbClr val="BE123C"/>
                </a:solidFill>
                <a:latin typeface="Consolas"/>
                <a:ea typeface="Consolas"/>
                <a:cs typeface="Consolas"/>
                <a:sym typeface="Consolas"/>
              </a:rPr>
              <a:t>L3 = −log P(ŷ3)</a:t>
            </a:r>
            <a:endParaRPr sz="800" b="0" i="0" u="none" strike="noStrike" cap="none">
              <a:solidFill>
                <a:schemeClr val="dk1"/>
              </a:solidFill>
              <a:latin typeface="Calibri"/>
              <a:ea typeface="Calibri"/>
              <a:cs typeface="Calibri"/>
              <a:sym typeface="Calibri"/>
            </a:endParaRPr>
          </a:p>
        </p:txBody>
      </p:sp>
      <p:cxnSp>
        <p:nvCxnSpPr>
          <p:cNvPr id="400" name="Google Shape;400;p25"/>
          <p:cNvCxnSpPr/>
          <p:nvPr/>
        </p:nvCxnSpPr>
        <p:spPr>
          <a:xfrm>
            <a:off x="5641848" y="3364992"/>
            <a:ext cx="0" cy="91500"/>
          </a:xfrm>
          <a:prstGeom prst="straightConnector1">
            <a:avLst/>
          </a:prstGeom>
          <a:noFill/>
          <a:ln w="12700" cap="flat" cmpd="sng">
            <a:solidFill>
              <a:srgbClr val="F43F5E"/>
            </a:solidFill>
            <a:prstDash val="solid"/>
            <a:round/>
            <a:headEnd type="none" w="sm" len="sm"/>
            <a:tailEnd type="triangle" w="med" len="med"/>
          </a:ln>
        </p:spPr>
      </p:cxnSp>
      <p:sp>
        <p:nvSpPr>
          <p:cNvPr id="401" name="Google Shape;401;p25"/>
          <p:cNvSpPr/>
          <p:nvPr/>
        </p:nvSpPr>
        <p:spPr>
          <a:xfrm>
            <a:off x="6821424" y="566928"/>
            <a:ext cx="19203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900"/>
              <a:buFont typeface="Consolas"/>
              <a:buNone/>
            </a:pPr>
            <a:r>
              <a:rPr lang="en" sz="900" b="0" i="0" u="none" strike="noStrike" cap="none">
                <a:solidFill>
                  <a:srgbClr val="94A3B8"/>
                </a:solidFill>
                <a:latin typeface="Consolas"/>
                <a:ea typeface="Consolas"/>
                <a:cs typeface="Consolas"/>
                <a:sym typeface="Consolas"/>
              </a:rPr>
              <a:t>t = 4</a:t>
            </a:r>
            <a:endParaRPr sz="900" b="0" i="0" u="none" strike="noStrike" cap="none">
              <a:solidFill>
                <a:schemeClr val="dk1"/>
              </a:solidFill>
              <a:latin typeface="Calibri"/>
              <a:ea typeface="Calibri"/>
              <a:cs typeface="Calibri"/>
              <a:sym typeface="Calibri"/>
            </a:endParaRPr>
          </a:p>
        </p:txBody>
      </p:sp>
      <p:sp>
        <p:nvSpPr>
          <p:cNvPr id="402" name="Google Shape;402;p25"/>
          <p:cNvSpPr/>
          <p:nvPr/>
        </p:nvSpPr>
        <p:spPr>
          <a:xfrm>
            <a:off x="6821424" y="804672"/>
            <a:ext cx="1920300" cy="713100"/>
          </a:xfrm>
          <a:prstGeom prst="rect">
            <a:avLst/>
          </a:prstGeom>
          <a:solidFill>
            <a:srgbClr val="DBEAFE"/>
          </a:solidFill>
          <a:ln w="16500" cap="flat" cmpd="sng">
            <a:solidFill>
              <a:srgbClr val="3B82F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5"/>
          <p:cNvSpPr/>
          <p:nvPr/>
        </p:nvSpPr>
        <p:spPr>
          <a:xfrm>
            <a:off x="6821424" y="868680"/>
            <a:ext cx="192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4ED8"/>
              </a:buClr>
              <a:buSzPts val="1100"/>
              <a:buFont typeface="Calibri"/>
              <a:buNone/>
            </a:pPr>
            <a:r>
              <a:rPr lang="en" sz="1100" b="1" i="0" u="none" strike="noStrike" cap="none">
                <a:solidFill>
                  <a:srgbClr val="1D4ED8"/>
                </a:solidFill>
                <a:latin typeface="Calibri"/>
                <a:ea typeface="Calibri"/>
                <a:cs typeface="Calibri"/>
                <a:sym typeface="Calibri"/>
              </a:rPr>
              <a:t>xₜ = x₄</a:t>
            </a:r>
            <a:endParaRPr sz="1100" b="0" i="0" u="none" strike="noStrike" cap="none">
              <a:solidFill>
                <a:schemeClr val="dk1"/>
              </a:solidFill>
              <a:latin typeface="Calibri"/>
              <a:ea typeface="Calibri"/>
              <a:cs typeface="Calibri"/>
              <a:sym typeface="Calibri"/>
            </a:endParaRPr>
          </a:p>
        </p:txBody>
      </p:sp>
      <p:sp>
        <p:nvSpPr>
          <p:cNvPr id="404" name="Google Shape;404;p25"/>
          <p:cNvSpPr/>
          <p:nvPr/>
        </p:nvSpPr>
        <p:spPr>
          <a:xfrm>
            <a:off x="6876288" y="1152144"/>
            <a:ext cx="18105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B82F6"/>
              </a:buClr>
              <a:buSzPts val="850"/>
              <a:buFont typeface="Consolas"/>
              <a:buNone/>
            </a:pPr>
            <a:r>
              <a:rPr lang="en" sz="850" b="0" i="0" u="none" strike="noStrike" cap="none">
                <a:solidFill>
                  <a:srgbClr val="3B82F6"/>
                </a:solidFill>
                <a:latin typeface="Consolas"/>
                <a:ea typeface="Consolas"/>
                <a:cs typeface="Consolas"/>
                <a:sym typeface="Consolas"/>
              </a:rPr>
              <a:t>input: "on"</a:t>
            </a:r>
            <a:endParaRPr sz="850" b="0" i="0" u="none" strike="noStrike" cap="none">
              <a:solidFill>
                <a:schemeClr val="dk1"/>
              </a:solidFill>
              <a:latin typeface="Calibri"/>
              <a:ea typeface="Calibri"/>
              <a:cs typeface="Calibri"/>
              <a:sym typeface="Calibri"/>
            </a:endParaRPr>
          </a:p>
        </p:txBody>
      </p:sp>
      <p:cxnSp>
        <p:nvCxnSpPr>
          <p:cNvPr id="405" name="Google Shape;405;p25"/>
          <p:cNvCxnSpPr/>
          <p:nvPr/>
        </p:nvCxnSpPr>
        <p:spPr>
          <a:xfrm>
            <a:off x="7781544" y="1536192"/>
            <a:ext cx="0" cy="164700"/>
          </a:xfrm>
          <a:prstGeom prst="straightConnector1">
            <a:avLst/>
          </a:prstGeom>
          <a:noFill/>
          <a:ln w="16500" cap="flat" cmpd="sng">
            <a:solidFill>
              <a:srgbClr val="94A3B8"/>
            </a:solidFill>
            <a:prstDash val="solid"/>
            <a:round/>
            <a:headEnd type="none" w="sm" len="sm"/>
            <a:tailEnd type="triangle" w="med" len="med"/>
          </a:ln>
        </p:spPr>
      </p:cxnSp>
      <p:sp>
        <p:nvSpPr>
          <p:cNvPr id="406" name="Google Shape;406;p25"/>
          <p:cNvSpPr/>
          <p:nvPr/>
        </p:nvSpPr>
        <p:spPr>
          <a:xfrm>
            <a:off x="6821424" y="1719072"/>
            <a:ext cx="1920300" cy="713100"/>
          </a:xfrm>
          <a:prstGeom prst="rect">
            <a:avLst/>
          </a:prstGeom>
          <a:solidFill>
            <a:srgbClr val="DCFCE7"/>
          </a:solidFill>
          <a:ln w="165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5"/>
          <p:cNvSpPr/>
          <p:nvPr/>
        </p:nvSpPr>
        <p:spPr>
          <a:xfrm>
            <a:off x="6821424" y="1783080"/>
            <a:ext cx="192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5803D"/>
              </a:buClr>
              <a:buSzPts val="1100"/>
              <a:buFont typeface="Calibri"/>
              <a:buNone/>
            </a:pPr>
            <a:r>
              <a:rPr lang="en" sz="1100" b="1" i="0" u="none" strike="noStrike" cap="none">
                <a:solidFill>
                  <a:srgbClr val="15803D"/>
                </a:solidFill>
                <a:latin typeface="Calibri"/>
                <a:ea typeface="Calibri"/>
                <a:cs typeface="Calibri"/>
                <a:sym typeface="Calibri"/>
              </a:rPr>
              <a:t>hₜ = h₄</a:t>
            </a:r>
            <a:endParaRPr sz="1100" b="0" i="0" u="none" strike="noStrike" cap="none">
              <a:solidFill>
                <a:schemeClr val="dk1"/>
              </a:solidFill>
              <a:latin typeface="Calibri"/>
              <a:ea typeface="Calibri"/>
              <a:cs typeface="Calibri"/>
              <a:sym typeface="Calibri"/>
            </a:endParaRPr>
          </a:p>
        </p:txBody>
      </p:sp>
      <p:sp>
        <p:nvSpPr>
          <p:cNvPr id="408" name="Google Shape;408;p25"/>
          <p:cNvSpPr/>
          <p:nvPr/>
        </p:nvSpPr>
        <p:spPr>
          <a:xfrm>
            <a:off x="6876288" y="2066544"/>
            <a:ext cx="18105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A34A"/>
              </a:buClr>
              <a:buSzPts val="850"/>
              <a:buFont typeface="Consolas"/>
              <a:buNone/>
            </a:pPr>
            <a:r>
              <a:rPr lang="en" sz="850" b="0" i="0" u="none" strike="noStrike" cap="none">
                <a:solidFill>
                  <a:srgbClr val="16A34A"/>
                </a:solidFill>
                <a:latin typeface="Consolas"/>
                <a:ea typeface="Consolas"/>
                <a:cs typeface="Consolas"/>
                <a:sym typeface="Consolas"/>
              </a:rPr>
              <a:t>tanh(Wₕhₜ₋₁ + Wₓxₜ + b)</a:t>
            </a:r>
            <a:endParaRPr sz="850" b="0" i="0" u="none" strike="noStrike" cap="none">
              <a:solidFill>
                <a:schemeClr val="dk1"/>
              </a:solidFill>
              <a:latin typeface="Calibri"/>
              <a:ea typeface="Calibri"/>
              <a:cs typeface="Calibri"/>
              <a:sym typeface="Calibri"/>
            </a:endParaRPr>
          </a:p>
        </p:txBody>
      </p:sp>
      <p:cxnSp>
        <p:nvCxnSpPr>
          <p:cNvPr id="409" name="Google Shape;409;p25"/>
          <p:cNvCxnSpPr/>
          <p:nvPr/>
        </p:nvCxnSpPr>
        <p:spPr>
          <a:xfrm>
            <a:off x="7781544" y="2450592"/>
            <a:ext cx="0" cy="164700"/>
          </a:xfrm>
          <a:prstGeom prst="straightConnector1">
            <a:avLst/>
          </a:prstGeom>
          <a:noFill/>
          <a:ln w="16500" cap="flat" cmpd="sng">
            <a:solidFill>
              <a:srgbClr val="94A3B8"/>
            </a:solidFill>
            <a:prstDash val="solid"/>
            <a:round/>
            <a:headEnd type="none" w="sm" len="sm"/>
            <a:tailEnd type="triangle" w="med" len="med"/>
          </a:ln>
        </p:spPr>
      </p:cxnSp>
      <p:sp>
        <p:nvSpPr>
          <p:cNvPr id="410" name="Google Shape;410;p25"/>
          <p:cNvSpPr/>
          <p:nvPr/>
        </p:nvSpPr>
        <p:spPr>
          <a:xfrm>
            <a:off x="6821424" y="2633472"/>
            <a:ext cx="1920300" cy="713100"/>
          </a:xfrm>
          <a:prstGeom prst="rect">
            <a:avLst/>
          </a:prstGeom>
          <a:solidFill>
            <a:srgbClr val="F3E8FF"/>
          </a:solidFill>
          <a:ln w="16500" cap="flat" cmpd="sng">
            <a:solidFill>
              <a:srgbClr val="9333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5"/>
          <p:cNvSpPr/>
          <p:nvPr/>
        </p:nvSpPr>
        <p:spPr>
          <a:xfrm>
            <a:off x="6821424" y="2697480"/>
            <a:ext cx="192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E22CE"/>
              </a:buClr>
              <a:buSzPts val="1100"/>
              <a:buFont typeface="Calibri"/>
              <a:buNone/>
            </a:pPr>
            <a:r>
              <a:rPr lang="en" sz="1100" b="1" i="0" u="none" strike="noStrike" cap="none">
                <a:solidFill>
                  <a:srgbClr val="7E22CE"/>
                </a:solidFill>
                <a:latin typeface="Calibri"/>
                <a:ea typeface="Calibri"/>
                <a:cs typeface="Calibri"/>
                <a:sym typeface="Calibri"/>
              </a:rPr>
              <a:t>ŷₜ = g(Wᵧhₜ)</a:t>
            </a:r>
            <a:endParaRPr sz="1100" b="0" i="0" u="none" strike="noStrike" cap="none">
              <a:solidFill>
                <a:schemeClr val="dk1"/>
              </a:solidFill>
              <a:latin typeface="Calibri"/>
              <a:ea typeface="Calibri"/>
              <a:cs typeface="Calibri"/>
              <a:sym typeface="Calibri"/>
            </a:endParaRPr>
          </a:p>
        </p:txBody>
      </p:sp>
      <p:sp>
        <p:nvSpPr>
          <p:cNvPr id="412" name="Google Shape;412;p25"/>
          <p:cNvSpPr/>
          <p:nvPr/>
        </p:nvSpPr>
        <p:spPr>
          <a:xfrm>
            <a:off x="6876288" y="2980944"/>
            <a:ext cx="18105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333EA"/>
              </a:buClr>
              <a:buSzPts val="850"/>
              <a:buFont typeface="Consolas"/>
              <a:buNone/>
            </a:pPr>
            <a:r>
              <a:rPr lang="en" sz="850" b="0" i="0" u="none" strike="noStrike" cap="none">
                <a:solidFill>
                  <a:srgbClr val="9333EA"/>
                </a:solidFill>
                <a:latin typeface="Consolas"/>
                <a:ea typeface="Consolas"/>
                <a:cs typeface="Consolas"/>
                <a:sym typeface="Consolas"/>
              </a:rPr>
              <a:t>predicts: "the"</a:t>
            </a:r>
            <a:endParaRPr sz="850" b="0" i="0" u="none" strike="noStrike" cap="none">
              <a:solidFill>
                <a:schemeClr val="dk1"/>
              </a:solidFill>
              <a:latin typeface="Calibri"/>
              <a:ea typeface="Calibri"/>
              <a:cs typeface="Calibri"/>
              <a:sym typeface="Calibri"/>
            </a:endParaRPr>
          </a:p>
        </p:txBody>
      </p:sp>
      <p:sp>
        <p:nvSpPr>
          <p:cNvPr id="413" name="Google Shape;413;p25"/>
          <p:cNvSpPr/>
          <p:nvPr/>
        </p:nvSpPr>
        <p:spPr>
          <a:xfrm>
            <a:off x="6958584" y="3456432"/>
            <a:ext cx="1645800" cy="292500"/>
          </a:xfrm>
          <a:prstGeom prst="rect">
            <a:avLst/>
          </a:prstGeom>
          <a:solidFill>
            <a:srgbClr val="FFE4E6"/>
          </a:solidFill>
          <a:ln w="10150" cap="flat" cmpd="sng">
            <a:solidFill>
              <a:srgbClr val="F43F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5"/>
          <p:cNvSpPr/>
          <p:nvPr/>
        </p:nvSpPr>
        <p:spPr>
          <a:xfrm>
            <a:off x="6958584" y="3456432"/>
            <a:ext cx="1645800" cy="29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E123C"/>
              </a:buClr>
              <a:buSzPts val="800"/>
              <a:buFont typeface="Consolas"/>
              <a:buNone/>
            </a:pPr>
            <a:r>
              <a:rPr lang="en" sz="800" b="0" i="0" u="none" strike="noStrike" cap="none">
                <a:solidFill>
                  <a:srgbClr val="BE123C"/>
                </a:solidFill>
                <a:latin typeface="Consolas"/>
                <a:ea typeface="Consolas"/>
                <a:cs typeface="Consolas"/>
                <a:sym typeface="Consolas"/>
              </a:rPr>
              <a:t>L4 = −log P(ŷ4)</a:t>
            </a:r>
            <a:endParaRPr sz="800" b="0" i="0" u="none" strike="noStrike" cap="none">
              <a:solidFill>
                <a:schemeClr val="dk1"/>
              </a:solidFill>
              <a:latin typeface="Calibri"/>
              <a:ea typeface="Calibri"/>
              <a:cs typeface="Calibri"/>
              <a:sym typeface="Calibri"/>
            </a:endParaRPr>
          </a:p>
        </p:txBody>
      </p:sp>
      <p:cxnSp>
        <p:nvCxnSpPr>
          <p:cNvPr id="415" name="Google Shape;415;p25"/>
          <p:cNvCxnSpPr/>
          <p:nvPr/>
        </p:nvCxnSpPr>
        <p:spPr>
          <a:xfrm>
            <a:off x="7781544" y="3364992"/>
            <a:ext cx="0" cy="91500"/>
          </a:xfrm>
          <a:prstGeom prst="straightConnector1">
            <a:avLst/>
          </a:prstGeom>
          <a:noFill/>
          <a:ln w="12700" cap="flat" cmpd="sng">
            <a:solidFill>
              <a:srgbClr val="F43F5E"/>
            </a:solidFill>
            <a:prstDash val="solid"/>
            <a:round/>
            <a:headEnd type="none" w="sm" len="sm"/>
            <a:tailEnd type="triangle" w="med" len="med"/>
          </a:ln>
        </p:spPr>
      </p:cxnSp>
      <p:sp>
        <p:nvSpPr>
          <p:cNvPr id="416" name="Google Shape;416;p25"/>
          <p:cNvSpPr/>
          <p:nvPr/>
        </p:nvSpPr>
        <p:spPr>
          <a:xfrm>
            <a:off x="274320" y="4041648"/>
            <a:ext cx="2590800" cy="603600"/>
          </a:xfrm>
          <a:prstGeom prst="rect">
            <a:avLst/>
          </a:prstGeom>
          <a:solidFill>
            <a:srgbClr val="DCFCE7"/>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5"/>
          <p:cNvSpPr/>
          <p:nvPr/>
        </p:nvSpPr>
        <p:spPr>
          <a:xfrm>
            <a:off x="365760" y="4096512"/>
            <a:ext cx="2407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5803D"/>
              </a:buClr>
              <a:buSzPts val="850"/>
              <a:buFont typeface="Calibri"/>
              <a:buNone/>
            </a:pPr>
            <a:r>
              <a:rPr lang="en" sz="850" b="1" i="0" u="none" strike="noStrike" cap="none">
                <a:solidFill>
                  <a:srgbClr val="15803D"/>
                </a:solidFill>
                <a:latin typeface="Calibri"/>
                <a:ea typeface="Calibri"/>
                <a:cs typeface="Calibri"/>
                <a:sym typeface="Calibri"/>
              </a:rPr>
              <a:t>Hidden Update</a:t>
            </a:r>
            <a:endParaRPr sz="850" b="0" i="0" u="none" strike="noStrike" cap="none">
              <a:solidFill>
                <a:schemeClr val="dk1"/>
              </a:solidFill>
              <a:latin typeface="Calibri"/>
              <a:ea typeface="Calibri"/>
              <a:cs typeface="Calibri"/>
              <a:sym typeface="Calibri"/>
            </a:endParaRPr>
          </a:p>
        </p:txBody>
      </p:sp>
      <p:sp>
        <p:nvSpPr>
          <p:cNvPr id="418" name="Google Shape;418;p25"/>
          <p:cNvSpPr/>
          <p:nvPr/>
        </p:nvSpPr>
        <p:spPr>
          <a:xfrm>
            <a:off x="365760" y="4334256"/>
            <a:ext cx="24078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A34A"/>
              </a:buClr>
              <a:buSzPts val="850"/>
              <a:buFont typeface="Consolas"/>
              <a:buNone/>
            </a:pPr>
            <a:r>
              <a:rPr lang="en" sz="850" b="0" i="0" u="none" strike="noStrike" cap="none">
                <a:solidFill>
                  <a:srgbClr val="16A34A"/>
                </a:solidFill>
                <a:latin typeface="Consolas"/>
                <a:ea typeface="Consolas"/>
                <a:cs typeface="Consolas"/>
                <a:sym typeface="Consolas"/>
              </a:rPr>
              <a:t>hₜ = tanh( Wₕ·hₜ₋₁ + Wₓ·xₜ + b )</a:t>
            </a:r>
            <a:endParaRPr sz="850" b="0" i="0" u="none" strike="noStrike" cap="none">
              <a:solidFill>
                <a:schemeClr val="dk1"/>
              </a:solidFill>
              <a:latin typeface="Calibri"/>
              <a:ea typeface="Calibri"/>
              <a:cs typeface="Calibri"/>
              <a:sym typeface="Calibri"/>
            </a:endParaRPr>
          </a:p>
        </p:txBody>
      </p:sp>
      <p:sp>
        <p:nvSpPr>
          <p:cNvPr id="419" name="Google Shape;419;p25"/>
          <p:cNvSpPr/>
          <p:nvPr/>
        </p:nvSpPr>
        <p:spPr>
          <a:xfrm>
            <a:off x="3139440" y="4041648"/>
            <a:ext cx="2590800" cy="603600"/>
          </a:xfrm>
          <a:prstGeom prst="rect">
            <a:avLst/>
          </a:prstGeom>
          <a:solidFill>
            <a:srgbClr val="F3E8FF"/>
          </a:solidFill>
          <a:ln w="12700" cap="flat" cmpd="sng">
            <a:solidFill>
              <a:srgbClr val="9333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5"/>
          <p:cNvSpPr/>
          <p:nvPr/>
        </p:nvSpPr>
        <p:spPr>
          <a:xfrm>
            <a:off x="3230880" y="4096512"/>
            <a:ext cx="2407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E22CE"/>
              </a:buClr>
              <a:buSzPts val="850"/>
              <a:buFont typeface="Calibri"/>
              <a:buNone/>
            </a:pPr>
            <a:r>
              <a:rPr lang="en" sz="850" b="1" i="0" u="none" strike="noStrike" cap="none">
                <a:solidFill>
                  <a:srgbClr val="7E22CE"/>
                </a:solidFill>
                <a:latin typeface="Calibri"/>
                <a:ea typeface="Calibri"/>
                <a:cs typeface="Calibri"/>
                <a:sym typeface="Calibri"/>
              </a:rPr>
              <a:t>Output</a:t>
            </a:r>
            <a:endParaRPr sz="850" b="0" i="0" u="none" strike="noStrike" cap="none">
              <a:solidFill>
                <a:schemeClr val="dk1"/>
              </a:solidFill>
              <a:latin typeface="Calibri"/>
              <a:ea typeface="Calibri"/>
              <a:cs typeface="Calibri"/>
              <a:sym typeface="Calibri"/>
            </a:endParaRPr>
          </a:p>
        </p:txBody>
      </p:sp>
      <p:sp>
        <p:nvSpPr>
          <p:cNvPr id="421" name="Google Shape;421;p25"/>
          <p:cNvSpPr/>
          <p:nvPr/>
        </p:nvSpPr>
        <p:spPr>
          <a:xfrm>
            <a:off x="3230880" y="4334256"/>
            <a:ext cx="24078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333EA"/>
              </a:buClr>
              <a:buSzPts val="850"/>
              <a:buFont typeface="Consolas"/>
              <a:buNone/>
            </a:pPr>
            <a:r>
              <a:rPr lang="en" sz="850" b="0" i="0" u="none" strike="noStrike" cap="none">
                <a:solidFill>
                  <a:srgbClr val="9333EA"/>
                </a:solidFill>
                <a:latin typeface="Consolas"/>
                <a:ea typeface="Consolas"/>
                <a:cs typeface="Consolas"/>
                <a:sym typeface="Consolas"/>
              </a:rPr>
              <a:t>yₜ = g( Wᵧ · hₜ )</a:t>
            </a:r>
            <a:endParaRPr sz="850" b="0" i="0" u="none" strike="noStrike" cap="none">
              <a:solidFill>
                <a:schemeClr val="dk1"/>
              </a:solidFill>
              <a:latin typeface="Calibri"/>
              <a:ea typeface="Calibri"/>
              <a:cs typeface="Calibri"/>
              <a:sym typeface="Calibri"/>
            </a:endParaRPr>
          </a:p>
        </p:txBody>
      </p:sp>
      <p:sp>
        <p:nvSpPr>
          <p:cNvPr id="422" name="Google Shape;422;p25"/>
          <p:cNvSpPr/>
          <p:nvPr/>
        </p:nvSpPr>
        <p:spPr>
          <a:xfrm>
            <a:off x="6004560" y="4041648"/>
            <a:ext cx="2590800" cy="603600"/>
          </a:xfrm>
          <a:prstGeom prst="rect">
            <a:avLst/>
          </a:prstGeom>
          <a:solidFill>
            <a:srgbClr val="FFE4E6"/>
          </a:solidFill>
          <a:ln w="12700" cap="flat" cmpd="sng">
            <a:solidFill>
              <a:srgbClr val="F43F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5"/>
          <p:cNvSpPr/>
          <p:nvPr/>
        </p:nvSpPr>
        <p:spPr>
          <a:xfrm>
            <a:off x="6096000" y="4096512"/>
            <a:ext cx="2407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E123C"/>
              </a:buClr>
              <a:buSzPts val="850"/>
              <a:buFont typeface="Calibri"/>
              <a:buNone/>
            </a:pPr>
            <a:r>
              <a:rPr lang="en" sz="850" b="1" i="0" u="none" strike="noStrike" cap="none">
                <a:solidFill>
                  <a:srgbClr val="BE123C"/>
                </a:solidFill>
                <a:latin typeface="Calibri"/>
                <a:ea typeface="Calibri"/>
                <a:cs typeface="Calibri"/>
                <a:sym typeface="Calibri"/>
              </a:rPr>
              <a:t>Total Loss</a:t>
            </a:r>
            <a:endParaRPr sz="850" b="0" i="0" u="none" strike="noStrike" cap="none">
              <a:solidFill>
                <a:schemeClr val="dk1"/>
              </a:solidFill>
              <a:latin typeface="Calibri"/>
              <a:ea typeface="Calibri"/>
              <a:cs typeface="Calibri"/>
              <a:sym typeface="Calibri"/>
            </a:endParaRPr>
          </a:p>
        </p:txBody>
      </p:sp>
      <p:sp>
        <p:nvSpPr>
          <p:cNvPr id="424" name="Google Shape;424;p25"/>
          <p:cNvSpPr/>
          <p:nvPr/>
        </p:nvSpPr>
        <p:spPr>
          <a:xfrm>
            <a:off x="6096000" y="4334256"/>
            <a:ext cx="24078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3F5E"/>
              </a:buClr>
              <a:buSzPts val="850"/>
              <a:buFont typeface="Consolas"/>
              <a:buNone/>
            </a:pPr>
            <a:r>
              <a:rPr lang="en" sz="850" b="0" i="0" u="none" strike="noStrike" cap="none">
                <a:solidFill>
                  <a:srgbClr val="F43F5E"/>
                </a:solidFill>
                <a:latin typeface="Consolas"/>
                <a:ea typeface="Consolas"/>
                <a:cs typeface="Consolas"/>
                <a:sym typeface="Consolas"/>
              </a:rPr>
              <a:t>L = −Σₜ log P(yₜ | x₁…xₜ)</a:t>
            </a:r>
            <a:endParaRPr sz="850" b="0" i="0" u="none" strike="noStrike" cap="none">
              <a:solidFill>
                <a:schemeClr val="dk1"/>
              </a:solidFill>
              <a:latin typeface="Calibri"/>
              <a:ea typeface="Calibri"/>
              <a:cs typeface="Calibri"/>
              <a:sym typeface="Calibri"/>
            </a:endParaRPr>
          </a:p>
        </p:txBody>
      </p:sp>
      <p:sp>
        <p:nvSpPr>
          <p:cNvPr id="425" name="Google Shape;425;p25"/>
          <p:cNvSpPr/>
          <p:nvPr/>
        </p:nvSpPr>
        <p:spPr>
          <a:xfrm>
            <a:off x="274320" y="4773168"/>
            <a:ext cx="118800" cy="118800"/>
          </a:xfrm>
          <a:prstGeom prst="rect">
            <a:avLst/>
          </a:prstGeom>
          <a:solidFill>
            <a:srgbClr val="3B82F6"/>
          </a:solidFill>
          <a:ln w="12700" cap="flat" cmpd="sng">
            <a:solidFill>
              <a:srgbClr val="3B82F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5"/>
          <p:cNvSpPr/>
          <p:nvPr/>
        </p:nvSpPr>
        <p:spPr>
          <a:xfrm>
            <a:off x="438912" y="4773168"/>
            <a:ext cx="1508700" cy="118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0"/>
              <a:buFont typeface="Calibri"/>
              <a:buNone/>
            </a:pPr>
            <a:r>
              <a:rPr lang="en" sz="750" b="0" i="0" u="none" strike="noStrike" cap="none">
                <a:solidFill>
                  <a:srgbClr val="64748B"/>
                </a:solidFill>
                <a:latin typeface="Calibri"/>
                <a:ea typeface="Calibri"/>
                <a:cs typeface="Calibri"/>
                <a:sym typeface="Calibri"/>
              </a:rPr>
              <a:t>Input xₜ</a:t>
            </a:r>
            <a:endParaRPr sz="750" b="0" i="0" u="none" strike="noStrike" cap="none">
              <a:solidFill>
                <a:schemeClr val="dk1"/>
              </a:solidFill>
              <a:latin typeface="Calibri"/>
              <a:ea typeface="Calibri"/>
              <a:cs typeface="Calibri"/>
              <a:sym typeface="Calibri"/>
            </a:endParaRPr>
          </a:p>
        </p:txBody>
      </p:sp>
      <p:sp>
        <p:nvSpPr>
          <p:cNvPr id="427" name="Google Shape;427;p25"/>
          <p:cNvSpPr/>
          <p:nvPr/>
        </p:nvSpPr>
        <p:spPr>
          <a:xfrm>
            <a:off x="1993392" y="4773168"/>
            <a:ext cx="118800" cy="118800"/>
          </a:xfrm>
          <a:prstGeom prst="rect">
            <a:avLst/>
          </a:prstGeom>
          <a:solidFill>
            <a:srgbClr val="16A34A"/>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5"/>
          <p:cNvSpPr/>
          <p:nvPr/>
        </p:nvSpPr>
        <p:spPr>
          <a:xfrm>
            <a:off x="2157984" y="4773168"/>
            <a:ext cx="1508700" cy="118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0"/>
              <a:buFont typeface="Calibri"/>
              <a:buNone/>
            </a:pPr>
            <a:r>
              <a:rPr lang="en" sz="750" b="0" i="0" u="none" strike="noStrike" cap="none">
                <a:solidFill>
                  <a:srgbClr val="64748B"/>
                </a:solidFill>
                <a:latin typeface="Calibri"/>
                <a:ea typeface="Calibri"/>
                <a:cs typeface="Calibri"/>
                <a:sym typeface="Calibri"/>
              </a:rPr>
              <a:t>Hidden hₜ</a:t>
            </a:r>
            <a:endParaRPr sz="750" b="0" i="0" u="none" strike="noStrike" cap="none">
              <a:solidFill>
                <a:schemeClr val="dk1"/>
              </a:solidFill>
              <a:latin typeface="Calibri"/>
              <a:ea typeface="Calibri"/>
              <a:cs typeface="Calibri"/>
              <a:sym typeface="Calibri"/>
            </a:endParaRPr>
          </a:p>
        </p:txBody>
      </p:sp>
      <p:sp>
        <p:nvSpPr>
          <p:cNvPr id="429" name="Google Shape;429;p25"/>
          <p:cNvSpPr/>
          <p:nvPr/>
        </p:nvSpPr>
        <p:spPr>
          <a:xfrm>
            <a:off x="3712464" y="4773168"/>
            <a:ext cx="118800" cy="118800"/>
          </a:xfrm>
          <a:prstGeom prst="rect">
            <a:avLst/>
          </a:prstGeom>
          <a:solidFill>
            <a:srgbClr val="9333EA"/>
          </a:solidFill>
          <a:ln w="12700" cap="flat" cmpd="sng">
            <a:solidFill>
              <a:srgbClr val="9333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5"/>
          <p:cNvSpPr/>
          <p:nvPr/>
        </p:nvSpPr>
        <p:spPr>
          <a:xfrm>
            <a:off x="3877056" y="4773168"/>
            <a:ext cx="1508700" cy="118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0"/>
              <a:buFont typeface="Calibri"/>
              <a:buNone/>
            </a:pPr>
            <a:r>
              <a:rPr lang="en" sz="750" b="0" i="0" u="none" strike="noStrike" cap="none">
                <a:solidFill>
                  <a:srgbClr val="64748B"/>
                </a:solidFill>
                <a:latin typeface="Calibri"/>
                <a:ea typeface="Calibri"/>
                <a:cs typeface="Calibri"/>
                <a:sym typeface="Calibri"/>
              </a:rPr>
              <a:t>Output ŷₜ</a:t>
            </a:r>
            <a:endParaRPr sz="750" b="0" i="0" u="none" strike="noStrike" cap="none">
              <a:solidFill>
                <a:schemeClr val="dk1"/>
              </a:solidFill>
              <a:latin typeface="Calibri"/>
              <a:ea typeface="Calibri"/>
              <a:cs typeface="Calibri"/>
              <a:sym typeface="Calibri"/>
            </a:endParaRPr>
          </a:p>
        </p:txBody>
      </p:sp>
      <p:sp>
        <p:nvSpPr>
          <p:cNvPr id="431" name="Google Shape;431;p25"/>
          <p:cNvSpPr/>
          <p:nvPr/>
        </p:nvSpPr>
        <p:spPr>
          <a:xfrm>
            <a:off x="5431536" y="4773168"/>
            <a:ext cx="118800" cy="118800"/>
          </a:xfrm>
          <a:prstGeom prst="rect">
            <a:avLst/>
          </a:prstGeom>
          <a:solidFill>
            <a:srgbClr val="F43F5E"/>
          </a:solidFill>
          <a:ln w="12700" cap="flat" cmpd="sng">
            <a:solidFill>
              <a:srgbClr val="F43F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5"/>
          <p:cNvSpPr/>
          <p:nvPr/>
        </p:nvSpPr>
        <p:spPr>
          <a:xfrm>
            <a:off x="5596128" y="4773168"/>
            <a:ext cx="1508700" cy="118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0"/>
              <a:buFont typeface="Calibri"/>
              <a:buNone/>
            </a:pPr>
            <a:r>
              <a:rPr lang="en" sz="750" b="0" i="0" u="none" strike="noStrike" cap="none">
                <a:solidFill>
                  <a:srgbClr val="64748B"/>
                </a:solidFill>
                <a:latin typeface="Calibri"/>
                <a:ea typeface="Calibri"/>
                <a:cs typeface="Calibri"/>
                <a:sym typeface="Calibri"/>
              </a:rPr>
              <a:t>Loss Lₜ</a:t>
            </a:r>
            <a:endParaRPr sz="750" b="0" i="0" u="none" strike="noStrike" cap="none">
              <a:solidFill>
                <a:schemeClr val="dk1"/>
              </a:solidFill>
              <a:latin typeface="Calibri"/>
              <a:ea typeface="Calibri"/>
              <a:cs typeface="Calibri"/>
              <a:sym typeface="Calibri"/>
            </a:endParaRPr>
          </a:p>
        </p:txBody>
      </p:sp>
      <p:sp>
        <p:nvSpPr>
          <p:cNvPr id="433" name="Google Shape;433;p25"/>
          <p:cNvSpPr/>
          <p:nvPr/>
        </p:nvSpPr>
        <p:spPr>
          <a:xfrm>
            <a:off x="7150608" y="4773168"/>
            <a:ext cx="118800" cy="118800"/>
          </a:xfrm>
          <a:prstGeom prst="rect">
            <a:avLst/>
          </a:prstGeom>
          <a:solidFill>
            <a:srgbClr val="16A34A"/>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5"/>
          <p:cNvSpPr/>
          <p:nvPr/>
        </p:nvSpPr>
        <p:spPr>
          <a:xfrm>
            <a:off x="7315200" y="4773168"/>
            <a:ext cx="1508700" cy="118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0"/>
              <a:buFont typeface="Calibri"/>
              <a:buNone/>
            </a:pPr>
            <a:r>
              <a:rPr lang="en" sz="750" b="0" i="0" u="none" strike="noStrike" cap="none">
                <a:solidFill>
                  <a:srgbClr val="64748B"/>
                </a:solidFill>
                <a:latin typeface="Calibri"/>
                <a:ea typeface="Calibri"/>
                <a:cs typeface="Calibri"/>
                <a:sym typeface="Calibri"/>
              </a:rPr>
              <a:t>Recurrent hₜ→hₜ₊₁</a:t>
            </a:r>
            <a:endParaRPr sz="750" b="0" i="0" u="none" strike="noStrike" cap="none">
              <a:solidFill>
                <a:schemeClr val="dk1"/>
              </a:solidFill>
              <a:latin typeface="Calibri"/>
              <a:ea typeface="Calibri"/>
              <a:cs typeface="Calibri"/>
              <a:sym typeface="Calibri"/>
            </a:endParaRPr>
          </a:p>
        </p:txBody>
      </p:sp>
      <p:sp>
        <p:nvSpPr>
          <p:cNvPr id="435" name="Google Shape;435;p25"/>
          <p:cNvSpPr/>
          <p:nvPr/>
        </p:nvSpPr>
        <p:spPr>
          <a:xfrm>
            <a:off x="274320" y="4828032"/>
            <a:ext cx="8595300" cy="164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4A3B8"/>
              </a:buClr>
              <a:buSzPts val="800"/>
              <a:buFont typeface="Calibri"/>
              <a:buNone/>
            </a:pPr>
            <a:r>
              <a:rPr lang="en" sz="800" b="0" i="0" u="none" strike="noStrike" cap="none">
                <a:solidFill>
                  <a:srgbClr val="94A3B8"/>
                </a:solidFill>
                <a:latin typeface="Calibri"/>
                <a:ea typeface="Calibri"/>
                <a:cs typeface="Calibri"/>
                <a:sym typeface="Calibri"/>
              </a:rPr>
              <a:t>Deep Learning · IIT Kharagpur</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26"/>
          <p:cNvSpPr/>
          <p:nvPr/>
        </p:nvSpPr>
        <p:spPr>
          <a:xfrm>
            <a:off x="132375" y="181485"/>
            <a:ext cx="82296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600"/>
              <a:buFont typeface="Calibri"/>
              <a:buNone/>
            </a:pPr>
            <a:r>
              <a:rPr lang="en" sz="2600" b="1">
                <a:solidFill>
                  <a:srgbClr val="0D1B2A"/>
                </a:solidFill>
                <a:latin typeface="Calibri"/>
                <a:ea typeface="Calibri"/>
                <a:cs typeface="Calibri"/>
                <a:sym typeface="Calibri"/>
              </a:rPr>
              <a:t>Quiz 1</a:t>
            </a:r>
            <a:endParaRPr sz="2600">
              <a:solidFill>
                <a:srgbClr val="000000"/>
              </a:solidFill>
              <a:latin typeface="Calibri"/>
              <a:ea typeface="Calibri"/>
              <a:cs typeface="Calibri"/>
              <a:sym typeface="Calibri"/>
            </a:endParaRPr>
          </a:p>
        </p:txBody>
      </p:sp>
      <p:pic>
        <p:nvPicPr>
          <p:cNvPr id="441" name="Google Shape;441;p26"/>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442" name="Google Shape;442;p26"/>
          <p:cNvSpPr txBox="1"/>
          <p:nvPr/>
        </p:nvSpPr>
        <p:spPr>
          <a:xfrm>
            <a:off x="132375" y="719175"/>
            <a:ext cx="7038000" cy="392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700">
                <a:solidFill>
                  <a:schemeClr val="dk1"/>
                </a:solidFill>
                <a:latin typeface="Calibri"/>
                <a:ea typeface="Calibri"/>
                <a:cs typeface="Calibri"/>
                <a:sym typeface="Calibri"/>
              </a:rPr>
              <a:t>A team feeds 50,000-word legal rulings into a vanilla RNN for case outcome classification. Critical evidence appears in the opening paragraphs.</a:t>
            </a:r>
            <a:endParaRPr sz="17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700">
                <a:solidFill>
                  <a:schemeClr val="dk1"/>
                </a:solidFill>
                <a:latin typeface="Calibri"/>
                <a:ea typeface="Calibri"/>
                <a:cs typeface="Calibri"/>
                <a:sym typeface="Calibri"/>
              </a:rPr>
              <a:t>Observation :  The model fails on long documents despite performing well on short ones.</a:t>
            </a:r>
            <a:endParaRPr sz="17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700">
                <a:solidFill>
                  <a:schemeClr val="dk1"/>
                </a:solidFill>
                <a:latin typeface="Calibri"/>
                <a:ea typeface="Calibri"/>
                <a:cs typeface="Calibri"/>
                <a:sym typeface="Calibri"/>
              </a:rPr>
              <a:t>Question: What best explains this failure?</a:t>
            </a:r>
            <a:endParaRPr sz="1700">
              <a:solidFill>
                <a:schemeClr val="dk1"/>
              </a:solidFill>
              <a:latin typeface="Calibri"/>
              <a:ea typeface="Calibri"/>
              <a:cs typeface="Calibri"/>
              <a:sym typeface="Calibri"/>
            </a:endParaRPr>
          </a:p>
          <a:p>
            <a:pPr marL="457200" lvl="0" indent="0" algn="l" rtl="0">
              <a:lnSpc>
                <a:spcPct val="115000"/>
              </a:lnSpc>
              <a:spcBef>
                <a:spcPts val="1200"/>
              </a:spcBef>
              <a:spcAft>
                <a:spcPts val="0"/>
              </a:spcAft>
              <a:buNone/>
            </a:pPr>
            <a:r>
              <a:rPr lang="en" sz="1700">
                <a:solidFill>
                  <a:schemeClr val="dk1"/>
                </a:solidFill>
                <a:latin typeface="Calibri"/>
                <a:ea typeface="Calibri"/>
                <a:cs typeface="Calibri"/>
                <a:sym typeface="Calibri"/>
              </a:rPr>
              <a:t>(A) Earlier information becomes harder to preserve as sequence length grows.</a:t>
            </a:r>
            <a:endParaRPr sz="1700">
              <a:solidFill>
                <a:schemeClr val="dk1"/>
              </a:solidFill>
              <a:latin typeface="Calibri"/>
              <a:ea typeface="Calibri"/>
              <a:cs typeface="Calibri"/>
              <a:sym typeface="Calibri"/>
            </a:endParaRPr>
          </a:p>
          <a:p>
            <a:pPr marL="457200" lvl="0" indent="0" algn="l" rtl="0">
              <a:lnSpc>
                <a:spcPct val="115000"/>
              </a:lnSpc>
              <a:spcBef>
                <a:spcPts val="1200"/>
              </a:spcBef>
              <a:spcAft>
                <a:spcPts val="0"/>
              </a:spcAft>
              <a:buNone/>
            </a:pPr>
            <a:r>
              <a:rPr lang="en" sz="1700">
                <a:solidFill>
                  <a:schemeClr val="dk1"/>
                </a:solidFill>
                <a:latin typeface="Calibri"/>
                <a:ea typeface="Calibri"/>
                <a:cs typeface="Calibri"/>
                <a:sym typeface="Calibri"/>
              </a:rPr>
              <a:t>(B) Earlier information gets amplified and becomes more important over time.</a:t>
            </a:r>
            <a:endParaRPr sz="1700">
              <a:solidFill>
                <a:schemeClr val="dk1"/>
              </a:solidFill>
              <a:latin typeface="Calibri"/>
              <a:ea typeface="Calibri"/>
              <a:cs typeface="Calibri"/>
              <a:sym typeface="Calibri"/>
            </a:endParaRPr>
          </a:p>
          <a:p>
            <a:pPr marL="457200" lvl="0" indent="0" algn="l" rtl="0">
              <a:lnSpc>
                <a:spcPct val="115000"/>
              </a:lnSpc>
              <a:spcBef>
                <a:spcPts val="1200"/>
              </a:spcBef>
              <a:spcAft>
                <a:spcPts val="1200"/>
              </a:spcAft>
              <a:buNone/>
            </a:pPr>
            <a:r>
              <a:rPr lang="en" sz="1700">
                <a:solidFill>
                  <a:schemeClr val="dk1"/>
                </a:solidFill>
                <a:latin typeface="Calibri"/>
                <a:ea typeface="Calibri"/>
                <a:cs typeface="Calibri"/>
                <a:sym typeface="Calibri"/>
              </a:rPr>
              <a:t>(C) RNNs remember all timesteps equally well regardless of length.</a:t>
            </a:r>
            <a:endParaRPr sz="1100">
              <a:solidFill>
                <a:schemeClr val="dk1"/>
              </a:solidFill>
            </a:endParaRPr>
          </a:p>
        </p:txBody>
      </p:sp>
      <p:pic>
        <p:nvPicPr>
          <p:cNvPr id="443" name="Google Shape;443;p26"/>
          <p:cNvPicPr preferRelativeResize="0"/>
          <p:nvPr/>
        </p:nvPicPr>
        <p:blipFill>
          <a:blip r:embed="rId4">
            <a:alphaModFix/>
          </a:blip>
          <a:stretch>
            <a:fillRect/>
          </a:stretch>
        </p:blipFill>
        <p:spPr>
          <a:xfrm>
            <a:off x="7071400" y="1219348"/>
            <a:ext cx="1928875" cy="2704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27"/>
          <p:cNvSpPr/>
          <p:nvPr/>
        </p:nvSpPr>
        <p:spPr>
          <a:xfrm>
            <a:off x="132375" y="181485"/>
            <a:ext cx="82296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600"/>
              <a:buFont typeface="Calibri"/>
              <a:buNone/>
            </a:pPr>
            <a:r>
              <a:rPr lang="en" sz="2600" b="1">
                <a:solidFill>
                  <a:srgbClr val="0D1B2A"/>
                </a:solidFill>
                <a:latin typeface="Calibri"/>
                <a:ea typeface="Calibri"/>
                <a:cs typeface="Calibri"/>
                <a:sym typeface="Calibri"/>
              </a:rPr>
              <a:t>Quiz 1</a:t>
            </a:r>
            <a:endParaRPr sz="2600">
              <a:solidFill>
                <a:srgbClr val="000000"/>
              </a:solidFill>
              <a:latin typeface="Calibri"/>
              <a:ea typeface="Calibri"/>
              <a:cs typeface="Calibri"/>
              <a:sym typeface="Calibri"/>
            </a:endParaRPr>
          </a:p>
        </p:txBody>
      </p:sp>
      <p:pic>
        <p:nvPicPr>
          <p:cNvPr id="449" name="Google Shape;449;p27"/>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450" name="Google Shape;450;p27"/>
          <p:cNvSpPr txBox="1"/>
          <p:nvPr/>
        </p:nvSpPr>
        <p:spPr>
          <a:xfrm>
            <a:off x="91875" y="751225"/>
            <a:ext cx="7038000" cy="392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700">
                <a:solidFill>
                  <a:schemeClr val="dk1"/>
                </a:solidFill>
                <a:latin typeface="Calibri"/>
                <a:ea typeface="Calibri"/>
                <a:cs typeface="Calibri"/>
                <a:sym typeface="Calibri"/>
              </a:rPr>
              <a:t>A team feeds 50,000-word legal rulings into a vanilla RNN for case outcome classification. Critical evidence appears in the opening paragraphs.</a:t>
            </a:r>
            <a:endParaRPr sz="17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700">
                <a:solidFill>
                  <a:schemeClr val="dk1"/>
                </a:solidFill>
                <a:latin typeface="Calibri"/>
                <a:ea typeface="Calibri"/>
                <a:cs typeface="Calibri"/>
                <a:sym typeface="Calibri"/>
              </a:rPr>
              <a:t>Observation :  The model fails on long documents despite performing well on short ones.</a:t>
            </a:r>
            <a:endParaRPr sz="17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700">
                <a:solidFill>
                  <a:schemeClr val="dk1"/>
                </a:solidFill>
                <a:latin typeface="Calibri"/>
                <a:ea typeface="Calibri"/>
                <a:cs typeface="Calibri"/>
                <a:sym typeface="Calibri"/>
              </a:rPr>
              <a:t>Question: What best explains this failure?</a:t>
            </a:r>
            <a:endParaRPr sz="1700">
              <a:solidFill>
                <a:schemeClr val="dk1"/>
              </a:solidFill>
              <a:latin typeface="Calibri"/>
              <a:ea typeface="Calibri"/>
              <a:cs typeface="Calibri"/>
              <a:sym typeface="Calibri"/>
            </a:endParaRPr>
          </a:p>
          <a:p>
            <a:pPr marL="457200" lvl="0" indent="0" algn="l" rtl="0">
              <a:lnSpc>
                <a:spcPct val="115000"/>
              </a:lnSpc>
              <a:spcBef>
                <a:spcPts val="1200"/>
              </a:spcBef>
              <a:spcAft>
                <a:spcPts val="0"/>
              </a:spcAft>
              <a:buNone/>
            </a:pPr>
            <a:r>
              <a:rPr lang="en" sz="1700">
                <a:solidFill>
                  <a:schemeClr val="dk1"/>
                </a:solidFill>
                <a:latin typeface="Calibri"/>
                <a:ea typeface="Calibri"/>
                <a:cs typeface="Calibri"/>
                <a:sym typeface="Calibri"/>
              </a:rPr>
              <a:t>(A) Earlier information becomes harder to preserve as sequence length grows.</a:t>
            </a:r>
            <a:endParaRPr sz="1700">
              <a:solidFill>
                <a:schemeClr val="dk1"/>
              </a:solidFill>
              <a:latin typeface="Calibri"/>
              <a:ea typeface="Calibri"/>
              <a:cs typeface="Calibri"/>
              <a:sym typeface="Calibri"/>
            </a:endParaRPr>
          </a:p>
          <a:p>
            <a:pPr marL="457200" lvl="0" indent="0" algn="l" rtl="0">
              <a:lnSpc>
                <a:spcPct val="115000"/>
              </a:lnSpc>
              <a:spcBef>
                <a:spcPts val="1200"/>
              </a:spcBef>
              <a:spcAft>
                <a:spcPts val="0"/>
              </a:spcAft>
              <a:buNone/>
            </a:pPr>
            <a:r>
              <a:rPr lang="en" sz="1700">
                <a:solidFill>
                  <a:schemeClr val="dk1"/>
                </a:solidFill>
                <a:latin typeface="Calibri"/>
                <a:ea typeface="Calibri"/>
                <a:cs typeface="Calibri"/>
                <a:sym typeface="Calibri"/>
              </a:rPr>
              <a:t>(B) Earlier information gets amplified and becomes more important over time.</a:t>
            </a:r>
            <a:endParaRPr sz="1700">
              <a:solidFill>
                <a:schemeClr val="dk1"/>
              </a:solidFill>
              <a:latin typeface="Calibri"/>
              <a:ea typeface="Calibri"/>
              <a:cs typeface="Calibri"/>
              <a:sym typeface="Calibri"/>
            </a:endParaRPr>
          </a:p>
          <a:p>
            <a:pPr marL="457200" lvl="0" indent="0" algn="l" rtl="0">
              <a:lnSpc>
                <a:spcPct val="115000"/>
              </a:lnSpc>
              <a:spcBef>
                <a:spcPts val="1200"/>
              </a:spcBef>
              <a:spcAft>
                <a:spcPts val="1200"/>
              </a:spcAft>
              <a:buNone/>
            </a:pPr>
            <a:r>
              <a:rPr lang="en" sz="1700">
                <a:solidFill>
                  <a:schemeClr val="dk1"/>
                </a:solidFill>
                <a:latin typeface="Calibri"/>
                <a:ea typeface="Calibri"/>
                <a:cs typeface="Calibri"/>
                <a:sym typeface="Calibri"/>
              </a:rPr>
              <a:t>(C) RNNs remember all timesteps equally well regardless of length.</a:t>
            </a:r>
            <a:endParaRPr sz="1100">
              <a:solidFill>
                <a:schemeClr val="dk1"/>
              </a:solidFill>
            </a:endParaRPr>
          </a:p>
        </p:txBody>
      </p:sp>
      <p:sp>
        <p:nvSpPr>
          <p:cNvPr id="451" name="Google Shape;451;p27"/>
          <p:cNvSpPr txBox="1"/>
          <p:nvPr/>
        </p:nvSpPr>
        <p:spPr>
          <a:xfrm>
            <a:off x="1335906" y="3057229"/>
            <a:ext cx="509700" cy="44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700">
                <a:solidFill>
                  <a:schemeClr val="dk1"/>
                </a:solidFill>
                <a:latin typeface="Calibri"/>
                <a:ea typeface="Calibri"/>
                <a:cs typeface="Calibri"/>
                <a:sym typeface="Calibri"/>
              </a:rPr>
              <a:t>✅</a:t>
            </a:r>
            <a:endParaRPr/>
          </a:p>
        </p:txBody>
      </p:sp>
      <p:pic>
        <p:nvPicPr>
          <p:cNvPr id="452" name="Google Shape;452;p27"/>
          <p:cNvPicPr preferRelativeResize="0"/>
          <p:nvPr/>
        </p:nvPicPr>
        <p:blipFill>
          <a:blip r:embed="rId4">
            <a:alphaModFix/>
          </a:blip>
          <a:stretch>
            <a:fillRect/>
          </a:stretch>
        </p:blipFill>
        <p:spPr>
          <a:xfrm>
            <a:off x="7076375" y="1210674"/>
            <a:ext cx="1941250" cy="2722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8"/>
          <p:cNvSpPr/>
          <p:nvPr/>
        </p:nvSpPr>
        <p:spPr>
          <a:xfrm>
            <a:off x="132375" y="181485"/>
            <a:ext cx="82296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600"/>
              <a:buFont typeface="Calibri"/>
              <a:buNone/>
            </a:pPr>
            <a:r>
              <a:rPr lang="en" sz="2600" b="1">
                <a:solidFill>
                  <a:srgbClr val="0D1B2A"/>
                </a:solidFill>
                <a:latin typeface="Calibri"/>
                <a:ea typeface="Calibri"/>
                <a:cs typeface="Calibri"/>
                <a:sym typeface="Calibri"/>
              </a:rPr>
              <a:t>Quiz 1 (Explanation)</a:t>
            </a:r>
            <a:endParaRPr sz="2600">
              <a:solidFill>
                <a:srgbClr val="000000"/>
              </a:solidFill>
              <a:latin typeface="Calibri"/>
              <a:ea typeface="Calibri"/>
              <a:cs typeface="Calibri"/>
              <a:sym typeface="Calibri"/>
            </a:endParaRPr>
          </a:p>
        </p:txBody>
      </p:sp>
      <p:pic>
        <p:nvPicPr>
          <p:cNvPr id="458" name="Google Shape;458;p28"/>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459" name="Google Shape;459;p28"/>
          <p:cNvSpPr/>
          <p:nvPr/>
        </p:nvSpPr>
        <p:spPr>
          <a:xfrm>
            <a:off x="86630" y="1015314"/>
            <a:ext cx="83211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400"/>
              <a:buFont typeface="Calibri"/>
              <a:buNone/>
            </a:pPr>
            <a:r>
              <a:rPr lang="en" sz="1400" b="1" i="0" u="none" strike="noStrike" cap="none">
                <a:solidFill>
                  <a:srgbClr val="1E293B"/>
                </a:solidFill>
                <a:latin typeface="Calibri"/>
                <a:ea typeface="Calibri"/>
                <a:cs typeface="Calibri"/>
                <a:sym typeface="Calibri"/>
              </a:rPr>
              <a:t>What best explains this failure?</a:t>
            </a:r>
            <a:endParaRPr sz="1400" b="0" i="0" u="none" strike="noStrike" cap="none">
              <a:solidFill>
                <a:srgbClr val="000000"/>
              </a:solidFill>
              <a:latin typeface="Calibri"/>
              <a:ea typeface="Calibri"/>
              <a:cs typeface="Calibri"/>
              <a:sym typeface="Calibri"/>
            </a:endParaRPr>
          </a:p>
        </p:txBody>
      </p:sp>
      <p:sp>
        <p:nvSpPr>
          <p:cNvPr id="460" name="Google Shape;460;p28"/>
          <p:cNvSpPr/>
          <p:nvPr/>
        </p:nvSpPr>
        <p:spPr>
          <a:xfrm>
            <a:off x="86630" y="1326210"/>
            <a:ext cx="8321100" cy="676800"/>
          </a:xfrm>
          <a:prstGeom prst="roundRect">
            <a:avLst>
              <a:gd name="adj" fmla="val 10811"/>
            </a:avLst>
          </a:prstGeom>
          <a:solidFill>
            <a:srgbClr val="E8F6EE"/>
          </a:solidFill>
          <a:ln w="12700" cap="flat" cmpd="sng">
            <a:solidFill>
              <a:srgbClr val="97C459"/>
            </a:solidFill>
            <a:prstDash val="solid"/>
            <a:round/>
            <a:headEnd type="none" w="sm" len="sm"/>
            <a:tailEnd type="none" w="sm" len="sm"/>
          </a:ln>
          <a:effectLst>
            <a:outerShdw blurRad="63500" dist="12700" dir="27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8"/>
          <p:cNvSpPr/>
          <p:nvPr/>
        </p:nvSpPr>
        <p:spPr>
          <a:xfrm>
            <a:off x="205502" y="1536522"/>
            <a:ext cx="255900" cy="255900"/>
          </a:xfrm>
          <a:prstGeom prst="roundRect">
            <a:avLst>
              <a:gd name="adj" fmla="val 14286"/>
            </a:avLst>
          </a:prstGeom>
          <a:solidFill>
            <a:srgbClr val="1A6B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8"/>
          <p:cNvSpPr/>
          <p:nvPr/>
        </p:nvSpPr>
        <p:spPr>
          <a:xfrm>
            <a:off x="205502" y="1536522"/>
            <a:ext cx="255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A</a:t>
            </a:r>
            <a:endParaRPr sz="1100" b="0" i="0" u="none" strike="noStrike" cap="none">
              <a:solidFill>
                <a:srgbClr val="000000"/>
              </a:solidFill>
              <a:latin typeface="Calibri"/>
              <a:ea typeface="Calibri"/>
              <a:cs typeface="Calibri"/>
              <a:sym typeface="Calibri"/>
            </a:endParaRPr>
          </a:p>
        </p:txBody>
      </p:sp>
      <p:sp>
        <p:nvSpPr>
          <p:cNvPr id="463" name="Google Shape;463;p28"/>
          <p:cNvSpPr/>
          <p:nvPr/>
        </p:nvSpPr>
        <p:spPr>
          <a:xfrm>
            <a:off x="589550" y="1381074"/>
            <a:ext cx="4032600" cy="567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6B3C"/>
              </a:buClr>
              <a:buSzPts val="1200"/>
              <a:buFont typeface="Calibri"/>
              <a:buNone/>
            </a:pPr>
            <a:r>
              <a:rPr lang="en" sz="1200" b="1" i="0" u="none" strike="noStrike" cap="none">
                <a:solidFill>
                  <a:srgbClr val="1A6B3C"/>
                </a:solidFill>
                <a:latin typeface="Calibri"/>
                <a:ea typeface="Calibri"/>
                <a:cs typeface="Calibri"/>
                <a:sym typeface="Calibri"/>
              </a:rPr>
              <a:t>Earlier information becomes harder to preserve as sequence length grows.</a:t>
            </a:r>
            <a:endParaRPr sz="1200" b="0" i="0" u="none" strike="noStrike" cap="none">
              <a:solidFill>
                <a:srgbClr val="000000"/>
              </a:solidFill>
              <a:latin typeface="Calibri"/>
              <a:ea typeface="Calibri"/>
              <a:cs typeface="Calibri"/>
              <a:sym typeface="Calibri"/>
            </a:endParaRPr>
          </a:p>
        </p:txBody>
      </p:sp>
      <p:cxnSp>
        <p:nvCxnSpPr>
          <p:cNvPr id="464" name="Google Shape;464;p28"/>
          <p:cNvCxnSpPr/>
          <p:nvPr/>
        </p:nvCxnSpPr>
        <p:spPr>
          <a:xfrm>
            <a:off x="4750070" y="1435938"/>
            <a:ext cx="0" cy="457200"/>
          </a:xfrm>
          <a:prstGeom prst="straightConnector1">
            <a:avLst/>
          </a:prstGeom>
          <a:noFill/>
          <a:ln w="9525" cap="flat" cmpd="sng">
            <a:solidFill>
              <a:srgbClr val="97C459"/>
            </a:solidFill>
            <a:prstDash val="solid"/>
            <a:round/>
            <a:headEnd type="none" w="sm" len="sm"/>
            <a:tailEnd type="none" w="sm" len="sm"/>
          </a:ln>
        </p:spPr>
      </p:cxnSp>
      <p:sp>
        <p:nvSpPr>
          <p:cNvPr id="465" name="Google Shape;465;p28"/>
          <p:cNvSpPr/>
          <p:nvPr/>
        </p:nvSpPr>
        <p:spPr>
          <a:xfrm>
            <a:off x="4878086" y="1381074"/>
            <a:ext cx="3090600" cy="567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6B3C"/>
              </a:buClr>
              <a:buSzPts val="1050"/>
              <a:buFont typeface="Calibri"/>
              <a:buNone/>
            </a:pPr>
            <a:r>
              <a:rPr lang="en" sz="1050" b="0" i="0" u="none" strike="noStrike" cap="none">
                <a:solidFill>
                  <a:srgbClr val="1A6B3C"/>
                </a:solidFill>
                <a:latin typeface="Calibri"/>
                <a:ea typeface="Calibri"/>
                <a:cs typeface="Calibri"/>
                <a:sym typeface="Calibri"/>
              </a:rPr>
              <a:t>Correct. Each RNN timestep overwrites the hidden state with new input. Over 50,000 words, the signal from opening paragraphs is diluted to near-zero — the model effectively cannot see the evidence that matters.</a:t>
            </a:r>
            <a:endParaRPr sz="1050" b="0" i="0" u="none" strike="noStrike" cap="none">
              <a:solidFill>
                <a:srgbClr val="000000"/>
              </a:solidFill>
              <a:latin typeface="Calibri"/>
              <a:ea typeface="Calibri"/>
              <a:cs typeface="Calibri"/>
              <a:sym typeface="Calibri"/>
            </a:endParaRPr>
          </a:p>
        </p:txBody>
      </p:sp>
      <p:pic>
        <p:nvPicPr>
          <p:cNvPr id="466" name="Google Shape;466;p28" descr="preencoded.png"/>
          <p:cNvPicPr preferRelativeResize="0"/>
          <p:nvPr/>
        </p:nvPicPr>
        <p:blipFill rotWithShape="1">
          <a:blip r:embed="rId4">
            <a:alphaModFix/>
          </a:blip>
          <a:srcRect/>
          <a:stretch/>
        </p:blipFill>
        <p:spPr>
          <a:xfrm>
            <a:off x="8105918" y="1545666"/>
            <a:ext cx="237744" cy="237744"/>
          </a:xfrm>
          <a:prstGeom prst="rect">
            <a:avLst/>
          </a:prstGeom>
          <a:noFill/>
          <a:ln>
            <a:noFill/>
          </a:ln>
        </p:spPr>
      </p:pic>
      <p:sp>
        <p:nvSpPr>
          <p:cNvPr id="467" name="Google Shape;467;p28"/>
          <p:cNvSpPr/>
          <p:nvPr/>
        </p:nvSpPr>
        <p:spPr>
          <a:xfrm>
            <a:off x="86630" y="2076018"/>
            <a:ext cx="8321100" cy="676800"/>
          </a:xfrm>
          <a:prstGeom prst="roundRect">
            <a:avLst>
              <a:gd name="adj" fmla="val 10811"/>
            </a:avLst>
          </a:prstGeom>
          <a:solidFill>
            <a:srgbClr val="FFFFFF"/>
          </a:solidFill>
          <a:ln w="9525" cap="flat" cmpd="sng">
            <a:solidFill>
              <a:srgbClr val="E2E8F0"/>
            </a:solidFill>
            <a:prstDash val="solid"/>
            <a:round/>
            <a:headEnd type="none" w="sm" len="sm"/>
            <a:tailEnd type="none" w="sm" len="sm"/>
          </a:ln>
          <a:effectLst>
            <a:outerShdw blurRad="63500" dist="12700" dir="27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8"/>
          <p:cNvSpPr/>
          <p:nvPr/>
        </p:nvSpPr>
        <p:spPr>
          <a:xfrm>
            <a:off x="205502" y="2286330"/>
            <a:ext cx="255900" cy="255900"/>
          </a:xfrm>
          <a:prstGeom prst="roundRect">
            <a:avLst>
              <a:gd name="adj" fmla="val 14286"/>
            </a:avLst>
          </a:prstGeom>
          <a:solidFill>
            <a:srgbClr val="4755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8"/>
          <p:cNvSpPr/>
          <p:nvPr/>
        </p:nvSpPr>
        <p:spPr>
          <a:xfrm>
            <a:off x="205502" y="2286330"/>
            <a:ext cx="255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B</a:t>
            </a:r>
            <a:endParaRPr sz="1100" b="0" i="0" u="none" strike="noStrike" cap="none">
              <a:solidFill>
                <a:srgbClr val="000000"/>
              </a:solidFill>
              <a:latin typeface="Calibri"/>
              <a:ea typeface="Calibri"/>
              <a:cs typeface="Calibri"/>
              <a:sym typeface="Calibri"/>
            </a:endParaRPr>
          </a:p>
        </p:txBody>
      </p:sp>
      <p:sp>
        <p:nvSpPr>
          <p:cNvPr id="470" name="Google Shape;470;p28"/>
          <p:cNvSpPr/>
          <p:nvPr/>
        </p:nvSpPr>
        <p:spPr>
          <a:xfrm>
            <a:off x="589550" y="2130882"/>
            <a:ext cx="4032600" cy="567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200"/>
              <a:buFont typeface="Calibri"/>
              <a:buNone/>
            </a:pPr>
            <a:r>
              <a:rPr lang="en" sz="1200" b="0" i="0" u="none" strike="noStrike" cap="none">
                <a:solidFill>
                  <a:srgbClr val="1E293B"/>
                </a:solidFill>
                <a:latin typeface="Calibri"/>
                <a:ea typeface="Calibri"/>
                <a:cs typeface="Calibri"/>
                <a:sym typeface="Calibri"/>
              </a:rPr>
              <a:t>Earlier information gets amplified and becomes more important over time.</a:t>
            </a:r>
            <a:endParaRPr sz="1200" b="0" i="0" u="none" strike="noStrike" cap="none">
              <a:solidFill>
                <a:srgbClr val="000000"/>
              </a:solidFill>
              <a:latin typeface="Calibri"/>
              <a:ea typeface="Calibri"/>
              <a:cs typeface="Calibri"/>
              <a:sym typeface="Calibri"/>
            </a:endParaRPr>
          </a:p>
        </p:txBody>
      </p:sp>
      <p:cxnSp>
        <p:nvCxnSpPr>
          <p:cNvPr id="471" name="Google Shape;471;p28"/>
          <p:cNvCxnSpPr/>
          <p:nvPr/>
        </p:nvCxnSpPr>
        <p:spPr>
          <a:xfrm>
            <a:off x="4750070" y="2185746"/>
            <a:ext cx="0" cy="457200"/>
          </a:xfrm>
          <a:prstGeom prst="straightConnector1">
            <a:avLst/>
          </a:prstGeom>
          <a:noFill/>
          <a:ln w="9525" cap="flat" cmpd="sng">
            <a:solidFill>
              <a:srgbClr val="E2E8F0"/>
            </a:solidFill>
            <a:prstDash val="solid"/>
            <a:round/>
            <a:headEnd type="none" w="sm" len="sm"/>
            <a:tailEnd type="none" w="sm" len="sm"/>
          </a:ln>
        </p:spPr>
      </p:cxnSp>
      <p:sp>
        <p:nvSpPr>
          <p:cNvPr id="472" name="Google Shape;472;p28"/>
          <p:cNvSpPr/>
          <p:nvPr/>
        </p:nvSpPr>
        <p:spPr>
          <a:xfrm>
            <a:off x="4878086" y="2130882"/>
            <a:ext cx="3090600" cy="567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50"/>
              <a:buFont typeface="Calibri"/>
              <a:buNone/>
            </a:pPr>
            <a:r>
              <a:rPr lang="en" sz="1050" b="0" i="1" u="none" strike="noStrike" cap="none">
                <a:solidFill>
                  <a:srgbClr val="64748B"/>
                </a:solidFill>
                <a:latin typeface="Calibri"/>
                <a:ea typeface="Calibri"/>
                <a:cs typeface="Calibri"/>
                <a:sym typeface="Calibri"/>
              </a:rPr>
              <a:t>The opposite is true. RNNs do not amplify distant signals — each new token update moves the hidden state away from earlier content. Amplification would require a dedicated mechanism like attention.</a:t>
            </a:r>
            <a:endParaRPr sz="1050" b="0" i="0" u="none" strike="noStrike" cap="none">
              <a:solidFill>
                <a:srgbClr val="000000"/>
              </a:solidFill>
              <a:latin typeface="Calibri"/>
              <a:ea typeface="Calibri"/>
              <a:cs typeface="Calibri"/>
              <a:sym typeface="Calibri"/>
            </a:endParaRPr>
          </a:p>
        </p:txBody>
      </p:sp>
      <p:pic>
        <p:nvPicPr>
          <p:cNvPr id="473" name="Google Shape;473;p28" descr="preencoded.png"/>
          <p:cNvPicPr preferRelativeResize="0"/>
          <p:nvPr/>
        </p:nvPicPr>
        <p:blipFill rotWithShape="1">
          <a:blip r:embed="rId5">
            <a:alphaModFix/>
          </a:blip>
          <a:srcRect/>
          <a:stretch/>
        </p:blipFill>
        <p:spPr>
          <a:xfrm>
            <a:off x="8105918" y="2295474"/>
            <a:ext cx="237744" cy="237744"/>
          </a:xfrm>
          <a:prstGeom prst="rect">
            <a:avLst/>
          </a:prstGeom>
          <a:noFill/>
          <a:ln>
            <a:noFill/>
          </a:ln>
        </p:spPr>
      </p:pic>
      <p:sp>
        <p:nvSpPr>
          <p:cNvPr id="474" name="Google Shape;474;p28"/>
          <p:cNvSpPr/>
          <p:nvPr/>
        </p:nvSpPr>
        <p:spPr>
          <a:xfrm>
            <a:off x="86630" y="2825826"/>
            <a:ext cx="8321100" cy="676800"/>
          </a:xfrm>
          <a:prstGeom prst="roundRect">
            <a:avLst>
              <a:gd name="adj" fmla="val 10811"/>
            </a:avLst>
          </a:prstGeom>
          <a:solidFill>
            <a:srgbClr val="FFFFFF"/>
          </a:solidFill>
          <a:ln w="9525" cap="flat" cmpd="sng">
            <a:solidFill>
              <a:srgbClr val="E2E8F0"/>
            </a:solidFill>
            <a:prstDash val="solid"/>
            <a:round/>
            <a:headEnd type="none" w="sm" len="sm"/>
            <a:tailEnd type="none" w="sm" len="sm"/>
          </a:ln>
          <a:effectLst>
            <a:outerShdw blurRad="63500" dist="12700" dir="27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8"/>
          <p:cNvSpPr/>
          <p:nvPr/>
        </p:nvSpPr>
        <p:spPr>
          <a:xfrm>
            <a:off x="205502" y="3036138"/>
            <a:ext cx="255900" cy="255900"/>
          </a:xfrm>
          <a:prstGeom prst="roundRect">
            <a:avLst>
              <a:gd name="adj" fmla="val 14286"/>
            </a:avLst>
          </a:prstGeom>
          <a:solidFill>
            <a:srgbClr val="4755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8"/>
          <p:cNvSpPr/>
          <p:nvPr/>
        </p:nvSpPr>
        <p:spPr>
          <a:xfrm>
            <a:off x="205502" y="3036138"/>
            <a:ext cx="255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C</a:t>
            </a:r>
            <a:endParaRPr sz="1100" b="0" i="0" u="none" strike="noStrike" cap="none">
              <a:solidFill>
                <a:srgbClr val="000000"/>
              </a:solidFill>
              <a:latin typeface="Calibri"/>
              <a:ea typeface="Calibri"/>
              <a:cs typeface="Calibri"/>
              <a:sym typeface="Calibri"/>
            </a:endParaRPr>
          </a:p>
        </p:txBody>
      </p:sp>
      <p:sp>
        <p:nvSpPr>
          <p:cNvPr id="477" name="Google Shape;477;p28"/>
          <p:cNvSpPr/>
          <p:nvPr/>
        </p:nvSpPr>
        <p:spPr>
          <a:xfrm>
            <a:off x="589550" y="2880690"/>
            <a:ext cx="4032600" cy="567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200"/>
              <a:buFont typeface="Calibri"/>
              <a:buNone/>
            </a:pPr>
            <a:r>
              <a:rPr lang="en" sz="1200" b="0" i="0" u="none" strike="noStrike" cap="none">
                <a:solidFill>
                  <a:srgbClr val="1E293B"/>
                </a:solidFill>
                <a:latin typeface="Calibri"/>
                <a:ea typeface="Calibri"/>
                <a:cs typeface="Calibri"/>
                <a:sym typeface="Calibri"/>
              </a:rPr>
              <a:t>RNNs remember all timesteps equally well regardless of length.</a:t>
            </a:r>
            <a:endParaRPr sz="1200" b="0" i="0" u="none" strike="noStrike" cap="none">
              <a:solidFill>
                <a:srgbClr val="000000"/>
              </a:solidFill>
              <a:latin typeface="Calibri"/>
              <a:ea typeface="Calibri"/>
              <a:cs typeface="Calibri"/>
              <a:sym typeface="Calibri"/>
            </a:endParaRPr>
          </a:p>
        </p:txBody>
      </p:sp>
      <p:cxnSp>
        <p:nvCxnSpPr>
          <p:cNvPr id="478" name="Google Shape;478;p28"/>
          <p:cNvCxnSpPr/>
          <p:nvPr/>
        </p:nvCxnSpPr>
        <p:spPr>
          <a:xfrm>
            <a:off x="4750070" y="2935554"/>
            <a:ext cx="0" cy="457200"/>
          </a:xfrm>
          <a:prstGeom prst="straightConnector1">
            <a:avLst/>
          </a:prstGeom>
          <a:noFill/>
          <a:ln w="9525" cap="flat" cmpd="sng">
            <a:solidFill>
              <a:srgbClr val="E2E8F0"/>
            </a:solidFill>
            <a:prstDash val="solid"/>
            <a:round/>
            <a:headEnd type="none" w="sm" len="sm"/>
            <a:tailEnd type="none" w="sm" len="sm"/>
          </a:ln>
        </p:spPr>
      </p:cxnSp>
      <p:sp>
        <p:nvSpPr>
          <p:cNvPr id="479" name="Google Shape;479;p28"/>
          <p:cNvSpPr/>
          <p:nvPr/>
        </p:nvSpPr>
        <p:spPr>
          <a:xfrm>
            <a:off x="4878086" y="2880690"/>
            <a:ext cx="3090600" cy="567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50"/>
              <a:buFont typeface="Calibri"/>
              <a:buNone/>
            </a:pPr>
            <a:r>
              <a:rPr lang="en" sz="1050" b="0" i="1" u="none" strike="noStrike" cap="none">
                <a:solidFill>
                  <a:srgbClr val="64748B"/>
                </a:solidFill>
                <a:latin typeface="Calibri"/>
                <a:ea typeface="Calibri"/>
                <a:cs typeface="Calibri"/>
                <a:sym typeface="Calibri"/>
              </a:rPr>
              <a:t>This directly contradicts the observed failure pattern. If all timesteps were remembered equally, the model would perform the same on short and long documents — but it does not.</a:t>
            </a:r>
            <a:endParaRPr sz="1050" b="0" i="0" u="none" strike="noStrike" cap="none">
              <a:solidFill>
                <a:srgbClr val="000000"/>
              </a:solidFill>
              <a:latin typeface="Calibri"/>
              <a:ea typeface="Calibri"/>
              <a:cs typeface="Calibri"/>
              <a:sym typeface="Calibri"/>
            </a:endParaRPr>
          </a:p>
        </p:txBody>
      </p:sp>
      <p:pic>
        <p:nvPicPr>
          <p:cNvPr id="480" name="Google Shape;480;p28" descr="preencoded.png"/>
          <p:cNvPicPr preferRelativeResize="0"/>
          <p:nvPr/>
        </p:nvPicPr>
        <p:blipFill rotWithShape="1">
          <a:blip r:embed="rId5">
            <a:alphaModFix/>
          </a:blip>
          <a:srcRect/>
          <a:stretch/>
        </p:blipFill>
        <p:spPr>
          <a:xfrm>
            <a:off x="8105918" y="3045282"/>
            <a:ext cx="237744" cy="237744"/>
          </a:xfrm>
          <a:prstGeom prst="rect">
            <a:avLst/>
          </a:prstGeom>
          <a:noFill/>
          <a:ln>
            <a:noFill/>
          </a:ln>
        </p:spPr>
      </p:pic>
      <p:sp>
        <p:nvSpPr>
          <p:cNvPr id="481" name="Google Shape;481;p28"/>
          <p:cNvSpPr/>
          <p:nvPr/>
        </p:nvSpPr>
        <p:spPr>
          <a:xfrm>
            <a:off x="86630" y="3813378"/>
            <a:ext cx="8321100" cy="585300"/>
          </a:xfrm>
          <a:prstGeom prst="roundRect">
            <a:avLst>
              <a:gd name="adj" fmla="val 12500"/>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8"/>
          <p:cNvSpPr/>
          <p:nvPr/>
        </p:nvSpPr>
        <p:spPr>
          <a:xfrm>
            <a:off x="242078" y="3868242"/>
            <a:ext cx="29262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00"/>
              <a:buFont typeface="Calibri"/>
              <a:buNone/>
            </a:pPr>
            <a:r>
              <a:rPr lang="en" sz="1000" b="1" i="0" u="none" strike="noStrike" cap="none">
                <a:solidFill>
                  <a:srgbClr val="64748B"/>
                </a:solidFill>
                <a:latin typeface="Calibri"/>
                <a:ea typeface="Calibri"/>
                <a:cs typeface="Calibri"/>
                <a:sym typeface="Calibri"/>
              </a:rPr>
              <a:t>Signal strength of opening paragraph evidence →</a:t>
            </a:r>
            <a:endParaRPr sz="1000" b="0" i="0" u="none" strike="noStrike" cap="none">
              <a:solidFill>
                <a:srgbClr val="000000"/>
              </a:solidFill>
              <a:latin typeface="Calibri"/>
              <a:ea typeface="Calibri"/>
              <a:cs typeface="Calibri"/>
              <a:sym typeface="Calibri"/>
            </a:endParaRPr>
          </a:p>
        </p:txBody>
      </p:sp>
      <p:sp>
        <p:nvSpPr>
          <p:cNvPr id="483" name="Google Shape;483;p28"/>
          <p:cNvSpPr/>
          <p:nvPr/>
        </p:nvSpPr>
        <p:spPr>
          <a:xfrm>
            <a:off x="242078" y="4087698"/>
            <a:ext cx="1170300" cy="201300"/>
          </a:xfrm>
          <a:prstGeom prst="roundRect">
            <a:avLst>
              <a:gd name="adj" fmla="val 13636"/>
            </a:avLst>
          </a:prstGeom>
          <a:solidFill>
            <a:srgbClr val="E2E8F0"/>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8"/>
          <p:cNvSpPr/>
          <p:nvPr/>
        </p:nvSpPr>
        <p:spPr>
          <a:xfrm>
            <a:off x="242078" y="4087698"/>
            <a:ext cx="1005900" cy="201300"/>
          </a:xfrm>
          <a:prstGeom prst="roundRect">
            <a:avLst>
              <a:gd name="adj" fmla="val 13636"/>
            </a:avLst>
          </a:prstGeom>
          <a:solidFill>
            <a:srgbClr val="1A6B3C"/>
          </a:solidFill>
          <a:ln w="12700" cap="flat" cmpd="sng">
            <a:solidFill>
              <a:srgbClr val="1A6B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8"/>
          <p:cNvSpPr/>
          <p:nvPr/>
        </p:nvSpPr>
        <p:spPr>
          <a:xfrm>
            <a:off x="242078" y="4298010"/>
            <a:ext cx="1170300" cy="128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800"/>
              <a:buFont typeface="Calibri"/>
              <a:buNone/>
            </a:pPr>
            <a:r>
              <a:rPr lang="en" sz="800" b="0" i="0" u="none" strike="noStrike" cap="none">
                <a:solidFill>
                  <a:srgbClr val="64748B"/>
                </a:solidFill>
                <a:latin typeface="Calibri"/>
                <a:ea typeface="Calibri"/>
                <a:cs typeface="Calibri"/>
                <a:sym typeface="Calibri"/>
              </a:rPr>
              <a:t>Word 10</a:t>
            </a:r>
            <a:endParaRPr sz="800" b="0" i="0" u="none" strike="noStrike" cap="none">
              <a:solidFill>
                <a:srgbClr val="000000"/>
              </a:solidFill>
              <a:latin typeface="Calibri"/>
              <a:ea typeface="Calibri"/>
              <a:cs typeface="Calibri"/>
              <a:sym typeface="Calibri"/>
            </a:endParaRPr>
          </a:p>
        </p:txBody>
      </p:sp>
      <p:sp>
        <p:nvSpPr>
          <p:cNvPr id="486" name="Google Shape;486;p28"/>
          <p:cNvSpPr/>
          <p:nvPr/>
        </p:nvSpPr>
        <p:spPr>
          <a:xfrm>
            <a:off x="1485662" y="4087698"/>
            <a:ext cx="1170300" cy="201300"/>
          </a:xfrm>
          <a:prstGeom prst="roundRect">
            <a:avLst>
              <a:gd name="adj" fmla="val 13636"/>
            </a:avLst>
          </a:prstGeom>
          <a:solidFill>
            <a:srgbClr val="E2E8F0"/>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8"/>
          <p:cNvSpPr/>
          <p:nvPr/>
        </p:nvSpPr>
        <p:spPr>
          <a:xfrm>
            <a:off x="1485662" y="4087698"/>
            <a:ext cx="804600" cy="201300"/>
          </a:xfrm>
          <a:prstGeom prst="roundRect">
            <a:avLst>
              <a:gd name="adj" fmla="val 13636"/>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8"/>
          <p:cNvSpPr/>
          <p:nvPr/>
        </p:nvSpPr>
        <p:spPr>
          <a:xfrm>
            <a:off x="1485662" y="4298010"/>
            <a:ext cx="1170300" cy="128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800"/>
              <a:buFont typeface="Calibri"/>
              <a:buNone/>
            </a:pPr>
            <a:r>
              <a:rPr lang="en" sz="800" b="0" i="0" u="none" strike="noStrike" cap="none">
                <a:solidFill>
                  <a:srgbClr val="64748B"/>
                </a:solidFill>
                <a:latin typeface="Calibri"/>
                <a:ea typeface="Calibri"/>
                <a:cs typeface="Calibri"/>
                <a:sym typeface="Calibri"/>
              </a:rPr>
              <a:t>Word 100</a:t>
            </a:r>
            <a:endParaRPr sz="800" b="0" i="0" u="none" strike="noStrike" cap="none">
              <a:solidFill>
                <a:srgbClr val="000000"/>
              </a:solidFill>
              <a:latin typeface="Calibri"/>
              <a:ea typeface="Calibri"/>
              <a:cs typeface="Calibri"/>
              <a:sym typeface="Calibri"/>
            </a:endParaRPr>
          </a:p>
        </p:txBody>
      </p:sp>
      <p:sp>
        <p:nvSpPr>
          <p:cNvPr id="489" name="Google Shape;489;p28"/>
          <p:cNvSpPr/>
          <p:nvPr/>
        </p:nvSpPr>
        <p:spPr>
          <a:xfrm>
            <a:off x="2729246" y="4087698"/>
            <a:ext cx="1170300" cy="201300"/>
          </a:xfrm>
          <a:prstGeom prst="roundRect">
            <a:avLst>
              <a:gd name="adj" fmla="val 13636"/>
            </a:avLst>
          </a:prstGeom>
          <a:solidFill>
            <a:srgbClr val="E2E8F0"/>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8"/>
          <p:cNvSpPr/>
          <p:nvPr/>
        </p:nvSpPr>
        <p:spPr>
          <a:xfrm>
            <a:off x="2729246" y="4087698"/>
            <a:ext cx="603600" cy="201300"/>
          </a:xfrm>
          <a:prstGeom prst="roundRect">
            <a:avLst>
              <a:gd name="adj" fmla="val 13636"/>
            </a:avLst>
          </a:prstGeom>
          <a:solidFill>
            <a:srgbClr val="EF6C00"/>
          </a:solidFill>
          <a:ln w="12700" cap="flat" cmpd="sng">
            <a:solidFill>
              <a:srgbClr val="EF6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8"/>
          <p:cNvSpPr/>
          <p:nvPr/>
        </p:nvSpPr>
        <p:spPr>
          <a:xfrm>
            <a:off x="2729246" y="4298010"/>
            <a:ext cx="1170300" cy="128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800"/>
              <a:buFont typeface="Calibri"/>
              <a:buNone/>
            </a:pPr>
            <a:r>
              <a:rPr lang="en" sz="800" b="0" i="0" u="none" strike="noStrike" cap="none">
                <a:solidFill>
                  <a:srgbClr val="64748B"/>
                </a:solidFill>
                <a:latin typeface="Calibri"/>
                <a:ea typeface="Calibri"/>
                <a:cs typeface="Calibri"/>
                <a:sym typeface="Calibri"/>
              </a:rPr>
              <a:t>Word 500</a:t>
            </a:r>
            <a:endParaRPr sz="800" b="0" i="0" u="none" strike="noStrike" cap="none">
              <a:solidFill>
                <a:srgbClr val="000000"/>
              </a:solidFill>
              <a:latin typeface="Calibri"/>
              <a:ea typeface="Calibri"/>
              <a:cs typeface="Calibri"/>
              <a:sym typeface="Calibri"/>
            </a:endParaRPr>
          </a:p>
        </p:txBody>
      </p:sp>
      <p:sp>
        <p:nvSpPr>
          <p:cNvPr id="492" name="Google Shape;492;p28"/>
          <p:cNvSpPr/>
          <p:nvPr/>
        </p:nvSpPr>
        <p:spPr>
          <a:xfrm>
            <a:off x="3972830" y="4087698"/>
            <a:ext cx="1170300" cy="201300"/>
          </a:xfrm>
          <a:prstGeom prst="roundRect">
            <a:avLst>
              <a:gd name="adj" fmla="val 13636"/>
            </a:avLst>
          </a:prstGeom>
          <a:solidFill>
            <a:srgbClr val="E2E8F0"/>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8"/>
          <p:cNvSpPr/>
          <p:nvPr/>
        </p:nvSpPr>
        <p:spPr>
          <a:xfrm>
            <a:off x="3972830" y="4087698"/>
            <a:ext cx="402300" cy="201300"/>
          </a:xfrm>
          <a:prstGeom prst="roundRect">
            <a:avLst>
              <a:gd name="adj" fmla="val 13636"/>
            </a:avLst>
          </a:prstGeom>
          <a:solidFill>
            <a:srgbClr val="C62828"/>
          </a:solidFill>
          <a:ln w="12700" cap="flat" cmpd="sng">
            <a:solidFill>
              <a:srgbClr val="C6282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8"/>
          <p:cNvSpPr/>
          <p:nvPr/>
        </p:nvSpPr>
        <p:spPr>
          <a:xfrm>
            <a:off x="3972830" y="4298010"/>
            <a:ext cx="1170300" cy="128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800"/>
              <a:buFont typeface="Calibri"/>
              <a:buNone/>
            </a:pPr>
            <a:r>
              <a:rPr lang="en" sz="800" b="0" i="0" u="none" strike="noStrike" cap="none">
                <a:solidFill>
                  <a:srgbClr val="64748B"/>
                </a:solidFill>
                <a:latin typeface="Calibri"/>
                <a:ea typeface="Calibri"/>
                <a:cs typeface="Calibri"/>
                <a:sym typeface="Calibri"/>
              </a:rPr>
              <a:t>Word 1000</a:t>
            </a:r>
            <a:endParaRPr sz="800" b="0" i="0" u="none" strike="noStrike" cap="none">
              <a:solidFill>
                <a:srgbClr val="000000"/>
              </a:solidFill>
              <a:latin typeface="Calibri"/>
              <a:ea typeface="Calibri"/>
              <a:cs typeface="Calibri"/>
              <a:sym typeface="Calibri"/>
            </a:endParaRPr>
          </a:p>
        </p:txBody>
      </p:sp>
      <p:sp>
        <p:nvSpPr>
          <p:cNvPr id="495" name="Google Shape;495;p28"/>
          <p:cNvSpPr/>
          <p:nvPr/>
        </p:nvSpPr>
        <p:spPr>
          <a:xfrm>
            <a:off x="5216414" y="4087698"/>
            <a:ext cx="1170300" cy="201300"/>
          </a:xfrm>
          <a:prstGeom prst="roundRect">
            <a:avLst>
              <a:gd name="adj" fmla="val 13636"/>
            </a:avLst>
          </a:prstGeom>
          <a:solidFill>
            <a:srgbClr val="E2E8F0"/>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8"/>
          <p:cNvSpPr/>
          <p:nvPr/>
        </p:nvSpPr>
        <p:spPr>
          <a:xfrm>
            <a:off x="5216414" y="4087698"/>
            <a:ext cx="201300" cy="201300"/>
          </a:xfrm>
          <a:prstGeom prst="roundRect">
            <a:avLst>
              <a:gd name="adj" fmla="val 13636"/>
            </a:avLst>
          </a:prstGeom>
          <a:solidFill>
            <a:srgbClr val="B71C1C"/>
          </a:solidFill>
          <a:ln w="12700" cap="flat" cmpd="sng">
            <a:solidFill>
              <a:srgbClr val="B71C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8"/>
          <p:cNvSpPr/>
          <p:nvPr/>
        </p:nvSpPr>
        <p:spPr>
          <a:xfrm>
            <a:off x="5216414" y="4298010"/>
            <a:ext cx="1170300" cy="128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800"/>
              <a:buFont typeface="Calibri"/>
              <a:buNone/>
            </a:pPr>
            <a:r>
              <a:rPr lang="en" sz="800" b="0" i="0" u="none" strike="noStrike" cap="none">
                <a:solidFill>
                  <a:srgbClr val="64748B"/>
                </a:solidFill>
                <a:latin typeface="Calibri"/>
                <a:ea typeface="Calibri"/>
                <a:cs typeface="Calibri"/>
                <a:sym typeface="Calibri"/>
              </a:rPr>
              <a:t>Word 5000</a:t>
            </a:r>
            <a:endParaRPr sz="800" b="0" i="0" u="none" strike="noStrike" cap="none">
              <a:solidFill>
                <a:srgbClr val="000000"/>
              </a:solidFill>
              <a:latin typeface="Calibri"/>
              <a:ea typeface="Calibri"/>
              <a:cs typeface="Calibri"/>
              <a:sym typeface="Calibri"/>
            </a:endParaRPr>
          </a:p>
        </p:txBody>
      </p:sp>
      <p:sp>
        <p:nvSpPr>
          <p:cNvPr id="498" name="Google Shape;498;p28"/>
          <p:cNvSpPr/>
          <p:nvPr/>
        </p:nvSpPr>
        <p:spPr>
          <a:xfrm>
            <a:off x="6459998" y="4087698"/>
            <a:ext cx="1170300" cy="201300"/>
          </a:xfrm>
          <a:prstGeom prst="roundRect">
            <a:avLst>
              <a:gd name="adj" fmla="val 13636"/>
            </a:avLst>
          </a:prstGeom>
          <a:solidFill>
            <a:srgbClr val="E2E8F0"/>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8"/>
          <p:cNvSpPr/>
          <p:nvPr/>
        </p:nvSpPr>
        <p:spPr>
          <a:xfrm>
            <a:off x="6459998" y="4087698"/>
            <a:ext cx="54900" cy="201300"/>
          </a:xfrm>
          <a:prstGeom prst="roundRect">
            <a:avLst>
              <a:gd name="adj" fmla="val 50000"/>
            </a:avLst>
          </a:prstGeom>
          <a:solidFill>
            <a:srgbClr val="7F0000"/>
          </a:solidFill>
          <a:ln w="12700" cap="flat" cmpd="sng">
            <a:solidFill>
              <a:srgbClr val="7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8"/>
          <p:cNvSpPr/>
          <p:nvPr/>
        </p:nvSpPr>
        <p:spPr>
          <a:xfrm>
            <a:off x="6459998" y="4298010"/>
            <a:ext cx="1170300" cy="128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800"/>
              <a:buFont typeface="Calibri"/>
              <a:buNone/>
            </a:pPr>
            <a:r>
              <a:rPr lang="en" sz="800" b="0" i="0" u="none" strike="noStrike" cap="none">
                <a:solidFill>
                  <a:srgbClr val="64748B"/>
                </a:solidFill>
                <a:latin typeface="Calibri"/>
                <a:ea typeface="Calibri"/>
                <a:cs typeface="Calibri"/>
                <a:sym typeface="Calibri"/>
              </a:rPr>
              <a:t>Word 50000</a:t>
            </a:r>
            <a:endParaRPr sz="800" b="0" i="0" u="none" strike="noStrike" cap="none">
              <a:solidFill>
                <a:srgbClr val="000000"/>
              </a:solidFill>
              <a:latin typeface="Calibri"/>
              <a:ea typeface="Calibri"/>
              <a:cs typeface="Calibri"/>
              <a:sym typeface="Calibri"/>
            </a:endParaRPr>
          </a:p>
        </p:txBody>
      </p:sp>
      <p:sp>
        <p:nvSpPr>
          <p:cNvPr id="501" name="Google Shape;501;p28"/>
          <p:cNvSpPr/>
          <p:nvPr/>
        </p:nvSpPr>
        <p:spPr>
          <a:xfrm>
            <a:off x="86630" y="4435170"/>
            <a:ext cx="8321100" cy="274200"/>
          </a:xfrm>
          <a:prstGeom prst="roundRect">
            <a:avLst>
              <a:gd name="adj" fmla="val 20000"/>
            </a:avLst>
          </a:prstGeom>
          <a:solidFill>
            <a:srgbClr val="FEF3C7"/>
          </a:solidFill>
          <a:ln w="9525" cap="flat" cmpd="sng">
            <a:solidFill>
              <a:srgbClr val="FCD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8"/>
          <p:cNvSpPr/>
          <p:nvPr/>
        </p:nvSpPr>
        <p:spPr>
          <a:xfrm>
            <a:off x="242078" y="4444314"/>
            <a:ext cx="80100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B45309"/>
              </a:buClr>
              <a:buSzPts val="1050"/>
              <a:buFont typeface="Calibri"/>
              <a:buNone/>
            </a:pPr>
            <a:r>
              <a:rPr lang="en" sz="1050" b="0" i="0" u="none" strike="noStrike" cap="none">
                <a:solidFill>
                  <a:srgbClr val="B45309"/>
                </a:solidFill>
                <a:latin typeface="Calibri"/>
                <a:ea typeface="Calibri"/>
                <a:cs typeface="Calibri"/>
                <a:sym typeface="Calibri"/>
              </a:rPr>
              <a:t>Key insight — An RNN hidden state is a single vector updated at every token. Over 50,000 steps, the opening paragraph's signal decays to near-zero. This is the vanishing information problem.</a:t>
            </a:r>
            <a:endParaRPr sz="1050" b="0" i="0" u="none" strike="noStrike" cap="non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6"/>
        <p:cNvGrpSpPr/>
        <p:nvPr/>
      </p:nvGrpSpPr>
      <p:grpSpPr>
        <a:xfrm>
          <a:off x="0" y="0"/>
          <a:ext cx="0" cy="0"/>
          <a:chOff x="0" y="0"/>
          <a:chExt cx="0" cy="0"/>
        </a:xfrm>
      </p:grpSpPr>
      <p:pic>
        <p:nvPicPr>
          <p:cNvPr id="507" name="Google Shape;507;p29"/>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508" name="Google Shape;508;p29"/>
          <p:cNvSpPr txBox="1"/>
          <p:nvPr/>
        </p:nvSpPr>
        <p:spPr>
          <a:xfrm>
            <a:off x="1502400" y="232075"/>
            <a:ext cx="5788500" cy="6351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chemeClr val="lt1"/>
              </a:buClr>
              <a:buSzPts val="1430"/>
              <a:buFont typeface="Calibri"/>
              <a:buNone/>
            </a:pPr>
            <a:r>
              <a:rPr lang="en" sz="2630" b="1">
                <a:solidFill>
                  <a:schemeClr val="dk1"/>
                </a:solidFill>
                <a:latin typeface="Calibri"/>
                <a:ea typeface="Calibri"/>
                <a:cs typeface="Calibri"/>
                <a:sym typeface="Calibri"/>
              </a:rPr>
              <a:t>Training RNNs &amp; The Gradient Problem</a:t>
            </a:r>
            <a:endParaRPr sz="2630" b="1">
              <a:solidFill>
                <a:schemeClr val="dk1"/>
              </a:solidFill>
              <a:latin typeface="Calibri"/>
              <a:ea typeface="Calibri"/>
              <a:cs typeface="Calibri"/>
              <a:sym typeface="Calibri"/>
            </a:endParaRPr>
          </a:p>
        </p:txBody>
      </p:sp>
      <p:sp>
        <p:nvSpPr>
          <p:cNvPr id="509" name="Google Shape;509;p29"/>
          <p:cNvSpPr/>
          <p:nvPr/>
        </p:nvSpPr>
        <p:spPr>
          <a:xfrm>
            <a:off x="365760" y="1005840"/>
            <a:ext cx="4023300" cy="1920300"/>
          </a:xfrm>
          <a:prstGeom prst="rect">
            <a:avLst/>
          </a:prstGeom>
          <a:solidFill>
            <a:schemeClr val="lt1"/>
          </a:solidFill>
          <a:ln w="9525" cap="flat" cmpd="sng">
            <a:solidFill>
              <a:srgbClr val="94D2BD"/>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9"/>
          <p:cNvSpPr/>
          <p:nvPr/>
        </p:nvSpPr>
        <p:spPr>
          <a:xfrm>
            <a:off x="502920" y="1097280"/>
            <a:ext cx="37491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7043"/>
              </a:buClr>
              <a:buSzPts val="1400"/>
              <a:buFont typeface="Calibri"/>
              <a:buNone/>
            </a:pPr>
            <a:r>
              <a:rPr lang="en" sz="1400" b="1">
                <a:solidFill>
                  <a:schemeClr val="dk1"/>
                </a:solidFill>
                <a:latin typeface="Calibri"/>
                <a:ea typeface="Calibri"/>
                <a:cs typeface="Calibri"/>
                <a:sym typeface="Calibri"/>
              </a:rPr>
              <a:t>Backprop Through Time (BPTT)</a:t>
            </a:r>
            <a:endParaRPr sz="1400">
              <a:solidFill>
                <a:schemeClr val="dk1"/>
              </a:solidFill>
              <a:latin typeface="Calibri"/>
              <a:ea typeface="Calibri"/>
              <a:cs typeface="Calibri"/>
              <a:sym typeface="Calibri"/>
            </a:endParaRPr>
          </a:p>
        </p:txBody>
      </p:sp>
      <p:sp>
        <p:nvSpPr>
          <p:cNvPr id="511" name="Google Shape;511;p29"/>
          <p:cNvSpPr/>
          <p:nvPr/>
        </p:nvSpPr>
        <p:spPr>
          <a:xfrm>
            <a:off x="502920" y="1554480"/>
            <a:ext cx="3749100" cy="11886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Unfold RNN across T time steps</a:t>
            </a:r>
            <a:endParaRPr sz="12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Compute gradients at each step</a:t>
            </a:r>
            <a:endParaRPr sz="12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Sum gradients and update weights</a:t>
            </a:r>
            <a:endParaRPr sz="12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Gradient = chain of partial derivatives</a:t>
            </a:r>
            <a:endParaRPr sz="1200">
              <a:solidFill>
                <a:schemeClr val="dk1"/>
              </a:solidFill>
              <a:latin typeface="Calibri"/>
              <a:ea typeface="Calibri"/>
              <a:cs typeface="Calibri"/>
              <a:sym typeface="Calibri"/>
            </a:endParaRPr>
          </a:p>
        </p:txBody>
      </p:sp>
      <p:sp>
        <p:nvSpPr>
          <p:cNvPr id="512" name="Google Shape;512;p29"/>
          <p:cNvSpPr/>
          <p:nvPr/>
        </p:nvSpPr>
        <p:spPr>
          <a:xfrm>
            <a:off x="4709160" y="1005840"/>
            <a:ext cx="4114800" cy="1371600"/>
          </a:xfrm>
          <a:prstGeom prst="rect">
            <a:avLst/>
          </a:prstGeom>
          <a:solidFill>
            <a:schemeClr val="lt1"/>
          </a:solidFill>
          <a:ln w="9525" cap="flat" cmpd="sng">
            <a:solidFill>
              <a:schemeClr val="accent1"/>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9"/>
          <p:cNvSpPr/>
          <p:nvPr/>
        </p:nvSpPr>
        <p:spPr>
          <a:xfrm>
            <a:off x="4709160" y="1005840"/>
            <a:ext cx="109800" cy="1371600"/>
          </a:xfrm>
          <a:prstGeom prst="rect">
            <a:avLst/>
          </a:prstGeom>
          <a:solidFill>
            <a:srgbClr val="1565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9"/>
          <p:cNvSpPr/>
          <p:nvPr/>
        </p:nvSpPr>
        <p:spPr>
          <a:xfrm>
            <a:off x="4892040" y="1097280"/>
            <a:ext cx="37491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565C0"/>
              </a:buClr>
              <a:buSzPts val="1400"/>
              <a:buFont typeface="Calibri"/>
              <a:buNone/>
            </a:pPr>
            <a:r>
              <a:rPr lang="en" sz="1400" b="1">
                <a:solidFill>
                  <a:schemeClr val="dk1"/>
                </a:solidFill>
                <a:latin typeface="Calibri"/>
                <a:ea typeface="Calibri"/>
                <a:cs typeface="Calibri"/>
                <a:sym typeface="Calibri"/>
              </a:rPr>
              <a:t>Vanishing Gradient</a:t>
            </a:r>
            <a:endParaRPr sz="1400">
              <a:solidFill>
                <a:schemeClr val="dk1"/>
              </a:solidFill>
              <a:latin typeface="Calibri"/>
              <a:ea typeface="Calibri"/>
              <a:cs typeface="Calibri"/>
              <a:sym typeface="Calibri"/>
            </a:endParaRPr>
          </a:p>
        </p:txBody>
      </p:sp>
      <p:sp>
        <p:nvSpPr>
          <p:cNvPr id="515" name="Google Shape;515;p29"/>
          <p:cNvSpPr/>
          <p:nvPr/>
        </p:nvSpPr>
        <p:spPr>
          <a:xfrm>
            <a:off x="4892040" y="1481328"/>
            <a:ext cx="3749100" cy="777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46E7A"/>
              </a:buClr>
              <a:buSzPts val="1200"/>
              <a:buFont typeface="Calibri"/>
              <a:buNone/>
            </a:pPr>
            <a:r>
              <a:rPr lang="en" sz="1200">
                <a:solidFill>
                  <a:schemeClr val="dk1"/>
                </a:solidFill>
                <a:latin typeface="Calibri"/>
                <a:ea typeface="Calibri"/>
                <a:cs typeface="Calibri"/>
                <a:sym typeface="Calibri"/>
              </a:rPr>
              <a:t>When |dhₜ/dhₜ₋₁| &lt; 1, the product shrinks exponentially. Gradients approach 0 — network stops learning long-range dependencies.</a:t>
            </a:r>
            <a:endParaRPr sz="1200">
              <a:solidFill>
                <a:schemeClr val="dk1"/>
              </a:solidFill>
              <a:latin typeface="Calibri"/>
              <a:ea typeface="Calibri"/>
              <a:cs typeface="Calibri"/>
              <a:sym typeface="Calibri"/>
            </a:endParaRPr>
          </a:p>
        </p:txBody>
      </p:sp>
      <p:sp>
        <p:nvSpPr>
          <p:cNvPr id="516" name="Google Shape;516;p29"/>
          <p:cNvSpPr/>
          <p:nvPr/>
        </p:nvSpPr>
        <p:spPr>
          <a:xfrm>
            <a:off x="4709160" y="2514600"/>
            <a:ext cx="4114800" cy="1371600"/>
          </a:xfrm>
          <a:prstGeom prst="rect">
            <a:avLst/>
          </a:prstGeom>
          <a:solidFill>
            <a:schemeClr val="lt1"/>
          </a:solidFill>
          <a:ln w="9525" cap="flat" cmpd="sng">
            <a:solidFill>
              <a:srgbClr val="FF9900"/>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9"/>
          <p:cNvSpPr/>
          <p:nvPr/>
        </p:nvSpPr>
        <p:spPr>
          <a:xfrm>
            <a:off x="4709160" y="2514600"/>
            <a:ext cx="109800" cy="1371600"/>
          </a:xfrm>
          <a:prstGeom prst="rect">
            <a:avLst/>
          </a:prstGeom>
          <a:solidFill>
            <a:srgbClr val="FF7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9"/>
          <p:cNvSpPr/>
          <p:nvPr/>
        </p:nvSpPr>
        <p:spPr>
          <a:xfrm>
            <a:off x="4892040" y="2606040"/>
            <a:ext cx="37491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7043"/>
              </a:buClr>
              <a:buSzPts val="1400"/>
              <a:buFont typeface="Calibri"/>
              <a:buNone/>
            </a:pPr>
            <a:r>
              <a:rPr lang="en" sz="1400" b="1">
                <a:solidFill>
                  <a:schemeClr val="dk1"/>
                </a:solidFill>
                <a:latin typeface="Calibri"/>
                <a:ea typeface="Calibri"/>
                <a:cs typeface="Calibri"/>
                <a:sym typeface="Calibri"/>
              </a:rPr>
              <a:t>Exploding Gradient</a:t>
            </a:r>
            <a:endParaRPr sz="1400">
              <a:solidFill>
                <a:schemeClr val="dk1"/>
              </a:solidFill>
              <a:latin typeface="Calibri"/>
              <a:ea typeface="Calibri"/>
              <a:cs typeface="Calibri"/>
              <a:sym typeface="Calibri"/>
            </a:endParaRPr>
          </a:p>
        </p:txBody>
      </p:sp>
      <p:sp>
        <p:nvSpPr>
          <p:cNvPr id="519" name="Google Shape;519;p29"/>
          <p:cNvSpPr/>
          <p:nvPr/>
        </p:nvSpPr>
        <p:spPr>
          <a:xfrm>
            <a:off x="4892040" y="2990088"/>
            <a:ext cx="3749100" cy="777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46E7A"/>
              </a:buClr>
              <a:buSzPts val="1200"/>
              <a:buFont typeface="Calibri"/>
              <a:buNone/>
            </a:pPr>
            <a:r>
              <a:rPr lang="en" sz="1300">
                <a:solidFill>
                  <a:schemeClr val="dk1"/>
                </a:solidFill>
                <a:latin typeface="Calibri"/>
                <a:ea typeface="Calibri"/>
                <a:cs typeface="Calibri"/>
                <a:sym typeface="Calibri"/>
              </a:rPr>
              <a:t>When |dhₜ/dhₜ₋₁| &gt; 1, the product grows exponentially causing NaN weights. Fix: clip gradients at a threshold.</a:t>
            </a:r>
            <a:endParaRPr sz="1300">
              <a:solidFill>
                <a:schemeClr val="dk1"/>
              </a:solidFill>
              <a:latin typeface="Calibri"/>
              <a:ea typeface="Calibri"/>
              <a:cs typeface="Calibri"/>
              <a:sym typeface="Calibri"/>
            </a:endParaRPr>
          </a:p>
        </p:txBody>
      </p:sp>
      <p:sp>
        <p:nvSpPr>
          <p:cNvPr id="520" name="Google Shape;520;p29"/>
          <p:cNvSpPr/>
          <p:nvPr/>
        </p:nvSpPr>
        <p:spPr>
          <a:xfrm>
            <a:off x="4709160" y="4069080"/>
            <a:ext cx="4114800" cy="685800"/>
          </a:xfrm>
          <a:prstGeom prst="rect">
            <a:avLst/>
          </a:prstGeom>
          <a:solidFill>
            <a:schemeClr val="lt1"/>
          </a:solid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9"/>
          <p:cNvSpPr/>
          <p:nvPr/>
        </p:nvSpPr>
        <p:spPr>
          <a:xfrm>
            <a:off x="4800600" y="4133088"/>
            <a:ext cx="3931800" cy="548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DD835"/>
              </a:buClr>
              <a:buSzPts val="1300"/>
              <a:buFont typeface="Calibri"/>
              <a:buNone/>
            </a:pPr>
            <a:r>
              <a:rPr lang="en" sz="1300" b="1">
                <a:solidFill>
                  <a:schemeClr val="dk1"/>
                </a:solidFill>
                <a:latin typeface="Calibri"/>
                <a:ea typeface="Calibri"/>
                <a:cs typeface="Calibri"/>
                <a:sym typeface="Calibri"/>
              </a:rPr>
              <a:t>Solution: LSTM (Long Short-Term Memory)</a:t>
            </a:r>
            <a:endParaRPr sz="1300">
              <a:solidFill>
                <a:schemeClr val="dk1"/>
              </a:solidFill>
              <a:latin typeface="Calibri"/>
              <a:ea typeface="Calibri"/>
              <a:cs typeface="Calibri"/>
              <a:sym typeface="Calibri"/>
            </a:endParaRPr>
          </a:p>
        </p:txBody>
      </p:sp>
      <p:pic>
        <p:nvPicPr>
          <p:cNvPr id="522" name="Google Shape;522;p29"/>
          <p:cNvPicPr preferRelativeResize="0"/>
          <p:nvPr/>
        </p:nvPicPr>
        <p:blipFill rotWithShape="1">
          <a:blip r:embed="rId5">
            <a:alphaModFix/>
          </a:blip>
          <a:srcRect l="19993" r="20131"/>
          <a:stretch/>
        </p:blipFill>
        <p:spPr>
          <a:xfrm>
            <a:off x="396300" y="3119275"/>
            <a:ext cx="2942525" cy="1457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26"/>
        <p:cNvGrpSpPr/>
        <p:nvPr/>
      </p:nvGrpSpPr>
      <p:grpSpPr>
        <a:xfrm>
          <a:off x="0" y="0"/>
          <a:ext cx="0" cy="0"/>
          <a:chOff x="0" y="0"/>
          <a:chExt cx="0" cy="0"/>
        </a:xfrm>
      </p:grpSpPr>
      <p:pic>
        <p:nvPicPr>
          <p:cNvPr id="527" name="Google Shape;527;p30"/>
          <p:cNvPicPr preferRelativeResize="0"/>
          <p:nvPr/>
        </p:nvPicPr>
        <p:blipFill>
          <a:blip r:embed="rId4">
            <a:alphaModFix/>
          </a:blip>
          <a:stretch>
            <a:fillRect/>
          </a:stretch>
        </p:blipFill>
        <p:spPr>
          <a:xfrm>
            <a:off x="8369125" y="0"/>
            <a:ext cx="774877" cy="867174"/>
          </a:xfrm>
          <a:prstGeom prst="rect">
            <a:avLst/>
          </a:prstGeom>
          <a:noFill/>
          <a:ln>
            <a:noFill/>
          </a:ln>
        </p:spPr>
      </p:pic>
      <p:pic>
        <p:nvPicPr>
          <p:cNvPr id="528" name="Google Shape;528;p30"/>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529" name="Google Shape;529;p30"/>
          <p:cNvSpPr txBox="1"/>
          <p:nvPr/>
        </p:nvSpPr>
        <p:spPr>
          <a:xfrm>
            <a:off x="1198200" y="232075"/>
            <a:ext cx="6879300" cy="63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1625"/>
              <a:buFont typeface="Calibri"/>
              <a:buNone/>
            </a:pPr>
            <a:r>
              <a:rPr lang="en" sz="2625" b="1">
                <a:solidFill>
                  <a:schemeClr val="dk1"/>
                </a:solidFill>
                <a:latin typeface="Calibri"/>
                <a:ea typeface="Calibri"/>
                <a:cs typeface="Calibri"/>
                <a:sym typeface="Calibri"/>
              </a:rPr>
              <a:t>LSTM: RNN with Forget &amp; Input Gates</a:t>
            </a:r>
            <a:endParaRPr sz="2625" b="1">
              <a:solidFill>
                <a:schemeClr val="dk1"/>
              </a:solidFill>
              <a:latin typeface="Calibri"/>
              <a:ea typeface="Calibri"/>
              <a:cs typeface="Calibri"/>
              <a:sym typeface="Calibri"/>
            </a:endParaRPr>
          </a:p>
        </p:txBody>
      </p:sp>
      <p:sp>
        <p:nvSpPr>
          <p:cNvPr id="530" name="Google Shape;530;p30"/>
          <p:cNvSpPr/>
          <p:nvPr/>
        </p:nvSpPr>
        <p:spPr>
          <a:xfrm>
            <a:off x="365760" y="1005840"/>
            <a:ext cx="228600" cy="228600"/>
          </a:xfrm>
          <a:prstGeom prst="rect">
            <a:avLst/>
          </a:prstGeom>
          <a:solidFill>
            <a:srgbClr val="FF7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0"/>
          <p:cNvSpPr/>
          <p:nvPr/>
        </p:nvSpPr>
        <p:spPr>
          <a:xfrm>
            <a:off x="658368" y="1005840"/>
            <a:ext cx="17373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46E7A"/>
              </a:buClr>
              <a:buSzPts val="1100"/>
              <a:buFont typeface="Calibri"/>
              <a:buNone/>
            </a:pPr>
            <a:r>
              <a:rPr lang="en">
                <a:solidFill>
                  <a:schemeClr val="dk1"/>
                </a:solidFill>
                <a:latin typeface="Calibri"/>
                <a:ea typeface="Calibri"/>
                <a:cs typeface="Calibri"/>
                <a:sym typeface="Calibri"/>
              </a:rPr>
              <a:t>Forget Gate (fₜ)</a:t>
            </a:r>
            <a:endParaRPr>
              <a:solidFill>
                <a:schemeClr val="dk1"/>
              </a:solidFill>
              <a:latin typeface="Calibri"/>
              <a:ea typeface="Calibri"/>
              <a:cs typeface="Calibri"/>
              <a:sym typeface="Calibri"/>
            </a:endParaRPr>
          </a:p>
        </p:txBody>
      </p:sp>
      <p:sp>
        <p:nvSpPr>
          <p:cNvPr id="532" name="Google Shape;532;p30"/>
          <p:cNvSpPr/>
          <p:nvPr/>
        </p:nvSpPr>
        <p:spPr>
          <a:xfrm>
            <a:off x="2514600" y="1005840"/>
            <a:ext cx="228600" cy="228600"/>
          </a:xfrm>
          <a:prstGeom prst="rect">
            <a:avLst/>
          </a:prstGeom>
          <a:solidFill>
            <a:srgbClr val="00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0"/>
          <p:cNvSpPr/>
          <p:nvPr/>
        </p:nvSpPr>
        <p:spPr>
          <a:xfrm>
            <a:off x="2807208" y="1005840"/>
            <a:ext cx="17373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46E7A"/>
              </a:buClr>
              <a:buSzPts val="1100"/>
              <a:buFont typeface="Calibri"/>
              <a:buNone/>
            </a:pPr>
            <a:r>
              <a:rPr lang="en">
                <a:solidFill>
                  <a:schemeClr val="dk1"/>
                </a:solidFill>
                <a:latin typeface="Calibri"/>
                <a:ea typeface="Calibri"/>
                <a:cs typeface="Calibri"/>
                <a:sym typeface="Calibri"/>
              </a:rPr>
              <a:t>Input Gate (iₜ)</a:t>
            </a:r>
            <a:endParaRPr>
              <a:solidFill>
                <a:schemeClr val="dk1"/>
              </a:solidFill>
              <a:latin typeface="Calibri"/>
              <a:ea typeface="Calibri"/>
              <a:cs typeface="Calibri"/>
              <a:sym typeface="Calibri"/>
            </a:endParaRPr>
          </a:p>
        </p:txBody>
      </p:sp>
      <p:sp>
        <p:nvSpPr>
          <p:cNvPr id="534" name="Google Shape;534;p30"/>
          <p:cNvSpPr/>
          <p:nvPr/>
        </p:nvSpPr>
        <p:spPr>
          <a:xfrm>
            <a:off x="4663440" y="1005840"/>
            <a:ext cx="228600" cy="228600"/>
          </a:xfrm>
          <a:prstGeom prst="rect">
            <a:avLst/>
          </a:prstGeom>
          <a:solidFill>
            <a:srgbClr val="0D1B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0"/>
          <p:cNvSpPr/>
          <p:nvPr/>
        </p:nvSpPr>
        <p:spPr>
          <a:xfrm>
            <a:off x="4956048" y="1005840"/>
            <a:ext cx="17373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46E7A"/>
              </a:buClr>
              <a:buSzPts val="1100"/>
              <a:buFont typeface="Calibri"/>
              <a:buNone/>
            </a:pPr>
            <a:r>
              <a:rPr lang="en">
                <a:solidFill>
                  <a:schemeClr val="dk1"/>
                </a:solidFill>
                <a:latin typeface="Calibri"/>
                <a:ea typeface="Calibri"/>
                <a:cs typeface="Calibri"/>
                <a:sym typeface="Calibri"/>
              </a:rPr>
              <a:t>Hidden State (hₜ)</a:t>
            </a:r>
            <a:endParaRPr>
              <a:solidFill>
                <a:schemeClr val="dk1"/>
              </a:solidFill>
              <a:latin typeface="Calibri"/>
              <a:ea typeface="Calibri"/>
              <a:cs typeface="Calibri"/>
              <a:sym typeface="Calibri"/>
            </a:endParaRPr>
          </a:p>
        </p:txBody>
      </p:sp>
      <p:sp>
        <p:nvSpPr>
          <p:cNvPr id="536" name="Google Shape;536;p30"/>
          <p:cNvSpPr/>
          <p:nvPr/>
        </p:nvSpPr>
        <p:spPr>
          <a:xfrm>
            <a:off x="6404630" y="1014228"/>
            <a:ext cx="228600" cy="228600"/>
          </a:xfrm>
          <a:prstGeom prst="rect">
            <a:avLst/>
          </a:prstGeom>
          <a:solidFill>
            <a:srgbClr val="00BC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0"/>
          <p:cNvSpPr/>
          <p:nvPr/>
        </p:nvSpPr>
        <p:spPr>
          <a:xfrm>
            <a:off x="6697238" y="1014228"/>
            <a:ext cx="17373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46E7A"/>
              </a:buClr>
              <a:buSzPts val="1100"/>
              <a:buFont typeface="Calibri"/>
              <a:buNone/>
            </a:pPr>
            <a:r>
              <a:rPr lang="en">
                <a:solidFill>
                  <a:schemeClr val="dk1"/>
                </a:solidFill>
                <a:latin typeface="Calibri"/>
                <a:ea typeface="Calibri"/>
                <a:cs typeface="Calibri"/>
                <a:sym typeface="Calibri"/>
              </a:rPr>
              <a:t>Input (xₜ)</a:t>
            </a:r>
            <a:endParaRPr>
              <a:solidFill>
                <a:schemeClr val="dk1"/>
              </a:solidFill>
              <a:latin typeface="Calibri"/>
              <a:ea typeface="Calibri"/>
              <a:cs typeface="Calibri"/>
              <a:sym typeface="Calibri"/>
            </a:endParaRPr>
          </a:p>
        </p:txBody>
      </p:sp>
      <p:sp>
        <p:nvSpPr>
          <p:cNvPr id="538" name="Google Shape;538;p30"/>
          <p:cNvSpPr/>
          <p:nvPr/>
        </p:nvSpPr>
        <p:spPr>
          <a:xfrm>
            <a:off x="320040" y="1389888"/>
            <a:ext cx="8503800" cy="164700"/>
          </a:xfrm>
          <a:prstGeom prst="rect">
            <a:avLst/>
          </a:pr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0"/>
          <p:cNvSpPr/>
          <p:nvPr/>
        </p:nvSpPr>
        <p:spPr>
          <a:xfrm>
            <a:off x="411480" y="1389888"/>
            <a:ext cx="8229600" cy="164700"/>
          </a:xfrm>
          <a:prstGeom prst="rect">
            <a:avLst/>
          </a:prstGeom>
          <a:solidFill>
            <a:schemeClr val="lt1"/>
          </a:solid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546E7A"/>
              </a:buClr>
              <a:buSzPts val="900"/>
              <a:buFont typeface="Calibri"/>
              <a:buNone/>
            </a:pPr>
            <a:r>
              <a:rPr lang="en" sz="1100" i="1">
                <a:solidFill>
                  <a:schemeClr val="dk1"/>
                </a:solidFill>
                <a:latin typeface="Calibri"/>
                <a:ea typeface="Calibri"/>
                <a:cs typeface="Calibri"/>
                <a:sym typeface="Calibri"/>
              </a:rPr>
              <a:t>          Cell State  Cₜ  (conveyor belt — passes through forget &amp; input gates)</a:t>
            </a:r>
            <a:endParaRPr sz="1100">
              <a:solidFill>
                <a:schemeClr val="dk1"/>
              </a:solidFill>
              <a:latin typeface="Calibri"/>
              <a:ea typeface="Calibri"/>
              <a:cs typeface="Calibri"/>
              <a:sym typeface="Calibri"/>
            </a:endParaRPr>
          </a:p>
        </p:txBody>
      </p:sp>
      <p:sp>
        <p:nvSpPr>
          <p:cNvPr id="540" name="Google Shape;540;p30"/>
          <p:cNvSpPr/>
          <p:nvPr/>
        </p:nvSpPr>
        <p:spPr>
          <a:xfrm>
            <a:off x="731520" y="1691640"/>
            <a:ext cx="1188600" cy="567000"/>
          </a:xfrm>
          <a:prstGeom prst="rect">
            <a:avLst/>
          </a:prstGeom>
          <a:solidFill>
            <a:srgbClr val="FF7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0"/>
          <p:cNvSpPr/>
          <p:nvPr/>
        </p:nvSpPr>
        <p:spPr>
          <a:xfrm>
            <a:off x="731520" y="1691640"/>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Forget</a:t>
            </a:r>
            <a:endParaRPr sz="1000">
              <a:solidFill>
                <a:srgbClr val="000000"/>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Gate  fₜ</a:t>
            </a:r>
            <a:endParaRPr sz="1000">
              <a:solidFill>
                <a:srgbClr val="000000"/>
              </a:solidFill>
              <a:latin typeface="Calibri"/>
              <a:ea typeface="Calibri"/>
              <a:cs typeface="Calibri"/>
              <a:sym typeface="Calibri"/>
            </a:endParaRPr>
          </a:p>
        </p:txBody>
      </p:sp>
      <p:cxnSp>
        <p:nvCxnSpPr>
          <p:cNvPr id="542" name="Google Shape;542;p30"/>
          <p:cNvCxnSpPr/>
          <p:nvPr/>
        </p:nvCxnSpPr>
        <p:spPr>
          <a:xfrm>
            <a:off x="1325880" y="1554480"/>
            <a:ext cx="0" cy="137100"/>
          </a:xfrm>
          <a:prstGeom prst="straightConnector1">
            <a:avLst/>
          </a:prstGeom>
          <a:noFill/>
          <a:ln w="19050" cap="flat" cmpd="sng">
            <a:solidFill>
              <a:srgbClr val="FF7043"/>
            </a:solidFill>
            <a:prstDash val="solid"/>
            <a:round/>
            <a:headEnd type="none" w="sm" len="sm"/>
            <a:tailEnd type="none" w="sm" len="sm"/>
          </a:ln>
        </p:spPr>
      </p:cxnSp>
      <p:sp>
        <p:nvSpPr>
          <p:cNvPr id="543" name="Google Shape;543;p30"/>
          <p:cNvSpPr/>
          <p:nvPr/>
        </p:nvSpPr>
        <p:spPr>
          <a:xfrm>
            <a:off x="731520" y="2487168"/>
            <a:ext cx="1188600" cy="567000"/>
          </a:xfrm>
          <a:prstGeom prst="rect">
            <a:avLst/>
          </a:prstGeom>
          <a:solidFill>
            <a:srgbClr val="00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0"/>
          <p:cNvSpPr/>
          <p:nvPr/>
        </p:nvSpPr>
        <p:spPr>
          <a:xfrm>
            <a:off x="731520" y="2487168"/>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Input</a:t>
            </a:r>
            <a:endParaRPr sz="1000">
              <a:solidFill>
                <a:srgbClr val="000000"/>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Gate  iₜ</a:t>
            </a:r>
            <a:endParaRPr sz="1000">
              <a:solidFill>
                <a:srgbClr val="000000"/>
              </a:solidFill>
              <a:latin typeface="Calibri"/>
              <a:ea typeface="Calibri"/>
              <a:cs typeface="Calibri"/>
              <a:sym typeface="Calibri"/>
            </a:endParaRPr>
          </a:p>
        </p:txBody>
      </p:sp>
      <p:cxnSp>
        <p:nvCxnSpPr>
          <p:cNvPr id="545" name="Google Shape;545;p30"/>
          <p:cNvCxnSpPr/>
          <p:nvPr/>
        </p:nvCxnSpPr>
        <p:spPr>
          <a:xfrm>
            <a:off x="1325880" y="2258568"/>
            <a:ext cx="0" cy="228600"/>
          </a:xfrm>
          <a:prstGeom prst="straightConnector1">
            <a:avLst/>
          </a:prstGeom>
          <a:noFill/>
          <a:ln w="15225" cap="flat" cmpd="sng">
            <a:solidFill>
              <a:srgbClr val="546E7A"/>
            </a:solidFill>
            <a:prstDash val="solid"/>
            <a:round/>
            <a:headEnd type="none" w="sm" len="sm"/>
            <a:tailEnd type="none" w="sm" len="sm"/>
          </a:ln>
        </p:spPr>
      </p:cxnSp>
      <p:sp>
        <p:nvSpPr>
          <p:cNvPr id="546" name="Google Shape;546;p30"/>
          <p:cNvSpPr/>
          <p:nvPr/>
        </p:nvSpPr>
        <p:spPr>
          <a:xfrm>
            <a:off x="731520" y="3337560"/>
            <a:ext cx="1188600" cy="567000"/>
          </a:xfrm>
          <a:prstGeom prst="rect">
            <a:avLst/>
          </a:prstGeom>
          <a:solidFill>
            <a:srgbClr val="0D1B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0"/>
          <p:cNvSpPr/>
          <p:nvPr/>
        </p:nvSpPr>
        <p:spPr>
          <a:xfrm>
            <a:off x="731520" y="3337560"/>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RNN cell</a:t>
            </a:r>
            <a:endParaRPr sz="1000">
              <a:solidFill>
                <a:srgbClr val="000000"/>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h0</a:t>
            </a:r>
            <a:endParaRPr sz="1000">
              <a:solidFill>
                <a:srgbClr val="000000"/>
              </a:solidFill>
              <a:latin typeface="Calibri"/>
              <a:ea typeface="Calibri"/>
              <a:cs typeface="Calibri"/>
              <a:sym typeface="Calibri"/>
            </a:endParaRPr>
          </a:p>
        </p:txBody>
      </p:sp>
      <p:cxnSp>
        <p:nvCxnSpPr>
          <p:cNvPr id="548" name="Google Shape;548;p30"/>
          <p:cNvCxnSpPr/>
          <p:nvPr/>
        </p:nvCxnSpPr>
        <p:spPr>
          <a:xfrm>
            <a:off x="1325880" y="3054096"/>
            <a:ext cx="0" cy="283500"/>
          </a:xfrm>
          <a:prstGeom prst="straightConnector1">
            <a:avLst/>
          </a:prstGeom>
          <a:noFill/>
          <a:ln w="15225" cap="flat" cmpd="sng">
            <a:solidFill>
              <a:srgbClr val="546E7A"/>
            </a:solidFill>
            <a:prstDash val="solid"/>
            <a:round/>
            <a:headEnd type="none" w="sm" len="sm"/>
            <a:tailEnd type="none" w="sm" len="sm"/>
          </a:ln>
        </p:spPr>
      </p:cxnSp>
      <p:sp>
        <p:nvSpPr>
          <p:cNvPr id="549" name="Google Shape;549;p30"/>
          <p:cNvSpPr/>
          <p:nvPr/>
        </p:nvSpPr>
        <p:spPr>
          <a:xfrm>
            <a:off x="731520" y="4251960"/>
            <a:ext cx="1188600" cy="567000"/>
          </a:xfrm>
          <a:prstGeom prst="rect">
            <a:avLst/>
          </a:prstGeom>
          <a:solidFill>
            <a:srgbClr val="00BC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0"/>
          <p:cNvSpPr/>
          <p:nvPr/>
        </p:nvSpPr>
        <p:spPr>
          <a:xfrm>
            <a:off x="731520" y="4251960"/>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1400"/>
              <a:buFont typeface="Calibri"/>
              <a:buNone/>
            </a:pPr>
            <a:r>
              <a:rPr lang="en" sz="1400" b="1">
                <a:solidFill>
                  <a:srgbClr val="0D1B2A"/>
                </a:solidFill>
                <a:latin typeface="Calibri"/>
                <a:ea typeface="Calibri"/>
                <a:cs typeface="Calibri"/>
                <a:sym typeface="Calibri"/>
              </a:rPr>
              <a:t>x₀</a:t>
            </a:r>
            <a:endParaRPr sz="1400">
              <a:solidFill>
                <a:srgbClr val="000000"/>
              </a:solidFill>
              <a:latin typeface="Calibri"/>
              <a:ea typeface="Calibri"/>
              <a:cs typeface="Calibri"/>
              <a:sym typeface="Calibri"/>
            </a:endParaRPr>
          </a:p>
        </p:txBody>
      </p:sp>
      <p:cxnSp>
        <p:nvCxnSpPr>
          <p:cNvPr id="551" name="Google Shape;551;p30"/>
          <p:cNvCxnSpPr/>
          <p:nvPr/>
        </p:nvCxnSpPr>
        <p:spPr>
          <a:xfrm>
            <a:off x="1325880" y="4251960"/>
            <a:ext cx="0" cy="0"/>
          </a:xfrm>
          <a:prstGeom prst="straightConnector1">
            <a:avLst/>
          </a:prstGeom>
          <a:noFill/>
          <a:ln w="19050" cap="flat" cmpd="sng">
            <a:solidFill>
              <a:srgbClr val="00BCD4"/>
            </a:solidFill>
            <a:prstDash val="solid"/>
            <a:round/>
            <a:headEnd type="none" w="sm" len="sm"/>
            <a:tailEnd type="none" w="sm" len="sm"/>
          </a:ln>
        </p:spPr>
      </p:cxnSp>
      <p:cxnSp>
        <p:nvCxnSpPr>
          <p:cNvPr id="552" name="Google Shape;552;p30"/>
          <p:cNvCxnSpPr/>
          <p:nvPr/>
        </p:nvCxnSpPr>
        <p:spPr>
          <a:xfrm>
            <a:off x="1920240" y="3621024"/>
            <a:ext cx="822900" cy="0"/>
          </a:xfrm>
          <a:prstGeom prst="straightConnector1">
            <a:avLst/>
          </a:prstGeom>
          <a:noFill/>
          <a:ln w="25400" cap="flat" cmpd="sng">
            <a:solidFill>
              <a:srgbClr val="1565C0"/>
            </a:solidFill>
            <a:prstDash val="solid"/>
            <a:round/>
            <a:headEnd type="none" w="sm" len="sm"/>
            <a:tailEnd type="none" w="sm" len="sm"/>
          </a:ln>
        </p:spPr>
      </p:cxnSp>
      <p:sp>
        <p:nvSpPr>
          <p:cNvPr id="553" name="Google Shape;553;p30"/>
          <p:cNvSpPr/>
          <p:nvPr/>
        </p:nvSpPr>
        <p:spPr>
          <a:xfrm>
            <a:off x="2743200" y="1691640"/>
            <a:ext cx="1188600" cy="567000"/>
          </a:xfrm>
          <a:prstGeom prst="rect">
            <a:avLst/>
          </a:prstGeom>
          <a:solidFill>
            <a:srgbClr val="FF7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0"/>
          <p:cNvSpPr/>
          <p:nvPr/>
        </p:nvSpPr>
        <p:spPr>
          <a:xfrm>
            <a:off x="2743200" y="1691640"/>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Forget</a:t>
            </a:r>
            <a:endParaRPr sz="1000">
              <a:solidFill>
                <a:srgbClr val="000000"/>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Gate  fₜ</a:t>
            </a:r>
            <a:endParaRPr sz="1000">
              <a:solidFill>
                <a:srgbClr val="000000"/>
              </a:solidFill>
              <a:latin typeface="Calibri"/>
              <a:ea typeface="Calibri"/>
              <a:cs typeface="Calibri"/>
              <a:sym typeface="Calibri"/>
            </a:endParaRPr>
          </a:p>
        </p:txBody>
      </p:sp>
      <p:cxnSp>
        <p:nvCxnSpPr>
          <p:cNvPr id="555" name="Google Shape;555;p30"/>
          <p:cNvCxnSpPr/>
          <p:nvPr/>
        </p:nvCxnSpPr>
        <p:spPr>
          <a:xfrm>
            <a:off x="3337560" y="1554480"/>
            <a:ext cx="0" cy="137100"/>
          </a:xfrm>
          <a:prstGeom prst="straightConnector1">
            <a:avLst/>
          </a:prstGeom>
          <a:noFill/>
          <a:ln w="19050" cap="flat" cmpd="sng">
            <a:solidFill>
              <a:srgbClr val="FF7043"/>
            </a:solidFill>
            <a:prstDash val="solid"/>
            <a:round/>
            <a:headEnd type="none" w="sm" len="sm"/>
            <a:tailEnd type="none" w="sm" len="sm"/>
          </a:ln>
        </p:spPr>
      </p:cxnSp>
      <p:sp>
        <p:nvSpPr>
          <p:cNvPr id="556" name="Google Shape;556;p30"/>
          <p:cNvSpPr/>
          <p:nvPr/>
        </p:nvSpPr>
        <p:spPr>
          <a:xfrm>
            <a:off x="2743200" y="2487168"/>
            <a:ext cx="1188600" cy="567000"/>
          </a:xfrm>
          <a:prstGeom prst="rect">
            <a:avLst/>
          </a:prstGeom>
          <a:solidFill>
            <a:srgbClr val="00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0"/>
          <p:cNvSpPr/>
          <p:nvPr/>
        </p:nvSpPr>
        <p:spPr>
          <a:xfrm>
            <a:off x="2743200" y="2487168"/>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Input</a:t>
            </a:r>
            <a:endParaRPr sz="1000">
              <a:solidFill>
                <a:srgbClr val="000000"/>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Gate  iₜ</a:t>
            </a:r>
            <a:endParaRPr sz="1000">
              <a:solidFill>
                <a:srgbClr val="000000"/>
              </a:solidFill>
              <a:latin typeface="Calibri"/>
              <a:ea typeface="Calibri"/>
              <a:cs typeface="Calibri"/>
              <a:sym typeface="Calibri"/>
            </a:endParaRPr>
          </a:p>
        </p:txBody>
      </p:sp>
      <p:cxnSp>
        <p:nvCxnSpPr>
          <p:cNvPr id="558" name="Google Shape;558;p30"/>
          <p:cNvCxnSpPr/>
          <p:nvPr/>
        </p:nvCxnSpPr>
        <p:spPr>
          <a:xfrm>
            <a:off x="3337560" y="2258568"/>
            <a:ext cx="0" cy="228600"/>
          </a:xfrm>
          <a:prstGeom prst="straightConnector1">
            <a:avLst/>
          </a:prstGeom>
          <a:noFill/>
          <a:ln w="15225" cap="flat" cmpd="sng">
            <a:solidFill>
              <a:srgbClr val="546E7A"/>
            </a:solidFill>
            <a:prstDash val="solid"/>
            <a:round/>
            <a:headEnd type="none" w="sm" len="sm"/>
            <a:tailEnd type="none" w="sm" len="sm"/>
          </a:ln>
        </p:spPr>
      </p:cxnSp>
      <p:sp>
        <p:nvSpPr>
          <p:cNvPr id="559" name="Google Shape;559;p30"/>
          <p:cNvSpPr/>
          <p:nvPr/>
        </p:nvSpPr>
        <p:spPr>
          <a:xfrm>
            <a:off x="2743200" y="3337560"/>
            <a:ext cx="1188600" cy="567000"/>
          </a:xfrm>
          <a:prstGeom prst="rect">
            <a:avLst/>
          </a:prstGeom>
          <a:solidFill>
            <a:srgbClr val="0D1B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0"/>
          <p:cNvSpPr/>
          <p:nvPr/>
        </p:nvSpPr>
        <p:spPr>
          <a:xfrm>
            <a:off x="2743200" y="3337560"/>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RNN cell</a:t>
            </a:r>
            <a:endParaRPr sz="1000">
              <a:solidFill>
                <a:srgbClr val="000000"/>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h1</a:t>
            </a:r>
            <a:endParaRPr sz="1000">
              <a:solidFill>
                <a:srgbClr val="000000"/>
              </a:solidFill>
              <a:latin typeface="Calibri"/>
              <a:ea typeface="Calibri"/>
              <a:cs typeface="Calibri"/>
              <a:sym typeface="Calibri"/>
            </a:endParaRPr>
          </a:p>
        </p:txBody>
      </p:sp>
      <p:cxnSp>
        <p:nvCxnSpPr>
          <p:cNvPr id="561" name="Google Shape;561;p30"/>
          <p:cNvCxnSpPr/>
          <p:nvPr/>
        </p:nvCxnSpPr>
        <p:spPr>
          <a:xfrm>
            <a:off x="3337560" y="3054096"/>
            <a:ext cx="0" cy="283500"/>
          </a:xfrm>
          <a:prstGeom prst="straightConnector1">
            <a:avLst/>
          </a:prstGeom>
          <a:noFill/>
          <a:ln w="15225" cap="flat" cmpd="sng">
            <a:solidFill>
              <a:srgbClr val="546E7A"/>
            </a:solidFill>
            <a:prstDash val="solid"/>
            <a:round/>
            <a:headEnd type="none" w="sm" len="sm"/>
            <a:tailEnd type="none" w="sm" len="sm"/>
          </a:ln>
        </p:spPr>
      </p:cxnSp>
      <p:sp>
        <p:nvSpPr>
          <p:cNvPr id="562" name="Google Shape;562;p30"/>
          <p:cNvSpPr/>
          <p:nvPr/>
        </p:nvSpPr>
        <p:spPr>
          <a:xfrm>
            <a:off x="2743200" y="4251960"/>
            <a:ext cx="1188600" cy="567000"/>
          </a:xfrm>
          <a:prstGeom prst="rect">
            <a:avLst/>
          </a:prstGeom>
          <a:solidFill>
            <a:srgbClr val="00BC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0"/>
          <p:cNvSpPr/>
          <p:nvPr/>
        </p:nvSpPr>
        <p:spPr>
          <a:xfrm>
            <a:off x="2743200" y="4251960"/>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1400"/>
              <a:buFont typeface="Calibri"/>
              <a:buNone/>
            </a:pPr>
            <a:r>
              <a:rPr lang="en" sz="1400" b="1">
                <a:solidFill>
                  <a:srgbClr val="0D1B2A"/>
                </a:solidFill>
                <a:latin typeface="Calibri"/>
                <a:ea typeface="Calibri"/>
                <a:cs typeface="Calibri"/>
                <a:sym typeface="Calibri"/>
              </a:rPr>
              <a:t>x₁</a:t>
            </a:r>
            <a:endParaRPr sz="1400">
              <a:solidFill>
                <a:srgbClr val="000000"/>
              </a:solidFill>
              <a:latin typeface="Calibri"/>
              <a:ea typeface="Calibri"/>
              <a:cs typeface="Calibri"/>
              <a:sym typeface="Calibri"/>
            </a:endParaRPr>
          </a:p>
        </p:txBody>
      </p:sp>
      <p:cxnSp>
        <p:nvCxnSpPr>
          <p:cNvPr id="564" name="Google Shape;564;p30"/>
          <p:cNvCxnSpPr/>
          <p:nvPr/>
        </p:nvCxnSpPr>
        <p:spPr>
          <a:xfrm>
            <a:off x="3337560" y="4251960"/>
            <a:ext cx="0" cy="0"/>
          </a:xfrm>
          <a:prstGeom prst="straightConnector1">
            <a:avLst/>
          </a:prstGeom>
          <a:noFill/>
          <a:ln w="19050" cap="flat" cmpd="sng">
            <a:solidFill>
              <a:srgbClr val="00BCD4"/>
            </a:solidFill>
            <a:prstDash val="solid"/>
            <a:round/>
            <a:headEnd type="none" w="sm" len="sm"/>
            <a:tailEnd type="none" w="sm" len="sm"/>
          </a:ln>
        </p:spPr>
      </p:cxnSp>
      <p:cxnSp>
        <p:nvCxnSpPr>
          <p:cNvPr id="565" name="Google Shape;565;p30"/>
          <p:cNvCxnSpPr/>
          <p:nvPr/>
        </p:nvCxnSpPr>
        <p:spPr>
          <a:xfrm>
            <a:off x="3931920" y="3621024"/>
            <a:ext cx="822900" cy="0"/>
          </a:xfrm>
          <a:prstGeom prst="straightConnector1">
            <a:avLst/>
          </a:prstGeom>
          <a:noFill/>
          <a:ln w="25400" cap="flat" cmpd="sng">
            <a:solidFill>
              <a:srgbClr val="1565C0"/>
            </a:solidFill>
            <a:prstDash val="solid"/>
            <a:round/>
            <a:headEnd type="none" w="sm" len="sm"/>
            <a:tailEnd type="none" w="sm" len="sm"/>
          </a:ln>
        </p:spPr>
      </p:cxnSp>
      <p:sp>
        <p:nvSpPr>
          <p:cNvPr id="566" name="Google Shape;566;p30"/>
          <p:cNvSpPr/>
          <p:nvPr/>
        </p:nvSpPr>
        <p:spPr>
          <a:xfrm>
            <a:off x="4754880" y="1691640"/>
            <a:ext cx="1188600" cy="567000"/>
          </a:xfrm>
          <a:prstGeom prst="rect">
            <a:avLst/>
          </a:prstGeom>
          <a:solidFill>
            <a:srgbClr val="FF7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0"/>
          <p:cNvSpPr/>
          <p:nvPr/>
        </p:nvSpPr>
        <p:spPr>
          <a:xfrm>
            <a:off x="4754880" y="1691640"/>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Forget</a:t>
            </a:r>
            <a:endParaRPr sz="1000">
              <a:solidFill>
                <a:srgbClr val="000000"/>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Gate  fₜ</a:t>
            </a:r>
            <a:endParaRPr sz="1000">
              <a:solidFill>
                <a:srgbClr val="000000"/>
              </a:solidFill>
              <a:latin typeface="Calibri"/>
              <a:ea typeface="Calibri"/>
              <a:cs typeface="Calibri"/>
              <a:sym typeface="Calibri"/>
            </a:endParaRPr>
          </a:p>
        </p:txBody>
      </p:sp>
      <p:cxnSp>
        <p:nvCxnSpPr>
          <p:cNvPr id="568" name="Google Shape;568;p30"/>
          <p:cNvCxnSpPr/>
          <p:nvPr/>
        </p:nvCxnSpPr>
        <p:spPr>
          <a:xfrm>
            <a:off x="5349240" y="1554480"/>
            <a:ext cx="0" cy="137100"/>
          </a:xfrm>
          <a:prstGeom prst="straightConnector1">
            <a:avLst/>
          </a:prstGeom>
          <a:noFill/>
          <a:ln w="19050" cap="flat" cmpd="sng">
            <a:solidFill>
              <a:srgbClr val="FF7043"/>
            </a:solidFill>
            <a:prstDash val="solid"/>
            <a:round/>
            <a:headEnd type="none" w="sm" len="sm"/>
            <a:tailEnd type="none" w="sm" len="sm"/>
          </a:ln>
        </p:spPr>
      </p:cxnSp>
      <p:sp>
        <p:nvSpPr>
          <p:cNvPr id="569" name="Google Shape;569;p30"/>
          <p:cNvSpPr/>
          <p:nvPr/>
        </p:nvSpPr>
        <p:spPr>
          <a:xfrm>
            <a:off x="4754880" y="2487168"/>
            <a:ext cx="1188600" cy="567000"/>
          </a:xfrm>
          <a:prstGeom prst="rect">
            <a:avLst/>
          </a:prstGeom>
          <a:solidFill>
            <a:srgbClr val="00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0"/>
          <p:cNvSpPr/>
          <p:nvPr/>
        </p:nvSpPr>
        <p:spPr>
          <a:xfrm>
            <a:off x="4754880" y="2487168"/>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Input</a:t>
            </a:r>
            <a:endParaRPr sz="1000">
              <a:solidFill>
                <a:srgbClr val="000000"/>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Gate  iₜ</a:t>
            </a:r>
            <a:endParaRPr sz="1000">
              <a:solidFill>
                <a:srgbClr val="000000"/>
              </a:solidFill>
              <a:latin typeface="Calibri"/>
              <a:ea typeface="Calibri"/>
              <a:cs typeface="Calibri"/>
              <a:sym typeface="Calibri"/>
            </a:endParaRPr>
          </a:p>
        </p:txBody>
      </p:sp>
      <p:cxnSp>
        <p:nvCxnSpPr>
          <p:cNvPr id="571" name="Google Shape;571;p30"/>
          <p:cNvCxnSpPr/>
          <p:nvPr/>
        </p:nvCxnSpPr>
        <p:spPr>
          <a:xfrm>
            <a:off x="5349240" y="2258568"/>
            <a:ext cx="0" cy="228600"/>
          </a:xfrm>
          <a:prstGeom prst="straightConnector1">
            <a:avLst/>
          </a:prstGeom>
          <a:noFill/>
          <a:ln w="15225" cap="flat" cmpd="sng">
            <a:solidFill>
              <a:srgbClr val="546E7A"/>
            </a:solidFill>
            <a:prstDash val="solid"/>
            <a:round/>
            <a:headEnd type="none" w="sm" len="sm"/>
            <a:tailEnd type="none" w="sm" len="sm"/>
          </a:ln>
        </p:spPr>
      </p:cxnSp>
      <p:sp>
        <p:nvSpPr>
          <p:cNvPr id="572" name="Google Shape;572;p30"/>
          <p:cNvSpPr/>
          <p:nvPr/>
        </p:nvSpPr>
        <p:spPr>
          <a:xfrm>
            <a:off x="4754880" y="3337560"/>
            <a:ext cx="1188600" cy="567000"/>
          </a:xfrm>
          <a:prstGeom prst="rect">
            <a:avLst/>
          </a:prstGeom>
          <a:solidFill>
            <a:srgbClr val="0D1B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0"/>
          <p:cNvSpPr/>
          <p:nvPr/>
        </p:nvSpPr>
        <p:spPr>
          <a:xfrm>
            <a:off x="4754880" y="3337560"/>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RNN cell</a:t>
            </a:r>
            <a:endParaRPr sz="1000">
              <a:solidFill>
                <a:srgbClr val="000000"/>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h2</a:t>
            </a:r>
            <a:endParaRPr sz="1000">
              <a:solidFill>
                <a:srgbClr val="000000"/>
              </a:solidFill>
              <a:latin typeface="Calibri"/>
              <a:ea typeface="Calibri"/>
              <a:cs typeface="Calibri"/>
              <a:sym typeface="Calibri"/>
            </a:endParaRPr>
          </a:p>
        </p:txBody>
      </p:sp>
      <p:cxnSp>
        <p:nvCxnSpPr>
          <p:cNvPr id="574" name="Google Shape;574;p30"/>
          <p:cNvCxnSpPr/>
          <p:nvPr/>
        </p:nvCxnSpPr>
        <p:spPr>
          <a:xfrm>
            <a:off x="5349240" y="3054096"/>
            <a:ext cx="0" cy="283500"/>
          </a:xfrm>
          <a:prstGeom prst="straightConnector1">
            <a:avLst/>
          </a:prstGeom>
          <a:noFill/>
          <a:ln w="15225" cap="flat" cmpd="sng">
            <a:solidFill>
              <a:srgbClr val="546E7A"/>
            </a:solidFill>
            <a:prstDash val="solid"/>
            <a:round/>
            <a:headEnd type="none" w="sm" len="sm"/>
            <a:tailEnd type="none" w="sm" len="sm"/>
          </a:ln>
        </p:spPr>
      </p:cxnSp>
      <p:sp>
        <p:nvSpPr>
          <p:cNvPr id="575" name="Google Shape;575;p30"/>
          <p:cNvSpPr/>
          <p:nvPr/>
        </p:nvSpPr>
        <p:spPr>
          <a:xfrm>
            <a:off x="4754880" y="4251960"/>
            <a:ext cx="1188600" cy="567000"/>
          </a:xfrm>
          <a:prstGeom prst="rect">
            <a:avLst/>
          </a:prstGeom>
          <a:solidFill>
            <a:srgbClr val="00BC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0"/>
          <p:cNvSpPr/>
          <p:nvPr/>
        </p:nvSpPr>
        <p:spPr>
          <a:xfrm>
            <a:off x="4754880" y="4251960"/>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1400"/>
              <a:buFont typeface="Calibri"/>
              <a:buNone/>
            </a:pPr>
            <a:r>
              <a:rPr lang="en" sz="1400" b="1">
                <a:solidFill>
                  <a:srgbClr val="0D1B2A"/>
                </a:solidFill>
                <a:latin typeface="Calibri"/>
                <a:ea typeface="Calibri"/>
                <a:cs typeface="Calibri"/>
                <a:sym typeface="Calibri"/>
              </a:rPr>
              <a:t>x₂</a:t>
            </a:r>
            <a:endParaRPr sz="1400">
              <a:solidFill>
                <a:srgbClr val="000000"/>
              </a:solidFill>
              <a:latin typeface="Calibri"/>
              <a:ea typeface="Calibri"/>
              <a:cs typeface="Calibri"/>
              <a:sym typeface="Calibri"/>
            </a:endParaRPr>
          </a:p>
        </p:txBody>
      </p:sp>
      <p:cxnSp>
        <p:nvCxnSpPr>
          <p:cNvPr id="577" name="Google Shape;577;p30"/>
          <p:cNvCxnSpPr/>
          <p:nvPr/>
        </p:nvCxnSpPr>
        <p:spPr>
          <a:xfrm>
            <a:off x="5349240" y="4251960"/>
            <a:ext cx="0" cy="0"/>
          </a:xfrm>
          <a:prstGeom prst="straightConnector1">
            <a:avLst/>
          </a:prstGeom>
          <a:noFill/>
          <a:ln w="19050" cap="flat" cmpd="sng">
            <a:solidFill>
              <a:srgbClr val="00BCD4"/>
            </a:solidFill>
            <a:prstDash val="solid"/>
            <a:round/>
            <a:headEnd type="none" w="sm" len="sm"/>
            <a:tailEnd type="none" w="sm" len="sm"/>
          </a:ln>
        </p:spPr>
      </p:cxnSp>
      <p:cxnSp>
        <p:nvCxnSpPr>
          <p:cNvPr id="578" name="Google Shape;578;p30"/>
          <p:cNvCxnSpPr>
            <a:stCxn id="573" idx="3"/>
          </p:cNvCxnSpPr>
          <p:nvPr/>
        </p:nvCxnSpPr>
        <p:spPr>
          <a:xfrm>
            <a:off x="5943480" y="3621060"/>
            <a:ext cx="685800" cy="9000"/>
          </a:xfrm>
          <a:prstGeom prst="straightConnector1">
            <a:avLst/>
          </a:prstGeom>
          <a:noFill/>
          <a:ln w="25400" cap="flat" cmpd="sng">
            <a:solidFill>
              <a:srgbClr val="1565C0"/>
            </a:solidFill>
            <a:prstDash val="solid"/>
            <a:round/>
            <a:headEnd type="none" w="sm" len="sm"/>
            <a:tailEnd type="none" w="sm" len="sm"/>
          </a:ln>
        </p:spPr>
      </p:cxnSp>
      <p:sp>
        <p:nvSpPr>
          <p:cNvPr id="579" name="Google Shape;579;p30"/>
          <p:cNvSpPr/>
          <p:nvPr/>
        </p:nvSpPr>
        <p:spPr>
          <a:xfrm>
            <a:off x="6629235" y="1700778"/>
            <a:ext cx="1188600" cy="567000"/>
          </a:xfrm>
          <a:prstGeom prst="rect">
            <a:avLst/>
          </a:prstGeom>
          <a:solidFill>
            <a:srgbClr val="FF70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0"/>
          <p:cNvSpPr/>
          <p:nvPr/>
        </p:nvSpPr>
        <p:spPr>
          <a:xfrm>
            <a:off x="6629235" y="1700778"/>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Forget</a:t>
            </a:r>
            <a:endParaRPr sz="1000">
              <a:solidFill>
                <a:srgbClr val="000000"/>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Gate  fₜ</a:t>
            </a:r>
            <a:endParaRPr sz="1000">
              <a:solidFill>
                <a:srgbClr val="000000"/>
              </a:solidFill>
              <a:latin typeface="Calibri"/>
              <a:ea typeface="Calibri"/>
              <a:cs typeface="Calibri"/>
              <a:sym typeface="Calibri"/>
            </a:endParaRPr>
          </a:p>
        </p:txBody>
      </p:sp>
      <p:cxnSp>
        <p:nvCxnSpPr>
          <p:cNvPr id="581" name="Google Shape;581;p30"/>
          <p:cNvCxnSpPr/>
          <p:nvPr/>
        </p:nvCxnSpPr>
        <p:spPr>
          <a:xfrm>
            <a:off x="7223595" y="1563618"/>
            <a:ext cx="0" cy="137100"/>
          </a:xfrm>
          <a:prstGeom prst="straightConnector1">
            <a:avLst/>
          </a:prstGeom>
          <a:noFill/>
          <a:ln w="19050" cap="flat" cmpd="sng">
            <a:solidFill>
              <a:srgbClr val="FF7043"/>
            </a:solidFill>
            <a:prstDash val="solid"/>
            <a:round/>
            <a:headEnd type="none" w="sm" len="sm"/>
            <a:tailEnd type="none" w="sm" len="sm"/>
          </a:ln>
        </p:spPr>
      </p:cxnSp>
      <p:sp>
        <p:nvSpPr>
          <p:cNvPr id="582" name="Google Shape;582;p30"/>
          <p:cNvSpPr/>
          <p:nvPr/>
        </p:nvSpPr>
        <p:spPr>
          <a:xfrm>
            <a:off x="6629235" y="2496306"/>
            <a:ext cx="1188600" cy="567000"/>
          </a:xfrm>
          <a:prstGeom prst="rect">
            <a:avLst/>
          </a:prstGeom>
          <a:solidFill>
            <a:srgbClr val="0089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0"/>
          <p:cNvSpPr/>
          <p:nvPr/>
        </p:nvSpPr>
        <p:spPr>
          <a:xfrm>
            <a:off x="6629235" y="2496306"/>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Input</a:t>
            </a:r>
            <a:endParaRPr sz="1000">
              <a:solidFill>
                <a:srgbClr val="000000"/>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 sz="1000" b="1">
                <a:solidFill>
                  <a:srgbClr val="FFFFFF"/>
                </a:solidFill>
                <a:latin typeface="Calibri"/>
                <a:ea typeface="Calibri"/>
                <a:cs typeface="Calibri"/>
                <a:sym typeface="Calibri"/>
              </a:rPr>
              <a:t>Gate  iₜ</a:t>
            </a:r>
            <a:endParaRPr sz="1000">
              <a:solidFill>
                <a:srgbClr val="000000"/>
              </a:solidFill>
              <a:latin typeface="Calibri"/>
              <a:ea typeface="Calibri"/>
              <a:cs typeface="Calibri"/>
              <a:sym typeface="Calibri"/>
            </a:endParaRPr>
          </a:p>
        </p:txBody>
      </p:sp>
      <p:cxnSp>
        <p:nvCxnSpPr>
          <p:cNvPr id="584" name="Google Shape;584;p30"/>
          <p:cNvCxnSpPr/>
          <p:nvPr/>
        </p:nvCxnSpPr>
        <p:spPr>
          <a:xfrm>
            <a:off x="7223595" y="2267706"/>
            <a:ext cx="0" cy="228600"/>
          </a:xfrm>
          <a:prstGeom prst="straightConnector1">
            <a:avLst/>
          </a:prstGeom>
          <a:noFill/>
          <a:ln w="15225" cap="flat" cmpd="sng">
            <a:solidFill>
              <a:srgbClr val="546E7A"/>
            </a:solidFill>
            <a:prstDash val="solid"/>
            <a:round/>
            <a:headEnd type="none" w="sm" len="sm"/>
            <a:tailEnd type="none" w="sm" len="sm"/>
          </a:ln>
        </p:spPr>
      </p:cxnSp>
      <p:sp>
        <p:nvSpPr>
          <p:cNvPr id="585" name="Google Shape;585;p30"/>
          <p:cNvSpPr/>
          <p:nvPr/>
        </p:nvSpPr>
        <p:spPr>
          <a:xfrm>
            <a:off x="6629235" y="3346698"/>
            <a:ext cx="1188600" cy="567000"/>
          </a:xfrm>
          <a:prstGeom prst="rect">
            <a:avLst/>
          </a:prstGeom>
          <a:solidFill>
            <a:srgbClr val="0D1B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0"/>
          <p:cNvSpPr/>
          <p:nvPr/>
        </p:nvSpPr>
        <p:spPr>
          <a:xfrm>
            <a:off x="6629235" y="3346698"/>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RNN cell</a:t>
            </a:r>
            <a:endParaRPr sz="1000">
              <a:solidFill>
                <a:srgbClr val="000000"/>
              </a:solidFill>
              <a:latin typeface="Calibri"/>
              <a:ea typeface="Calibri"/>
              <a:cs typeface="Calibri"/>
              <a:sym typeface="Calibri"/>
            </a:endParaRPr>
          </a:p>
          <a:p>
            <a:pPr marL="0" marR="0" lvl="0" indent="0" algn="ctr" rtl="0">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h3</a:t>
            </a:r>
            <a:endParaRPr sz="1000">
              <a:solidFill>
                <a:srgbClr val="000000"/>
              </a:solidFill>
              <a:latin typeface="Calibri"/>
              <a:ea typeface="Calibri"/>
              <a:cs typeface="Calibri"/>
              <a:sym typeface="Calibri"/>
            </a:endParaRPr>
          </a:p>
        </p:txBody>
      </p:sp>
      <p:cxnSp>
        <p:nvCxnSpPr>
          <p:cNvPr id="587" name="Google Shape;587;p30"/>
          <p:cNvCxnSpPr/>
          <p:nvPr/>
        </p:nvCxnSpPr>
        <p:spPr>
          <a:xfrm>
            <a:off x="7223595" y="3063234"/>
            <a:ext cx="0" cy="283500"/>
          </a:xfrm>
          <a:prstGeom prst="straightConnector1">
            <a:avLst/>
          </a:prstGeom>
          <a:noFill/>
          <a:ln w="15225" cap="flat" cmpd="sng">
            <a:solidFill>
              <a:srgbClr val="546E7A"/>
            </a:solidFill>
            <a:prstDash val="solid"/>
            <a:round/>
            <a:headEnd type="none" w="sm" len="sm"/>
            <a:tailEnd type="none" w="sm" len="sm"/>
          </a:ln>
        </p:spPr>
      </p:cxnSp>
      <p:sp>
        <p:nvSpPr>
          <p:cNvPr id="588" name="Google Shape;588;p30"/>
          <p:cNvSpPr/>
          <p:nvPr/>
        </p:nvSpPr>
        <p:spPr>
          <a:xfrm>
            <a:off x="6629235" y="4261098"/>
            <a:ext cx="1188600" cy="567000"/>
          </a:xfrm>
          <a:prstGeom prst="rect">
            <a:avLst/>
          </a:prstGeom>
          <a:solidFill>
            <a:srgbClr val="00BC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0"/>
          <p:cNvSpPr/>
          <p:nvPr/>
        </p:nvSpPr>
        <p:spPr>
          <a:xfrm>
            <a:off x="6629235" y="4261098"/>
            <a:ext cx="1188600" cy="567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1400"/>
              <a:buFont typeface="Calibri"/>
              <a:buNone/>
            </a:pPr>
            <a:r>
              <a:rPr lang="en" sz="1400" b="1">
                <a:solidFill>
                  <a:srgbClr val="0D1B2A"/>
                </a:solidFill>
                <a:latin typeface="Calibri"/>
                <a:ea typeface="Calibri"/>
                <a:cs typeface="Calibri"/>
                <a:sym typeface="Calibri"/>
              </a:rPr>
              <a:t>x₃</a:t>
            </a:r>
            <a:endParaRPr sz="1400">
              <a:solidFill>
                <a:srgbClr val="000000"/>
              </a:solidFill>
              <a:latin typeface="Calibri"/>
              <a:ea typeface="Calibri"/>
              <a:cs typeface="Calibri"/>
              <a:sym typeface="Calibri"/>
            </a:endParaRPr>
          </a:p>
        </p:txBody>
      </p:sp>
      <p:cxnSp>
        <p:nvCxnSpPr>
          <p:cNvPr id="590" name="Google Shape;590;p30"/>
          <p:cNvCxnSpPr/>
          <p:nvPr/>
        </p:nvCxnSpPr>
        <p:spPr>
          <a:xfrm>
            <a:off x="7223595" y="4261098"/>
            <a:ext cx="0" cy="0"/>
          </a:xfrm>
          <a:prstGeom prst="straightConnector1">
            <a:avLst/>
          </a:prstGeom>
          <a:noFill/>
          <a:ln w="19050" cap="flat" cmpd="sng">
            <a:solidFill>
              <a:srgbClr val="00BCD4"/>
            </a:solidFill>
            <a:prstDash val="solid"/>
            <a:round/>
            <a:headEnd type="none" w="sm" len="sm"/>
            <a:tailEnd type="none" w="sm" len="sm"/>
          </a:ln>
        </p:spPr>
      </p:cxnSp>
      <p:sp>
        <p:nvSpPr>
          <p:cNvPr id="591" name="Google Shape;591;p30"/>
          <p:cNvSpPr/>
          <p:nvPr/>
        </p:nvSpPr>
        <p:spPr>
          <a:xfrm>
            <a:off x="274320" y="4846320"/>
            <a:ext cx="85953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897B"/>
              </a:buClr>
              <a:buSzPts val="1100"/>
              <a:buFont typeface="Calibri"/>
              <a:buNone/>
            </a:pPr>
            <a:r>
              <a:rPr lang="en" sz="1100" i="1">
                <a:solidFill>
                  <a:srgbClr val="00897B"/>
                </a:solidFill>
                <a:latin typeface="Calibri"/>
                <a:ea typeface="Calibri"/>
                <a:cs typeface="Calibri"/>
                <a:sym typeface="Calibri"/>
              </a:rPr>
              <a:t>fₜ decides what to forget · iₜ decides what new info to write · hₜ flows right as the rolling memory</a:t>
            </a:r>
            <a:endParaRPr sz="1100">
              <a:solidFill>
                <a:srgbClr val="000000"/>
              </a:solidFill>
              <a:latin typeface="Calibri"/>
              <a:ea typeface="Calibri"/>
              <a:cs typeface="Calibri"/>
              <a:sym typeface="Calibri"/>
            </a:endParaRPr>
          </a:p>
        </p:txBody>
      </p:sp>
      <p:cxnSp>
        <p:nvCxnSpPr>
          <p:cNvPr id="592" name="Google Shape;592;p30"/>
          <p:cNvCxnSpPr>
            <a:endCxn id="593" idx="1"/>
          </p:cNvCxnSpPr>
          <p:nvPr/>
        </p:nvCxnSpPr>
        <p:spPr>
          <a:xfrm>
            <a:off x="7817885" y="3630198"/>
            <a:ext cx="317100" cy="0"/>
          </a:xfrm>
          <a:prstGeom prst="straightConnector1">
            <a:avLst/>
          </a:prstGeom>
          <a:noFill/>
          <a:ln w="25400" cap="flat" cmpd="sng">
            <a:solidFill>
              <a:srgbClr val="7E57C2"/>
            </a:solidFill>
            <a:prstDash val="solid"/>
            <a:round/>
            <a:headEnd type="none" w="sm" len="sm"/>
            <a:tailEnd type="triangle" w="med" len="med"/>
          </a:ln>
        </p:spPr>
      </p:cxnSp>
      <p:sp>
        <p:nvSpPr>
          <p:cNvPr id="593" name="Google Shape;593;p30"/>
          <p:cNvSpPr/>
          <p:nvPr/>
        </p:nvSpPr>
        <p:spPr>
          <a:xfrm>
            <a:off x="8134985" y="3346698"/>
            <a:ext cx="868800" cy="567000"/>
          </a:xfrm>
          <a:prstGeom prst="rect">
            <a:avLst/>
          </a:prstGeom>
          <a:solidFill>
            <a:srgbClr val="7E57C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FF"/>
                </a:solidFill>
                <a:latin typeface="Calibri"/>
                <a:ea typeface="Calibri"/>
                <a:cs typeface="Calibri"/>
                <a:sym typeface="Calibri"/>
              </a:rPr>
              <a:t>ŷ₃</a:t>
            </a:r>
            <a:endParaRPr/>
          </a:p>
        </p:txBody>
      </p:sp>
      <p:sp>
        <p:nvSpPr>
          <p:cNvPr id="594" name="Google Shape;594;p30"/>
          <p:cNvSpPr/>
          <p:nvPr/>
        </p:nvSpPr>
        <p:spPr>
          <a:xfrm>
            <a:off x="7862126" y="1014249"/>
            <a:ext cx="228600" cy="228600"/>
          </a:xfrm>
          <a:prstGeom prst="rect">
            <a:avLst/>
          </a:prstGeom>
          <a:solidFill>
            <a:srgbClr val="7E57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30"/>
          <p:cNvSpPr/>
          <p:nvPr/>
        </p:nvSpPr>
        <p:spPr>
          <a:xfrm>
            <a:off x="8145812" y="1014249"/>
            <a:ext cx="17373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46E7A"/>
              </a:buClr>
              <a:buSzPts val="1100"/>
              <a:buFont typeface="Calibri"/>
              <a:buNone/>
            </a:pPr>
            <a:r>
              <a:rPr lang="en" sz="1400" b="0" i="0" u="none" strike="noStrike" cap="none">
                <a:solidFill>
                  <a:srgbClr val="000000"/>
                </a:solidFill>
                <a:latin typeface="Calibri"/>
                <a:ea typeface="Calibri"/>
                <a:cs typeface="Calibri"/>
                <a:sym typeface="Calibri"/>
              </a:rPr>
              <a:t>Output (ŷₜ)</a:t>
            </a: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9"/>
        <p:cNvGrpSpPr/>
        <p:nvPr/>
      </p:nvGrpSpPr>
      <p:grpSpPr>
        <a:xfrm>
          <a:off x="0" y="0"/>
          <a:ext cx="0" cy="0"/>
          <a:chOff x="0" y="0"/>
          <a:chExt cx="0" cy="0"/>
        </a:xfrm>
      </p:grpSpPr>
      <p:pic>
        <p:nvPicPr>
          <p:cNvPr id="600" name="Google Shape;600;p31"/>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601" name="Google Shape;601;p31"/>
          <p:cNvSpPr/>
          <p:nvPr/>
        </p:nvSpPr>
        <p:spPr>
          <a:xfrm>
            <a:off x="365760" y="164592"/>
            <a:ext cx="8412600" cy="5487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3000" b="1" i="0">
                <a:solidFill>
                  <a:srgbClr val="111827"/>
                </a:solidFill>
                <a:latin typeface="Calibri"/>
                <a:ea typeface="Calibri"/>
                <a:cs typeface="Calibri"/>
                <a:sym typeface="Calibri"/>
              </a:rPr>
              <a:t>Problem 1: The Information Bottleneck</a:t>
            </a:r>
            <a:endParaRPr sz="3000" b="1" i="0">
              <a:solidFill>
                <a:srgbClr val="111827"/>
              </a:solidFill>
              <a:latin typeface="Calibri"/>
              <a:ea typeface="Calibri"/>
              <a:cs typeface="Calibri"/>
              <a:sym typeface="Calibri"/>
            </a:endParaRPr>
          </a:p>
        </p:txBody>
      </p:sp>
      <p:sp>
        <p:nvSpPr>
          <p:cNvPr id="602" name="Google Shape;602;p31"/>
          <p:cNvSpPr/>
          <p:nvPr/>
        </p:nvSpPr>
        <p:spPr>
          <a:xfrm>
            <a:off x="365760" y="713232"/>
            <a:ext cx="8412600" cy="2559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1008" b="0" i="1">
                <a:solidFill>
                  <a:srgbClr val="0077B6"/>
                </a:solidFill>
                <a:latin typeface="Calibri"/>
                <a:ea typeface="Calibri"/>
                <a:cs typeface="Calibri"/>
                <a:sym typeface="Calibri"/>
              </a:rPr>
              <a:t>Everything must compress into one fixed-size vector</a:t>
            </a:r>
            <a:endParaRPr sz="1008" b="0" i="1">
              <a:solidFill>
                <a:srgbClr val="0077B6"/>
              </a:solidFill>
              <a:latin typeface="Calibri"/>
              <a:ea typeface="Calibri"/>
              <a:cs typeface="Calibri"/>
              <a:sym typeface="Calibri"/>
            </a:endParaRPr>
          </a:p>
        </p:txBody>
      </p:sp>
      <p:sp>
        <p:nvSpPr>
          <p:cNvPr id="603" name="Google Shape;603;p31"/>
          <p:cNvSpPr/>
          <p:nvPr/>
        </p:nvSpPr>
        <p:spPr>
          <a:xfrm>
            <a:off x="320040" y="1033272"/>
            <a:ext cx="3840600" cy="2286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 sz="853" b="0" i="0">
                <a:solidFill>
                  <a:srgbClr val="4B5563"/>
                </a:solidFill>
                <a:latin typeface="Calibri"/>
                <a:ea typeface="Calibri"/>
                <a:cs typeface="Calibri"/>
                <a:sym typeface="Calibri"/>
              </a:rPr>
              <a:t>100 input tokens</a:t>
            </a:r>
            <a:endParaRPr sz="853" b="0" i="0">
              <a:solidFill>
                <a:srgbClr val="4B5563"/>
              </a:solidFill>
              <a:latin typeface="Calibri"/>
              <a:ea typeface="Calibri"/>
              <a:cs typeface="Calibri"/>
              <a:sym typeface="Calibri"/>
            </a:endParaRPr>
          </a:p>
        </p:txBody>
      </p:sp>
      <p:sp>
        <p:nvSpPr>
          <p:cNvPr id="604" name="Google Shape;604;p31"/>
          <p:cNvSpPr/>
          <p:nvPr/>
        </p:nvSpPr>
        <p:spPr>
          <a:xfrm>
            <a:off x="320040" y="1280160"/>
            <a:ext cx="301800" cy="384000"/>
          </a:xfrm>
          <a:prstGeom prst="roundRect">
            <a:avLst>
              <a:gd name="adj" fmla="val 15151"/>
            </a:avLst>
          </a:prstGeom>
          <a:solidFill>
            <a:srgbClr val="E0F2FE"/>
          </a:solidFill>
          <a:ln w="9525" cap="flat" cmpd="sng">
            <a:solidFill>
              <a:srgbClr val="0284C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5" name="Google Shape;605;p31"/>
          <p:cNvSpPr/>
          <p:nvPr/>
        </p:nvSpPr>
        <p:spPr>
          <a:xfrm>
            <a:off x="320040" y="1280160"/>
            <a:ext cx="301800" cy="384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0" i="0">
                <a:solidFill>
                  <a:srgbClr val="0369A1"/>
                </a:solidFill>
                <a:latin typeface="Calibri"/>
                <a:ea typeface="Calibri"/>
                <a:cs typeface="Calibri"/>
                <a:sym typeface="Calibri"/>
              </a:rPr>
              <a:t>w1</a:t>
            </a:r>
            <a:endParaRPr sz="900" b="0" i="0">
              <a:solidFill>
                <a:srgbClr val="0369A1"/>
              </a:solidFill>
              <a:latin typeface="Calibri"/>
              <a:ea typeface="Calibri"/>
              <a:cs typeface="Calibri"/>
              <a:sym typeface="Calibri"/>
            </a:endParaRPr>
          </a:p>
        </p:txBody>
      </p:sp>
      <p:sp>
        <p:nvSpPr>
          <p:cNvPr id="606" name="Google Shape;606;p31"/>
          <p:cNvSpPr/>
          <p:nvPr/>
        </p:nvSpPr>
        <p:spPr>
          <a:xfrm>
            <a:off x="672084" y="1280160"/>
            <a:ext cx="301800" cy="384000"/>
          </a:xfrm>
          <a:prstGeom prst="roundRect">
            <a:avLst>
              <a:gd name="adj" fmla="val 15151"/>
            </a:avLst>
          </a:prstGeom>
          <a:solidFill>
            <a:srgbClr val="E0F2FE"/>
          </a:solidFill>
          <a:ln w="9525" cap="flat" cmpd="sng">
            <a:solidFill>
              <a:srgbClr val="0284C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7" name="Google Shape;607;p31"/>
          <p:cNvSpPr/>
          <p:nvPr/>
        </p:nvSpPr>
        <p:spPr>
          <a:xfrm>
            <a:off x="672084" y="1280160"/>
            <a:ext cx="301800" cy="384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0" i="0">
                <a:solidFill>
                  <a:srgbClr val="0369A1"/>
                </a:solidFill>
                <a:latin typeface="Calibri"/>
                <a:ea typeface="Calibri"/>
                <a:cs typeface="Calibri"/>
                <a:sym typeface="Calibri"/>
              </a:rPr>
              <a:t>w2</a:t>
            </a:r>
            <a:endParaRPr sz="900" b="0" i="0">
              <a:solidFill>
                <a:srgbClr val="0369A1"/>
              </a:solidFill>
              <a:latin typeface="Calibri"/>
              <a:ea typeface="Calibri"/>
              <a:cs typeface="Calibri"/>
              <a:sym typeface="Calibri"/>
            </a:endParaRPr>
          </a:p>
        </p:txBody>
      </p:sp>
      <p:sp>
        <p:nvSpPr>
          <p:cNvPr id="608" name="Google Shape;608;p31"/>
          <p:cNvSpPr/>
          <p:nvPr/>
        </p:nvSpPr>
        <p:spPr>
          <a:xfrm>
            <a:off x="1024128" y="1280160"/>
            <a:ext cx="301800" cy="384000"/>
          </a:xfrm>
          <a:prstGeom prst="roundRect">
            <a:avLst>
              <a:gd name="adj" fmla="val 15151"/>
            </a:avLst>
          </a:prstGeom>
          <a:solidFill>
            <a:srgbClr val="E0F2FE"/>
          </a:solidFill>
          <a:ln w="9525" cap="flat" cmpd="sng">
            <a:solidFill>
              <a:srgbClr val="0284C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9" name="Google Shape;609;p31"/>
          <p:cNvSpPr/>
          <p:nvPr/>
        </p:nvSpPr>
        <p:spPr>
          <a:xfrm>
            <a:off x="1024128" y="1280160"/>
            <a:ext cx="301800" cy="384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0" i="0">
                <a:solidFill>
                  <a:srgbClr val="0369A1"/>
                </a:solidFill>
                <a:latin typeface="Calibri"/>
                <a:ea typeface="Calibri"/>
                <a:cs typeface="Calibri"/>
                <a:sym typeface="Calibri"/>
              </a:rPr>
              <a:t>w3</a:t>
            </a:r>
            <a:endParaRPr sz="900" b="0" i="0">
              <a:solidFill>
                <a:srgbClr val="0369A1"/>
              </a:solidFill>
              <a:latin typeface="Calibri"/>
              <a:ea typeface="Calibri"/>
              <a:cs typeface="Calibri"/>
              <a:sym typeface="Calibri"/>
            </a:endParaRPr>
          </a:p>
        </p:txBody>
      </p:sp>
      <p:sp>
        <p:nvSpPr>
          <p:cNvPr id="610" name="Google Shape;610;p31"/>
          <p:cNvSpPr/>
          <p:nvPr/>
        </p:nvSpPr>
        <p:spPr>
          <a:xfrm>
            <a:off x="1376172" y="1280160"/>
            <a:ext cx="301800" cy="384000"/>
          </a:xfrm>
          <a:prstGeom prst="roundRect">
            <a:avLst>
              <a:gd name="adj" fmla="val 15151"/>
            </a:avLst>
          </a:prstGeom>
          <a:solidFill>
            <a:srgbClr val="E0F2FE"/>
          </a:solidFill>
          <a:ln w="9525" cap="flat" cmpd="sng">
            <a:solidFill>
              <a:srgbClr val="0284C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1" name="Google Shape;611;p31"/>
          <p:cNvSpPr/>
          <p:nvPr/>
        </p:nvSpPr>
        <p:spPr>
          <a:xfrm>
            <a:off x="1376172" y="1280160"/>
            <a:ext cx="301800" cy="384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0" i="0">
                <a:solidFill>
                  <a:srgbClr val="0369A1"/>
                </a:solidFill>
                <a:latin typeface="Calibri"/>
                <a:ea typeface="Calibri"/>
                <a:cs typeface="Calibri"/>
                <a:sym typeface="Calibri"/>
              </a:rPr>
              <a:t>w4</a:t>
            </a:r>
            <a:endParaRPr sz="900" b="0" i="0">
              <a:solidFill>
                <a:srgbClr val="0369A1"/>
              </a:solidFill>
              <a:latin typeface="Calibri"/>
              <a:ea typeface="Calibri"/>
              <a:cs typeface="Calibri"/>
              <a:sym typeface="Calibri"/>
            </a:endParaRPr>
          </a:p>
        </p:txBody>
      </p:sp>
      <p:sp>
        <p:nvSpPr>
          <p:cNvPr id="612" name="Google Shape;612;p31"/>
          <p:cNvSpPr/>
          <p:nvPr/>
        </p:nvSpPr>
        <p:spPr>
          <a:xfrm>
            <a:off x="1728216" y="1280160"/>
            <a:ext cx="301800" cy="384000"/>
          </a:xfrm>
          <a:prstGeom prst="roundRect">
            <a:avLst>
              <a:gd name="adj" fmla="val 15151"/>
            </a:avLst>
          </a:prstGeom>
          <a:solidFill>
            <a:srgbClr val="E0F2FE"/>
          </a:solidFill>
          <a:ln w="9525" cap="flat" cmpd="sng">
            <a:solidFill>
              <a:srgbClr val="0284C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3" name="Google Shape;613;p31"/>
          <p:cNvSpPr/>
          <p:nvPr/>
        </p:nvSpPr>
        <p:spPr>
          <a:xfrm>
            <a:off x="1728216" y="1280160"/>
            <a:ext cx="301800" cy="384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0" i="0">
                <a:solidFill>
                  <a:srgbClr val="0369A1"/>
                </a:solidFill>
                <a:latin typeface="Calibri"/>
                <a:ea typeface="Calibri"/>
                <a:cs typeface="Calibri"/>
                <a:sym typeface="Calibri"/>
              </a:rPr>
              <a:t>w5</a:t>
            </a:r>
            <a:endParaRPr sz="900" b="0" i="0">
              <a:solidFill>
                <a:srgbClr val="0369A1"/>
              </a:solidFill>
              <a:latin typeface="Calibri"/>
              <a:ea typeface="Calibri"/>
              <a:cs typeface="Calibri"/>
              <a:sym typeface="Calibri"/>
            </a:endParaRPr>
          </a:p>
        </p:txBody>
      </p:sp>
      <p:sp>
        <p:nvSpPr>
          <p:cNvPr id="614" name="Google Shape;614;p31"/>
          <p:cNvSpPr/>
          <p:nvPr/>
        </p:nvSpPr>
        <p:spPr>
          <a:xfrm>
            <a:off x="2080260" y="1280160"/>
            <a:ext cx="301800" cy="384000"/>
          </a:xfrm>
          <a:prstGeom prst="roundRect">
            <a:avLst>
              <a:gd name="adj" fmla="val 15151"/>
            </a:avLst>
          </a:prstGeom>
          <a:solidFill>
            <a:srgbClr val="E0F2FE"/>
          </a:solidFill>
          <a:ln w="9525" cap="flat" cmpd="sng">
            <a:solidFill>
              <a:srgbClr val="0284C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5" name="Google Shape;615;p31"/>
          <p:cNvSpPr/>
          <p:nvPr/>
        </p:nvSpPr>
        <p:spPr>
          <a:xfrm>
            <a:off x="2080260" y="1280160"/>
            <a:ext cx="301800" cy="384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0" i="0">
                <a:solidFill>
                  <a:srgbClr val="0369A1"/>
                </a:solidFill>
                <a:latin typeface="Calibri"/>
                <a:ea typeface="Calibri"/>
                <a:cs typeface="Calibri"/>
                <a:sym typeface="Calibri"/>
              </a:rPr>
              <a:t>w6</a:t>
            </a:r>
            <a:endParaRPr sz="900" b="0" i="0">
              <a:solidFill>
                <a:srgbClr val="0369A1"/>
              </a:solidFill>
              <a:latin typeface="Calibri"/>
              <a:ea typeface="Calibri"/>
              <a:cs typeface="Calibri"/>
              <a:sym typeface="Calibri"/>
            </a:endParaRPr>
          </a:p>
        </p:txBody>
      </p:sp>
      <p:sp>
        <p:nvSpPr>
          <p:cNvPr id="616" name="Google Shape;616;p31"/>
          <p:cNvSpPr/>
          <p:nvPr/>
        </p:nvSpPr>
        <p:spPr>
          <a:xfrm>
            <a:off x="2432304" y="1280160"/>
            <a:ext cx="301800" cy="384000"/>
          </a:xfrm>
          <a:prstGeom prst="roundRect">
            <a:avLst>
              <a:gd name="adj" fmla="val 15151"/>
            </a:avLst>
          </a:prstGeom>
          <a:solidFill>
            <a:srgbClr val="E0F2FE"/>
          </a:solidFill>
          <a:ln w="9525" cap="flat" cmpd="sng">
            <a:solidFill>
              <a:srgbClr val="0284C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7" name="Google Shape;617;p31"/>
          <p:cNvSpPr/>
          <p:nvPr/>
        </p:nvSpPr>
        <p:spPr>
          <a:xfrm>
            <a:off x="2432304" y="1280160"/>
            <a:ext cx="301800" cy="384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0" i="0">
                <a:solidFill>
                  <a:srgbClr val="0369A1"/>
                </a:solidFill>
                <a:latin typeface="Calibri"/>
                <a:ea typeface="Calibri"/>
                <a:cs typeface="Calibri"/>
                <a:sym typeface="Calibri"/>
              </a:rPr>
              <a:t>w7</a:t>
            </a:r>
            <a:endParaRPr sz="900" b="0" i="0">
              <a:solidFill>
                <a:srgbClr val="0369A1"/>
              </a:solidFill>
              <a:latin typeface="Calibri"/>
              <a:ea typeface="Calibri"/>
              <a:cs typeface="Calibri"/>
              <a:sym typeface="Calibri"/>
            </a:endParaRPr>
          </a:p>
        </p:txBody>
      </p:sp>
      <p:sp>
        <p:nvSpPr>
          <p:cNvPr id="618" name="Google Shape;618;p31"/>
          <p:cNvSpPr/>
          <p:nvPr/>
        </p:nvSpPr>
        <p:spPr>
          <a:xfrm>
            <a:off x="2784348" y="1280160"/>
            <a:ext cx="301800" cy="384000"/>
          </a:xfrm>
          <a:prstGeom prst="roundRect">
            <a:avLst>
              <a:gd name="adj" fmla="val 15151"/>
            </a:avLst>
          </a:prstGeom>
          <a:solidFill>
            <a:srgbClr val="E0F2FE"/>
          </a:solidFill>
          <a:ln w="9525" cap="flat" cmpd="sng">
            <a:solidFill>
              <a:srgbClr val="0284C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9" name="Google Shape;619;p31"/>
          <p:cNvSpPr/>
          <p:nvPr/>
        </p:nvSpPr>
        <p:spPr>
          <a:xfrm>
            <a:off x="2784348" y="1280160"/>
            <a:ext cx="301800" cy="384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0" i="0">
                <a:solidFill>
                  <a:srgbClr val="0369A1"/>
                </a:solidFill>
                <a:latin typeface="Calibri"/>
                <a:ea typeface="Calibri"/>
                <a:cs typeface="Calibri"/>
                <a:sym typeface="Calibri"/>
              </a:rPr>
              <a:t>w8</a:t>
            </a:r>
            <a:endParaRPr sz="900" b="0" i="0">
              <a:solidFill>
                <a:srgbClr val="0369A1"/>
              </a:solidFill>
              <a:latin typeface="Calibri"/>
              <a:ea typeface="Calibri"/>
              <a:cs typeface="Calibri"/>
              <a:sym typeface="Calibri"/>
            </a:endParaRPr>
          </a:p>
        </p:txBody>
      </p:sp>
      <p:sp>
        <p:nvSpPr>
          <p:cNvPr id="620" name="Google Shape;620;p31"/>
          <p:cNvSpPr/>
          <p:nvPr/>
        </p:nvSpPr>
        <p:spPr>
          <a:xfrm>
            <a:off x="3136392" y="1280160"/>
            <a:ext cx="301800" cy="384000"/>
          </a:xfrm>
          <a:prstGeom prst="roundRect">
            <a:avLst>
              <a:gd name="adj" fmla="val 15151"/>
            </a:avLst>
          </a:prstGeom>
          <a:solidFill>
            <a:srgbClr val="E0F2FE"/>
          </a:solidFill>
          <a:ln w="9525" cap="flat" cmpd="sng">
            <a:solidFill>
              <a:srgbClr val="0284C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1" name="Google Shape;621;p31"/>
          <p:cNvSpPr/>
          <p:nvPr/>
        </p:nvSpPr>
        <p:spPr>
          <a:xfrm>
            <a:off x="3136392" y="1280160"/>
            <a:ext cx="301800" cy="384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0" i="0">
                <a:solidFill>
                  <a:srgbClr val="0369A1"/>
                </a:solidFill>
                <a:latin typeface="Calibri"/>
                <a:ea typeface="Calibri"/>
                <a:cs typeface="Calibri"/>
                <a:sym typeface="Calibri"/>
              </a:rPr>
              <a:t>w9</a:t>
            </a:r>
            <a:endParaRPr sz="900" b="0" i="0">
              <a:solidFill>
                <a:srgbClr val="0369A1"/>
              </a:solidFill>
              <a:latin typeface="Calibri"/>
              <a:ea typeface="Calibri"/>
              <a:cs typeface="Calibri"/>
              <a:sym typeface="Calibri"/>
            </a:endParaRPr>
          </a:p>
        </p:txBody>
      </p:sp>
      <p:sp>
        <p:nvSpPr>
          <p:cNvPr id="622" name="Google Shape;622;p31"/>
          <p:cNvSpPr/>
          <p:nvPr/>
        </p:nvSpPr>
        <p:spPr>
          <a:xfrm>
            <a:off x="3488436" y="1280160"/>
            <a:ext cx="301800" cy="384000"/>
          </a:xfrm>
          <a:prstGeom prst="roundRect">
            <a:avLst>
              <a:gd name="adj" fmla="val 15151"/>
            </a:avLst>
          </a:prstGeom>
          <a:solidFill>
            <a:srgbClr val="E0F2FE"/>
          </a:solidFill>
          <a:ln w="9525" cap="flat" cmpd="sng">
            <a:solidFill>
              <a:srgbClr val="0284C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3" name="Google Shape;623;p31"/>
          <p:cNvSpPr/>
          <p:nvPr/>
        </p:nvSpPr>
        <p:spPr>
          <a:xfrm>
            <a:off x="3488436" y="1280160"/>
            <a:ext cx="301800" cy="384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0" i="0">
                <a:solidFill>
                  <a:srgbClr val="0369A1"/>
                </a:solidFill>
                <a:latin typeface="Calibri"/>
                <a:ea typeface="Calibri"/>
                <a:cs typeface="Calibri"/>
                <a:sym typeface="Calibri"/>
              </a:rPr>
              <a:t>…</a:t>
            </a:r>
            <a:endParaRPr sz="900" b="0" i="0">
              <a:solidFill>
                <a:srgbClr val="0369A1"/>
              </a:solidFill>
              <a:latin typeface="Calibri"/>
              <a:ea typeface="Calibri"/>
              <a:cs typeface="Calibri"/>
              <a:sym typeface="Calibri"/>
            </a:endParaRPr>
          </a:p>
        </p:txBody>
      </p:sp>
      <p:sp>
        <p:nvSpPr>
          <p:cNvPr id="624" name="Google Shape;624;p31"/>
          <p:cNvSpPr/>
          <p:nvPr/>
        </p:nvSpPr>
        <p:spPr>
          <a:xfrm>
            <a:off x="320040" y="1709928"/>
            <a:ext cx="3749100" cy="2013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698" b="0" i="1">
                <a:solidFill>
                  <a:srgbClr val="6B7280"/>
                </a:solidFill>
                <a:latin typeface="Calibri"/>
                <a:ea typeface="Calibri"/>
                <a:cs typeface="Calibri"/>
                <a:sym typeface="Calibri"/>
              </a:rPr>
              <a:t>(100 tokens total, only first 9 shown)</a:t>
            </a:r>
            <a:endParaRPr sz="698" b="0" i="1">
              <a:solidFill>
                <a:srgbClr val="6B7280"/>
              </a:solidFill>
              <a:latin typeface="Calibri"/>
              <a:ea typeface="Calibri"/>
              <a:cs typeface="Calibri"/>
              <a:sym typeface="Calibri"/>
            </a:endParaRPr>
          </a:p>
        </p:txBody>
      </p:sp>
      <p:sp>
        <p:nvSpPr>
          <p:cNvPr id="625" name="Google Shape;625;p31"/>
          <p:cNvSpPr/>
          <p:nvPr/>
        </p:nvSpPr>
        <p:spPr>
          <a:xfrm>
            <a:off x="457200" y="1965960"/>
            <a:ext cx="3566100" cy="2925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 sz="1100" b="1" i="0">
                <a:solidFill>
                  <a:srgbClr val="D97706"/>
                </a:solidFill>
                <a:latin typeface="Calibri"/>
                <a:ea typeface="Calibri"/>
                <a:cs typeface="Calibri"/>
                <a:sym typeface="Calibri"/>
              </a:rPr>
              <a:t>▼ compress all into one vector ▼</a:t>
            </a:r>
            <a:endParaRPr sz="1100" b="1" i="0">
              <a:solidFill>
                <a:srgbClr val="D97706"/>
              </a:solidFill>
              <a:latin typeface="Calibri"/>
              <a:ea typeface="Calibri"/>
              <a:cs typeface="Calibri"/>
              <a:sym typeface="Calibri"/>
            </a:endParaRPr>
          </a:p>
        </p:txBody>
      </p:sp>
      <p:sp>
        <p:nvSpPr>
          <p:cNvPr id="626" name="Google Shape;626;p31"/>
          <p:cNvSpPr/>
          <p:nvPr/>
        </p:nvSpPr>
        <p:spPr>
          <a:xfrm>
            <a:off x="1371600" y="2331720"/>
            <a:ext cx="1280100" cy="548700"/>
          </a:xfrm>
          <a:prstGeom prst="roundRect">
            <a:avLst>
              <a:gd name="adj" fmla="val 16666"/>
            </a:avLst>
          </a:prstGeom>
          <a:solidFill>
            <a:srgbClr val="FEE2E2"/>
          </a:solidFill>
          <a:ln w="12700" cap="flat" cmpd="sng">
            <a:solidFill>
              <a:srgbClr val="EF4444"/>
            </a:solidFill>
            <a:prstDash val="solid"/>
            <a:round/>
            <a:headEnd type="none" w="sm" len="sm"/>
            <a:tailEnd type="none" w="sm" len="sm"/>
          </a:ln>
          <a:effectLst>
            <a:outerShdw blurRad="127000" dist="38100" dir="2700000" algn="bl" rotWithShape="0">
              <a:srgbClr val="000000">
                <a:alpha val="34900"/>
              </a:srgbClr>
            </a:outerShdw>
          </a:effectLst>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7" name="Google Shape;627;p31"/>
          <p:cNvSpPr/>
          <p:nvPr/>
        </p:nvSpPr>
        <p:spPr>
          <a:xfrm>
            <a:off x="1371600" y="2331720"/>
            <a:ext cx="1280100" cy="548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200" b="1" i="0">
                <a:solidFill>
                  <a:srgbClr val="991B1B"/>
                </a:solidFill>
                <a:latin typeface="Calibri"/>
                <a:ea typeface="Calibri"/>
                <a:cs typeface="Calibri"/>
                <a:sym typeface="Calibri"/>
              </a:rPr>
              <a:t>c₁₀₀</a:t>
            </a:r>
            <a:endParaRPr sz="2200" b="1" i="0">
              <a:solidFill>
                <a:srgbClr val="991B1B"/>
              </a:solidFill>
              <a:latin typeface="Calibri"/>
              <a:ea typeface="Calibri"/>
              <a:cs typeface="Calibri"/>
              <a:sym typeface="Calibri"/>
            </a:endParaRPr>
          </a:p>
        </p:txBody>
      </p:sp>
      <p:sp>
        <p:nvSpPr>
          <p:cNvPr id="628" name="Google Shape;628;p31"/>
          <p:cNvSpPr/>
          <p:nvPr/>
        </p:nvSpPr>
        <p:spPr>
          <a:xfrm>
            <a:off x="1097280" y="2926080"/>
            <a:ext cx="1828800" cy="2286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 sz="850" b="1" i="0">
                <a:solidFill>
                  <a:srgbClr val="EF4444"/>
                </a:solidFill>
                <a:latin typeface="Calibri"/>
                <a:ea typeface="Calibri"/>
                <a:cs typeface="Calibri"/>
                <a:sym typeface="Calibri"/>
              </a:rPr>
              <a:t>ONE fixed vector</a:t>
            </a:r>
            <a:endParaRPr sz="850" b="1" i="0">
              <a:solidFill>
                <a:srgbClr val="EF4444"/>
              </a:solidFill>
              <a:latin typeface="Calibri"/>
              <a:ea typeface="Calibri"/>
              <a:cs typeface="Calibri"/>
              <a:sym typeface="Calibri"/>
            </a:endParaRPr>
          </a:p>
        </p:txBody>
      </p:sp>
      <p:sp>
        <p:nvSpPr>
          <p:cNvPr id="629" name="Google Shape;629;p31"/>
          <p:cNvSpPr/>
          <p:nvPr/>
        </p:nvSpPr>
        <p:spPr>
          <a:xfrm>
            <a:off x="4434840" y="1051560"/>
            <a:ext cx="4389000" cy="914400"/>
          </a:xfrm>
          <a:prstGeom prst="roundRect">
            <a:avLst>
              <a:gd name="adj" fmla="val 10000"/>
            </a:avLst>
          </a:prstGeom>
          <a:solidFill>
            <a:srgbClr val="FFFFFF"/>
          </a:solidFill>
          <a:ln w="12700" cap="flat" cmpd="sng">
            <a:solidFill>
              <a:srgbClr val="E2E8F0"/>
            </a:solidFill>
            <a:prstDash val="solid"/>
            <a:round/>
            <a:headEnd type="none" w="sm" len="sm"/>
            <a:tailEnd type="none" w="sm" len="sm"/>
          </a:ln>
          <a:effectLst>
            <a:outerShdw blurRad="76200" dist="25400" dir="2700000" algn="bl" rotWithShape="0">
              <a:srgbClr val="000000">
                <a:alpha val="20000"/>
              </a:srgbClr>
            </a:outerShdw>
          </a:effectLst>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0" name="Google Shape;630;p31"/>
          <p:cNvSpPr/>
          <p:nvPr/>
        </p:nvSpPr>
        <p:spPr>
          <a:xfrm>
            <a:off x="4599432" y="1115568"/>
            <a:ext cx="4023300" cy="2559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1008" b="1" i="0">
                <a:solidFill>
                  <a:srgbClr val="0284C7"/>
                </a:solidFill>
                <a:latin typeface="Calibri"/>
                <a:ea typeface="Calibri"/>
                <a:cs typeface="Calibri"/>
                <a:sym typeface="Calibri"/>
              </a:rPr>
              <a:t>Fixed cell state dimension</a:t>
            </a:r>
            <a:endParaRPr sz="1008" b="1" i="0">
              <a:solidFill>
                <a:srgbClr val="0284C7"/>
              </a:solidFill>
              <a:latin typeface="Calibri"/>
              <a:ea typeface="Calibri"/>
              <a:cs typeface="Calibri"/>
              <a:sym typeface="Calibri"/>
            </a:endParaRPr>
          </a:p>
        </p:txBody>
      </p:sp>
      <p:sp>
        <p:nvSpPr>
          <p:cNvPr id="631" name="Google Shape;631;p31"/>
          <p:cNvSpPr/>
          <p:nvPr/>
        </p:nvSpPr>
        <p:spPr>
          <a:xfrm>
            <a:off x="4599432" y="1353312"/>
            <a:ext cx="4023300" cy="5304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935" b="0" i="0">
                <a:solidFill>
                  <a:srgbClr val="334155"/>
                </a:solidFill>
                <a:latin typeface="Calibri"/>
                <a:ea typeface="Calibri"/>
                <a:cs typeface="Calibri"/>
                <a:sym typeface="Calibri"/>
              </a:rPr>
              <a:t>c₁₀₀ is exactly the same size as c₁. A sequence of 1000 tokens gets no more space than a sequence of 10. The longer the input, the greater the compression.</a:t>
            </a:r>
            <a:endParaRPr sz="935" b="0" i="0">
              <a:solidFill>
                <a:srgbClr val="334155"/>
              </a:solidFill>
              <a:latin typeface="Calibri"/>
              <a:ea typeface="Calibri"/>
              <a:cs typeface="Calibri"/>
              <a:sym typeface="Calibri"/>
            </a:endParaRPr>
          </a:p>
        </p:txBody>
      </p:sp>
      <p:sp>
        <p:nvSpPr>
          <p:cNvPr id="632" name="Google Shape;632;p31"/>
          <p:cNvSpPr/>
          <p:nvPr/>
        </p:nvSpPr>
        <p:spPr>
          <a:xfrm>
            <a:off x="4434840" y="2057400"/>
            <a:ext cx="4389000" cy="914400"/>
          </a:xfrm>
          <a:prstGeom prst="roundRect">
            <a:avLst>
              <a:gd name="adj" fmla="val 10000"/>
            </a:avLst>
          </a:prstGeom>
          <a:solidFill>
            <a:srgbClr val="FFFFFF"/>
          </a:solidFill>
          <a:ln w="12700" cap="flat" cmpd="sng">
            <a:solidFill>
              <a:srgbClr val="E2E8F0"/>
            </a:solidFill>
            <a:prstDash val="solid"/>
            <a:round/>
            <a:headEnd type="none" w="sm" len="sm"/>
            <a:tailEnd type="none" w="sm" len="sm"/>
          </a:ln>
          <a:effectLst>
            <a:outerShdw blurRad="76200" dist="25400" dir="2700000" algn="bl" rotWithShape="0">
              <a:srgbClr val="000000">
                <a:alpha val="20000"/>
              </a:srgbClr>
            </a:outerShdw>
          </a:effectLst>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3" name="Google Shape;633;p31"/>
          <p:cNvSpPr/>
          <p:nvPr/>
        </p:nvSpPr>
        <p:spPr>
          <a:xfrm>
            <a:off x="4599432" y="2121408"/>
            <a:ext cx="4023300" cy="2559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1008" b="1" i="0">
                <a:solidFill>
                  <a:srgbClr val="D97706"/>
                </a:solidFill>
                <a:latin typeface="Calibri"/>
                <a:ea typeface="Calibri"/>
                <a:cs typeface="Calibri"/>
                <a:sym typeface="Calibri"/>
              </a:rPr>
              <a:t>Early tokens get overwritten</a:t>
            </a:r>
            <a:endParaRPr sz="1008" b="1" i="0">
              <a:solidFill>
                <a:srgbClr val="D97706"/>
              </a:solidFill>
              <a:latin typeface="Calibri"/>
              <a:ea typeface="Calibri"/>
              <a:cs typeface="Calibri"/>
              <a:sym typeface="Calibri"/>
            </a:endParaRPr>
          </a:p>
        </p:txBody>
      </p:sp>
      <p:sp>
        <p:nvSpPr>
          <p:cNvPr id="634" name="Google Shape;634;p31"/>
          <p:cNvSpPr/>
          <p:nvPr/>
        </p:nvSpPr>
        <p:spPr>
          <a:xfrm>
            <a:off x="4599432" y="2359152"/>
            <a:ext cx="4023300" cy="5304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1018" b="0" i="0">
                <a:solidFill>
                  <a:srgbClr val="334155"/>
                </a:solidFill>
                <a:latin typeface="Calibri"/>
                <a:ea typeface="Calibri"/>
                <a:cs typeface="Calibri"/>
                <a:sym typeface="Calibri"/>
              </a:rPr>
              <a:t>Each new token competes for the same fixed vector space. Even if f_t ≈ 1 (forget gate open), new writes via i_t ⊙ C̃_t still push out older content.</a:t>
            </a:r>
            <a:endParaRPr sz="1018" b="0" i="0">
              <a:solidFill>
                <a:srgbClr val="334155"/>
              </a:solidFill>
              <a:latin typeface="Calibri"/>
              <a:ea typeface="Calibri"/>
              <a:cs typeface="Calibri"/>
              <a:sym typeface="Calibri"/>
            </a:endParaRPr>
          </a:p>
        </p:txBody>
      </p:sp>
      <p:sp>
        <p:nvSpPr>
          <p:cNvPr id="635" name="Google Shape;635;p31"/>
          <p:cNvSpPr/>
          <p:nvPr/>
        </p:nvSpPr>
        <p:spPr>
          <a:xfrm>
            <a:off x="4434840" y="3063240"/>
            <a:ext cx="4389000" cy="914400"/>
          </a:xfrm>
          <a:prstGeom prst="roundRect">
            <a:avLst>
              <a:gd name="adj" fmla="val 10000"/>
            </a:avLst>
          </a:prstGeom>
          <a:solidFill>
            <a:srgbClr val="FFFFFF"/>
          </a:solidFill>
          <a:ln w="12700" cap="flat" cmpd="sng">
            <a:solidFill>
              <a:srgbClr val="E2E8F0"/>
            </a:solidFill>
            <a:prstDash val="solid"/>
            <a:round/>
            <a:headEnd type="none" w="sm" len="sm"/>
            <a:tailEnd type="none" w="sm" len="sm"/>
          </a:ln>
          <a:effectLst>
            <a:outerShdw blurRad="76200" dist="25400" dir="2700000" algn="bl" rotWithShape="0">
              <a:srgbClr val="000000">
                <a:alpha val="20000"/>
              </a:srgbClr>
            </a:outerShdw>
          </a:effectLst>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6" name="Google Shape;636;p31"/>
          <p:cNvSpPr/>
          <p:nvPr/>
        </p:nvSpPr>
        <p:spPr>
          <a:xfrm>
            <a:off x="4599432" y="3127248"/>
            <a:ext cx="4023300" cy="2559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1008" b="1" i="0">
                <a:solidFill>
                  <a:srgbClr val="059669"/>
                </a:solidFill>
                <a:latin typeface="Calibri"/>
                <a:ea typeface="Calibri"/>
                <a:cs typeface="Calibri"/>
                <a:sym typeface="Calibri"/>
              </a:rPr>
              <a:t>Transformer solution: don't compress</a:t>
            </a:r>
            <a:endParaRPr sz="1008" b="1" i="0">
              <a:solidFill>
                <a:srgbClr val="059669"/>
              </a:solidFill>
              <a:latin typeface="Calibri"/>
              <a:ea typeface="Calibri"/>
              <a:cs typeface="Calibri"/>
              <a:sym typeface="Calibri"/>
            </a:endParaRPr>
          </a:p>
        </p:txBody>
      </p:sp>
      <p:sp>
        <p:nvSpPr>
          <p:cNvPr id="637" name="Google Shape;637;p31"/>
          <p:cNvSpPr/>
          <p:nvPr/>
        </p:nvSpPr>
        <p:spPr>
          <a:xfrm>
            <a:off x="4599432" y="3364992"/>
            <a:ext cx="4023300" cy="5304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1018" b="0" i="0">
                <a:solidFill>
                  <a:srgbClr val="334155"/>
                </a:solidFill>
                <a:latin typeface="Calibri"/>
                <a:ea typeface="Calibri"/>
                <a:cs typeface="Calibri"/>
                <a:sym typeface="Calibri"/>
              </a:rPr>
              <a:t>Transformers keep all token representations in memory. At each step, attention directly retrieves whichever tokens are needed. No bottleneck.</a:t>
            </a:r>
            <a:endParaRPr sz="1018" b="0" i="0">
              <a:solidFill>
                <a:srgbClr val="334155"/>
              </a:solidFill>
              <a:latin typeface="Calibri"/>
              <a:ea typeface="Calibri"/>
              <a:cs typeface="Calibri"/>
              <a:sym typeface="Calibri"/>
            </a:endParaRPr>
          </a:p>
        </p:txBody>
      </p:sp>
      <p:sp>
        <p:nvSpPr>
          <p:cNvPr id="638" name="Google Shape;638;p31"/>
          <p:cNvSpPr/>
          <p:nvPr/>
        </p:nvSpPr>
        <p:spPr>
          <a:xfrm>
            <a:off x="320040" y="4343400"/>
            <a:ext cx="8503800" cy="548700"/>
          </a:xfrm>
          <a:prstGeom prst="roundRect">
            <a:avLst>
              <a:gd name="adj" fmla="val 16667"/>
            </a:avLst>
          </a:prstGeom>
          <a:solidFill>
            <a:srgbClr val="F1F5F9"/>
          </a:solidFill>
          <a:ln w="15225" cap="flat" cmpd="sng">
            <a:solidFill>
              <a:srgbClr val="EF4444"/>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9" name="Google Shape;639;p31"/>
          <p:cNvSpPr/>
          <p:nvPr/>
        </p:nvSpPr>
        <p:spPr>
          <a:xfrm>
            <a:off x="320040" y="4343400"/>
            <a:ext cx="8503800" cy="5487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 sz="1200" b="0" i="0">
                <a:solidFill>
                  <a:srgbClr val="1E293B"/>
                </a:solidFill>
                <a:latin typeface="Calibri"/>
                <a:ea typeface="Calibri"/>
                <a:cs typeface="Calibri"/>
                <a:sym typeface="Calibri"/>
              </a:rPr>
              <a:t>(w₁, …, w₁₀₀) → c₁₀₀ </a:t>
            </a:r>
            <a:r>
              <a:rPr lang="en" sz="1200" b="1" i="0">
                <a:solidFill>
                  <a:srgbClr val="DC2626"/>
                </a:solidFill>
                <a:latin typeface="Calibri"/>
                <a:ea typeface="Calibri"/>
                <a:cs typeface="Calibri"/>
                <a:sym typeface="Calibri"/>
              </a:rPr>
              <a:t>Even perfect gradient flow cannot recover lost information</a:t>
            </a:r>
            <a:endParaRPr sz="1200" b="0" i="0">
              <a:solidFill>
                <a:srgbClr val="1E293B"/>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43"/>
        <p:cNvGrpSpPr/>
        <p:nvPr/>
      </p:nvGrpSpPr>
      <p:grpSpPr>
        <a:xfrm>
          <a:off x="0" y="0"/>
          <a:ext cx="0" cy="0"/>
          <a:chOff x="0" y="0"/>
          <a:chExt cx="0" cy="0"/>
        </a:xfrm>
      </p:grpSpPr>
      <p:pic>
        <p:nvPicPr>
          <p:cNvPr id="644" name="Google Shape;644;p32"/>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645" name="Google Shape;645;p32"/>
          <p:cNvSpPr/>
          <p:nvPr/>
        </p:nvSpPr>
        <p:spPr>
          <a:xfrm>
            <a:off x="365760" y="164592"/>
            <a:ext cx="8412600" cy="5487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2800" b="1" i="0">
                <a:solidFill>
                  <a:srgbClr val="0F172A"/>
                </a:solidFill>
                <a:latin typeface="Calibri"/>
                <a:ea typeface="Calibri"/>
                <a:cs typeface="Calibri"/>
                <a:sym typeface="Calibri"/>
              </a:rPr>
              <a:t>Problem 2: No Direct Access — The Jump Problem</a:t>
            </a:r>
            <a:endParaRPr sz="2800" b="1" i="0">
              <a:solidFill>
                <a:srgbClr val="0F172A"/>
              </a:solidFill>
              <a:latin typeface="Calibri"/>
              <a:ea typeface="Calibri"/>
              <a:cs typeface="Calibri"/>
              <a:sym typeface="Calibri"/>
            </a:endParaRPr>
          </a:p>
        </p:txBody>
      </p:sp>
      <p:sp>
        <p:nvSpPr>
          <p:cNvPr id="646" name="Google Shape;646;p32"/>
          <p:cNvSpPr/>
          <p:nvPr/>
        </p:nvSpPr>
        <p:spPr>
          <a:xfrm>
            <a:off x="365760" y="713232"/>
            <a:ext cx="8412600" cy="2559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1008" b="0" i="1">
                <a:solidFill>
                  <a:srgbClr val="0077B6"/>
                </a:solidFill>
                <a:latin typeface="Calibri"/>
                <a:ea typeface="Calibri"/>
                <a:cs typeface="Calibri"/>
                <a:sym typeface="Calibri"/>
              </a:rPr>
              <a:t>Token 10 needs token 3 — but must travel through every step in between</a:t>
            </a:r>
            <a:endParaRPr sz="1008" b="0" i="1">
              <a:solidFill>
                <a:srgbClr val="0077B6"/>
              </a:solidFill>
              <a:latin typeface="Calibri"/>
              <a:ea typeface="Calibri"/>
              <a:cs typeface="Calibri"/>
              <a:sym typeface="Calibri"/>
            </a:endParaRPr>
          </a:p>
        </p:txBody>
      </p:sp>
      <p:sp>
        <p:nvSpPr>
          <p:cNvPr id="647" name="Google Shape;647;p32"/>
          <p:cNvSpPr/>
          <p:nvPr/>
        </p:nvSpPr>
        <p:spPr>
          <a:xfrm>
            <a:off x="365760" y="1024128"/>
            <a:ext cx="6400800" cy="2376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935" b="1" i="0">
                <a:solidFill>
                  <a:srgbClr val="475569"/>
                </a:solidFill>
                <a:latin typeface="Calibri"/>
                <a:ea typeface="Calibri"/>
                <a:cs typeface="Calibri"/>
                <a:sym typeface="Calibri"/>
              </a:rPr>
              <a:t>LSTM — sequential chain (path length = 7 hops):</a:t>
            </a:r>
            <a:endParaRPr sz="935" b="1" i="0">
              <a:solidFill>
                <a:srgbClr val="475569"/>
              </a:solidFill>
              <a:latin typeface="Calibri"/>
              <a:ea typeface="Calibri"/>
              <a:cs typeface="Calibri"/>
              <a:sym typeface="Calibri"/>
            </a:endParaRPr>
          </a:p>
        </p:txBody>
      </p:sp>
      <p:sp>
        <p:nvSpPr>
          <p:cNvPr id="648" name="Google Shape;648;p32"/>
          <p:cNvSpPr/>
          <p:nvPr/>
        </p:nvSpPr>
        <p:spPr>
          <a:xfrm>
            <a:off x="365760" y="1325880"/>
            <a:ext cx="658500" cy="402300"/>
          </a:xfrm>
          <a:prstGeom prst="roundRect">
            <a:avLst>
              <a:gd name="adj" fmla="val 15909"/>
            </a:avLst>
          </a:prstGeom>
          <a:solidFill>
            <a:srgbClr val="E94560"/>
          </a:solidFill>
          <a:ln w="15225" cap="flat" cmpd="sng">
            <a:solidFill>
              <a:srgbClr val="E9456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9" name="Google Shape;649;p32"/>
          <p:cNvSpPr/>
          <p:nvPr/>
        </p:nvSpPr>
        <p:spPr>
          <a:xfrm>
            <a:off x="365760" y="1325880"/>
            <a:ext cx="6585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b="1" i="0" u="none" strike="noStrike" cap="none">
                <a:solidFill>
                  <a:srgbClr val="FFFFFF"/>
                </a:solidFill>
                <a:latin typeface="Calibri"/>
                <a:ea typeface="Calibri"/>
                <a:cs typeface="Calibri"/>
                <a:sym typeface="Calibri"/>
              </a:rPr>
              <a:t>t=3</a:t>
            </a:r>
            <a:endParaRPr sz="1000" b="0" i="0" u="none" strike="noStrike" cap="none">
              <a:solidFill>
                <a:schemeClr val="dk1"/>
              </a:solidFill>
              <a:latin typeface="Calibri"/>
              <a:ea typeface="Calibri"/>
              <a:cs typeface="Calibri"/>
              <a:sym typeface="Calibri"/>
            </a:endParaRPr>
          </a:p>
        </p:txBody>
      </p:sp>
      <p:cxnSp>
        <p:nvCxnSpPr>
          <p:cNvPr id="650" name="Google Shape;650;p32"/>
          <p:cNvCxnSpPr/>
          <p:nvPr/>
        </p:nvCxnSpPr>
        <p:spPr>
          <a:xfrm>
            <a:off x="1024128" y="1527048"/>
            <a:ext cx="484500" cy="0"/>
          </a:xfrm>
          <a:prstGeom prst="straightConnector1">
            <a:avLst/>
          </a:prstGeom>
          <a:solidFill>
            <a:srgbClr val="FFFFFF"/>
          </a:solidFill>
          <a:ln w="15225" cap="flat" cmpd="sng">
            <a:solidFill>
              <a:srgbClr val="0077B6"/>
            </a:solidFill>
            <a:prstDash val="solid"/>
            <a:round/>
            <a:headEnd type="none" w="sm" len="sm"/>
            <a:tailEnd type="none" w="sm" len="sm"/>
          </a:ln>
        </p:spPr>
      </p:cxnSp>
      <p:sp>
        <p:nvSpPr>
          <p:cNvPr id="651" name="Google Shape;651;p32"/>
          <p:cNvSpPr/>
          <p:nvPr/>
        </p:nvSpPr>
        <p:spPr>
          <a:xfrm>
            <a:off x="1508760" y="1325880"/>
            <a:ext cx="658500" cy="402300"/>
          </a:xfrm>
          <a:prstGeom prst="roundRect">
            <a:avLst>
              <a:gd name="adj" fmla="val 15909"/>
            </a:avLst>
          </a:prstGeom>
          <a:solidFill>
            <a:srgbClr val="E2E8F0"/>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2" name="Google Shape;652;p32"/>
          <p:cNvSpPr/>
          <p:nvPr/>
        </p:nvSpPr>
        <p:spPr>
          <a:xfrm>
            <a:off x="1508760" y="1325880"/>
            <a:ext cx="658500" cy="402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000" b="0" i="0">
                <a:solidFill>
                  <a:srgbClr val="64748B"/>
                </a:solidFill>
                <a:latin typeface="Calibri"/>
                <a:ea typeface="Calibri"/>
                <a:cs typeface="Calibri"/>
                <a:sym typeface="Calibri"/>
              </a:rPr>
              <a:t>t=4</a:t>
            </a:r>
            <a:endParaRPr sz="1000" b="0" i="0">
              <a:solidFill>
                <a:srgbClr val="64748B"/>
              </a:solidFill>
              <a:latin typeface="Calibri"/>
              <a:ea typeface="Calibri"/>
              <a:cs typeface="Calibri"/>
              <a:sym typeface="Calibri"/>
            </a:endParaRPr>
          </a:p>
        </p:txBody>
      </p:sp>
      <p:cxnSp>
        <p:nvCxnSpPr>
          <p:cNvPr id="653" name="Google Shape;653;p32"/>
          <p:cNvCxnSpPr/>
          <p:nvPr/>
        </p:nvCxnSpPr>
        <p:spPr>
          <a:xfrm>
            <a:off x="2167128" y="1527048"/>
            <a:ext cx="484500" cy="0"/>
          </a:xfrm>
          <a:prstGeom prst="straightConnector1">
            <a:avLst/>
          </a:prstGeom>
          <a:noFill/>
          <a:ln w="22850" cap="flat" cmpd="sng">
            <a:solidFill>
              <a:srgbClr val="E94560"/>
            </a:solidFill>
            <a:prstDash val="dash"/>
            <a:round/>
            <a:headEnd type="none" w="sm" len="sm"/>
            <a:tailEnd type="none" w="sm" len="sm"/>
          </a:ln>
        </p:spPr>
      </p:cxnSp>
      <p:sp>
        <p:nvSpPr>
          <p:cNvPr id="654" name="Google Shape;654;p32"/>
          <p:cNvSpPr/>
          <p:nvPr/>
        </p:nvSpPr>
        <p:spPr>
          <a:xfrm>
            <a:off x="2651760" y="1325880"/>
            <a:ext cx="658500" cy="402300"/>
          </a:xfrm>
          <a:prstGeom prst="roundRect">
            <a:avLst>
              <a:gd name="adj" fmla="val 15909"/>
            </a:avLst>
          </a:prstGeom>
          <a:solidFill>
            <a:srgbClr val="E2E8F0"/>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5" name="Google Shape;655;p32"/>
          <p:cNvSpPr/>
          <p:nvPr/>
        </p:nvSpPr>
        <p:spPr>
          <a:xfrm>
            <a:off x="2651760" y="1325880"/>
            <a:ext cx="658500" cy="402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000" b="0" i="0">
                <a:solidFill>
                  <a:srgbClr val="64748B"/>
                </a:solidFill>
                <a:latin typeface="Calibri"/>
                <a:ea typeface="Calibri"/>
                <a:cs typeface="Calibri"/>
                <a:sym typeface="Calibri"/>
              </a:rPr>
              <a:t>t=5</a:t>
            </a:r>
            <a:endParaRPr sz="1000" b="0" i="0">
              <a:solidFill>
                <a:srgbClr val="64748B"/>
              </a:solidFill>
              <a:latin typeface="Calibri"/>
              <a:ea typeface="Calibri"/>
              <a:cs typeface="Calibri"/>
              <a:sym typeface="Calibri"/>
            </a:endParaRPr>
          </a:p>
        </p:txBody>
      </p:sp>
      <p:cxnSp>
        <p:nvCxnSpPr>
          <p:cNvPr id="656" name="Google Shape;656;p32"/>
          <p:cNvCxnSpPr/>
          <p:nvPr/>
        </p:nvCxnSpPr>
        <p:spPr>
          <a:xfrm>
            <a:off x="3310128" y="1527048"/>
            <a:ext cx="484500" cy="0"/>
          </a:xfrm>
          <a:prstGeom prst="straightConnector1">
            <a:avLst/>
          </a:prstGeom>
          <a:noFill/>
          <a:ln w="22850" cap="flat" cmpd="sng">
            <a:solidFill>
              <a:srgbClr val="E94560"/>
            </a:solidFill>
            <a:prstDash val="dash"/>
            <a:round/>
            <a:headEnd type="none" w="sm" len="sm"/>
            <a:tailEnd type="none" w="sm" len="sm"/>
          </a:ln>
        </p:spPr>
      </p:cxnSp>
      <p:sp>
        <p:nvSpPr>
          <p:cNvPr id="657" name="Google Shape;657;p32"/>
          <p:cNvSpPr/>
          <p:nvPr/>
        </p:nvSpPr>
        <p:spPr>
          <a:xfrm>
            <a:off x="3794760" y="1325880"/>
            <a:ext cx="658500" cy="402300"/>
          </a:xfrm>
          <a:prstGeom prst="roundRect">
            <a:avLst>
              <a:gd name="adj" fmla="val 15909"/>
            </a:avLst>
          </a:prstGeom>
          <a:solidFill>
            <a:srgbClr val="E2E8F0"/>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8" name="Google Shape;658;p32"/>
          <p:cNvSpPr/>
          <p:nvPr/>
        </p:nvSpPr>
        <p:spPr>
          <a:xfrm>
            <a:off x="3794760" y="1325880"/>
            <a:ext cx="658500" cy="402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000" b="0" i="0">
                <a:solidFill>
                  <a:srgbClr val="64748B"/>
                </a:solidFill>
                <a:latin typeface="Calibri"/>
                <a:ea typeface="Calibri"/>
                <a:cs typeface="Calibri"/>
                <a:sym typeface="Calibri"/>
              </a:rPr>
              <a:t>t=6</a:t>
            </a:r>
            <a:endParaRPr sz="1000" b="0" i="0">
              <a:solidFill>
                <a:srgbClr val="64748B"/>
              </a:solidFill>
              <a:latin typeface="Calibri"/>
              <a:ea typeface="Calibri"/>
              <a:cs typeface="Calibri"/>
              <a:sym typeface="Calibri"/>
            </a:endParaRPr>
          </a:p>
        </p:txBody>
      </p:sp>
      <p:cxnSp>
        <p:nvCxnSpPr>
          <p:cNvPr id="659" name="Google Shape;659;p32"/>
          <p:cNvCxnSpPr/>
          <p:nvPr/>
        </p:nvCxnSpPr>
        <p:spPr>
          <a:xfrm>
            <a:off x="4453128" y="1527048"/>
            <a:ext cx="484500" cy="0"/>
          </a:xfrm>
          <a:prstGeom prst="straightConnector1">
            <a:avLst/>
          </a:prstGeom>
          <a:noFill/>
          <a:ln w="22850" cap="flat" cmpd="sng">
            <a:solidFill>
              <a:srgbClr val="E94560"/>
            </a:solidFill>
            <a:prstDash val="dash"/>
            <a:round/>
            <a:headEnd type="none" w="sm" len="sm"/>
            <a:tailEnd type="none" w="sm" len="sm"/>
          </a:ln>
        </p:spPr>
      </p:cxnSp>
      <p:sp>
        <p:nvSpPr>
          <p:cNvPr id="660" name="Google Shape;660;p32"/>
          <p:cNvSpPr/>
          <p:nvPr/>
        </p:nvSpPr>
        <p:spPr>
          <a:xfrm>
            <a:off x="4937760" y="1325880"/>
            <a:ext cx="658500" cy="402300"/>
          </a:xfrm>
          <a:prstGeom prst="roundRect">
            <a:avLst>
              <a:gd name="adj" fmla="val 15909"/>
            </a:avLst>
          </a:prstGeom>
          <a:solidFill>
            <a:srgbClr val="E2E8F0"/>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1" name="Google Shape;661;p32"/>
          <p:cNvSpPr/>
          <p:nvPr/>
        </p:nvSpPr>
        <p:spPr>
          <a:xfrm>
            <a:off x="4937760" y="1325880"/>
            <a:ext cx="658500" cy="402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000" b="0" i="0">
                <a:solidFill>
                  <a:srgbClr val="64748B"/>
                </a:solidFill>
                <a:latin typeface="Calibri"/>
                <a:ea typeface="Calibri"/>
                <a:cs typeface="Calibri"/>
                <a:sym typeface="Calibri"/>
              </a:rPr>
              <a:t>t=7</a:t>
            </a:r>
            <a:endParaRPr sz="1000" b="0" i="0">
              <a:solidFill>
                <a:srgbClr val="64748B"/>
              </a:solidFill>
              <a:latin typeface="Calibri"/>
              <a:ea typeface="Calibri"/>
              <a:cs typeface="Calibri"/>
              <a:sym typeface="Calibri"/>
            </a:endParaRPr>
          </a:p>
        </p:txBody>
      </p:sp>
      <p:cxnSp>
        <p:nvCxnSpPr>
          <p:cNvPr id="662" name="Google Shape;662;p32"/>
          <p:cNvCxnSpPr/>
          <p:nvPr/>
        </p:nvCxnSpPr>
        <p:spPr>
          <a:xfrm>
            <a:off x="5596128" y="1527048"/>
            <a:ext cx="484500" cy="0"/>
          </a:xfrm>
          <a:prstGeom prst="straightConnector1">
            <a:avLst/>
          </a:prstGeom>
          <a:solidFill>
            <a:srgbClr val="FFFFFF"/>
          </a:solidFill>
          <a:ln w="15225" cap="flat" cmpd="sng">
            <a:solidFill>
              <a:srgbClr val="0077B6"/>
            </a:solidFill>
            <a:prstDash val="solid"/>
            <a:round/>
            <a:headEnd type="none" w="sm" len="sm"/>
            <a:tailEnd type="none" w="sm" len="sm"/>
          </a:ln>
        </p:spPr>
      </p:cxnSp>
      <p:sp>
        <p:nvSpPr>
          <p:cNvPr id="663" name="Google Shape;663;p32"/>
          <p:cNvSpPr/>
          <p:nvPr/>
        </p:nvSpPr>
        <p:spPr>
          <a:xfrm>
            <a:off x="6080760" y="1325880"/>
            <a:ext cx="658500" cy="402300"/>
          </a:xfrm>
          <a:prstGeom prst="roundRect">
            <a:avLst>
              <a:gd name="adj" fmla="val 15909"/>
            </a:avLst>
          </a:prstGeom>
          <a:solidFill>
            <a:srgbClr val="028090"/>
          </a:solidFill>
          <a:ln w="15225" cap="flat" cmpd="sng">
            <a:solidFill>
              <a:srgbClr val="02809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4" name="Google Shape;664;p32"/>
          <p:cNvSpPr/>
          <p:nvPr/>
        </p:nvSpPr>
        <p:spPr>
          <a:xfrm>
            <a:off x="6080760" y="1325880"/>
            <a:ext cx="6585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b="1" i="0" u="none" strike="noStrike" cap="none">
                <a:solidFill>
                  <a:srgbClr val="FFFFFF"/>
                </a:solidFill>
                <a:latin typeface="Calibri"/>
                <a:ea typeface="Calibri"/>
                <a:cs typeface="Calibri"/>
                <a:sym typeface="Calibri"/>
              </a:rPr>
              <a:t>t=8</a:t>
            </a:r>
            <a:endParaRPr sz="1000" b="0" i="0" u="none" strike="noStrike" cap="none">
              <a:solidFill>
                <a:schemeClr val="dk1"/>
              </a:solidFill>
              <a:latin typeface="Calibri"/>
              <a:ea typeface="Calibri"/>
              <a:cs typeface="Calibri"/>
              <a:sym typeface="Calibri"/>
            </a:endParaRPr>
          </a:p>
        </p:txBody>
      </p:sp>
      <p:cxnSp>
        <p:nvCxnSpPr>
          <p:cNvPr id="665" name="Google Shape;665;p32"/>
          <p:cNvCxnSpPr/>
          <p:nvPr/>
        </p:nvCxnSpPr>
        <p:spPr>
          <a:xfrm>
            <a:off x="6739128" y="1527048"/>
            <a:ext cx="484500" cy="0"/>
          </a:xfrm>
          <a:prstGeom prst="straightConnector1">
            <a:avLst/>
          </a:prstGeom>
          <a:solidFill>
            <a:srgbClr val="FFFFFF"/>
          </a:solidFill>
          <a:ln w="15225" cap="flat" cmpd="sng">
            <a:solidFill>
              <a:srgbClr val="0077B6"/>
            </a:solidFill>
            <a:prstDash val="solid"/>
            <a:round/>
            <a:headEnd type="none" w="sm" len="sm"/>
            <a:tailEnd type="none" w="sm" len="sm"/>
          </a:ln>
        </p:spPr>
      </p:cxnSp>
      <p:sp>
        <p:nvSpPr>
          <p:cNvPr id="666" name="Google Shape;666;p32"/>
          <p:cNvSpPr/>
          <p:nvPr/>
        </p:nvSpPr>
        <p:spPr>
          <a:xfrm>
            <a:off x="7223760" y="1325880"/>
            <a:ext cx="658500" cy="402300"/>
          </a:xfrm>
          <a:prstGeom prst="roundRect">
            <a:avLst>
              <a:gd name="adj" fmla="val 15909"/>
            </a:avLst>
          </a:prstGeom>
          <a:solidFill>
            <a:srgbClr val="028090"/>
          </a:solidFill>
          <a:ln w="15225" cap="flat" cmpd="sng">
            <a:solidFill>
              <a:srgbClr val="02809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7" name="Google Shape;667;p32"/>
          <p:cNvSpPr/>
          <p:nvPr/>
        </p:nvSpPr>
        <p:spPr>
          <a:xfrm>
            <a:off x="7223760" y="1325880"/>
            <a:ext cx="6585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b="1" i="0" u="none" strike="noStrike" cap="none">
                <a:solidFill>
                  <a:srgbClr val="FFFFFF"/>
                </a:solidFill>
                <a:latin typeface="Calibri"/>
                <a:ea typeface="Calibri"/>
                <a:cs typeface="Calibri"/>
                <a:sym typeface="Calibri"/>
              </a:rPr>
              <a:t>t=9</a:t>
            </a:r>
            <a:endParaRPr sz="1000" b="0" i="0" u="none" strike="noStrike" cap="none">
              <a:solidFill>
                <a:schemeClr val="dk1"/>
              </a:solidFill>
              <a:latin typeface="Calibri"/>
              <a:ea typeface="Calibri"/>
              <a:cs typeface="Calibri"/>
              <a:sym typeface="Calibri"/>
            </a:endParaRPr>
          </a:p>
        </p:txBody>
      </p:sp>
      <p:cxnSp>
        <p:nvCxnSpPr>
          <p:cNvPr id="668" name="Google Shape;668;p32"/>
          <p:cNvCxnSpPr/>
          <p:nvPr/>
        </p:nvCxnSpPr>
        <p:spPr>
          <a:xfrm>
            <a:off x="7882128" y="1527048"/>
            <a:ext cx="484500" cy="0"/>
          </a:xfrm>
          <a:prstGeom prst="straightConnector1">
            <a:avLst/>
          </a:prstGeom>
          <a:solidFill>
            <a:srgbClr val="FFFFFF"/>
          </a:solidFill>
          <a:ln w="15225" cap="flat" cmpd="sng">
            <a:solidFill>
              <a:srgbClr val="0077B6"/>
            </a:solidFill>
            <a:prstDash val="solid"/>
            <a:round/>
            <a:headEnd type="none" w="sm" len="sm"/>
            <a:tailEnd type="none" w="sm" len="sm"/>
          </a:ln>
        </p:spPr>
      </p:cxnSp>
      <p:sp>
        <p:nvSpPr>
          <p:cNvPr id="669" name="Google Shape;669;p32"/>
          <p:cNvSpPr/>
          <p:nvPr/>
        </p:nvSpPr>
        <p:spPr>
          <a:xfrm>
            <a:off x="8366760" y="1325880"/>
            <a:ext cx="658500" cy="402300"/>
          </a:xfrm>
          <a:prstGeom prst="roundRect">
            <a:avLst>
              <a:gd name="adj" fmla="val 15909"/>
            </a:avLst>
          </a:prstGeom>
          <a:solidFill>
            <a:srgbClr val="10B981"/>
          </a:solidFill>
          <a:ln w="15225" cap="flat"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0" name="Google Shape;670;p32"/>
          <p:cNvSpPr/>
          <p:nvPr/>
        </p:nvSpPr>
        <p:spPr>
          <a:xfrm>
            <a:off x="8366760" y="1325880"/>
            <a:ext cx="6585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1000" b="1" i="0" u="none" strike="noStrike" cap="none">
                <a:solidFill>
                  <a:srgbClr val="FFFFFF"/>
                </a:solidFill>
                <a:latin typeface="Calibri"/>
                <a:ea typeface="Calibri"/>
                <a:cs typeface="Calibri"/>
                <a:sym typeface="Calibri"/>
              </a:rPr>
              <a:t>t=10</a:t>
            </a:r>
            <a:endParaRPr sz="1000" b="0" i="0" u="none" strike="noStrike" cap="none">
              <a:solidFill>
                <a:schemeClr val="dk1"/>
              </a:solidFill>
              <a:latin typeface="Calibri"/>
              <a:ea typeface="Calibri"/>
              <a:cs typeface="Calibri"/>
              <a:sym typeface="Calibri"/>
            </a:endParaRPr>
          </a:p>
        </p:txBody>
      </p:sp>
      <p:sp>
        <p:nvSpPr>
          <p:cNvPr id="671" name="Google Shape;671;p32"/>
          <p:cNvSpPr/>
          <p:nvPr/>
        </p:nvSpPr>
        <p:spPr>
          <a:xfrm>
            <a:off x="1417320" y="1773936"/>
            <a:ext cx="365760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94560"/>
              </a:buClr>
              <a:buSzPts val="900"/>
              <a:buFont typeface="Calibri"/>
              <a:buNone/>
            </a:pPr>
            <a:r>
              <a:rPr lang="en" sz="900" b="0" i="1" u="none" strike="noStrike" cap="none">
                <a:solidFill>
                  <a:srgbClr val="E94560"/>
                </a:solidFill>
                <a:latin typeface="Calibri"/>
                <a:ea typeface="Calibri"/>
                <a:cs typeface="Calibri"/>
                <a:sym typeface="Calibri"/>
              </a:rPr>
              <a:t>⚠ irrelevant tokens — signal from t=3 must pass through here</a:t>
            </a:r>
            <a:endParaRPr sz="900" b="0" i="0" u="none" strike="noStrike" cap="none">
              <a:solidFill>
                <a:schemeClr val="dk1"/>
              </a:solidFill>
              <a:latin typeface="Calibri"/>
              <a:ea typeface="Calibri"/>
              <a:cs typeface="Calibri"/>
              <a:sym typeface="Calibri"/>
            </a:endParaRPr>
          </a:p>
        </p:txBody>
      </p:sp>
      <p:sp>
        <p:nvSpPr>
          <p:cNvPr id="672" name="Google Shape;672;p32"/>
          <p:cNvSpPr/>
          <p:nvPr/>
        </p:nvSpPr>
        <p:spPr>
          <a:xfrm>
            <a:off x="320040" y="2103120"/>
            <a:ext cx="4023300" cy="2697600"/>
          </a:xfrm>
          <a:prstGeom prst="roundRect">
            <a:avLst>
              <a:gd name="adj" fmla="val 4067"/>
            </a:avLst>
          </a:prstGeom>
          <a:solidFill>
            <a:srgbClr val="FFFFFF"/>
          </a:solidFill>
          <a:ln w="19050" cap="flat" cmpd="sng">
            <a:solidFill>
              <a:srgbClr val="E9456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3" name="Google Shape;673;p32"/>
          <p:cNvSpPr/>
          <p:nvPr/>
        </p:nvSpPr>
        <p:spPr>
          <a:xfrm>
            <a:off x="320040" y="2212848"/>
            <a:ext cx="40233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94560"/>
              </a:buClr>
              <a:buSzPts val="1600"/>
              <a:buFont typeface="Calibri"/>
              <a:buNone/>
            </a:pPr>
            <a:r>
              <a:rPr lang="en" sz="1600" b="1" i="0" u="none" strike="noStrike" cap="none">
                <a:solidFill>
                  <a:srgbClr val="E94560"/>
                </a:solidFill>
                <a:latin typeface="Calibri"/>
                <a:ea typeface="Calibri"/>
                <a:cs typeface="Calibri"/>
                <a:sym typeface="Calibri"/>
              </a:rPr>
              <a:t>LSTM</a:t>
            </a:r>
            <a:endParaRPr sz="1600" b="0" i="0" u="none" strike="noStrike" cap="none">
              <a:solidFill>
                <a:schemeClr val="dk1"/>
              </a:solidFill>
              <a:latin typeface="Calibri"/>
              <a:ea typeface="Calibri"/>
              <a:cs typeface="Calibri"/>
              <a:sym typeface="Calibri"/>
            </a:endParaRPr>
          </a:p>
        </p:txBody>
      </p:sp>
      <p:sp>
        <p:nvSpPr>
          <p:cNvPr id="674" name="Google Shape;674;p32"/>
          <p:cNvSpPr/>
          <p:nvPr/>
        </p:nvSpPr>
        <p:spPr>
          <a:xfrm>
            <a:off x="438912" y="2633472"/>
            <a:ext cx="310800" cy="310800"/>
          </a:xfrm>
          <a:prstGeom prst="ellipse">
            <a:avLst/>
          </a:prstGeom>
          <a:solidFill>
            <a:srgbClr val="E9456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2"/>
          <p:cNvSpPr/>
          <p:nvPr/>
        </p:nvSpPr>
        <p:spPr>
          <a:xfrm>
            <a:off x="438912" y="2633472"/>
            <a:ext cx="3108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 sz="900" b="1" i="0" u="none" strike="noStrike" cap="none">
                <a:solidFill>
                  <a:srgbClr val="FFFFFF"/>
                </a:solidFill>
                <a:latin typeface="Calibri"/>
                <a:ea typeface="Calibri"/>
                <a:cs typeface="Calibri"/>
                <a:sym typeface="Calibri"/>
              </a:rPr>
              <a:t>3</a:t>
            </a:r>
            <a:endParaRPr sz="900" b="0" i="0" u="none" strike="noStrike" cap="none">
              <a:solidFill>
                <a:schemeClr val="dk1"/>
              </a:solidFill>
              <a:latin typeface="Calibri"/>
              <a:ea typeface="Calibri"/>
              <a:cs typeface="Calibri"/>
              <a:sym typeface="Calibri"/>
            </a:endParaRPr>
          </a:p>
        </p:txBody>
      </p:sp>
      <p:cxnSp>
        <p:nvCxnSpPr>
          <p:cNvPr id="676" name="Google Shape;676;p32"/>
          <p:cNvCxnSpPr/>
          <p:nvPr/>
        </p:nvCxnSpPr>
        <p:spPr>
          <a:xfrm>
            <a:off x="749808" y="2788920"/>
            <a:ext cx="128100" cy="0"/>
          </a:xfrm>
          <a:prstGeom prst="straightConnector1">
            <a:avLst/>
          </a:prstGeom>
          <a:noFill/>
          <a:ln w="12700" cap="flat" cmpd="sng">
            <a:solidFill>
              <a:srgbClr val="5A6A8E"/>
            </a:solidFill>
            <a:prstDash val="solid"/>
            <a:round/>
            <a:headEnd type="none" w="sm" len="sm"/>
            <a:tailEnd type="none" w="sm" len="sm"/>
          </a:ln>
        </p:spPr>
      </p:cxnSp>
      <p:sp>
        <p:nvSpPr>
          <p:cNvPr id="677" name="Google Shape;677;p32"/>
          <p:cNvSpPr/>
          <p:nvPr/>
        </p:nvSpPr>
        <p:spPr>
          <a:xfrm>
            <a:off x="877824" y="2633472"/>
            <a:ext cx="310800" cy="310800"/>
          </a:xfrm>
          <a:prstGeom prst="ellipse">
            <a:avLst/>
          </a:prstGeom>
          <a:solidFill>
            <a:srgbClr val="E2E8F0"/>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8" name="Google Shape;678;p32"/>
          <p:cNvSpPr/>
          <p:nvPr/>
        </p:nvSpPr>
        <p:spPr>
          <a:xfrm>
            <a:off x="877824" y="2633472"/>
            <a:ext cx="310800" cy="310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1" i="0">
                <a:solidFill>
                  <a:srgbClr val="64748B"/>
                </a:solidFill>
                <a:latin typeface="Calibri"/>
                <a:ea typeface="Calibri"/>
                <a:cs typeface="Calibri"/>
                <a:sym typeface="Calibri"/>
              </a:rPr>
              <a:t>4</a:t>
            </a:r>
            <a:endParaRPr sz="900" b="1" i="0">
              <a:solidFill>
                <a:srgbClr val="64748B"/>
              </a:solidFill>
              <a:latin typeface="Calibri"/>
              <a:ea typeface="Calibri"/>
              <a:cs typeface="Calibri"/>
              <a:sym typeface="Calibri"/>
            </a:endParaRPr>
          </a:p>
        </p:txBody>
      </p:sp>
      <p:cxnSp>
        <p:nvCxnSpPr>
          <p:cNvPr id="679" name="Google Shape;679;p32"/>
          <p:cNvCxnSpPr/>
          <p:nvPr/>
        </p:nvCxnSpPr>
        <p:spPr>
          <a:xfrm>
            <a:off x="1188720" y="2788920"/>
            <a:ext cx="128100" cy="0"/>
          </a:xfrm>
          <a:prstGeom prst="straightConnector1">
            <a:avLst/>
          </a:prstGeom>
          <a:solidFill>
            <a:srgbClr val="FFFFFF"/>
          </a:solidFill>
          <a:ln w="12700" cap="flat" cmpd="sng">
            <a:solidFill>
              <a:srgbClr val="CBD5E1"/>
            </a:solidFill>
            <a:prstDash val="solid"/>
            <a:round/>
            <a:headEnd type="none" w="sm" len="sm"/>
            <a:tailEnd type="none" w="sm" len="sm"/>
          </a:ln>
        </p:spPr>
      </p:cxnSp>
      <p:sp>
        <p:nvSpPr>
          <p:cNvPr id="680" name="Google Shape;680;p32"/>
          <p:cNvSpPr/>
          <p:nvPr/>
        </p:nvSpPr>
        <p:spPr>
          <a:xfrm>
            <a:off x="1316736" y="2633472"/>
            <a:ext cx="310800" cy="310800"/>
          </a:xfrm>
          <a:prstGeom prst="ellipse">
            <a:avLst/>
          </a:prstGeom>
          <a:solidFill>
            <a:srgbClr val="E2E8F0"/>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1" name="Google Shape;681;p32"/>
          <p:cNvSpPr/>
          <p:nvPr/>
        </p:nvSpPr>
        <p:spPr>
          <a:xfrm>
            <a:off x="1316736" y="2633472"/>
            <a:ext cx="310800" cy="310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1" i="0">
                <a:solidFill>
                  <a:srgbClr val="64748B"/>
                </a:solidFill>
                <a:latin typeface="Calibri"/>
                <a:ea typeface="Calibri"/>
                <a:cs typeface="Calibri"/>
                <a:sym typeface="Calibri"/>
              </a:rPr>
              <a:t>5</a:t>
            </a:r>
            <a:endParaRPr sz="900" b="1" i="0">
              <a:solidFill>
                <a:srgbClr val="64748B"/>
              </a:solidFill>
              <a:latin typeface="Calibri"/>
              <a:ea typeface="Calibri"/>
              <a:cs typeface="Calibri"/>
              <a:sym typeface="Calibri"/>
            </a:endParaRPr>
          </a:p>
        </p:txBody>
      </p:sp>
      <p:cxnSp>
        <p:nvCxnSpPr>
          <p:cNvPr id="682" name="Google Shape;682;p32"/>
          <p:cNvCxnSpPr/>
          <p:nvPr/>
        </p:nvCxnSpPr>
        <p:spPr>
          <a:xfrm>
            <a:off x="1627632" y="2788920"/>
            <a:ext cx="128100" cy="0"/>
          </a:xfrm>
          <a:prstGeom prst="straightConnector1">
            <a:avLst/>
          </a:prstGeom>
          <a:solidFill>
            <a:srgbClr val="FFFFFF"/>
          </a:solidFill>
          <a:ln w="12700" cap="flat" cmpd="sng">
            <a:solidFill>
              <a:srgbClr val="CBD5E1"/>
            </a:solidFill>
            <a:prstDash val="solid"/>
            <a:round/>
            <a:headEnd type="none" w="sm" len="sm"/>
            <a:tailEnd type="none" w="sm" len="sm"/>
          </a:ln>
        </p:spPr>
      </p:cxnSp>
      <p:sp>
        <p:nvSpPr>
          <p:cNvPr id="683" name="Google Shape;683;p32"/>
          <p:cNvSpPr/>
          <p:nvPr/>
        </p:nvSpPr>
        <p:spPr>
          <a:xfrm>
            <a:off x="1755648" y="2633472"/>
            <a:ext cx="310800" cy="310800"/>
          </a:xfrm>
          <a:prstGeom prst="ellipse">
            <a:avLst/>
          </a:prstGeom>
          <a:solidFill>
            <a:srgbClr val="E2E8F0"/>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4" name="Google Shape;684;p32"/>
          <p:cNvSpPr/>
          <p:nvPr/>
        </p:nvSpPr>
        <p:spPr>
          <a:xfrm>
            <a:off x="1755648" y="2633472"/>
            <a:ext cx="310800" cy="310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1" i="0">
                <a:solidFill>
                  <a:srgbClr val="64748B"/>
                </a:solidFill>
                <a:latin typeface="Calibri"/>
                <a:ea typeface="Calibri"/>
                <a:cs typeface="Calibri"/>
                <a:sym typeface="Calibri"/>
              </a:rPr>
              <a:t>6</a:t>
            </a:r>
            <a:endParaRPr sz="900" b="1" i="0">
              <a:solidFill>
                <a:srgbClr val="64748B"/>
              </a:solidFill>
              <a:latin typeface="Calibri"/>
              <a:ea typeface="Calibri"/>
              <a:cs typeface="Calibri"/>
              <a:sym typeface="Calibri"/>
            </a:endParaRPr>
          </a:p>
        </p:txBody>
      </p:sp>
      <p:cxnSp>
        <p:nvCxnSpPr>
          <p:cNvPr id="685" name="Google Shape;685;p32"/>
          <p:cNvCxnSpPr/>
          <p:nvPr/>
        </p:nvCxnSpPr>
        <p:spPr>
          <a:xfrm>
            <a:off x="2066544" y="2788920"/>
            <a:ext cx="128100" cy="0"/>
          </a:xfrm>
          <a:prstGeom prst="straightConnector1">
            <a:avLst/>
          </a:prstGeom>
          <a:solidFill>
            <a:srgbClr val="FFFFFF"/>
          </a:solidFill>
          <a:ln w="12700" cap="flat" cmpd="sng">
            <a:solidFill>
              <a:srgbClr val="CBD5E1"/>
            </a:solidFill>
            <a:prstDash val="solid"/>
            <a:round/>
            <a:headEnd type="none" w="sm" len="sm"/>
            <a:tailEnd type="none" w="sm" len="sm"/>
          </a:ln>
        </p:spPr>
      </p:cxnSp>
      <p:sp>
        <p:nvSpPr>
          <p:cNvPr id="686" name="Google Shape;686;p32"/>
          <p:cNvSpPr/>
          <p:nvPr/>
        </p:nvSpPr>
        <p:spPr>
          <a:xfrm>
            <a:off x="2194560" y="2633472"/>
            <a:ext cx="310800" cy="310800"/>
          </a:xfrm>
          <a:prstGeom prst="ellipse">
            <a:avLst/>
          </a:prstGeom>
          <a:solidFill>
            <a:srgbClr val="E2E8F0"/>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7" name="Google Shape;687;p32"/>
          <p:cNvSpPr/>
          <p:nvPr/>
        </p:nvSpPr>
        <p:spPr>
          <a:xfrm>
            <a:off x="2194560" y="2633472"/>
            <a:ext cx="310800" cy="310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900" b="1" i="0">
                <a:solidFill>
                  <a:srgbClr val="64748B"/>
                </a:solidFill>
                <a:latin typeface="Calibri"/>
                <a:ea typeface="Calibri"/>
                <a:cs typeface="Calibri"/>
                <a:sym typeface="Calibri"/>
              </a:rPr>
              <a:t>7</a:t>
            </a:r>
            <a:endParaRPr sz="900" b="1" i="0">
              <a:solidFill>
                <a:srgbClr val="64748B"/>
              </a:solidFill>
              <a:latin typeface="Calibri"/>
              <a:ea typeface="Calibri"/>
              <a:cs typeface="Calibri"/>
              <a:sym typeface="Calibri"/>
            </a:endParaRPr>
          </a:p>
        </p:txBody>
      </p:sp>
      <p:cxnSp>
        <p:nvCxnSpPr>
          <p:cNvPr id="688" name="Google Shape;688;p32"/>
          <p:cNvCxnSpPr/>
          <p:nvPr/>
        </p:nvCxnSpPr>
        <p:spPr>
          <a:xfrm>
            <a:off x="2505456" y="2788920"/>
            <a:ext cx="128100" cy="0"/>
          </a:xfrm>
          <a:prstGeom prst="straightConnector1">
            <a:avLst/>
          </a:prstGeom>
          <a:solidFill>
            <a:srgbClr val="FFFFFF"/>
          </a:solidFill>
          <a:ln w="12700" cap="flat" cmpd="sng">
            <a:solidFill>
              <a:srgbClr val="CBD5E1"/>
            </a:solidFill>
            <a:prstDash val="solid"/>
            <a:round/>
            <a:headEnd type="none" w="sm" len="sm"/>
            <a:tailEnd type="none" w="sm" len="sm"/>
          </a:ln>
        </p:spPr>
      </p:cxnSp>
      <p:sp>
        <p:nvSpPr>
          <p:cNvPr id="689" name="Google Shape;689;p32"/>
          <p:cNvSpPr/>
          <p:nvPr/>
        </p:nvSpPr>
        <p:spPr>
          <a:xfrm>
            <a:off x="2633472" y="2633472"/>
            <a:ext cx="310800" cy="310800"/>
          </a:xfrm>
          <a:prstGeom prst="ellipse">
            <a:avLst/>
          </a:prstGeom>
          <a:solidFill>
            <a:srgbClr val="028090"/>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0" name="Google Shape;690;p32"/>
          <p:cNvSpPr/>
          <p:nvPr/>
        </p:nvSpPr>
        <p:spPr>
          <a:xfrm>
            <a:off x="2633472" y="2633472"/>
            <a:ext cx="3108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 sz="900" b="1" i="0" u="none" strike="noStrike" cap="none">
                <a:solidFill>
                  <a:srgbClr val="FFFFFF"/>
                </a:solidFill>
                <a:latin typeface="Calibri"/>
                <a:ea typeface="Calibri"/>
                <a:cs typeface="Calibri"/>
                <a:sym typeface="Calibri"/>
              </a:rPr>
              <a:t>8</a:t>
            </a:r>
            <a:endParaRPr sz="900" b="0" i="0" u="none" strike="noStrike" cap="none">
              <a:solidFill>
                <a:schemeClr val="dk1"/>
              </a:solidFill>
              <a:latin typeface="Calibri"/>
              <a:ea typeface="Calibri"/>
              <a:cs typeface="Calibri"/>
              <a:sym typeface="Calibri"/>
            </a:endParaRPr>
          </a:p>
        </p:txBody>
      </p:sp>
      <p:cxnSp>
        <p:nvCxnSpPr>
          <p:cNvPr id="691" name="Google Shape;691;p32"/>
          <p:cNvCxnSpPr/>
          <p:nvPr/>
        </p:nvCxnSpPr>
        <p:spPr>
          <a:xfrm>
            <a:off x="2944368" y="2788920"/>
            <a:ext cx="128100" cy="0"/>
          </a:xfrm>
          <a:prstGeom prst="straightConnector1">
            <a:avLst/>
          </a:prstGeom>
          <a:solidFill>
            <a:srgbClr val="FFFFFF"/>
          </a:solidFill>
          <a:ln w="12700" cap="flat" cmpd="sng">
            <a:solidFill>
              <a:srgbClr val="CBD5E1"/>
            </a:solidFill>
            <a:prstDash val="solid"/>
            <a:round/>
            <a:headEnd type="none" w="sm" len="sm"/>
            <a:tailEnd type="none" w="sm" len="sm"/>
          </a:ln>
        </p:spPr>
      </p:cxnSp>
      <p:sp>
        <p:nvSpPr>
          <p:cNvPr id="692" name="Google Shape;692;p32"/>
          <p:cNvSpPr/>
          <p:nvPr/>
        </p:nvSpPr>
        <p:spPr>
          <a:xfrm>
            <a:off x="3072384" y="2633472"/>
            <a:ext cx="310800" cy="310800"/>
          </a:xfrm>
          <a:prstGeom prst="ellipse">
            <a:avLst/>
          </a:prstGeom>
          <a:solidFill>
            <a:srgbClr val="028090"/>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3" name="Google Shape;693;p32"/>
          <p:cNvSpPr/>
          <p:nvPr/>
        </p:nvSpPr>
        <p:spPr>
          <a:xfrm>
            <a:off x="3072384" y="2633472"/>
            <a:ext cx="3108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 sz="900" b="1" i="0" u="none" strike="noStrike" cap="none">
                <a:solidFill>
                  <a:srgbClr val="FFFFFF"/>
                </a:solidFill>
                <a:latin typeface="Calibri"/>
                <a:ea typeface="Calibri"/>
                <a:cs typeface="Calibri"/>
                <a:sym typeface="Calibri"/>
              </a:rPr>
              <a:t>9</a:t>
            </a:r>
            <a:endParaRPr sz="900" b="0" i="0" u="none" strike="noStrike" cap="none">
              <a:solidFill>
                <a:schemeClr val="dk1"/>
              </a:solidFill>
              <a:latin typeface="Calibri"/>
              <a:ea typeface="Calibri"/>
              <a:cs typeface="Calibri"/>
              <a:sym typeface="Calibri"/>
            </a:endParaRPr>
          </a:p>
        </p:txBody>
      </p:sp>
      <p:cxnSp>
        <p:nvCxnSpPr>
          <p:cNvPr id="694" name="Google Shape;694;p32"/>
          <p:cNvCxnSpPr/>
          <p:nvPr/>
        </p:nvCxnSpPr>
        <p:spPr>
          <a:xfrm>
            <a:off x="3383280" y="2788920"/>
            <a:ext cx="128100" cy="0"/>
          </a:xfrm>
          <a:prstGeom prst="straightConnector1">
            <a:avLst/>
          </a:prstGeom>
          <a:solidFill>
            <a:srgbClr val="FFFFFF"/>
          </a:solidFill>
          <a:ln w="12700" cap="flat" cmpd="sng">
            <a:solidFill>
              <a:srgbClr val="CBD5E1"/>
            </a:solidFill>
            <a:prstDash val="solid"/>
            <a:round/>
            <a:headEnd type="none" w="sm" len="sm"/>
            <a:tailEnd type="none" w="sm" len="sm"/>
          </a:ln>
        </p:spPr>
      </p:cxnSp>
      <p:sp>
        <p:nvSpPr>
          <p:cNvPr id="695" name="Google Shape;695;p32"/>
          <p:cNvSpPr/>
          <p:nvPr/>
        </p:nvSpPr>
        <p:spPr>
          <a:xfrm>
            <a:off x="3511296" y="2633472"/>
            <a:ext cx="310800" cy="310800"/>
          </a:xfrm>
          <a:prstGeom prst="ellipse">
            <a:avLst/>
          </a:prstGeom>
          <a:solidFill>
            <a:srgbClr val="10B981"/>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6" name="Google Shape;696;p32"/>
          <p:cNvSpPr/>
          <p:nvPr/>
        </p:nvSpPr>
        <p:spPr>
          <a:xfrm>
            <a:off x="3511296" y="2633472"/>
            <a:ext cx="3108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 sz="900" b="1" i="0" u="none" strike="noStrike" cap="none">
                <a:solidFill>
                  <a:srgbClr val="FFFFFF"/>
                </a:solidFill>
                <a:latin typeface="Calibri"/>
                <a:ea typeface="Calibri"/>
                <a:cs typeface="Calibri"/>
                <a:sym typeface="Calibri"/>
              </a:rPr>
              <a:t>10</a:t>
            </a:r>
            <a:endParaRPr sz="900" b="0" i="0" u="none" strike="noStrike" cap="none">
              <a:solidFill>
                <a:schemeClr val="dk1"/>
              </a:solidFill>
              <a:latin typeface="Calibri"/>
              <a:ea typeface="Calibri"/>
              <a:cs typeface="Calibri"/>
              <a:sym typeface="Calibri"/>
            </a:endParaRPr>
          </a:p>
        </p:txBody>
      </p:sp>
      <p:sp>
        <p:nvSpPr>
          <p:cNvPr id="697" name="Google Shape;697;p32"/>
          <p:cNvSpPr/>
          <p:nvPr/>
        </p:nvSpPr>
        <p:spPr>
          <a:xfrm>
            <a:off x="457200" y="3108960"/>
            <a:ext cx="3703200" cy="1371600"/>
          </a:xfrm>
          <a:prstGeom prst="rect">
            <a:avLst/>
          </a:prstGeom>
          <a:solidFill>
            <a:srgbClr val="000000">
              <a:alpha val="0"/>
            </a:srgbClr>
          </a:solidFill>
          <a:ln>
            <a:noFill/>
          </a:ln>
        </p:spPr>
        <p:txBody>
          <a:bodyPr spcFirstLastPara="1" wrap="square" lIns="91400" tIns="45700" rIns="91400" bIns="45700" anchor="t" anchorCtr="0">
            <a:noAutofit/>
          </a:bodyPr>
          <a:lstStyle/>
          <a:p>
            <a:pPr marL="0" lvl="0" indent="0" algn="l" rtl="0">
              <a:spcBef>
                <a:spcPts val="0"/>
              </a:spcBef>
              <a:spcAft>
                <a:spcPts val="0"/>
              </a:spcAft>
              <a:buNone/>
            </a:pPr>
            <a:r>
              <a:rPr lang="en" sz="1100" b="0" i="0">
                <a:solidFill>
                  <a:srgbClr val="334155"/>
                </a:solidFill>
                <a:latin typeface="Calibri"/>
                <a:ea typeface="Calibri"/>
                <a:cs typeface="Calibri"/>
                <a:sym typeface="Calibri"/>
              </a:rPr>
              <a:t>3→4→5→6→7→8→9→10</a:t>
            </a:r>
            <a:br>
              <a:rPr lang="en" sz="1100" b="0" i="0">
                <a:solidFill>
                  <a:srgbClr val="334155"/>
                </a:solidFill>
                <a:latin typeface="Calibri"/>
                <a:ea typeface="Calibri"/>
                <a:cs typeface="Calibri"/>
                <a:sym typeface="Calibri"/>
              </a:rPr>
            </a:br>
            <a:r>
              <a:rPr lang="en" sz="1100" b="1" i="0">
                <a:solidFill>
                  <a:srgbClr val="E94560"/>
                </a:solidFill>
                <a:latin typeface="Calibri"/>
                <a:ea typeface="Calibri"/>
                <a:cs typeface="Calibri"/>
                <a:sym typeface="Calibri"/>
              </a:rPr>
              <a:t>Path length: 7</a:t>
            </a:r>
            <a:br>
              <a:rPr lang="en" sz="1100" b="0" i="0">
                <a:solidFill>
                  <a:srgbClr val="334155"/>
                </a:solidFill>
                <a:latin typeface="Calibri"/>
                <a:ea typeface="Calibri"/>
                <a:cs typeface="Calibri"/>
                <a:sym typeface="Calibri"/>
              </a:rPr>
            </a:br>
            <a:r>
              <a:rPr lang="en" sz="1100" b="0" i="0">
                <a:solidFill>
                  <a:srgbClr val="64748B"/>
                </a:solidFill>
                <a:latin typeface="Calibri"/>
                <a:ea typeface="Calibri"/>
                <a:cs typeface="Calibri"/>
                <a:sym typeface="Calibri"/>
              </a:rPr>
              <a:t>Token 3's signal must pass through 6 irrelevant intermediate states. Information dilutes with each hop.</a:t>
            </a:r>
            <a:endParaRPr sz="1100" b="0" i="0">
              <a:solidFill>
                <a:srgbClr val="334155"/>
              </a:solidFill>
              <a:latin typeface="Calibri"/>
              <a:ea typeface="Calibri"/>
              <a:cs typeface="Calibri"/>
              <a:sym typeface="Calibri"/>
            </a:endParaRPr>
          </a:p>
        </p:txBody>
      </p:sp>
      <p:sp>
        <p:nvSpPr>
          <p:cNvPr id="698" name="Google Shape;698;p32"/>
          <p:cNvSpPr/>
          <p:nvPr/>
        </p:nvSpPr>
        <p:spPr>
          <a:xfrm>
            <a:off x="4800600" y="2103120"/>
            <a:ext cx="4023300" cy="2697600"/>
          </a:xfrm>
          <a:prstGeom prst="roundRect">
            <a:avLst>
              <a:gd name="adj" fmla="val 4067"/>
            </a:avLst>
          </a:prstGeom>
          <a:solidFill>
            <a:srgbClr val="FFFFFF"/>
          </a:solidFill>
          <a:ln w="19050" cap="flat"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9" name="Google Shape;699;p32"/>
          <p:cNvSpPr/>
          <p:nvPr/>
        </p:nvSpPr>
        <p:spPr>
          <a:xfrm>
            <a:off x="4800600" y="2212848"/>
            <a:ext cx="4023300" cy="292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2C39A"/>
              </a:buClr>
              <a:buSzPts val="1600"/>
              <a:buFont typeface="Calibri"/>
              <a:buNone/>
            </a:pPr>
            <a:r>
              <a:rPr lang="en" sz="1600" b="1" i="0" u="none" strike="noStrike" cap="none">
                <a:solidFill>
                  <a:srgbClr val="02C39A"/>
                </a:solidFill>
                <a:latin typeface="Calibri"/>
                <a:ea typeface="Calibri"/>
                <a:cs typeface="Calibri"/>
                <a:sym typeface="Calibri"/>
              </a:rPr>
              <a:t>Transformer</a:t>
            </a:r>
            <a:endParaRPr sz="1600" b="0" i="0" u="none" strike="noStrike" cap="none">
              <a:solidFill>
                <a:schemeClr val="dk1"/>
              </a:solidFill>
              <a:latin typeface="Calibri"/>
              <a:ea typeface="Calibri"/>
              <a:cs typeface="Calibri"/>
              <a:sym typeface="Calibri"/>
            </a:endParaRPr>
          </a:p>
        </p:txBody>
      </p:sp>
      <p:sp>
        <p:nvSpPr>
          <p:cNvPr id="700" name="Google Shape;700;p32"/>
          <p:cNvSpPr/>
          <p:nvPr/>
        </p:nvSpPr>
        <p:spPr>
          <a:xfrm>
            <a:off x="8092440" y="2724912"/>
            <a:ext cx="402300" cy="402300"/>
          </a:xfrm>
          <a:prstGeom prst="ellipse">
            <a:avLst/>
          </a:prstGeom>
          <a:solidFill>
            <a:srgbClr val="10B981"/>
          </a:solidFill>
          <a:ln w="1270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01" name="Google Shape;701;p32"/>
          <p:cNvSpPr/>
          <p:nvPr/>
        </p:nvSpPr>
        <p:spPr>
          <a:xfrm>
            <a:off x="8092440" y="2724912"/>
            <a:ext cx="4023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10</a:t>
            </a:r>
            <a:endParaRPr sz="1100" b="0" i="0" u="none" strike="noStrike" cap="none">
              <a:solidFill>
                <a:schemeClr val="dk1"/>
              </a:solidFill>
              <a:latin typeface="Calibri"/>
              <a:ea typeface="Calibri"/>
              <a:cs typeface="Calibri"/>
              <a:sym typeface="Calibri"/>
            </a:endParaRPr>
          </a:p>
        </p:txBody>
      </p:sp>
      <p:sp>
        <p:nvSpPr>
          <p:cNvPr id="702" name="Google Shape;702;p32"/>
          <p:cNvSpPr/>
          <p:nvPr/>
        </p:nvSpPr>
        <p:spPr>
          <a:xfrm>
            <a:off x="4983480" y="2560320"/>
            <a:ext cx="402300" cy="402300"/>
          </a:xfrm>
          <a:prstGeom prst="ellipse">
            <a:avLst/>
          </a:prstGeom>
          <a:solidFill>
            <a:srgbClr val="E94560"/>
          </a:solidFill>
          <a:ln w="101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2"/>
          <p:cNvSpPr/>
          <p:nvPr/>
        </p:nvSpPr>
        <p:spPr>
          <a:xfrm>
            <a:off x="4983480" y="2560320"/>
            <a:ext cx="4023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3</a:t>
            </a:r>
            <a:endParaRPr sz="1100" b="0" i="0" u="none" strike="noStrike" cap="none">
              <a:solidFill>
                <a:schemeClr val="dk1"/>
              </a:solidFill>
              <a:latin typeface="Calibri"/>
              <a:ea typeface="Calibri"/>
              <a:cs typeface="Calibri"/>
              <a:sym typeface="Calibri"/>
            </a:endParaRPr>
          </a:p>
        </p:txBody>
      </p:sp>
      <p:cxnSp>
        <p:nvCxnSpPr>
          <p:cNvPr id="704" name="Google Shape;704;p32"/>
          <p:cNvCxnSpPr/>
          <p:nvPr/>
        </p:nvCxnSpPr>
        <p:spPr>
          <a:xfrm>
            <a:off x="5385816" y="2761488"/>
            <a:ext cx="2706600" cy="164700"/>
          </a:xfrm>
          <a:prstGeom prst="straightConnector1">
            <a:avLst/>
          </a:prstGeom>
          <a:solidFill>
            <a:srgbClr val="FFFFFF"/>
          </a:solidFill>
          <a:ln w="19050" cap="flat" cmpd="sng">
            <a:solidFill>
              <a:srgbClr val="10B981"/>
            </a:solidFill>
            <a:prstDash val="solid"/>
            <a:round/>
            <a:headEnd type="none" w="sm" len="sm"/>
            <a:tailEnd type="none" w="sm" len="sm"/>
          </a:ln>
        </p:spPr>
      </p:cxnSp>
      <p:sp>
        <p:nvSpPr>
          <p:cNvPr id="705" name="Google Shape;705;p32"/>
          <p:cNvSpPr/>
          <p:nvPr/>
        </p:nvSpPr>
        <p:spPr>
          <a:xfrm>
            <a:off x="5843016" y="2642616"/>
            <a:ext cx="640200" cy="2013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680" b="0" i="1">
                <a:solidFill>
                  <a:srgbClr val="059669"/>
                </a:solidFill>
                <a:latin typeface="Calibri"/>
                <a:ea typeface="Calibri"/>
                <a:cs typeface="Calibri"/>
                <a:sym typeface="Calibri"/>
              </a:rPr>
              <a:t>1 hop</a:t>
            </a:r>
            <a:endParaRPr sz="680" b="0" i="1">
              <a:solidFill>
                <a:srgbClr val="059669"/>
              </a:solidFill>
              <a:latin typeface="Calibri"/>
              <a:ea typeface="Calibri"/>
              <a:cs typeface="Calibri"/>
              <a:sym typeface="Calibri"/>
            </a:endParaRPr>
          </a:p>
        </p:txBody>
      </p:sp>
      <p:sp>
        <p:nvSpPr>
          <p:cNvPr id="706" name="Google Shape;706;p32"/>
          <p:cNvSpPr/>
          <p:nvPr/>
        </p:nvSpPr>
        <p:spPr>
          <a:xfrm>
            <a:off x="4983480" y="2907792"/>
            <a:ext cx="402300" cy="402300"/>
          </a:xfrm>
          <a:prstGeom prst="ellipse">
            <a:avLst/>
          </a:prstGeom>
          <a:solidFill>
            <a:srgbClr val="028090"/>
          </a:solidFill>
          <a:ln w="101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07" name="Google Shape;707;p32"/>
          <p:cNvSpPr/>
          <p:nvPr/>
        </p:nvSpPr>
        <p:spPr>
          <a:xfrm>
            <a:off x="4983480" y="2907792"/>
            <a:ext cx="4023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8</a:t>
            </a:r>
            <a:endParaRPr sz="1100" b="0" i="0" u="none" strike="noStrike" cap="none">
              <a:solidFill>
                <a:schemeClr val="dk1"/>
              </a:solidFill>
              <a:latin typeface="Calibri"/>
              <a:ea typeface="Calibri"/>
              <a:cs typeface="Calibri"/>
              <a:sym typeface="Calibri"/>
            </a:endParaRPr>
          </a:p>
        </p:txBody>
      </p:sp>
      <p:cxnSp>
        <p:nvCxnSpPr>
          <p:cNvPr id="708" name="Google Shape;708;p32"/>
          <p:cNvCxnSpPr/>
          <p:nvPr/>
        </p:nvCxnSpPr>
        <p:spPr>
          <a:xfrm rot="10800000" flipH="1">
            <a:off x="5385806" y="2925956"/>
            <a:ext cx="2706600" cy="183000"/>
          </a:xfrm>
          <a:prstGeom prst="straightConnector1">
            <a:avLst/>
          </a:prstGeom>
          <a:solidFill>
            <a:srgbClr val="FFFFFF"/>
          </a:solidFill>
          <a:ln w="19050" cap="flat" cmpd="sng">
            <a:solidFill>
              <a:srgbClr val="10B981"/>
            </a:solidFill>
            <a:prstDash val="solid"/>
            <a:round/>
            <a:headEnd type="none" w="sm" len="sm"/>
            <a:tailEnd type="none" w="sm" len="sm"/>
          </a:ln>
        </p:spPr>
      </p:cxnSp>
      <p:sp>
        <p:nvSpPr>
          <p:cNvPr id="709" name="Google Shape;709;p32"/>
          <p:cNvSpPr/>
          <p:nvPr/>
        </p:nvSpPr>
        <p:spPr>
          <a:xfrm>
            <a:off x="5843016" y="2990088"/>
            <a:ext cx="640200" cy="2013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680" b="0" i="1">
                <a:solidFill>
                  <a:srgbClr val="059669"/>
                </a:solidFill>
                <a:latin typeface="Calibri"/>
                <a:ea typeface="Calibri"/>
                <a:cs typeface="Calibri"/>
                <a:sym typeface="Calibri"/>
              </a:rPr>
              <a:t>1 hop</a:t>
            </a:r>
            <a:endParaRPr sz="680" b="0" i="1">
              <a:solidFill>
                <a:srgbClr val="059669"/>
              </a:solidFill>
              <a:latin typeface="Calibri"/>
              <a:ea typeface="Calibri"/>
              <a:cs typeface="Calibri"/>
              <a:sym typeface="Calibri"/>
            </a:endParaRPr>
          </a:p>
        </p:txBody>
      </p:sp>
      <p:sp>
        <p:nvSpPr>
          <p:cNvPr id="710" name="Google Shape;710;p32"/>
          <p:cNvSpPr/>
          <p:nvPr/>
        </p:nvSpPr>
        <p:spPr>
          <a:xfrm>
            <a:off x="4983480" y="3255264"/>
            <a:ext cx="402300" cy="402300"/>
          </a:xfrm>
          <a:prstGeom prst="ellipse">
            <a:avLst/>
          </a:prstGeom>
          <a:solidFill>
            <a:srgbClr val="028090"/>
          </a:solidFill>
          <a:ln w="101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1" name="Google Shape;711;p32"/>
          <p:cNvSpPr/>
          <p:nvPr/>
        </p:nvSpPr>
        <p:spPr>
          <a:xfrm>
            <a:off x="4983480" y="3255264"/>
            <a:ext cx="4023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9</a:t>
            </a:r>
            <a:endParaRPr sz="1100" b="0" i="0" u="none" strike="noStrike" cap="none">
              <a:solidFill>
                <a:schemeClr val="dk1"/>
              </a:solidFill>
              <a:latin typeface="Calibri"/>
              <a:ea typeface="Calibri"/>
              <a:cs typeface="Calibri"/>
              <a:sym typeface="Calibri"/>
            </a:endParaRPr>
          </a:p>
        </p:txBody>
      </p:sp>
      <p:cxnSp>
        <p:nvCxnSpPr>
          <p:cNvPr id="712" name="Google Shape;712;p32"/>
          <p:cNvCxnSpPr/>
          <p:nvPr/>
        </p:nvCxnSpPr>
        <p:spPr>
          <a:xfrm rot="10800000" flipH="1">
            <a:off x="5385806" y="2926032"/>
            <a:ext cx="2706600" cy="530400"/>
          </a:xfrm>
          <a:prstGeom prst="straightConnector1">
            <a:avLst/>
          </a:prstGeom>
          <a:solidFill>
            <a:srgbClr val="FFFFFF"/>
          </a:solidFill>
          <a:ln w="19050" cap="flat" cmpd="sng">
            <a:solidFill>
              <a:srgbClr val="10B981"/>
            </a:solidFill>
            <a:prstDash val="solid"/>
            <a:round/>
            <a:headEnd type="none" w="sm" len="sm"/>
            <a:tailEnd type="none" w="sm" len="sm"/>
          </a:ln>
        </p:spPr>
      </p:cxnSp>
      <p:sp>
        <p:nvSpPr>
          <p:cNvPr id="713" name="Google Shape;713;p32"/>
          <p:cNvSpPr/>
          <p:nvPr/>
        </p:nvSpPr>
        <p:spPr>
          <a:xfrm>
            <a:off x="5843016" y="3337560"/>
            <a:ext cx="640200" cy="2013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l" rtl="0">
              <a:spcBef>
                <a:spcPts val="0"/>
              </a:spcBef>
              <a:spcAft>
                <a:spcPts val="0"/>
              </a:spcAft>
              <a:buNone/>
            </a:pPr>
            <a:r>
              <a:rPr lang="en" sz="680" b="0" i="1">
                <a:solidFill>
                  <a:srgbClr val="059669"/>
                </a:solidFill>
                <a:latin typeface="Calibri"/>
                <a:ea typeface="Calibri"/>
                <a:cs typeface="Calibri"/>
                <a:sym typeface="Calibri"/>
              </a:rPr>
              <a:t>1 hop</a:t>
            </a:r>
            <a:endParaRPr sz="680" b="0" i="1">
              <a:solidFill>
                <a:srgbClr val="059669"/>
              </a:solidFill>
              <a:latin typeface="Calibri"/>
              <a:ea typeface="Calibri"/>
              <a:cs typeface="Calibri"/>
              <a:sym typeface="Calibri"/>
            </a:endParaRPr>
          </a:p>
        </p:txBody>
      </p:sp>
      <p:sp>
        <p:nvSpPr>
          <p:cNvPr id="714" name="Google Shape;714;p32"/>
          <p:cNvSpPr/>
          <p:nvPr/>
        </p:nvSpPr>
        <p:spPr>
          <a:xfrm>
            <a:off x="4919472" y="3767328"/>
            <a:ext cx="3749100" cy="1097400"/>
          </a:xfrm>
          <a:prstGeom prst="rect">
            <a:avLst/>
          </a:prstGeom>
          <a:solidFill>
            <a:srgbClr val="000000">
              <a:alpha val="0"/>
            </a:srgbClr>
          </a:solidFill>
          <a:ln>
            <a:noFill/>
          </a:ln>
        </p:spPr>
        <p:txBody>
          <a:bodyPr spcFirstLastPara="1" wrap="square" lIns="91400" tIns="45700" rIns="91400" bIns="45700" anchor="t" anchorCtr="0">
            <a:noAutofit/>
          </a:bodyPr>
          <a:lstStyle/>
          <a:p>
            <a:pPr marL="0" lvl="0" indent="0" algn="l" rtl="0">
              <a:spcBef>
                <a:spcPts val="0"/>
              </a:spcBef>
              <a:spcAft>
                <a:spcPts val="0"/>
              </a:spcAft>
              <a:buNone/>
            </a:pPr>
            <a:r>
              <a:rPr lang="en" sz="1100" b="0" i="0">
                <a:solidFill>
                  <a:srgbClr val="334155"/>
                </a:solidFill>
                <a:latin typeface="Calibri"/>
                <a:ea typeface="Calibri"/>
                <a:cs typeface="Calibri"/>
                <a:sym typeface="Calibri"/>
              </a:rPr>
              <a:t>3 ─────────► 10</a:t>
            </a:r>
            <a:br>
              <a:rPr lang="en" sz="1100" b="0" i="0">
                <a:solidFill>
                  <a:srgbClr val="334155"/>
                </a:solidFill>
                <a:latin typeface="Calibri"/>
                <a:ea typeface="Calibri"/>
                <a:cs typeface="Calibri"/>
                <a:sym typeface="Calibri"/>
              </a:rPr>
            </a:br>
            <a:r>
              <a:rPr lang="en" sz="1100" b="1" i="0">
                <a:solidFill>
                  <a:srgbClr val="059669"/>
                </a:solidFill>
                <a:latin typeface="Calibri"/>
                <a:ea typeface="Calibri"/>
                <a:cs typeface="Calibri"/>
                <a:sym typeface="Calibri"/>
              </a:rPr>
              <a:t>Path length: 1</a:t>
            </a:r>
            <a:br>
              <a:rPr lang="en" sz="1100" b="0" i="0">
                <a:solidFill>
                  <a:srgbClr val="334155"/>
                </a:solidFill>
                <a:latin typeface="Calibri"/>
                <a:ea typeface="Calibri"/>
                <a:cs typeface="Calibri"/>
                <a:sym typeface="Calibri"/>
              </a:rPr>
            </a:br>
            <a:r>
              <a:rPr lang="en" sz="1100" b="0" i="0">
                <a:solidFill>
                  <a:srgbClr val="64748B"/>
                </a:solidFill>
                <a:latin typeface="Calibri"/>
                <a:ea typeface="Calibri"/>
                <a:cs typeface="Calibri"/>
                <a:sym typeface="Calibri"/>
              </a:rPr>
              <a:t>Direct attention to any token regardless of distance. No intermediate states required.</a:t>
            </a:r>
            <a:endParaRPr sz="1100" b="0" i="0">
              <a:solidFill>
                <a:srgbClr val="334155"/>
              </a:solidFill>
              <a:latin typeface="Calibri"/>
              <a:ea typeface="Calibri"/>
              <a:cs typeface="Calibri"/>
              <a:sym typeface="Calibri"/>
            </a:endParaRPr>
          </a:p>
        </p:txBody>
      </p:sp>
      <p:sp>
        <p:nvSpPr>
          <p:cNvPr id="715" name="Google Shape;715;p32"/>
          <p:cNvSpPr/>
          <p:nvPr/>
        </p:nvSpPr>
        <p:spPr>
          <a:xfrm>
            <a:off x="320040" y="4754880"/>
            <a:ext cx="8503800" cy="246900"/>
          </a:xfrm>
          <a:prstGeom prst="roundRect">
            <a:avLst>
              <a:gd name="adj" fmla="val 29629"/>
            </a:avLst>
          </a:prstGeom>
          <a:solidFill>
            <a:srgbClr val="FFFBEB"/>
          </a:solidFill>
          <a:ln w="12700" cap="flat" cmpd="sng">
            <a:solidFill>
              <a:srgbClr val="D9770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6" name="Google Shape;716;p32"/>
          <p:cNvSpPr/>
          <p:nvPr/>
        </p:nvSpPr>
        <p:spPr>
          <a:xfrm>
            <a:off x="320040" y="4754880"/>
            <a:ext cx="8503800" cy="2469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 sz="1018" b="1" i="0">
                <a:solidFill>
                  <a:srgbClr val="B45309"/>
                </a:solidFill>
                <a:latin typeface="Calibri"/>
                <a:ea typeface="Calibri"/>
                <a:cs typeface="Calibri"/>
                <a:sym typeface="Calibri"/>
              </a:rPr>
              <a:t>Path length argument: </a:t>
            </a:r>
            <a:r>
              <a:rPr lang="en" sz="1018" b="0" i="0">
                <a:solidFill>
                  <a:srgbClr val="334155"/>
                </a:solidFill>
                <a:latin typeface="Calibri"/>
                <a:ea typeface="Calibri"/>
                <a:cs typeface="Calibri"/>
                <a:sym typeface="Calibri"/>
              </a:rPr>
              <a:t>LSTM solves gradient flow but not selective access. Transformers solve both by attending directly.</a:t>
            </a:r>
            <a:endParaRPr sz="1018" b="1" i="0">
              <a:solidFill>
                <a:srgbClr val="B45309"/>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33"/>
          <p:cNvSpPr/>
          <p:nvPr/>
        </p:nvSpPr>
        <p:spPr>
          <a:xfrm>
            <a:off x="132375" y="181485"/>
            <a:ext cx="82296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600"/>
              <a:buFont typeface="Calibri"/>
              <a:buNone/>
            </a:pPr>
            <a:r>
              <a:rPr lang="en" sz="2600" b="1">
                <a:solidFill>
                  <a:srgbClr val="0D1B2A"/>
                </a:solidFill>
                <a:latin typeface="Calibri"/>
                <a:ea typeface="Calibri"/>
                <a:cs typeface="Calibri"/>
                <a:sym typeface="Calibri"/>
              </a:rPr>
              <a:t>Quiz 2</a:t>
            </a:r>
            <a:endParaRPr sz="2600">
              <a:solidFill>
                <a:srgbClr val="000000"/>
              </a:solidFill>
              <a:latin typeface="Calibri"/>
              <a:ea typeface="Calibri"/>
              <a:cs typeface="Calibri"/>
              <a:sym typeface="Calibri"/>
            </a:endParaRPr>
          </a:p>
        </p:txBody>
      </p:sp>
      <p:pic>
        <p:nvPicPr>
          <p:cNvPr id="722" name="Google Shape;722;p33"/>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723" name="Google Shape;723;p33"/>
          <p:cNvSpPr txBox="1"/>
          <p:nvPr/>
        </p:nvSpPr>
        <p:spPr>
          <a:xfrm>
            <a:off x="132375" y="726775"/>
            <a:ext cx="7038000" cy="430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sz="1100">
                <a:solidFill>
                  <a:schemeClr val="dk1"/>
                </a:solidFill>
              </a:rPr>
              <a:t>An LSTM is trained to read a 2,000-word legal contract and answer questions about it. When asked:</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i="1">
                <a:solidFill>
                  <a:schemeClr val="dk1"/>
                </a:solidFill>
              </a:rPr>
              <a:t>"Who are the three parties involved in the contract, and what obligations does each party have?"</a:t>
            </a:r>
            <a:endParaRPr sz="1100" i="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a:solidFill>
                  <a:schemeClr val="dk1"/>
                </a:solidFill>
              </a:rPr>
              <a:t>the model consistently identifies two of the parties correctly but misses the third, even though all three parties are mentioned in different parts of the document.</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a:solidFill>
                  <a:schemeClr val="dk1"/>
                </a:solidFill>
              </a:rPr>
              <a:t>Which of the following is the most reasonable engineering response?</a:t>
            </a:r>
            <a:endParaRPr sz="17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700">
                <a:solidFill>
                  <a:schemeClr val="dk1"/>
                </a:solidFill>
                <a:latin typeface="Calibri"/>
                <a:ea typeface="Calibri"/>
                <a:cs typeface="Calibri"/>
                <a:sym typeface="Calibri"/>
              </a:rPr>
              <a:t>(A) Run the LSTM three times, each time asking about one party only, to reduce memory pressure.</a:t>
            </a:r>
            <a:endParaRPr sz="17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700">
                <a:solidFill>
                  <a:schemeClr val="dk1"/>
                </a:solidFill>
                <a:latin typeface="Calibri"/>
                <a:ea typeface="Calibri"/>
                <a:cs typeface="Calibri"/>
                <a:sym typeface="Calibri"/>
              </a:rPr>
              <a:t>(B) Double the hidden state size — more dimensions means more room to store all three parties.</a:t>
            </a:r>
            <a:endParaRPr sz="17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 sz="1700">
                <a:solidFill>
                  <a:schemeClr val="dk1"/>
                </a:solidFill>
                <a:latin typeface="Calibri"/>
                <a:ea typeface="Calibri"/>
                <a:cs typeface="Calibri"/>
                <a:sym typeface="Calibri"/>
              </a:rPr>
              <a:t>(C) Break the contract into three chunks and run the LSTM separately on each chunk.</a:t>
            </a:r>
            <a:endParaRPr sz="1700">
              <a:solidFill>
                <a:schemeClr val="dk1"/>
              </a:solidFill>
              <a:latin typeface="Calibri"/>
              <a:ea typeface="Calibri"/>
              <a:cs typeface="Calibri"/>
              <a:sym typeface="Calibri"/>
            </a:endParaRPr>
          </a:p>
          <a:p>
            <a:pPr marL="0" lvl="0" indent="0" algn="l" rtl="0">
              <a:lnSpc>
                <a:spcPct val="115000"/>
              </a:lnSpc>
              <a:spcBef>
                <a:spcPts val="1200"/>
              </a:spcBef>
              <a:spcAft>
                <a:spcPts val="1200"/>
              </a:spcAft>
              <a:buNone/>
            </a:pPr>
            <a:r>
              <a:rPr lang="en" sz="1700">
                <a:solidFill>
                  <a:schemeClr val="dk1"/>
                </a:solidFill>
                <a:latin typeface="Calibri"/>
                <a:ea typeface="Calibri"/>
                <a:cs typeface="Calibri"/>
                <a:sym typeface="Calibri"/>
              </a:rPr>
              <a:t>(D) None of them.</a:t>
            </a:r>
            <a:endParaRPr sz="1700">
              <a:solidFill>
                <a:schemeClr val="dk1"/>
              </a:solidFill>
              <a:latin typeface="Calibri"/>
              <a:ea typeface="Calibri"/>
              <a:cs typeface="Calibri"/>
              <a:sym typeface="Calibri"/>
            </a:endParaRPr>
          </a:p>
        </p:txBody>
      </p:sp>
      <p:pic>
        <p:nvPicPr>
          <p:cNvPr id="724" name="Google Shape;724;p33"/>
          <p:cNvPicPr preferRelativeResize="0"/>
          <p:nvPr/>
        </p:nvPicPr>
        <p:blipFill>
          <a:blip r:embed="rId4">
            <a:alphaModFix/>
          </a:blip>
          <a:stretch>
            <a:fillRect/>
          </a:stretch>
        </p:blipFill>
        <p:spPr>
          <a:xfrm>
            <a:off x="7170375" y="1019674"/>
            <a:ext cx="1821225" cy="255385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34"/>
          <p:cNvSpPr/>
          <p:nvPr/>
        </p:nvSpPr>
        <p:spPr>
          <a:xfrm>
            <a:off x="132375" y="181485"/>
            <a:ext cx="82296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600"/>
              <a:buFont typeface="Calibri"/>
              <a:buNone/>
            </a:pPr>
            <a:r>
              <a:rPr lang="en" sz="2600" b="1">
                <a:solidFill>
                  <a:srgbClr val="0D1B2A"/>
                </a:solidFill>
                <a:latin typeface="Calibri"/>
                <a:ea typeface="Calibri"/>
                <a:cs typeface="Calibri"/>
                <a:sym typeface="Calibri"/>
              </a:rPr>
              <a:t>Quiz 2</a:t>
            </a:r>
            <a:endParaRPr sz="2600">
              <a:solidFill>
                <a:srgbClr val="000000"/>
              </a:solidFill>
              <a:latin typeface="Calibri"/>
              <a:ea typeface="Calibri"/>
              <a:cs typeface="Calibri"/>
              <a:sym typeface="Calibri"/>
            </a:endParaRPr>
          </a:p>
        </p:txBody>
      </p:sp>
      <p:pic>
        <p:nvPicPr>
          <p:cNvPr id="730" name="Google Shape;730;p34"/>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731" name="Google Shape;731;p34"/>
          <p:cNvSpPr txBox="1"/>
          <p:nvPr/>
        </p:nvSpPr>
        <p:spPr>
          <a:xfrm>
            <a:off x="132375" y="741950"/>
            <a:ext cx="7038000" cy="430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sz="1100">
                <a:solidFill>
                  <a:schemeClr val="dk1"/>
                </a:solidFill>
              </a:rPr>
              <a:t>An LSTM is trained to read a 2,000-word legal contract and answer questions about it. When asked:</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i="1">
                <a:solidFill>
                  <a:schemeClr val="dk1"/>
                </a:solidFill>
              </a:rPr>
              <a:t>"Who are the three parties involved in the contract, and what obligations does each party have?"</a:t>
            </a:r>
            <a:endParaRPr sz="1100" i="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a:solidFill>
                  <a:schemeClr val="dk1"/>
                </a:solidFill>
              </a:rPr>
              <a:t>the model consistently identifies two of the parties correctly but misses the third, even though all three parties are mentioned in different parts of the document.</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a:solidFill>
                  <a:schemeClr val="dk1"/>
                </a:solidFill>
              </a:rPr>
              <a:t>Which of the following is the most reasonable engineering response?</a:t>
            </a:r>
            <a:endParaRPr sz="17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700">
                <a:solidFill>
                  <a:schemeClr val="dk1"/>
                </a:solidFill>
                <a:latin typeface="Calibri"/>
                <a:ea typeface="Calibri"/>
                <a:cs typeface="Calibri"/>
                <a:sym typeface="Calibri"/>
              </a:rPr>
              <a:t>(A) Run the LSTM three times, each time asking about one party only, to reduce memory pressure. (Engineering Work Around)</a:t>
            </a:r>
            <a:endParaRPr sz="17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700">
                <a:solidFill>
                  <a:schemeClr val="dk1"/>
                </a:solidFill>
                <a:latin typeface="Calibri"/>
                <a:ea typeface="Calibri"/>
                <a:cs typeface="Calibri"/>
                <a:sym typeface="Calibri"/>
              </a:rPr>
              <a:t>(B) Double the hidden state size — more dimensions means more room to store all three parties. (scaling the existing architecture)</a:t>
            </a:r>
            <a:endParaRPr sz="1700">
              <a:solidFill>
                <a:schemeClr val="dk1"/>
              </a:solidFill>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 sz="1700">
                <a:solidFill>
                  <a:schemeClr val="dk1"/>
                </a:solidFill>
                <a:latin typeface="Calibri"/>
                <a:ea typeface="Calibri"/>
                <a:cs typeface="Calibri"/>
                <a:sym typeface="Calibri"/>
              </a:rPr>
              <a:t>(C) Break the contract into three chunks and run the LSTM separately on each chunk. (preprocessing trick)</a:t>
            </a:r>
            <a:endParaRPr sz="1700">
              <a:solidFill>
                <a:schemeClr val="dk1"/>
              </a:solidFill>
              <a:latin typeface="Calibri"/>
              <a:ea typeface="Calibri"/>
              <a:cs typeface="Calibri"/>
              <a:sym typeface="Calibri"/>
            </a:endParaRPr>
          </a:p>
          <a:p>
            <a:pPr marL="0" lvl="0" indent="0" algn="l" rtl="0">
              <a:lnSpc>
                <a:spcPct val="115000"/>
              </a:lnSpc>
              <a:spcBef>
                <a:spcPts val="1200"/>
              </a:spcBef>
              <a:spcAft>
                <a:spcPts val="1200"/>
              </a:spcAft>
              <a:buClr>
                <a:schemeClr val="dk1"/>
              </a:buClr>
              <a:buSzPts val="1100"/>
              <a:buFont typeface="Arial"/>
              <a:buNone/>
            </a:pPr>
            <a:r>
              <a:rPr lang="en" sz="1700">
                <a:solidFill>
                  <a:schemeClr val="dk1"/>
                </a:solidFill>
                <a:latin typeface="Calibri"/>
                <a:ea typeface="Calibri"/>
                <a:cs typeface="Calibri"/>
                <a:sym typeface="Calibri"/>
              </a:rPr>
              <a:t>(D) None of them.               </a:t>
            </a:r>
            <a:r>
              <a:rPr lang="en" sz="1700" b="1">
                <a:solidFill>
                  <a:schemeClr val="dk1"/>
                </a:solidFill>
                <a:latin typeface="Calibri"/>
                <a:ea typeface="Calibri"/>
                <a:cs typeface="Calibri"/>
                <a:sym typeface="Calibri"/>
              </a:rPr>
              <a:t>(Architectural Redesign)</a:t>
            </a:r>
            <a:endParaRPr sz="1100">
              <a:solidFill>
                <a:schemeClr val="dk1"/>
              </a:solidFill>
            </a:endParaRPr>
          </a:p>
        </p:txBody>
      </p:sp>
      <p:sp>
        <p:nvSpPr>
          <p:cNvPr id="732" name="Google Shape;732;p34"/>
          <p:cNvSpPr txBox="1"/>
          <p:nvPr/>
        </p:nvSpPr>
        <p:spPr>
          <a:xfrm>
            <a:off x="1857056" y="4567463"/>
            <a:ext cx="509700" cy="44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700">
                <a:solidFill>
                  <a:schemeClr val="dk1"/>
                </a:solidFill>
                <a:latin typeface="Calibri"/>
                <a:ea typeface="Calibri"/>
                <a:cs typeface="Calibri"/>
                <a:sym typeface="Calibri"/>
              </a:rPr>
              <a:t>✅</a:t>
            </a:r>
            <a:endParaRPr/>
          </a:p>
        </p:txBody>
      </p:sp>
      <p:pic>
        <p:nvPicPr>
          <p:cNvPr id="733" name="Google Shape;733;p34"/>
          <p:cNvPicPr preferRelativeResize="0"/>
          <p:nvPr/>
        </p:nvPicPr>
        <p:blipFill>
          <a:blip r:embed="rId4">
            <a:alphaModFix/>
          </a:blip>
          <a:stretch>
            <a:fillRect/>
          </a:stretch>
        </p:blipFill>
        <p:spPr>
          <a:xfrm>
            <a:off x="7170375" y="1019674"/>
            <a:ext cx="1821225" cy="255385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35"/>
          <p:cNvSpPr/>
          <p:nvPr/>
        </p:nvSpPr>
        <p:spPr>
          <a:xfrm>
            <a:off x="132375" y="181485"/>
            <a:ext cx="82296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600"/>
              <a:buFont typeface="Calibri"/>
              <a:buNone/>
            </a:pPr>
            <a:r>
              <a:rPr lang="en" sz="2600" b="1">
                <a:solidFill>
                  <a:srgbClr val="0D1B2A"/>
                </a:solidFill>
                <a:latin typeface="Calibri"/>
                <a:ea typeface="Calibri"/>
                <a:cs typeface="Calibri"/>
                <a:sym typeface="Calibri"/>
              </a:rPr>
              <a:t>Quiz 2 (Explanation)</a:t>
            </a:r>
            <a:endParaRPr sz="2600">
              <a:solidFill>
                <a:srgbClr val="000000"/>
              </a:solidFill>
              <a:latin typeface="Calibri"/>
              <a:ea typeface="Calibri"/>
              <a:cs typeface="Calibri"/>
              <a:sym typeface="Calibri"/>
            </a:endParaRPr>
          </a:p>
        </p:txBody>
      </p:sp>
      <p:pic>
        <p:nvPicPr>
          <p:cNvPr id="739" name="Google Shape;739;p35"/>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740" name="Google Shape;740;p35"/>
          <p:cNvSpPr txBox="1"/>
          <p:nvPr/>
        </p:nvSpPr>
        <p:spPr>
          <a:xfrm>
            <a:off x="99475" y="916425"/>
            <a:ext cx="7038000" cy="4464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1200"/>
              </a:spcBef>
              <a:spcAft>
                <a:spcPts val="1200"/>
              </a:spcAft>
              <a:buNone/>
            </a:pPr>
            <a:endParaRPr sz="1700">
              <a:solidFill>
                <a:schemeClr val="dk1"/>
              </a:solidFill>
              <a:latin typeface="Calibri"/>
              <a:ea typeface="Calibri"/>
              <a:cs typeface="Calibri"/>
              <a:sym typeface="Calibri"/>
            </a:endParaRPr>
          </a:p>
        </p:txBody>
      </p:sp>
      <p:sp>
        <p:nvSpPr>
          <p:cNvPr id="741" name="Google Shape;741;p35"/>
          <p:cNvSpPr/>
          <p:nvPr/>
        </p:nvSpPr>
        <p:spPr>
          <a:xfrm>
            <a:off x="411480" y="1024128"/>
            <a:ext cx="8321100" cy="1188600"/>
          </a:xfrm>
          <a:prstGeom prst="roundRect">
            <a:avLst>
              <a:gd name="adj" fmla="val 7692"/>
            </a:avLst>
          </a:prstGeom>
          <a:solidFill>
            <a:srgbClr val="FFFFFF"/>
          </a:solidFill>
          <a:ln w="9525" cap="flat" cmpd="sng">
            <a:solidFill>
              <a:srgbClr val="F0C5C2"/>
            </a:solidFill>
            <a:prstDash val="solid"/>
            <a:round/>
            <a:headEnd type="none" w="sm" len="sm"/>
            <a:tailEnd type="none" w="sm" len="sm"/>
          </a:ln>
          <a:effectLst>
            <a:outerShdw blurRad="101600" dist="25400" dir="27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5"/>
          <p:cNvSpPr/>
          <p:nvPr/>
        </p:nvSpPr>
        <p:spPr>
          <a:xfrm>
            <a:off x="411480" y="1024128"/>
            <a:ext cx="868800" cy="1188600"/>
          </a:xfrm>
          <a:prstGeom prst="roundRect">
            <a:avLst>
              <a:gd name="adj" fmla="val 10526"/>
            </a:avLst>
          </a:prstGeom>
          <a:solidFill>
            <a:srgbClr val="FDECEA"/>
          </a:solidFill>
          <a:ln w="12700" cap="flat" cmpd="sng">
            <a:solidFill>
              <a:srgbClr val="FDEC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5"/>
          <p:cNvSpPr/>
          <p:nvPr/>
        </p:nvSpPr>
        <p:spPr>
          <a:xfrm>
            <a:off x="411480" y="1115568"/>
            <a:ext cx="868800" cy="100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0392B"/>
              </a:buClr>
              <a:buSzPts val="3400"/>
              <a:buFont typeface="Calibri"/>
              <a:buNone/>
            </a:pPr>
            <a:r>
              <a:rPr lang="en" sz="3400" b="1" i="0" u="none" strike="noStrike" cap="none">
                <a:solidFill>
                  <a:srgbClr val="C0392B"/>
                </a:solidFill>
                <a:latin typeface="Calibri"/>
                <a:ea typeface="Calibri"/>
                <a:cs typeface="Calibri"/>
                <a:sym typeface="Calibri"/>
              </a:rPr>
              <a:t>A</a:t>
            </a:r>
            <a:endParaRPr sz="3400" b="0" i="0" u="none" strike="noStrike" cap="none">
              <a:solidFill>
                <a:srgbClr val="000000"/>
              </a:solidFill>
              <a:latin typeface="Calibri"/>
              <a:ea typeface="Calibri"/>
              <a:cs typeface="Calibri"/>
              <a:sym typeface="Calibri"/>
            </a:endParaRPr>
          </a:p>
        </p:txBody>
      </p:sp>
      <p:pic>
        <p:nvPicPr>
          <p:cNvPr id="744" name="Google Shape;744;p35" descr="preencoded.png"/>
          <p:cNvPicPr preferRelativeResize="0"/>
          <p:nvPr/>
        </p:nvPicPr>
        <p:blipFill rotWithShape="1">
          <a:blip r:embed="rId4">
            <a:alphaModFix/>
          </a:blip>
          <a:srcRect/>
          <a:stretch/>
        </p:blipFill>
        <p:spPr>
          <a:xfrm>
            <a:off x="1371600" y="1179576"/>
            <a:ext cx="256032" cy="256032"/>
          </a:xfrm>
          <a:prstGeom prst="rect">
            <a:avLst/>
          </a:prstGeom>
          <a:noFill/>
          <a:ln>
            <a:noFill/>
          </a:ln>
        </p:spPr>
      </p:pic>
      <p:sp>
        <p:nvSpPr>
          <p:cNvPr id="745" name="Google Shape;745;p35"/>
          <p:cNvSpPr/>
          <p:nvPr/>
        </p:nvSpPr>
        <p:spPr>
          <a:xfrm>
            <a:off x="1719072" y="1133856"/>
            <a:ext cx="67665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0392B"/>
              </a:buClr>
              <a:buSzPts val="1300"/>
              <a:buFont typeface="Calibri"/>
              <a:buNone/>
            </a:pPr>
            <a:r>
              <a:rPr lang="en" sz="1300" b="1" i="0" u="none" strike="noStrike" cap="none">
                <a:solidFill>
                  <a:srgbClr val="C0392B"/>
                </a:solidFill>
                <a:latin typeface="Calibri"/>
                <a:ea typeface="Calibri"/>
                <a:cs typeface="Calibri"/>
                <a:sym typeface="Calibri"/>
              </a:rPr>
              <a:t>Run the LSTM three times, once per party</a:t>
            </a:r>
            <a:endParaRPr sz="1300" b="0" i="0" u="none" strike="noStrike" cap="none">
              <a:solidFill>
                <a:srgbClr val="000000"/>
              </a:solidFill>
              <a:latin typeface="Calibri"/>
              <a:ea typeface="Calibri"/>
              <a:cs typeface="Calibri"/>
              <a:sym typeface="Calibri"/>
            </a:endParaRPr>
          </a:p>
        </p:txBody>
      </p:sp>
      <p:sp>
        <p:nvSpPr>
          <p:cNvPr id="746" name="Google Shape;746;p35"/>
          <p:cNvSpPr/>
          <p:nvPr/>
        </p:nvSpPr>
        <p:spPr>
          <a:xfrm>
            <a:off x="1719072" y="1444752"/>
            <a:ext cx="6766500" cy="69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200"/>
              <a:buFont typeface="Calibri"/>
              <a:buNone/>
            </a:pPr>
            <a:r>
              <a:rPr lang="en" sz="1200" b="0" i="0" u="none" strike="noStrike" cap="none">
                <a:solidFill>
                  <a:srgbClr val="1E293B"/>
                </a:solidFill>
                <a:latin typeface="Calibri"/>
                <a:ea typeface="Calibri"/>
                <a:cs typeface="Calibri"/>
                <a:sym typeface="Calibri"/>
              </a:rPr>
              <a:t>This changes the task entirely. In a real pipeline you cannot always re-run the model with different questions</a:t>
            </a:r>
            <a:r>
              <a:rPr lang="en" sz="1200">
                <a:solidFill>
                  <a:srgbClr val="1E293B"/>
                </a:solidFill>
                <a:latin typeface="Calibri"/>
                <a:ea typeface="Calibri"/>
                <a:cs typeface="Calibri"/>
                <a:sym typeface="Calibri"/>
              </a:rPr>
              <a:t>:</a:t>
            </a:r>
            <a:r>
              <a:rPr lang="en" sz="1200" b="0" i="0" u="none" strike="noStrike" cap="none">
                <a:solidFill>
                  <a:srgbClr val="1E293B"/>
                </a:solidFill>
                <a:latin typeface="Calibri"/>
                <a:ea typeface="Calibri"/>
                <a:cs typeface="Calibri"/>
                <a:sym typeface="Calibri"/>
              </a:rPr>
              <a:t> the input may not be available again, the pipeline runs in real-time, and you still haven't fixed the underlying memory problem. It patches one question, not the architecture.</a:t>
            </a:r>
            <a:endParaRPr sz="1200" b="0" i="0" u="none" strike="noStrike" cap="none">
              <a:solidFill>
                <a:srgbClr val="000000"/>
              </a:solidFill>
              <a:latin typeface="Calibri"/>
              <a:ea typeface="Calibri"/>
              <a:cs typeface="Calibri"/>
              <a:sym typeface="Calibri"/>
            </a:endParaRPr>
          </a:p>
        </p:txBody>
      </p:sp>
      <p:sp>
        <p:nvSpPr>
          <p:cNvPr id="747" name="Google Shape;747;p35"/>
          <p:cNvSpPr/>
          <p:nvPr/>
        </p:nvSpPr>
        <p:spPr>
          <a:xfrm>
            <a:off x="411480" y="2359152"/>
            <a:ext cx="8321100" cy="1188600"/>
          </a:xfrm>
          <a:prstGeom prst="roundRect">
            <a:avLst>
              <a:gd name="adj" fmla="val 7692"/>
            </a:avLst>
          </a:prstGeom>
          <a:solidFill>
            <a:srgbClr val="FFFFFF"/>
          </a:solidFill>
          <a:ln w="9525" cap="flat" cmpd="sng">
            <a:solidFill>
              <a:srgbClr val="F0C5C2"/>
            </a:solidFill>
            <a:prstDash val="solid"/>
            <a:round/>
            <a:headEnd type="none" w="sm" len="sm"/>
            <a:tailEnd type="none" w="sm" len="sm"/>
          </a:ln>
          <a:effectLst>
            <a:outerShdw blurRad="101600" dist="25400" dir="27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5"/>
          <p:cNvSpPr/>
          <p:nvPr/>
        </p:nvSpPr>
        <p:spPr>
          <a:xfrm>
            <a:off x="411480" y="2359152"/>
            <a:ext cx="868800" cy="1188600"/>
          </a:xfrm>
          <a:prstGeom prst="roundRect">
            <a:avLst>
              <a:gd name="adj" fmla="val 10526"/>
            </a:avLst>
          </a:prstGeom>
          <a:solidFill>
            <a:srgbClr val="FDECEA"/>
          </a:solidFill>
          <a:ln w="12700" cap="flat" cmpd="sng">
            <a:solidFill>
              <a:srgbClr val="FDEC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5"/>
          <p:cNvSpPr/>
          <p:nvPr/>
        </p:nvSpPr>
        <p:spPr>
          <a:xfrm>
            <a:off x="411480" y="2450592"/>
            <a:ext cx="868800" cy="100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0392B"/>
              </a:buClr>
              <a:buSzPts val="3400"/>
              <a:buFont typeface="Calibri"/>
              <a:buNone/>
            </a:pPr>
            <a:r>
              <a:rPr lang="en" sz="3400" b="1" i="0" u="none" strike="noStrike" cap="none">
                <a:solidFill>
                  <a:srgbClr val="C0392B"/>
                </a:solidFill>
                <a:latin typeface="Calibri"/>
                <a:ea typeface="Calibri"/>
                <a:cs typeface="Calibri"/>
                <a:sym typeface="Calibri"/>
              </a:rPr>
              <a:t>B</a:t>
            </a:r>
            <a:endParaRPr sz="3400" b="0" i="0" u="none" strike="noStrike" cap="none">
              <a:solidFill>
                <a:srgbClr val="000000"/>
              </a:solidFill>
              <a:latin typeface="Calibri"/>
              <a:ea typeface="Calibri"/>
              <a:cs typeface="Calibri"/>
              <a:sym typeface="Calibri"/>
            </a:endParaRPr>
          </a:p>
        </p:txBody>
      </p:sp>
      <p:pic>
        <p:nvPicPr>
          <p:cNvPr id="750" name="Google Shape;750;p35" descr="preencoded.png"/>
          <p:cNvPicPr preferRelativeResize="0"/>
          <p:nvPr/>
        </p:nvPicPr>
        <p:blipFill rotWithShape="1">
          <a:blip r:embed="rId4">
            <a:alphaModFix/>
          </a:blip>
          <a:srcRect/>
          <a:stretch/>
        </p:blipFill>
        <p:spPr>
          <a:xfrm>
            <a:off x="1371600" y="2514600"/>
            <a:ext cx="256032" cy="256032"/>
          </a:xfrm>
          <a:prstGeom prst="rect">
            <a:avLst/>
          </a:prstGeom>
          <a:noFill/>
          <a:ln>
            <a:noFill/>
          </a:ln>
        </p:spPr>
      </p:pic>
      <p:sp>
        <p:nvSpPr>
          <p:cNvPr id="751" name="Google Shape;751;p35"/>
          <p:cNvSpPr/>
          <p:nvPr/>
        </p:nvSpPr>
        <p:spPr>
          <a:xfrm>
            <a:off x="1719072" y="2468880"/>
            <a:ext cx="67665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0392B"/>
              </a:buClr>
              <a:buSzPts val="1300"/>
              <a:buFont typeface="Calibri"/>
              <a:buNone/>
            </a:pPr>
            <a:r>
              <a:rPr lang="en" sz="1300" b="1" i="0" u="none" strike="noStrike" cap="none">
                <a:solidFill>
                  <a:srgbClr val="C0392B"/>
                </a:solidFill>
                <a:latin typeface="Calibri"/>
                <a:ea typeface="Calibri"/>
                <a:cs typeface="Calibri"/>
                <a:sym typeface="Calibri"/>
              </a:rPr>
              <a:t>Double the hidden state size</a:t>
            </a:r>
            <a:endParaRPr sz="1300" b="0" i="0" u="none" strike="noStrike" cap="none">
              <a:solidFill>
                <a:srgbClr val="000000"/>
              </a:solidFill>
              <a:latin typeface="Calibri"/>
              <a:ea typeface="Calibri"/>
              <a:cs typeface="Calibri"/>
              <a:sym typeface="Calibri"/>
            </a:endParaRPr>
          </a:p>
        </p:txBody>
      </p:sp>
      <p:sp>
        <p:nvSpPr>
          <p:cNvPr id="752" name="Google Shape;752;p35"/>
          <p:cNvSpPr/>
          <p:nvPr/>
        </p:nvSpPr>
        <p:spPr>
          <a:xfrm>
            <a:off x="1719072" y="2779776"/>
            <a:ext cx="6766500" cy="69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200"/>
              <a:buFont typeface="Calibri"/>
              <a:buNone/>
            </a:pPr>
            <a:r>
              <a:rPr lang="en" sz="1200" b="0" i="0" u="none" strike="noStrike" cap="none">
                <a:solidFill>
                  <a:srgbClr val="1E293B"/>
                </a:solidFill>
                <a:latin typeface="Calibri"/>
                <a:ea typeface="Calibri"/>
                <a:cs typeface="Calibri"/>
                <a:sym typeface="Calibri"/>
              </a:rPr>
              <a:t>More dimensions give more room, but the hidden state is still a single compressed vector that must represent everything at once. Compression always loses information. At 2,000 words, even a 1024-dimension vector will still drop early content</a:t>
            </a:r>
            <a:r>
              <a:rPr lang="en" sz="1200">
                <a:solidFill>
                  <a:srgbClr val="1E293B"/>
                </a:solidFill>
                <a:latin typeface="Calibri"/>
                <a:ea typeface="Calibri"/>
                <a:cs typeface="Calibri"/>
                <a:sym typeface="Calibri"/>
              </a:rPr>
              <a:t>:</a:t>
            </a:r>
            <a:r>
              <a:rPr lang="en" sz="1200" b="0" i="0" u="none" strike="noStrike" cap="none">
                <a:solidFill>
                  <a:srgbClr val="1E293B"/>
                </a:solidFill>
                <a:latin typeface="Calibri"/>
                <a:ea typeface="Calibri"/>
                <a:cs typeface="Calibri"/>
                <a:sym typeface="Calibri"/>
              </a:rPr>
              <a:t> you are making the bottle bigger, not removing the bottleneck.</a:t>
            </a:r>
            <a:endParaRPr sz="1200" b="0" i="0" u="none" strike="noStrike" cap="none">
              <a:solidFill>
                <a:srgbClr val="000000"/>
              </a:solidFill>
              <a:latin typeface="Calibri"/>
              <a:ea typeface="Calibri"/>
              <a:cs typeface="Calibri"/>
              <a:sym typeface="Calibri"/>
            </a:endParaRPr>
          </a:p>
        </p:txBody>
      </p:sp>
      <p:sp>
        <p:nvSpPr>
          <p:cNvPr id="753" name="Google Shape;753;p35"/>
          <p:cNvSpPr/>
          <p:nvPr/>
        </p:nvSpPr>
        <p:spPr>
          <a:xfrm>
            <a:off x="411480" y="3694176"/>
            <a:ext cx="8321100" cy="1188600"/>
          </a:xfrm>
          <a:prstGeom prst="roundRect">
            <a:avLst>
              <a:gd name="adj" fmla="val 7692"/>
            </a:avLst>
          </a:prstGeom>
          <a:solidFill>
            <a:srgbClr val="FFFFFF"/>
          </a:solidFill>
          <a:ln w="9525" cap="flat" cmpd="sng">
            <a:solidFill>
              <a:srgbClr val="F0C5C2"/>
            </a:solidFill>
            <a:prstDash val="solid"/>
            <a:round/>
            <a:headEnd type="none" w="sm" len="sm"/>
            <a:tailEnd type="none" w="sm" len="sm"/>
          </a:ln>
          <a:effectLst>
            <a:outerShdw blurRad="101600" dist="25400" dir="27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5"/>
          <p:cNvSpPr/>
          <p:nvPr/>
        </p:nvSpPr>
        <p:spPr>
          <a:xfrm>
            <a:off x="411480" y="3694176"/>
            <a:ext cx="868800" cy="1188600"/>
          </a:xfrm>
          <a:prstGeom prst="roundRect">
            <a:avLst>
              <a:gd name="adj" fmla="val 10526"/>
            </a:avLst>
          </a:prstGeom>
          <a:solidFill>
            <a:srgbClr val="FDECEA"/>
          </a:solidFill>
          <a:ln w="12700" cap="flat" cmpd="sng">
            <a:solidFill>
              <a:srgbClr val="FDEC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5"/>
          <p:cNvSpPr/>
          <p:nvPr/>
        </p:nvSpPr>
        <p:spPr>
          <a:xfrm>
            <a:off x="411480" y="3785616"/>
            <a:ext cx="868800" cy="100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0392B"/>
              </a:buClr>
              <a:buSzPts val="3400"/>
              <a:buFont typeface="Calibri"/>
              <a:buNone/>
            </a:pPr>
            <a:r>
              <a:rPr lang="en" sz="3400" b="1" i="0" u="none" strike="noStrike" cap="none">
                <a:solidFill>
                  <a:srgbClr val="C0392B"/>
                </a:solidFill>
                <a:latin typeface="Calibri"/>
                <a:ea typeface="Calibri"/>
                <a:cs typeface="Calibri"/>
                <a:sym typeface="Calibri"/>
              </a:rPr>
              <a:t>C</a:t>
            </a:r>
            <a:endParaRPr sz="3400" b="0" i="0" u="none" strike="noStrike" cap="none">
              <a:solidFill>
                <a:srgbClr val="000000"/>
              </a:solidFill>
              <a:latin typeface="Calibri"/>
              <a:ea typeface="Calibri"/>
              <a:cs typeface="Calibri"/>
              <a:sym typeface="Calibri"/>
            </a:endParaRPr>
          </a:p>
        </p:txBody>
      </p:sp>
      <p:pic>
        <p:nvPicPr>
          <p:cNvPr id="756" name="Google Shape;756;p35" descr="preencoded.png"/>
          <p:cNvPicPr preferRelativeResize="0"/>
          <p:nvPr/>
        </p:nvPicPr>
        <p:blipFill rotWithShape="1">
          <a:blip r:embed="rId4">
            <a:alphaModFix/>
          </a:blip>
          <a:srcRect/>
          <a:stretch/>
        </p:blipFill>
        <p:spPr>
          <a:xfrm>
            <a:off x="1371600" y="3849624"/>
            <a:ext cx="256032" cy="256032"/>
          </a:xfrm>
          <a:prstGeom prst="rect">
            <a:avLst/>
          </a:prstGeom>
          <a:noFill/>
          <a:ln>
            <a:noFill/>
          </a:ln>
        </p:spPr>
      </p:pic>
      <p:sp>
        <p:nvSpPr>
          <p:cNvPr id="757" name="Google Shape;757;p35"/>
          <p:cNvSpPr/>
          <p:nvPr/>
        </p:nvSpPr>
        <p:spPr>
          <a:xfrm>
            <a:off x="1719072" y="3803904"/>
            <a:ext cx="67665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0392B"/>
              </a:buClr>
              <a:buSzPts val="1300"/>
              <a:buFont typeface="Calibri"/>
              <a:buNone/>
            </a:pPr>
            <a:r>
              <a:rPr lang="en" sz="1300" b="1" i="0" u="none" strike="noStrike" cap="none">
                <a:solidFill>
                  <a:srgbClr val="C0392B"/>
                </a:solidFill>
                <a:latin typeface="Calibri"/>
                <a:ea typeface="Calibri"/>
                <a:cs typeface="Calibri"/>
                <a:sym typeface="Calibri"/>
              </a:rPr>
              <a:t>Break the contract into three chunks</a:t>
            </a:r>
            <a:endParaRPr sz="1300" b="0" i="0" u="none" strike="noStrike" cap="none">
              <a:solidFill>
                <a:srgbClr val="000000"/>
              </a:solidFill>
              <a:latin typeface="Calibri"/>
              <a:ea typeface="Calibri"/>
              <a:cs typeface="Calibri"/>
              <a:sym typeface="Calibri"/>
            </a:endParaRPr>
          </a:p>
        </p:txBody>
      </p:sp>
      <p:sp>
        <p:nvSpPr>
          <p:cNvPr id="758" name="Google Shape;758;p35"/>
          <p:cNvSpPr/>
          <p:nvPr/>
        </p:nvSpPr>
        <p:spPr>
          <a:xfrm>
            <a:off x="1719072" y="4114800"/>
            <a:ext cx="6766500" cy="69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200"/>
              <a:buFont typeface="Calibri"/>
              <a:buNone/>
            </a:pPr>
            <a:r>
              <a:rPr lang="en" sz="1200" b="0" i="0" u="none" strike="noStrike" cap="none">
                <a:solidFill>
                  <a:srgbClr val="1E293B"/>
                </a:solidFill>
                <a:latin typeface="Calibri"/>
                <a:ea typeface="Calibri"/>
                <a:cs typeface="Calibri"/>
                <a:sym typeface="Calibri"/>
              </a:rPr>
              <a:t>This destroys cross-chunk context. Party 3 may be defined in chunk 1 and their obligation described in chunk 3. Running each chunk independently means the model never sees the full picture:  it is like solving a puzzle with the pieces in separate rooms.</a:t>
            </a:r>
            <a:endParaRPr sz="1200" b="0" i="0" u="none" strike="noStrike" cap="non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63"/>
        <p:cNvGrpSpPr/>
        <p:nvPr/>
      </p:nvGrpSpPr>
      <p:grpSpPr>
        <a:xfrm>
          <a:off x="0" y="0"/>
          <a:ext cx="0" cy="0"/>
          <a:chOff x="0" y="0"/>
          <a:chExt cx="0" cy="0"/>
        </a:xfrm>
      </p:grpSpPr>
      <p:sp>
        <p:nvSpPr>
          <p:cNvPr id="764" name="Google Shape;764;p36"/>
          <p:cNvSpPr/>
          <p:nvPr/>
        </p:nvSpPr>
        <p:spPr>
          <a:xfrm>
            <a:off x="0" y="0"/>
            <a:ext cx="109800" cy="5143500"/>
          </a:xfrm>
          <a:prstGeom prst="rect">
            <a:avLst/>
          </a:prstGeom>
          <a:solidFill>
            <a:srgbClr val="0077AA"/>
          </a:solidFill>
          <a:ln w="12700" cap="flat" cmpd="sng">
            <a:solidFill>
              <a:srgbClr val="0077A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5" name="Google Shape;765;p36"/>
          <p:cNvSpPr/>
          <p:nvPr/>
        </p:nvSpPr>
        <p:spPr>
          <a:xfrm>
            <a:off x="320040" y="1280160"/>
            <a:ext cx="8503800" cy="1463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1F26"/>
              </a:buClr>
              <a:buSzPts val="5200"/>
              <a:buFont typeface="Calibri"/>
              <a:buNone/>
            </a:pPr>
            <a:r>
              <a:rPr lang="en" sz="4400" b="1" i="0" u="none" strike="noStrike" cap="none">
                <a:solidFill>
                  <a:srgbClr val="1A1F26"/>
                </a:solidFill>
                <a:latin typeface="Calibri"/>
                <a:ea typeface="Calibri"/>
                <a:cs typeface="Calibri"/>
                <a:sym typeface="Calibri"/>
              </a:rPr>
              <a:t>ELMo &amp; BiLSTM</a:t>
            </a:r>
            <a:endParaRPr sz="4400" b="0" i="0" u="none" strike="noStrike" cap="none">
              <a:solidFill>
                <a:schemeClr val="dk1"/>
              </a:solidFill>
              <a:latin typeface="Calibri"/>
              <a:ea typeface="Calibri"/>
              <a:cs typeface="Calibri"/>
              <a:sym typeface="Calibri"/>
            </a:endParaRPr>
          </a:p>
        </p:txBody>
      </p:sp>
      <p:sp>
        <p:nvSpPr>
          <p:cNvPr id="766" name="Google Shape;766;p36"/>
          <p:cNvSpPr/>
          <p:nvPr/>
        </p:nvSpPr>
        <p:spPr>
          <a:xfrm>
            <a:off x="320040" y="2834640"/>
            <a:ext cx="8503800" cy="731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2000"/>
              <a:buFont typeface="Calibri"/>
              <a:buNone/>
            </a:pPr>
            <a:r>
              <a:rPr lang="en" sz="2000" b="0" i="0" u="none" strike="noStrike" cap="none">
                <a:solidFill>
                  <a:schemeClr val="dk1"/>
                </a:solidFill>
                <a:latin typeface="Calibri"/>
                <a:ea typeface="Calibri"/>
                <a:cs typeface="Calibri"/>
                <a:sym typeface="Calibri"/>
              </a:rPr>
              <a:t>Contextual embeddings — same word, different vectors</a:t>
            </a:r>
            <a:endParaRPr sz="2000" b="0" i="0" u="none" strike="noStrike" cap="none">
              <a:solidFill>
                <a:schemeClr val="dk1"/>
              </a:solidFill>
              <a:latin typeface="Calibri"/>
              <a:ea typeface="Calibri"/>
              <a:cs typeface="Calibri"/>
              <a:sym typeface="Calibri"/>
            </a:endParaRPr>
          </a:p>
        </p:txBody>
      </p:sp>
      <p:sp>
        <p:nvSpPr>
          <p:cNvPr id="767" name="Google Shape;767;p36"/>
          <p:cNvSpPr/>
          <p:nvPr/>
        </p:nvSpPr>
        <p:spPr>
          <a:xfrm>
            <a:off x="320040" y="4389120"/>
            <a:ext cx="109800" cy="109800"/>
          </a:xfrm>
          <a:prstGeom prst="ellipse">
            <a:avLst/>
          </a:prstGeom>
          <a:solidFill>
            <a:srgbClr val="0077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8" name="Google Shape;768;p36"/>
          <p:cNvSpPr/>
          <p:nvPr/>
        </p:nvSpPr>
        <p:spPr>
          <a:xfrm>
            <a:off x="64008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9" name="Google Shape;769;p36"/>
          <p:cNvSpPr/>
          <p:nvPr/>
        </p:nvSpPr>
        <p:spPr>
          <a:xfrm>
            <a:off x="96012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0" name="Google Shape;770;p36"/>
          <p:cNvSpPr/>
          <p:nvPr/>
        </p:nvSpPr>
        <p:spPr>
          <a:xfrm>
            <a:off x="128016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1" name="Google Shape;771;p36"/>
          <p:cNvSpPr/>
          <p:nvPr/>
        </p:nvSpPr>
        <p:spPr>
          <a:xfrm>
            <a:off x="160020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72" name="Google Shape;772;p36"/>
          <p:cNvPicPr preferRelativeResize="0"/>
          <p:nvPr/>
        </p:nvPicPr>
        <p:blipFill rotWithShape="1">
          <a:blip r:embed="rId4">
            <a:alphaModFix/>
          </a:blip>
          <a:srcRect/>
          <a:stretch/>
        </p:blipFill>
        <p:spPr>
          <a:xfrm>
            <a:off x="8369125" y="0"/>
            <a:ext cx="774877" cy="8671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77"/>
        <p:cNvGrpSpPr/>
        <p:nvPr/>
      </p:nvGrpSpPr>
      <p:grpSpPr>
        <a:xfrm>
          <a:off x="0" y="0"/>
          <a:ext cx="0" cy="0"/>
          <a:chOff x="0" y="0"/>
          <a:chExt cx="0" cy="0"/>
        </a:xfrm>
      </p:grpSpPr>
      <p:sp>
        <p:nvSpPr>
          <p:cNvPr id="778" name="Google Shape;778;p37"/>
          <p:cNvSpPr/>
          <p:nvPr/>
        </p:nvSpPr>
        <p:spPr>
          <a:xfrm>
            <a:off x="365760" y="411480"/>
            <a:ext cx="8412600" cy="594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1F26"/>
              </a:buClr>
              <a:buSzPts val="3000"/>
              <a:buFont typeface="Calibri"/>
              <a:buNone/>
            </a:pPr>
            <a:r>
              <a:rPr lang="en" sz="2800" b="1" i="0" u="none" strike="noStrike" cap="none">
                <a:solidFill>
                  <a:srgbClr val="1A1F26"/>
                </a:solidFill>
                <a:latin typeface="Calibri"/>
                <a:ea typeface="Calibri"/>
                <a:cs typeface="Calibri"/>
                <a:sym typeface="Calibri"/>
              </a:rPr>
              <a:t>ELMo: Embeddings from Language Models</a:t>
            </a:r>
            <a:endParaRPr sz="2800" b="0" i="0" u="none" strike="noStrike" cap="none">
              <a:solidFill>
                <a:schemeClr val="dk1"/>
              </a:solidFill>
              <a:latin typeface="Calibri"/>
              <a:ea typeface="Calibri"/>
              <a:cs typeface="Calibri"/>
              <a:sym typeface="Calibri"/>
            </a:endParaRPr>
          </a:p>
        </p:txBody>
      </p:sp>
      <p:sp>
        <p:nvSpPr>
          <p:cNvPr id="779" name="Google Shape;779;p37"/>
          <p:cNvSpPr/>
          <p:nvPr/>
        </p:nvSpPr>
        <p:spPr>
          <a:xfrm>
            <a:off x="320040" y="1188720"/>
            <a:ext cx="1097400" cy="411600"/>
          </a:xfrm>
          <a:prstGeom prst="rect">
            <a:avLst/>
          </a:prstGeom>
          <a:solidFill>
            <a:schemeClr val="lt1"/>
          </a:solidFill>
          <a:ln w="12700" cap="flat" cmpd="sng">
            <a:solidFill>
              <a:srgbClr val="0077A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0" name="Google Shape;780;p37"/>
          <p:cNvSpPr/>
          <p:nvPr/>
        </p:nvSpPr>
        <p:spPr>
          <a:xfrm>
            <a:off x="320015" y="1188695"/>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77AA"/>
              </a:buClr>
              <a:buSzPts val="900"/>
              <a:buFont typeface="Calibri"/>
              <a:buNone/>
            </a:pPr>
            <a:r>
              <a:rPr lang="en" sz="1400" b="0" i="0" u="none" strike="noStrike" cap="none">
                <a:solidFill>
                  <a:schemeClr val="dk1"/>
                </a:solidFill>
                <a:latin typeface="Calibri"/>
                <a:ea typeface="Calibri"/>
                <a:cs typeface="Calibri"/>
                <a:sym typeface="Calibri"/>
              </a:rPr>
              <a:t>→ fwd</a:t>
            </a:r>
            <a:endParaRPr sz="1400" b="0" i="0" u="none" strike="noStrike" cap="none">
              <a:solidFill>
                <a:schemeClr val="dk1"/>
              </a:solidFill>
              <a:latin typeface="Calibri"/>
              <a:ea typeface="Calibri"/>
              <a:cs typeface="Calibri"/>
              <a:sym typeface="Calibri"/>
            </a:endParaRPr>
          </a:p>
        </p:txBody>
      </p:sp>
      <p:sp>
        <p:nvSpPr>
          <p:cNvPr id="781" name="Google Shape;781;p37"/>
          <p:cNvSpPr/>
          <p:nvPr/>
        </p:nvSpPr>
        <p:spPr>
          <a:xfrm>
            <a:off x="320040" y="1737360"/>
            <a:ext cx="1097400" cy="411600"/>
          </a:xfrm>
          <a:prstGeom prst="rect">
            <a:avLst/>
          </a:prstGeom>
          <a:solidFill>
            <a:schemeClr val="lt1"/>
          </a:solidFill>
          <a:ln w="101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2" name="Google Shape;782;p37"/>
          <p:cNvSpPr/>
          <p:nvPr/>
        </p:nvSpPr>
        <p:spPr>
          <a:xfrm>
            <a:off x="320015" y="1737372"/>
            <a:ext cx="1097400" cy="411600"/>
          </a:xfrm>
          <a:prstGeom prst="rect">
            <a:avLst/>
          </a:prstGeom>
          <a:no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300"/>
              <a:buFont typeface="Calibri"/>
              <a:buNone/>
            </a:pPr>
            <a:r>
              <a:rPr lang="en" sz="1400" b="1" i="0" u="none" strike="noStrike" cap="none">
                <a:solidFill>
                  <a:srgbClr val="1A1F26"/>
                </a:solidFill>
                <a:latin typeface="Calibri"/>
                <a:ea typeface="Calibri"/>
                <a:cs typeface="Calibri"/>
                <a:sym typeface="Calibri"/>
              </a:rPr>
              <a:t>I</a:t>
            </a:r>
            <a:endParaRPr sz="1400" b="0" i="0" u="none" strike="noStrike" cap="none">
              <a:solidFill>
                <a:schemeClr val="dk1"/>
              </a:solidFill>
              <a:latin typeface="Calibri"/>
              <a:ea typeface="Calibri"/>
              <a:cs typeface="Calibri"/>
              <a:sym typeface="Calibri"/>
            </a:endParaRPr>
          </a:p>
        </p:txBody>
      </p:sp>
      <p:sp>
        <p:nvSpPr>
          <p:cNvPr id="783" name="Google Shape;783;p37"/>
          <p:cNvSpPr/>
          <p:nvPr/>
        </p:nvSpPr>
        <p:spPr>
          <a:xfrm>
            <a:off x="320040" y="2286000"/>
            <a:ext cx="1097400" cy="411600"/>
          </a:xfrm>
          <a:prstGeom prst="rect">
            <a:avLst/>
          </a:prstGeom>
          <a:solidFill>
            <a:schemeClr val="lt1"/>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4" name="Google Shape;784;p37"/>
          <p:cNvSpPr/>
          <p:nvPr/>
        </p:nvSpPr>
        <p:spPr>
          <a:xfrm>
            <a:off x="320015" y="2286013"/>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C084FC"/>
              </a:buClr>
              <a:buSzPts val="900"/>
              <a:buFont typeface="Calibri"/>
              <a:buNone/>
            </a:pPr>
            <a:r>
              <a:rPr lang="en" sz="1400" b="0" i="0" u="none" strike="noStrike" cap="none">
                <a:solidFill>
                  <a:schemeClr val="dk1"/>
                </a:solidFill>
                <a:latin typeface="Calibri"/>
                <a:ea typeface="Calibri"/>
                <a:cs typeface="Calibri"/>
                <a:sym typeface="Calibri"/>
              </a:rPr>
              <a:t>← bwd</a:t>
            </a:r>
            <a:endParaRPr sz="1400" b="0" i="0" u="none" strike="noStrike" cap="none">
              <a:solidFill>
                <a:schemeClr val="dk1"/>
              </a:solidFill>
              <a:latin typeface="Calibri"/>
              <a:ea typeface="Calibri"/>
              <a:cs typeface="Calibri"/>
              <a:sym typeface="Calibri"/>
            </a:endParaRPr>
          </a:p>
        </p:txBody>
      </p:sp>
      <p:sp>
        <p:nvSpPr>
          <p:cNvPr id="785" name="Google Shape;785;p37"/>
          <p:cNvSpPr/>
          <p:nvPr/>
        </p:nvSpPr>
        <p:spPr>
          <a:xfrm>
            <a:off x="1783080" y="1188720"/>
            <a:ext cx="1097400" cy="411600"/>
          </a:xfrm>
          <a:prstGeom prst="rect">
            <a:avLst/>
          </a:prstGeom>
          <a:solidFill>
            <a:schemeClr val="lt1"/>
          </a:solidFill>
          <a:ln w="12700" cap="flat" cmpd="sng">
            <a:solidFill>
              <a:srgbClr val="0077A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6" name="Google Shape;786;p37"/>
          <p:cNvSpPr/>
          <p:nvPr/>
        </p:nvSpPr>
        <p:spPr>
          <a:xfrm>
            <a:off x="1783093" y="1188695"/>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77AA"/>
              </a:buClr>
              <a:buSzPts val="900"/>
              <a:buFont typeface="Calibri"/>
              <a:buNone/>
            </a:pPr>
            <a:r>
              <a:rPr lang="en" sz="1400" b="0" i="0" u="none" strike="noStrike" cap="none">
                <a:solidFill>
                  <a:schemeClr val="dk1"/>
                </a:solidFill>
                <a:latin typeface="Calibri"/>
                <a:ea typeface="Calibri"/>
                <a:cs typeface="Calibri"/>
                <a:sym typeface="Calibri"/>
              </a:rPr>
              <a:t>→ fwd</a:t>
            </a:r>
            <a:endParaRPr sz="1400" b="0" i="0" u="none" strike="noStrike" cap="none">
              <a:solidFill>
                <a:schemeClr val="dk1"/>
              </a:solidFill>
              <a:latin typeface="Calibri"/>
              <a:ea typeface="Calibri"/>
              <a:cs typeface="Calibri"/>
              <a:sym typeface="Calibri"/>
            </a:endParaRPr>
          </a:p>
        </p:txBody>
      </p:sp>
      <p:sp>
        <p:nvSpPr>
          <p:cNvPr id="787" name="Google Shape;787;p37"/>
          <p:cNvSpPr/>
          <p:nvPr/>
        </p:nvSpPr>
        <p:spPr>
          <a:xfrm>
            <a:off x="1783080" y="1737360"/>
            <a:ext cx="1097400" cy="411600"/>
          </a:xfrm>
          <a:prstGeom prst="rect">
            <a:avLst/>
          </a:prstGeom>
          <a:solidFill>
            <a:schemeClr val="lt1"/>
          </a:solidFill>
          <a:ln w="101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8" name="Google Shape;788;p37"/>
          <p:cNvSpPr/>
          <p:nvPr/>
        </p:nvSpPr>
        <p:spPr>
          <a:xfrm>
            <a:off x="1783080" y="1737360"/>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300"/>
              <a:buFont typeface="Calibri"/>
              <a:buNone/>
            </a:pPr>
            <a:r>
              <a:rPr lang="en" sz="1300" b="1" i="0" u="none" strike="noStrike" cap="none">
                <a:solidFill>
                  <a:srgbClr val="1A1F26"/>
                </a:solidFill>
                <a:latin typeface="Calibri"/>
                <a:ea typeface="Calibri"/>
                <a:cs typeface="Calibri"/>
                <a:sym typeface="Calibri"/>
              </a:rPr>
              <a:t>went</a:t>
            </a:r>
            <a:endParaRPr sz="1300" b="0" i="0" u="none" strike="noStrike" cap="none">
              <a:solidFill>
                <a:schemeClr val="dk1"/>
              </a:solidFill>
              <a:latin typeface="Calibri"/>
              <a:ea typeface="Calibri"/>
              <a:cs typeface="Calibri"/>
              <a:sym typeface="Calibri"/>
            </a:endParaRPr>
          </a:p>
        </p:txBody>
      </p:sp>
      <p:sp>
        <p:nvSpPr>
          <p:cNvPr id="789" name="Google Shape;789;p37"/>
          <p:cNvSpPr/>
          <p:nvPr/>
        </p:nvSpPr>
        <p:spPr>
          <a:xfrm>
            <a:off x="1783080" y="2286000"/>
            <a:ext cx="1097400" cy="411600"/>
          </a:xfrm>
          <a:prstGeom prst="rect">
            <a:avLst/>
          </a:prstGeom>
          <a:solidFill>
            <a:schemeClr val="lt1"/>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0" name="Google Shape;790;p37"/>
          <p:cNvSpPr/>
          <p:nvPr/>
        </p:nvSpPr>
        <p:spPr>
          <a:xfrm>
            <a:off x="1783080" y="2286000"/>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C084FC"/>
              </a:buClr>
              <a:buSzPts val="900"/>
              <a:buFont typeface="Calibri"/>
              <a:buNone/>
            </a:pPr>
            <a:r>
              <a:rPr lang="en" sz="1400" b="0" i="0" u="none" strike="noStrike" cap="none">
                <a:solidFill>
                  <a:schemeClr val="dk1"/>
                </a:solidFill>
                <a:latin typeface="Calibri"/>
                <a:ea typeface="Calibri"/>
                <a:cs typeface="Calibri"/>
                <a:sym typeface="Calibri"/>
              </a:rPr>
              <a:t>← bwd</a:t>
            </a:r>
            <a:endParaRPr sz="1400" b="0" i="0" u="none" strike="noStrike" cap="none">
              <a:solidFill>
                <a:schemeClr val="dk1"/>
              </a:solidFill>
              <a:latin typeface="Calibri"/>
              <a:ea typeface="Calibri"/>
              <a:cs typeface="Calibri"/>
              <a:sym typeface="Calibri"/>
            </a:endParaRPr>
          </a:p>
        </p:txBody>
      </p:sp>
      <p:sp>
        <p:nvSpPr>
          <p:cNvPr id="791" name="Google Shape;791;p37"/>
          <p:cNvSpPr/>
          <p:nvPr/>
        </p:nvSpPr>
        <p:spPr>
          <a:xfrm>
            <a:off x="3246120" y="1188720"/>
            <a:ext cx="1097400" cy="411600"/>
          </a:xfrm>
          <a:prstGeom prst="rect">
            <a:avLst/>
          </a:prstGeom>
          <a:solidFill>
            <a:schemeClr val="lt1"/>
          </a:solidFill>
          <a:ln w="12700" cap="flat" cmpd="sng">
            <a:solidFill>
              <a:srgbClr val="0077A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2" name="Google Shape;792;p37"/>
          <p:cNvSpPr/>
          <p:nvPr/>
        </p:nvSpPr>
        <p:spPr>
          <a:xfrm>
            <a:off x="3246120" y="1737360"/>
            <a:ext cx="1097400" cy="411600"/>
          </a:xfrm>
          <a:prstGeom prst="rect">
            <a:avLst/>
          </a:prstGeom>
          <a:solidFill>
            <a:schemeClr val="lt1"/>
          </a:solidFill>
          <a:ln w="101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3" name="Google Shape;793;p37"/>
          <p:cNvSpPr/>
          <p:nvPr/>
        </p:nvSpPr>
        <p:spPr>
          <a:xfrm>
            <a:off x="3246107" y="1737372"/>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300"/>
              <a:buFont typeface="Calibri"/>
              <a:buNone/>
            </a:pPr>
            <a:r>
              <a:rPr lang="en" sz="1300" b="1" i="0" u="none" strike="noStrike" cap="none">
                <a:solidFill>
                  <a:srgbClr val="1A1F26"/>
                </a:solidFill>
                <a:latin typeface="Calibri"/>
                <a:ea typeface="Calibri"/>
                <a:cs typeface="Calibri"/>
                <a:sym typeface="Calibri"/>
              </a:rPr>
              <a:t>to</a:t>
            </a:r>
            <a:endParaRPr sz="1300" b="0" i="0" u="none" strike="noStrike" cap="none">
              <a:solidFill>
                <a:schemeClr val="dk1"/>
              </a:solidFill>
              <a:latin typeface="Calibri"/>
              <a:ea typeface="Calibri"/>
              <a:cs typeface="Calibri"/>
              <a:sym typeface="Calibri"/>
            </a:endParaRPr>
          </a:p>
        </p:txBody>
      </p:sp>
      <p:sp>
        <p:nvSpPr>
          <p:cNvPr id="794" name="Google Shape;794;p37"/>
          <p:cNvSpPr/>
          <p:nvPr/>
        </p:nvSpPr>
        <p:spPr>
          <a:xfrm>
            <a:off x="3246120" y="2286000"/>
            <a:ext cx="1097400" cy="411600"/>
          </a:xfrm>
          <a:prstGeom prst="rect">
            <a:avLst/>
          </a:prstGeom>
          <a:solidFill>
            <a:schemeClr val="lt1"/>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5" name="Google Shape;795;p37"/>
          <p:cNvSpPr/>
          <p:nvPr/>
        </p:nvSpPr>
        <p:spPr>
          <a:xfrm>
            <a:off x="3246107" y="2286013"/>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C084FC"/>
              </a:buClr>
              <a:buSzPts val="900"/>
              <a:buFont typeface="Calibri"/>
              <a:buNone/>
            </a:pPr>
            <a:r>
              <a:rPr lang="en" sz="1400" b="0" i="0" u="none" strike="noStrike" cap="none">
                <a:solidFill>
                  <a:schemeClr val="dk1"/>
                </a:solidFill>
                <a:latin typeface="Calibri"/>
                <a:ea typeface="Calibri"/>
                <a:cs typeface="Calibri"/>
                <a:sym typeface="Calibri"/>
              </a:rPr>
              <a:t>← bwd</a:t>
            </a:r>
            <a:endParaRPr sz="1400" b="0" i="0" u="none" strike="noStrike" cap="none">
              <a:solidFill>
                <a:schemeClr val="dk1"/>
              </a:solidFill>
              <a:latin typeface="Calibri"/>
              <a:ea typeface="Calibri"/>
              <a:cs typeface="Calibri"/>
              <a:sym typeface="Calibri"/>
            </a:endParaRPr>
          </a:p>
        </p:txBody>
      </p:sp>
      <p:sp>
        <p:nvSpPr>
          <p:cNvPr id="796" name="Google Shape;796;p37"/>
          <p:cNvSpPr/>
          <p:nvPr/>
        </p:nvSpPr>
        <p:spPr>
          <a:xfrm>
            <a:off x="4709160" y="1188720"/>
            <a:ext cx="1097400" cy="411600"/>
          </a:xfrm>
          <a:prstGeom prst="rect">
            <a:avLst/>
          </a:prstGeom>
          <a:solidFill>
            <a:schemeClr val="lt1"/>
          </a:solidFill>
          <a:ln w="12700" cap="flat" cmpd="sng">
            <a:solidFill>
              <a:srgbClr val="0077A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7" name="Google Shape;797;p37"/>
          <p:cNvSpPr/>
          <p:nvPr/>
        </p:nvSpPr>
        <p:spPr>
          <a:xfrm>
            <a:off x="4709160" y="1737360"/>
            <a:ext cx="1097400" cy="411600"/>
          </a:xfrm>
          <a:prstGeom prst="rect">
            <a:avLst/>
          </a:prstGeom>
          <a:solidFill>
            <a:schemeClr val="lt1"/>
          </a:solidFill>
          <a:ln w="101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8" name="Google Shape;798;p37"/>
          <p:cNvSpPr/>
          <p:nvPr/>
        </p:nvSpPr>
        <p:spPr>
          <a:xfrm>
            <a:off x="4709160" y="1737360"/>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300"/>
              <a:buFont typeface="Calibri"/>
              <a:buNone/>
            </a:pPr>
            <a:r>
              <a:rPr lang="en" sz="1300" b="1" i="0" u="none" strike="noStrike" cap="none">
                <a:solidFill>
                  <a:srgbClr val="1A1F26"/>
                </a:solidFill>
                <a:latin typeface="Calibri"/>
                <a:ea typeface="Calibri"/>
                <a:cs typeface="Calibri"/>
                <a:sym typeface="Calibri"/>
              </a:rPr>
              <a:t>the</a:t>
            </a:r>
            <a:endParaRPr sz="1300" b="0" i="0" u="none" strike="noStrike" cap="none">
              <a:solidFill>
                <a:schemeClr val="dk1"/>
              </a:solidFill>
              <a:latin typeface="Calibri"/>
              <a:ea typeface="Calibri"/>
              <a:cs typeface="Calibri"/>
              <a:sym typeface="Calibri"/>
            </a:endParaRPr>
          </a:p>
        </p:txBody>
      </p:sp>
      <p:sp>
        <p:nvSpPr>
          <p:cNvPr id="799" name="Google Shape;799;p37"/>
          <p:cNvSpPr/>
          <p:nvPr/>
        </p:nvSpPr>
        <p:spPr>
          <a:xfrm>
            <a:off x="4709160" y="2286000"/>
            <a:ext cx="1097400" cy="411600"/>
          </a:xfrm>
          <a:prstGeom prst="rect">
            <a:avLst/>
          </a:prstGeom>
          <a:solidFill>
            <a:schemeClr val="lt1"/>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0" name="Google Shape;800;p37"/>
          <p:cNvSpPr/>
          <p:nvPr/>
        </p:nvSpPr>
        <p:spPr>
          <a:xfrm>
            <a:off x="4709173" y="2286000"/>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C084FC"/>
              </a:buClr>
              <a:buSzPts val="900"/>
              <a:buFont typeface="Calibri"/>
              <a:buNone/>
            </a:pPr>
            <a:r>
              <a:rPr lang="en" sz="1300" b="0" i="0" u="none" strike="noStrike" cap="none">
                <a:solidFill>
                  <a:schemeClr val="dk1"/>
                </a:solidFill>
                <a:latin typeface="Calibri"/>
                <a:ea typeface="Calibri"/>
                <a:cs typeface="Calibri"/>
                <a:sym typeface="Calibri"/>
              </a:rPr>
              <a:t>← bwd</a:t>
            </a:r>
            <a:endParaRPr sz="1300" b="0" i="0" u="none" strike="noStrike" cap="none">
              <a:solidFill>
                <a:schemeClr val="dk1"/>
              </a:solidFill>
              <a:latin typeface="Calibri"/>
              <a:ea typeface="Calibri"/>
              <a:cs typeface="Calibri"/>
              <a:sym typeface="Calibri"/>
            </a:endParaRPr>
          </a:p>
        </p:txBody>
      </p:sp>
      <p:sp>
        <p:nvSpPr>
          <p:cNvPr id="801" name="Google Shape;801;p37"/>
          <p:cNvSpPr/>
          <p:nvPr/>
        </p:nvSpPr>
        <p:spPr>
          <a:xfrm>
            <a:off x="6172200" y="1188720"/>
            <a:ext cx="1097400" cy="411600"/>
          </a:xfrm>
          <a:prstGeom prst="rect">
            <a:avLst/>
          </a:prstGeom>
          <a:solidFill>
            <a:schemeClr val="lt1"/>
          </a:solidFill>
          <a:ln w="12700" cap="flat" cmpd="sng">
            <a:solidFill>
              <a:srgbClr val="0077A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37"/>
          <p:cNvSpPr/>
          <p:nvPr/>
        </p:nvSpPr>
        <p:spPr>
          <a:xfrm>
            <a:off x="6172200" y="1737360"/>
            <a:ext cx="1097400" cy="411600"/>
          </a:xfrm>
          <a:prstGeom prst="rect">
            <a:avLst/>
          </a:prstGeom>
          <a:solidFill>
            <a:schemeClr val="lt1"/>
          </a:solidFill>
          <a:ln w="101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3" name="Google Shape;803;p37"/>
          <p:cNvSpPr/>
          <p:nvPr/>
        </p:nvSpPr>
        <p:spPr>
          <a:xfrm>
            <a:off x="6172175" y="1737372"/>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300"/>
              <a:buFont typeface="Calibri"/>
              <a:buNone/>
            </a:pPr>
            <a:r>
              <a:rPr lang="en" sz="1300" b="1" i="0" u="none" strike="noStrike" cap="none">
                <a:solidFill>
                  <a:srgbClr val="1A1F26"/>
                </a:solidFill>
                <a:latin typeface="Calibri"/>
                <a:ea typeface="Calibri"/>
                <a:cs typeface="Calibri"/>
                <a:sym typeface="Calibri"/>
              </a:rPr>
              <a:t>bank</a:t>
            </a:r>
            <a:endParaRPr sz="1300" b="0" i="0" u="none" strike="noStrike" cap="none">
              <a:solidFill>
                <a:schemeClr val="dk1"/>
              </a:solidFill>
              <a:latin typeface="Calibri"/>
              <a:ea typeface="Calibri"/>
              <a:cs typeface="Calibri"/>
              <a:sym typeface="Calibri"/>
            </a:endParaRPr>
          </a:p>
        </p:txBody>
      </p:sp>
      <p:sp>
        <p:nvSpPr>
          <p:cNvPr id="804" name="Google Shape;804;p37"/>
          <p:cNvSpPr/>
          <p:nvPr/>
        </p:nvSpPr>
        <p:spPr>
          <a:xfrm>
            <a:off x="6172200" y="2286000"/>
            <a:ext cx="1097400" cy="411600"/>
          </a:xfrm>
          <a:prstGeom prst="rect">
            <a:avLst/>
          </a:prstGeom>
          <a:solidFill>
            <a:schemeClr val="lt1"/>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p37"/>
          <p:cNvSpPr/>
          <p:nvPr/>
        </p:nvSpPr>
        <p:spPr>
          <a:xfrm>
            <a:off x="6172225" y="2286013"/>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C084FC"/>
              </a:buClr>
              <a:buSzPts val="900"/>
              <a:buFont typeface="Calibri"/>
              <a:buNone/>
            </a:pPr>
            <a:r>
              <a:rPr lang="en" sz="1400" b="0" i="0" u="none" strike="noStrike" cap="none">
                <a:solidFill>
                  <a:schemeClr val="dk1"/>
                </a:solidFill>
                <a:latin typeface="Calibri"/>
                <a:ea typeface="Calibri"/>
                <a:cs typeface="Calibri"/>
                <a:sym typeface="Calibri"/>
              </a:rPr>
              <a:t>← bwd</a:t>
            </a:r>
            <a:endParaRPr sz="1400" b="0" i="0" u="none" strike="noStrike" cap="none">
              <a:solidFill>
                <a:schemeClr val="dk1"/>
              </a:solidFill>
              <a:latin typeface="Calibri"/>
              <a:ea typeface="Calibri"/>
              <a:cs typeface="Calibri"/>
              <a:sym typeface="Calibri"/>
            </a:endParaRPr>
          </a:p>
        </p:txBody>
      </p:sp>
      <p:sp>
        <p:nvSpPr>
          <p:cNvPr id="806" name="Google Shape;806;p37"/>
          <p:cNvSpPr/>
          <p:nvPr/>
        </p:nvSpPr>
        <p:spPr>
          <a:xfrm>
            <a:off x="320040" y="2740552"/>
            <a:ext cx="85038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59E0B"/>
              </a:buClr>
              <a:buSzPts val="1100"/>
              <a:buFont typeface="Calibri"/>
              <a:buNone/>
            </a:pPr>
            <a:r>
              <a:rPr lang="en" sz="1400" b="0" i="1" u="none" strike="noStrike" cap="none">
                <a:solidFill>
                  <a:schemeClr val="dk1"/>
                </a:solidFill>
                <a:latin typeface="Calibri"/>
                <a:ea typeface="Calibri"/>
                <a:cs typeface="Calibri"/>
                <a:sym typeface="Calibri"/>
              </a:rPr>
              <a:t>→ "bank" gets context from BOTH directions before producing its vector</a:t>
            </a:r>
            <a:endParaRPr sz="1400" b="0" i="0" u="none" strike="noStrike" cap="none">
              <a:solidFill>
                <a:schemeClr val="dk1"/>
              </a:solidFill>
              <a:latin typeface="Calibri"/>
              <a:ea typeface="Calibri"/>
              <a:cs typeface="Calibri"/>
              <a:sym typeface="Calibri"/>
            </a:endParaRPr>
          </a:p>
        </p:txBody>
      </p:sp>
      <p:sp>
        <p:nvSpPr>
          <p:cNvPr id="807" name="Google Shape;807;p37"/>
          <p:cNvSpPr/>
          <p:nvPr/>
        </p:nvSpPr>
        <p:spPr>
          <a:xfrm>
            <a:off x="320150" y="3124025"/>
            <a:ext cx="8503800" cy="1926600"/>
          </a:xfrm>
          <a:prstGeom prst="rect">
            <a:avLst/>
          </a:prstGeom>
          <a:solidFill>
            <a:schemeClr val="lt1"/>
          </a:solidFill>
          <a:ln w="12700" cap="flat" cmpd="sng">
            <a:solidFill>
              <a:srgbClr val="0077AA"/>
            </a:solidFill>
            <a:prstDash val="solid"/>
            <a:round/>
            <a:headEnd type="none" w="sm" len="sm"/>
            <a:tailEnd type="none" w="sm" len="sm"/>
          </a:ln>
          <a:effectLst>
            <a:outerShdw blurRad="101600" dist="38100" dir="8100000" algn="bl" rotWithShape="0">
              <a:srgbClr val="000000">
                <a:alpha val="302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8" name="Google Shape;808;p37"/>
          <p:cNvSpPr/>
          <p:nvPr/>
        </p:nvSpPr>
        <p:spPr>
          <a:xfrm>
            <a:off x="283114" y="3160725"/>
            <a:ext cx="887700" cy="255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8F9FA"/>
              </a:buClr>
              <a:buSzPts val="900"/>
              <a:buFont typeface="Calibri"/>
              <a:buNone/>
            </a:pPr>
            <a:r>
              <a:rPr lang="en" sz="1400" b="1" i="0" u="none" strike="noStrike" cap="none">
                <a:solidFill>
                  <a:schemeClr val="dk1"/>
                </a:solidFill>
                <a:latin typeface="Calibri"/>
                <a:ea typeface="Calibri"/>
                <a:cs typeface="Calibri"/>
                <a:sym typeface="Calibri"/>
              </a:rPr>
              <a:t>ELMo</a:t>
            </a:r>
            <a:endParaRPr sz="1400" b="1" i="0" u="none" strike="noStrike" cap="none">
              <a:solidFill>
                <a:schemeClr val="dk1"/>
              </a:solidFill>
              <a:latin typeface="Calibri"/>
              <a:ea typeface="Calibri"/>
              <a:cs typeface="Calibri"/>
              <a:sym typeface="Calibri"/>
            </a:endParaRPr>
          </a:p>
        </p:txBody>
      </p:sp>
      <p:sp>
        <p:nvSpPr>
          <p:cNvPr id="809" name="Google Shape;809;p37"/>
          <p:cNvSpPr/>
          <p:nvPr/>
        </p:nvSpPr>
        <p:spPr>
          <a:xfrm>
            <a:off x="429875" y="3374808"/>
            <a:ext cx="4326900" cy="1517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pip install allennlp</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from allennlp.commands.elmo import ElmoEmbedder</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elmo = ElmoEmbedder()</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sent1 = ["I", "went", "to", "the", "bank"]</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sent2 = ["I", "swam", "to", "the", "bank"]</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emb1 = elmo.embed_sentence(sent1)  # shape: (3, 5, 1024)</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emb2 = elmo.embed_sentence(sent2)  # shape: (3, 5, 1024)</a:t>
            </a:r>
            <a:r>
              <a:rPr lang="en" sz="1050" b="0" i="0" u="none" strike="noStrike" cap="none">
                <a:solidFill>
                  <a:schemeClr val="dk1"/>
                </a:solidFill>
                <a:latin typeface="Calibri"/>
                <a:ea typeface="Calibri"/>
                <a:cs typeface="Calibri"/>
                <a:sym typeface="Calibri"/>
              </a:rPr>
              <a:t> </a:t>
            </a:r>
            <a:endParaRPr sz="1050" b="0" i="0" u="none" strike="noStrike" cap="none">
              <a:solidFill>
                <a:schemeClr val="dk1"/>
              </a:solidFill>
              <a:latin typeface="Calibri"/>
              <a:ea typeface="Calibri"/>
              <a:cs typeface="Calibri"/>
              <a:sym typeface="Calibri"/>
            </a:endParaRPr>
          </a:p>
        </p:txBody>
      </p:sp>
      <p:pic>
        <p:nvPicPr>
          <p:cNvPr id="810" name="Google Shape;810;p37"/>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811" name="Google Shape;811;p37"/>
          <p:cNvSpPr/>
          <p:nvPr/>
        </p:nvSpPr>
        <p:spPr>
          <a:xfrm>
            <a:off x="3246105" y="1188695"/>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77AA"/>
              </a:buClr>
              <a:buSzPts val="900"/>
              <a:buFont typeface="Calibri"/>
              <a:buNone/>
            </a:pPr>
            <a:r>
              <a:rPr lang="en" sz="1400" b="0" i="0" u="none" strike="noStrike" cap="none">
                <a:solidFill>
                  <a:schemeClr val="dk1"/>
                </a:solidFill>
                <a:latin typeface="Calibri"/>
                <a:ea typeface="Calibri"/>
                <a:cs typeface="Calibri"/>
                <a:sym typeface="Calibri"/>
              </a:rPr>
              <a:t>→ fwd</a:t>
            </a:r>
            <a:endParaRPr sz="1400" b="0" i="0" u="none" strike="noStrike" cap="none">
              <a:solidFill>
                <a:schemeClr val="dk1"/>
              </a:solidFill>
              <a:latin typeface="Calibri"/>
              <a:ea typeface="Calibri"/>
              <a:cs typeface="Calibri"/>
              <a:sym typeface="Calibri"/>
            </a:endParaRPr>
          </a:p>
        </p:txBody>
      </p:sp>
      <p:sp>
        <p:nvSpPr>
          <p:cNvPr id="812" name="Google Shape;812;p37"/>
          <p:cNvSpPr/>
          <p:nvPr/>
        </p:nvSpPr>
        <p:spPr>
          <a:xfrm>
            <a:off x="4709155" y="1188695"/>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77AA"/>
              </a:buClr>
              <a:buSzPts val="900"/>
              <a:buFont typeface="Calibri"/>
              <a:buNone/>
            </a:pPr>
            <a:r>
              <a:rPr lang="en" sz="1400" b="0" i="0" u="none" strike="noStrike" cap="none">
                <a:solidFill>
                  <a:schemeClr val="dk1"/>
                </a:solidFill>
                <a:latin typeface="Calibri"/>
                <a:ea typeface="Calibri"/>
                <a:cs typeface="Calibri"/>
                <a:sym typeface="Calibri"/>
              </a:rPr>
              <a:t>→ fwd</a:t>
            </a:r>
            <a:endParaRPr sz="1400" b="0" i="0" u="none" strike="noStrike" cap="none">
              <a:solidFill>
                <a:schemeClr val="dk1"/>
              </a:solidFill>
              <a:latin typeface="Calibri"/>
              <a:ea typeface="Calibri"/>
              <a:cs typeface="Calibri"/>
              <a:sym typeface="Calibri"/>
            </a:endParaRPr>
          </a:p>
        </p:txBody>
      </p:sp>
      <p:sp>
        <p:nvSpPr>
          <p:cNvPr id="813" name="Google Shape;813;p37"/>
          <p:cNvSpPr/>
          <p:nvPr/>
        </p:nvSpPr>
        <p:spPr>
          <a:xfrm>
            <a:off x="6172168" y="1188695"/>
            <a:ext cx="10974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77AA"/>
              </a:buClr>
              <a:buSzPts val="900"/>
              <a:buFont typeface="Calibri"/>
              <a:buNone/>
            </a:pPr>
            <a:r>
              <a:rPr lang="en" sz="1400" b="0" i="0" u="none" strike="noStrike" cap="none">
                <a:solidFill>
                  <a:schemeClr val="dk1"/>
                </a:solidFill>
                <a:latin typeface="Calibri"/>
                <a:ea typeface="Calibri"/>
                <a:cs typeface="Calibri"/>
                <a:sym typeface="Calibri"/>
              </a:rPr>
              <a:t>→ fwd</a:t>
            </a:r>
            <a:endParaRPr sz="1400" b="0" i="0" u="none" strike="noStrike" cap="none">
              <a:solidFill>
                <a:schemeClr val="dk1"/>
              </a:solidFill>
              <a:latin typeface="Calibri"/>
              <a:ea typeface="Calibri"/>
              <a:cs typeface="Calibri"/>
              <a:sym typeface="Calibri"/>
            </a:endParaRPr>
          </a:p>
        </p:txBody>
      </p:sp>
      <p:sp>
        <p:nvSpPr>
          <p:cNvPr id="814" name="Google Shape;814;p37"/>
          <p:cNvSpPr txBox="1"/>
          <p:nvPr/>
        </p:nvSpPr>
        <p:spPr>
          <a:xfrm>
            <a:off x="4850784" y="3282646"/>
            <a:ext cx="3502200" cy="1704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1A1F26"/>
              </a:buClr>
              <a:buSzPts val="935"/>
              <a:buFont typeface="Consolas"/>
              <a:buNone/>
            </a:pPr>
            <a:r>
              <a:rPr lang="en" sz="993" b="0" i="0" u="none" strike="noStrike" cap="none">
                <a:solidFill>
                  <a:srgbClr val="1A1F26"/>
                </a:solidFill>
                <a:latin typeface="Consolas"/>
                <a:ea typeface="Consolas"/>
                <a:cs typeface="Consolas"/>
                <a:sym typeface="Consolas"/>
              </a:rPr>
              <a:t># "bank" in financial context vs river context</a:t>
            </a:r>
            <a:endParaRPr sz="993" b="0" i="0" u="none" strike="noStrike" cap="none">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rgbClr val="1A1F26"/>
              </a:buClr>
              <a:buSzPts val="935"/>
              <a:buFont typeface="Consolas"/>
              <a:buNone/>
            </a:pPr>
            <a:r>
              <a:rPr lang="en" sz="993" b="0" i="0" u="none" strike="noStrike" cap="none">
                <a:solidFill>
                  <a:srgbClr val="1A1F26"/>
                </a:solidFill>
                <a:latin typeface="Consolas"/>
                <a:ea typeface="Consolas"/>
                <a:cs typeface="Consolas"/>
                <a:sym typeface="Consolas"/>
              </a:rPr>
              <a:t>bank_finance = emb1[2][4]   # layer 2, position 4</a:t>
            </a:r>
            <a:endParaRPr sz="993" b="0" i="0" u="none" strike="noStrike" cap="none">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rgbClr val="1A1F26"/>
              </a:buClr>
              <a:buSzPts val="935"/>
              <a:buFont typeface="Consolas"/>
              <a:buNone/>
            </a:pPr>
            <a:r>
              <a:rPr lang="en" sz="993" b="0" i="0" u="none" strike="noStrike" cap="none">
                <a:solidFill>
                  <a:srgbClr val="1A1F26"/>
                </a:solidFill>
                <a:latin typeface="Consolas"/>
                <a:ea typeface="Consolas"/>
                <a:cs typeface="Consolas"/>
                <a:sym typeface="Consolas"/>
              </a:rPr>
              <a:t>bank_river   = emb2[2][4]   # layer 2, position 4</a:t>
            </a:r>
            <a:endParaRPr sz="993" b="0" i="0" u="none" strike="noStrike" cap="none">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ts val="935"/>
              <a:buFont typeface="Calibri"/>
              <a:buNone/>
            </a:pPr>
            <a:endParaRPr sz="993" b="0" i="0" u="none" strike="noStrike" cap="none">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rgbClr val="1A1F26"/>
              </a:buClr>
              <a:buSzPts val="935"/>
              <a:buFont typeface="Consolas"/>
              <a:buNone/>
            </a:pPr>
            <a:r>
              <a:rPr lang="en" sz="993" b="0" i="0" u="none" strike="noStrike" cap="none">
                <a:solidFill>
                  <a:srgbClr val="1A1F26"/>
                </a:solidFill>
                <a:latin typeface="Consolas"/>
                <a:ea typeface="Consolas"/>
                <a:cs typeface="Consolas"/>
                <a:sym typeface="Consolas"/>
              </a:rPr>
              <a:t>from numpy.linalg import norm</a:t>
            </a:r>
            <a:endParaRPr sz="993" b="0" i="0" u="none" strike="noStrike" cap="none">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rgbClr val="1A1F26"/>
              </a:buClr>
              <a:buSzPts val="935"/>
              <a:buFont typeface="Consolas"/>
              <a:buNone/>
            </a:pPr>
            <a:r>
              <a:rPr lang="en" sz="993" b="0" i="0" u="none" strike="noStrike" cap="none">
                <a:solidFill>
                  <a:srgbClr val="1A1F26"/>
                </a:solidFill>
                <a:latin typeface="Consolas"/>
                <a:ea typeface="Consolas"/>
                <a:cs typeface="Consolas"/>
                <a:sym typeface="Consolas"/>
              </a:rPr>
              <a:t>import numpy as np</a:t>
            </a:r>
            <a:endParaRPr sz="993" b="0" i="0" u="none" strike="noStrike" cap="none">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rgbClr val="1A1F26"/>
              </a:buClr>
              <a:buSzPts val="935"/>
              <a:buFont typeface="Consolas"/>
              <a:buNone/>
            </a:pPr>
            <a:r>
              <a:rPr lang="en" sz="993" b="0" i="0" u="none" strike="noStrike" cap="none">
                <a:solidFill>
                  <a:srgbClr val="1A1F26"/>
                </a:solidFill>
                <a:latin typeface="Consolas"/>
                <a:ea typeface="Consolas"/>
                <a:cs typeface="Consolas"/>
                <a:sym typeface="Consolas"/>
              </a:rPr>
              <a:t>sim = np.dot(bank_finance, bank_river) / (norm(bank_finance)*norm(bank_river))</a:t>
            </a:r>
            <a:endParaRPr sz="993" b="0" i="0" u="none" strike="noStrike" cap="none">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rgbClr val="1A1F26"/>
              </a:buClr>
              <a:buSzPts val="935"/>
              <a:buFont typeface="Consolas"/>
              <a:buNone/>
            </a:pPr>
            <a:r>
              <a:rPr lang="en" sz="993" b="0" i="0" u="none" strike="noStrike" cap="none">
                <a:solidFill>
                  <a:srgbClr val="1A1F26"/>
                </a:solidFill>
                <a:latin typeface="Consolas"/>
                <a:ea typeface="Consolas"/>
                <a:cs typeface="Consolas"/>
                <a:sym typeface="Consolas"/>
              </a:rPr>
              <a:t>print(f"Similarity: {sim:.3f}")   # ~0.54 — different!</a:t>
            </a:r>
            <a:endParaRPr sz="993" b="0" i="0" u="none" strike="noStrike" cap="none">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rgbClr val="000000"/>
              </a:buClr>
              <a:buSzPts val="935"/>
              <a:buFont typeface="Arial"/>
              <a:buNone/>
            </a:pPr>
            <a:endParaRPr sz="1715" b="0" i="0" u="none" strike="noStrike" cap="none">
              <a:solidFill>
                <a:schemeClr val="dk2"/>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Shape 819"/>
        <p:cNvGrpSpPr/>
        <p:nvPr/>
      </p:nvGrpSpPr>
      <p:grpSpPr>
        <a:xfrm>
          <a:off x="0" y="0"/>
          <a:ext cx="0" cy="0"/>
          <a:chOff x="0" y="0"/>
          <a:chExt cx="0" cy="0"/>
        </a:xfrm>
      </p:grpSpPr>
      <p:sp>
        <p:nvSpPr>
          <p:cNvPr id="820" name="Google Shape;820;p38"/>
          <p:cNvSpPr/>
          <p:nvPr/>
        </p:nvSpPr>
        <p:spPr>
          <a:xfrm>
            <a:off x="0" y="0"/>
            <a:ext cx="9144000" cy="658500"/>
          </a:xfrm>
          <a:prstGeom prst="rect">
            <a:avLst/>
          </a:prstGeom>
          <a:solidFill>
            <a:srgbClr val="0077B6"/>
          </a:solidFill>
          <a:ln w="12700" cap="flat" cmpd="sng">
            <a:solidFill>
              <a:srgbClr val="0077B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1" name="Google Shape;821;p38"/>
          <p:cNvSpPr/>
          <p:nvPr/>
        </p:nvSpPr>
        <p:spPr>
          <a:xfrm>
            <a:off x="274320" y="54864"/>
            <a:ext cx="6858000" cy="530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2600"/>
              <a:buFont typeface="Calibri"/>
              <a:buNone/>
            </a:pPr>
            <a:r>
              <a:rPr lang="en" sz="2600" b="1" i="0" u="none" strike="noStrike" cap="none">
                <a:solidFill>
                  <a:srgbClr val="FFFFFF"/>
                </a:solidFill>
                <a:latin typeface="Calibri"/>
                <a:ea typeface="Calibri"/>
                <a:cs typeface="Calibri"/>
                <a:sym typeface="Calibri"/>
              </a:rPr>
              <a:t>ELMo: Embeddings from Language Models</a:t>
            </a:r>
            <a:endParaRPr sz="2600" b="0" i="0" u="none" strike="noStrike" cap="none">
              <a:solidFill>
                <a:schemeClr val="dk1"/>
              </a:solidFill>
              <a:latin typeface="Calibri"/>
              <a:ea typeface="Calibri"/>
              <a:cs typeface="Calibri"/>
              <a:sym typeface="Calibri"/>
            </a:endParaRPr>
          </a:p>
        </p:txBody>
      </p:sp>
      <p:sp>
        <p:nvSpPr>
          <p:cNvPr id="822" name="Google Shape;822;p38"/>
          <p:cNvSpPr/>
          <p:nvPr/>
        </p:nvSpPr>
        <p:spPr>
          <a:xfrm>
            <a:off x="7132320" y="182880"/>
            <a:ext cx="1828800" cy="320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90E0EF"/>
              </a:buClr>
              <a:buSzPts val="1000"/>
              <a:buFont typeface="Calibri"/>
              <a:buNone/>
            </a:pPr>
            <a:r>
              <a:rPr lang="en" sz="1000" b="0" i="1" u="none" strike="noStrike" cap="none">
                <a:solidFill>
                  <a:srgbClr val="90E0EF"/>
                </a:solidFill>
                <a:latin typeface="Calibri"/>
                <a:ea typeface="Calibri"/>
                <a:cs typeface="Calibri"/>
                <a:sym typeface="Calibri"/>
              </a:rPr>
              <a:t>Peters et al., 2018  —  AllenNLP</a:t>
            </a:r>
            <a:endParaRPr sz="1000" b="0" i="0" u="none" strike="noStrike" cap="none">
              <a:solidFill>
                <a:schemeClr val="dk1"/>
              </a:solidFill>
              <a:latin typeface="Calibri"/>
              <a:ea typeface="Calibri"/>
              <a:cs typeface="Calibri"/>
              <a:sym typeface="Calibri"/>
            </a:endParaRPr>
          </a:p>
        </p:txBody>
      </p:sp>
      <p:sp>
        <p:nvSpPr>
          <p:cNvPr id="823" name="Google Shape;823;p38"/>
          <p:cNvSpPr/>
          <p:nvPr/>
        </p:nvSpPr>
        <p:spPr>
          <a:xfrm>
            <a:off x="274320" y="749808"/>
            <a:ext cx="85953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472"/>
              </a:buClr>
              <a:buSzPts val="1300"/>
              <a:buFont typeface="Calibri"/>
              <a:buNone/>
            </a:pPr>
            <a:r>
              <a:rPr lang="en" sz="1300" b="0" i="1" u="none" strike="noStrike" cap="none">
                <a:solidFill>
                  <a:srgbClr val="5A6472"/>
                </a:solidFill>
                <a:latin typeface="Calibri"/>
                <a:ea typeface="Calibri"/>
                <a:cs typeface="Calibri"/>
                <a:sym typeface="Calibri"/>
              </a:rPr>
              <a:t>The core idea: context changes meaning</a:t>
            </a:r>
            <a:endParaRPr sz="1300" b="0" i="0" u="none" strike="noStrike" cap="none">
              <a:solidFill>
                <a:schemeClr val="dk1"/>
              </a:solidFill>
              <a:latin typeface="Calibri"/>
              <a:ea typeface="Calibri"/>
              <a:cs typeface="Calibri"/>
              <a:sym typeface="Calibri"/>
            </a:endParaRPr>
          </a:p>
        </p:txBody>
      </p:sp>
      <p:sp>
        <p:nvSpPr>
          <p:cNvPr id="824" name="Google Shape;824;p38"/>
          <p:cNvSpPr/>
          <p:nvPr/>
        </p:nvSpPr>
        <p:spPr>
          <a:xfrm>
            <a:off x="228600" y="1051560"/>
            <a:ext cx="4160400" cy="1326000"/>
          </a:xfrm>
          <a:prstGeom prst="roundRect">
            <a:avLst>
              <a:gd name="adj" fmla="val 6897"/>
            </a:avLst>
          </a:prstGeom>
          <a:solidFill>
            <a:srgbClr val="FFFFFF"/>
          </a:solidFill>
          <a:ln w="19050" cap="flat" cmpd="sng">
            <a:solidFill>
              <a:srgbClr val="E76F51"/>
            </a:solidFill>
            <a:prstDash val="solid"/>
            <a:round/>
            <a:headEnd type="none" w="sm" len="sm"/>
            <a:tailEnd type="none" w="sm" len="sm"/>
          </a:ln>
          <a:effectLst>
            <a:outerShdw blurRad="63500" dist="25400" dir="2700000" algn="bl" rotWithShape="0">
              <a:srgbClr val="8AAABB">
                <a:alpha val="251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5" name="Google Shape;825;p38"/>
          <p:cNvSpPr/>
          <p:nvPr/>
        </p:nvSpPr>
        <p:spPr>
          <a:xfrm>
            <a:off x="411480" y="1115568"/>
            <a:ext cx="37947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E76F51"/>
              </a:buClr>
              <a:buSzPts val="1200"/>
              <a:buFont typeface="Calibri"/>
              <a:buNone/>
            </a:pPr>
            <a:r>
              <a:rPr lang="en" sz="1200" b="1" i="0" u="none" strike="noStrike" cap="none">
                <a:solidFill>
                  <a:srgbClr val="E76F51"/>
                </a:solidFill>
                <a:latin typeface="Calibri"/>
                <a:ea typeface="Calibri"/>
                <a:cs typeface="Calibri"/>
                <a:sym typeface="Calibri"/>
              </a:rPr>
              <a:t>❌  Before ELMo — Static Embeddings</a:t>
            </a:r>
            <a:endParaRPr sz="1200" b="0" i="0" u="none" strike="noStrike" cap="none">
              <a:solidFill>
                <a:schemeClr val="dk1"/>
              </a:solidFill>
              <a:latin typeface="Calibri"/>
              <a:ea typeface="Calibri"/>
              <a:cs typeface="Calibri"/>
              <a:sym typeface="Calibri"/>
            </a:endParaRPr>
          </a:p>
        </p:txBody>
      </p:sp>
      <p:sp>
        <p:nvSpPr>
          <p:cNvPr id="826" name="Google Shape;826;p38"/>
          <p:cNvSpPr/>
          <p:nvPr/>
        </p:nvSpPr>
        <p:spPr>
          <a:xfrm>
            <a:off x="411480" y="1426464"/>
            <a:ext cx="17832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472"/>
              </a:buClr>
              <a:buSzPts val="1100"/>
              <a:buFont typeface="Calibri"/>
              <a:buNone/>
            </a:pPr>
            <a:r>
              <a:rPr lang="en" sz="1100" b="0" i="1" u="none" strike="noStrike" cap="none">
                <a:solidFill>
                  <a:srgbClr val="5A6472"/>
                </a:solidFill>
                <a:latin typeface="Calibri"/>
                <a:ea typeface="Calibri"/>
                <a:cs typeface="Calibri"/>
                <a:sym typeface="Calibri"/>
              </a:rPr>
              <a:t>"bank" in "river bank"</a:t>
            </a:r>
            <a:endParaRPr sz="1100" b="0" i="0" u="none" strike="noStrike" cap="none">
              <a:solidFill>
                <a:schemeClr val="dk1"/>
              </a:solidFill>
              <a:latin typeface="Calibri"/>
              <a:ea typeface="Calibri"/>
              <a:cs typeface="Calibri"/>
              <a:sym typeface="Calibri"/>
            </a:endParaRPr>
          </a:p>
        </p:txBody>
      </p:sp>
      <p:sp>
        <p:nvSpPr>
          <p:cNvPr id="827" name="Google Shape;827;p38"/>
          <p:cNvSpPr/>
          <p:nvPr/>
        </p:nvSpPr>
        <p:spPr>
          <a:xfrm>
            <a:off x="2267712" y="1389888"/>
            <a:ext cx="914400" cy="274200"/>
          </a:xfrm>
          <a:prstGeom prst="roundRect">
            <a:avLst>
              <a:gd name="adj" fmla="val 13333"/>
            </a:avLst>
          </a:prstGeom>
          <a:solidFill>
            <a:srgbClr val="DDE6EF"/>
          </a:solidFill>
          <a:ln w="9525"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8" name="Google Shape;828;p38"/>
          <p:cNvSpPr/>
          <p:nvPr/>
        </p:nvSpPr>
        <p:spPr>
          <a:xfrm>
            <a:off x="2267712" y="1389888"/>
            <a:ext cx="914400" cy="274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1A2E"/>
              </a:buClr>
              <a:buSzPts val="800"/>
              <a:buFont typeface="Courier New"/>
              <a:buNone/>
            </a:pPr>
            <a:r>
              <a:rPr lang="en" sz="800" b="0" i="0" u="none" strike="noStrike" cap="none">
                <a:solidFill>
                  <a:srgbClr val="1A1A2E"/>
                </a:solidFill>
                <a:latin typeface="Courier New"/>
                <a:ea typeface="Courier New"/>
                <a:cs typeface="Courier New"/>
                <a:sym typeface="Courier New"/>
              </a:rPr>
              <a:t>[0.2, 0.7 …]</a:t>
            </a:r>
            <a:endParaRPr sz="800" b="0" i="0" u="none" strike="noStrike" cap="none">
              <a:solidFill>
                <a:schemeClr val="dk1"/>
              </a:solidFill>
              <a:latin typeface="Calibri"/>
              <a:ea typeface="Calibri"/>
              <a:cs typeface="Calibri"/>
              <a:sym typeface="Calibri"/>
            </a:endParaRPr>
          </a:p>
        </p:txBody>
      </p:sp>
      <p:sp>
        <p:nvSpPr>
          <p:cNvPr id="829" name="Google Shape;829;p38"/>
          <p:cNvSpPr/>
          <p:nvPr/>
        </p:nvSpPr>
        <p:spPr>
          <a:xfrm>
            <a:off x="411480" y="1719072"/>
            <a:ext cx="17832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472"/>
              </a:buClr>
              <a:buSzPts val="1100"/>
              <a:buFont typeface="Calibri"/>
              <a:buNone/>
            </a:pPr>
            <a:r>
              <a:rPr lang="en" sz="1100" b="0" i="1" u="none" strike="noStrike" cap="none">
                <a:solidFill>
                  <a:srgbClr val="5A6472"/>
                </a:solidFill>
                <a:latin typeface="Calibri"/>
                <a:ea typeface="Calibri"/>
                <a:cs typeface="Calibri"/>
                <a:sym typeface="Calibri"/>
              </a:rPr>
              <a:t>"bank" in "bank account"</a:t>
            </a:r>
            <a:endParaRPr sz="1100" b="0" i="0" u="none" strike="noStrike" cap="none">
              <a:solidFill>
                <a:schemeClr val="dk1"/>
              </a:solidFill>
              <a:latin typeface="Calibri"/>
              <a:ea typeface="Calibri"/>
              <a:cs typeface="Calibri"/>
              <a:sym typeface="Calibri"/>
            </a:endParaRPr>
          </a:p>
        </p:txBody>
      </p:sp>
      <p:sp>
        <p:nvSpPr>
          <p:cNvPr id="830" name="Google Shape;830;p38"/>
          <p:cNvSpPr/>
          <p:nvPr/>
        </p:nvSpPr>
        <p:spPr>
          <a:xfrm>
            <a:off x="2267712" y="1682496"/>
            <a:ext cx="914400" cy="274200"/>
          </a:xfrm>
          <a:prstGeom prst="roundRect">
            <a:avLst>
              <a:gd name="adj" fmla="val 13333"/>
            </a:avLst>
          </a:prstGeom>
          <a:solidFill>
            <a:srgbClr val="DDE6EF"/>
          </a:solidFill>
          <a:ln w="9525"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1" name="Google Shape;831;p38"/>
          <p:cNvSpPr/>
          <p:nvPr/>
        </p:nvSpPr>
        <p:spPr>
          <a:xfrm>
            <a:off x="2267712" y="1682496"/>
            <a:ext cx="914400" cy="274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1A2E"/>
              </a:buClr>
              <a:buSzPts val="800"/>
              <a:buFont typeface="Courier New"/>
              <a:buNone/>
            </a:pPr>
            <a:r>
              <a:rPr lang="en" sz="800" b="0" i="0" u="none" strike="noStrike" cap="none">
                <a:solidFill>
                  <a:srgbClr val="1A1A2E"/>
                </a:solidFill>
                <a:latin typeface="Courier New"/>
                <a:ea typeface="Courier New"/>
                <a:cs typeface="Courier New"/>
                <a:sym typeface="Courier New"/>
              </a:rPr>
              <a:t>[0.2, 0.7 …]</a:t>
            </a:r>
            <a:endParaRPr sz="800" b="0" i="0" u="none" strike="noStrike" cap="none">
              <a:solidFill>
                <a:schemeClr val="dk1"/>
              </a:solidFill>
              <a:latin typeface="Calibri"/>
              <a:ea typeface="Calibri"/>
              <a:cs typeface="Calibri"/>
              <a:sym typeface="Calibri"/>
            </a:endParaRPr>
          </a:p>
        </p:txBody>
      </p:sp>
      <p:sp>
        <p:nvSpPr>
          <p:cNvPr id="832" name="Google Shape;832;p38"/>
          <p:cNvSpPr/>
          <p:nvPr/>
        </p:nvSpPr>
        <p:spPr>
          <a:xfrm>
            <a:off x="3246120" y="1517904"/>
            <a:ext cx="9144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E76F51"/>
              </a:buClr>
              <a:buSzPts val="1000"/>
              <a:buFont typeface="Calibri"/>
              <a:buNone/>
            </a:pPr>
            <a:r>
              <a:rPr lang="en" sz="1000" b="1" i="0" u="none" strike="noStrike" cap="none">
                <a:solidFill>
                  <a:srgbClr val="E76F51"/>
                </a:solidFill>
                <a:latin typeface="Calibri"/>
                <a:ea typeface="Calibri"/>
                <a:cs typeface="Calibri"/>
                <a:sym typeface="Calibri"/>
              </a:rPr>
              <a:t>← identical!</a:t>
            </a:r>
            <a:endParaRPr sz="1000" b="0" i="0" u="none" strike="noStrike" cap="none">
              <a:solidFill>
                <a:schemeClr val="dk1"/>
              </a:solidFill>
              <a:latin typeface="Calibri"/>
              <a:ea typeface="Calibri"/>
              <a:cs typeface="Calibri"/>
              <a:sym typeface="Calibri"/>
            </a:endParaRPr>
          </a:p>
        </p:txBody>
      </p:sp>
      <p:sp>
        <p:nvSpPr>
          <p:cNvPr id="833" name="Google Shape;833;p38"/>
          <p:cNvSpPr/>
          <p:nvPr/>
        </p:nvSpPr>
        <p:spPr>
          <a:xfrm>
            <a:off x="411480" y="2029968"/>
            <a:ext cx="37491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472"/>
              </a:buClr>
              <a:buSzPts val="1000"/>
              <a:buFont typeface="Calibri"/>
              <a:buNone/>
            </a:pPr>
            <a:r>
              <a:rPr lang="en" sz="1000" b="0" i="1" u="none" strike="noStrike" cap="none">
                <a:solidFill>
                  <a:srgbClr val="5A6472"/>
                </a:solidFill>
                <a:latin typeface="Calibri"/>
                <a:ea typeface="Calibri"/>
                <a:cs typeface="Calibri"/>
                <a:sym typeface="Calibri"/>
              </a:rPr>
              <a:t>Same word → same vector, always. Context ignored.</a:t>
            </a:r>
            <a:endParaRPr sz="1000" b="0" i="0" u="none" strike="noStrike" cap="none">
              <a:solidFill>
                <a:schemeClr val="dk1"/>
              </a:solidFill>
              <a:latin typeface="Calibri"/>
              <a:ea typeface="Calibri"/>
              <a:cs typeface="Calibri"/>
              <a:sym typeface="Calibri"/>
            </a:endParaRPr>
          </a:p>
        </p:txBody>
      </p:sp>
      <p:sp>
        <p:nvSpPr>
          <p:cNvPr id="834" name="Google Shape;834;p38"/>
          <p:cNvSpPr/>
          <p:nvPr/>
        </p:nvSpPr>
        <p:spPr>
          <a:xfrm>
            <a:off x="4754880" y="1051560"/>
            <a:ext cx="4160400" cy="1326000"/>
          </a:xfrm>
          <a:prstGeom prst="roundRect">
            <a:avLst>
              <a:gd name="adj" fmla="val 6897"/>
            </a:avLst>
          </a:prstGeom>
          <a:solidFill>
            <a:srgbClr val="FFFFFF"/>
          </a:solidFill>
          <a:ln w="19050" cap="flat" cmpd="sng">
            <a:solidFill>
              <a:srgbClr val="52B788"/>
            </a:solidFill>
            <a:prstDash val="solid"/>
            <a:round/>
            <a:headEnd type="none" w="sm" len="sm"/>
            <a:tailEnd type="none" w="sm" len="sm"/>
          </a:ln>
          <a:effectLst>
            <a:outerShdw blurRad="63500" dist="25400" dir="2700000" algn="bl" rotWithShape="0">
              <a:srgbClr val="8AAABB">
                <a:alpha val="251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5" name="Google Shape;835;p38"/>
          <p:cNvSpPr/>
          <p:nvPr/>
        </p:nvSpPr>
        <p:spPr>
          <a:xfrm>
            <a:off x="4937760" y="1115568"/>
            <a:ext cx="37947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D6A4F"/>
              </a:buClr>
              <a:buSzPts val="1200"/>
              <a:buFont typeface="Calibri"/>
              <a:buNone/>
            </a:pPr>
            <a:r>
              <a:rPr lang="en" sz="1200" b="1" i="0" u="none" strike="noStrike" cap="none">
                <a:solidFill>
                  <a:srgbClr val="2D6A4F"/>
                </a:solidFill>
                <a:latin typeface="Calibri"/>
                <a:ea typeface="Calibri"/>
                <a:cs typeface="Calibri"/>
                <a:sym typeface="Calibri"/>
              </a:rPr>
              <a:t>✓  ELMo — Contextual Embeddings</a:t>
            </a:r>
            <a:endParaRPr sz="1200" b="0" i="0" u="none" strike="noStrike" cap="none">
              <a:solidFill>
                <a:schemeClr val="dk1"/>
              </a:solidFill>
              <a:latin typeface="Calibri"/>
              <a:ea typeface="Calibri"/>
              <a:cs typeface="Calibri"/>
              <a:sym typeface="Calibri"/>
            </a:endParaRPr>
          </a:p>
        </p:txBody>
      </p:sp>
      <p:sp>
        <p:nvSpPr>
          <p:cNvPr id="836" name="Google Shape;836;p38"/>
          <p:cNvSpPr/>
          <p:nvPr/>
        </p:nvSpPr>
        <p:spPr>
          <a:xfrm>
            <a:off x="4937760" y="1426464"/>
            <a:ext cx="17832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472"/>
              </a:buClr>
              <a:buSzPts val="1100"/>
              <a:buFont typeface="Calibri"/>
              <a:buNone/>
            </a:pPr>
            <a:r>
              <a:rPr lang="en" sz="1100" b="0" i="1" u="none" strike="noStrike" cap="none">
                <a:solidFill>
                  <a:srgbClr val="5A6472"/>
                </a:solidFill>
                <a:latin typeface="Calibri"/>
                <a:ea typeface="Calibri"/>
                <a:cs typeface="Calibri"/>
                <a:sym typeface="Calibri"/>
              </a:rPr>
              <a:t>"bank" in "river bank"</a:t>
            </a:r>
            <a:endParaRPr sz="1100" b="0" i="0" u="none" strike="noStrike" cap="none">
              <a:solidFill>
                <a:schemeClr val="dk1"/>
              </a:solidFill>
              <a:latin typeface="Calibri"/>
              <a:ea typeface="Calibri"/>
              <a:cs typeface="Calibri"/>
              <a:sym typeface="Calibri"/>
            </a:endParaRPr>
          </a:p>
        </p:txBody>
      </p:sp>
      <p:sp>
        <p:nvSpPr>
          <p:cNvPr id="837" name="Google Shape;837;p38"/>
          <p:cNvSpPr/>
          <p:nvPr/>
        </p:nvSpPr>
        <p:spPr>
          <a:xfrm>
            <a:off x="6793992" y="1389888"/>
            <a:ext cx="914400" cy="274200"/>
          </a:xfrm>
          <a:prstGeom prst="roundRect">
            <a:avLst>
              <a:gd name="adj" fmla="val 13333"/>
            </a:avLst>
          </a:prstGeom>
          <a:solidFill>
            <a:srgbClr val="E8F5E9"/>
          </a:solidFill>
          <a:ln w="10150" cap="flat" cmpd="sng">
            <a:solidFill>
              <a:srgbClr val="52B7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8" name="Google Shape;838;p38"/>
          <p:cNvSpPr/>
          <p:nvPr/>
        </p:nvSpPr>
        <p:spPr>
          <a:xfrm>
            <a:off x="6793992" y="1389888"/>
            <a:ext cx="914400" cy="274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D6A4F"/>
              </a:buClr>
              <a:buSzPts val="800"/>
              <a:buFont typeface="Courier New"/>
              <a:buNone/>
            </a:pPr>
            <a:r>
              <a:rPr lang="en" sz="800" b="0" i="0" u="none" strike="noStrike" cap="none">
                <a:solidFill>
                  <a:srgbClr val="2D6A4F"/>
                </a:solidFill>
                <a:latin typeface="Courier New"/>
                <a:ea typeface="Courier New"/>
                <a:cs typeface="Courier New"/>
                <a:sym typeface="Courier New"/>
              </a:rPr>
              <a:t>[0.1, 0.9 …]</a:t>
            </a:r>
            <a:endParaRPr sz="800" b="0" i="0" u="none" strike="noStrike" cap="none">
              <a:solidFill>
                <a:schemeClr val="dk1"/>
              </a:solidFill>
              <a:latin typeface="Calibri"/>
              <a:ea typeface="Calibri"/>
              <a:cs typeface="Calibri"/>
              <a:sym typeface="Calibri"/>
            </a:endParaRPr>
          </a:p>
        </p:txBody>
      </p:sp>
      <p:sp>
        <p:nvSpPr>
          <p:cNvPr id="839" name="Google Shape;839;p38"/>
          <p:cNvSpPr/>
          <p:nvPr/>
        </p:nvSpPr>
        <p:spPr>
          <a:xfrm>
            <a:off x="4937760" y="1719072"/>
            <a:ext cx="17832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472"/>
              </a:buClr>
              <a:buSzPts val="1100"/>
              <a:buFont typeface="Calibri"/>
              <a:buNone/>
            </a:pPr>
            <a:r>
              <a:rPr lang="en" sz="1100" b="0" i="1" u="none" strike="noStrike" cap="none">
                <a:solidFill>
                  <a:srgbClr val="5A6472"/>
                </a:solidFill>
                <a:latin typeface="Calibri"/>
                <a:ea typeface="Calibri"/>
                <a:cs typeface="Calibri"/>
                <a:sym typeface="Calibri"/>
              </a:rPr>
              <a:t>"bank" in "bank account"</a:t>
            </a:r>
            <a:endParaRPr sz="1100" b="0" i="0" u="none" strike="noStrike" cap="none">
              <a:solidFill>
                <a:schemeClr val="dk1"/>
              </a:solidFill>
              <a:latin typeface="Calibri"/>
              <a:ea typeface="Calibri"/>
              <a:cs typeface="Calibri"/>
              <a:sym typeface="Calibri"/>
            </a:endParaRPr>
          </a:p>
        </p:txBody>
      </p:sp>
      <p:sp>
        <p:nvSpPr>
          <p:cNvPr id="840" name="Google Shape;840;p38"/>
          <p:cNvSpPr/>
          <p:nvPr/>
        </p:nvSpPr>
        <p:spPr>
          <a:xfrm>
            <a:off x="6793992" y="1682496"/>
            <a:ext cx="914400" cy="274200"/>
          </a:xfrm>
          <a:prstGeom prst="roundRect">
            <a:avLst>
              <a:gd name="adj" fmla="val 13333"/>
            </a:avLst>
          </a:prstGeom>
          <a:solidFill>
            <a:srgbClr val="E3F2FD"/>
          </a:solidFill>
          <a:ln w="10150" cap="flat" cmpd="sng">
            <a:solidFill>
              <a:srgbClr val="0077B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1" name="Google Shape;841;p38"/>
          <p:cNvSpPr/>
          <p:nvPr/>
        </p:nvSpPr>
        <p:spPr>
          <a:xfrm>
            <a:off x="6793992" y="1682496"/>
            <a:ext cx="914400" cy="274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7B6"/>
              </a:buClr>
              <a:buSzPts val="800"/>
              <a:buFont typeface="Courier New"/>
              <a:buNone/>
            </a:pPr>
            <a:r>
              <a:rPr lang="en" sz="800" b="0" i="0" u="none" strike="noStrike" cap="none">
                <a:solidFill>
                  <a:srgbClr val="0077B6"/>
                </a:solidFill>
                <a:latin typeface="Courier New"/>
                <a:ea typeface="Courier New"/>
                <a:cs typeface="Courier New"/>
                <a:sym typeface="Courier New"/>
              </a:rPr>
              <a:t>[0.8, 0.2 …]</a:t>
            </a:r>
            <a:endParaRPr sz="800" b="0" i="0" u="none" strike="noStrike" cap="none">
              <a:solidFill>
                <a:schemeClr val="dk1"/>
              </a:solidFill>
              <a:latin typeface="Calibri"/>
              <a:ea typeface="Calibri"/>
              <a:cs typeface="Calibri"/>
              <a:sym typeface="Calibri"/>
            </a:endParaRPr>
          </a:p>
        </p:txBody>
      </p:sp>
      <p:sp>
        <p:nvSpPr>
          <p:cNvPr id="842" name="Google Shape;842;p38"/>
          <p:cNvSpPr/>
          <p:nvPr/>
        </p:nvSpPr>
        <p:spPr>
          <a:xfrm>
            <a:off x="7772400" y="1517904"/>
            <a:ext cx="1005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D6A4F"/>
              </a:buClr>
              <a:buSzPts val="1000"/>
              <a:buFont typeface="Calibri"/>
              <a:buNone/>
            </a:pPr>
            <a:r>
              <a:rPr lang="en" sz="1000" b="1" i="0" u="none" strike="noStrike" cap="none">
                <a:solidFill>
                  <a:srgbClr val="2D6A4F"/>
                </a:solidFill>
                <a:latin typeface="Calibri"/>
                <a:ea typeface="Calibri"/>
                <a:cs typeface="Calibri"/>
                <a:sym typeface="Calibri"/>
              </a:rPr>
              <a:t>← different!</a:t>
            </a:r>
            <a:endParaRPr sz="1000" b="0" i="0" u="none" strike="noStrike" cap="none">
              <a:solidFill>
                <a:schemeClr val="dk1"/>
              </a:solidFill>
              <a:latin typeface="Calibri"/>
              <a:ea typeface="Calibri"/>
              <a:cs typeface="Calibri"/>
              <a:sym typeface="Calibri"/>
            </a:endParaRPr>
          </a:p>
        </p:txBody>
      </p:sp>
      <p:sp>
        <p:nvSpPr>
          <p:cNvPr id="843" name="Google Shape;843;p38"/>
          <p:cNvSpPr/>
          <p:nvPr/>
        </p:nvSpPr>
        <p:spPr>
          <a:xfrm>
            <a:off x="4937760" y="2029968"/>
            <a:ext cx="37491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472"/>
              </a:buClr>
              <a:buSzPts val="1000"/>
              <a:buFont typeface="Calibri"/>
              <a:buNone/>
            </a:pPr>
            <a:r>
              <a:rPr lang="en" sz="1000" b="0" i="1" u="none" strike="noStrike" cap="none">
                <a:solidFill>
                  <a:srgbClr val="5A6472"/>
                </a:solidFill>
                <a:latin typeface="Calibri"/>
                <a:ea typeface="Calibri"/>
                <a:cs typeface="Calibri"/>
                <a:sym typeface="Calibri"/>
              </a:rPr>
              <a:t>Same word → different vector based on full sentence.</a:t>
            </a:r>
            <a:endParaRPr sz="1000" b="0" i="0" u="none" strike="noStrike" cap="none">
              <a:solidFill>
                <a:schemeClr val="dk1"/>
              </a:solidFill>
              <a:latin typeface="Calibri"/>
              <a:ea typeface="Calibri"/>
              <a:cs typeface="Calibri"/>
              <a:sym typeface="Calibri"/>
            </a:endParaRPr>
          </a:p>
        </p:txBody>
      </p:sp>
      <p:sp>
        <p:nvSpPr>
          <p:cNvPr id="844" name="Google Shape;844;p38"/>
          <p:cNvSpPr/>
          <p:nvPr/>
        </p:nvSpPr>
        <p:spPr>
          <a:xfrm>
            <a:off x="228600" y="2487168"/>
            <a:ext cx="8686800" cy="2286000"/>
          </a:xfrm>
          <a:prstGeom prst="roundRect">
            <a:avLst>
              <a:gd name="adj" fmla="val 4000"/>
            </a:avLst>
          </a:prstGeom>
          <a:solidFill>
            <a:srgbClr val="FFFFFF"/>
          </a:solidFill>
          <a:ln w="15225" cap="flat" cmpd="sng">
            <a:solidFill>
              <a:srgbClr val="0077B6"/>
            </a:solidFill>
            <a:prstDash val="solid"/>
            <a:round/>
            <a:headEnd type="none" w="sm" len="sm"/>
            <a:tailEnd type="none" w="sm" len="sm"/>
          </a:ln>
          <a:effectLst>
            <a:outerShdw blurRad="63500" dist="25400" dir="2700000" algn="bl" rotWithShape="0">
              <a:srgbClr val="8AAABB">
                <a:alpha val="251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5" name="Google Shape;845;p38"/>
          <p:cNvSpPr/>
          <p:nvPr/>
        </p:nvSpPr>
        <p:spPr>
          <a:xfrm>
            <a:off x="411480" y="2560320"/>
            <a:ext cx="45720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77B6"/>
              </a:buClr>
              <a:buSzPts val="1300"/>
              <a:buFont typeface="Calibri"/>
              <a:buNone/>
            </a:pPr>
            <a:r>
              <a:rPr lang="en" sz="1300" b="1" i="0" u="none" strike="noStrike" cap="none">
                <a:solidFill>
                  <a:srgbClr val="0077B6"/>
                </a:solidFill>
                <a:latin typeface="Calibri"/>
                <a:ea typeface="Calibri"/>
                <a:cs typeface="Calibri"/>
                <a:sym typeface="Calibri"/>
              </a:rPr>
              <a:t>ELMo Architecture — 3 Layers per Token</a:t>
            </a:r>
            <a:endParaRPr sz="1300" b="0" i="0" u="none" strike="noStrike" cap="none">
              <a:solidFill>
                <a:schemeClr val="dk1"/>
              </a:solidFill>
              <a:latin typeface="Calibri"/>
              <a:ea typeface="Calibri"/>
              <a:cs typeface="Calibri"/>
              <a:sym typeface="Calibri"/>
            </a:endParaRPr>
          </a:p>
        </p:txBody>
      </p:sp>
      <p:sp>
        <p:nvSpPr>
          <p:cNvPr id="846" name="Google Shape;846;p38"/>
          <p:cNvSpPr/>
          <p:nvPr/>
        </p:nvSpPr>
        <p:spPr>
          <a:xfrm>
            <a:off x="384048" y="2871216"/>
            <a:ext cx="1005900" cy="347400"/>
          </a:xfrm>
          <a:prstGeom prst="roundRect">
            <a:avLst>
              <a:gd name="adj" fmla="val 15789"/>
            </a:avLst>
          </a:prstGeom>
          <a:solidFill>
            <a:srgbClr val="F3E5F5"/>
          </a:solidFill>
          <a:ln w="12700" cap="flat" cmpd="sng">
            <a:solidFill>
              <a:srgbClr val="5E2D7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7" name="Google Shape;847;p38"/>
          <p:cNvSpPr/>
          <p:nvPr/>
        </p:nvSpPr>
        <p:spPr>
          <a:xfrm>
            <a:off x="384048" y="2871216"/>
            <a:ext cx="10059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E2D79"/>
              </a:buClr>
              <a:buSzPts val="1000"/>
              <a:buFont typeface="Calibri"/>
              <a:buNone/>
            </a:pPr>
            <a:r>
              <a:rPr lang="en" sz="1000" b="1" i="0" u="none" strike="noStrike" cap="none">
                <a:solidFill>
                  <a:srgbClr val="5E2D79"/>
                </a:solidFill>
                <a:latin typeface="Calibri"/>
                <a:ea typeface="Calibri"/>
                <a:cs typeface="Calibri"/>
                <a:sym typeface="Calibri"/>
              </a:rPr>
              <a:t>Layer 2</a:t>
            </a:r>
            <a:endParaRPr sz="1000" b="0" i="0" u="none" strike="noStrike" cap="none">
              <a:solidFill>
                <a:schemeClr val="dk1"/>
              </a:solidFill>
              <a:latin typeface="Calibri"/>
              <a:ea typeface="Calibri"/>
              <a:cs typeface="Calibri"/>
              <a:sym typeface="Calibri"/>
            </a:endParaRPr>
          </a:p>
        </p:txBody>
      </p:sp>
      <p:sp>
        <p:nvSpPr>
          <p:cNvPr id="848" name="Google Shape;848;p38"/>
          <p:cNvSpPr/>
          <p:nvPr/>
        </p:nvSpPr>
        <p:spPr>
          <a:xfrm>
            <a:off x="384048" y="3054096"/>
            <a:ext cx="1005900" cy="1647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A6472"/>
              </a:buClr>
              <a:buSzPts val="800"/>
              <a:buFont typeface="Calibri"/>
              <a:buNone/>
            </a:pPr>
            <a:r>
              <a:rPr lang="en" sz="800" b="0" i="1" u="none" strike="noStrike" cap="none">
                <a:solidFill>
                  <a:srgbClr val="5A6472"/>
                </a:solidFill>
                <a:latin typeface="Calibri"/>
                <a:ea typeface="Calibri"/>
                <a:cs typeface="Calibri"/>
                <a:sym typeface="Calibri"/>
              </a:rPr>
              <a:t>BiLSTM (top)</a:t>
            </a:r>
            <a:endParaRPr sz="800" b="0" i="0" u="none" strike="noStrike" cap="none">
              <a:solidFill>
                <a:schemeClr val="dk1"/>
              </a:solidFill>
              <a:latin typeface="Calibri"/>
              <a:ea typeface="Calibri"/>
              <a:cs typeface="Calibri"/>
              <a:sym typeface="Calibri"/>
            </a:endParaRPr>
          </a:p>
        </p:txBody>
      </p:sp>
      <p:sp>
        <p:nvSpPr>
          <p:cNvPr id="849" name="Google Shape;849;p38"/>
          <p:cNvSpPr/>
          <p:nvPr/>
        </p:nvSpPr>
        <p:spPr>
          <a:xfrm>
            <a:off x="1508760" y="2889504"/>
            <a:ext cx="640200" cy="310800"/>
          </a:xfrm>
          <a:prstGeom prst="roundRect">
            <a:avLst>
              <a:gd name="adj" fmla="val 14706"/>
            </a:avLst>
          </a:prstGeom>
          <a:solidFill>
            <a:srgbClr val="F3E5F5"/>
          </a:solidFill>
          <a:ln w="10150" cap="flat" cmpd="sng">
            <a:solidFill>
              <a:srgbClr val="5E2D7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0" name="Google Shape;850;p38"/>
          <p:cNvSpPr/>
          <p:nvPr/>
        </p:nvSpPr>
        <p:spPr>
          <a:xfrm>
            <a:off x="1508760" y="28895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E2D79"/>
              </a:buClr>
              <a:buSzPts val="1000"/>
              <a:buFont typeface="Calibri"/>
              <a:buNone/>
            </a:pPr>
            <a:r>
              <a:rPr lang="en" sz="1000" b="0" i="0" u="none" strike="noStrike" cap="none">
                <a:solidFill>
                  <a:srgbClr val="5E2D79"/>
                </a:solidFill>
                <a:latin typeface="Calibri"/>
                <a:ea typeface="Calibri"/>
                <a:cs typeface="Calibri"/>
                <a:sym typeface="Calibri"/>
              </a:rPr>
              <a:t>I</a:t>
            </a:r>
            <a:endParaRPr sz="1000" b="0" i="0" u="none" strike="noStrike" cap="none">
              <a:solidFill>
                <a:schemeClr val="dk1"/>
              </a:solidFill>
              <a:latin typeface="Calibri"/>
              <a:ea typeface="Calibri"/>
              <a:cs typeface="Calibri"/>
              <a:sym typeface="Calibri"/>
            </a:endParaRPr>
          </a:p>
        </p:txBody>
      </p:sp>
      <p:sp>
        <p:nvSpPr>
          <p:cNvPr id="851" name="Google Shape;851;p38"/>
          <p:cNvSpPr/>
          <p:nvPr/>
        </p:nvSpPr>
        <p:spPr>
          <a:xfrm>
            <a:off x="2331720" y="2889504"/>
            <a:ext cx="640200" cy="310800"/>
          </a:xfrm>
          <a:prstGeom prst="roundRect">
            <a:avLst>
              <a:gd name="adj" fmla="val 14706"/>
            </a:avLst>
          </a:prstGeom>
          <a:solidFill>
            <a:srgbClr val="F3E5F5"/>
          </a:solidFill>
          <a:ln w="10150" cap="flat" cmpd="sng">
            <a:solidFill>
              <a:srgbClr val="5E2D7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2" name="Google Shape;852;p38"/>
          <p:cNvSpPr/>
          <p:nvPr/>
        </p:nvSpPr>
        <p:spPr>
          <a:xfrm>
            <a:off x="2331720" y="28895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E2D79"/>
              </a:buClr>
              <a:buSzPts val="1000"/>
              <a:buFont typeface="Calibri"/>
              <a:buNone/>
            </a:pPr>
            <a:r>
              <a:rPr lang="en" sz="1000" b="0" i="0" u="none" strike="noStrike" cap="none">
                <a:solidFill>
                  <a:srgbClr val="5E2D79"/>
                </a:solidFill>
                <a:latin typeface="Calibri"/>
                <a:ea typeface="Calibri"/>
                <a:cs typeface="Calibri"/>
                <a:sym typeface="Calibri"/>
              </a:rPr>
              <a:t>went</a:t>
            </a:r>
            <a:endParaRPr sz="1000" b="0" i="0" u="none" strike="noStrike" cap="none">
              <a:solidFill>
                <a:schemeClr val="dk1"/>
              </a:solidFill>
              <a:latin typeface="Calibri"/>
              <a:ea typeface="Calibri"/>
              <a:cs typeface="Calibri"/>
              <a:sym typeface="Calibri"/>
            </a:endParaRPr>
          </a:p>
        </p:txBody>
      </p:sp>
      <p:sp>
        <p:nvSpPr>
          <p:cNvPr id="853" name="Google Shape;853;p38"/>
          <p:cNvSpPr/>
          <p:nvPr/>
        </p:nvSpPr>
        <p:spPr>
          <a:xfrm>
            <a:off x="3154680" y="2889504"/>
            <a:ext cx="640200" cy="310800"/>
          </a:xfrm>
          <a:prstGeom prst="roundRect">
            <a:avLst>
              <a:gd name="adj" fmla="val 14706"/>
            </a:avLst>
          </a:prstGeom>
          <a:solidFill>
            <a:srgbClr val="F3E5F5"/>
          </a:solidFill>
          <a:ln w="10150" cap="flat" cmpd="sng">
            <a:solidFill>
              <a:srgbClr val="5E2D7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4" name="Google Shape;854;p38"/>
          <p:cNvSpPr/>
          <p:nvPr/>
        </p:nvSpPr>
        <p:spPr>
          <a:xfrm>
            <a:off x="3154680" y="28895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E2D79"/>
              </a:buClr>
              <a:buSzPts val="1000"/>
              <a:buFont typeface="Calibri"/>
              <a:buNone/>
            </a:pPr>
            <a:r>
              <a:rPr lang="en" sz="1000" b="0" i="0" u="none" strike="noStrike" cap="none">
                <a:solidFill>
                  <a:srgbClr val="5E2D79"/>
                </a:solidFill>
                <a:latin typeface="Calibri"/>
                <a:ea typeface="Calibri"/>
                <a:cs typeface="Calibri"/>
                <a:sym typeface="Calibri"/>
              </a:rPr>
              <a:t>to</a:t>
            </a:r>
            <a:endParaRPr sz="1000" b="0" i="0" u="none" strike="noStrike" cap="none">
              <a:solidFill>
                <a:schemeClr val="dk1"/>
              </a:solidFill>
              <a:latin typeface="Calibri"/>
              <a:ea typeface="Calibri"/>
              <a:cs typeface="Calibri"/>
              <a:sym typeface="Calibri"/>
            </a:endParaRPr>
          </a:p>
        </p:txBody>
      </p:sp>
      <p:sp>
        <p:nvSpPr>
          <p:cNvPr id="855" name="Google Shape;855;p38"/>
          <p:cNvSpPr/>
          <p:nvPr/>
        </p:nvSpPr>
        <p:spPr>
          <a:xfrm>
            <a:off x="3977640" y="2889504"/>
            <a:ext cx="640200" cy="310800"/>
          </a:xfrm>
          <a:prstGeom prst="roundRect">
            <a:avLst>
              <a:gd name="adj" fmla="val 14706"/>
            </a:avLst>
          </a:prstGeom>
          <a:solidFill>
            <a:srgbClr val="F3E5F5"/>
          </a:solidFill>
          <a:ln w="10150" cap="flat" cmpd="sng">
            <a:solidFill>
              <a:srgbClr val="5E2D7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6" name="Google Shape;856;p38"/>
          <p:cNvSpPr/>
          <p:nvPr/>
        </p:nvSpPr>
        <p:spPr>
          <a:xfrm>
            <a:off x="3977640" y="28895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E2D79"/>
              </a:buClr>
              <a:buSzPts val="1000"/>
              <a:buFont typeface="Calibri"/>
              <a:buNone/>
            </a:pPr>
            <a:r>
              <a:rPr lang="en" sz="1000" b="0" i="0" u="none" strike="noStrike" cap="none">
                <a:solidFill>
                  <a:srgbClr val="5E2D79"/>
                </a:solidFill>
                <a:latin typeface="Calibri"/>
                <a:ea typeface="Calibri"/>
                <a:cs typeface="Calibri"/>
                <a:sym typeface="Calibri"/>
              </a:rPr>
              <a:t>the</a:t>
            </a:r>
            <a:endParaRPr sz="1000" b="0" i="0" u="none" strike="noStrike" cap="none">
              <a:solidFill>
                <a:schemeClr val="dk1"/>
              </a:solidFill>
              <a:latin typeface="Calibri"/>
              <a:ea typeface="Calibri"/>
              <a:cs typeface="Calibri"/>
              <a:sym typeface="Calibri"/>
            </a:endParaRPr>
          </a:p>
        </p:txBody>
      </p:sp>
      <p:sp>
        <p:nvSpPr>
          <p:cNvPr id="857" name="Google Shape;857;p38"/>
          <p:cNvSpPr/>
          <p:nvPr/>
        </p:nvSpPr>
        <p:spPr>
          <a:xfrm>
            <a:off x="4800600" y="2889504"/>
            <a:ext cx="640200" cy="310800"/>
          </a:xfrm>
          <a:prstGeom prst="roundRect">
            <a:avLst>
              <a:gd name="adj" fmla="val 14706"/>
            </a:avLst>
          </a:prstGeom>
          <a:solidFill>
            <a:srgbClr val="F3E5F5"/>
          </a:solidFill>
          <a:ln w="10150" cap="flat" cmpd="sng">
            <a:solidFill>
              <a:srgbClr val="5E2D7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8" name="Google Shape;858;p38"/>
          <p:cNvSpPr/>
          <p:nvPr/>
        </p:nvSpPr>
        <p:spPr>
          <a:xfrm>
            <a:off x="4800600" y="28895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E2D79"/>
              </a:buClr>
              <a:buSzPts val="1000"/>
              <a:buFont typeface="Calibri"/>
              <a:buNone/>
            </a:pPr>
            <a:r>
              <a:rPr lang="en" sz="1000" b="1" i="0" u="none" strike="noStrike" cap="none">
                <a:solidFill>
                  <a:srgbClr val="5E2D79"/>
                </a:solidFill>
                <a:latin typeface="Calibri"/>
                <a:ea typeface="Calibri"/>
                <a:cs typeface="Calibri"/>
                <a:sym typeface="Calibri"/>
              </a:rPr>
              <a:t>bank</a:t>
            </a:r>
            <a:endParaRPr sz="1000" b="0" i="0" u="none" strike="noStrike" cap="none">
              <a:solidFill>
                <a:schemeClr val="dk1"/>
              </a:solidFill>
              <a:latin typeface="Calibri"/>
              <a:ea typeface="Calibri"/>
              <a:cs typeface="Calibri"/>
              <a:sym typeface="Calibri"/>
            </a:endParaRPr>
          </a:p>
        </p:txBody>
      </p:sp>
      <p:sp>
        <p:nvSpPr>
          <p:cNvPr id="859" name="Google Shape;859;p38"/>
          <p:cNvSpPr/>
          <p:nvPr/>
        </p:nvSpPr>
        <p:spPr>
          <a:xfrm>
            <a:off x="5715000" y="2907792"/>
            <a:ext cx="3063300" cy="310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472"/>
              </a:buClr>
              <a:buSzPts val="1000"/>
              <a:buFont typeface="Calibri"/>
              <a:buNone/>
            </a:pPr>
            <a:r>
              <a:rPr lang="en" sz="1000" b="0" i="0" u="none" strike="noStrike" cap="none">
                <a:solidFill>
                  <a:srgbClr val="5A6472"/>
                </a:solidFill>
                <a:latin typeface="Calibri"/>
                <a:ea typeface="Calibri"/>
                <a:cs typeface="Calibri"/>
                <a:sym typeface="Calibri"/>
              </a:rPr>
              <a:t>Semantic meaning — word sense, coreference, context. Used for NLP tasks.</a:t>
            </a:r>
            <a:endParaRPr sz="1000" b="0" i="0" u="none" strike="noStrike" cap="none">
              <a:solidFill>
                <a:schemeClr val="dk1"/>
              </a:solidFill>
              <a:latin typeface="Calibri"/>
              <a:ea typeface="Calibri"/>
              <a:cs typeface="Calibri"/>
              <a:sym typeface="Calibri"/>
            </a:endParaRPr>
          </a:p>
        </p:txBody>
      </p:sp>
      <p:cxnSp>
        <p:nvCxnSpPr>
          <p:cNvPr id="860" name="Google Shape;860;p38"/>
          <p:cNvCxnSpPr/>
          <p:nvPr/>
        </p:nvCxnSpPr>
        <p:spPr>
          <a:xfrm>
            <a:off x="384048" y="3273552"/>
            <a:ext cx="8321100" cy="0"/>
          </a:xfrm>
          <a:prstGeom prst="straightConnector1">
            <a:avLst/>
          </a:prstGeom>
          <a:noFill/>
          <a:ln w="9525" cap="flat" cmpd="sng">
            <a:solidFill>
              <a:srgbClr val="DDE6EF"/>
            </a:solidFill>
            <a:prstDash val="solid"/>
            <a:round/>
            <a:headEnd type="none" w="sm" len="sm"/>
            <a:tailEnd type="none" w="sm" len="sm"/>
          </a:ln>
        </p:spPr>
      </p:cxnSp>
      <p:sp>
        <p:nvSpPr>
          <p:cNvPr id="861" name="Google Shape;861;p38"/>
          <p:cNvSpPr/>
          <p:nvPr/>
        </p:nvSpPr>
        <p:spPr>
          <a:xfrm>
            <a:off x="384048" y="3328416"/>
            <a:ext cx="1005900" cy="347400"/>
          </a:xfrm>
          <a:prstGeom prst="roundRect">
            <a:avLst>
              <a:gd name="adj" fmla="val 15789"/>
            </a:avLst>
          </a:prstGeom>
          <a:solidFill>
            <a:srgbClr val="E3F2FD"/>
          </a:solidFill>
          <a:ln w="12700" cap="flat" cmpd="sng">
            <a:solidFill>
              <a:srgbClr val="0077B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2" name="Google Shape;862;p38"/>
          <p:cNvSpPr/>
          <p:nvPr/>
        </p:nvSpPr>
        <p:spPr>
          <a:xfrm>
            <a:off x="384048" y="3328416"/>
            <a:ext cx="10059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77B6"/>
              </a:buClr>
              <a:buSzPts val="1000"/>
              <a:buFont typeface="Calibri"/>
              <a:buNone/>
            </a:pPr>
            <a:r>
              <a:rPr lang="en" sz="1000" b="1" i="0" u="none" strike="noStrike" cap="none">
                <a:solidFill>
                  <a:srgbClr val="0077B6"/>
                </a:solidFill>
                <a:latin typeface="Calibri"/>
                <a:ea typeface="Calibri"/>
                <a:cs typeface="Calibri"/>
                <a:sym typeface="Calibri"/>
              </a:rPr>
              <a:t>Layer 1</a:t>
            </a:r>
            <a:endParaRPr sz="1000" b="0" i="0" u="none" strike="noStrike" cap="none">
              <a:solidFill>
                <a:schemeClr val="dk1"/>
              </a:solidFill>
              <a:latin typeface="Calibri"/>
              <a:ea typeface="Calibri"/>
              <a:cs typeface="Calibri"/>
              <a:sym typeface="Calibri"/>
            </a:endParaRPr>
          </a:p>
        </p:txBody>
      </p:sp>
      <p:sp>
        <p:nvSpPr>
          <p:cNvPr id="863" name="Google Shape;863;p38"/>
          <p:cNvSpPr/>
          <p:nvPr/>
        </p:nvSpPr>
        <p:spPr>
          <a:xfrm>
            <a:off x="384048" y="3511296"/>
            <a:ext cx="1005900" cy="1647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A6472"/>
              </a:buClr>
              <a:buSzPts val="800"/>
              <a:buFont typeface="Calibri"/>
              <a:buNone/>
            </a:pPr>
            <a:r>
              <a:rPr lang="en" sz="800" b="0" i="1" u="none" strike="noStrike" cap="none">
                <a:solidFill>
                  <a:srgbClr val="5A6472"/>
                </a:solidFill>
                <a:latin typeface="Calibri"/>
                <a:ea typeface="Calibri"/>
                <a:cs typeface="Calibri"/>
                <a:sym typeface="Calibri"/>
              </a:rPr>
              <a:t>BiLSTM (bottom)</a:t>
            </a:r>
            <a:endParaRPr sz="800" b="0" i="0" u="none" strike="noStrike" cap="none">
              <a:solidFill>
                <a:schemeClr val="dk1"/>
              </a:solidFill>
              <a:latin typeface="Calibri"/>
              <a:ea typeface="Calibri"/>
              <a:cs typeface="Calibri"/>
              <a:sym typeface="Calibri"/>
            </a:endParaRPr>
          </a:p>
        </p:txBody>
      </p:sp>
      <p:sp>
        <p:nvSpPr>
          <p:cNvPr id="864" name="Google Shape;864;p38"/>
          <p:cNvSpPr/>
          <p:nvPr/>
        </p:nvSpPr>
        <p:spPr>
          <a:xfrm>
            <a:off x="1508760" y="3346704"/>
            <a:ext cx="640200" cy="310800"/>
          </a:xfrm>
          <a:prstGeom prst="roundRect">
            <a:avLst>
              <a:gd name="adj" fmla="val 14706"/>
            </a:avLst>
          </a:prstGeom>
          <a:solidFill>
            <a:srgbClr val="E3F2FD"/>
          </a:solidFill>
          <a:ln w="10150" cap="flat" cmpd="sng">
            <a:solidFill>
              <a:srgbClr val="0077B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5" name="Google Shape;865;p38"/>
          <p:cNvSpPr/>
          <p:nvPr/>
        </p:nvSpPr>
        <p:spPr>
          <a:xfrm>
            <a:off x="1508760" y="33467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77B6"/>
              </a:buClr>
              <a:buSzPts val="1000"/>
              <a:buFont typeface="Calibri"/>
              <a:buNone/>
            </a:pPr>
            <a:r>
              <a:rPr lang="en" sz="1000" b="0" i="0" u="none" strike="noStrike" cap="none">
                <a:solidFill>
                  <a:srgbClr val="0077B6"/>
                </a:solidFill>
                <a:latin typeface="Calibri"/>
                <a:ea typeface="Calibri"/>
                <a:cs typeface="Calibri"/>
                <a:sym typeface="Calibri"/>
              </a:rPr>
              <a:t>I</a:t>
            </a:r>
            <a:endParaRPr sz="1000" b="0" i="0" u="none" strike="noStrike" cap="none">
              <a:solidFill>
                <a:schemeClr val="dk1"/>
              </a:solidFill>
              <a:latin typeface="Calibri"/>
              <a:ea typeface="Calibri"/>
              <a:cs typeface="Calibri"/>
              <a:sym typeface="Calibri"/>
            </a:endParaRPr>
          </a:p>
        </p:txBody>
      </p:sp>
      <p:sp>
        <p:nvSpPr>
          <p:cNvPr id="866" name="Google Shape;866;p38"/>
          <p:cNvSpPr/>
          <p:nvPr/>
        </p:nvSpPr>
        <p:spPr>
          <a:xfrm>
            <a:off x="2331720" y="3346704"/>
            <a:ext cx="640200" cy="310800"/>
          </a:xfrm>
          <a:prstGeom prst="roundRect">
            <a:avLst>
              <a:gd name="adj" fmla="val 14706"/>
            </a:avLst>
          </a:prstGeom>
          <a:solidFill>
            <a:srgbClr val="E3F2FD"/>
          </a:solidFill>
          <a:ln w="10150" cap="flat" cmpd="sng">
            <a:solidFill>
              <a:srgbClr val="0077B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7" name="Google Shape;867;p38"/>
          <p:cNvSpPr/>
          <p:nvPr/>
        </p:nvSpPr>
        <p:spPr>
          <a:xfrm>
            <a:off x="2331720" y="33467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77B6"/>
              </a:buClr>
              <a:buSzPts val="1000"/>
              <a:buFont typeface="Calibri"/>
              <a:buNone/>
            </a:pPr>
            <a:r>
              <a:rPr lang="en" sz="1000" b="0" i="0" u="none" strike="noStrike" cap="none">
                <a:solidFill>
                  <a:srgbClr val="0077B6"/>
                </a:solidFill>
                <a:latin typeface="Calibri"/>
                <a:ea typeface="Calibri"/>
                <a:cs typeface="Calibri"/>
                <a:sym typeface="Calibri"/>
              </a:rPr>
              <a:t>went</a:t>
            </a:r>
            <a:endParaRPr sz="1000" b="0" i="0" u="none" strike="noStrike" cap="none">
              <a:solidFill>
                <a:schemeClr val="dk1"/>
              </a:solidFill>
              <a:latin typeface="Calibri"/>
              <a:ea typeface="Calibri"/>
              <a:cs typeface="Calibri"/>
              <a:sym typeface="Calibri"/>
            </a:endParaRPr>
          </a:p>
        </p:txBody>
      </p:sp>
      <p:sp>
        <p:nvSpPr>
          <p:cNvPr id="868" name="Google Shape;868;p38"/>
          <p:cNvSpPr/>
          <p:nvPr/>
        </p:nvSpPr>
        <p:spPr>
          <a:xfrm>
            <a:off x="3154680" y="3346704"/>
            <a:ext cx="640200" cy="310800"/>
          </a:xfrm>
          <a:prstGeom prst="roundRect">
            <a:avLst>
              <a:gd name="adj" fmla="val 14706"/>
            </a:avLst>
          </a:prstGeom>
          <a:solidFill>
            <a:srgbClr val="E3F2FD"/>
          </a:solidFill>
          <a:ln w="10150" cap="flat" cmpd="sng">
            <a:solidFill>
              <a:srgbClr val="0077B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9" name="Google Shape;869;p38"/>
          <p:cNvSpPr/>
          <p:nvPr/>
        </p:nvSpPr>
        <p:spPr>
          <a:xfrm>
            <a:off x="3154680" y="33467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77B6"/>
              </a:buClr>
              <a:buSzPts val="1000"/>
              <a:buFont typeface="Calibri"/>
              <a:buNone/>
            </a:pPr>
            <a:r>
              <a:rPr lang="en" sz="1000" b="0" i="0" u="none" strike="noStrike" cap="none">
                <a:solidFill>
                  <a:srgbClr val="0077B6"/>
                </a:solidFill>
                <a:latin typeface="Calibri"/>
                <a:ea typeface="Calibri"/>
                <a:cs typeface="Calibri"/>
                <a:sym typeface="Calibri"/>
              </a:rPr>
              <a:t>to</a:t>
            </a:r>
            <a:endParaRPr sz="1000" b="0" i="0" u="none" strike="noStrike" cap="none">
              <a:solidFill>
                <a:schemeClr val="dk1"/>
              </a:solidFill>
              <a:latin typeface="Calibri"/>
              <a:ea typeface="Calibri"/>
              <a:cs typeface="Calibri"/>
              <a:sym typeface="Calibri"/>
            </a:endParaRPr>
          </a:p>
        </p:txBody>
      </p:sp>
      <p:sp>
        <p:nvSpPr>
          <p:cNvPr id="870" name="Google Shape;870;p38"/>
          <p:cNvSpPr/>
          <p:nvPr/>
        </p:nvSpPr>
        <p:spPr>
          <a:xfrm>
            <a:off x="3977640" y="3346704"/>
            <a:ext cx="640200" cy="310800"/>
          </a:xfrm>
          <a:prstGeom prst="roundRect">
            <a:avLst>
              <a:gd name="adj" fmla="val 14706"/>
            </a:avLst>
          </a:prstGeom>
          <a:solidFill>
            <a:srgbClr val="E3F2FD"/>
          </a:solidFill>
          <a:ln w="10150" cap="flat" cmpd="sng">
            <a:solidFill>
              <a:srgbClr val="0077B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1" name="Google Shape;871;p38"/>
          <p:cNvSpPr/>
          <p:nvPr/>
        </p:nvSpPr>
        <p:spPr>
          <a:xfrm>
            <a:off x="3977640" y="33467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77B6"/>
              </a:buClr>
              <a:buSzPts val="1000"/>
              <a:buFont typeface="Calibri"/>
              <a:buNone/>
            </a:pPr>
            <a:r>
              <a:rPr lang="en" sz="1000" b="0" i="0" u="none" strike="noStrike" cap="none">
                <a:solidFill>
                  <a:srgbClr val="0077B6"/>
                </a:solidFill>
                <a:latin typeface="Calibri"/>
                <a:ea typeface="Calibri"/>
                <a:cs typeface="Calibri"/>
                <a:sym typeface="Calibri"/>
              </a:rPr>
              <a:t>the</a:t>
            </a:r>
            <a:endParaRPr sz="1000" b="0" i="0" u="none" strike="noStrike" cap="none">
              <a:solidFill>
                <a:schemeClr val="dk1"/>
              </a:solidFill>
              <a:latin typeface="Calibri"/>
              <a:ea typeface="Calibri"/>
              <a:cs typeface="Calibri"/>
              <a:sym typeface="Calibri"/>
            </a:endParaRPr>
          </a:p>
        </p:txBody>
      </p:sp>
      <p:sp>
        <p:nvSpPr>
          <p:cNvPr id="872" name="Google Shape;872;p38"/>
          <p:cNvSpPr/>
          <p:nvPr/>
        </p:nvSpPr>
        <p:spPr>
          <a:xfrm>
            <a:off x="4800600" y="3346704"/>
            <a:ext cx="640200" cy="310800"/>
          </a:xfrm>
          <a:prstGeom prst="roundRect">
            <a:avLst>
              <a:gd name="adj" fmla="val 14706"/>
            </a:avLst>
          </a:prstGeom>
          <a:solidFill>
            <a:srgbClr val="E3F2FD"/>
          </a:solidFill>
          <a:ln w="10150" cap="flat" cmpd="sng">
            <a:solidFill>
              <a:srgbClr val="0077B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3" name="Google Shape;873;p38"/>
          <p:cNvSpPr/>
          <p:nvPr/>
        </p:nvSpPr>
        <p:spPr>
          <a:xfrm>
            <a:off x="4800600" y="33467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77B6"/>
              </a:buClr>
              <a:buSzPts val="1000"/>
              <a:buFont typeface="Calibri"/>
              <a:buNone/>
            </a:pPr>
            <a:r>
              <a:rPr lang="en" sz="1000" b="1" i="0" u="none" strike="noStrike" cap="none">
                <a:solidFill>
                  <a:srgbClr val="0077B6"/>
                </a:solidFill>
                <a:latin typeface="Calibri"/>
                <a:ea typeface="Calibri"/>
                <a:cs typeface="Calibri"/>
                <a:sym typeface="Calibri"/>
              </a:rPr>
              <a:t>bank</a:t>
            </a:r>
            <a:endParaRPr sz="1000" b="0" i="0" u="none" strike="noStrike" cap="none">
              <a:solidFill>
                <a:schemeClr val="dk1"/>
              </a:solidFill>
              <a:latin typeface="Calibri"/>
              <a:ea typeface="Calibri"/>
              <a:cs typeface="Calibri"/>
              <a:sym typeface="Calibri"/>
            </a:endParaRPr>
          </a:p>
        </p:txBody>
      </p:sp>
      <p:sp>
        <p:nvSpPr>
          <p:cNvPr id="874" name="Google Shape;874;p38"/>
          <p:cNvSpPr/>
          <p:nvPr/>
        </p:nvSpPr>
        <p:spPr>
          <a:xfrm>
            <a:off x="5715000" y="3364992"/>
            <a:ext cx="3063300" cy="310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472"/>
              </a:buClr>
              <a:buSzPts val="1000"/>
              <a:buFont typeface="Calibri"/>
              <a:buNone/>
            </a:pPr>
            <a:r>
              <a:rPr lang="en" sz="1000" b="0" i="0" u="none" strike="noStrike" cap="none">
                <a:solidFill>
                  <a:srgbClr val="5A6472"/>
                </a:solidFill>
                <a:latin typeface="Calibri"/>
                <a:ea typeface="Calibri"/>
                <a:cs typeface="Calibri"/>
                <a:sym typeface="Calibri"/>
              </a:rPr>
              <a:t>Syntactic structure — POS tags, chunking, dependency roles.</a:t>
            </a:r>
            <a:endParaRPr sz="1000" b="0" i="0" u="none" strike="noStrike" cap="none">
              <a:solidFill>
                <a:schemeClr val="dk1"/>
              </a:solidFill>
              <a:latin typeface="Calibri"/>
              <a:ea typeface="Calibri"/>
              <a:cs typeface="Calibri"/>
              <a:sym typeface="Calibri"/>
            </a:endParaRPr>
          </a:p>
        </p:txBody>
      </p:sp>
      <p:cxnSp>
        <p:nvCxnSpPr>
          <p:cNvPr id="875" name="Google Shape;875;p38"/>
          <p:cNvCxnSpPr/>
          <p:nvPr/>
        </p:nvCxnSpPr>
        <p:spPr>
          <a:xfrm>
            <a:off x="384048" y="3730752"/>
            <a:ext cx="8321100" cy="0"/>
          </a:xfrm>
          <a:prstGeom prst="straightConnector1">
            <a:avLst/>
          </a:prstGeom>
          <a:noFill/>
          <a:ln w="9525" cap="flat" cmpd="sng">
            <a:solidFill>
              <a:srgbClr val="DDE6EF"/>
            </a:solidFill>
            <a:prstDash val="solid"/>
            <a:round/>
            <a:headEnd type="none" w="sm" len="sm"/>
            <a:tailEnd type="none" w="sm" len="sm"/>
          </a:ln>
        </p:spPr>
      </p:cxnSp>
      <p:sp>
        <p:nvSpPr>
          <p:cNvPr id="876" name="Google Shape;876;p38"/>
          <p:cNvSpPr/>
          <p:nvPr/>
        </p:nvSpPr>
        <p:spPr>
          <a:xfrm>
            <a:off x="384048" y="3785616"/>
            <a:ext cx="1005900" cy="347400"/>
          </a:xfrm>
          <a:prstGeom prst="roundRect">
            <a:avLst>
              <a:gd name="adj" fmla="val 15789"/>
            </a:avLst>
          </a:prstGeom>
          <a:solidFill>
            <a:srgbClr val="FFF3E0"/>
          </a:solidFill>
          <a:ln w="12700" cap="flat" cmpd="sng">
            <a:solidFill>
              <a:srgbClr val="E76F5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7" name="Google Shape;877;p38"/>
          <p:cNvSpPr/>
          <p:nvPr/>
        </p:nvSpPr>
        <p:spPr>
          <a:xfrm>
            <a:off x="384048" y="3785616"/>
            <a:ext cx="10059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76F51"/>
              </a:buClr>
              <a:buSzPts val="1000"/>
              <a:buFont typeface="Calibri"/>
              <a:buNone/>
            </a:pPr>
            <a:r>
              <a:rPr lang="en" sz="1000" b="1" i="0" u="none" strike="noStrike" cap="none">
                <a:solidFill>
                  <a:srgbClr val="E76F51"/>
                </a:solidFill>
                <a:latin typeface="Calibri"/>
                <a:ea typeface="Calibri"/>
                <a:cs typeface="Calibri"/>
                <a:sym typeface="Calibri"/>
              </a:rPr>
              <a:t>Layer 0</a:t>
            </a:r>
            <a:endParaRPr sz="1000" b="0" i="0" u="none" strike="noStrike" cap="none">
              <a:solidFill>
                <a:schemeClr val="dk1"/>
              </a:solidFill>
              <a:latin typeface="Calibri"/>
              <a:ea typeface="Calibri"/>
              <a:cs typeface="Calibri"/>
              <a:sym typeface="Calibri"/>
            </a:endParaRPr>
          </a:p>
        </p:txBody>
      </p:sp>
      <p:sp>
        <p:nvSpPr>
          <p:cNvPr id="878" name="Google Shape;878;p38"/>
          <p:cNvSpPr/>
          <p:nvPr/>
        </p:nvSpPr>
        <p:spPr>
          <a:xfrm>
            <a:off x="384048" y="3968496"/>
            <a:ext cx="1005900" cy="1647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A6472"/>
              </a:buClr>
              <a:buSzPts val="800"/>
              <a:buFont typeface="Calibri"/>
              <a:buNone/>
            </a:pPr>
            <a:r>
              <a:rPr lang="en" sz="800" b="0" i="1" u="none" strike="noStrike" cap="none">
                <a:solidFill>
                  <a:srgbClr val="5A6472"/>
                </a:solidFill>
                <a:latin typeface="Calibri"/>
                <a:ea typeface="Calibri"/>
                <a:cs typeface="Calibri"/>
                <a:sym typeface="Calibri"/>
              </a:rPr>
              <a:t>Char CNN</a:t>
            </a:r>
            <a:endParaRPr sz="800" b="0" i="0" u="none" strike="noStrike" cap="none">
              <a:solidFill>
                <a:schemeClr val="dk1"/>
              </a:solidFill>
              <a:latin typeface="Calibri"/>
              <a:ea typeface="Calibri"/>
              <a:cs typeface="Calibri"/>
              <a:sym typeface="Calibri"/>
            </a:endParaRPr>
          </a:p>
        </p:txBody>
      </p:sp>
      <p:sp>
        <p:nvSpPr>
          <p:cNvPr id="879" name="Google Shape;879;p38"/>
          <p:cNvSpPr/>
          <p:nvPr/>
        </p:nvSpPr>
        <p:spPr>
          <a:xfrm>
            <a:off x="1508760" y="3803904"/>
            <a:ext cx="640200" cy="310800"/>
          </a:xfrm>
          <a:prstGeom prst="roundRect">
            <a:avLst>
              <a:gd name="adj" fmla="val 14706"/>
            </a:avLst>
          </a:prstGeom>
          <a:solidFill>
            <a:srgbClr val="FFF3E0"/>
          </a:solidFill>
          <a:ln w="10150" cap="flat" cmpd="sng">
            <a:solidFill>
              <a:srgbClr val="E76F5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0" name="Google Shape;880;p38"/>
          <p:cNvSpPr/>
          <p:nvPr/>
        </p:nvSpPr>
        <p:spPr>
          <a:xfrm>
            <a:off x="1508760" y="38039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76F51"/>
              </a:buClr>
              <a:buSzPts val="1000"/>
              <a:buFont typeface="Calibri"/>
              <a:buNone/>
            </a:pPr>
            <a:r>
              <a:rPr lang="en" sz="1000" b="0" i="0" u="none" strike="noStrike" cap="none">
                <a:solidFill>
                  <a:srgbClr val="E76F51"/>
                </a:solidFill>
                <a:latin typeface="Calibri"/>
                <a:ea typeface="Calibri"/>
                <a:cs typeface="Calibri"/>
                <a:sym typeface="Calibri"/>
              </a:rPr>
              <a:t>I</a:t>
            </a:r>
            <a:endParaRPr sz="1000" b="0" i="0" u="none" strike="noStrike" cap="none">
              <a:solidFill>
                <a:schemeClr val="dk1"/>
              </a:solidFill>
              <a:latin typeface="Calibri"/>
              <a:ea typeface="Calibri"/>
              <a:cs typeface="Calibri"/>
              <a:sym typeface="Calibri"/>
            </a:endParaRPr>
          </a:p>
        </p:txBody>
      </p:sp>
      <p:sp>
        <p:nvSpPr>
          <p:cNvPr id="881" name="Google Shape;881;p38"/>
          <p:cNvSpPr/>
          <p:nvPr/>
        </p:nvSpPr>
        <p:spPr>
          <a:xfrm>
            <a:off x="2331720" y="3803904"/>
            <a:ext cx="640200" cy="310800"/>
          </a:xfrm>
          <a:prstGeom prst="roundRect">
            <a:avLst>
              <a:gd name="adj" fmla="val 14706"/>
            </a:avLst>
          </a:prstGeom>
          <a:solidFill>
            <a:srgbClr val="FFF3E0"/>
          </a:solidFill>
          <a:ln w="10150" cap="flat" cmpd="sng">
            <a:solidFill>
              <a:srgbClr val="E76F5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2" name="Google Shape;882;p38"/>
          <p:cNvSpPr/>
          <p:nvPr/>
        </p:nvSpPr>
        <p:spPr>
          <a:xfrm>
            <a:off x="2331720" y="38039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76F51"/>
              </a:buClr>
              <a:buSzPts val="1000"/>
              <a:buFont typeface="Calibri"/>
              <a:buNone/>
            </a:pPr>
            <a:r>
              <a:rPr lang="en" sz="1000" b="0" i="0" u="none" strike="noStrike" cap="none">
                <a:solidFill>
                  <a:srgbClr val="E76F51"/>
                </a:solidFill>
                <a:latin typeface="Calibri"/>
                <a:ea typeface="Calibri"/>
                <a:cs typeface="Calibri"/>
                <a:sym typeface="Calibri"/>
              </a:rPr>
              <a:t>went</a:t>
            </a:r>
            <a:endParaRPr sz="1000" b="0" i="0" u="none" strike="noStrike" cap="none">
              <a:solidFill>
                <a:schemeClr val="dk1"/>
              </a:solidFill>
              <a:latin typeface="Calibri"/>
              <a:ea typeface="Calibri"/>
              <a:cs typeface="Calibri"/>
              <a:sym typeface="Calibri"/>
            </a:endParaRPr>
          </a:p>
        </p:txBody>
      </p:sp>
      <p:sp>
        <p:nvSpPr>
          <p:cNvPr id="883" name="Google Shape;883;p38"/>
          <p:cNvSpPr/>
          <p:nvPr/>
        </p:nvSpPr>
        <p:spPr>
          <a:xfrm>
            <a:off x="3154680" y="3803904"/>
            <a:ext cx="640200" cy="310800"/>
          </a:xfrm>
          <a:prstGeom prst="roundRect">
            <a:avLst>
              <a:gd name="adj" fmla="val 14706"/>
            </a:avLst>
          </a:prstGeom>
          <a:solidFill>
            <a:srgbClr val="FFF3E0"/>
          </a:solidFill>
          <a:ln w="10150" cap="flat" cmpd="sng">
            <a:solidFill>
              <a:srgbClr val="E76F5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4" name="Google Shape;884;p38"/>
          <p:cNvSpPr/>
          <p:nvPr/>
        </p:nvSpPr>
        <p:spPr>
          <a:xfrm>
            <a:off x="3154680" y="38039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76F51"/>
              </a:buClr>
              <a:buSzPts val="1000"/>
              <a:buFont typeface="Calibri"/>
              <a:buNone/>
            </a:pPr>
            <a:r>
              <a:rPr lang="en" sz="1000" b="0" i="0" u="none" strike="noStrike" cap="none">
                <a:solidFill>
                  <a:srgbClr val="E76F51"/>
                </a:solidFill>
                <a:latin typeface="Calibri"/>
                <a:ea typeface="Calibri"/>
                <a:cs typeface="Calibri"/>
                <a:sym typeface="Calibri"/>
              </a:rPr>
              <a:t>to</a:t>
            </a:r>
            <a:endParaRPr sz="1000" b="0" i="0" u="none" strike="noStrike" cap="none">
              <a:solidFill>
                <a:schemeClr val="dk1"/>
              </a:solidFill>
              <a:latin typeface="Calibri"/>
              <a:ea typeface="Calibri"/>
              <a:cs typeface="Calibri"/>
              <a:sym typeface="Calibri"/>
            </a:endParaRPr>
          </a:p>
        </p:txBody>
      </p:sp>
      <p:sp>
        <p:nvSpPr>
          <p:cNvPr id="885" name="Google Shape;885;p38"/>
          <p:cNvSpPr/>
          <p:nvPr/>
        </p:nvSpPr>
        <p:spPr>
          <a:xfrm>
            <a:off x="3977640" y="3803904"/>
            <a:ext cx="640200" cy="310800"/>
          </a:xfrm>
          <a:prstGeom prst="roundRect">
            <a:avLst>
              <a:gd name="adj" fmla="val 14706"/>
            </a:avLst>
          </a:prstGeom>
          <a:solidFill>
            <a:srgbClr val="FFF3E0"/>
          </a:solidFill>
          <a:ln w="10150" cap="flat" cmpd="sng">
            <a:solidFill>
              <a:srgbClr val="E76F5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6" name="Google Shape;886;p38"/>
          <p:cNvSpPr/>
          <p:nvPr/>
        </p:nvSpPr>
        <p:spPr>
          <a:xfrm>
            <a:off x="3977640" y="38039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76F51"/>
              </a:buClr>
              <a:buSzPts val="1000"/>
              <a:buFont typeface="Calibri"/>
              <a:buNone/>
            </a:pPr>
            <a:r>
              <a:rPr lang="en" sz="1000" b="0" i="0" u="none" strike="noStrike" cap="none">
                <a:solidFill>
                  <a:srgbClr val="E76F51"/>
                </a:solidFill>
                <a:latin typeface="Calibri"/>
                <a:ea typeface="Calibri"/>
                <a:cs typeface="Calibri"/>
                <a:sym typeface="Calibri"/>
              </a:rPr>
              <a:t>the</a:t>
            </a:r>
            <a:endParaRPr sz="1000" b="0" i="0" u="none" strike="noStrike" cap="none">
              <a:solidFill>
                <a:schemeClr val="dk1"/>
              </a:solidFill>
              <a:latin typeface="Calibri"/>
              <a:ea typeface="Calibri"/>
              <a:cs typeface="Calibri"/>
              <a:sym typeface="Calibri"/>
            </a:endParaRPr>
          </a:p>
        </p:txBody>
      </p:sp>
      <p:sp>
        <p:nvSpPr>
          <p:cNvPr id="887" name="Google Shape;887;p38"/>
          <p:cNvSpPr/>
          <p:nvPr/>
        </p:nvSpPr>
        <p:spPr>
          <a:xfrm>
            <a:off x="4800600" y="3803904"/>
            <a:ext cx="640200" cy="310800"/>
          </a:xfrm>
          <a:prstGeom prst="roundRect">
            <a:avLst>
              <a:gd name="adj" fmla="val 14706"/>
            </a:avLst>
          </a:prstGeom>
          <a:solidFill>
            <a:srgbClr val="FFF3E0"/>
          </a:solidFill>
          <a:ln w="10150" cap="flat" cmpd="sng">
            <a:solidFill>
              <a:srgbClr val="E76F5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8" name="Google Shape;888;p38"/>
          <p:cNvSpPr/>
          <p:nvPr/>
        </p:nvSpPr>
        <p:spPr>
          <a:xfrm>
            <a:off x="4800600" y="3803904"/>
            <a:ext cx="640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76F51"/>
              </a:buClr>
              <a:buSzPts val="1000"/>
              <a:buFont typeface="Calibri"/>
              <a:buNone/>
            </a:pPr>
            <a:r>
              <a:rPr lang="en" sz="1000" b="1" i="0" u="none" strike="noStrike" cap="none">
                <a:solidFill>
                  <a:srgbClr val="E76F51"/>
                </a:solidFill>
                <a:latin typeface="Calibri"/>
                <a:ea typeface="Calibri"/>
                <a:cs typeface="Calibri"/>
                <a:sym typeface="Calibri"/>
              </a:rPr>
              <a:t>bank</a:t>
            </a:r>
            <a:endParaRPr sz="1000" b="0" i="0" u="none" strike="noStrike" cap="none">
              <a:solidFill>
                <a:schemeClr val="dk1"/>
              </a:solidFill>
              <a:latin typeface="Calibri"/>
              <a:ea typeface="Calibri"/>
              <a:cs typeface="Calibri"/>
              <a:sym typeface="Calibri"/>
            </a:endParaRPr>
          </a:p>
        </p:txBody>
      </p:sp>
      <p:sp>
        <p:nvSpPr>
          <p:cNvPr id="889" name="Google Shape;889;p38"/>
          <p:cNvSpPr/>
          <p:nvPr/>
        </p:nvSpPr>
        <p:spPr>
          <a:xfrm>
            <a:off x="5715000" y="3822192"/>
            <a:ext cx="3063300" cy="310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472"/>
              </a:buClr>
              <a:buSzPts val="1000"/>
              <a:buFont typeface="Calibri"/>
              <a:buNone/>
            </a:pPr>
            <a:r>
              <a:rPr lang="en" sz="1000" b="0" i="0" u="none" strike="noStrike" cap="none">
                <a:solidFill>
                  <a:srgbClr val="5A6472"/>
                </a:solidFill>
                <a:latin typeface="Calibri"/>
                <a:ea typeface="Calibri"/>
                <a:cs typeface="Calibri"/>
                <a:sym typeface="Calibri"/>
              </a:rPr>
              <a:t>Word form — morphology, spelling, handles unknown words.</a:t>
            </a:r>
            <a:endParaRPr sz="1000" b="0" i="0" u="none" strike="noStrike" cap="none">
              <a:solidFill>
                <a:schemeClr val="dk1"/>
              </a:solidFill>
              <a:latin typeface="Calibri"/>
              <a:ea typeface="Calibri"/>
              <a:cs typeface="Calibri"/>
              <a:sym typeface="Calibri"/>
            </a:endParaRPr>
          </a:p>
        </p:txBody>
      </p:sp>
      <p:sp>
        <p:nvSpPr>
          <p:cNvPr id="890" name="Google Shape;890;p38"/>
          <p:cNvSpPr/>
          <p:nvPr/>
        </p:nvSpPr>
        <p:spPr>
          <a:xfrm>
            <a:off x="1508760" y="3255264"/>
            <a:ext cx="2743200" cy="18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77B6"/>
              </a:buClr>
              <a:buSzPts val="800"/>
              <a:buFont typeface="Calibri"/>
              <a:buNone/>
            </a:pPr>
            <a:r>
              <a:rPr lang="en" sz="800" b="0" i="1" u="none" strike="noStrike" cap="none">
                <a:solidFill>
                  <a:srgbClr val="0077B6"/>
                </a:solidFill>
                <a:latin typeface="Calibri"/>
                <a:ea typeface="Calibri"/>
                <a:cs typeface="Calibri"/>
                <a:sym typeface="Calibri"/>
              </a:rPr>
              <a:t>→ fwd / ← bwd</a:t>
            </a:r>
            <a:endParaRPr sz="800" b="0" i="0" u="none" strike="noStrike" cap="none">
              <a:solidFill>
                <a:schemeClr val="dk1"/>
              </a:solidFill>
              <a:latin typeface="Calibri"/>
              <a:ea typeface="Calibri"/>
              <a:cs typeface="Calibri"/>
              <a:sym typeface="Calibri"/>
            </a:endParaRPr>
          </a:p>
        </p:txBody>
      </p:sp>
      <p:sp>
        <p:nvSpPr>
          <p:cNvPr id="891" name="Google Shape;891;p38"/>
          <p:cNvSpPr/>
          <p:nvPr/>
        </p:nvSpPr>
        <p:spPr>
          <a:xfrm>
            <a:off x="228600" y="4846320"/>
            <a:ext cx="8686800" cy="255900"/>
          </a:xfrm>
          <a:prstGeom prst="roundRect">
            <a:avLst>
              <a:gd name="adj" fmla="val 21429"/>
            </a:avLst>
          </a:prstGeom>
          <a:solidFill>
            <a:srgbClr val="EBF5FB"/>
          </a:solidFill>
          <a:ln w="12700" cap="flat" cmpd="sng">
            <a:solidFill>
              <a:srgbClr val="0077B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2" name="Google Shape;892;p38"/>
          <p:cNvSpPr/>
          <p:nvPr/>
        </p:nvSpPr>
        <p:spPr>
          <a:xfrm>
            <a:off x="228600" y="4846320"/>
            <a:ext cx="8686800" cy="255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7B6"/>
              </a:buClr>
              <a:buSzPts val="1100"/>
              <a:buFont typeface="Courier New"/>
              <a:buNone/>
            </a:pPr>
            <a:r>
              <a:rPr lang="en" sz="1100" b="1" i="0" u="none" strike="noStrike" cap="none">
                <a:solidFill>
                  <a:srgbClr val="0077B6"/>
                </a:solidFill>
                <a:latin typeface="Courier New"/>
                <a:ea typeface="Courier New"/>
                <a:cs typeface="Courier New"/>
                <a:sym typeface="Courier New"/>
              </a:rPr>
              <a:t>ELMo(token)  =  γ · ( s₀·layer₀  +  s₁·layer₁  +  s₂·layer₂ )     </a:t>
            </a:r>
            <a:r>
              <a:rPr lang="en" sz="1000" b="0" i="0" u="none" strike="noStrike" cap="none">
                <a:solidFill>
                  <a:srgbClr val="5A6472"/>
                </a:solidFill>
                <a:latin typeface="Calibri"/>
                <a:ea typeface="Calibri"/>
                <a:cs typeface="Calibri"/>
                <a:sym typeface="Calibri"/>
              </a:rPr>
              <a:t>s₀, s₁, s₂ = task-specific learned weights (softmax normalised)</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Shape 897"/>
        <p:cNvGrpSpPr/>
        <p:nvPr/>
      </p:nvGrpSpPr>
      <p:grpSpPr>
        <a:xfrm>
          <a:off x="0" y="0"/>
          <a:ext cx="0" cy="0"/>
          <a:chOff x="0" y="0"/>
          <a:chExt cx="0" cy="0"/>
        </a:xfrm>
      </p:grpSpPr>
      <p:sp>
        <p:nvSpPr>
          <p:cNvPr id="898" name="Google Shape;898;p39"/>
          <p:cNvSpPr/>
          <p:nvPr/>
        </p:nvSpPr>
        <p:spPr>
          <a:xfrm>
            <a:off x="0" y="0"/>
            <a:ext cx="9144000" cy="594300"/>
          </a:xfrm>
          <a:prstGeom prst="rect">
            <a:avLst/>
          </a:prstGeom>
          <a:solidFill>
            <a:srgbClr val="0077B6"/>
          </a:solidFill>
          <a:ln w="12700" cap="flat" cmpd="sng">
            <a:solidFill>
              <a:srgbClr val="0077B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9" name="Google Shape;899;p39"/>
          <p:cNvSpPr/>
          <p:nvPr/>
        </p:nvSpPr>
        <p:spPr>
          <a:xfrm>
            <a:off x="274320" y="73152"/>
            <a:ext cx="85953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 sz="2200" b="1" i="0" u="none" strike="noStrike" cap="none">
                <a:solidFill>
                  <a:srgbClr val="FFFFFF"/>
                </a:solidFill>
                <a:latin typeface="Calibri"/>
                <a:ea typeface="Calibri"/>
                <a:cs typeface="Calibri"/>
                <a:sym typeface="Calibri"/>
              </a:rPr>
              <a:t>ELMo: Layer Stacking — Output of One Layer Feeds Next</a:t>
            </a:r>
            <a:endParaRPr sz="2200" b="0" i="0" u="none" strike="noStrike" cap="none">
              <a:solidFill>
                <a:schemeClr val="dk1"/>
              </a:solidFill>
              <a:latin typeface="Calibri"/>
              <a:ea typeface="Calibri"/>
              <a:cs typeface="Calibri"/>
              <a:sym typeface="Calibri"/>
            </a:endParaRPr>
          </a:p>
        </p:txBody>
      </p:sp>
      <p:sp>
        <p:nvSpPr>
          <p:cNvPr id="900" name="Google Shape;900;p39"/>
          <p:cNvSpPr/>
          <p:nvPr/>
        </p:nvSpPr>
        <p:spPr>
          <a:xfrm>
            <a:off x="1229868" y="658368"/>
            <a:ext cx="868800" cy="310800"/>
          </a:xfrm>
          <a:prstGeom prst="roundRect">
            <a:avLst>
              <a:gd name="adj" fmla="val 14706"/>
            </a:avLst>
          </a:prstGeom>
          <a:solidFill>
            <a:srgbClr val="DDE6EF"/>
          </a:solidFill>
          <a:ln w="9525"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1" name="Google Shape;901;p39"/>
          <p:cNvSpPr/>
          <p:nvPr/>
        </p:nvSpPr>
        <p:spPr>
          <a:xfrm>
            <a:off x="1229868" y="658368"/>
            <a:ext cx="8688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000"/>
              <a:buFont typeface="Calibri"/>
              <a:buNone/>
            </a:pPr>
            <a:r>
              <a:rPr lang="en" sz="1000" b="0" i="0" u="none" strike="noStrike" cap="none">
                <a:solidFill>
                  <a:srgbClr val="5A6472"/>
                </a:solidFill>
                <a:latin typeface="Calibri"/>
                <a:ea typeface="Calibri"/>
                <a:cs typeface="Calibri"/>
                <a:sym typeface="Calibri"/>
              </a:rPr>
              <a:t>"I"</a:t>
            </a:r>
            <a:endParaRPr sz="1000" b="0" i="0" u="none" strike="noStrike" cap="none">
              <a:solidFill>
                <a:schemeClr val="dk1"/>
              </a:solidFill>
              <a:latin typeface="Calibri"/>
              <a:ea typeface="Calibri"/>
              <a:cs typeface="Calibri"/>
              <a:sym typeface="Calibri"/>
            </a:endParaRPr>
          </a:p>
        </p:txBody>
      </p:sp>
      <p:sp>
        <p:nvSpPr>
          <p:cNvPr id="902" name="Google Shape;902;p39"/>
          <p:cNvSpPr/>
          <p:nvPr/>
        </p:nvSpPr>
        <p:spPr>
          <a:xfrm>
            <a:off x="2418588" y="658368"/>
            <a:ext cx="868800" cy="310800"/>
          </a:xfrm>
          <a:prstGeom prst="roundRect">
            <a:avLst>
              <a:gd name="adj" fmla="val 14706"/>
            </a:avLst>
          </a:prstGeom>
          <a:solidFill>
            <a:srgbClr val="DDE6EF"/>
          </a:solidFill>
          <a:ln w="9525"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3" name="Google Shape;903;p39"/>
          <p:cNvSpPr/>
          <p:nvPr/>
        </p:nvSpPr>
        <p:spPr>
          <a:xfrm>
            <a:off x="2418588" y="658368"/>
            <a:ext cx="8688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000"/>
              <a:buFont typeface="Calibri"/>
              <a:buNone/>
            </a:pPr>
            <a:r>
              <a:rPr lang="en" sz="1000" b="0" i="0" u="none" strike="noStrike" cap="none">
                <a:solidFill>
                  <a:srgbClr val="5A6472"/>
                </a:solidFill>
                <a:latin typeface="Calibri"/>
                <a:ea typeface="Calibri"/>
                <a:cs typeface="Calibri"/>
                <a:sym typeface="Calibri"/>
              </a:rPr>
              <a:t>"went"</a:t>
            </a:r>
            <a:endParaRPr sz="1000" b="0" i="0" u="none" strike="noStrike" cap="none">
              <a:solidFill>
                <a:schemeClr val="dk1"/>
              </a:solidFill>
              <a:latin typeface="Calibri"/>
              <a:ea typeface="Calibri"/>
              <a:cs typeface="Calibri"/>
              <a:sym typeface="Calibri"/>
            </a:endParaRPr>
          </a:p>
        </p:txBody>
      </p:sp>
      <p:sp>
        <p:nvSpPr>
          <p:cNvPr id="904" name="Google Shape;904;p39"/>
          <p:cNvSpPr/>
          <p:nvPr/>
        </p:nvSpPr>
        <p:spPr>
          <a:xfrm>
            <a:off x="3607308" y="658368"/>
            <a:ext cx="868800" cy="310800"/>
          </a:xfrm>
          <a:prstGeom prst="roundRect">
            <a:avLst>
              <a:gd name="adj" fmla="val 14706"/>
            </a:avLst>
          </a:prstGeom>
          <a:solidFill>
            <a:srgbClr val="DDE6EF"/>
          </a:solidFill>
          <a:ln w="9525"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5" name="Google Shape;905;p39"/>
          <p:cNvSpPr/>
          <p:nvPr/>
        </p:nvSpPr>
        <p:spPr>
          <a:xfrm>
            <a:off x="3607308" y="658368"/>
            <a:ext cx="8688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000"/>
              <a:buFont typeface="Calibri"/>
              <a:buNone/>
            </a:pPr>
            <a:r>
              <a:rPr lang="en" sz="1000" b="0" i="0" u="none" strike="noStrike" cap="none">
                <a:solidFill>
                  <a:srgbClr val="5A6472"/>
                </a:solidFill>
                <a:latin typeface="Calibri"/>
                <a:ea typeface="Calibri"/>
                <a:cs typeface="Calibri"/>
                <a:sym typeface="Calibri"/>
              </a:rPr>
              <a:t>"to"</a:t>
            </a:r>
            <a:endParaRPr sz="1000" b="0" i="0" u="none" strike="noStrike" cap="none">
              <a:solidFill>
                <a:schemeClr val="dk1"/>
              </a:solidFill>
              <a:latin typeface="Calibri"/>
              <a:ea typeface="Calibri"/>
              <a:cs typeface="Calibri"/>
              <a:sym typeface="Calibri"/>
            </a:endParaRPr>
          </a:p>
        </p:txBody>
      </p:sp>
      <p:sp>
        <p:nvSpPr>
          <p:cNvPr id="906" name="Google Shape;906;p39"/>
          <p:cNvSpPr/>
          <p:nvPr/>
        </p:nvSpPr>
        <p:spPr>
          <a:xfrm>
            <a:off x="4796028" y="658368"/>
            <a:ext cx="868800" cy="310800"/>
          </a:xfrm>
          <a:prstGeom prst="roundRect">
            <a:avLst>
              <a:gd name="adj" fmla="val 14706"/>
            </a:avLst>
          </a:prstGeom>
          <a:solidFill>
            <a:srgbClr val="DDE6EF"/>
          </a:solidFill>
          <a:ln w="9525"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7" name="Google Shape;907;p39"/>
          <p:cNvSpPr/>
          <p:nvPr/>
        </p:nvSpPr>
        <p:spPr>
          <a:xfrm>
            <a:off x="4796028" y="658368"/>
            <a:ext cx="8688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000"/>
              <a:buFont typeface="Calibri"/>
              <a:buNone/>
            </a:pPr>
            <a:r>
              <a:rPr lang="en" sz="1000" b="0" i="0" u="none" strike="noStrike" cap="none">
                <a:solidFill>
                  <a:srgbClr val="5A6472"/>
                </a:solidFill>
                <a:latin typeface="Calibri"/>
                <a:ea typeface="Calibri"/>
                <a:cs typeface="Calibri"/>
                <a:sym typeface="Calibri"/>
              </a:rPr>
              <a:t>"the"</a:t>
            </a:r>
            <a:endParaRPr sz="1000" b="0" i="0" u="none" strike="noStrike" cap="none">
              <a:solidFill>
                <a:schemeClr val="dk1"/>
              </a:solidFill>
              <a:latin typeface="Calibri"/>
              <a:ea typeface="Calibri"/>
              <a:cs typeface="Calibri"/>
              <a:sym typeface="Calibri"/>
            </a:endParaRPr>
          </a:p>
        </p:txBody>
      </p:sp>
      <p:sp>
        <p:nvSpPr>
          <p:cNvPr id="908" name="Google Shape;908;p39"/>
          <p:cNvSpPr/>
          <p:nvPr/>
        </p:nvSpPr>
        <p:spPr>
          <a:xfrm>
            <a:off x="5984748" y="658368"/>
            <a:ext cx="868800" cy="310800"/>
          </a:xfrm>
          <a:prstGeom prst="roundRect">
            <a:avLst>
              <a:gd name="adj" fmla="val 14706"/>
            </a:avLst>
          </a:prstGeom>
          <a:solidFill>
            <a:srgbClr val="FFF3E0"/>
          </a:solidFill>
          <a:ln w="15225" cap="flat" cmpd="sng">
            <a:solidFill>
              <a:srgbClr val="E651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9" name="Google Shape;909;p39"/>
          <p:cNvSpPr/>
          <p:nvPr/>
        </p:nvSpPr>
        <p:spPr>
          <a:xfrm>
            <a:off x="5984748" y="658368"/>
            <a:ext cx="8688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65100"/>
              </a:buClr>
              <a:buSzPts val="1000"/>
              <a:buFont typeface="Calibri"/>
              <a:buNone/>
            </a:pPr>
            <a:r>
              <a:rPr lang="en" sz="1000" b="1" i="0" u="none" strike="noStrike" cap="none">
                <a:solidFill>
                  <a:srgbClr val="E65100"/>
                </a:solidFill>
                <a:latin typeface="Calibri"/>
                <a:ea typeface="Calibri"/>
                <a:cs typeface="Calibri"/>
                <a:sym typeface="Calibri"/>
              </a:rPr>
              <a:t>"bank"</a:t>
            </a:r>
            <a:endParaRPr sz="1000" b="0" i="0" u="none" strike="noStrike" cap="none">
              <a:solidFill>
                <a:schemeClr val="dk1"/>
              </a:solidFill>
              <a:latin typeface="Calibri"/>
              <a:ea typeface="Calibri"/>
              <a:cs typeface="Calibri"/>
              <a:sym typeface="Calibri"/>
            </a:endParaRPr>
          </a:p>
        </p:txBody>
      </p:sp>
      <p:sp>
        <p:nvSpPr>
          <p:cNvPr id="910" name="Google Shape;910;p39"/>
          <p:cNvSpPr/>
          <p:nvPr/>
        </p:nvSpPr>
        <p:spPr>
          <a:xfrm>
            <a:off x="109728" y="658368"/>
            <a:ext cx="1417200" cy="310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5A6472"/>
              </a:buClr>
              <a:buSzPts val="1000"/>
              <a:buFont typeface="Calibri"/>
              <a:buNone/>
            </a:pPr>
            <a:r>
              <a:rPr lang="en" sz="1000" b="0" i="1" u="none" strike="noStrike" cap="none">
                <a:solidFill>
                  <a:srgbClr val="5A6472"/>
                </a:solidFill>
                <a:latin typeface="Calibri"/>
                <a:ea typeface="Calibri"/>
                <a:cs typeface="Calibri"/>
                <a:sym typeface="Calibri"/>
              </a:rPr>
              <a:t>Input tokens</a:t>
            </a:r>
            <a:endParaRPr sz="1000" b="0" i="0" u="none" strike="noStrike" cap="none">
              <a:solidFill>
                <a:schemeClr val="dk1"/>
              </a:solidFill>
              <a:latin typeface="Calibri"/>
              <a:ea typeface="Calibri"/>
              <a:cs typeface="Calibri"/>
              <a:sym typeface="Calibri"/>
            </a:endParaRPr>
          </a:p>
        </p:txBody>
      </p:sp>
      <p:sp>
        <p:nvSpPr>
          <p:cNvPr id="911" name="Google Shape;911;p39"/>
          <p:cNvSpPr/>
          <p:nvPr/>
        </p:nvSpPr>
        <p:spPr>
          <a:xfrm>
            <a:off x="91440" y="1078992"/>
            <a:ext cx="1417200" cy="804600"/>
          </a:xfrm>
          <a:prstGeom prst="roundRect">
            <a:avLst>
              <a:gd name="adj" fmla="val 9091"/>
            </a:avLst>
          </a:prstGeom>
          <a:solidFill>
            <a:srgbClr val="FFF8F0"/>
          </a:solidFill>
          <a:ln w="19050" cap="flat" cmpd="sng">
            <a:solidFill>
              <a:srgbClr val="E65100"/>
            </a:solidFill>
            <a:prstDash val="solid"/>
            <a:round/>
            <a:headEnd type="none" w="sm" len="sm"/>
            <a:tailEnd type="none" w="sm" len="sm"/>
          </a:ln>
          <a:effectLst>
            <a:outerShdw blurRad="63500" dist="25400" dir="2700000" algn="bl" rotWithShape="0">
              <a:srgbClr val="8AAABB">
                <a:alpha val="2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2" name="Google Shape;912;p39"/>
          <p:cNvSpPr/>
          <p:nvPr/>
        </p:nvSpPr>
        <p:spPr>
          <a:xfrm>
            <a:off x="91440" y="1115568"/>
            <a:ext cx="1417200" cy="255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E65100"/>
              </a:buClr>
              <a:buSzPts val="1100"/>
              <a:buFont typeface="Calibri"/>
              <a:buNone/>
            </a:pPr>
            <a:r>
              <a:rPr lang="en" sz="1100" b="1" i="0" u="none" strike="noStrike" cap="none">
                <a:solidFill>
                  <a:srgbClr val="E65100"/>
                </a:solidFill>
                <a:latin typeface="Calibri"/>
                <a:ea typeface="Calibri"/>
                <a:cs typeface="Calibri"/>
                <a:sym typeface="Calibri"/>
              </a:rPr>
              <a:t>Layer 0</a:t>
            </a:r>
            <a:endParaRPr sz="1100" b="0" i="0" u="none" strike="noStrike" cap="none">
              <a:solidFill>
                <a:schemeClr val="dk1"/>
              </a:solidFill>
              <a:latin typeface="Calibri"/>
              <a:ea typeface="Calibri"/>
              <a:cs typeface="Calibri"/>
              <a:sym typeface="Calibri"/>
            </a:endParaRPr>
          </a:p>
        </p:txBody>
      </p:sp>
      <p:sp>
        <p:nvSpPr>
          <p:cNvPr id="913" name="Google Shape;913;p39"/>
          <p:cNvSpPr/>
          <p:nvPr/>
        </p:nvSpPr>
        <p:spPr>
          <a:xfrm>
            <a:off x="91440" y="1353312"/>
            <a:ext cx="14172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A6472"/>
              </a:buClr>
              <a:buSzPts val="900"/>
              <a:buFont typeface="Calibri"/>
              <a:buNone/>
            </a:pPr>
            <a:r>
              <a:rPr lang="en" sz="900" b="0" i="1" u="none" strike="noStrike" cap="none">
                <a:solidFill>
                  <a:srgbClr val="5A6472"/>
                </a:solidFill>
                <a:latin typeface="Calibri"/>
                <a:ea typeface="Calibri"/>
                <a:cs typeface="Calibri"/>
                <a:sym typeface="Calibri"/>
              </a:rPr>
              <a:t>Character CNN</a:t>
            </a:r>
            <a:endParaRPr sz="900" b="0" i="0" u="none" strike="noStrike" cap="none">
              <a:solidFill>
                <a:schemeClr val="dk1"/>
              </a:solidFill>
              <a:latin typeface="Calibri"/>
              <a:ea typeface="Calibri"/>
              <a:cs typeface="Calibri"/>
              <a:sym typeface="Calibri"/>
            </a:endParaRPr>
          </a:p>
        </p:txBody>
      </p:sp>
      <p:sp>
        <p:nvSpPr>
          <p:cNvPr id="914" name="Google Shape;914;p39"/>
          <p:cNvSpPr/>
          <p:nvPr/>
        </p:nvSpPr>
        <p:spPr>
          <a:xfrm>
            <a:off x="91440" y="1554480"/>
            <a:ext cx="1417200" cy="274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E65100"/>
              </a:buClr>
              <a:buSzPts val="800"/>
              <a:buFont typeface="Calibri"/>
              <a:buNone/>
            </a:pPr>
            <a:r>
              <a:rPr lang="en" sz="800" b="0" i="1" u="none" strike="noStrike" cap="none">
                <a:solidFill>
                  <a:srgbClr val="E65100"/>
                </a:solidFill>
                <a:latin typeface="Calibri"/>
                <a:ea typeface="Calibri"/>
                <a:cs typeface="Calibri"/>
                <a:sym typeface="Calibri"/>
              </a:rPr>
              <a:t>Raw characters</a:t>
            </a:r>
            <a:endParaRPr sz="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E65100"/>
              </a:buClr>
              <a:buSzPts val="800"/>
              <a:buFont typeface="Calibri"/>
              <a:buNone/>
            </a:pPr>
            <a:r>
              <a:rPr lang="en" sz="800" b="0" i="1" u="none" strike="noStrike" cap="none">
                <a:solidFill>
                  <a:srgbClr val="E65100"/>
                </a:solidFill>
                <a:latin typeface="Calibri"/>
                <a:ea typeface="Calibri"/>
                <a:cs typeface="Calibri"/>
                <a:sym typeface="Calibri"/>
              </a:rPr>
              <a:t>(no context yet)</a:t>
            </a:r>
            <a:endParaRPr sz="800" b="0" i="0" u="none" strike="noStrike" cap="none">
              <a:solidFill>
                <a:schemeClr val="dk1"/>
              </a:solidFill>
              <a:latin typeface="Calibri"/>
              <a:ea typeface="Calibri"/>
              <a:cs typeface="Calibri"/>
              <a:sym typeface="Calibri"/>
            </a:endParaRPr>
          </a:p>
        </p:txBody>
      </p:sp>
      <p:sp>
        <p:nvSpPr>
          <p:cNvPr id="915" name="Google Shape;915;p39"/>
          <p:cNvSpPr/>
          <p:nvPr/>
        </p:nvSpPr>
        <p:spPr>
          <a:xfrm>
            <a:off x="1229868" y="1152144"/>
            <a:ext cx="868800" cy="347400"/>
          </a:xfrm>
          <a:prstGeom prst="roundRect">
            <a:avLst>
              <a:gd name="adj" fmla="val 18421"/>
            </a:avLst>
          </a:prstGeom>
          <a:solidFill>
            <a:srgbClr val="FFFFFF"/>
          </a:solidFill>
          <a:ln w="10150"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6" name="Google Shape;916;p39"/>
          <p:cNvSpPr/>
          <p:nvPr/>
        </p:nvSpPr>
        <p:spPr>
          <a:xfrm>
            <a:off x="1229868" y="1152144"/>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100"/>
              <a:buFont typeface="Calibri"/>
              <a:buNone/>
            </a:pPr>
            <a:r>
              <a:rPr lang="en" sz="1100" b="0" i="0" u="none" strike="noStrike" cap="none">
                <a:solidFill>
                  <a:srgbClr val="5A6472"/>
                </a:solidFill>
                <a:latin typeface="Calibri"/>
                <a:ea typeface="Calibri"/>
                <a:cs typeface="Calibri"/>
                <a:sym typeface="Calibri"/>
              </a:rPr>
              <a:t>e1</a:t>
            </a:r>
            <a:endParaRPr sz="1100" b="0" i="0" u="none" strike="noStrike" cap="none">
              <a:solidFill>
                <a:schemeClr val="dk1"/>
              </a:solidFill>
              <a:latin typeface="Calibri"/>
              <a:ea typeface="Calibri"/>
              <a:cs typeface="Calibri"/>
              <a:sym typeface="Calibri"/>
            </a:endParaRPr>
          </a:p>
        </p:txBody>
      </p:sp>
      <p:sp>
        <p:nvSpPr>
          <p:cNvPr id="917" name="Google Shape;917;p39"/>
          <p:cNvSpPr/>
          <p:nvPr/>
        </p:nvSpPr>
        <p:spPr>
          <a:xfrm>
            <a:off x="2418588" y="1152144"/>
            <a:ext cx="868800" cy="347400"/>
          </a:xfrm>
          <a:prstGeom prst="roundRect">
            <a:avLst>
              <a:gd name="adj" fmla="val 18421"/>
            </a:avLst>
          </a:prstGeom>
          <a:solidFill>
            <a:srgbClr val="FFFFFF"/>
          </a:solidFill>
          <a:ln w="10150"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8" name="Google Shape;918;p39"/>
          <p:cNvSpPr/>
          <p:nvPr/>
        </p:nvSpPr>
        <p:spPr>
          <a:xfrm>
            <a:off x="2418588" y="1152144"/>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100"/>
              <a:buFont typeface="Calibri"/>
              <a:buNone/>
            </a:pPr>
            <a:r>
              <a:rPr lang="en" sz="1100" b="0" i="0" u="none" strike="noStrike" cap="none">
                <a:solidFill>
                  <a:srgbClr val="5A6472"/>
                </a:solidFill>
                <a:latin typeface="Calibri"/>
                <a:ea typeface="Calibri"/>
                <a:cs typeface="Calibri"/>
                <a:sym typeface="Calibri"/>
              </a:rPr>
              <a:t>e2</a:t>
            </a:r>
            <a:endParaRPr sz="1100" b="0" i="0" u="none" strike="noStrike" cap="none">
              <a:solidFill>
                <a:schemeClr val="dk1"/>
              </a:solidFill>
              <a:latin typeface="Calibri"/>
              <a:ea typeface="Calibri"/>
              <a:cs typeface="Calibri"/>
              <a:sym typeface="Calibri"/>
            </a:endParaRPr>
          </a:p>
        </p:txBody>
      </p:sp>
      <p:sp>
        <p:nvSpPr>
          <p:cNvPr id="919" name="Google Shape;919;p39"/>
          <p:cNvSpPr/>
          <p:nvPr/>
        </p:nvSpPr>
        <p:spPr>
          <a:xfrm>
            <a:off x="3607308" y="1152144"/>
            <a:ext cx="868800" cy="347400"/>
          </a:xfrm>
          <a:prstGeom prst="roundRect">
            <a:avLst>
              <a:gd name="adj" fmla="val 18421"/>
            </a:avLst>
          </a:prstGeom>
          <a:solidFill>
            <a:srgbClr val="FFFFFF"/>
          </a:solidFill>
          <a:ln w="10150"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0" name="Google Shape;920;p39"/>
          <p:cNvSpPr/>
          <p:nvPr/>
        </p:nvSpPr>
        <p:spPr>
          <a:xfrm>
            <a:off x="3607308" y="1152144"/>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100"/>
              <a:buFont typeface="Calibri"/>
              <a:buNone/>
            </a:pPr>
            <a:r>
              <a:rPr lang="en" sz="1100" b="0" i="0" u="none" strike="noStrike" cap="none">
                <a:solidFill>
                  <a:srgbClr val="5A6472"/>
                </a:solidFill>
                <a:latin typeface="Calibri"/>
                <a:ea typeface="Calibri"/>
                <a:cs typeface="Calibri"/>
                <a:sym typeface="Calibri"/>
              </a:rPr>
              <a:t>e3</a:t>
            </a:r>
            <a:endParaRPr sz="1100" b="0" i="0" u="none" strike="noStrike" cap="none">
              <a:solidFill>
                <a:schemeClr val="dk1"/>
              </a:solidFill>
              <a:latin typeface="Calibri"/>
              <a:ea typeface="Calibri"/>
              <a:cs typeface="Calibri"/>
              <a:sym typeface="Calibri"/>
            </a:endParaRPr>
          </a:p>
        </p:txBody>
      </p:sp>
      <p:sp>
        <p:nvSpPr>
          <p:cNvPr id="921" name="Google Shape;921;p39"/>
          <p:cNvSpPr/>
          <p:nvPr/>
        </p:nvSpPr>
        <p:spPr>
          <a:xfrm>
            <a:off x="4796028" y="1152144"/>
            <a:ext cx="868800" cy="347400"/>
          </a:xfrm>
          <a:prstGeom prst="roundRect">
            <a:avLst>
              <a:gd name="adj" fmla="val 18421"/>
            </a:avLst>
          </a:prstGeom>
          <a:solidFill>
            <a:srgbClr val="FFFFFF"/>
          </a:solidFill>
          <a:ln w="10150"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2" name="Google Shape;922;p39"/>
          <p:cNvSpPr/>
          <p:nvPr/>
        </p:nvSpPr>
        <p:spPr>
          <a:xfrm>
            <a:off x="4796028" y="1152144"/>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100"/>
              <a:buFont typeface="Calibri"/>
              <a:buNone/>
            </a:pPr>
            <a:r>
              <a:rPr lang="en" sz="1100" b="0" i="0" u="none" strike="noStrike" cap="none">
                <a:solidFill>
                  <a:srgbClr val="5A6472"/>
                </a:solidFill>
                <a:latin typeface="Calibri"/>
                <a:ea typeface="Calibri"/>
                <a:cs typeface="Calibri"/>
                <a:sym typeface="Calibri"/>
              </a:rPr>
              <a:t>e4</a:t>
            </a:r>
            <a:endParaRPr sz="1100" b="0" i="0" u="none" strike="noStrike" cap="none">
              <a:solidFill>
                <a:schemeClr val="dk1"/>
              </a:solidFill>
              <a:latin typeface="Calibri"/>
              <a:ea typeface="Calibri"/>
              <a:cs typeface="Calibri"/>
              <a:sym typeface="Calibri"/>
            </a:endParaRPr>
          </a:p>
        </p:txBody>
      </p:sp>
      <p:sp>
        <p:nvSpPr>
          <p:cNvPr id="923" name="Google Shape;923;p39"/>
          <p:cNvSpPr/>
          <p:nvPr/>
        </p:nvSpPr>
        <p:spPr>
          <a:xfrm>
            <a:off x="5984748" y="1152144"/>
            <a:ext cx="868800" cy="347400"/>
          </a:xfrm>
          <a:prstGeom prst="roundRect">
            <a:avLst>
              <a:gd name="adj" fmla="val 18421"/>
            </a:avLst>
          </a:prstGeom>
          <a:solidFill>
            <a:srgbClr val="FFF8F0"/>
          </a:solidFill>
          <a:ln w="19050" cap="flat" cmpd="sng">
            <a:solidFill>
              <a:srgbClr val="E65100"/>
            </a:solidFill>
            <a:prstDash val="solid"/>
            <a:round/>
            <a:headEnd type="none" w="sm" len="sm"/>
            <a:tailEnd type="none" w="sm" len="sm"/>
          </a:ln>
          <a:effectLst>
            <a:outerShdw blurRad="63500" dist="25400" dir="2700000" algn="bl" rotWithShape="0">
              <a:srgbClr val="8AAABB">
                <a:alpha val="2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4" name="Google Shape;924;p39"/>
          <p:cNvSpPr/>
          <p:nvPr/>
        </p:nvSpPr>
        <p:spPr>
          <a:xfrm>
            <a:off x="5984748" y="1152144"/>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65100"/>
              </a:buClr>
              <a:buSzPts val="1100"/>
              <a:buFont typeface="Calibri"/>
              <a:buNone/>
            </a:pPr>
            <a:r>
              <a:rPr lang="en" sz="1100" b="1" i="0" u="none" strike="noStrike" cap="none">
                <a:solidFill>
                  <a:srgbClr val="E65100"/>
                </a:solidFill>
                <a:latin typeface="Calibri"/>
                <a:ea typeface="Calibri"/>
                <a:cs typeface="Calibri"/>
                <a:sym typeface="Calibri"/>
              </a:rPr>
              <a:t>e5</a:t>
            </a:r>
            <a:endParaRPr sz="1100" b="0" i="0" u="none" strike="noStrike" cap="none">
              <a:solidFill>
                <a:schemeClr val="dk1"/>
              </a:solidFill>
              <a:latin typeface="Calibri"/>
              <a:ea typeface="Calibri"/>
              <a:cs typeface="Calibri"/>
              <a:sym typeface="Calibri"/>
            </a:endParaRPr>
          </a:p>
        </p:txBody>
      </p:sp>
      <p:sp>
        <p:nvSpPr>
          <p:cNvPr id="925" name="Google Shape;925;p39"/>
          <p:cNvSpPr/>
          <p:nvPr/>
        </p:nvSpPr>
        <p:spPr>
          <a:xfrm>
            <a:off x="7479792" y="1133856"/>
            <a:ext cx="1554600" cy="420600"/>
          </a:xfrm>
          <a:prstGeom prst="roundRect">
            <a:avLst>
              <a:gd name="adj" fmla="val 15217"/>
            </a:avLst>
          </a:prstGeom>
          <a:solidFill>
            <a:srgbClr val="FFF8F0"/>
          </a:solidFill>
          <a:ln w="10150" cap="flat" cmpd="sng">
            <a:solidFill>
              <a:srgbClr val="E651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39"/>
          <p:cNvSpPr/>
          <p:nvPr/>
        </p:nvSpPr>
        <p:spPr>
          <a:xfrm>
            <a:off x="7479792" y="1133856"/>
            <a:ext cx="1554600" cy="420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E65100"/>
              </a:buClr>
              <a:buSzPts val="900"/>
              <a:buFont typeface="Calibri"/>
              <a:buNone/>
            </a:pPr>
            <a:r>
              <a:rPr lang="en" sz="900" b="0" i="0" u="none" strike="noStrike" cap="none">
                <a:solidFill>
                  <a:srgbClr val="E65100"/>
                </a:solidFill>
                <a:latin typeface="Calibri"/>
                <a:ea typeface="Calibri"/>
                <a:cs typeface="Calibri"/>
                <a:sym typeface="Calibri"/>
              </a:rPr>
              <a:t>Character-level CNN</a:t>
            </a:r>
            <a:endParaRPr sz="9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E65100"/>
              </a:buClr>
              <a:buSzPts val="900"/>
              <a:buFont typeface="Calibri"/>
              <a:buNone/>
            </a:pPr>
            <a:r>
              <a:rPr lang="en" sz="900" b="0" i="0" u="none" strike="noStrike" cap="none">
                <a:solidFill>
                  <a:srgbClr val="E65100"/>
                </a:solidFill>
                <a:latin typeface="Calibri"/>
                <a:ea typeface="Calibri"/>
                <a:cs typeface="Calibri"/>
                <a:sym typeface="Calibri"/>
              </a:rPr>
              <a:t>→ morphology, spelling</a:t>
            </a:r>
            <a:endParaRPr sz="900" b="0" i="0" u="none" strike="noStrike" cap="none">
              <a:solidFill>
                <a:schemeClr val="dk1"/>
              </a:solidFill>
              <a:latin typeface="Calibri"/>
              <a:ea typeface="Calibri"/>
              <a:cs typeface="Calibri"/>
              <a:sym typeface="Calibri"/>
            </a:endParaRPr>
          </a:p>
        </p:txBody>
      </p:sp>
      <p:cxnSp>
        <p:nvCxnSpPr>
          <p:cNvPr id="927" name="Google Shape;927;p39"/>
          <p:cNvCxnSpPr/>
          <p:nvPr/>
        </p:nvCxnSpPr>
        <p:spPr>
          <a:xfrm>
            <a:off x="1664208" y="1536192"/>
            <a:ext cx="0" cy="658500"/>
          </a:xfrm>
          <a:prstGeom prst="straightConnector1">
            <a:avLst/>
          </a:prstGeom>
          <a:noFill/>
          <a:ln w="10150" cap="flat" cmpd="sng">
            <a:solidFill>
              <a:srgbClr val="B0C8D8"/>
            </a:solidFill>
            <a:prstDash val="solid"/>
            <a:round/>
            <a:headEnd type="none" w="sm" len="sm"/>
            <a:tailEnd type="none" w="sm" len="sm"/>
          </a:ln>
        </p:spPr>
      </p:cxnSp>
      <p:sp>
        <p:nvSpPr>
          <p:cNvPr id="928" name="Google Shape;928;p39"/>
          <p:cNvSpPr/>
          <p:nvPr/>
        </p:nvSpPr>
        <p:spPr>
          <a:xfrm>
            <a:off x="1527048" y="2029968"/>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B0C8D8"/>
              </a:buClr>
              <a:buSzPts val="800"/>
              <a:buFont typeface="Calibri"/>
              <a:buNone/>
            </a:pPr>
            <a:r>
              <a:rPr lang="en" sz="800" b="0" i="0" u="none" strike="noStrike" cap="none">
                <a:solidFill>
                  <a:srgbClr val="B0C8D8"/>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cxnSp>
        <p:nvCxnSpPr>
          <p:cNvPr id="929" name="Google Shape;929;p39"/>
          <p:cNvCxnSpPr/>
          <p:nvPr/>
        </p:nvCxnSpPr>
        <p:spPr>
          <a:xfrm>
            <a:off x="2852928" y="1536192"/>
            <a:ext cx="0" cy="658500"/>
          </a:xfrm>
          <a:prstGeom prst="straightConnector1">
            <a:avLst/>
          </a:prstGeom>
          <a:noFill/>
          <a:ln w="10150" cap="flat" cmpd="sng">
            <a:solidFill>
              <a:srgbClr val="B0C8D8"/>
            </a:solidFill>
            <a:prstDash val="solid"/>
            <a:round/>
            <a:headEnd type="none" w="sm" len="sm"/>
            <a:tailEnd type="none" w="sm" len="sm"/>
          </a:ln>
        </p:spPr>
      </p:cxnSp>
      <p:sp>
        <p:nvSpPr>
          <p:cNvPr id="930" name="Google Shape;930;p39"/>
          <p:cNvSpPr/>
          <p:nvPr/>
        </p:nvSpPr>
        <p:spPr>
          <a:xfrm>
            <a:off x="2715768" y="2029968"/>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B0C8D8"/>
              </a:buClr>
              <a:buSzPts val="800"/>
              <a:buFont typeface="Calibri"/>
              <a:buNone/>
            </a:pPr>
            <a:r>
              <a:rPr lang="en" sz="800" b="0" i="0" u="none" strike="noStrike" cap="none">
                <a:solidFill>
                  <a:srgbClr val="B0C8D8"/>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cxnSp>
        <p:nvCxnSpPr>
          <p:cNvPr id="931" name="Google Shape;931;p39"/>
          <p:cNvCxnSpPr/>
          <p:nvPr/>
        </p:nvCxnSpPr>
        <p:spPr>
          <a:xfrm>
            <a:off x="4041648" y="1536192"/>
            <a:ext cx="0" cy="658500"/>
          </a:xfrm>
          <a:prstGeom prst="straightConnector1">
            <a:avLst/>
          </a:prstGeom>
          <a:noFill/>
          <a:ln w="10150" cap="flat" cmpd="sng">
            <a:solidFill>
              <a:srgbClr val="B0C8D8"/>
            </a:solidFill>
            <a:prstDash val="solid"/>
            <a:round/>
            <a:headEnd type="none" w="sm" len="sm"/>
            <a:tailEnd type="none" w="sm" len="sm"/>
          </a:ln>
        </p:spPr>
      </p:cxnSp>
      <p:sp>
        <p:nvSpPr>
          <p:cNvPr id="932" name="Google Shape;932;p39"/>
          <p:cNvSpPr/>
          <p:nvPr/>
        </p:nvSpPr>
        <p:spPr>
          <a:xfrm>
            <a:off x="3904488" y="2029968"/>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B0C8D8"/>
              </a:buClr>
              <a:buSzPts val="800"/>
              <a:buFont typeface="Calibri"/>
              <a:buNone/>
            </a:pPr>
            <a:r>
              <a:rPr lang="en" sz="800" b="0" i="0" u="none" strike="noStrike" cap="none">
                <a:solidFill>
                  <a:srgbClr val="B0C8D8"/>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cxnSp>
        <p:nvCxnSpPr>
          <p:cNvPr id="933" name="Google Shape;933;p39"/>
          <p:cNvCxnSpPr/>
          <p:nvPr/>
        </p:nvCxnSpPr>
        <p:spPr>
          <a:xfrm>
            <a:off x="5230368" y="1536192"/>
            <a:ext cx="0" cy="658500"/>
          </a:xfrm>
          <a:prstGeom prst="straightConnector1">
            <a:avLst/>
          </a:prstGeom>
          <a:noFill/>
          <a:ln w="10150" cap="flat" cmpd="sng">
            <a:solidFill>
              <a:srgbClr val="B0C8D8"/>
            </a:solidFill>
            <a:prstDash val="solid"/>
            <a:round/>
            <a:headEnd type="none" w="sm" len="sm"/>
            <a:tailEnd type="none" w="sm" len="sm"/>
          </a:ln>
        </p:spPr>
      </p:cxnSp>
      <p:sp>
        <p:nvSpPr>
          <p:cNvPr id="934" name="Google Shape;934;p39"/>
          <p:cNvSpPr/>
          <p:nvPr/>
        </p:nvSpPr>
        <p:spPr>
          <a:xfrm>
            <a:off x="5093208" y="2029968"/>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B0C8D8"/>
              </a:buClr>
              <a:buSzPts val="800"/>
              <a:buFont typeface="Calibri"/>
              <a:buNone/>
            </a:pPr>
            <a:r>
              <a:rPr lang="en" sz="800" b="0" i="0" u="none" strike="noStrike" cap="none">
                <a:solidFill>
                  <a:srgbClr val="B0C8D8"/>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cxnSp>
        <p:nvCxnSpPr>
          <p:cNvPr id="935" name="Google Shape;935;p39"/>
          <p:cNvCxnSpPr/>
          <p:nvPr/>
        </p:nvCxnSpPr>
        <p:spPr>
          <a:xfrm>
            <a:off x="6419088" y="1536192"/>
            <a:ext cx="0" cy="658500"/>
          </a:xfrm>
          <a:prstGeom prst="straightConnector1">
            <a:avLst/>
          </a:prstGeom>
          <a:noFill/>
          <a:ln w="25400" cap="flat" cmpd="sng">
            <a:solidFill>
              <a:srgbClr val="E65100"/>
            </a:solidFill>
            <a:prstDash val="solid"/>
            <a:round/>
            <a:headEnd type="none" w="sm" len="sm"/>
            <a:tailEnd type="none" w="sm" len="sm"/>
          </a:ln>
        </p:spPr>
      </p:cxnSp>
      <p:sp>
        <p:nvSpPr>
          <p:cNvPr id="936" name="Google Shape;936;p39"/>
          <p:cNvSpPr/>
          <p:nvPr/>
        </p:nvSpPr>
        <p:spPr>
          <a:xfrm>
            <a:off x="6281928" y="2029968"/>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E65100"/>
              </a:buClr>
              <a:buSzPts val="1000"/>
              <a:buFont typeface="Calibri"/>
              <a:buNone/>
            </a:pPr>
            <a:r>
              <a:rPr lang="en" sz="1000" b="0" i="0" u="none" strike="noStrike" cap="none">
                <a:solidFill>
                  <a:srgbClr val="E65100"/>
                </a:solidFill>
                <a:latin typeface="Calibri"/>
                <a:ea typeface="Calibri"/>
                <a:cs typeface="Calibri"/>
                <a:sym typeface="Calibri"/>
              </a:rPr>
              <a:t>▼</a:t>
            </a:r>
            <a:endParaRPr sz="1000" b="0" i="0" u="none" strike="noStrike" cap="none">
              <a:solidFill>
                <a:schemeClr val="dk1"/>
              </a:solidFill>
              <a:latin typeface="Calibri"/>
              <a:ea typeface="Calibri"/>
              <a:cs typeface="Calibri"/>
              <a:sym typeface="Calibri"/>
            </a:endParaRPr>
          </a:p>
        </p:txBody>
      </p:sp>
      <p:sp>
        <p:nvSpPr>
          <p:cNvPr id="937" name="Google Shape;937;p39"/>
          <p:cNvSpPr/>
          <p:nvPr/>
        </p:nvSpPr>
        <p:spPr>
          <a:xfrm>
            <a:off x="7479792" y="1591056"/>
            <a:ext cx="155460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A6472"/>
              </a:buClr>
              <a:buSzPts val="900"/>
              <a:buFont typeface="Calibri"/>
              <a:buNone/>
            </a:pPr>
            <a:r>
              <a:rPr lang="en" sz="900" b="0" i="1" u="none" strike="noStrike" cap="none">
                <a:solidFill>
                  <a:srgbClr val="5A6472"/>
                </a:solidFill>
                <a:latin typeface="Calibri"/>
                <a:ea typeface="Calibri"/>
                <a:cs typeface="Calibri"/>
                <a:sym typeface="Calibri"/>
              </a:rPr>
              <a:t>e vectors</a:t>
            </a:r>
            <a:endParaRPr sz="9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5A6472"/>
              </a:buClr>
              <a:buSzPts val="900"/>
              <a:buFont typeface="Calibri"/>
              <a:buNone/>
            </a:pPr>
            <a:r>
              <a:rPr lang="en" sz="900" b="0" i="1" u="none" strike="noStrike" cap="none">
                <a:solidFill>
                  <a:srgbClr val="5A6472"/>
                </a:solidFill>
                <a:latin typeface="Calibri"/>
                <a:ea typeface="Calibri"/>
                <a:cs typeface="Calibri"/>
                <a:sym typeface="Calibri"/>
              </a:rPr>
              <a:t>feed into →</a:t>
            </a:r>
            <a:endParaRPr sz="900" b="0" i="0" u="none" strike="noStrike" cap="none">
              <a:solidFill>
                <a:schemeClr val="dk1"/>
              </a:solidFill>
              <a:latin typeface="Calibri"/>
              <a:ea typeface="Calibri"/>
              <a:cs typeface="Calibri"/>
              <a:sym typeface="Calibri"/>
            </a:endParaRPr>
          </a:p>
        </p:txBody>
      </p:sp>
      <p:sp>
        <p:nvSpPr>
          <p:cNvPr id="938" name="Google Shape;938;p39"/>
          <p:cNvSpPr/>
          <p:nvPr/>
        </p:nvSpPr>
        <p:spPr>
          <a:xfrm>
            <a:off x="91440" y="2304288"/>
            <a:ext cx="1417200" cy="804600"/>
          </a:xfrm>
          <a:prstGeom prst="roundRect">
            <a:avLst>
              <a:gd name="adj" fmla="val 9091"/>
            </a:avLst>
          </a:prstGeom>
          <a:solidFill>
            <a:srgbClr val="EBF5FB"/>
          </a:solidFill>
          <a:ln w="19050" cap="flat" cmpd="sng">
            <a:solidFill>
              <a:srgbClr val="0077B6"/>
            </a:solidFill>
            <a:prstDash val="solid"/>
            <a:round/>
            <a:headEnd type="none" w="sm" len="sm"/>
            <a:tailEnd type="none" w="sm" len="sm"/>
          </a:ln>
          <a:effectLst>
            <a:outerShdw blurRad="63500" dist="25400" dir="2700000" algn="bl" rotWithShape="0">
              <a:srgbClr val="8AAABB">
                <a:alpha val="2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9" name="Google Shape;939;p39"/>
          <p:cNvSpPr/>
          <p:nvPr/>
        </p:nvSpPr>
        <p:spPr>
          <a:xfrm>
            <a:off x="91440" y="2340864"/>
            <a:ext cx="1417200" cy="255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7B6"/>
              </a:buClr>
              <a:buSzPts val="1100"/>
              <a:buFont typeface="Calibri"/>
              <a:buNone/>
            </a:pPr>
            <a:r>
              <a:rPr lang="en" sz="1100" b="1" i="0" u="none" strike="noStrike" cap="none">
                <a:solidFill>
                  <a:srgbClr val="0077B6"/>
                </a:solidFill>
                <a:latin typeface="Calibri"/>
                <a:ea typeface="Calibri"/>
                <a:cs typeface="Calibri"/>
                <a:sym typeface="Calibri"/>
              </a:rPr>
              <a:t>Layer 1</a:t>
            </a:r>
            <a:endParaRPr sz="1100" b="0" i="0" u="none" strike="noStrike" cap="none">
              <a:solidFill>
                <a:schemeClr val="dk1"/>
              </a:solidFill>
              <a:latin typeface="Calibri"/>
              <a:ea typeface="Calibri"/>
              <a:cs typeface="Calibri"/>
              <a:sym typeface="Calibri"/>
            </a:endParaRPr>
          </a:p>
        </p:txBody>
      </p:sp>
      <p:sp>
        <p:nvSpPr>
          <p:cNvPr id="940" name="Google Shape;940;p39"/>
          <p:cNvSpPr/>
          <p:nvPr/>
        </p:nvSpPr>
        <p:spPr>
          <a:xfrm>
            <a:off x="91440" y="2578608"/>
            <a:ext cx="14172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A6472"/>
              </a:buClr>
              <a:buSzPts val="900"/>
              <a:buFont typeface="Calibri"/>
              <a:buNone/>
            </a:pPr>
            <a:r>
              <a:rPr lang="en" sz="900" b="0" i="1" u="none" strike="noStrike" cap="none">
                <a:solidFill>
                  <a:srgbClr val="5A6472"/>
                </a:solidFill>
                <a:latin typeface="Calibri"/>
                <a:ea typeface="Calibri"/>
                <a:cs typeface="Calibri"/>
                <a:sym typeface="Calibri"/>
              </a:rPr>
              <a:t>BiLSTM — 1st</a:t>
            </a:r>
            <a:endParaRPr sz="900" b="0" i="0" u="none" strike="noStrike" cap="none">
              <a:solidFill>
                <a:schemeClr val="dk1"/>
              </a:solidFill>
              <a:latin typeface="Calibri"/>
              <a:ea typeface="Calibri"/>
              <a:cs typeface="Calibri"/>
              <a:sym typeface="Calibri"/>
            </a:endParaRPr>
          </a:p>
        </p:txBody>
      </p:sp>
      <p:sp>
        <p:nvSpPr>
          <p:cNvPr id="941" name="Google Shape;941;p39"/>
          <p:cNvSpPr/>
          <p:nvPr/>
        </p:nvSpPr>
        <p:spPr>
          <a:xfrm>
            <a:off x="91440" y="2779776"/>
            <a:ext cx="1417200" cy="274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7B6"/>
              </a:buClr>
              <a:buSzPts val="800"/>
              <a:buFont typeface="Calibri"/>
              <a:buNone/>
            </a:pPr>
            <a:r>
              <a:rPr lang="en" sz="800" b="0" i="1" u="none" strike="noStrike" cap="none">
                <a:solidFill>
                  <a:srgbClr val="0077B6"/>
                </a:solidFill>
                <a:latin typeface="Calibri"/>
                <a:ea typeface="Calibri"/>
                <a:cs typeface="Calibri"/>
                <a:sym typeface="Calibri"/>
              </a:rPr>
              <a:t>Reads e₁…e₅</a:t>
            </a:r>
            <a:endParaRPr sz="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77B6"/>
              </a:buClr>
              <a:buSzPts val="800"/>
              <a:buFont typeface="Calibri"/>
              <a:buNone/>
            </a:pPr>
            <a:r>
              <a:rPr lang="en" sz="800" b="0" i="1" u="none" strike="noStrike" cap="none">
                <a:solidFill>
                  <a:srgbClr val="0077B6"/>
                </a:solidFill>
                <a:latin typeface="Calibri"/>
                <a:ea typeface="Calibri"/>
                <a:cs typeface="Calibri"/>
                <a:sym typeface="Calibri"/>
              </a:rPr>
              <a:t>(layer 0 outputs)</a:t>
            </a:r>
            <a:endParaRPr sz="800" b="0" i="0" u="none" strike="noStrike" cap="none">
              <a:solidFill>
                <a:schemeClr val="dk1"/>
              </a:solidFill>
              <a:latin typeface="Calibri"/>
              <a:ea typeface="Calibri"/>
              <a:cs typeface="Calibri"/>
              <a:sym typeface="Calibri"/>
            </a:endParaRPr>
          </a:p>
        </p:txBody>
      </p:sp>
      <p:sp>
        <p:nvSpPr>
          <p:cNvPr id="942" name="Google Shape;942;p39"/>
          <p:cNvSpPr/>
          <p:nvPr/>
        </p:nvSpPr>
        <p:spPr>
          <a:xfrm>
            <a:off x="1229868" y="2377440"/>
            <a:ext cx="868800" cy="347400"/>
          </a:xfrm>
          <a:prstGeom prst="roundRect">
            <a:avLst>
              <a:gd name="adj" fmla="val 18421"/>
            </a:avLst>
          </a:prstGeom>
          <a:solidFill>
            <a:srgbClr val="FFFFFF"/>
          </a:solidFill>
          <a:ln w="10150"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3" name="Google Shape;943;p39"/>
          <p:cNvSpPr/>
          <p:nvPr/>
        </p:nvSpPr>
        <p:spPr>
          <a:xfrm>
            <a:off x="1229868" y="2377440"/>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100"/>
              <a:buFont typeface="Calibri"/>
              <a:buNone/>
            </a:pPr>
            <a:r>
              <a:rPr lang="en" sz="1100" b="0" i="0" u="none" strike="noStrike" cap="none">
                <a:solidFill>
                  <a:srgbClr val="5A6472"/>
                </a:solidFill>
                <a:latin typeface="Calibri"/>
                <a:ea typeface="Calibri"/>
                <a:cs typeface="Calibri"/>
                <a:sym typeface="Calibri"/>
              </a:rPr>
              <a:t>h¹1</a:t>
            </a:r>
            <a:endParaRPr sz="1100" b="0" i="0" u="none" strike="noStrike" cap="none">
              <a:solidFill>
                <a:schemeClr val="dk1"/>
              </a:solidFill>
              <a:latin typeface="Calibri"/>
              <a:ea typeface="Calibri"/>
              <a:cs typeface="Calibri"/>
              <a:sym typeface="Calibri"/>
            </a:endParaRPr>
          </a:p>
        </p:txBody>
      </p:sp>
      <p:cxnSp>
        <p:nvCxnSpPr>
          <p:cNvPr id="944" name="Google Shape;944;p39"/>
          <p:cNvCxnSpPr/>
          <p:nvPr/>
        </p:nvCxnSpPr>
        <p:spPr>
          <a:xfrm>
            <a:off x="2098548" y="2505456"/>
            <a:ext cx="320100" cy="0"/>
          </a:xfrm>
          <a:prstGeom prst="straightConnector1">
            <a:avLst/>
          </a:prstGeom>
          <a:noFill/>
          <a:ln w="12700" cap="flat" cmpd="sng">
            <a:solidFill>
              <a:srgbClr val="0077B6"/>
            </a:solidFill>
            <a:prstDash val="solid"/>
            <a:round/>
            <a:headEnd type="none" w="sm" len="sm"/>
            <a:tailEnd type="none" w="sm" len="sm"/>
          </a:ln>
        </p:spPr>
      </p:cxnSp>
      <p:sp>
        <p:nvSpPr>
          <p:cNvPr id="945" name="Google Shape;945;p39"/>
          <p:cNvSpPr/>
          <p:nvPr/>
        </p:nvSpPr>
        <p:spPr>
          <a:xfrm>
            <a:off x="2144268" y="2395728"/>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7B6"/>
              </a:buClr>
              <a:buSzPts val="900"/>
              <a:buFont typeface="Calibri"/>
              <a:buNone/>
            </a:pPr>
            <a:r>
              <a:rPr lang="en" sz="900" b="0" i="0" u="none" strike="noStrike" cap="none">
                <a:solidFill>
                  <a:srgbClr val="0077B6"/>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sp>
        <p:nvSpPr>
          <p:cNvPr id="946" name="Google Shape;946;p39"/>
          <p:cNvSpPr/>
          <p:nvPr/>
        </p:nvSpPr>
        <p:spPr>
          <a:xfrm>
            <a:off x="2418588" y="2377440"/>
            <a:ext cx="868800" cy="347400"/>
          </a:xfrm>
          <a:prstGeom prst="roundRect">
            <a:avLst>
              <a:gd name="adj" fmla="val 18421"/>
            </a:avLst>
          </a:prstGeom>
          <a:solidFill>
            <a:srgbClr val="FFFFFF"/>
          </a:solidFill>
          <a:ln w="10150"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7" name="Google Shape;947;p39"/>
          <p:cNvSpPr/>
          <p:nvPr/>
        </p:nvSpPr>
        <p:spPr>
          <a:xfrm>
            <a:off x="2418588" y="2377440"/>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100"/>
              <a:buFont typeface="Calibri"/>
              <a:buNone/>
            </a:pPr>
            <a:r>
              <a:rPr lang="en" sz="1100" b="0" i="0" u="none" strike="noStrike" cap="none">
                <a:solidFill>
                  <a:srgbClr val="5A6472"/>
                </a:solidFill>
                <a:latin typeface="Calibri"/>
                <a:ea typeface="Calibri"/>
                <a:cs typeface="Calibri"/>
                <a:sym typeface="Calibri"/>
              </a:rPr>
              <a:t>h¹2</a:t>
            </a:r>
            <a:endParaRPr sz="1100" b="0" i="0" u="none" strike="noStrike" cap="none">
              <a:solidFill>
                <a:schemeClr val="dk1"/>
              </a:solidFill>
              <a:latin typeface="Calibri"/>
              <a:ea typeface="Calibri"/>
              <a:cs typeface="Calibri"/>
              <a:sym typeface="Calibri"/>
            </a:endParaRPr>
          </a:p>
        </p:txBody>
      </p:sp>
      <p:cxnSp>
        <p:nvCxnSpPr>
          <p:cNvPr id="948" name="Google Shape;948;p39"/>
          <p:cNvCxnSpPr/>
          <p:nvPr/>
        </p:nvCxnSpPr>
        <p:spPr>
          <a:xfrm>
            <a:off x="3287268" y="2505456"/>
            <a:ext cx="320100" cy="0"/>
          </a:xfrm>
          <a:prstGeom prst="straightConnector1">
            <a:avLst/>
          </a:prstGeom>
          <a:noFill/>
          <a:ln w="12700" cap="flat" cmpd="sng">
            <a:solidFill>
              <a:srgbClr val="0077B6"/>
            </a:solidFill>
            <a:prstDash val="solid"/>
            <a:round/>
            <a:headEnd type="none" w="sm" len="sm"/>
            <a:tailEnd type="none" w="sm" len="sm"/>
          </a:ln>
        </p:spPr>
      </p:cxnSp>
      <p:sp>
        <p:nvSpPr>
          <p:cNvPr id="949" name="Google Shape;949;p39"/>
          <p:cNvSpPr/>
          <p:nvPr/>
        </p:nvSpPr>
        <p:spPr>
          <a:xfrm>
            <a:off x="3332988" y="2395728"/>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7B6"/>
              </a:buClr>
              <a:buSzPts val="900"/>
              <a:buFont typeface="Calibri"/>
              <a:buNone/>
            </a:pPr>
            <a:r>
              <a:rPr lang="en" sz="900" b="0" i="0" u="none" strike="noStrike" cap="none">
                <a:solidFill>
                  <a:srgbClr val="0077B6"/>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sp>
        <p:nvSpPr>
          <p:cNvPr id="950" name="Google Shape;950;p39"/>
          <p:cNvSpPr/>
          <p:nvPr/>
        </p:nvSpPr>
        <p:spPr>
          <a:xfrm>
            <a:off x="3607308" y="2377440"/>
            <a:ext cx="868800" cy="347400"/>
          </a:xfrm>
          <a:prstGeom prst="roundRect">
            <a:avLst>
              <a:gd name="adj" fmla="val 18421"/>
            </a:avLst>
          </a:prstGeom>
          <a:solidFill>
            <a:srgbClr val="FFFFFF"/>
          </a:solidFill>
          <a:ln w="10150"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1" name="Google Shape;951;p39"/>
          <p:cNvSpPr/>
          <p:nvPr/>
        </p:nvSpPr>
        <p:spPr>
          <a:xfrm>
            <a:off x="3607308" y="2377440"/>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100"/>
              <a:buFont typeface="Calibri"/>
              <a:buNone/>
            </a:pPr>
            <a:r>
              <a:rPr lang="en" sz="1100" b="0" i="0" u="none" strike="noStrike" cap="none">
                <a:solidFill>
                  <a:srgbClr val="5A6472"/>
                </a:solidFill>
                <a:latin typeface="Calibri"/>
                <a:ea typeface="Calibri"/>
                <a:cs typeface="Calibri"/>
                <a:sym typeface="Calibri"/>
              </a:rPr>
              <a:t>h¹3</a:t>
            </a:r>
            <a:endParaRPr sz="1100" b="0" i="0" u="none" strike="noStrike" cap="none">
              <a:solidFill>
                <a:schemeClr val="dk1"/>
              </a:solidFill>
              <a:latin typeface="Calibri"/>
              <a:ea typeface="Calibri"/>
              <a:cs typeface="Calibri"/>
              <a:sym typeface="Calibri"/>
            </a:endParaRPr>
          </a:p>
        </p:txBody>
      </p:sp>
      <p:cxnSp>
        <p:nvCxnSpPr>
          <p:cNvPr id="952" name="Google Shape;952;p39"/>
          <p:cNvCxnSpPr/>
          <p:nvPr/>
        </p:nvCxnSpPr>
        <p:spPr>
          <a:xfrm>
            <a:off x="4475988" y="2505456"/>
            <a:ext cx="320100" cy="0"/>
          </a:xfrm>
          <a:prstGeom prst="straightConnector1">
            <a:avLst/>
          </a:prstGeom>
          <a:noFill/>
          <a:ln w="12700" cap="flat" cmpd="sng">
            <a:solidFill>
              <a:srgbClr val="0077B6"/>
            </a:solidFill>
            <a:prstDash val="solid"/>
            <a:round/>
            <a:headEnd type="none" w="sm" len="sm"/>
            <a:tailEnd type="none" w="sm" len="sm"/>
          </a:ln>
        </p:spPr>
      </p:cxnSp>
      <p:sp>
        <p:nvSpPr>
          <p:cNvPr id="953" name="Google Shape;953;p39"/>
          <p:cNvSpPr/>
          <p:nvPr/>
        </p:nvSpPr>
        <p:spPr>
          <a:xfrm>
            <a:off x="4521708" y="2395728"/>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7B6"/>
              </a:buClr>
              <a:buSzPts val="900"/>
              <a:buFont typeface="Calibri"/>
              <a:buNone/>
            </a:pPr>
            <a:r>
              <a:rPr lang="en" sz="900" b="0" i="0" u="none" strike="noStrike" cap="none">
                <a:solidFill>
                  <a:srgbClr val="0077B6"/>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sp>
        <p:nvSpPr>
          <p:cNvPr id="954" name="Google Shape;954;p39"/>
          <p:cNvSpPr/>
          <p:nvPr/>
        </p:nvSpPr>
        <p:spPr>
          <a:xfrm>
            <a:off x="4796028" y="2377440"/>
            <a:ext cx="868800" cy="347400"/>
          </a:xfrm>
          <a:prstGeom prst="roundRect">
            <a:avLst>
              <a:gd name="adj" fmla="val 18421"/>
            </a:avLst>
          </a:prstGeom>
          <a:solidFill>
            <a:srgbClr val="FFFFFF"/>
          </a:solidFill>
          <a:ln w="10150"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5" name="Google Shape;955;p39"/>
          <p:cNvSpPr/>
          <p:nvPr/>
        </p:nvSpPr>
        <p:spPr>
          <a:xfrm>
            <a:off x="4796028" y="2377440"/>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100"/>
              <a:buFont typeface="Calibri"/>
              <a:buNone/>
            </a:pPr>
            <a:r>
              <a:rPr lang="en" sz="1100" b="0" i="0" u="none" strike="noStrike" cap="none">
                <a:solidFill>
                  <a:srgbClr val="5A6472"/>
                </a:solidFill>
                <a:latin typeface="Calibri"/>
                <a:ea typeface="Calibri"/>
                <a:cs typeface="Calibri"/>
                <a:sym typeface="Calibri"/>
              </a:rPr>
              <a:t>h¹4</a:t>
            </a:r>
            <a:endParaRPr sz="1100" b="0" i="0" u="none" strike="noStrike" cap="none">
              <a:solidFill>
                <a:schemeClr val="dk1"/>
              </a:solidFill>
              <a:latin typeface="Calibri"/>
              <a:ea typeface="Calibri"/>
              <a:cs typeface="Calibri"/>
              <a:sym typeface="Calibri"/>
            </a:endParaRPr>
          </a:p>
        </p:txBody>
      </p:sp>
      <p:cxnSp>
        <p:nvCxnSpPr>
          <p:cNvPr id="956" name="Google Shape;956;p39"/>
          <p:cNvCxnSpPr/>
          <p:nvPr/>
        </p:nvCxnSpPr>
        <p:spPr>
          <a:xfrm>
            <a:off x="5664708" y="2505456"/>
            <a:ext cx="320100" cy="0"/>
          </a:xfrm>
          <a:prstGeom prst="straightConnector1">
            <a:avLst/>
          </a:prstGeom>
          <a:noFill/>
          <a:ln w="12700" cap="flat" cmpd="sng">
            <a:solidFill>
              <a:srgbClr val="0077B6"/>
            </a:solidFill>
            <a:prstDash val="solid"/>
            <a:round/>
            <a:headEnd type="none" w="sm" len="sm"/>
            <a:tailEnd type="none" w="sm" len="sm"/>
          </a:ln>
        </p:spPr>
      </p:cxnSp>
      <p:sp>
        <p:nvSpPr>
          <p:cNvPr id="957" name="Google Shape;957;p39"/>
          <p:cNvSpPr/>
          <p:nvPr/>
        </p:nvSpPr>
        <p:spPr>
          <a:xfrm>
            <a:off x="5710428" y="2395728"/>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7B6"/>
              </a:buClr>
              <a:buSzPts val="900"/>
              <a:buFont typeface="Calibri"/>
              <a:buNone/>
            </a:pPr>
            <a:r>
              <a:rPr lang="en" sz="900" b="0" i="0" u="none" strike="noStrike" cap="none">
                <a:solidFill>
                  <a:srgbClr val="0077B6"/>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sp>
        <p:nvSpPr>
          <p:cNvPr id="958" name="Google Shape;958;p39"/>
          <p:cNvSpPr/>
          <p:nvPr/>
        </p:nvSpPr>
        <p:spPr>
          <a:xfrm>
            <a:off x="5984748" y="2377440"/>
            <a:ext cx="868800" cy="347400"/>
          </a:xfrm>
          <a:prstGeom prst="roundRect">
            <a:avLst>
              <a:gd name="adj" fmla="val 18421"/>
            </a:avLst>
          </a:prstGeom>
          <a:solidFill>
            <a:srgbClr val="EBF5FB"/>
          </a:solidFill>
          <a:ln w="19050" cap="flat" cmpd="sng">
            <a:solidFill>
              <a:srgbClr val="0077B6"/>
            </a:solidFill>
            <a:prstDash val="solid"/>
            <a:round/>
            <a:headEnd type="none" w="sm" len="sm"/>
            <a:tailEnd type="none" w="sm" len="sm"/>
          </a:ln>
          <a:effectLst>
            <a:outerShdw blurRad="63500" dist="25400" dir="2700000" algn="bl" rotWithShape="0">
              <a:srgbClr val="8AAABB">
                <a:alpha val="2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9" name="Google Shape;959;p39"/>
          <p:cNvSpPr/>
          <p:nvPr/>
        </p:nvSpPr>
        <p:spPr>
          <a:xfrm>
            <a:off x="5984748" y="2377440"/>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77B6"/>
              </a:buClr>
              <a:buSzPts val="1100"/>
              <a:buFont typeface="Calibri"/>
              <a:buNone/>
            </a:pPr>
            <a:r>
              <a:rPr lang="en" sz="1100" b="1" i="0" u="none" strike="noStrike" cap="none">
                <a:solidFill>
                  <a:srgbClr val="0077B6"/>
                </a:solidFill>
                <a:latin typeface="Calibri"/>
                <a:ea typeface="Calibri"/>
                <a:cs typeface="Calibri"/>
                <a:sym typeface="Calibri"/>
              </a:rPr>
              <a:t>h¹5</a:t>
            </a:r>
            <a:endParaRPr sz="1100" b="0" i="0" u="none" strike="noStrike" cap="none">
              <a:solidFill>
                <a:schemeClr val="dk1"/>
              </a:solidFill>
              <a:latin typeface="Calibri"/>
              <a:ea typeface="Calibri"/>
              <a:cs typeface="Calibri"/>
              <a:sym typeface="Calibri"/>
            </a:endParaRPr>
          </a:p>
        </p:txBody>
      </p:sp>
      <p:cxnSp>
        <p:nvCxnSpPr>
          <p:cNvPr id="960" name="Google Shape;960;p39"/>
          <p:cNvCxnSpPr/>
          <p:nvPr/>
        </p:nvCxnSpPr>
        <p:spPr>
          <a:xfrm>
            <a:off x="5664708" y="2633472"/>
            <a:ext cx="320100" cy="0"/>
          </a:xfrm>
          <a:prstGeom prst="straightConnector1">
            <a:avLst/>
          </a:prstGeom>
          <a:noFill/>
          <a:ln w="12700" cap="flat" cmpd="sng">
            <a:solidFill>
              <a:srgbClr val="0077B6"/>
            </a:solidFill>
            <a:prstDash val="dash"/>
            <a:round/>
            <a:headEnd type="none" w="sm" len="sm"/>
            <a:tailEnd type="none" w="sm" len="sm"/>
          </a:ln>
        </p:spPr>
      </p:cxnSp>
      <p:sp>
        <p:nvSpPr>
          <p:cNvPr id="961" name="Google Shape;961;p39"/>
          <p:cNvSpPr/>
          <p:nvPr/>
        </p:nvSpPr>
        <p:spPr>
          <a:xfrm>
            <a:off x="5710428" y="2615184"/>
            <a:ext cx="2742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7B6"/>
              </a:buClr>
              <a:buSzPts val="900"/>
              <a:buFont typeface="Calibri"/>
              <a:buNone/>
            </a:pPr>
            <a:r>
              <a:rPr lang="en" sz="900" b="0" i="0" u="none" strike="noStrike" cap="none">
                <a:solidFill>
                  <a:srgbClr val="0077B6"/>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cxnSp>
        <p:nvCxnSpPr>
          <p:cNvPr id="962" name="Google Shape;962;p39"/>
          <p:cNvCxnSpPr/>
          <p:nvPr/>
        </p:nvCxnSpPr>
        <p:spPr>
          <a:xfrm>
            <a:off x="4475988" y="2633472"/>
            <a:ext cx="320100" cy="0"/>
          </a:xfrm>
          <a:prstGeom prst="straightConnector1">
            <a:avLst/>
          </a:prstGeom>
          <a:noFill/>
          <a:ln w="12700" cap="flat" cmpd="sng">
            <a:solidFill>
              <a:srgbClr val="0077B6"/>
            </a:solidFill>
            <a:prstDash val="dash"/>
            <a:round/>
            <a:headEnd type="none" w="sm" len="sm"/>
            <a:tailEnd type="none" w="sm" len="sm"/>
          </a:ln>
        </p:spPr>
      </p:cxnSp>
      <p:sp>
        <p:nvSpPr>
          <p:cNvPr id="963" name="Google Shape;963;p39"/>
          <p:cNvSpPr/>
          <p:nvPr/>
        </p:nvSpPr>
        <p:spPr>
          <a:xfrm>
            <a:off x="4521708" y="2615184"/>
            <a:ext cx="2742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7B6"/>
              </a:buClr>
              <a:buSzPts val="900"/>
              <a:buFont typeface="Calibri"/>
              <a:buNone/>
            </a:pPr>
            <a:r>
              <a:rPr lang="en" sz="900" b="0" i="0" u="none" strike="noStrike" cap="none">
                <a:solidFill>
                  <a:srgbClr val="0077B6"/>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cxnSp>
        <p:nvCxnSpPr>
          <p:cNvPr id="964" name="Google Shape;964;p39"/>
          <p:cNvCxnSpPr/>
          <p:nvPr/>
        </p:nvCxnSpPr>
        <p:spPr>
          <a:xfrm>
            <a:off x="3287268" y="2633472"/>
            <a:ext cx="320100" cy="0"/>
          </a:xfrm>
          <a:prstGeom prst="straightConnector1">
            <a:avLst/>
          </a:prstGeom>
          <a:noFill/>
          <a:ln w="12700" cap="flat" cmpd="sng">
            <a:solidFill>
              <a:srgbClr val="0077B6"/>
            </a:solidFill>
            <a:prstDash val="dash"/>
            <a:round/>
            <a:headEnd type="none" w="sm" len="sm"/>
            <a:tailEnd type="none" w="sm" len="sm"/>
          </a:ln>
        </p:spPr>
      </p:cxnSp>
      <p:sp>
        <p:nvSpPr>
          <p:cNvPr id="965" name="Google Shape;965;p39"/>
          <p:cNvSpPr/>
          <p:nvPr/>
        </p:nvSpPr>
        <p:spPr>
          <a:xfrm>
            <a:off x="3332988" y="2615184"/>
            <a:ext cx="2742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7B6"/>
              </a:buClr>
              <a:buSzPts val="900"/>
              <a:buFont typeface="Calibri"/>
              <a:buNone/>
            </a:pPr>
            <a:r>
              <a:rPr lang="en" sz="900" b="0" i="0" u="none" strike="noStrike" cap="none">
                <a:solidFill>
                  <a:srgbClr val="0077B6"/>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cxnSp>
        <p:nvCxnSpPr>
          <p:cNvPr id="966" name="Google Shape;966;p39"/>
          <p:cNvCxnSpPr/>
          <p:nvPr/>
        </p:nvCxnSpPr>
        <p:spPr>
          <a:xfrm>
            <a:off x="2098548" y="2633472"/>
            <a:ext cx="320100" cy="0"/>
          </a:xfrm>
          <a:prstGeom prst="straightConnector1">
            <a:avLst/>
          </a:prstGeom>
          <a:noFill/>
          <a:ln w="12700" cap="flat" cmpd="sng">
            <a:solidFill>
              <a:srgbClr val="0077B6"/>
            </a:solidFill>
            <a:prstDash val="dash"/>
            <a:round/>
            <a:headEnd type="none" w="sm" len="sm"/>
            <a:tailEnd type="none" w="sm" len="sm"/>
          </a:ln>
        </p:spPr>
      </p:cxnSp>
      <p:sp>
        <p:nvSpPr>
          <p:cNvPr id="967" name="Google Shape;967;p39"/>
          <p:cNvSpPr/>
          <p:nvPr/>
        </p:nvSpPr>
        <p:spPr>
          <a:xfrm>
            <a:off x="2144268" y="2615184"/>
            <a:ext cx="2742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7B6"/>
              </a:buClr>
              <a:buSzPts val="900"/>
              <a:buFont typeface="Calibri"/>
              <a:buNone/>
            </a:pPr>
            <a:r>
              <a:rPr lang="en" sz="900" b="0" i="0" u="none" strike="noStrike" cap="none">
                <a:solidFill>
                  <a:srgbClr val="0077B6"/>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sp>
        <p:nvSpPr>
          <p:cNvPr id="968" name="Google Shape;968;p39"/>
          <p:cNvSpPr/>
          <p:nvPr/>
        </p:nvSpPr>
        <p:spPr>
          <a:xfrm>
            <a:off x="7479792" y="2359152"/>
            <a:ext cx="1554600" cy="420600"/>
          </a:xfrm>
          <a:prstGeom prst="roundRect">
            <a:avLst>
              <a:gd name="adj" fmla="val 15217"/>
            </a:avLst>
          </a:prstGeom>
          <a:solidFill>
            <a:srgbClr val="EBF5FB"/>
          </a:solidFill>
          <a:ln w="10150" cap="flat" cmpd="sng">
            <a:solidFill>
              <a:srgbClr val="0077B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9" name="Google Shape;969;p39"/>
          <p:cNvSpPr/>
          <p:nvPr/>
        </p:nvSpPr>
        <p:spPr>
          <a:xfrm>
            <a:off x="7479792" y="2359152"/>
            <a:ext cx="1554600" cy="420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7B6"/>
              </a:buClr>
              <a:buSzPts val="900"/>
              <a:buFont typeface="Calibri"/>
              <a:buNone/>
            </a:pPr>
            <a:r>
              <a:rPr lang="en" sz="900" b="0" i="0" u="none" strike="noStrike" cap="none">
                <a:solidFill>
                  <a:srgbClr val="0077B6"/>
                </a:solidFill>
                <a:latin typeface="Calibri"/>
                <a:ea typeface="Calibri"/>
                <a:cs typeface="Calibri"/>
                <a:sym typeface="Calibri"/>
              </a:rPr>
              <a:t>BiLSTM reads all e vectors</a:t>
            </a:r>
            <a:endParaRPr sz="9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77B6"/>
              </a:buClr>
              <a:buSzPts val="900"/>
              <a:buFont typeface="Calibri"/>
              <a:buNone/>
            </a:pPr>
            <a:r>
              <a:rPr lang="en" sz="900" b="0" i="0" u="none" strike="noStrike" cap="none">
                <a:solidFill>
                  <a:srgbClr val="0077B6"/>
                </a:solidFill>
                <a:latin typeface="Calibri"/>
                <a:ea typeface="Calibri"/>
                <a:cs typeface="Calibri"/>
                <a:sym typeface="Calibri"/>
              </a:rPr>
              <a:t>→ syntax, POS tags</a:t>
            </a:r>
            <a:endParaRPr sz="900" b="0" i="0" u="none" strike="noStrike" cap="none">
              <a:solidFill>
                <a:schemeClr val="dk1"/>
              </a:solidFill>
              <a:latin typeface="Calibri"/>
              <a:ea typeface="Calibri"/>
              <a:cs typeface="Calibri"/>
              <a:sym typeface="Calibri"/>
            </a:endParaRPr>
          </a:p>
        </p:txBody>
      </p:sp>
      <p:cxnSp>
        <p:nvCxnSpPr>
          <p:cNvPr id="970" name="Google Shape;970;p39"/>
          <p:cNvCxnSpPr/>
          <p:nvPr/>
        </p:nvCxnSpPr>
        <p:spPr>
          <a:xfrm>
            <a:off x="1664208" y="2761488"/>
            <a:ext cx="0" cy="658500"/>
          </a:xfrm>
          <a:prstGeom prst="straightConnector1">
            <a:avLst/>
          </a:prstGeom>
          <a:noFill/>
          <a:ln w="10150" cap="flat" cmpd="sng">
            <a:solidFill>
              <a:srgbClr val="B0C8D8"/>
            </a:solidFill>
            <a:prstDash val="solid"/>
            <a:round/>
            <a:headEnd type="none" w="sm" len="sm"/>
            <a:tailEnd type="none" w="sm" len="sm"/>
          </a:ln>
        </p:spPr>
      </p:cxnSp>
      <p:sp>
        <p:nvSpPr>
          <p:cNvPr id="971" name="Google Shape;971;p39"/>
          <p:cNvSpPr/>
          <p:nvPr/>
        </p:nvSpPr>
        <p:spPr>
          <a:xfrm>
            <a:off x="1527048" y="3255264"/>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B0C8D8"/>
              </a:buClr>
              <a:buSzPts val="800"/>
              <a:buFont typeface="Calibri"/>
              <a:buNone/>
            </a:pPr>
            <a:r>
              <a:rPr lang="en" sz="800" b="0" i="0" u="none" strike="noStrike" cap="none">
                <a:solidFill>
                  <a:srgbClr val="B0C8D8"/>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cxnSp>
        <p:nvCxnSpPr>
          <p:cNvPr id="972" name="Google Shape;972;p39"/>
          <p:cNvCxnSpPr/>
          <p:nvPr/>
        </p:nvCxnSpPr>
        <p:spPr>
          <a:xfrm>
            <a:off x="2852928" y="2761488"/>
            <a:ext cx="0" cy="658500"/>
          </a:xfrm>
          <a:prstGeom prst="straightConnector1">
            <a:avLst/>
          </a:prstGeom>
          <a:noFill/>
          <a:ln w="10150" cap="flat" cmpd="sng">
            <a:solidFill>
              <a:srgbClr val="B0C8D8"/>
            </a:solidFill>
            <a:prstDash val="solid"/>
            <a:round/>
            <a:headEnd type="none" w="sm" len="sm"/>
            <a:tailEnd type="none" w="sm" len="sm"/>
          </a:ln>
        </p:spPr>
      </p:cxnSp>
      <p:sp>
        <p:nvSpPr>
          <p:cNvPr id="973" name="Google Shape;973;p39"/>
          <p:cNvSpPr/>
          <p:nvPr/>
        </p:nvSpPr>
        <p:spPr>
          <a:xfrm>
            <a:off x="2715768" y="3255264"/>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B0C8D8"/>
              </a:buClr>
              <a:buSzPts val="800"/>
              <a:buFont typeface="Calibri"/>
              <a:buNone/>
            </a:pPr>
            <a:r>
              <a:rPr lang="en" sz="800" b="0" i="0" u="none" strike="noStrike" cap="none">
                <a:solidFill>
                  <a:srgbClr val="B0C8D8"/>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cxnSp>
        <p:nvCxnSpPr>
          <p:cNvPr id="974" name="Google Shape;974;p39"/>
          <p:cNvCxnSpPr/>
          <p:nvPr/>
        </p:nvCxnSpPr>
        <p:spPr>
          <a:xfrm>
            <a:off x="4041648" y="2761488"/>
            <a:ext cx="0" cy="658500"/>
          </a:xfrm>
          <a:prstGeom prst="straightConnector1">
            <a:avLst/>
          </a:prstGeom>
          <a:noFill/>
          <a:ln w="10150" cap="flat" cmpd="sng">
            <a:solidFill>
              <a:srgbClr val="B0C8D8"/>
            </a:solidFill>
            <a:prstDash val="solid"/>
            <a:round/>
            <a:headEnd type="none" w="sm" len="sm"/>
            <a:tailEnd type="none" w="sm" len="sm"/>
          </a:ln>
        </p:spPr>
      </p:cxnSp>
      <p:sp>
        <p:nvSpPr>
          <p:cNvPr id="975" name="Google Shape;975;p39"/>
          <p:cNvSpPr/>
          <p:nvPr/>
        </p:nvSpPr>
        <p:spPr>
          <a:xfrm>
            <a:off x="3904488" y="3255264"/>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B0C8D8"/>
              </a:buClr>
              <a:buSzPts val="800"/>
              <a:buFont typeface="Calibri"/>
              <a:buNone/>
            </a:pPr>
            <a:r>
              <a:rPr lang="en" sz="800" b="0" i="0" u="none" strike="noStrike" cap="none">
                <a:solidFill>
                  <a:srgbClr val="B0C8D8"/>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cxnSp>
        <p:nvCxnSpPr>
          <p:cNvPr id="976" name="Google Shape;976;p39"/>
          <p:cNvCxnSpPr/>
          <p:nvPr/>
        </p:nvCxnSpPr>
        <p:spPr>
          <a:xfrm>
            <a:off x="5230368" y="2761488"/>
            <a:ext cx="0" cy="658500"/>
          </a:xfrm>
          <a:prstGeom prst="straightConnector1">
            <a:avLst/>
          </a:prstGeom>
          <a:noFill/>
          <a:ln w="10150" cap="flat" cmpd="sng">
            <a:solidFill>
              <a:srgbClr val="B0C8D8"/>
            </a:solidFill>
            <a:prstDash val="solid"/>
            <a:round/>
            <a:headEnd type="none" w="sm" len="sm"/>
            <a:tailEnd type="none" w="sm" len="sm"/>
          </a:ln>
        </p:spPr>
      </p:cxnSp>
      <p:sp>
        <p:nvSpPr>
          <p:cNvPr id="977" name="Google Shape;977;p39"/>
          <p:cNvSpPr/>
          <p:nvPr/>
        </p:nvSpPr>
        <p:spPr>
          <a:xfrm>
            <a:off x="5093208" y="3255264"/>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B0C8D8"/>
              </a:buClr>
              <a:buSzPts val="800"/>
              <a:buFont typeface="Calibri"/>
              <a:buNone/>
            </a:pPr>
            <a:r>
              <a:rPr lang="en" sz="800" b="0" i="0" u="none" strike="noStrike" cap="none">
                <a:solidFill>
                  <a:srgbClr val="B0C8D8"/>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cxnSp>
        <p:nvCxnSpPr>
          <p:cNvPr id="978" name="Google Shape;978;p39"/>
          <p:cNvCxnSpPr/>
          <p:nvPr/>
        </p:nvCxnSpPr>
        <p:spPr>
          <a:xfrm>
            <a:off x="6419088" y="2761488"/>
            <a:ext cx="0" cy="658500"/>
          </a:xfrm>
          <a:prstGeom prst="straightConnector1">
            <a:avLst/>
          </a:prstGeom>
          <a:noFill/>
          <a:ln w="25400" cap="flat" cmpd="sng">
            <a:solidFill>
              <a:srgbClr val="E65100"/>
            </a:solidFill>
            <a:prstDash val="solid"/>
            <a:round/>
            <a:headEnd type="none" w="sm" len="sm"/>
            <a:tailEnd type="none" w="sm" len="sm"/>
          </a:ln>
        </p:spPr>
      </p:cxnSp>
      <p:sp>
        <p:nvSpPr>
          <p:cNvPr id="979" name="Google Shape;979;p39"/>
          <p:cNvSpPr/>
          <p:nvPr/>
        </p:nvSpPr>
        <p:spPr>
          <a:xfrm>
            <a:off x="6281928" y="3255264"/>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E65100"/>
              </a:buClr>
              <a:buSzPts val="1000"/>
              <a:buFont typeface="Calibri"/>
              <a:buNone/>
            </a:pPr>
            <a:r>
              <a:rPr lang="en" sz="1000" b="0" i="0" u="none" strike="noStrike" cap="none">
                <a:solidFill>
                  <a:srgbClr val="E65100"/>
                </a:solidFill>
                <a:latin typeface="Calibri"/>
                <a:ea typeface="Calibri"/>
                <a:cs typeface="Calibri"/>
                <a:sym typeface="Calibri"/>
              </a:rPr>
              <a:t>▼</a:t>
            </a:r>
            <a:endParaRPr sz="1000" b="0" i="0" u="none" strike="noStrike" cap="none">
              <a:solidFill>
                <a:schemeClr val="dk1"/>
              </a:solidFill>
              <a:latin typeface="Calibri"/>
              <a:ea typeface="Calibri"/>
              <a:cs typeface="Calibri"/>
              <a:sym typeface="Calibri"/>
            </a:endParaRPr>
          </a:p>
        </p:txBody>
      </p:sp>
      <p:sp>
        <p:nvSpPr>
          <p:cNvPr id="980" name="Google Shape;980;p39"/>
          <p:cNvSpPr/>
          <p:nvPr/>
        </p:nvSpPr>
        <p:spPr>
          <a:xfrm>
            <a:off x="7479792" y="2816352"/>
            <a:ext cx="155460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A6472"/>
              </a:buClr>
              <a:buSzPts val="900"/>
              <a:buFont typeface="Calibri"/>
              <a:buNone/>
            </a:pPr>
            <a:r>
              <a:rPr lang="en" sz="900" b="0" i="1" u="none" strike="noStrike" cap="none">
                <a:solidFill>
                  <a:srgbClr val="5A6472"/>
                </a:solidFill>
                <a:latin typeface="Calibri"/>
                <a:ea typeface="Calibri"/>
                <a:cs typeface="Calibri"/>
                <a:sym typeface="Calibri"/>
              </a:rPr>
              <a:t>h¹ vectors</a:t>
            </a:r>
            <a:endParaRPr sz="9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5A6472"/>
              </a:buClr>
              <a:buSzPts val="900"/>
              <a:buFont typeface="Calibri"/>
              <a:buNone/>
            </a:pPr>
            <a:r>
              <a:rPr lang="en" sz="900" b="0" i="1" u="none" strike="noStrike" cap="none">
                <a:solidFill>
                  <a:srgbClr val="5A6472"/>
                </a:solidFill>
                <a:latin typeface="Calibri"/>
                <a:ea typeface="Calibri"/>
                <a:cs typeface="Calibri"/>
                <a:sym typeface="Calibri"/>
              </a:rPr>
              <a:t>feed into →</a:t>
            </a:r>
            <a:endParaRPr sz="900" b="0" i="0" u="none" strike="noStrike" cap="none">
              <a:solidFill>
                <a:schemeClr val="dk1"/>
              </a:solidFill>
              <a:latin typeface="Calibri"/>
              <a:ea typeface="Calibri"/>
              <a:cs typeface="Calibri"/>
              <a:sym typeface="Calibri"/>
            </a:endParaRPr>
          </a:p>
        </p:txBody>
      </p:sp>
      <p:sp>
        <p:nvSpPr>
          <p:cNvPr id="981" name="Google Shape;981;p39"/>
          <p:cNvSpPr/>
          <p:nvPr/>
        </p:nvSpPr>
        <p:spPr>
          <a:xfrm>
            <a:off x="91440" y="3529584"/>
            <a:ext cx="1417200" cy="804600"/>
          </a:xfrm>
          <a:prstGeom prst="roundRect">
            <a:avLst>
              <a:gd name="adj" fmla="val 9091"/>
            </a:avLst>
          </a:prstGeom>
          <a:solidFill>
            <a:srgbClr val="F5EEF8"/>
          </a:solidFill>
          <a:ln w="19050" cap="flat" cmpd="sng">
            <a:solidFill>
              <a:srgbClr val="5E2D79"/>
            </a:solidFill>
            <a:prstDash val="solid"/>
            <a:round/>
            <a:headEnd type="none" w="sm" len="sm"/>
            <a:tailEnd type="none" w="sm" len="sm"/>
          </a:ln>
          <a:effectLst>
            <a:outerShdw blurRad="63500" dist="25400" dir="2700000" algn="bl" rotWithShape="0">
              <a:srgbClr val="8AAABB">
                <a:alpha val="2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2" name="Google Shape;982;p39"/>
          <p:cNvSpPr/>
          <p:nvPr/>
        </p:nvSpPr>
        <p:spPr>
          <a:xfrm>
            <a:off x="91440" y="3566160"/>
            <a:ext cx="1417200" cy="255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E2D79"/>
              </a:buClr>
              <a:buSzPts val="1100"/>
              <a:buFont typeface="Calibri"/>
              <a:buNone/>
            </a:pPr>
            <a:r>
              <a:rPr lang="en" sz="1100" b="1" i="0" u="none" strike="noStrike" cap="none">
                <a:solidFill>
                  <a:srgbClr val="5E2D79"/>
                </a:solidFill>
                <a:latin typeface="Calibri"/>
                <a:ea typeface="Calibri"/>
                <a:cs typeface="Calibri"/>
                <a:sym typeface="Calibri"/>
              </a:rPr>
              <a:t>Layer 2</a:t>
            </a:r>
            <a:endParaRPr sz="1100" b="0" i="0" u="none" strike="noStrike" cap="none">
              <a:solidFill>
                <a:schemeClr val="dk1"/>
              </a:solidFill>
              <a:latin typeface="Calibri"/>
              <a:ea typeface="Calibri"/>
              <a:cs typeface="Calibri"/>
              <a:sym typeface="Calibri"/>
            </a:endParaRPr>
          </a:p>
        </p:txBody>
      </p:sp>
      <p:sp>
        <p:nvSpPr>
          <p:cNvPr id="983" name="Google Shape;983;p39"/>
          <p:cNvSpPr/>
          <p:nvPr/>
        </p:nvSpPr>
        <p:spPr>
          <a:xfrm>
            <a:off x="91440" y="3803904"/>
            <a:ext cx="14172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A6472"/>
              </a:buClr>
              <a:buSzPts val="900"/>
              <a:buFont typeface="Calibri"/>
              <a:buNone/>
            </a:pPr>
            <a:r>
              <a:rPr lang="en" sz="900" b="0" i="1" u="none" strike="noStrike" cap="none">
                <a:solidFill>
                  <a:srgbClr val="5A6472"/>
                </a:solidFill>
                <a:latin typeface="Calibri"/>
                <a:ea typeface="Calibri"/>
                <a:cs typeface="Calibri"/>
                <a:sym typeface="Calibri"/>
              </a:rPr>
              <a:t>BiLSTM — 2nd</a:t>
            </a:r>
            <a:endParaRPr sz="900" b="0" i="0" u="none" strike="noStrike" cap="none">
              <a:solidFill>
                <a:schemeClr val="dk1"/>
              </a:solidFill>
              <a:latin typeface="Calibri"/>
              <a:ea typeface="Calibri"/>
              <a:cs typeface="Calibri"/>
              <a:sym typeface="Calibri"/>
            </a:endParaRPr>
          </a:p>
        </p:txBody>
      </p:sp>
      <p:sp>
        <p:nvSpPr>
          <p:cNvPr id="984" name="Google Shape;984;p39"/>
          <p:cNvSpPr/>
          <p:nvPr/>
        </p:nvSpPr>
        <p:spPr>
          <a:xfrm>
            <a:off x="91440" y="4005072"/>
            <a:ext cx="1417200" cy="274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E2D79"/>
              </a:buClr>
              <a:buSzPts val="800"/>
              <a:buFont typeface="Calibri"/>
              <a:buNone/>
            </a:pPr>
            <a:r>
              <a:rPr lang="en" sz="800" b="0" i="1" u="none" strike="noStrike" cap="none">
                <a:solidFill>
                  <a:srgbClr val="5E2D79"/>
                </a:solidFill>
                <a:latin typeface="Calibri"/>
                <a:ea typeface="Calibri"/>
                <a:cs typeface="Calibri"/>
                <a:sym typeface="Calibri"/>
              </a:rPr>
              <a:t>Reads h¹₁…h¹₅</a:t>
            </a:r>
            <a:endParaRPr sz="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5E2D79"/>
              </a:buClr>
              <a:buSzPts val="800"/>
              <a:buFont typeface="Calibri"/>
              <a:buNone/>
            </a:pPr>
            <a:r>
              <a:rPr lang="en" sz="800" b="0" i="1" u="none" strike="noStrike" cap="none">
                <a:solidFill>
                  <a:srgbClr val="5E2D79"/>
                </a:solidFill>
                <a:latin typeface="Calibri"/>
                <a:ea typeface="Calibri"/>
                <a:cs typeface="Calibri"/>
                <a:sym typeface="Calibri"/>
              </a:rPr>
              <a:t>(layer 1 outputs)</a:t>
            </a:r>
            <a:endParaRPr sz="800" b="0" i="0" u="none" strike="noStrike" cap="none">
              <a:solidFill>
                <a:schemeClr val="dk1"/>
              </a:solidFill>
              <a:latin typeface="Calibri"/>
              <a:ea typeface="Calibri"/>
              <a:cs typeface="Calibri"/>
              <a:sym typeface="Calibri"/>
            </a:endParaRPr>
          </a:p>
        </p:txBody>
      </p:sp>
      <p:sp>
        <p:nvSpPr>
          <p:cNvPr id="985" name="Google Shape;985;p39"/>
          <p:cNvSpPr/>
          <p:nvPr/>
        </p:nvSpPr>
        <p:spPr>
          <a:xfrm>
            <a:off x="1229868" y="3602736"/>
            <a:ext cx="868800" cy="347400"/>
          </a:xfrm>
          <a:prstGeom prst="roundRect">
            <a:avLst>
              <a:gd name="adj" fmla="val 18421"/>
            </a:avLst>
          </a:prstGeom>
          <a:solidFill>
            <a:srgbClr val="FFFFFF"/>
          </a:solidFill>
          <a:ln w="10150"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6" name="Google Shape;986;p39"/>
          <p:cNvSpPr/>
          <p:nvPr/>
        </p:nvSpPr>
        <p:spPr>
          <a:xfrm>
            <a:off x="1229868" y="3602736"/>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100"/>
              <a:buFont typeface="Calibri"/>
              <a:buNone/>
            </a:pPr>
            <a:r>
              <a:rPr lang="en" sz="1100" b="0" i="0" u="none" strike="noStrike" cap="none">
                <a:solidFill>
                  <a:srgbClr val="5A6472"/>
                </a:solidFill>
                <a:latin typeface="Calibri"/>
                <a:ea typeface="Calibri"/>
                <a:cs typeface="Calibri"/>
                <a:sym typeface="Calibri"/>
              </a:rPr>
              <a:t>h²1</a:t>
            </a:r>
            <a:endParaRPr sz="1100" b="0" i="0" u="none" strike="noStrike" cap="none">
              <a:solidFill>
                <a:schemeClr val="dk1"/>
              </a:solidFill>
              <a:latin typeface="Calibri"/>
              <a:ea typeface="Calibri"/>
              <a:cs typeface="Calibri"/>
              <a:sym typeface="Calibri"/>
            </a:endParaRPr>
          </a:p>
        </p:txBody>
      </p:sp>
      <p:cxnSp>
        <p:nvCxnSpPr>
          <p:cNvPr id="987" name="Google Shape;987;p39"/>
          <p:cNvCxnSpPr/>
          <p:nvPr/>
        </p:nvCxnSpPr>
        <p:spPr>
          <a:xfrm>
            <a:off x="2098548" y="3730752"/>
            <a:ext cx="320100" cy="0"/>
          </a:xfrm>
          <a:prstGeom prst="straightConnector1">
            <a:avLst/>
          </a:prstGeom>
          <a:noFill/>
          <a:ln w="12700" cap="flat" cmpd="sng">
            <a:solidFill>
              <a:srgbClr val="5E2D79"/>
            </a:solidFill>
            <a:prstDash val="solid"/>
            <a:round/>
            <a:headEnd type="none" w="sm" len="sm"/>
            <a:tailEnd type="none" w="sm" len="sm"/>
          </a:ln>
        </p:spPr>
      </p:cxnSp>
      <p:sp>
        <p:nvSpPr>
          <p:cNvPr id="988" name="Google Shape;988;p39"/>
          <p:cNvSpPr/>
          <p:nvPr/>
        </p:nvSpPr>
        <p:spPr>
          <a:xfrm>
            <a:off x="2144268" y="3621024"/>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E2D79"/>
              </a:buClr>
              <a:buSzPts val="900"/>
              <a:buFont typeface="Calibri"/>
              <a:buNone/>
            </a:pPr>
            <a:r>
              <a:rPr lang="en" sz="900" b="0" i="0" u="none" strike="noStrike" cap="none">
                <a:solidFill>
                  <a:srgbClr val="5E2D79"/>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sp>
        <p:nvSpPr>
          <p:cNvPr id="989" name="Google Shape;989;p39"/>
          <p:cNvSpPr/>
          <p:nvPr/>
        </p:nvSpPr>
        <p:spPr>
          <a:xfrm>
            <a:off x="2418588" y="3602736"/>
            <a:ext cx="868800" cy="347400"/>
          </a:xfrm>
          <a:prstGeom prst="roundRect">
            <a:avLst>
              <a:gd name="adj" fmla="val 18421"/>
            </a:avLst>
          </a:prstGeom>
          <a:solidFill>
            <a:srgbClr val="FFFFFF"/>
          </a:solidFill>
          <a:ln w="10150"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0" name="Google Shape;990;p39"/>
          <p:cNvSpPr/>
          <p:nvPr/>
        </p:nvSpPr>
        <p:spPr>
          <a:xfrm>
            <a:off x="2418588" y="3602736"/>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100"/>
              <a:buFont typeface="Calibri"/>
              <a:buNone/>
            </a:pPr>
            <a:r>
              <a:rPr lang="en" sz="1100" b="0" i="0" u="none" strike="noStrike" cap="none">
                <a:solidFill>
                  <a:srgbClr val="5A6472"/>
                </a:solidFill>
                <a:latin typeface="Calibri"/>
                <a:ea typeface="Calibri"/>
                <a:cs typeface="Calibri"/>
                <a:sym typeface="Calibri"/>
              </a:rPr>
              <a:t>h²2</a:t>
            </a:r>
            <a:endParaRPr sz="1100" b="0" i="0" u="none" strike="noStrike" cap="none">
              <a:solidFill>
                <a:schemeClr val="dk1"/>
              </a:solidFill>
              <a:latin typeface="Calibri"/>
              <a:ea typeface="Calibri"/>
              <a:cs typeface="Calibri"/>
              <a:sym typeface="Calibri"/>
            </a:endParaRPr>
          </a:p>
        </p:txBody>
      </p:sp>
      <p:cxnSp>
        <p:nvCxnSpPr>
          <p:cNvPr id="991" name="Google Shape;991;p39"/>
          <p:cNvCxnSpPr/>
          <p:nvPr/>
        </p:nvCxnSpPr>
        <p:spPr>
          <a:xfrm>
            <a:off x="3287268" y="3730752"/>
            <a:ext cx="320100" cy="0"/>
          </a:xfrm>
          <a:prstGeom prst="straightConnector1">
            <a:avLst/>
          </a:prstGeom>
          <a:noFill/>
          <a:ln w="12700" cap="flat" cmpd="sng">
            <a:solidFill>
              <a:srgbClr val="5E2D79"/>
            </a:solidFill>
            <a:prstDash val="solid"/>
            <a:round/>
            <a:headEnd type="none" w="sm" len="sm"/>
            <a:tailEnd type="none" w="sm" len="sm"/>
          </a:ln>
        </p:spPr>
      </p:cxnSp>
      <p:sp>
        <p:nvSpPr>
          <p:cNvPr id="992" name="Google Shape;992;p39"/>
          <p:cNvSpPr/>
          <p:nvPr/>
        </p:nvSpPr>
        <p:spPr>
          <a:xfrm>
            <a:off x="3332988" y="3621024"/>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E2D79"/>
              </a:buClr>
              <a:buSzPts val="900"/>
              <a:buFont typeface="Calibri"/>
              <a:buNone/>
            </a:pPr>
            <a:r>
              <a:rPr lang="en" sz="900" b="0" i="0" u="none" strike="noStrike" cap="none">
                <a:solidFill>
                  <a:srgbClr val="5E2D79"/>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sp>
        <p:nvSpPr>
          <p:cNvPr id="993" name="Google Shape;993;p39"/>
          <p:cNvSpPr/>
          <p:nvPr/>
        </p:nvSpPr>
        <p:spPr>
          <a:xfrm>
            <a:off x="3607308" y="3602736"/>
            <a:ext cx="868800" cy="347400"/>
          </a:xfrm>
          <a:prstGeom prst="roundRect">
            <a:avLst>
              <a:gd name="adj" fmla="val 18421"/>
            </a:avLst>
          </a:prstGeom>
          <a:solidFill>
            <a:srgbClr val="FFFFFF"/>
          </a:solidFill>
          <a:ln w="10150"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4" name="Google Shape;994;p39"/>
          <p:cNvSpPr/>
          <p:nvPr/>
        </p:nvSpPr>
        <p:spPr>
          <a:xfrm>
            <a:off x="3607308" y="3602736"/>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100"/>
              <a:buFont typeface="Calibri"/>
              <a:buNone/>
            </a:pPr>
            <a:r>
              <a:rPr lang="en" sz="1100" b="0" i="0" u="none" strike="noStrike" cap="none">
                <a:solidFill>
                  <a:srgbClr val="5A6472"/>
                </a:solidFill>
                <a:latin typeface="Calibri"/>
                <a:ea typeface="Calibri"/>
                <a:cs typeface="Calibri"/>
                <a:sym typeface="Calibri"/>
              </a:rPr>
              <a:t>h²3</a:t>
            </a:r>
            <a:endParaRPr sz="1100" b="0" i="0" u="none" strike="noStrike" cap="none">
              <a:solidFill>
                <a:schemeClr val="dk1"/>
              </a:solidFill>
              <a:latin typeface="Calibri"/>
              <a:ea typeface="Calibri"/>
              <a:cs typeface="Calibri"/>
              <a:sym typeface="Calibri"/>
            </a:endParaRPr>
          </a:p>
        </p:txBody>
      </p:sp>
      <p:cxnSp>
        <p:nvCxnSpPr>
          <p:cNvPr id="995" name="Google Shape;995;p39"/>
          <p:cNvCxnSpPr/>
          <p:nvPr/>
        </p:nvCxnSpPr>
        <p:spPr>
          <a:xfrm>
            <a:off x="4475988" y="3730752"/>
            <a:ext cx="320100" cy="0"/>
          </a:xfrm>
          <a:prstGeom prst="straightConnector1">
            <a:avLst/>
          </a:prstGeom>
          <a:noFill/>
          <a:ln w="12700" cap="flat" cmpd="sng">
            <a:solidFill>
              <a:srgbClr val="5E2D79"/>
            </a:solidFill>
            <a:prstDash val="solid"/>
            <a:round/>
            <a:headEnd type="none" w="sm" len="sm"/>
            <a:tailEnd type="none" w="sm" len="sm"/>
          </a:ln>
        </p:spPr>
      </p:cxnSp>
      <p:sp>
        <p:nvSpPr>
          <p:cNvPr id="996" name="Google Shape;996;p39"/>
          <p:cNvSpPr/>
          <p:nvPr/>
        </p:nvSpPr>
        <p:spPr>
          <a:xfrm>
            <a:off x="4521708" y="3621024"/>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E2D79"/>
              </a:buClr>
              <a:buSzPts val="900"/>
              <a:buFont typeface="Calibri"/>
              <a:buNone/>
            </a:pPr>
            <a:r>
              <a:rPr lang="en" sz="900" b="0" i="0" u="none" strike="noStrike" cap="none">
                <a:solidFill>
                  <a:srgbClr val="5E2D79"/>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sp>
        <p:nvSpPr>
          <p:cNvPr id="997" name="Google Shape;997;p39"/>
          <p:cNvSpPr/>
          <p:nvPr/>
        </p:nvSpPr>
        <p:spPr>
          <a:xfrm>
            <a:off x="4796028" y="3602736"/>
            <a:ext cx="868800" cy="347400"/>
          </a:xfrm>
          <a:prstGeom prst="roundRect">
            <a:avLst>
              <a:gd name="adj" fmla="val 18421"/>
            </a:avLst>
          </a:prstGeom>
          <a:solidFill>
            <a:srgbClr val="FFFFFF"/>
          </a:solidFill>
          <a:ln w="10150" cap="flat" cmpd="sng">
            <a:solidFill>
              <a:srgbClr val="B0C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8" name="Google Shape;998;p39"/>
          <p:cNvSpPr/>
          <p:nvPr/>
        </p:nvSpPr>
        <p:spPr>
          <a:xfrm>
            <a:off x="4796028" y="3602736"/>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472"/>
              </a:buClr>
              <a:buSzPts val="1100"/>
              <a:buFont typeface="Calibri"/>
              <a:buNone/>
            </a:pPr>
            <a:r>
              <a:rPr lang="en" sz="1100" b="0" i="0" u="none" strike="noStrike" cap="none">
                <a:solidFill>
                  <a:srgbClr val="5A6472"/>
                </a:solidFill>
                <a:latin typeface="Calibri"/>
                <a:ea typeface="Calibri"/>
                <a:cs typeface="Calibri"/>
                <a:sym typeface="Calibri"/>
              </a:rPr>
              <a:t>h²4</a:t>
            </a:r>
            <a:endParaRPr sz="1100" b="0" i="0" u="none" strike="noStrike" cap="none">
              <a:solidFill>
                <a:schemeClr val="dk1"/>
              </a:solidFill>
              <a:latin typeface="Calibri"/>
              <a:ea typeface="Calibri"/>
              <a:cs typeface="Calibri"/>
              <a:sym typeface="Calibri"/>
            </a:endParaRPr>
          </a:p>
        </p:txBody>
      </p:sp>
      <p:cxnSp>
        <p:nvCxnSpPr>
          <p:cNvPr id="999" name="Google Shape;999;p39"/>
          <p:cNvCxnSpPr/>
          <p:nvPr/>
        </p:nvCxnSpPr>
        <p:spPr>
          <a:xfrm>
            <a:off x="5664708" y="3730752"/>
            <a:ext cx="320100" cy="0"/>
          </a:xfrm>
          <a:prstGeom prst="straightConnector1">
            <a:avLst/>
          </a:prstGeom>
          <a:noFill/>
          <a:ln w="12700" cap="flat" cmpd="sng">
            <a:solidFill>
              <a:srgbClr val="5E2D79"/>
            </a:solidFill>
            <a:prstDash val="solid"/>
            <a:round/>
            <a:headEnd type="none" w="sm" len="sm"/>
            <a:tailEnd type="none" w="sm" len="sm"/>
          </a:ln>
        </p:spPr>
      </p:cxnSp>
      <p:sp>
        <p:nvSpPr>
          <p:cNvPr id="1000" name="Google Shape;1000;p39"/>
          <p:cNvSpPr/>
          <p:nvPr/>
        </p:nvSpPr>
        <p:spPr>
          <a:xfrm>
            <a:off x="5710428" y="3621024"/>
            <a:ext cx="274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E2D79"/>
              </a:buClr>
              <a:buSzPts val="900"/>
              <a:buFont typeface="Calibri"/>
              <a:buNone/>
            </a:pPr>
            <a:r>
              <a:rPr lang="en" sz="900" b="0" i="0" u="none" strike="noStrike" cap="none">
                <a:solidFill>
                  <a:srgbClr val="5E2D79"/>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sp>
        <p:nvSpPr>
          <p:cNvPr id="1001" name="Google Shape;1001;p39"/>
          <p:cNvSpPr/>
          <p:nvPr/>
        </p:nvSpPr>
        <p:spPr>
          <a:xfrm>
            <a:off x="5984748" y="3602736"/>
            <a:ext cx="868800" cy="347400"/>
          </a:xfrm>
          <a:prstGeom prst="roundRect">
            <a:avLst>
              <a:gd name="adj" fmla="val 18421"/>
            </a:avLst>
          </a:prstGeom>
          <a:solidFill>
            <a:srgbClr val="F5EEF8"/>
          </a:solidFill>
          <a:ln w="19050" cap="flat" cmpd="sng">
            <a:solidFill>
              <a:srgbClr val="5E2D79"/>
            </a:solidFill>
            <a:prstDash val="solid"/>
            <a:round/>
            <a:headEnd type="none" w="sm" len="sm"/>
            <a:tailEnd type="none" w="sm" len="sm"/>
          </a:ln>
          <a:effectLst>
            <a:outerShdw blurRad="63500" dist="25400" dir="2700000" algn="bl" rotWithShape="0">
              <a:srgbClr val="8AAABB">
                <a:alpha val="2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2" name="Google Shape;1002;p39"/>
          <p:cNvSpPr/>
          <p:nvPr/>
        </p:nvSpPr>
        <p:spPr>
          <a:xfrm>
            <a:off x="5984748" y="3602736"/>
            <a:ext cx="8688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E2D79"/>
              </a:buClr>
              <a:buSzPts val="1100"/>
              <a:buFont typeface="Calibri"/>
              <a:buNone/>
            </a:pPr>
            <a:r>
              <a:rPr lang="en" sz="1100" b="1" i="0" u="none" strike="noStrike" cap="none">
                <a:solidFill>
                  <a:srgbClr val="5E2D79"/>
                </a:solidFill>
                <a:latin typeface="Calibri"/>
                <a:ea typeface="Calibri"/>
                <a:cs typeface="Calibri"/>
                <a:sym typeface="Calibri"/>
              </a:rPr>
              <a:t>h²5</a:t>
            </a:r>
            <a:endParaRPr sz="1100" b="0" i="0" u="none" strike="noStrike" cap="none">
              <a:solidFill>
                <a:schemeClr val="dk1"/>
              </a:solidFill>
              <a:latin typeface="Calibri"/>
              <a:ea typeface="Calibri"/>
              <a:cs typeface="Calibri"/>
              <a:sym typeface="Calibri"/>
            </a:endParaRPr>
          </a:p>
        </p:txBody>
      </p:sp>
      <p:cxnSp>
        <p:nvCxnSpPr>
          <p:cNvPr id="1003" name="Google Shape;1003;p39"/>
          <p:cNvCxnSpPr/>
          <p:nvPr/>
        </p:nvCxnSpPr>
        <p:spPr>
          <a:xfrm>
            <a:off x="5664708" y="3858768"/>
            <a:ext cx="320100" cy="0"/>
          </a:xfrm>
          <a:prstGeom prst="straightConnector1">
            <a:avLst/>
          </a:prstGeom>
          <a:noFill/>
          <a:ln w="12700" cap="flat" cmpd="sng">
            <a:solidFill>
              <a:srgbClr val="5E2D79"/>
            </a:solidFill>
            <a:prstDash val="dash"/>
            <a:round/>
            <a:headEnd type="none" w="sm" len="sm"/>
            <a:tailEnd type="none" w="sm" len="sm"/>
          </a:ln>
        </p:spPr>
      </p:cxnSp>
      <p:sp>
        <p:nvSpPr>
          <p:cNvPr id="1004" name="Google Shape;1004;p39"/>
          <p:cNvSpPr/>
          <p:nvPr/>
        </p:nvSpPr>
        <p:spPr>
          <a:xfrm>
            <a:off x="5710428" y="3840480"/>
            <a:ext cx="2742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E2D79"/>
              </a:buClr>
              <a:buSzPts val="900"/>
              <a:buFont typeface="Calibri"/>
              <a:buNone/>
            </a:pPr>
            <a:r>
              <a:rPr lang="en" sz="900" b="0" i="0" u="none" strike="noStrike" cap="none">
                <a:solidFill>
                  <a:srgbClr val="5E2D79"/>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cxnSp>
        <p:nvCxnSpPr>
          <p:cNvPr id="1005" name="Google Shape;1005;p39"/>
          <p:cNvCxnSpPr/>
          <p:nvPr/>
        </p:nvCxnSpPr>
        <p:spPr>
          <a:xfrm>
            <a:off x="4475988" y="3858768"/>
            <a:ext cx="320100" cy="0"/>
          </a:xfrm>
          <a:prstGeom prst="straightConnector1">
            <a:avLst/>
          </a:prstGeom>
          <a:noFill/>
          <a:ln w="12700" cap="flat" cmpd="sng">
            <a:solidFill>
              <a:srgbClr val="5E2D79"/>
            </a:solidFill>
            <a:prstDash val="dash"/>
            <a:round/>
            <a:headEnd type="none" w="sm" len="sm"/>
            <a:tailEnd type="none" w="sm" len="sm"/>
          </a:ln>
        </p:spPr>
      </p:cxnSp>
      <p:sp>
        <p:nvSpPr>
          <p:cNvPr id="1006" name="Google Shape;1006;p39"/>
          <p:cNvSpPr/>
          <p:nvPr/>
        </p:nvSpPr>
        <p:spPr>
          <a:xfrm>
            <a:off x="4521708" y="3840480"/>
            <a:ext cx="2742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E2D79"/>
              </a:buClr>
              <a:buSzPts val="900"/>
              <a:buFont typeface="Calibri"/>
              <a:buNone/>
            </a:pPr>
            <a:r>
              <a:rPr lang="en" sz="900" b="0" i="0" u="none" strike="noStrike" cap="none">
                <a:solidFill>
                  <a:srgbClr val="5E2D79"/>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cxnSp>
        <p:nvCxnSpPr>
          <p:cNvPr id="1007" name="Google Shape;1007;p39"/>
          <p:cNvCxnSpPr/>
          <p:nvPr/>
        </p:nvCxnSpPr>
        <p:spPr>
          <a:xfrm>
            <a:off x="3287268" y="3858768"/>
            <a:ext cx="320100" cy="0"/>
          </a:xfrm>
          <a:prstGeom prst="straightConnector1">
            <a:avLst/>
          </a:prstGeom>
          <a:noFill/>
          <a:ln w="12700" cap="flat" cmpd="sng">
            <a:solidFill>
              <a:srgbClr val="5E2D79"/>
            </a:solidFill>
            <a:prstDash val="dash"/>
            <a:round/>
            <a:headEnd type="none" w="sm" len="sm"/>
            <a:tailEnd type="none" w="sm" len="sm"/>
          </a:ln>
        </p:spPr>
      </p:cxnSp>
      <p:sp>
        <p:nvSpPr>
          <p:cNvPr id="1008" name="Google Shape;1008;p39"/>
          <p:cNvSpPr/>
          <p:nvPr/>
        </p:nvSpPr>
        <p:spPr>
          <a:xfrm>
            <a:off x="3332988" y="3840480"/>
            <a:ext cx="2742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E2D79"/>
              </a:buClr>
              <a:buSzPts val="900"/>
              <a:buFont typeface="Calibri"/>
              <a:buNone/>
            </a:pPr>
            <a:r>
              <a:rPr lang="en" sz="900" b="0" i="0" u="none" strike="noStrike" cap="none">
                <a:solidFill>
                  <a:srgbClr val="5E2D79"/>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cxnSp>
        <p:nvCxnSpPr>
          <p:cNvPr id="1009" name="Google Shape;1009;p39"/>
          <p:cNvCxnSpPr/>
          <p:nvPr/>
        </p:nvCxnSpPr>
        <p:spPr>
          <a:xfrm>
            <a:off x="2098548" y="3858768"/>
            <a:ext cx="320100" cy="0"/>
          </a:xfrm>
          <a:prstGeom prst="straightConnector1">
            <a:avLst/>
          </a:prstGeom>
          <a:noFill/>
          <a:ln w="12700" cap="flat" cmpd="sng">
            <a:solidFill>
              <a:srgbClr val="5E2D79"/>
            </a:solidFill>
            <a:prstDash val="dash"/>
            <a:round/>
            <a:headEnd type="none" w="sm" len="sm"/>
            <a:tailEnd type="none" w="sm" len="sm"/>
          </a:ln>
        </p:spPr>
      </p:cxnSp>
      <p:sp>
        <p:nvSpPr>
          <p:cNvPr id="1010" name="Google Shape;1010;p39"/>
          <p:cNvSpPr/>
          <p:nvPr/>
        </p:nvSpPr>
        <p:spPr>
          <a:xfrm>
            <a:off x="2144268" y="3840480"/>
            <a:ext cx="2742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E2D79"/>
              </a:buClr>
              <a:buSzPts val="900"/>
              <a:buFont typeface="Calibri"/>
              <a:buNone/>
            </a:pPr>
            <a:r>
              <a:rPr lang="en" sz="900" b="0" i="0" u="none" strike="noStrike" cap="none">
                <a:solidFill>
                  <a:srgbClr val="5E2D79"/>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sp>
        <p:nvSpPr>
          <p:cNvPr id="1011" name="Google Shape;1011;p39"/>
          <p:cNvSpPr/>
          <p:nvPr/>
        </p:nvSpPr>
        <p:spPr>
          <a:xfrm>
            <a:off x="7479792" y="3584448"/>
            <a:ext cx="1554600" cy="420600"/>
          </a:xfrm>
          <a:prstGeom prst="roundRect">
            <a:avLst>
              <a:gd name="adj" fmla="val 15217"/>
            </a:avLst>
          </a:prstGeom>
          <a:solidFill>
            <a:srgbClr val="F5EEF8"/>
          </a:solidFill>
          <a:ln w="10150" cap="flat" cmpd="sng">
            <a:solidFill>
              <a:srgbClr val="5E2D7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2" name="Google Shape;1012;p39"/>
          <p:cNvSpPr/>
          <p:nvPr/>
        </p:nvSpPr>
        <p:spPr>
          <a:xfrm>
            <a:off x="7479792" y="3584448"/>
            <a:ext cx="1554600" cy="420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E2D79"/>
              </a:buClr>
              <a:buSzPts val="900"/>
              <a:buFont typeface="Calibri"/>
              <a:buNone/>
            </a:pPr>
            <a:r>
              <a:rPr lang="en" sz="900" b="0" i="0" u="none" strike="noStrike" cap="none">
                <a:solidFill>
                  <a:srgbClr val="5E2D79"/>
                </a:solidFill>
                <a:latin typeface="Calibri"/>
                <a:ea typeface="Calibri"/>
                <a:cs typeface="Calibri"/>
                <a:sym typeface="Calibri"/>
              </a:rPr>
              <a:t>BiLSTM reads all h¹ vectors</a:t>
            </a:r>
            <a:endParaRPr sz="9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5E2D79"/>
              </a:buClr>
              <a:buSzPts val="900"/>
              <a:buFont typeface="Calibri"/>
              <a:buNone/>
            </a:pPr>
            <a:r>
              <a:rPr lang="en" sz="900" b="0" i="0" u="none" strike="noStrike" cap="none">
                <a:solidFill>
                  <a:srgbClr val="5E2D79"/>
                </a:solidFill>
                <a:latin typeface="Calibri"/>
                <a:ea typeface="Calibri"/>
                <a:cs typeface="Calibri"/>
                <a:sym typeface="Calibri"/>
              </a:rPr>
              <a:t>→ semantics, word sense</a:t>
            </a:r>
            <a:endParaRPr sz="900" b="0" i="0" u="none" strike="noStrike" cap="none">
              <a:solidFill>
                <a:schemeClr val="dk1"/>
              </a:solidFill>
              <a:latin typeface="Calibri"/>
              <a:ea typeface="Calibri"/>
              <a:cs typeface="Calibri"/>
              <a:sym typeface="Calibri"/>
            </a:endParaRPr>
          </a:p>
        </p:txBody>
      </p:sp>
      <p:sp>
        <p:nvSpPr>
          <p:cNvPr id="1013" name="Google Shape;1013;p39"/>
          <p:cNvSpPr/>
          <p:nvPr/>
        </p:nvSpPr>
        <p:spPr>
          <a:xfrm>
            <a:off x="91440" y="4645152"/>
            <a:ext cx="8961000" cy="512100"/>
          </a:xfrm>
          <a:prstGeom prst="roundRect">
            <a:avLst>
              <a:gd name="adj" fmla="val 17857"/>
            </a:avLst>
          </a:prstGeom>
          <a:solidFill>
            <a:srgbClr val="E8F8F0"/>
          </a:solidFill>
          <a:ln w="19050" cap="flat" cmpd="sng">
            <a:solidFill>
              <a:srgbClr val="52B788"/>
            </a:solidFill>
            <a:prstDash val="solid"/>
            <a:round/>
            <a:headEnd type="none" w="sm" len="sm"/>
            <a:tailEnd type="none" w="sm" len="sm"/>
          </a:ln>
          <a:effectLst>
            <a:outerShdw blurRad="63500" dist="25400" dir="2700000" algn="bl" rotWithShape="0">
              <a:srgbClr val="8AAABB">
                <a:alpha val="2196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4" name="Google Shape;1014;p39"/>
          <p:cNvSpPr/>
          <p:nvPr/>
        </p:nvSpPr>
        <p:spPr>
          <a:xfrm>
            <a:off x="228600" y="4663440"/>
            <a:ext cx="59436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D6A4F"/>
              </a:buClr>
              <a:buSzPts val="1100"/>
              <a:buFont typeface="Courier New"/>
              <a:buNone/>
            </a:pPr>
            <a:r>
              <a:rPr lang="en" sz="1100" b="1" i="0" u="none" strike="noStrike" cap="none">
                <a:solidFill>
                  <a:srgbClr val="2D6A4F"/>
                </a:solidFill>
                <a:latin typeface="Courier New"/>
                <a:ea typeface="Courier New"/>
                <a:cs typeface="Courier New"/>
                <a:sym typeface="Courier New"/>
              </a:rPr>
              <a:t>ELMo(token) = γ·(s₀·e₅ + s₁·h¹₅ + s₂·h²₅)</a:t>
            </a:r>
            <a:endParaRPr sz="1100" b="0" i="0" u="none" strike="noStrike" cap="none">
              <a:solidFill>
                <a:schemeClr val="dk1"/>
              </a:solidFill>
              <a:latin typeface="Calibri"/>
              <a:ea typeface="Calibri"/>
              <a:cs typeface="Calibri"/>
              <a:sym typeface="Calibri"/>
            </a:endParaRPr>
          </a:p>
        </p:txBody>
      </p:sp>
      <p:sp>
        <p:nvSpPr>
          <p:cNvPr id="1015" name="Google Shape;1015;p39"/>
          <p:cNvSpPr/>
          <p:nvPr/>
        </p:nvSpPr>
        <p:spPr>
          <a:xfrm>
            <a:off x="228600" y="4919472"/>
            <a:ext cx="5943600" cy="201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472"/>
              </a:buClr>
              <a:buSzPts val="1000"/>
              <a:buFont typeface="Calibri"/>
              <a:buNone/>
            </a:pPr>
            <a:r>
              <a:rPr lang="en" sz="1000" b="0" i="1" u="none" strike="noStrike" cap="none">
                <a:solidFill>
                  <a:srgbClr val="5A6472"/>
                </a:solidFill>
                <a:latin typeface="Calibri"/>
                <a:ea typeface="Calibri"/>
                <a:cs typeface="Calibri"/>
                <a:sym typeface="Calibri"/>
              </a:rPr>
              <a:t>3 vectors weighted &amp; summed → 1 final context-rich embedding</a:t>
            </a:r>
            <a:endParaRPr sz="1000" b="0" i="0" u="none" strike="noStrike" cap="none">
              <a:solidFill>
                <a:schemeClr val="dk1"/>
              </a:solidFill>
              <a:latin typeface="Calibri"/>
              <a:ea typeface="Calibri"/>
              <a:cs typeface="Calibri"/>
              <a:sym typeface="Calibri"/>
            </a:endParaRPr>
          </a:p>
        </p:txBody>
      </p:sp>
      <p:sp>
        <p:nvSpPr>
          <p:cNvPr id="1016" name="Google Shape;1016;p39"/>
          <p:cNvSpPr/>
          <p:nvPr/>
        </p:nvSpPr>
        <p:spPr>
          <a:xfrm>
            <a:off x="6583680" y="4681728"/>
            <a:ext cx="2377500" cy="420600"/>
          </a:xfrm>
          <a:prstGeom prst="roundRect">
            <a:avLst>
              <a:gd name="adj" fmla="val 15217"/>
            </a:avLst>
          </a:prstGeom>
          <a:solidFill>
            <a:srgbClr val="FFFFFF"/>
          </a:solidFill>
          <a:ln w="10150" cap="flat" cmpd="sng">
            <a:solidFill>
              <a:srgbClr val="52B7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7" name="Google Shape;1017;p39"/>
          <p:cNvSpPr/>
          <p:nvPr/>
        </p:nvSpPr>
        <p:spPr>
          <a:xfrm>
            <a:off x="6629400" y="4690872"/>
            <a:ext cx="2286000" cy="420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E65100"/>
              </a:buClr>
              <a:buSzPts val="850"/>
              <a:buFont typeface="Courier New"/>
              <a:buNone/>
            </a:pPr>
            <a:r>
              <a:rPr lang="en" sz="850" b="0" i="0" u="none" strike="noStrike" cap="none">
                <a:solidFill>
                  <a:srgbClr val="E65100"/>
                </a:solidFill>
                <a:latin typeface="Courier New"/>
                <a:ea typeface="Courier New"/>
                <a:cs typeface="Courier New"/>
                <a:sym typeface="Courier New"/>
              </a:rPr>
              <a:t>emb1[0][4]</a:t>
            </a:r>
            <a:r>
              <a:rPr lang="en" sz="850" b="0" i="0" u="none" strike="noStrike" cap="none">
                <a:solidFill>
                  <a:srgbClr val="5A6472"/>
                </a:solidFill>
                <a:latin typeface="Courier New"/>
                <a:ea typeface="Courier New"/>
                <a:cs typeface="Courier New"/>
                <a:sym typeface="Courier New"/>
              </a:rPr>
              <a:t> = e₅  (char)</a:t>
            </a:r>
            <a:br>
              <a:rPr lang="en" sz="850" b="0" i="0" u="none" strike="noStrike" cap="none">
                <a:solidFill>
                  <a:srgbClr val="5A6472"/>
                </a:solidFill>
                <a:latin typeface="Courier New"/>
                <a:ea typeface="Courier New"/>
                <a:cs typeface="Courier New"/>
                <a:sym typeface="Courier New"/>
              </a:rPr>
            </a:br>
            <a:r>
              <a:rPr lang="en" sz="850" b="0" i="0" u="none" strike="noStrike" cap="none">
                <a:solidFill>
                  <a:srgbClr val="0077B6"/>
                </a:solidFill>
                <a:latin typeface="Courier New"/>
                <a:ea typeface="Courier New"/>
                <a:cs typeface="Courier New"/>
                <a:sym typeface="Courier New"/>
              </a:rPr>
              <a:t>emb1[1][4]</a:t>
            </a:r>
            <a:r>
              <a:rPr lang="en" sz="850" b="0" i="0" u="none" strike="noStrike" cap="none">
                <a:solidFill>
                  <a:srgbClr val="5A6472"/>
                </a:solidFill>
                <a:latin typeface="Courier New"/>
                <a:ea typeface="Courier New"/>
                <a:cs typeface="Courier New"/>
                <a:sym typeface="Courier New"/>
              </a:rPr>
              <a:t> = h¹₅ (syntax)</a:t>
            </a:r>
            <a:br>
              <a:rPr lang="en" sz="850" b="0" i="0" u="none" strike="noStrike" cap="none">
                <a:solidFill>
                  <a:srgbClr val="5A6472"/>
                </a:solidFill>
                <a:latin typeface="Courier New"/>
                <a:ea typeface="Courier New"/>
                <a:cs typeface="Courier New"/>
                <a:sym typeface="Courier New"/>
              </a:rPr>
            </a:br>
            <a:r>
              <a:rPr lang="en" sz="850" b="0" i="0" u="none" strike="noStrike" cap="none">
                <a:solidFill>
                  <a:srgbClr val="5E2D79"/>
                </a:solidFill>
                <a:latin typeface="Courier New"/>
                <a:ea typeface="Courier New"/>
                <a:cs typeface="Courier New"/>
                <a:sym typeface="Courier New"/>
              </a:rPr>
              <a:t>emb1[2][4]</a:t>
            </a:r>
            <a:r>
              <a:rPr lang="en" sz="850" b="0" i="0" u="none" strike="noStrike" cap="none">
                <a:solidFill>
                  <a:srgbClr val="5A6472"/>
                </a:solidFill>
                <a:latin typeface="Courier New"/>
                <a:ea typeface="Courier New"/>
                <a:cs typeface="Courier New"/>
                <a:sym typeface="Courier New"/>
              </a:rPr>
              <a:t> = h²₅ (semantic)</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p40"/>
          <p:cNvSpPr txBox="1"/>
          <p:nvPr/>
        </p:nvSpPr>
        <p:spPr>
          <a:xfrm>
            <a:off x="457200" y="146304"/>
            <a:ext cx="8229600" cy="3231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 sz="2100" b="1" i="0" u="none" strike="noStrike" cap="none">
                <a:solidFill>
                  <a:srgbClr val="111111"/>
                </a:solidFill>
                <a:latin typeface="Calibri"/>
                <a:ea typeface="Calibri"/>
                <a:cs typeface="Calibri"/>
                <a:sym typeface="Calibri"/>
              </a:rPr>
              <a:t>Word2Vec vs ELMo — key differences</a:t>
            </a:r>
            <a:endParaRPr/>
          </a:p>
        </p:txBody>
      </p:sp>
      <p:sp>
        <p:nvSpPr>
          <p:cNvPr id="1023" name="Google Shape;1023;p40"/>
          <p:cNvSpPr/>
          <p:nvPr/>
        </p:nvSpPr>
        <p:spPr>
          <a:xfrm>
            <a:off x="457200" y="566928"/>
            <a:ext cx="8229600" cy="3145500"/>
          </a:xfrm>
          <a:prstGeom prst="rect">
            <a:avLst/>
          </a:prstGeom>
          <a:solidFill>
            <a:srgbClr val="FFFFFF"/>
          </a:solidFill>
          <a:ln w="9525" cap="flat" cmpd="sng">
            <a:solidFill>
              <a:srgbClr val="DDDCD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4" name="Google Shape;1024;p40"/>
          <p:cNvSpPr/>
          <p:nvPr/>
        </p:nvSpPr>
        <p:spPr>
          <a:xfrm>
            <a:off x="457200" y="566928"/>
            <a:ext cx="1874400" cy="3145500"/>
          </a:xfrm>
          <a:prstGeom prst="rect">
            <a:avLst/>
          </a:prstGeom>
          <a:solidFill>
            <a:srgbClr val="F2F1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5" name="Google Shape;1025;p40"/>
          <p:cNvSpPr/>
          <p:nvPr/>
        </p:nvSpPr>
        <p:spPr>
          <a:xfrm>
            <a:off x="2331720" y="566928"/>
            <a:ext cx="3177600" cy="329100"/>
          </a:xfrm>
          <a:prstGeom prst="rect">
            <a:avLst/>
          </a:prstGeom>
          <a:solidFill>
            <a:srgbClr val="D9F5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6" name="Google Shape;1026;p40"/>
          <p:cNvSpPr/>
          <p:nvPr/>
        </p:nvSpPr>
        <p:spPr>
          <a:xfrm>
            <a:off x="2331720" y="566928"/>
            <a:ext cx="32100" cy="329100"/>
          </a:xfrm>
          <a:prstGeom prst="rect">
            <a:avLst/>
          </a:prstGeom>
          <a:solidFill>
            <a:srgbClr val="3FBF9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7" name="Google Shape;1027;p40"/>
          <p:cNvSpPr/>
          <p:nvPr/>
        </p:nvSpPr>
        <p:spPr>
          <a:xfrm>
            <a:off x="5509260" y="566928"/>
            <a:ext cx="3177600" cy="329100"/>
          </a:xfrm>
          <a:prstGeom prst="rect">
            <a:avLst/>
          </a:prstGeom>
          <a:solidFill>
            <a:srgbClr val="ECEAF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8" name="Google Shape;1028;p40"/>
          <p:cNvSpPr/>
          <p:nvPr/>
        </p:nvSpPr>
        <p:spPr>
          <a:xfrm>
            <a:off x="5509260" y="566928"/>
            <a:ext cx="32100" cy="329100"/>
          </a:xfrm>
          <a:prstGeom prst="rect">
            <a:avLst/>
          </a:prstGeom>
          <a:solidFill>
            <a:srgbClr val="8C7AE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9" name="Google Shape;1029;p40"/>
          <p:cNvSpPr txBox="1"/>
          <p:nvPr/>
        </p:nvSpPr>
        <p:spPr>
          <a:xfrm>
            <a:off x="2496312" y="566928"/>
            <a:ext cx="2903100" cy="2079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 sz="1350" b="1" i="0" u="none" strike="noStrike" cap="none">
                <a:solidFill>
                  <a:srgbClr val="0F7A5C"/>
                </a:solidFill>
                <a:latin typeface="Calibri"/>
                <a:ea typeface="Calibri"/>
                <a:cs typeface="Calibri"/>
                <a:sym typeface="Calibri"/>
              </a:rPr>
              <a:t>Word2Vec</a:t>
            </a:r>
            <a:endParaRPr/>
          </a:p>
        </p:txBody>
      </p:sp>
      <p:sp>
        <p:nvSpPr>
          <p:cNvPr id="1030" name="Google Shape;1030;p40"/>
          <p:cNvSpPr txBox="1"/>
          <p:nvPr/>
        </p:nvSpPr>
        <p:spPr>
          <a:xfrm>
            <a:off x="5673852" y="566928"/>
            <a:ext cx="2903100" cy="2079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 sz="1350" b="1" i="0" u="none" strike="noStrike" cap="none">
                <a:solidFill>
                  <a:srgbClr val="4B3F91"/>
                </a:solidFill>
                <a:latin typeface="Calibri"/>
                <a:ea typeface="Calibri"/>
                <a:cs typeface="Calibri"/>
                <a:sym typeface="Calibri"/>
              </a:rPr>
              <a:t>ELMo</a:t>
            </a:r>
            <a:endParaRPr/>
          </a:p>
        </p:txBody>
      </p:sp>
      <p:cxnSp>
        <p:nvCxnSpPr>
          <p:cNvPr id="1031" name="Google Shape;1031;p40"/>
          <p:cNvCxnSpPr/>
          <p:nvPr/>
        </p:nvCxnSpPr>
        <p:spPr>
          <a:xfrm>
            <a:off x="457200" y="896112"/>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032" name="Google Shape;1032;p40"/>
          <p:cNvSpPr txBox="1"/>
          <p:nvPr/>
        </p:nvSpPr>
        <p:spPr>
          <a:xfrm>
            <a:off x="621792" y="896112"/>
            <a:ext cx="1600200" cy="168300"/>
          </a:xfrm>
          <a:prstGeom prst="rect">
            <a:avLst/>
          </a:prstGeom>
          <a:noFill/>
          <a:ln>
            <a:noFill/>
          </a:ln>
        </p:spPr>
        <p:txBody>
          <a:bodyPr spcFirstLastPara="1" wrap="square" lIns="0" tIns="0" rIns="0" bIns="0" anchor="ctr" anchorCtr="0">
            <a:spAutoFit/>
          </a:bodyPr>
          <a:lstStyle/>
          <a:p>
            <a:pPr marL="0" marR="0" lvl="0" indent="0" algn="l" rtl="0">
              <a:lnSpc>
                <a:spcPct val="95000"/>
              </a:lnSpc>
              <a:spcBef>
                <a:spcPts val="0"/>
              </a:spcBef>
              <a:spcAft>
                <a:spcPts val="0"/>
              </a:spcAft>
              <a:buNone/>
            </a:pPr>
            <a:r>
              <a:rPr lang="en" sz="1150" b="1" i="0" u="none" strike="noStrike" cap="none">
                <a:solidFill>
                  <a:srgbClr val="111111"/>
                </a:solidFill>
                <a:latin typeface="Calibri"/>
                <a:ea typeface="Calibri"/>
                <a:cs typeface="Calibri"/>
                <a:sym typeface="Calibri"/>
              </a:rPr>
              <a:t>Embedding type</a:t>
            </a:r>
            <a:endParaRPr/>
          </a:p>
        </p:txBody>
      </p:sp>
      <p:sp>
        <p:nvSpPr>
          <p:cNvPr id="1033" name="Google Shape;1033;p40"/>
          <p:cNvSpPr txBox="1"/>
          <p:nvPr/>
        </p:nvSpPr>
        <p:spPr>
          <a:xfrm>
            <a:off x="2496312" y="896112"/>
            <a:ext cx="1275600" cy="3114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Static — one fixed vector per word</a:t>
            </a:r>
            <a:endParaRPr/>
          </a:p>
        </p:txBody>
      </p:sp>
      <p:sp>
        <p:nvSpPr>
          <p:cNvPr id="1034" name="Google Shape;1034;p40"/>
          <p:cNvSpPr/>
          <p:nvPr/>
        </p:nvSpPr>
        <p:spPr>
          <a:xfrm>
            <a:off x="3927348" y="934974"/>
            <a:ext cx="1444800" cy="274200"/>
          </a:xfrm>
          <a:prstGeom prst="roundRect">
            <a:avLst>
              <a:gd name="adj" fmla="val 50000"/>
            </a:avLst>
          </a:prstGeom>
          <a:solidFill>
            <a:srgbClr val="FBDE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35" name="Google Shape;1035;p40"/>
          <p:cNvSpPr txBox="1"/>
          <p:nvPr/>
        </p:nvSpPr>
        <p:spPr>
          <a:xfrm>
            <a:off x="3927348" y="934974"/>
            <a:ext cx="1444800" cy="1539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000" b="1" i="0" u="none" strike="noStrike" cap="none">
                <a:solidFill>
                  <a:srgbClr val="8C2F35"/>
                </a:solidFill>
                <a:latin typeface="Calibri"/>
                <a:ea typeface="Calibri"/>
                <a:cs typeface="Calibri"/>
                <a:sym typeface="Calibri"/>
              </a:rPr>
              <a:t>context-free</a:t>
            </a:r>
            <a:endParaRPr/>
          </a:p>
        </p:txBody>
      </p:sp>
      <p:sp>
        <p:nvSpPr>
          <p:cNvPr id="1036" name="Google Shape;1036;p40"/>
          <p:cNvSpPr txBox="1"/>
          <p:nvPr/>
        </p:nvSpPr>
        <p:spPr>
          <a:xfrm>
            <a:off x="5673852" y="896112"/>
            <a:ext cx="1467600" cy="3114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Dynamic — new vector per sentence</a:t>
            </a:r>
            <a:endParaRPr/>
          </a:p>
        </p:txBody>
      </p:sp>
      <p:sp>
        <p:nvSpPr>
          <p:cNvPr id="1037" name="Google Shape;1037;p40"/>
          <p:cNvSpPr/>
          <p:nvPr/>
        </p:nvSpPr>
        <p:spPr>
          <a:xfrm>
            <a:off x="7296911" y="934974"/>
            <a:ext cx="1252800" cy="274200"/>
          </a:xfrm>
          <a:prstGeom prst="roundRect">
            <a:avLst>
              <a:gd name="adj" fmla="val 50000"/>
            </a:avLst>
          </a:prstGeom>
          <a:solidFill>
            <a:srgbClr val="DFF3E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38" name="Google Shape;1038;p40"/>
          <p:cNvSpPr txBox="1"/>
          <p:nvPr/>
        </p:nvSpPr>
        <p:spPr>
          <a:xfrm>
            <a:off x="7296911" y="934974"/>
            <a:ext cx="1252800" cy="1539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000" b="1" i="0" u="none" strike="noStrike" cap="none">
                <a:solidFill>
                  <a:srgbClr val="1F7A5C"/>
                </a:solidFill>
                <a:latin typeface="Calibri"/>
                <a:ea typeface="Calibri"/>
                <a:cs typeface="Calibri"/>
                <a:sym typeface="Calibri"/>
              </a:rPr>
              <a:t>contextual</a:t>
            </a:r>
            <a:endParaRPr/>
          </a:p>
        </p:txBody>
      </p:sp>
      <p:cxnSp>
        <p:nvCxnSpPr>
          <p:cNvPr id="1039" name="Google Shape;1039;p40"/>
          <p:cNvCxnSpPr/>
          <p:nvPr/>
        </p:nvCxnSpPr>
        <p:spPr>
          <a:xfrm>
            <a:off x="457200" y="1248156"/>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040" name="Google Shape;1040;p40"/>
          <p:cNvSpPr txBox="1"/>
          <p:nvPr/>
        </p:nvSpPr>
        <p:spPr>
          <a:xfrm>
            <a:off x="621792" y="1248156"/>
            <a:ext cx="1600200" cy="168300"/>
          </a:xfrm>
          <a:prstGeom prst="rect">
            <a:avLst/>
          </a:prstGeom>
          <a:noFill/>
          <a:ln>
            <a:noFill/>
          </a:ln>
        </p:spPr>
        <p:txBody>
          <a:bodyPr spcFirstLastPara="1" wrap="square" lIns="0" tIns="0" rIns="0" bIns="0" anchor="ctr" anchorCtr="0">
            <a:spAutoFit/>
          </a:bodyPr>
          <a:lstStyle/>
          <a:p>
            <a:pPr marL="0" marR="0" lvl="0" indent="0" algn="l" rtl="0">
              <a:lnSpc>
                <a:spcPct val="95000"/>
              </a:lnSpc>
              <a:spcBef>
                <a:spcPts val="0"/>
              </a:spcBef>
              <a:spcAft>
                <a:spcPts val="0"/>
              </a:spcAft>
              <a:buNone/>
            </a:pPr>
            <a:r>
              <a:rPr lang="en" sz="1150" b="1" i="0" u="none" strike="noStrike" cap="none">
                <a:solidFill>
                  <a:srgbClr val="111111"/>
                </a:solidFill>
                <a:latin typeface="Calibri"/>
                <a:ea typeface="Calibri"/>
                <a:cs typeface="Calibri"/>
                <a:sym typeface="Calibri"/>
              </a:rPr>
              <a:t>Architecture</a:t>
            </a:r>
            <a:endParaRPr/>
          </a:p>
        </p:txBody>
      </p:sp>
      <p:sp>
        <p:nvSpPr>
          <p:cNvPr id="1041" name="Google Shape;1041;p40"/>
          <p:cNvSpPr txBox="1"/>
          <p:nvPr/>
        </p:nvSpPr>
        <p:spPr>
          <a:xfrm>
            <a:off x="2496312" y="1248156"/>
            <a:ext cx="2857500" cy="1557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Shallow lookup table</a:t>
            </a:r>
            <a:endParaRPr/>
          </a:p>
        </p:txBody>
      </p:sp>
      <p:sp>
        <p:nvSpPr>
          <p:cNvPr id="1042" name="Google Shape;1042;p40"/>
          <p:cNvSpPr txBox="1"/>
          <p:nvPr/>
        </p:nvSpPr>
        <p:spPr>
          <a:xfrm>
            <a:off x="5673852" y="1248156"/>
            <a:ext cx="2857500" cy="1557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2-layer Bidirectional LSTM</a:t>
            </a:r>
            <a:endParaRPr/>
          </a:p>
        </p:txBody>
      </p:sp>
      <p:cxnSp>
        <p:nvCxnSpPr>
          <p:cNvPr id="1043" name="Google Shape;1043;p40"/>
          <p:cNvCxnSpPr/>
          <p:nvPr/>
        </p:nvCxnSpPr>
        <p:spPr>
          <a:xfrm>
            <a:off x="457200" y="1600200"/>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044" name="Google Shape;1044;p40"/>
          <p:cNvSpPr txBox="1"/>
          <p:nvPr/>
        </p:nvSpPr>
        <p:spPr>
          <a:xfrm>
            <a:off x="621792" y="1600200"/>
            <a:ext cx="1600200" cy="168300"/>
          </a:xfrm>
          <a:prstGeom prst="rect">
            <a:avLst/>
          </a:prstGeom>
          <a:noFill/>
          <a:ln>
            <a:noFill/>
          </a:ln>
        </p:spPr>
        <p:txBody>
          <a:bodyPr spcFirstLastPara="1" wrap="square" lIns="0" tIns="0" rIns="0" bIns="0" anchor="ctr" anchorCtr="0">
            <a:spAutoFit/>
          </a:bodyPr>
          <a:lstStyle/>
          <a:p>
            <a:pPr marL="0" marR="0" lvl="0" indent="0" algn="l" rtl="0">
              <a:lnSpc>
                <a:spcPct val="95000"/>
              </a:lnSpc>
              <a:spcBef>
                <a:spcPts val="0"/>
              </a:spcBef>
              <a:spcAft>
                <a:spcPts val="0"/>
              </a:spcAft>
              <a:buNone/>
            </a:pPr>
            <a:r>
              <a:rPr lang="en" sz="1150" b="1" i="0" u="none" strike="noStrike" cap="none">
                <a:solidFill>
                  <a:srgbClr val="111111"/>
                </a:solidFill>
                <a:latin typeface="Calibri"/>
                <a:ea typeface="Calibri"/>
                <a:cs typeface="Calibri"/>
                <a:sym typeface="Calibri"/>
              </a:rPr>
              <a:t>Handles polysemy</a:t>
            </a:r>
            <a:endParaRPr/>
          </a:p>
        </p:txBody>
      </p:sp>
      <p:sp>
        <p:nvSpPr>
          <p:cNvPr id="1045" name="Google Shape;1045;p40"/>
          <p:cNvSpPr txBox="1"/>
          <p:nvPr/>
        </p:nvSpPr>
        <p:spPr>
          <a:xfrm>
            <a:off x="2496312" y="1600200"/>
            <a:ext cx="2235600" cy="1557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"bank" always same vector</a:t>
            </a:r>
            <a:endParaRPr/>
          </a:p>
        </p:txBody>
      </p:sp>
      <p:sp>
        <p:nvSpPr>
          <p:cNvPr id="1046" name="Google Shape;1046;p40"/>
          <p:cNvSpPr/>
          <p:nvPr/>
        </p:nvSpPr>
        <p:spPr>
          <a:xfrm>
            <a:off x="4887468" y="1639062"/>
            <a:ext cx="484500" cy="274200"/>
          </a:xfrm>
          <a:prstGeom prst="roundRect">
            <a:avLst>
              <a:gd name="adj" fmla="val 50000"/>
            </a:avLst>
          </a:prstGeom>
          <a:solidFill>
            <a:srgbClr val="FBDE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47" name="Google Shape;1047;p40"/>
          <p:cNvSpPr txBox="1"/>
          <p:nvPr/>
        </p:nvSpPr>
        <p:spPr>
          <a:xfrm>
            <a:off x="4887468" y="1639062"/>
            <a:ext cx="484500" cy="1539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000" b="1" i="0" u="none" strike="noStrike" cap="none">
                <a:solidFill>
                  <a:srgbClr val="8C2F35"/>
                </a:solidFill>
                <a:latin typeface="Calibri"/>
                <a:ea typeface="Calibri"/>
                <a:cs typeface="Calibri"/>
                <a:sym typeface="Calibri"/>
              </a:rPr>
              <a:t>no</a:t>
            </a:r>
            <a:endParaRPr/>
          </a:p>
        </p:txBody>
      </p:sp>
      <p:sp>
        <p:nvSpPr>
          <p:cNvPr id="1048" name="Google Shape;1048;p40"/>
          <p:cNvSpPr txBox="1"/>
          <p:nvPr/>
        </p:nvSpPr>
        <p:spPr>
          <a:xfrm>
            <a:off x="5673852" y="1600200"/>
            <a:ext cx="2139600" cy="1557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"bank" differs by context</a:t>
            </a:r>
            <a:endParaRPr/>
          </a:p>
        </p:txBody>
      </p:sp>
      <p:sp>
        <p:nvSpPr>
          <p:cNvPr id="1049" name="Google Shape;1049;p40"/>
          <p:cNvSpPr/>
          <p:nvPr/>
        </p:nvSpPr>
        <p:spPr>
          <a:xfrm>
            <a:off x="7968996" y="1639062"/>
            <a:ext cx="580500" cy="274200"/>
          </a:xfrm>
          <a:prstGeom prst="roundRect">
            <a:avLst>
              <a:gd name="adj" fmla="val 50000"/>
            </a:avLst>
          </a:prstGeom>
          <a:solidFill>
            <a:srgbClr val="DFF3E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50" name="Google Shape;1050;p40"/>
          <p:cNvSpPr txBox="1"/>
          <p:nvPr/>
        </p:nvSpPr>
        <p:spPr>
          <a:xfrm>
            <a:off x="7968996" y="1639062"/>
            <a:ext cx="580500" cy="1539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000" b="1" i="0" u="none" strike="noStrike" cap="none">
                <a:solidFill>
                  <a:srgbClr val="1F7A5C"/>
                </a:solidFill>
                <a:latin typeface="Calibri"/>
                <a:ea typeface="Calibri"/>
                <a:cs typeface="Calibri"/>
                <a:sym typeface="Calibri"/>
              </a:rPr>
              <a:t>yes</a:t>
            </a:r>
            <a:endParaRPr/>
          </a:p>
        </p:txBody>
      </p:sp>
      <p:cxnSp>
        <p:nvCxnSpPr>
          <p:cNvPr id="1051" name="Google Shape;1051;p40"/>
          <p:cNvCxnSpPr/>
          <p:nvPr/>
        </p:nvCxnSpPr>
        <p:spPr>
          <a:xfrm>
            <a:off x="457200" y="1952243"/>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052" name="Google Shape;1052;p40"/>
          <p:cNvSpPr txBox="1"/>
          <p:nvPr/>
        </p:nvSpPr>
        <p:spPr>
          <a:xfrm>
            <a:off x="621792" y="1952243"/>
            <a:ext cx="1600200" cy="168300"/>
          </a:xfrm>
          <a:prstGeom prst="rect">
            <a:avLst/>
          </a:prstGeom>
          <a:noFill/>
          <a:ln>
            <a:noFill/>
          </a:ln>
        </p:spPr>
        <p:txBody>
          <a:bodyPr spcFirstLastPara="1" wrap="square" lIns="0" tIns="0" rIns="0" bIns="0" anchor="ctr" anchorCtr="0">
            <a:spAutoFit/>
          </a:bodyPr>
          <a:lstStyle/>
          <a:p>
            <a:pPr marL="0" marR="0" lvl="0" indent="0" algn="l" rtl="0">
              <a:lnSpc>
                <a:spcPct val="95000"/>
              </a:lnSpc>
              <a:spcBef>
                <a:spcPts val="0"/>
              </a:spcBef>
              <a:spcAft>
                <a:spcPts val="0"/>
              </a:spcAft>
              <a:buNone/>
            </a:pPr>
            <a:r>
              <a:rPr lang="en" sz="1150" b="1" i="0" u="none" strike="noStrike" cap="none">
                <a:solidFill>
                  <a:srgbClr val="111111"/>
                </a:solidFill>
                <a:latin typeface="Calibri"/>
                <a:ea typeface="Calibri"/>
                <a:cs typeface="Calibri"/>
                <a:sym typeface="Calibri"/>
              </a:rPr>
              <a:t>Context used</a:t>
            </a:r>
            <a:endParaRPr/>
          </a:p>
        </p:txBody>
      </p:sp>
      <p:sp>
        <p:nvSpPr>
          <p:cNvPr id="1053" name="Google Shape;1053;p40"/>
          <p:cNvSpPr txBox="1"/>
          <p:nvPr/>
        </p:nvSpPr>
        <p:spPr>
          <a:xfrm>
            <a:off x="2496312" y="1952243"/>
            <a:ext cx="2857500" cy="1557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Training-time context only</a:t>
            </a:r>
            <a:endParaRPr/>
          </a:p>
        </p:txBody>
      </p:sp>
      <p:sp>
        <p:nvSpPr>
          <p:cNvPr id="1054" name="Google Shape;1054;p40"/>
          <p:cNvSpPr txBox="1"/>
          <p:nvPr/>
        </p:nvSpPr>
        <p:spPr>
          <a:xfrm>
            <a:off x="5673852" y="1952243"/>
            <a:ext cx="1563600" cy="3114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Both directions at inference</a:t>
            </a:r>
            <a:endParaRPr/>
          </a:p>
        </p:txBody>
      </p:sp>
      <p:sp>
        <p:nvSpPr>
          <p:cNvPr id="1055" name="Google Shape;1055;p40"/>
          <p:cNvSpPr/>
          <p:nvPr/>
        </p:nvSpPr>
        <p:spPr>
          <a:xfrm>
            <a:off x="7392923" y="1991105"/>
            <a:ext cx="1156800" cy="274200"/>
          </a:xfrm>
          <a:prstGeom prst="roundRect">
            <a:avLst>
              <a:gd name="adj" fmla="val 50000"/>
            </a:avLst>
          </a:prstGeom>
          <a:solidFill>
            <a:srgbClr val="DFF3E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56" name="Google Shape;1056;p40"/>
          <p:cNvSpPr txBox="1"/>
          <p:nvPr/>
        </p:nvSpPr>
        <p:spPr>
          <a:xfrm>
            <a:off x="7392923" y="1991105"/>
            <a:ext cx="1156800" cy="1539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000" b="1" i="0" u="none" strike="noStrike" cap="none">
                <a:solidFill>
                  <a:srgbClr val="1F7A5C"/>
                </a:solidFill>
                <a:latin typeface="Calibri"/>
                <a:ea typeface="Calibri"/>
                <a:cs typeface="Calibri"/>
                <a:sym typeface="Calibri"/>
              </a:rPr>
              <a:t>fwd + bwd</a:t>
            </a:r>
            <a:endParaRPr/>
          </a:p>
        </p:txBody>
      </p:sp>
      <p:cxnSp>
        <p:nvCxnSpPr>
          <p:cNvPr id="1057" name="Google Shape;1057;p40"/>
          <p:cNvCxnSpPr/>
          <p:nvPr/>
        </p:nvCxnSpPr>
        <p:spPr>
          <a:xfrm>
            <a:off x="457200" y="2304287"/>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058" name="Google Shape;1058;p40"/>
          <p:cNvSpPr txBox="1"/>
          <p:nvPr/>
        </p:nvSpPr>
        <p:spPr>
          <a:xfrm>
            <a:off x="621792" y="2304287"/>
            <a:ext cx="1600200" cy="168300"/>
          </a:xfrm>
          <a:prstGeom prst="rect">
            <a:avLst/>
          </a:prstGeom>
          <a:noFill/>
          <a:ln>
            <a:noFill/>
          </a:ln>
        </p:spPr>
        <p:txBody>
          <a:bodyPr spcFirstLastPara="1" wrap="square" lIns="0" tIns="0" rIns="0" bIns="0" anchor="ctr" anchorCtr="0">
            <a:spAutoFit/>
          </a:bodyPr>
          <a:lstStyle/>
          <a:p>
            <a:pPr marL="0" marR="0" lvl="0" indent="0" algn="l" rtl="0">
              <a:lnSpc>
                <a:spcPct val="95000"/>
              </a:lnSpc>
              <a:spcBef>
                <a:spcPts val="0"/>
              </a:spcBef>
              <a:spcAft>
                <a:spcPts val="0"/>
              </a:spcAft>
              <a:buNone/>
            </a:pPr>
            <a:r>
              <a:rPr lang="en" sz="1150" b="1" i="0" u="none" strike="noStrike" cap="none">
                <a:solidFill>
                  <a:srgbClr val="111111"/>
                </a:solidFill>
                <a:latin typeface="Calibri"/>
                <a:ea typeface="Calibri"/>
                <a:cs typeface="Calibri"/>
                <a:sym typeface="Calibri"/>
              </a:rPr>
              <a:t>Vector layers</a:t>
            </a:r>
            <a:endParaRPr/>
          </a:p>
        </p:txBody>
      </p:sp>
      <p:sp>
        <p:nvSpPr>
          <p:cNvPr id="1059" name="Google Shape;1059;p40"/>
          <p:cNvSpPr txBox="1"/>
          <p:nvPr/>
        </p:nvSpPr>
        <p:spPr>
          <a:xfrm>
            <a:off x="2496312" y="2304287"/>
            <a:ext cx="2857500" cy="1557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1 layer — single vector</a:t>
            </a:r>
            <a:endParaRPr/>
          </a:p>
        </p:txBody>
      </p:sp>
      <p:sp>
        <p:nvSpPr>
          <p:cNvPr id="1060" name="Google Shape;1060;p40"/>
          <p:cNvSpPr txBox="1"/>
          <p:nvPr/>
        </p:nvSpPr>
        <p:spPr>
          <a:xfrm>
            <a:off x="5673852" y="2304287"/>
            <a:ext cx="1851600" cy="1557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3 layers: char + LSTM1 + LSTM2</a:t>
            </a:r>
            <a:endParaRPr/>
          </a:p>
        </p:txBody>
      </p:sp>
      <p:sp>
        <p:nvSpPr>
          <p:cNvPr id="1061" name="Google Shape;1061;p40"/>
          <p:cNvSpPr/>
          <p:nvPr/>
        </p:nvSpPr>
        <p:spPr>
          <a:xfrm>
            <a:off x="7680960" y="2343149"/>
            <a:ext cx="868800" cy="274200"/>
          </a:xfrm>
          <a:prstGeom prst="roundRect">
            <a:avLst>
              <a:gd name="adj" fmla="val 50000"/>
            </a:avLst>
          </a:prstGeom>
          <a:solidFill>
            <a:srgbClr val="DFF3E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62" name="Google Shape;1062;p40"/>
          <p:cNvSpPr txBox="1"/>
          <p:nvPr/>
        </p:nvSpPr>
        <p:spPr>
          <a:xfrm>
            <a:off x="7680960" y="2343149"/>
            <a:ext cx="868800" cy="1539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000" b="1" i="0" u="none" strike="noStrike" cap="none">
                <a:solidFill>
                  <a:srgbClr val="1F7A5C"/>
                </a:solidFill>
                <a:latin typeface="Calibri"/>
                <a:ea typeface="Calibri"/>
                <a:cs typeface="Calibri"/>
                <a:sym typeface="Calibri"/>
              </a:rPr>
              <a:t>richer</a:t>
            </a:r>
            <a:endParaRPr/>
          </a:p>
        </p:txBody>
      </p:sp>
      <p:cxnSp>
        <p:nvCxnSpPr>
          <p:cNvPr id="1063" name="Google Shape;1063;p40"/>
          <p:cNvCxnSpPr/>
          <p:nvPr/>
        </p:nvCxnSpPr>
        <p:spPr>
          <a:xfrm>
            <a:off x="457200" y="2656331"/>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064" name="Google Shape;1064;p40"/>
          <p:cNvSpPr txBox="1"/>
          <p:nvPr/>
        </p:nvSpPr>
        <p:spPr>
          <a:xfrm>
            <a:off x="621792" y="2656331"/>
            <a:ext cx="1600200" cy="168300"/>
          </a:xfrm>
          <a:prstGeom prst="rect">
            <a:avLst/>
          </a:prstGeom>
          <a:noFill/>
          <a:ln>
            <a:noFill/>
          </a:ln>
        </p:spPr>
        <p:txBody>
          <a:bodyPr spcFirstLastPara="1" wrap="square" lIns="0" tIns="0" rIns="0" bIns="0" anchor="ctr" anchorCtr="0">
            <a:spAutoFit/>
          </a:bodyPr>
          <a:lstStyle/>
          <a:p>
            <a:pPr marL="0" marR="0" lvl="0" indent="0" algn="l" rtl="0">
              <a:lnSpc>
                <a:spcPct val="95000"/>
              </a:lnSpc>
              <a:spcBef>
                <a:spcPts val="0"/>
              </a:spcBef>
              <a:spcAft>
                <a:spcPts val="0"/>
              </a:spcAft>
              <a:buNone/>
            </a:pPr>
            <a:r>
              <a:rPr lang="en" sz="1150" b="1" i="0" u="none" strike="noStrike" cap="none">
                <a:solidFill>
                  <a:srgbClr val="111111"/>
                </a:solidFill>
                <a:latin typeface="Calibri"/>
                <a:ea typeface="Calibri"/>
                <a:cs typeface="Calibri"/>
                <a:sym typeface="Calibri"/>
              </a:rPr>
              <a:t>Pre-computation</a:t>
            </a:r>
            <a:endParaRPr/>
          </a:p>
        </p:txBody>
      </p:sp>
      <p:sp>
        <p:nvSpPr>
          <p:cNvPr id="1065" name="Google Shape;1065;p40"/>
          <p:cNvSpPr txBox="1"/>
          <p:nvPr/>
        </p:nvSpPr>
        <p:spPr>
          <a:xfrm>
            <a:off x="2496312" y="2656331"/>
            <a:ext cx="2043600" cy="1557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Pre-compute once, cache all</a:t>
            </a:r>
            <a:endParaRPr/>
          </a:p>
        </p:txBody>
      </p:sp>
      <p:sp>
        <p:nvSpPr>
          <p:cNvPr id="1066" name="Google Shape;1066;p40"/>
          <p:cNvSpPr/>
          <p:nvPr/>
        </p:nvSpPr>
        <p:spPr>
          <a:xfrm>
            <a:off x="4695444" y="2695193"/>
            <a:ext cx="676800" cy="274200"/>
          </a:xfrm>
          <a:prstGeom prst="roundRect">
            <a:avLst>
              <a:gd name="adj" fmla="val 50000"/>
            </a:avLst>
          </a:prstGeom>
          <a:solidFill>
            <a:srgbClr val="DFF3E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67" name="Google Shape;1067;p40"/>
          <p:cNvSpPr txBox="1"/>
          <p:nvPr/>
        </p:nvSpPr>
        <p:spPr>
          <a:xfrm>
            <a:off x="4695444" y="2695193"/>
            <a:ext cx="676800" cy="1539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000" b="1" i="0" u="none" strike="noStrike" cap="none">
                <a:solidFill>
                  <a:srgbClr val="1F7A5C"/>
                </a:solidFill>
                <a:latin typeface="Calibri"/>
                <a:ea typeface="Calibri"/>
                <a:cs typeface="Calibri"/>
                <a:sym typeface="Calibri"/>
              </a:rPr>
              <a:t>fast</a:t>
            </a:r>
            <a:endParaRPr/>
          </a:p>
        </p:txBody>
      </p:sp>
      <p:sp>
        <p:nvSpPr>
          <p:cNvPr id="1068" name="Google Shape;1068;p40"/>
          <p:cNvSpPr txBox="1"/>
          <p:nvPr/>
        </p:nvSpPr>
        <p:spPr>
          <a:xfrm>
            <a:off x="5673852" y="2656331"/>
            <a:ext cx="1851600" cy="1557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Re-run full BiLSTM per sentence</a:t>
            </a:r>
            <a:endParaRPr/>
          </a:p>
        </p:txBody>
      </p:sp>
      <p:sp>
        <p:nvSpPr>
          <p:cNvPr id="1069" name="Google Shape;1069;p40"/>
          <p:cNvSpPr/>
          <p:nvPr/>
        </p:nvSpPr>
        <p:spPr>
          <a:xfrm>
            <a:off x="7680960" y="2695193"/>
            <a:ext cx="868800" cy="274200"/>
          </a:xfrm>
          <a:prstGeom prst="roundRect">
            <a:avLst>
              <a:gd name="adj" fmla="val 50000"/>
            </a:avLst>
          </a:prstGeom>
          <a:solidFill>
            <a:srgbClr val="FBDE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70" name="Google Shape;1070;p40"/>
          <p:cNvSpPr txBox="1"/>
          <p:nvPr/>
        </p:nvSpPr>
        <p:spPr>
          <a:xfrm>
            <a:off x="7680960" y="2695193"/>
            <a:ext cx="868800" cy="1539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000" b="1" i="0" u="none" strike="noStrike" cap="none">
                <a:solidFill>
                  <a:srgbClr val="8C2F35"/>
                </a:solidFill>
                <a:latin typeface="Calibri"/>
                <a:ea typeface="Calibri"/>
                <a:cs typeface="Calibri"/>
                <a:sym typeface="Calibri"/>
              </a:rPr>
              <a:t>slower</a:t>
            </a:r>
            <a:endParaRPr/>
          </a:p>
        </p:txBody>
      </p:sp>
      <p:cxnSp>
        <p:nvCxnSpPr>
          <p:cNvPr id="1071" name="Google Shape;1071;p40"/>
          <p:cNvCxnSpPr/>
          <p:nvPr/>
        </p:nvCxnSpPr>
        <p:spPr>
          <a:xfrm>
            <a:off x="457200" y="3008375"/>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072" name="Google Shape;1072;p40"/>
          <p:cNvSpPr txBox="1"/>
          <p:nvPr/>
        </p:nvSpPr>
        <p:spPr>
          <a:xfrm>
            <a:off x="621792" y="3008375"/>
            <a:ext cx="1600200" cy="168300"/>
          </a:xfrm>
          <a:prstGeom prst="rect">
            <a:avLst/>
          </a:prstGeom>
          <a:noFill/>
          <a:ln>
            <a:noFill/>
          </a:ln>
        </p:spPr>
        <p:txBody>
          <a:bodyPr spcFirstLastPara="1" wrap="square" lIns="0" tIns="0" rIns="0" bIns="0" anchor="ctr" anchorCtr="0">
            <a:spAutoFit/>
          </a:bodyPr>
          <a:lstStyle/>
          <a:p>
            <a:pPr marL="0" marR="0" lvl="0" indent="0" algn="l" rtl="0">
              <a:lnSpc>
                <a:spcPct val="95000"/>
              </a:lnSpc>
              <a:spcBef>
                <a:spcPts val="0"/>
              </a:spcBef>
              <a:spcAft>
                <a:spcPts val="0"/>
              </a:spcAft>
              <a:buNone/>
            </a:pPr>
            <a:r>
              <a:rPr lang="en" sz="1150" b="1" i="0" u="none" strike="noStrike" cap="none">
                <a:solidFill>
                  <a:srgbClr val="111111"/>
                </a:solidFill>
                <a:latin typeface="Calibri"/>
                <a:ea typeface="Calibri"/>
                <a:cs typeface="Calibri"/>
                <a:sym typeface="Calibri"/>
              </a:rPr>
              <a:t>Parallelizable</a:t>
            </a:r>
            <a:endParaRPr/>
          </a:p>
        </p:txBody>
      </p:sp>
      <p:sp>
        <p:nvSpPr>
          <p:cNvPr id="1073" name="Google Shape;1073;p40"/>
          <p:cNvSpPr/>
          <p:nvPr/>
        </p:nvSpPr>
        <p:spPr>
          <a:xfrm>
            <a:off x="4791456" y="3047237"/>
            <a:ext cx="580500" cy="274200"/>
          </a:xfrm>
          <a:prstGeom prst="roundRect">
            <a:avLst>
              <a:gd name="adj" fmla="val 50000"/>
            </a:avLst>
          </a:prstGeom>
          <a:solidFill>
            <a:srgbClr val="DFF3E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74" name="Google Shape;1074;p40"/>
          <p:cNvSpPr txBox="1"/>
          <p:nvPr/>
        </p:nvSpPr>
        <p:spPr>
          <a:xfrm>
            <a:off x="4791456" y="3047237"/>
            <a:ext cx="580500" cy="1539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000" b="1" i="0" u="none" strike="noStrike" cap="none">
                <a:solidFill>
                  <a:srgbClr val="1F7A5C"/>
                </a:solidFill>
                <a:latin typeface="Calibri"/>
                <a:ea typeface="Calibri"/>
                <a:cs typeface="Calibri"/>
                <a:sym typeface="Calibri"/>
              </a:rPr>
              <a:t>yes</a:t>
            </a:r>
            <a:endParaRPr/>
          </a:p>
        </p:txBody>
      </p:sp>
      <p:sp>
        <p:nvSpPr>
          <p:cNvPr id="1075" name="Google Shape;1075;p40"/>
          <p:cNvSpPr/>
          <p:nvPr/>
        </p:nvSpPr>
        <p:spPr>
          <a:xfrm>
            <a:off x="6336792" y="3047237"/>
            <a:ext cx="2212800" cy="274200"/>
          </a:xfrm>
          <a:prstGeom prst="roundRect">
            <a:avLst>
              <a:gd name="adj" fmla="val 50000"/>
            </a:avLst>
          </a:prstGeom>
          <a:solidFill>
            <a:srgbClr val="FBDE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76" name="Google Shape;1076;p40"/>
          <p:cNvSpPr txBox="1"/>
          <p:nvPr/>
        </p:nvSpPr>
        <p:spPr>
          <a:xfrm>
            <a:off x="6336792" y="3047237"/>
            <a:ext cx="2212800" cy="1539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000" b="1" i="0" u="none" strike="noStrike" cap="none">
                <a:solidFill>
                  <a:srgbClr val="8C2F35"/>
                </a:solidFill>
                <a:latin typeface="Calibri"/>
                <a:ea typeface="Calibri"/>
                <a:cs typeface="Calibri"/>
                <a:sym typeface="Calibri"/>
              </a:rPr>
              <a:t>no — sequential LSTM</a:t>
            </a:r>
            <a:endParaRPr/>
          </a:p>
        </p:txBody>
      </p:sp>
      <p:cxnSp>
        <p:nvCxnSpPr>
          <p:cNvPr id="1077" name="Google Shape;1077;p40"/>
          <p:cNvCxnSpPr/>
          <p:nvPr/>
        </p:nvCxnSpPr>
        <p:spPr>
          <a:xfrm>
            <a:off x="457200" y="3360419"/>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078" name="Google Shape;1078;p40"/>
          <p:cNvSpPr txBox="1"/>
          <p:nvPr/>
        </p:nvSpPr>
        <p:spPr>
          <a:xfrm>
            <a:off x="621792" y="3360419"/>
            <a:ext cx="1600200" cy="168300"/>
          </a:xfrm>
          <a:prstGeom prst="rect">
            <a:avLst/>
          </a:prstGeom>
          <a:noFill/>
          <a:ln>
            <a:noFill/>
          </a:ln>
        </p:spPr>
        <p:txBody>
          <a:bodyPr spcFirstLastPara="1" wrap="square" lIns="0" tIns="0" rIns="0" bIns="0" anchor="ctr" anchorCtr="0">
            <a:spAutoFit/>
          </a:bodyPr>
          <a:lstStyle/>
          <a:p>
            <a:pPr marL="0" marR="0" lvl="0" indent="0" algn="l" rtl="0">
              <a:lnSpc>
                <a:spcPct val="95000"/>
              </a:lnSpc>
              <a:spcBef>
                <a:spcPts val="0"/>
              </a:spcBef>
              <a:spcAft>
                <a:spcPts val="0"/>
              </a:spcAft>
              <a:buNone/>
            </a:pPr>
            <a:r>
              <a:rPr lang="en" sz="1150" b="1" i="0" u="none" strike="noStrike" cap="none">
                <a:solidFill>
                  <a:srgbClr val="111111"/>
                </a:solidFill>
                <a:latin typeface="Calibri"/>
                <a:ea typeface="Calibri"/>
                <a:cs typeface="Calibri"/>
                <a:sym typeface="Calibri"/>
              </a:rPr>
              <a:t>Similarity check</a:t>
            </a:r>
            <a:endParaRPr/>
          </a:p>
        </p:txBody>
      </p:sp>
      <p:sp>
        <p:nvSpPr>
          <p:cNvPr id="1079" name="Google Shape;1079;p40"/>
          <p:cNvSpPr txBox="1"/>
          <p:nvPr/>
        </p:nvSpPr>
        <p:spPr>
          <a:xfrm>
            <a:off x="2496312" y="3360419"/>
            <a:ext cx="2857500" cy="1557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cos(bank_finance, bank_river) = 1.0</a:t>
            </a:r>
            <a:endParaRPr/>
          </a:p>
        </p:txBody>
      </p:sp>
      <p:sp>
        <p:nvSpPr>
          <p:cNvPr id="1080" name="Google Shape;1080;p40"/>
          <p:cNvSpPr txBox="1"/>
          <p:nvPr/>
        </p:nvSpPr>
        <p:spPr>
          <a:xfrm>
            <a:off x="5673852" y="3360419"/>
            <a:ext cx="2857500" cy="155700"/>
          </a:xfrm>
          <a:prstGeom prst="rect">
            <a:avLst/>
          </a:prstGeom>
          <a:noFill/>
          <a:ln>
            <a:noFill/>
          </a:ln>
        </p:spPr>
        <p:txBody>
          <a:bodyPr spcFirstLastPara="1" wrap="square" lIns="0" tIns="0" rIns="0" bIns="0" anchor="ctr" anchorCtr="0">
            <a:spAutoFit/>
          </a:bodyPr>
          <a:lstStyle/>
          <a:p>
            <a:pPr marL="0" marR="0" lvl="0" indent="0" algn="l" rtl="0">
              <a:lnSpc>
                <a:spcPct val="92000"/>
              </a:lnSpc>
              <a:spcBef>
                <a:spcPts val="0"/>
              </a:spcBef>
              <a:spcAft>
                <a:spcPts val="0"/>
              </a:spcAft>
              <a:buNone/>
            </a:pPr>
            <a:r>
              <a:rPr lang="en" sz="1100" b="0" i="0" u="none" strike="noStrike" cap="none">
                <a:solidFill>
                  <a:srgbClr val="111111"/>
                </a:solidFill>
                <a:latin typeface="Calibri"/>
                <a:ea typeface="Calibri"/>
                <a:cs typeface="Calibri"/>
                <a:sym typeface="Calibri"/>
              </a:rPr>
              <a:t>cos(bank_finance, bank_river) ≈ 0.54</a:t>
            </a:r>
            <a:endParaRPr/>
          </a:p>
        </p:txBody>
      </p:sp>
      <p:cxnSp>
        <p:nvCxnSpPr>
          <p:cNvPr id="1081" name="Google Shape;1081;p40"/>
          <p:cNvCxnSpPr/>
          <p:nvPr/>
        </p:nvCxnSpPr>
        <p:spPr>
          <a:xfrm>
            <a:off x="457200" y="3712463"/>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082" name="Google Shape;1082;p40"/>
          <p:cNvSpPr/>
          <p:nvPr/>
        </p:nvSpPr>
        <p:spPr>
          <a:xfrm>
            <a:off x="457200" y="3822191"/>
            <a:ext cx="4023300" cy="841200"/>
          </a:xfrm>
          <a:prstGeom prst="roundRect">
            <a:avLst>
              <a:gd name="adj" fmla="val 6000"/>
            </a:avLst>
          </a:prstGeom>
          <a:solidFill>
            <a:srgbClr val="EFEEE9"/>
          </a:solidFill>
          <a:ln w="9525" cap="flat" cmpd="sng">
            <a:solidFill>
              <a:srgbClr val="DDDCD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83" name="Google Shape;1083;p40"/>
          <p:cNvSpPr/>
          <p:nvPr/>
        </p:nvSpPr>
        <p:spPr>
          <a:xfrm>
            <a:off x="4663440" y="3822191"/>
            <a:ext cx="4023300" cy="841200"/>
          </a:xfrm>
          <a:prstGeom prst="roundRect">
            <a:avLst>
              <a:gd name="adj" fmla="val 6000"/>
            </a:avLst>
          </a:prstGeom>
          <a:solidFill>
            <a:srgbClr val="EFEEE9"/>
          </a:solidFill>
          <a:ln w="9525" cap="flat" cmpd="sng">
            <a:solidFill>
              <a:srgbClr val="DDDCD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84" name="Google Shape;1084;p40"/>
          <p:cNvSpPr txBox="1"/>
          <p:nvPr/>
        </p:nvSpPr>
        <p:spPr>
          <a:xfrm>
            <a:off x="640080" y="3895344"/>
            <a:ext cx="3657600" cy="638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000" b="0" i="0" u="none" strike="noStrike" cap="none">
                <a:solidFill>
                  <a:srgbClr val="555555"/>
                </a:solidFill>
                <a:latin typeface="Calibri"/>
                <a:ea typeface="Calibri"/>
                <a:cs typeface="Calibri"/>
                <a:sym typeface="Calibri"/>
              </a:rPr>
              <a:t>Word2Vec lookup</a:t>
            </a:r>
            <a:endParaRPr/>
          </a:p>
          <a:p>
            <a:pPr marL="0" marR="0" lvl="0" indent="0" algn="l" rtl="0">
              <a:lnSpc>
                <a:spcPct val="100000"/>
              </a:lnSpc>
              <a:spcBef>
                <a:spcPts val="0"/>
              </a:spcBef>
              <a:spcAft>
                <a:spcPts val="0"/>
              </a:spcAft>
              <a:buNone/>
            </a:pPr>
            <a:r>
              <a:rPr lang="en" sz="1050" b="0" i="0" u="none" strike="noStrike" cap="none">
                <a:solidFill>
                  <a:srgbClr val="155940"/>
                </a:solidFill>
                <a:latin typeface="Consolas"/>
                <a:ea typeface="Consolas"/>
                <a:cs typeface="Consolas"/>
                <a:sym typeface="Consolas"/>
              </a:rPr>
              <a:t>embedding["bank"]</a:t>
            </a:r>
            <a:endParaRPr/>
          </a:p>
          <a:p>
            <a:pPr marL="0" marR="0" lvl="0" indent="0" algn="l" rtl="0">
              <a:lnSpc>
                <a:spcPct val="100000"/>
              </a:lnSpc>
              <a:spcBef>
                <a:spcPts val="0"/>
              </a:spcBef>
              <a:spcAft>
                <a:spcPts val="0"/>
              </a:spcAft>
              <a:buNone/>
            </a:pPr>
            <a:r>
              <a:rPr lang="en" sz="1050" b="0" i="0" u="none" strike="noStrike" cap="none">
                <a:solidFill>
                  <a:srgbClr val="5A5A54"/>
                </a:solidFill>
                <a:latin typeface="Consolas"/>
                <a:ea typeface="Consolas"/>
                <a:cs typeface="Consolas"/>
                <a:sym typeface="Consolas"/>
              </a:rPr>
              <a:t>→ [0.2, 0.8, 0.1, ...]</a:t>
            </a:r>
            <a:endParaRPr/>
          </a:p>
          <a:p>
            <a:pPr marL="0" marR="0" lvl="0" indent="0" algn="l" rtl="0">
              <a:lnSpc>
                <a:spcPct val="100000"/>
              </a:lnSpc>
              <a:spcBef>
                <a:spcPts val="0"/>
              </a:spcBef>
              <a:spcAft>
                <a:spcPts val="0"/>
              </a:spcAft>
              <a:buNone/>
            </a:pPr>
            <a:r>
              <a:rPr lang="en" sz="1050" b="0" i="0" u="none" strike="noStrike" cap="none">
                <a:solidFill>
                  <a:srgbClr val="1A1F26"/>
                </a:solidFill>
                <a:latin typeface="Consolas"/>
                <a:ea typeface="Consolas"/>
                <a:cs typeface="Consolas"/>
                <a:sym typeface="Consolas"/>
              </a:rPr>
              <a:t>always identical</a:t>
            </a:r>
            <a:endParaRPr/>
          </a:p>
        </p:txBody>
      </p:sp>
      <p:sp>
        <p:nvSpPr>
          <p:cNvPr id="1085" name="Google Shape;1085;p40"/>
          <p:cNvSpPr txBox="1"/>
          <p:nvPr/>
        </p:nvSpPr>
        <p:spPr>
          <a:xfrm>
            <a:off x="4846320" y="3895344"/>
            <a:ext cx="3657600" cy="769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000" b="0" i="0" u="none" strike="noStrike" cap="none">
                <a:solidFill>
                  <a:srgbClr val="555555"/>
                </a:solidFill>
                <a:latin typeface="Calibri"/>
                <a:ea typeface="Calibri"/>
                <a:cs typeface="Calibri"/>
                <a:sym typeface="Calibri"/>
              </a:rPr>
              <a:t>ELMo lookup</a:t>
            </a:r>
            <a:endParaRPr/>
          </a:p>
          <a:p>
            <a:pPr marL="0" marR="0" lvl="0" indent="0" algn="l" rtl="0">
              <a:lnSpc>
                <a:spcPct val="100000"/>
              </a:lnSpc>
              <a:spcBef>
                <a:spcPts val="0"/>
              </a:spcBef>
              <a:spcAft>
                <a:spcPts val="0"/>
              </a:spcAft>
              <a:buNone/>
            </a:pPr>
            <a:r>
              <a:rPr lang="en" sz="1000" b="0" i="0" u="none" strike="noStrike" cap="none">
                <a:solidFill>
                  <a:srgbClr val="574D96"/>
                </a:solidFill>
                <a:latin typeface="Consolas"/>
                <a:ea typeface="Consolas"/>
                <a:cs typeface="Consolas"/>
                <a:sym typeface="Consolas"/>
              </a:rPr>
              <a:t>emb1[2][4]</a:t>
            </a:r>
            <a:r>
              <a:rPr lang="en" sz="1000" b="0" i="0" u="none" strike="noStrike" cap="none">
                <a:solidFill>
                  <a:srgbClr val="5A5A54"/>
                </a:solidFill>
                <a:latin typeface="Consolas"/>
                <a:ea typeface="Consolas"/>
                <a:cs typeface="Consolas"/>
                <a:sym typeface="Consolas"/>
              </a:rPr>
              <a:t> # financial</a:t>
            </a:r>
            <a:endParaRPr/>
          </a:p>
          <a:p>
            <a:pPr marL="0" marR="0" lvl="0" indent="0" algn="l" rtl="0">
              <a:lnSpc>
                <a:spcPct val="100000"/>
              </a:lnSpc>
              <a:spcBef>
                <a:spcPts val="0"/>
              </a:spcBef>
              <a:spcAft>
                <a:spcPts val="0"/>
              </a:spcAft>
              <a:buNone/>
            </a:pPr>
            <a:r>
              <a:rPr lang="en" sz="1000" b="0" i="0" u="none" strike="noStrike" cap="none">
                <a:solidFill>
                  <a:srgbClr val="5A5A54"/>
                </a:solidFill>
                <a:latin typeface="Consolas"/>
                <a:ea typeface="Consolas"/>
                <a:cs typeface="Consolas"/>
                <a:sym typeface="Consolas"/>
              </a:rPr>
              <a:t>→ [0.2, 0.8, 0.1, ...]</a:t>
            </a:r>
            <a:endParaRPr/>
          </a:p>
          <a:p>
            <a:pPr marL="0" marR="0" lvl="0" indent="0" algn="l" rtl="0">
              <a:lnSpc>
                <a:spcPct val="100000"/>
              </a:lnSpc>
              <a:spcBef>
                <a:spcPts val="0"/>
              </a:spcBef>
              <a:spcAft>
                <a:spcPts val="0"/>
              </a:spcAft>
              <a:buNone/>
            </a:pPr>
            <a:r>
              <a:rPr lang="en" sz="1000" b="0" i="0" u="none" strike="noStrike" cap="none">
                <a:solidFill>
                  <a:srgbClr val="574D96"/>
                </a:solidFill>
                <a:latin typeface="Consolas"/>
                <a:ea typeface="Consolas"/>
                <a:cs typeface="Consolas"/>
                <a:sym typeface="Consolas"/>
              </a:rPr>
              <a:t>emb2[2][4]</a:t>
            </a:r>
            <a:r>
              <a:rPr lang="en" sz="1000" b="0" i="0" u="none" strike="noStrike" cap="none">
                <a:solidFill>
                  <a:srgbClr val="5A5A54"/>
                </a:solidFill>
                <a:latin typeface="Consolas"/>
                <a:ea typeface="Consolas"/>
                <a:cs typeface="Consolas"/>
                <a:sym typeface="Consolas"/>
              </a:rPr>
              <a:t> # river</a:t>
            </a:r>
            <a:endParaRPr/>
          </a:p>
          <a:p>
            <a:pPr marL="0" marR="0" lvl="0" indent="0" algn="l" rtl="0">
              <a:lnSpc>
                <a:spcPct val="100000"/>
              </a:lnSpc>
              <a:spcBef>
                <a:spcPts val="0"/>
              </a:spcBef>
              <a:spcAft>
                <a:spcPts val="0"/>
              </a:spcAft>
              <a:buNone/>
            </a:pPr>
            <a:r>
              <a:rPr lang="en" sz="1000" b="0" i="0" u="none" strike="noStrike" cap="none">
                <a:solidFill>
                  <a:srgbClr val="5A5A54"/>
                </a:solidFill>
                <a:latin typeface="Consolas"/>
                <a:ea typeface="Consolas"/>
                <a:cs typeface="Consolas"/>
                <a:sym typeface="Consolas"/>
              </a:rPr>
              <a:t>→ [0.7, 0.1, 0.9, ...]</a:t>
            </a:r>
            <a:endParaRPr/>
          </a:p>
        </p:txBody>
      </p:sp>
      <p:sp>
        <p:nvSpPr>
          <p:cNvPr id="1086" name="Google Shape;1086;p40"/>
          <p:cNvSpPr txBox="1"/>
          <p:nvPr/>
        </p:nvSpPr>
        <p:spPr>
          <a:xfrm>
            <a:off x="457200" y="4754879"/>
            <a:ext cx="8229600" cy="301800"/>
          </a:xfrm>
          <a:prstGeom prst="rect">
            <a:avLst/>
          </a:prstGeom>
          <a:noFill/>
          <a:ln>
            <a:noFill/>
          </a:ln>
        </p:spPr>
        <p:txBody>
          <a:bodyPr spcFirstLastPara="1" wrap="square" lIns="0" tIns="0" rIns="0" bIns="0" anchor="ctr" anchorCtr="0">
            <a:spAutoFit/>
          </a:bodyPr>
          <a:lstStyle/>
          <a:p>
            <a:pPr marL="0" marR="0" lvl="0" indent="0" algn="l" rtl="0">
              <a:lnSpc>
                <a:spcPct val="98000"/>
              </a:lnSpc>
              <a:spcBef>
                <a:spcPts val="0"/>
              </a:spcBef>
              <a:spcAft>
                <a:spcPts val="0"/>
              </a:spcAft>
              <a:buNone/>
            </a:pPr>
            <a:r>
              <a:rPr lang="en" sz="1000" b="0" i="1" u="none" strike="noStrike" cap="none">
                <a:solidFill>
                  <a:srgbClr val="555555"/>
                </a:solidFill>
                <a:latin typeface="Calibri"/>
                <a:ea typeface="Calibri"/>
                <a:cs typeface="Calibri"/>
                <a:sym typeface="Calibri"/>
              </a:rPr>
              <a:t>ELMo's contextual embeddings were a major leap — but its sequential BiLSTM bottleneck motivated Transformers (BERT), which achieve full bidirectionality in parallel.</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p41"/>
          <p:cNvSpPr/>
          <p:nvPr/>
        </p:nvSpPr>
        <p:spPr>
          <a:xfrm>
            <a:off x="132375" y="181485"/>
            <a:ext cx="82296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600"/>
              <a:buFont typeface="Calibri"/>
              <a:buNone/>
            </a:pPr>
            <a:r>
              <a:rPr lang="en" sz="2600" b="1">
                <a:solidFill>
                  <a:srgbClr val="0D1B2A"/>
                </a:solidFill>
                <a:latin typeface="Calibri"/>
                <a:ea typeface="Calibri"/>
                <a:cs typeface="Calibri"/>
                <a:sym typeface="Calibri"/>
              </a:rPr>
              <a:t>Quiz 3</a:t>
            </a:r>
            <a:endParaRPr sz="2600">
              <a:solidFill>
                <a:srgbClr val="000000"/>
              </a:solidFill>
              <a:latin typeface="Calibri"/>
              <a:ea typeface="Calibri"/>
              <a:cs typeface="Calibri"/>
              <a:sym typeface="Calibri"/>
            </a:endParaRPr>
          </a:p>
        </p:txBody>
      </p:sp>
      <p:pic>
        <p:nvPicPr>
          <p:cNvPr id="1092" name="Google Shape;1092;p41"/>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093" name="Google Shape;1093;p41"/>
          <p:cNvSpPr txBox="1"/>
          <p:nvPr/>
        </p:nvSpPr>
        <p:spPr>
          <a:xfrm>
            <a:off x="48950" y="867175"/>
            <a:ext cx="6104100" cy="402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a:solidFill>
                  <a:schemeClr val="dk1"/>
                </a:solidFill>
                <a:latin typeface="Calibri"/>
                <a:ea typeface="Calibri"/>
                <a:cs typeface="Calibri"/>
                <a:sym typeface="Calibri"/>
              </a:rPr>
              <a:t>You are evaluating two LSTM configurations on a document classification task — a standard LSTM and a larger LSTM with double the hidden size. On short documents under 30 words, both models perform equally well at 91% accuracy. However, when tested on longer documents of 200 or more words, the standard LSTM drops to 67% while the larger LSTM drops to 71%. Based on this trend, what do you predict will happen at 500+ words and what is your engineering decision?</a:t>
            </a:r>
            <a:endParaRPr>
              <a:solidFill>
                <a:schemeClr val="dk1"/>
              </a:solidFill>
              <a:latin typeface="Calibri"/>
              <a:ea typeface="Calibri"/>
              <a:cs typeface="Calibri"/>
              <a:sym typeface="Calibri"/>
            </a:endParaRPr>
          </a:p>
          <a:p>
            <a:pPr marL="457200" lvl="0" indent="-292100" algn="l" rtl="0">
              <a:lnSpc>
                <a:spcPct val="115000"/>
              </a:lnSpc>
              <a:spcBef>
                <a:spcPts val="1200"/>
              </a:spcBef>
              <a:spcAft>
                <a:spcPts val="0"/>
              </a:spcAft>
              <a:buClr>
                <a:schemeClr val="dk1"/>
              </a:buClr>
              <a:buSzPts val="1000"/>
              <a:buAutoNum type="arabicPeriod"/>
            </a:pPr>
            <a:r>
              <a:rPr lang="en">
                <a:solidFill>
                  <a:schemeClr val="dk1"/>
                </a:solidFill>
                <a:latin typeface="Calibri"/>
                <a:ea typeface="Calibri"/>
                <a:cs typeface="Calibri"/>
                <a:sym typeface="Calibri"/>
              </a:rPr>
              <a:t>Both models will keep dropping but the large LSTM will maintain its ~4% advantage — increasing hidden size further should help.</a:t>
            </a:r>
            <a:endParaRPr>
              <a:solidFill>
                <a:schemeClr val="dk1"/>
              </a:solidFill>
              <a:latin typeface="Calibri"/>
              <a:ea typeface="Calibri"/>
              <a:cs typeface="Calibri"/>
              <a:sym typeface="Calibri"/>
            </a:endParaRPr>
          </a:p>
          <a:p>
            <a:pPr marL="457200" lvl="0" indent="-292100" algn="l" rtl="0">
              <a:lnSpc>
                <a:spcPct val="115000"/>
              </a:lnSpc>
              <a:spcBef>
                <a:spcPts val="0"/>
              </a:spcBef>
              <a:spcAft>
                <a:spcPts val="0"/>
              </a:spcAft>
              <a:buClr>
                <a:schemeClr val="dk1"/>
              </a:buClr>
              <a:buSzPts val="1000"/>
              <a:buAutoNum type="arabicPeriod"/>
            </a:pPr>
            <a:r>
              <a:rPr lang="en">
                <a:solidFill>
                  <a:schemeClr val="dk1"/>
                </a:solidFill>
                <a:latin typeface="Calibri"/>
                <a:ea typeface="Calibri"/>
                <a:cs typeface="Calibri"/>
                <a:sym typeface="Calibri"/>
              </a:rPr>
              <a:t>Both models will drop sharply and converge near the same low accuracy — hidden size stops being the deciding factor and sequence length itself becomes the bottleneck.</a:t>
            </a:r>
            <a:endParaRPr>
              <a:solidFill>
                <a:schemeClr val="dk1"/>
              </a:solidFill>
              <a:latin typeface="Calibri"/>
              <a:ea typeface="Calibri"/>
              <a:cs typeface="Calibri"/>
              <a:sym typeface="Calibri"/>
            </a:endParaRPr>
          </a:p>
          <a:p>
            <a:pPr marL="457200" lvl="0" indent="-292100" algn="l" rtl="0">
              <a:lnSpc>
                <a:spcPct val="115000"/>
              </a:lnSpc>
              <a:spcBef>
                <a:spcPts val="0"/>
              </a:spcBef>
              <a:spcAft>
                <a:spcPts val="0"/>
              </a:spcAft>
              <a:buClr>
                <a:schemeClr val="dk1"/>
              </a:buClr>
              <a:buSzPts val="1000"/>
              <a:buAutoNum type="arabicPeriod"/>
            </a:pPr>
            <a:r>
              <a:rPr lang="en">
                <a:solidFill>
                  <a:schemeClr val="dk1"/>
                </a:solidFill>
                <a:latin typeface="Calibri"/>
                <a:ea typeface="Calibri"/>
                <a:cs typeface="Calibri"/>
                <a:sym typeface="Calibri"/>
              </a:rPr>
              <a:t>Only the standard LSTM will drop further — the large LSTM has enough capacity to stabilize at 500+ words.</a:t>
            </a:r>
            <a:endParaRPr>
              <a:solidFill>
                <a:schemeClr val="dk1"/>
              </a:solidFill>
              <a:latin typeface="Calibri"/>
              <a:ea typeface="Calibri"/>
              <a:cs typeface="Calibri"/>
              <a:sym typeface="Calibri"/>
            </a:endParaRPr>
          </a:p>
          <a:p>
            <a:pPr marL="457200" lvl="0" indent="-292100" algn="l" rtl="0">
              <a:lnSpc>
                <a:spcPct val="115000"/>
              </a:lnSpc>
              <a:spcBef>
                <a:spcPts val="0"/>
              </a:spcBef>
              <a:spcAft>
                <a:spcPts val="0"/>
              </a:spcAft>
              <a:buClr>
                <a:schemeClr val="dk1"/>
              </a:buClr>
              <a:buSzPts val="1000"/>
              <a:buAutoNum type="arabicPeriod"/>
            </a:pPr>
            <a:r>
              <a:rPr lang="en">
                <a:solidFill>
                  <a:schemeClr val="dk1"/>
                </a:solidFill>
                <a:latin typeface="Calibri"/>
                <a:ea typeface="Calibri"/>
                <a:cs typeface="Calibri"/>
                <a:sym typeface="Calibri"/>
              </a:rPr>
              <a:t>Both models will drop sharply, but stacking LSTM layers rather than widening them will recover accuracy.</a:t>
            </a:r>
            <a:endParaRPr>
              <a:solidFill>
                <a:schemeClr val="dk1"/>
              </a:solidFill>
              <a:latin typeface="Calibri"/>
              <a:ea typeface="Calibri"/>
              <a:cs typeface="Calibri"/>
              <a:sym typeface="Calibri"/>
            </a:endParaRPr>
          </a:p>
        </p:txBody>
      </p:sp>
      <p:pic>
        <p:nvPicPr>
          <p:cNvPr id="1094" name="Google Shape;1094;p41"/>
          <p:cNvPicPr preferRelativeResize="0"/>
          <p:nvPr/>
        </p:nvPicPr>
        <p:blipFill>
          <a:blip r:embed="rId4">
            <a:alphaModFix/>
          </a:blip>
          <a:stretch>
            <a:fillRect/>
          </a:stretch>
        </p:blipFill>
        <p:spPr>
          <a:xfrm>
            <a:off x="6342200" y="1019675"/>
            <a:ext cx="2649400" cy="37151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p42"/>
          <p:cNvSpPr/>
          <p:nvPr/>
        </p:nvSpPr>
        <p:spPr>
          <a:xfrm>
            <a:off x="132375" y="181485"/>
            <a:ext cx="82296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600"/>
              <a:buFont typeface="Calibri"/>
              <a:buNone/>
            </a:pPr>
            <a:r>
              <a:rPr lang="en" sz="2600" b="1">
                <a:solidFill>
                  <a:srgbClr val="0D1B2A"/>
                </a:solidFill>
                <a:latin typeface="Calibri"/>
                <a:ea typeface="Calibri"/>
                <a:cs typeface="Calibri"/>
                <a:sym typeface="Calibri"/>
              </a:rPr>
              <a:t>Quiz 3</a:t>
            </a:r>
            <a:endParaRPr sz="2600">
              <a:solidFill>
                <a:srgbClr val="000000"/>
              </a:solidFill>
              <a:latin typeface="Calibri"/>
              <a:ea typeface="Calibri"/>
              <a:cs typeface="Calibri"/>
              <a:sym typeface="Calibri"/>
            </a:endParaRPr>
          </a:p>
        </p:txBody>
      </p:sp>
      <p:pic>
        <p:nvPicPr>
          <p:cNvPr id="1100" name="Google Shape;1100;p42"/>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1" name="Google Shape;1101;p42"/>
          <p:cNvSpPr txBox="1"/>
          <p:nvPr/>
        </p:nvSpPr>
        <p:spPr>
          <a:xfrm>
            <a:off x="132375" y="787025"/>
            <a:ext cx="7038000" cy="4322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500">
                <a:solidFill>
                  <a:schemeClr val="dk1"/>
                </a:solidFill>
                <a:latin typeface="Calibri"/>
                <a:ea typeface="Calibri"/>
                <a:cs typeface="Calibri"/>
                <a:sym typeface="Calibri"/>
              </a:rPr>
              <a:t>You are evaluating two LSTM configurations on a document classification task — a standard LSTM and a larger LSTM with double the hidden size. On short documents under 30 words, both models perform equally well at 91% accuracy. However, when tested on longer documents of 200 or more words, the standard LSTM drops to 67% while the larger LSTM drops to 71%. Based on this trend, what do you predict will happen at 500+ words and what is your engineering decision?</a:t>
            </a:r>
            <a:endParaRPr sz="1500">
              <a:solidFill>
                <a:schemeClr val="dk1"/>
              </a:solidFill>
              <a:latin typeface="Calibri"/>
              <a:ea typeface="Calibri"/>
              <a:cs typeface="Calibri"/>
              <a:sym typeface="Calibri"/>
            </a:endParaRPr>
          </a:p>
          <a:p>
            <a:pPr marL="457200" lvl="0" indent="-298450" algn="l" rtl="0">
              <a:lnSpc>
                <a:spcPct val="115000"/>
              </a:lnSpc>
              <a:spcBef>
                <a:spcPts val="1200"/>
              </a:spcBef>
              <a:spcAft>
                <a:spcPts val="0"/>
              </a:spcAft>
              <a:buClr>
                <a:schemeClr val="dk1"/>
              </a:buClr>
              <a:buSzPts val="1100"/>
              <a:buAutoNum type="arabicPeriod"/>
            </a:pPr>
            <a:r>
              <a:rPr lang="en" sz="1500">
                <a:solidFill>
                  <a:schemeClr val="dk1"/>
                </a:solidFill>
                <a:latin typeface="Calibri"/>
                <a:ea typeface="Calibri"/>
                <a:cs typeface="Calibri"/>
                <a:sym typeface="Calibri"/>
              </a:rPr>
              <a:t>Both models will keep dropping but the large LSTM will maintain its ~4% advantage — increasing hidden size further should help.</a:t>
            </a:r>
            <a:endParaRPr sz="15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AutoNum type="arabicPeriod"/>
            </a:pPr>
            <a:r>
              <a:rPr lang="en" sz="1500">
                <a:solidFill>
                  <a:schemeClr val="dk1"/>
                </a:solidFill>
                <a:latin typeface="Calibri"/>
                <a:ea typeface="Calibri"/>
                <a:cs typeface="Calibri"/>
                <a:sym typeface="Calibri"/>
              </a:rPr>
              <a:t>Both models will drop sharply and converge near the same low accuracy — hidden size stops being the deciding factor and sequence length itself becomes the bottleneck. </a:t>
            </a:r>
            <a:r>
              <a:rPr lang="en" sz="1700">
                <a:solidFill>
                  <a:schemeClr val="dk1"/>
                </a:solidFill>
                <a:latin typeface="Calibri"/>
                <a:ea typeface="Calibri"/>
                <a:cs typeface="Calibri"/>
                <a:sym typeface="Calibri"/>
              </a:rPr>
              <a:t>✅</a:t>
            </a:r>
            <a:endParaRPr sz="15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AutoNum type="arabicPeriod"/>
            </a:pPr>
            <a:r>
              <a:rPr lang="en" sz="1500">
                <a:solidFill>
                  <a:schemeClr val="dk1"/>
                </a:solidFill>
                <a:latin typeface="Calibri"/>
                <a:ea typeface="Calibri"/>
                <a:cs typeface="Calibri"/>
                <a:sym typeface="Calibri"/>
              </a:rPr>
              <a:t>Only the standard LSTM will drop further — the large LSTM has enough capacity to stabilize at 500+ words.</a:t>
            </a:r>
            <a:endParaRPr sz="15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AutoNum type="arabicPeriod"/>
            </a:pPr>
            <a:r>
              <a:rPr lang="en" sz="1500">
                <a:solidFill>
                  <a:schemeClr val="dk1"/>
                </a:solidFill>
                <a:latin typeface="Calibri"/>
                <a:ea typeface="Calibri"/>
                <a:cs typeface="Calibri"/>
                <a:sym typeface="Calibri"/>
              </a:rPr>
              <a:t>Both models will drop sharply, but stacking LSTM layers rather than widening them will recover accuracy.</a:t>
            </a:r>
            <a:endParaRPr sz="1500">
              <a:solidFill>
                <a:schemeClr val="dk1"/>
              </a:solidFill>
              <a:latin typeface="Calibri"/>
              <a:ea typeface="Calibri"/>
              <a:cs typeface="Calibri"/>
              <a:sym typeface="Calibri"/>
            </a:endParaRPr>
          </a:p>
        </p:txBody>
      </p:sp>
      <p:pic>
        <p:nvPicPr>
          <p:cNvPr id="1102" name="Google Shape;1102;p42"/>
          <p:cNvPicPr preferRelativeResize="0"/>
          <p:nvPr/>
        </p:nvPicPr>
        <p:blipFill>
          <a:blip r:embed="rId4">
            <a:alphaModFix/>
          </a:blip>
          <a:stretch>
            <a:fillRect/>
          </a:stretch>
        </p:blipFill>
        <p:spPr>
          <a:xfrm>
            <a:off x="7170375" y="1019675"/>
            <a:ext cx="1821225" cy="255385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p43"/>
          <p:cNvSpPr/>
          <p:nvPr/>
        </p:nvSpPr>
        <p:spPr>
          <a:xfrm>
            <a:off x="132375" y="181485"/>
            <a:ext cx="82296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600"/>
              <a:buFont typeface="Calibri"/>
              <a:buNone/>
            </a:pPr>
            <a:r>
              <a:rPr lang="en" sz="2600" b="1">
                <a:solidFill>
                  <a:srgbClr val="0D1B2A"/>
                </a:solidFill>
                <a:latin typeface="Calibri"/>
                <a:ea typeface="Calibri"/>
                <a:cs typeface="Calibri"/>
                <a:sym typeface="Calibri"/>
              </a:rPr>
              <a:t>Quiz 3 (Explanation)</a:t>
            </a:r>
            <a:endParaRPr sz="2600">
              <a:solidFill>
                <a:srgbClr val="000000"/>
              </a:solidFill>
              <a:latin typeface="Calibri"/>
              <a:ea typeface="Calibri"/>
              <a:cs typeface="Calibri"/>
              <a:sym typeface="Calibri"/>
            </a:endParaRPr>
          </a:p>
        </p:txBody>
      </p:sp>
      <p:pic>
        <p:nvPicPr>
          <p:cNvPr id="1108" name="Google Shape;1108;p43"/>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9" name="Google Shape;1109;p43"/>
          <p:cNvSpPr/>
          <p:nvPr/>
        </p:nvSpPr>
        <p:spPr>
          <a:xfrm>
            <a:off x="279905" y="934810"/>
            <a:ext cx="8321100" cy="713100"/>
          </a:xfrm>
          <a:prstGeom prst="roundRect">
            <a:avLst>
              <a:gd name="adj" fmla="val 10256"/>
            </a:avLst>
          </a:prstGeom>
          <a:solidFill>
            <a:srgbClr val="FFFFFF"/>
          </a:solidFill>
          <a:ln w="9525" cap="flat" cmpd="sng">
            <a:solidFill>
              <a:srgbClr val="E2E8F0"/>
            </a:solidFill>
            <a:prstDash val="solid"/>
            <a:round/>
            <a:headEnd type="none" w="sm" len="sm"/>
            <a:tailEnd type="none" w="sm" len="sm"/>
          </a:ln>
          <a:effectLst>
            <a:outerShdw blurRad="63500" dist="12700" dir="27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3"/>
          <p:cNvSpPr/>
          <p:nvPr/>
        </p:nvSpPr>
        <p:spPr>
          <a:xfrm>
            <a:off x="398777" y="1154266"/>
            <a:ext cx="274200" cy="274200"/>
          </a:xfrm>
          <a:prstGeom prst="roundRect">
            <a:avLst>
              <a:gd name="adj" fmla="val 13333"/>
            </a:avLst>
          </a:prstGeom>
          <a:solidFill>
            <a:srgbClr val="4755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3"/>
          <p:cNvSpPr/>
          <p:nvPr/>
        </p:nvSpPr>
        <p:spPr>
          <a:xfrm>
            <a:off x="398777" y="1154266"/>
            <a:ext cx="274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1</a:t>
            </a:r>
            <a:endParaRPr sz="1100" b="0" i="0" u="none" strike="noStrike" cap="none">
              <a:solidFill>
                <a:srgbClr val="000000"/>
              </a:solidFill>
              <a:latin typeface="Calibri"/>
              <a:ea typeface="Calibri"/>
              <a:cs typeface="Calibri"/>
              <a:sym typeface="Calibri"/>
            </a:endParaRPr>
          </a:p>
        </p:txBody>
      </p:sp>
      <p:sp>
        <p:nvSpPr>
          <p:cNvPr id="1112" name="Google Shape;1112;p43"/>
          <p:cNvSpPr/>
          <p:nvPr/>
        </p:nvSpPr>
        <p:spPr>
          <a:xfrm>
            <a:off x="801113" y="989674"/>
            <a:ext cx="4050900" cy="60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150"/>
              <a:buFont typeface="Calibri"/>
              <a:buNone/>
            </a:pPr>
            <a:r>
              <a:rPr lang="en" sz="1150" b="0" i="0" u="none" strike="noStrike" cap="none">
                <a:solidFill>
                  <a:srgbClr val="1E293B"/>
                </a:solidFill>
                <a:latin typeface="Calibri"/>
                <a:ea typeface="Calibri"/>
                <a:cs typeface="Calibri"/>
                <a:sym typeface="Calibri"/>
              </a:rPr>
              <a:t>Both models keep dropping but the large LSTM maintains its ~4% advantage — keep increasing hidden size.</a:t>
            </a:r>
            <a:endParaRPr sz="1150" b="0" i="0" u="none" strike="noStrike" cap="none">
              <a:solidFill>
                <a:srgbClr val="000000"/>
              </a:solidFill>
              <a:latin typeface="Calibri"/>
              <a:ea typeface="Calibri"/>
              <a:cs typeface="Calibri"/>
              <a:sym typeface="Calibri"/>
            </a:endParaRPr>
          </a:p>
        </p:txBody>
      </p:sp>
      <p:cxnSp>
        <p:nvCxnSpPr>
          <p:cNvPr id="1113" name="Google Shape;1113;p43"/>
          <p:cNvCxnSpPr/>
          <p:nvPr/>
        </p:nvCxnSpPr>
        <p:spPr>
          <a:xfrm>
            <a:off x="4989065" y="1044538"/>
            <a:ext cx="0" cy="493800"/>
          </a:xfrm>
          <a:prstGeom prst="straightConnector1">
            <a:avLst/>
          </a:prstGeom>
          <a:noFill/>
          <a:ln w="9525" cap="flat" cmpd="sng">
            <a:solidFill>
              <a:srgbClr val="E2E8F0"/>
            </a:solidFill>
            <a:prstDash val="solid"/>
            <a:round/>
            <a:headEnd type="none" w="sm" len="sm"/>
            <a:tailEnd type="none" w="sm" len="sm"/>
          </a:ln>
        </p:spPr>
      </p:cxnSp>
      <p:sp>
        <p:nvSpPr>
          <p:cNvPr id="1114" name="Google Shape;1114;p43"/>
          <p:cNvSpPr/>
          <p:nvPr/>
        </p:nvSpPr>
        <p:spPr>
          <a:xfrm>
            <a:off x="5117081" y="989674"/>
            <a:ext cx="3090600" cy="60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50"/>
              <a:buFont typeface="Calibri"/>
              <a:buNone/>
            </a:pPr>
            <a:r>
              <a:rPr lang="en" sz="1050" b="0" i="1" u="none" strike="noStrike" cap="none">
                <a:solidFill>
                  <a:srgbClr val="64748B"/>
                </a:solidFill>
                <a:latin typeface="Calibri"/>
                <a:ea typeface="Calibri"/>
                <a:cs typeface="Calibri"/>
                <a:sym typeface="Calibri"/>
              </a:rPr>
              <a:t>The +4% is already diminishing returns. At 500 words the decay worsens and the gap shrinks further — not holds.</a:t>
            </a:r>
            <a:endParaRPr sz="1050" b="0" i="0" u="none" strike="noStrike" cap="none">
              <a:solidFill>
                <a:srgbClr val="000000"/>
              </a:solidFill>
              <a:latin typeface="Calibri"/>
              <a:ea typeface="Calibri"/>
              <a:cs typeface="Calibri"/>
              <a:sym typeface="Calibri"/>
            </a:endParaRPr>
          </a:p>
        </p:txBody>
      </p:sp>
      <p:pic>
        <p:nvPicPr>
          <p:cNvPr id="1115" name="Google Shape;1115;p43" descr="preencoded.png"/>
          <p:cNvPicPr preferRelativeResize="0"/>
          <p:nvPr/>
        </p:nvPicPr>
        <p:blipFill rotWithShape="1">
          <a:blip r:embed="rId4">
            <a:alphaModFix/>
          </a:blip>
          <a:srcRect/>
          <a:stretch/>
        </p:blipFill>
        <p:spPr>
          <a:xfrm>
            <a:off x="8299193" y="1172554"/>
            <a:ext cx="237744" cy="237744"/>
          </a:xfrm>
          <a:prstGeom prst="rect">
            <a:avLst/>
          </a:prstGeom>
          <a:noFill/>
          <a:ln>
            <a:noFill/>
          </a:ln>
        </p:spPr>
      </p:pic>
      <p:sp>
        <p:nvSpPr>
          <p:cNvPr id="1116" name="Google Shape;1116;p43"/>
          <p:cNvSpPr/>
          <p:nvPr/>
        </p:nvSpPr>
        <p:spPr>
          <a:xfrm>
            <a:off x="279905" y="1712050"/>
            <a:ext cx="8321100" cy="713100"/>
          </a:xfrm>
          <a:prstGeom prst="roundRect">
            <a:avLst>
              <a:gd name="adj" fmla="val 10256"/>
            </a:avLst>
          </a:prstGeom>
          <a:solidFill>
            <a:srgbClr val="E8F6EE"/>
          </a:solidFill>
          <a:ln w="12700" cap="flat" cmpd="sng">
            <a:solidFill>
              <a:srgbClr val="97C459"/>
            </a:solidFill>
            <a:prstDash val="solid"/>
            <a:round/>
            <a:headEnd type="none" w="sm" len="sm"/>
            <a:tailEnd type="none" w="sm" len="sm"/>
          </a:ln>
          <a:effectLst>
            <a:outerShdw blurRad="63500" dist="12700" dir="27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3"/>
          <p:cNvSpPr/>
          <p:nvPr/>
        </p:nvSpPr>
        <p:spPr>
          <a:xfrm>
            <a:off x="398777" y="1931506"/>
            <a:ext cx="274200" cy="274200"/>
          </a:xfrm>
          <a:prstGeom prst="roundRect">
            <a:avLst>
              <a:gd name="adj" fmla="val 13333"/>
            </a:avLst>
          </a:prstGeom>
          <a:solidFill>
            <a:srgbClr val="1A6B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3"/>
          <p:cNvSpPr/>
          <p:nvPr/>
        </p:nvSpPr>
        <p:spPr>
          <a:xfrm>
            <a:off x="398777" y="1931506"/>
            <a:ext cx="274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2</a:t>
            </a:r>
            <a:endParaRPr sz="1100" b="0" i="0" u="none" strike="noStrike" cap="none">
              <a:solidFill>
                <a:srgbClr val="000000"/>
              </a:solidFill>
              <a:latin typeface="Calibri"/>
              <a:ea typeface="Calibri"/>
              <a:cs typeface="Calibri"/>
              <a:sym typeface="Calibri"/>
            </a:endParaRPr>
          </a:p>
        </p:txBody>
      </p:sp>
      <p:sp>
        <p:nvSpPr>
          <p:cNvPr id="1119" name="Google Shape;1119;p43"/>
          <p:cNvSpPr/>
          <p:nvPr/>
        </p:nvSpPr>
        <p:spPr>
          <a:xfrm>
            <a:off x="801113" y="1766914"/>
            <a:ext cx="4050900" cy="60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6B3C"/>
              </a:buClr>
              <a:buSzPts val="1150"/>
              <a:buFont typeface="Calibri"/>
              <a:buNone/>
            </a:pPr>
            <a:r>
              <a:rPr lang="en" sz="1150" b="1" i="0" u="none" strike="noStrike" cap="none">
                <a:solidFill>
                  <a:srgbClr val="1A6B3C"/>
                </a:solidFill>
                <a:latin typeface="Calibri"/>
                <a:ea typeface="Calibri"/>
                <a:cs typeface="Calibri"/>
                <a:sym typeface="Calibri"/>
              </a:rPr>
              <a:t>Both models drop sharply and converge near the same low accuracy — sequence length becomes the bottleneck, not hidden size.</a:t>
            </a:r>
            <a:endParaRPr sz="1150" b="0" i="0" u="none" strike="noStrike" cap="none">
              <a:solidFill>
                <a:srgbClr val="000000"/>
              </a:solidFill>
              <a:latin typeface="Calibri"/>
              <a:ea typeface="Calibri"/>
              <a:cs typeface="Calibri"/>
              <a:sym typeface="Calibri"/>
            </a:endParaRPr>
          </a:p>
        </p:txBody>
      </p:sp>
      <p:cxnSp>
        <p:nvCxnSpPr>
          <p:cNvPr id="1120" name="Google Shape;1120;p43"/>
          <p:cNvCxnSpPr/>
          <p:nvPr/>
        </p:nvCxnSpPr>
        <p:spPr>
          <a:xfrm>
            <a:off x="4989065" y="1821778"/>
            <a:ext cx="0" cy="493800"/>
          </a:xfrm>
          <a:prstGeom prst="straightConnector1">
            <a:avLst/>
          </a:prstGeom>
          <a:noFill/>
          <a:ln w="9525" cap="flat" cmpd="sng">
            <a:solidFill>
              <a:srgbClr val="97C459"/>
            </a:solidFill>
            <a:prstDash val="solid"/>
            <a:round/>
            <a:headEnd type="none" w="sm" len="sm"/>
            <a:tailEnd type="none" w="sm" len="sm"/>
          </a:ln>
        </p:spPr>
      </p:cxnSp>
      <p:sp>
        <p:nvSpPr>
          <p:cNvPr id="1121" name="Google Shape;1121;p43"/>
          <p:cNvSpPr/>
          <p:nvPr/>
        </p:nvSpPr>
        <p:spPr>
          <a:xfrm>
            <a:off x="5117081" y="1766914"/>
            <a:ext cx="3090600" cy="60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6B3C"/>
              </a:buClr>
              <a:buSzPts val="1050"/>
              <a:buFont typeface="Calibri"/>
              <a:buNone/>
            </a:pPr>
            <a:r>
              <a:rPr lang="en" sz="1050" b="0" i="0" u="none" strike="noStrike" cap="none">
                <a:solidFill>
                  <a:srgbClr val="1A6B3C"/>
                </a:solidFill>
                <a:latin typeface="Calibri"/>
                <a:ea typeface="Calibri"/>
                <a:cs typeface="Calibri"/>
                <a:sym typeface="Calibri"/>
              </a:rPr>
              <a:t>All model sizes show the same collapse → architectural problem, not capacity. Both still compress 500 words into one fixed vector.</a:t>
            </a:r>
            <a:endParaRPr sz="1050" b="0" i="0" u="none" strike="noStrike" cap="none">
              <a:solidFill>
                <a:srgbClr val="000000"/>
              </a:solidFill>
              <a:latin typeface="Calibri"/>
              <a:ea typeface="Calibri"/>
              <a:cs typeface="Calibri"/>
              <a:sym typeface="Calibri"/>
            </a:endParaRPr>
          </a:p>
        </p:txBody>
      </p:sp>
      <p:pic>
        <p:nvPicPr>
          <p:cNvPr id="1122" name="Google Shape;1122;p43" descr="preencoded.png"/>
          <p:cNvPicPr preferRelativeResize="0"/>
          <p:nvPr/>
        </p:nvPicPr>
        <p:blipFill rotWithShape="1">
          <a:blip r:embed="rId5">
            <a:alphaModFix/>
          </a:blip>
          <a:srcRect/>
          <a:stretch/>
        </p:blipFill>
        <p:spPr>
          <a:xfrm>
            <a:off x="8299193" y="1949794"/>
            <a:ext cx="237744" cy="237744"/>
          </a:xfrm>
          <a:prstGeom prst="rect">
            <a:avLst/>
          </a:prstGeom>
          <a:noFill/>
          <a:ln>
            <a:noFill/>
          </a:ln>
        </p:spPr>
      </p:pic>
      <p:sp>
        <p:nvSpPr>
          <p:cNvPr id="1123" name="Google Shape;1123;p43"/>
          <p:cNvSpPr/>
          <p:nvPr/>
        </p:nvSpPr>
        <p:spPr>
          <a:xfrm>
            <a:off x="279905" y="2489290"/>
            <a:ext cx="8321100" cy="713100"/>
          </a:xfrm>
          <a:prstGeom prst="roundRect">
            <a:avLst>
              <a:gd name="adj" fmla="val 10256"/>
            </a:avLst>
          </a:prstGeom>
          <a:solidFill>
            <a:srgbClr val="FFFFFF"/>
          </a:solidFill>
          <a:ln w="9525" cap="flat" cmpd="sng">
            <a:solidFill>
              <a:srgbClr val="E2E8F0"/>
            </a:solidFill>
            <a:prstDash val="solid"/>
            <a:round/>
            <a:headEnd type="none" w="sm" len="sm"/>
            <a:tailEnd type="none" w="sm" len="sm"/>
          </a:ln>
          <a:effectLst>
            <a:outerShdw blurRad="63500" dist="12700" dir="27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3"/>
          <p:cNvSpPr/>
          <p:nvPr/>
        </p:nvSpPr>
        <p:spPr>
          <a:xfrm>
            <a:off x="398777" y="2708746"/>
            <a:ext cx="274200" cy="274200"/>
          </a:xfrm>
          <a:prstGeom prst="roundRect">
            <a:avLst>
              <a:gd name="adj" fmla="val 13333"/>
            </a:avLst>
          </a:prstGeom>
          <a:solidFill>
            <a:srgbClr val="4755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3"/>
          <p:cNvSpPr/>
          <p:nvPr/>
        </p:nvSpPr>
        <p:spPr>
          <a:xfrm>
            <a:off x="398777" y="2708746"/>
            <a:ext cx="274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3</a:t>
            </a:r>
            <a:endParaRPr sz="1100" b="0" i="0" u="none" strike="noStrike" cap="none">
              <a:solidFill>
                <a:srgbClr val="000000"/>
              </a:solidFill>
              <a:latin typeface="Calibri"/>
              <a:ea typeface="Calibri"/>
              <a:cs typeface="Calibri"/>
              <a:sym typeface="Calibri"/>
            </a:endParaRPr>
          </a:p>
        </p:txBody>
      </p:sp>
      <p:sp>
        <p:nvSpPr>
          <p:cNvPr id="1126" name="Google Shape;1126;p43"/>
          <p:cNvSpPr/>
          <p:nvPr/>
        </p:nvSpPr>
        <p:spPr>
          <a:xfrm>
            <a:off x="801113" y="2544154"/>
            <a:ext cx="4050900" cy="60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150"/>
              <a:buFont typeface="Calibri"/>
              <a:buNone/>
            </a:pPr>
            <a:r>
              <a:rPr lang="en" sz="1150" b="0" i="0" u="none" strike="noStrike" cap="none">
                <a:solidFill>
                  <a:srgbClr val="1E293B"/>
                </a:solidFill>
                <a:latin typeface="Calibri"/>
                <a:ea typeface="Calibri"/>
                <a:cs typeface="Calibri"/>
                <a:sym typeface="Calibri"/>
              </a:rPr>
              <a:t>Only the standard LSTM drops further — the large LSTM has enough capacity to stabilize at 500+ words.</a:t>
            </a:r>
            <a:endParaRPr sz="1150" b="0" i="0" u="none" strike="noStrike" cap="none">
              <a:solidFill>
                <a:srgbClr val="000000"/>
              </a:solidFill>
              <a:latin typeface="Calibri"/>
              <a:ea typeface="Calibri"/>
              <a:cs typeface="Calibri"/>
              <a:sym typeface="Calibri"/>
            </a:endParaRPr>
          </a:p>
        </p:txBody>
      </p:sp>
      <p:cxnSp>
        <p:nvCxnSpPr>
          <p:cNvPr id="1127" name="Google Shape;1127;p43"/>
          <p:cNvCxnSpPr/>
          <p:nvPr/>
        </p:nvCxnSpPr>
        <p:spPr>
          <a:xfrm>
            <a:off x="4989065" y="2599018"/>
            <a:ext cx="0" cy="493800"/>
          </a:xfrm>
          <a:prstGeom prst="straightConnector1">
            <a:avLst/>
          </a:prstGeom>
          <a:noFill/>
          <a:ln w="9525" cap="flat" cmpd="sng">
            <a:solidFill>
              <a:srgbClr val="E2E8F0"/>
            </a:solidFill>
            <a:prstDash val="solid"/>
            <a:round/>
            <a:headEnd type="none" w="sm" len="sm"/>
            <a:tailEnd type="none" w="sm" len="sm"/>
          </a:ln>
        </p:spPr>
      </p:cxnSp>
      <p:sp>
        <p:nvSpPr>
          <p:cNvPr id="1128" name="Google Shape;1128;p43"/>
          <p:cNvSpPr/>
          <p:nvPr/>
        </p:nvSpPr>
        <p:spPr>
          <a:xfrm>
            <a:off x="5117081" y="2544154"/>
            <a:ext cx="3090600" cy="60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50"/>
              <a:buFont typeface="Calibri"/>
              <a:buNone/>
            </a:pPr>
            <a:r>
              <a:rPr lang="en" sz="1050" b="0" i="1" u="none" strike="noStrike" cap="none">
                <a:solidFill>
                  <a:srgbClr val="64748B"/>
                </a:solidFill>
                <a:latin typeface="Calibri"/>
                <a:ea typeface="Calibri"/>
                <a:cs typeface="Calibri"/>
                <a:sym typeface="Calibri"/>
              </a:rPr>
              <a:t>Capacity does not stop sequential overwriting. Both models still produce one final vector — larger just has more dimensions, not fewer steps.</a:t>
            </a:r>
            <a:endParaRPr sz="1050" b="0" i="0" u="none" strike="noStrike" cap="none">
              <a:solidFill>
                <a:srgbClr val="000000"/>
              </a:solidFill>
              <a:latin typeface="Calibri"/>
              <a:ea typeface="Calibri"/>
              <a:cs typeface="Calibri"/>
              <a:sym typeface="Calibri"/>
            </a:endParaRPr>
          </a:p>
        </p:txBody>
      </p:sp>
      <p:pic>
        <p:nvPicPr>
          <p:cNvPr id="1129" name="Google Shape;1129;p43" descr="preencoded.png"/>
          <p:cNvPicPr preferRelativeResize="0"/>
          <p:nvPr/>
        </p:nvPicPr>
        <p:blipFill rotWithShape="1">
          <a:blip r:embed="rId4">
            <a:alphaModFix/>
          </a:blip>
          <a:srcRect/>
          <a:stretch/>
        </p:blipFill>
        <p:spPr>
          <a:xfrm>
            <a:off x="8299193" y="2727034"/>
            <a:ext cx="237744" cy="237744"/>
          </a:xfrm>
          <a:prstGeom prst="rect">
            <a:avLst/>
          </a:prstGeom>
          <a:noFill/>
          <a:ln>
            <a:noFill/>
          </a:ln>
        </p:spPr>
      </p:pic>
      <p:sp>
        <p:nvSpPr>
          <p:cNvPr id="1130" name="Google Shape;1130;p43"/>
          <p:cNvSpPr/>
          <p:nvPr/>
        </p:nvSpPr>
        <p:spPr>
          <a:xfrm>
            <a:off x="279905" y="3266530"/>
            <a:ext cx="8321100" cy="713100"/>
          </a:xfrm>
          <a:prstGeom prst="roundRect">
            <a:avLst>
              <a:gd name="adj" fmla="val 10256"/>
            </a:avLst>
          </a:prstGeom>
          <a:solidFill>
            <a:srgbClr val="FFFFFF"/>
          </a:solidFill>
          <a:ln w="9525" cap="flat" cmpd="sng">
            <a:solidFill>
              <a:srgbClr val="E2E8F0"/>
            </a:solidFill>
            <a:prstDash val="solid"/>
            <a:round/>
            <a:headEnd type="none" w="sm" len="sm"/>
            <a:tailEnd type="none" w="sm" len="sm"/>
          </a:ln>
          <a:effectLst>
            <a:outerShdw blurRad="63500" dist="12700" dir="27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3"/>
          <p:cNvSpPr/>
          <p:nvPr/>
        </p:nvSpPr>
        <p:spPr>
          <a:xfrm>
            <a:off x="398777" y="3485986"/>
            <a:ext cx="274200" cy="274200"/>
          </a:xfrm>
          <a:prstGeom prst="roundRect">
            <a:avLst>
              <a:gd name="adj" fmla="val 13333"/>
            </a:avLst>
          </a:prstGeom>
          <a:solidFill>
            <a:srgbClr val="4755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3"/>
          <p:cNvSpPr/>
          <p:nvPr/>
        </p:nvSpPr>
        <p:spPr>
          <a:xfrm>
            <a:off x="398777" y="3485986"/>
            <a:ext cx="274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4</a:t>
            </a:r>
            <a:endParaRPr sz="1100" b="0" i="0" u="none" strike="noStrike" cap="none">
              <a:solidFill>
                <a:srgbClr val="000000"/>
              </a:solidFill>
              <a:latin typeface="Calibri"/>
              <a:ea typeface="Calibri"/>
              <a:cs typeface="Calibri"/>
              <a:sym typeface="Calibri"/>
            </a:endParaRPr>
          </a:p>
        </p:txBody>
      </p:sp>
      <p:sp>
        <p:nvSpPr>
          <p:cNvPr id="1133" name="Google Shape;1133;p43"/>
          <p:cNvSpPr/>
          <p:nvPr/>
        </p:nvSpPr>
        <p:spPr>
          <a:xfrm>
            <a:off x="801113" y="3321394"/>
            <a:ext cx="4050900" cy="60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150"/>
              <a:buFont typeface="Calibri"/>
              <a:buNone/>
            </a:pPr>
            <a:r>
              <a:rPr lang="en" sz="1150" b="0" i="0" u="none" strike="noStrike" cap="none">
                <a:solidFill>
                  <a:srgbClr val="1E293B"/>
                </a:solidFill>
                <a:latin typeface="Calibri"/>
                <a:ea typeface="Calibri"/>
                <a:cs typeface="Calibri"/>
                <a:sym typeface="Calibri"/>
              </a:rPr>
              <a:t>Both drop sharply, but stacking LSTM layers (depth) instead of widening (width) will recover accuracy.</a:t>
            </a:r>
            <a:endParaRPr sz="1150" b="0" i="0" u="none" strike="noStrike" cap="none">
              <a:solidFill>
                <a:srgbClr val="000000"/>
              </a:solidFill>
              <a:latin typeface="Calibri"/>
              <a:ea typeface="Calibri"/>
              <a:cs typeface="Calibri"/>
              <a:sym typeface="Calibri"/>
            </a:endParaRPr>
          </a:p>
        </p:txBody>
      </p:sp>
      <p:cxnSp>
        <p:nvCxnSpPr>
          <p:cNvPr id="1134" name="Google Shape;1134;p43"/>
          <p:cNvCxnSpPr/>
          <p:nvPr/>
        </p:nvCxnSpPr>
        <p:spPr>
          <a:xfrm>
            <a:off x="4989065" y="3376258"/>
            <a:ext cx="0" cy="493800"/>
          </a:xfrm>
          <a:prstGeom prst="straightConnector1">
            <a:avLst/>
          </a:prstGeom>
          <a:noFill/>
          <a:ln w="9525" cap="flat" cmpd="sng">
            <a:solidFill>
              <a:srgbClr val="E2E8F0"/>
            </a:solidFill>
            <a:prstDash val="solid"/>
            <a:round/>
            <a:headEnd type="none" w="sm" len="sm"/>
            <a:tailEnd type="none" w="sm" len="sm"/>
          </a:ln>
        </p:spPr>
      </p:cxnSp>
      <p:sp>
        <p:nvSpPr>
          <p:cNvPr id="1135" name="Google Shape;1135;p43"/>
          <p:cNvSpPr/>
          <p:nvPr/>
        </p:nvSpPr>
        <p:spPr>
          <a:xfrm>
            <a:off x="5117081" y="3321394"/>
            <a:ext cx="3090600" cy="603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50"/>
              <a:buFont typeface="Calibri"/>
              <a:buNone/>
            </a:pPr>
            <a:r>
              <a:rPr lang="en" sz="1050" b="0" i="1" u="none" strike="noStrike" cap="none">
                <a:solidFill>
                  <a:srgbClr val="64748B"/>
                </a:solidFill>
                <a:latin typeface="Calibri"/>
                <a:ea typeface="Calibri"/>
                <a:cs typeface="Calibri"/>
                <a:sym typeface="Calibri"/>
              </a:rPr>
              <a:t>Depth adds representational power but each layer still collapses the sequence into one hidden state — same bottleneck, more layers.</a:t>
            </a:r>
            <a:endParaRPr sz="1050" b="0" i="0" u="none" strike="noStrike" cap="none">
              <a:solidFill>
                <a:srgbClr val="000000"/>
              </a:solidFill>
              <a:latin typeface="Calibri"/>
              <a:ea typeface="Calibri"/>
              <a:cs typeface="Calibri"/>
              <a:sym typeface="Calibri"/>
            </a:endParaRPr>
          </a:p>
        </p:txBody>
      </p:sp>
      <p:pic>
        <p:nvPicPr>
          <p:cNvPr id="1136" name="Google Shape;1136;p43" descr="preencoded.png"/>
          <p:cNvPicPr preferRelativeResize="0"/>
          <p:nvPr/>
        </p:nvPicPr>
        <p:blipFill rotWithShape="1">
          <a:blip r:embed="rId4">
            <a:alphaModFix/>
          </a:blip>
          <a:srcRect/>
          <a:stretch/>
        </p:blipFill>
        <p:spPr>
          <a:xfrm>
            <a:off x="8299193" y="3504274"/>
            <a:ext cx="237744" cy="237744"/>
          </a:xfrm>
          <a:prstGeom prst="rect">
            <a:avLst/>
          </a:prstGeom>
          <a:noFill/>
          <a:ln>
            <a:noFill/>
          </a:ln>
        </p:spPr>
      </p:pic>
      <p:sp>
        <p:nvSpPr>
          <p:cNvPr id="1137" name="Google Shape;1137;p43"/>
          <p:cNvSpPr/>
          <p:nvPr/>
        </p:nvSpPr>
        <p:spPr>
          <a:xfrm>
            <a:off x="279905" y="4336378"/>
            <a:ext cx="8321100" cy="347400"/>
          </a:xfrm>
          <a:prstGeom prst="roundRect">
            <a:avLst>
              <a:gd name="adj" fmla="val 18421"/>
            </a:avLst>
          </a:prstGeom>
          <a:solidFill>
            <a:srgbClr val="FFFBEB"/>
          </a:solidFill>
          <a:ln w="9525" cap="flat" cmpd="sng">
            <a:solidFill>
              <a:srgbClr val="FCD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3"/>
          <p:cNvSpPr/>
          <p:nvPr/>
        </p:nvSpPr>
        <p:spPr>
          <a:xfrm>
            <a:off x="435353" y="4345522"/>
            <a:ext cx="80100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B45309"/>
              </a:buClr>
              <a:buSzPts val="1100"/>
              <a:buFont typeface="Calibri"/>
              <a:buNone/>
            </a:pPr>
            <a:r>
              <a:rPr lang="en" sz="1100" b="0" i="0" u="none" strike="noStrike" cap="none">
                <a:solidFill>
                  <a:srgbClr val="B45309"/>
                </a:solidFill>
                <a:latin typeface="Calibri"/>
                <a:ea typeface="Calibri"/>
                <a:cs typeface="Calibri"/>
                <a:sym typeface="Calibri"/>
              </a:rPr>
              <a:t>Key insight — When all model sizes show the same sharp drop, it is a structural signal, not a capacity problem. The bottleneck is the architecture itself.</a:t>
            </a:r>
            <a:endParaRPr sz="1100" b="0" i="0" u="none" strike="noStrike" cap="non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143"/>
        <p:cNvGrpSpPr/>
        <p:nvPr/>
      </p:nvGrpSpPr>
      <p:grpSpPr>
        <a:xfrm>
          <a:off x="0" y="0"/>
          <a:ext cx="0" cy="0"/>
          <a:chOff x="0" y="0"/>
          <a:chExt cx="0" cy="0"/>
        </a:xfrm>
      </p:grpSpPr>
      <p:sp>
        <p:nvSpPr>
          <p:cNvPr id="1144" name="Google Shape;1144;p44"/>
          <p:cNvSpPr/>
          <p:nvPr/>
        </p:nvSpPr>
        <p:spPr>
          <a:xfrm>
            <a:off x="2071800" y="146225"/>
            <a:ext cx="5730600" cy="567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2E"/>
              </a:buClr>
              <a:buSzPts val="2800"/>
              <a:buFont typeface="Calibri"/>
              <a:buNone/>
            </a:pPr>
            <a:r>
              <a:rPr lang="en" sz="2800" b="1" i="0" u="none" strike="noStrike" cap="none">
                <a:solidFill>
                  <a:srgbClr val="1A1A2E"/>
                </a:solidFill>
                <a:latin typeface="Calibri"/>
                <a:ea typeface="Calibri"/>
                <a:cs typeface="Calibri"/>
                <a:sym typeface="Calibri"/>
              </a:rPr>
              <a:t>Limitations of Pre-Attention Models</a:t>
            </a:r>
            <a:endParaRPr sz="2800" b="0" i="0" u="none" strike="noStrike" cap="none">
              <a:solidFill>
                <a:schemeClr val="dk1"/>
              </a:solidFill>
              <a:latin typeface="Calibri"/>
              <a:ea typeface="Calibri"/>
              <a:cs typeface="Calibri"/>
              <a:sym typeface="Calibri"/>
            </a:endParaRPr>
          </a:p>
        </p:txBody>
      </p:sp>
      <p:sp>
        <p:nvSpPr>
          <p:cNvPr id="1145" name="Google Shape;1145;p44"/>
          <p:cNvSpPr/>
          <p:nvPr/>
        </p:nvSpPr>
        <p:spPr>
          <a:xfrm>
            <a:off x="457200" y="713225"/>
            <a:ext cx="4608900" cy="292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46E7A"/>
              </a:buClr>
              <a:buSzPts val="1250"/>
              <a:buFont typeface="Calibri"/>
              <a:buNone/>
            </a:pPr>
            <a:r>
              <a:rPr lang="en" sz="1250" b="0" i="1" u="none" strike="noStrike" cap="none">
                <a:solidFill>
                  <a:schemeClr val="dk1"/>
                </a:solidFill>
                <a:latin typeface="Calibri"/>
                <a:ea typeface="Calibri"/>
                <a:cs typeface="Calibri"/>
                <a:sym typeface="Calibri"/>
              </a:rPr>
              <a:t>Key issues that motivated the development of Attention Mechanisms</a:t>
            </a:r>
            <a:endParaRPr sz="1250" b="0" i="0" u="none" strike="noStrike" cap="none">
              <a:solidFill>
                <a:schemeClr val="dk1"/>
              </a:solidFill>
              <a:latin typeface="Calibri"/>
              <a:ea typeface="Calibri"/>
              <a:cs typeface="Calibri"/>
              <a:sym typeface="Calibri"/>
            </a:endParaRPr>
          </a:p>
        </p:txBody>
      </p:sp>
      <p:sp>
        <p:nvSpPr>
          <p:cNvPr id="1146" name="Google Shape;1146;p44"/>
          <p:cNvSpPr/>
          <p:nvPr/>
        </p:nvSpPr>
        <p:spPr>
          <a:xfrm>
            <a:off x="365760" y="1115568"/>
            <a:ext cx="1600200" cy="3063300"/>
          </a:xfrm>
          <a:prstGeom prst="rect">
            <a:avLst/>
          </a:prstGeom>
          <a:solidFill>
            <a:srgbClr val="EFF6FF"/>
          </a:solidFill>
          <a:ln w="12700" cap="flat" cmpd="sng">
            <a:solidFill>
              <a:srgbClr val="BFDBF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4"/>
          <p:cNvSpPr/>
          <p:nvPr/>
        </p:nvSpPr>
        <p:spPr>
          <a:xfrm>
            <a:off x="475488" y="1225296"/>
            <a:ext cx="13806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565C0"/>
              </a:buClr>
              <a:buSzPts val="2800"/>
              <a:buFont typeface="Calibri"/>
              <a:buNone/>
            </a:pPr>
            <a:r>
              <a:rPr lang="en" sz="2800" b="1" i="0" u="none" strike="noStrike" cap="none">
                <a:solidFill>
                  <a:srgbClr val="1565C0"/>
                </a:solidFill>
                <a:latin typeface="Calibri"/>
                <a:ea typeface="Calibri"/>
                <a:cs typeface="Calibri"/>
                <a:sym typeface="Calibri"/>
              </a:rPr>
              <a:t>01</a:t>
            </a:r>
            <a:endParaRPr sz="2800" b="0" i="0" u="none" strike="noStrike" cap="none">
              <a:solidFill>
                <a:schemeClr val="dk1"/>
              </a:solidFill>
              <a:latin typeface="Calibri"/>
              <a:ea typeface="Calibri"/>
              <a:cs typeface="Calibri"/>
              <a:sym typeface="Calibri"/>
            </a:endParaRPr>
          </a:p>
        </p:txBody>
      </p:sp>
      <p:sp>
        <p:nvSpPr>
          <p:cNvPr id="1148" name="Google Shape;1148;p44"/>
          <p:cNvSpPr/>
          <p:nvPr/>
        </p:nvSpPr>
        <p:spPr>
          <a:xfrm>
            <a:off x="475488" y="1682496"/>
            <a:ext cx="1380600" cy="713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2E"/>
              </a:buClr>
              <a:buSzPts val="1150"/>
              <a:buFont typeface="Calibri"/>
              <a:buNone/>
            </a:pPr>
            <a:r>
              <a:rPr lang="en" sz="1150" b="1" i="0" u="none" strike="noStrike" cap="none">
                <a:solidFill>
                  <a:srgbClr val="1A1A2E"/>
                </a:solidFill>
                <a:latin typeface="Calibri"/>
                <a:ea typeface="Calibri"/>
                <a:cs typeface="Calibri"/>
                <a:sym typeface="Calibri"/>
              </a:rPr>
              <a:t>Fixed-Length Context Bottleneck</a:t>
            </a:r>
            <a:endParaRPr sz="1150" b="0" i="0" u="none" strike="noStrike" cap="none">
              <a:solidFill>
                <a:schemeClr val="dk1"/>
              </a:solidFill>
              <a:latin typeface="Calibri"/>
              <a:ea typeface="Calibri"/>
              <a:cs typeface="Calibri"/>
              <a:sym typeface="Calibri"/>
            </a:endParaRPr>
          </a:p>
        </p:txBody>
      </p:sp>
      <p:sp>
        <p:nvSpPr>
          <p:cNvPr id="1149" name="Google Shape;1149;p44"/>
          <p:cNvSpPr/>
          <p:nvPr/>
        </p:nvSpPr>
        <p:spPr>
          <a:xfrm>
            <a:off x="475488" y="2414016"/>
            <a:ext cx="1380600" cy="13800"/>
          </a:xfrm>
          <a:prstGeom prst="rect">
            <a:avLst/>
          </a:prstGeom>
          <a:solidFill>
            <a:srgbClr val="BFDBFE"/>
          </a:solidFill>
          <a:ln w="12700" cap="flat" cmpd="sng">
            <a:solidFill>
              <a:srgbClr val="BFDBF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4"/>
          <p:cNvSpPr/>
          <p:nvPr/>
        </p:nvSpPr>
        <p:spPr>
          <a:xfrm>
            <a:off x="475488" y="2487168"/>
            <a:ext cx="1380600" cy="1572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46E7A"/>
              </a:buClr>
              <a:buSzPts val="980"/>
              <a:buFont typeface="Calibri"/>
              <a:buNone/>
            </a:pPr>
            <a:r>
              <a:rPr lang="en" sz="980" b="0" i="0" u="none" strike="noStrike" cap="none">
                <a:solidFill>
                  <a:srgbClr val="546E7A"/>
                </a:solidFill>
                <a:latin typeface="Calibri"/>
                <a:ea typeface="Calibri"/>
                <a:cs typeface="Calibri"/>
                <a:sym typeface="Calibri"/>
              </a:rPr>
              <a:t>Encoder-decoder models compressed entire sequences into one fixed-size vector — causing severe information loss for long inputs.</a:t>
            </a:r>
            <a:endParaRPr sz="980" b="0" i="0" u="none" strike="noStrike" cap="none">
              <a:solidFill>
                <a:schemeClr val="dk1"/>
              </a:solidFill>
              <a:latin typeface="Calibri"/>
              <a:ea typeface="Calibri"/>
              <a:cs typeface="Calibri"/>
              <a:sym typeface="Calibri"/>
            </a:endParaRPr>
          </a:p>
        </p:txBody>
      </p:sp>
      <p:sp>
        <p:nvSpPr>
          <p:cNvPr id="1151" name="Google Shape;1151;p44"/>
          <p:cNvSpPr/>
          <p:nvPr/>
        </p:nvSpPr>
        <p:spPr>
          <a:xfrm>
            <a:off x="2011680" y="1115568"/>
            <a:ext cx="1600200" cy="3063300"/>
          </a:xfrm>
          <a:prstGeom prst="rect">
            <a:avLst/>
          </a:prstGeom>
          <a:solidFill>
            <a:srgbClr val="EFF6FF"/>
          </a:solidFill>
          <a:ln w="12700" cap="flat" cmpd="sng">
            <a:solidFill>
              <a:srgbClr val="BFDBF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4"/>
          <p:cNvSpPr/>
          <p:nvPr/>
        </p:nvSpPr>
        <p:spPr>
          <a:xfrm>
            <a:off x="2121408" y="1225296"/>
            <a:ext cx="13806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565C0"/>
              </a:buClr>
              <a:buSzPts val="2800"/>
              <a:buFont typeface="Calibri"/>
              <a:buNone/>
            </a:pPr>
            <a:r>
              <a:rPr lang="en" sz="2800" b="1" i="0" u="none" strike="noStrike" cap="none">
                <a:solidFill>
                  <a:srgbClr val="1565C0"/>
                </a:solidFill>
                <a:latin typeface="Calibri"/>
                <a:ea typeface="Calibri"/>
                <a:cs typeface="Calibri"/>
                <a:sym typeface="Calibri"/>
              </a:rPr>
              <a:t>02</a:t>
            </a:r>
            <a:endParaRPr sz="2800" b="0" i="0" u="none" strike="noStrike" cap="none">
              <a:solidFill>
                <a:schemeClr val="dk1"/>
              </a:solidFill>
              <a:latin typeface="Calibri"/>
              <a:ea typeface="Calibri"/>
              <a:cs typeface="Calibri"/>
              <a:sym typeface="Calibri"/>
            </a:endParaRPr>
          </a:p>
        </p:txBody>
      </p:sp>
      <p:sp>
        <p:nvSpPr>
          <p:cNvPr id="1153" name="Google Shape;1153;p44"/>
          <p:cNvSpPr/>
          <p:nvPr/>
        </p:nvSpPr>
        <p:spPr>
          <a:xfrm>
            <a:off x="2121408" y="1682496"/>
            <a:ext cx="1380600" cy="713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2E"/>
              </a:buClr>
              <a:buSzPts val="1150"/>
              <a:buFont typeface="Calibri"/>
              <a:buNone/>
            </a:pPr>
            <a:r>
              <a:rPr lang="en" sz="1150" b="1" i="0" u="none" strike="noStrike" cap="none">
                <a:solidFill>
                  <a:srgbClr val="1A1A2E"/>
                </a:solidFill>
                <a:latin typeface="Calibri"/>
                <a:ea typeface="Calibri"/>
                <a:cs typeface="Calibri"/>
                <a:sym typeface="Calibri"/>
              </a:rPr>
              <a:t>Vanishing &amp; Exploding Gradients</a:t>
            </a:r>
            <a:endParaRPr sz="1150" b="0" i="0" u="none" strike="noStrike" cap="none">
              <a:solidFill>
                <a:schemeClr val="dk1"/>
              </a:solidFill>
              <a:latin typeface="Calibri"/>
              <a:ea typeface="Calibri"/>
              <a:cs typeface="Calibri"/>
              <a:sym typeface="Calibri"/>
            </a:endParaRPr>
          </a:p>
        </p:txBody>
      </p:sp>
      <p:sp>
        <p:nvSpPr>
          <p:cNvPr id="1154" name="Google Shape;1154;p44"/>
          <p:cNvSpPr/>
          <p:nvPr/>
        </p:nvSpPr>
        <p:spPr>
          <a:xfrm>
            <a:off x="2121408" y="2414016"/>
            <a:ext cx="1380600" cy="13800"/>
          </a:xfrm>
          <a:prstGeom prst="rect">
            <a:avLst/>
          </a:prstGeom>
          <a:solidFill>
            <a:srgbClr val="BFDBFE"/>
          </a:solidFill>
          <a:ln w="12700" cap="flat" cmpd="sng">
            <a:solidFill>
              <a:srgbClr val="BFDBF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4"/>
          <p:cNvSpPr/>
          <p:nvPr/>
        </p:nvSpPr>
        <p:spPr>
          <a:xfrm>
            <a:off x="2121408" y="2487168"/>
            <a:ext cx="1380600" cy="1572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46E7A"/>
              </a:buClr>
              <a:buSzPts val="980"/>
              <a:buFont typeface="Calibri"/>
              <a:buNone/>
            </a:pPr>
            <a:r>
              <a:rPr lang="en" sz="980" b="0" i="0" u="none" strike="noStrike" cap="none">
                <a:solidFill>
                  <a:srgbClr val="546E7A"/>
                </a:solidFill>
                <a:latin typeface="Calibri"/>
                <a:ea typeface="Calibri"/>
                <a:cs typeface="Calibri"/>
                <a:sym typeface="Calibri"/>
              </a:rPr>
              <a:t>RNNs suffered from gradients shrinking to zero or growing uncontrollably during backpropagation, blocking long-range learning.</a:t>
            </a:r>
            <a:endParaRPr sz="980" b="0" i="0" u="none" strike="noStrike" cap="none">
              <a:solidFill>
                <a:schemeClr val="dk1"/>
              </a:solidFill>
              <a:latin typeface="Calibri"/>
              <a:ea typeface="Calibri"/>
              <a:cs typeface="Calibri"/>
              <a:sym typeface="Calibri"/>
            </a:endParaRPr>
          </a:p>
        </p:txBody>
      </p:sp>
      <p:sp>
        <p:nvSpPr>
          <p:cNvPr id="1156" name="Google Shape;1156;p44"/>
          <p:cNvSpPr/>
          <p:nvPr/>
        </p:nvSpPr>
        <p:spPr>
          <a:xfrm>
            <a:off x="3657600" y="1115568"/>
            <a:ext cx="1600200" cy="3063300"/>
          </a:xfrm>
          <a:prstGeom prst="rect">
            <a:avLst/>
          </a:prstGeom>
          <a:solidFill>
            <a:srgbClr val="EFF6FF"/>
          </a:solidFill>
          <a:ln w="12700" cap="flat" cmpd="sng">
            <a:solidFill>
              <a:srgbClr val="BFDBF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4"/>
          <p:cNvSpPr/>
          <p:nvPr/>
        </p:nvSpPr>
        <p:spPr>
          <a:xfrm>
            <a:off x="3767328" y="1225296"/>
            <a:ext cx="13806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565C0"/>
              </a:buClr>
              <a:buSzPts val="2800"/>
              <a:buFont typeface="Calibri"/>
              <a:buNone/>
            </a:pPr>
            <a:r>
              <a:rPr lang="en" sz="2800" b="1" i="0" u="none" strike="noStrike" cap="none">
                <a:solidFill>
                  <a:srgbClr val="1565C0"/>
                </a:solidFill>
                <a:latin typeface="Calibri"/>
                <a:ea typeface="Calibri"/>
                <a:cs typeface="Calibri"/>
                <a:sym typeface="Calibri"/>
              </a:rPr>
              <a:t>03</a:t>
            </a:r>
            <a:endParaRPr sz="2800" b="0" i="0" u="none" strike="noStrike" cap="none">
              <a:solidFill>
                <a:schemeClr val="dk1"/>
              </a:solidFill>
              <a:latin typeface="Calibri"/>
              <a:ea typeface="Calibri"/>
              <a:cs typeface="Calibri"/>
              <a:sym typeface="Calibri"/>
            </a:endParaRPr>
          </a:p>
        </p:txBody>
      </p:sp>
      <p:sp>
        <p:nvSpPr>
          <p:cNvPr id="1158" name="Google Shape;1158;p44"/>
          <p:cNvSpPr/>
          <p:nvPr/>
        </p:nvSpPr>
        <p:spPr>
          <a:xfrm>
            <a:off x="3767328" y="1682496"/>
            <a:ext cx="1380600" cy="713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2E"/>
              </a:buClr>
              <a:buSzPts val="1150"/>
              <a:buFont typeface="Calibri"/>
              <a:buNone/>
            </a:pPr>
            <a:r>
              <a:rPr lang="en" sz="1150" b="1" i="0" u="none" strike="noStrike" cap="none">
                <a:solidFill>
                  <a:srgbClr val="1A1A2E"/>
                </a:solidFill>
                <a:latin typeface="Calibri"/>
                <a:ea typeface="Calibri"/>
                <a:cs typeface="Calibri"/>
                <a:sym typeface="Calibri"/>
              </a:rPr>
              <a:t>Poor Long-Range Dependencies</a:t>
            </a:r>
            <a:endParaRPr sz="1150" b="0" i="0" u="none" strike="noStrike" cap="none">
              <a:solidFill>
                <a:schemeClr val="dk1"/>
              </a:solidFill>
              <a:latin typeface="Calibri"/>
              <a:ea typeface="Calibri"/>
              <a:cs typeface="Calibri"/>
              <a:sym typeface="Calibri"/>
            </a:endParaRPr>
          </a:p>
        </p:txBody>
      </p:sp>
      <p:sp>
        <p:nvSpPr>
          <p:cNvPr id="1159" name="Google Shape;1159;p44"/>
          <p:cNvSpPr/>
          <p:nvPr/>
        </p:nvSpPr>
        <p:spPr>
          <a:xfrm>
            <a:off x="3767328" y="2414016"/>
            <a:ext cx="1380600" cy="13800"/>
          </a:xfrm>
          <a:prstGeom prst="rect">
            <a:avLst/>
          </a:prstGeom>
          <a:solidFill>
            <a:srgbClr val="BFDBFE"/>
          </a:solidFill>
          <a:ln w="12700" cap="flat" cmpd="sng">
            <a:solidFill>
              <a:srgbClr val="BFDBF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4"/>
          <p:cNvSpPr/>
          <p:nvPr/>
        </p:nvSpPr>
        <p:spPr>
          <a:xfrm>
            <a:off x="3767328" y="2487168"/>
            <a:ext cx="1380600" cy="1572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46E7A"/>
              </a:buClr>
              <a:buSzPts val="980"/>
              <a:buFont typeface="Calibri"/>
              <a:buNone/>
            </a:pPr>
            <a:r>
              <a:rPr lang="en" sz="980" b="0" i="0" u="none" strike="noStrike" cap="none">
                <a:solidFill>
                  <a:srgbClr val="546E7A"/>
                </a:solidFill>
                <a:latin typeface="Calibri"/>
                <a:ea typeface="Calibri"/>
                <a:cs typeface="Calibri"/>
                <a:sym typeface="Calibri"/>
              </a:rPr>
              <a:t>Information from early tokens had to pass through many steps, getting diluted before reaching later positions in the sequence.</a:t>
            </a:r>
            <a:endParaRPr sz="980" b="0" i="0" u="none" strike="noStrike" cap="none">
              <a:solidFill>
                <a:schemeClr val="dk1"/>
              </a:solidFill>
              <a:latin typeface="Calibri"/>
              <a:ea typeface="Calibri"/>
              <a:cs typeface="Calibri"/>
              <a:sym typeface="Calibri"/>
            </a:endParaRPr>
          </a:p>
        </p:txBody>
      </p:sp>
      <p:sp>
        <p:nvSpPr>
          <p:cNvPr id="1161" name="Google Shape;1161;p44"/>
          <p:cNvSpPr/>
          <p:nvPr/>
        </p:nvSpPr>
        <p:spPr>
          <a:xfrm>
            <a:off x="5303520" y="1115568"/>
            <a:ext cx="1600200" cy="3063300"/>
          </a:xfrm>
          <a:prstGeom prst="rect">
            <a:avLst/>
          </a:prstGeom>
          <a:solidFill>
            <a:srgbClr val="EFF6FF"/>
          </a:solidFill>
          <a:ln w="12700" cap="flat" cmpd="sng">
            <a:solidFill>
              <a:srgbClr val="BFDBF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4"/>
          <p:cNvSpPr/>
          <p:nvPr/>
        </p:nvSpPr>
        <p:spPr>
          <a:xfrm>
            <a:off x="5413248" y="1225296"/>
            <a:ext cx="13806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565C0"/>
              </a:buClr>
              <a:buSzPts val="2800"/>
              <a:buFont typeface="Calibri"/>
              <a:buNone/>
            </a:pPr>
            <a:r>
              <a:rPr lang="en" sz="2800" b="1" i="0" u="none" strike="noStrike" cap="none">
                <a:solidFill>
                  <a:srgbClr val="1565C0"/>
                </a:solidFill>
                <a:latin typeface="Calibri"/>
                <a:ea typeface="Calibri"/>
                <a:cs typeface="Calibri"/>
                <a:sym typeface="Calibri"/>
              </a:rPr>
              <a:t>04</a:t>
            </a:r>
            <a:endParaRPr sz="2800" b="0" i="0" u="none" strike="noStrike" cap="none">
              <a:solidFill>
                <a:schemeClr val="dk1"/>
              </a:solidFill>
              <a:latin typeface="Calibri"/>
              <a:ea typeface="Calibri"/>
              <a:cs typeface="Calibri"/>
              <a:sym typeface="Calibri"/>
            </a:endParaRPr>
          </a:p>
        </p:txBody>
      </p:sp>
      <p:sp>
        <p:nvSpPr>
          <p:cNvPr id="1163" name="Google Shape;1163;p44"/>
          <p:cNvSpPr/>
          <p:nvPr/>
        </p:nvSpPr>
        <p:spPr>
          <a:xfrm>
            <a:off x="5413248" y="1682496"/>
            <a:ext cx="1380600" cy="713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2E"/>
              </a:buClr>
              <a:buSzPts val="1150"/>
              <a:buFont typeface="Calibri"/>
              <a:buNone/>
            </a:pPr>
            <a:r>
              <a:rPr lang="en" sz="1150" b="1" i="0" u="none" strike="noStrike" cap="none">
                <a:solidFill>
                  <a:srgbClr val="1A1A2E"/>
                </a:solidFill>
                <a:latin typeface="Calibri"/>
                <a:ea typeface="Calibri"/>
                <a:cs typeface="Calibri"/>
                <a:sym typeface="Calibri"/>
              </a:rPr>
              <a:t>No Parallelism in Training</a:t>
            </a:r>
            <a:endParaRPr sz="1150" b="0" i="0" u="none" strike="noStrike" cap="none">
              <a:solidFill>
                <a:schemeClr val="dk1"/>
              </a:solidFill>
              <a:latin typeface="Calibri"/>
              <a:ea typeface="Calibri"/>
              <a:cs typeface="Calibri"/>
              <a:sym typeface="Calibri"/>
            </a:endParaRPr>
          </a:p>
        </p:txBody>
      </p:sp>
      <p:sp>
        <p:nvSpPr>
          <p:cNvPr id="1164" name="Google Shape;1164;p44"/>
          <p:cNvSpPr/>
          <p:nvPr/>
        </p:nvSpPr>
        <p:spPr>
          <a:xfrm>
            <a:off x="5413248" y="2414016"/>
            <a:ext cx="1380600" cy="13800"/>
          </a:xfrm>
          <a:prstGeom prst="rect">
            <a:avLst/>
          </a:prstGeom>
          <a:solidFill>
            <a:srgbClr val="BFDBFE"/>
          </a:solidFill>
          <a:ln w="12700" cap="flat" cmpd="sng">
            <a:solidFill>
              <a:srgbClr val="BFDBF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4"/>
          <p:cNvSpPr/>
          <p:nvPr/>
        </p:nvSpPr>
        <p:spPr>
          <a:xfrm>
            <a:off x="5413248" y="2487168"/>
            <a:ext cx="1380600" cy="1572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46E7A"/>
              </a:buClr>
              <a:buSzPts val="980"/>
              <a:buFont typeface="Calibri"/>
              <a:buNone/>
            </a:pPr>
            <a:r>
              <a:rPr lang="en" sz="980" b="0" i="0" u="none" strike="noStrike" cap="none">
                <a:solidFill>
                  <a:srgbClr val="546E7A"/>
                </a:solidFill>
                <a:latin typeface="Calibri"/>
                <a:ea typeface="Calibri"/>
                <a:cs typeface="Calibri"/>
                <a:sym typeface="Calibri"/>
              </a:rPr>
              <a:t>RNNs process tokens sequentially — each step depends on the previous — making them slow to train and difficult to scale.</a:t>
            </a:r>
            <a:endParaRPr sz="980" b="0" i="0" u="none" strike="noStrike" cap="none">
              <a:solidFill>
                <a:schemeClr val="dk1"/>
              </a:solidFill>
              <a:latin typeface="Calibri"/>
              <a:ea typeface="Calibri"/>
              <a:cs typeface="Calibri"/>
              <a:sym typeface="Calibri"/>
            </a:endParaRPr>
          </a:p>
        </p:txBody>
      </p:sp>
      <p:sp>
        <p:nvSpPr>
          <p:cNvPr id="1166" name="Google Shape;1166;p44"/>
          <p:cNvSpPr/>
          <p:nvPr/>
        </p:nvSpPr>
        <p:spPr>
          <a:xfrm>
            <a:off x="6949440" y="1115568"/>
            <a:ext cx="1600200" cy="3063300"/>
          </a:xfrm>
          <a:prstGeom prst="rect">
            <a:avLst/>
          </a:prstGeom>
          <a:solidFill>
            <a:srgbClr val="EFF6FF"/>
          </a:solidFill>
          <a:ln w="12700" cap="flat" cmpd="sng">
            <a:solidFill>
              <a:srgbClr val="BFDBF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4"/>
          <p:cNvSpPr/>
          <p:nvPr/>
        </p:nvSpPr>
        <p:spPr>
          <a:xfrm>
            <a:off x="7059168" y="1225296"/>
            <a:ext cx="1380600" cy="475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565C0"/>
              </a:buClr>
              <a:buSzPts val="2800"/>
              <a:buFont typeface="Calibri"/>
              <a:buNone/>
            </a:pPr>
            <a:r>
              <a:rPr lang="en" sz="2800" b="1" i="0" u="none" strike="noStrike" cap="none">
                <a:solidFill>
                  <a:srgbClr val="1565C0"/>
                </a:solidFill>
                <a:latin typeface="Calibri"/>
                <a:ea typeface="Calibri"/>
                <a:cs typeface="Calibri"/>
                <a:sym typeface="Calibri"/>
              </a:rPr>
              <a:t>05</a:t>
            </a:r>
            <a:endParaRPr sz="2800" b="0" i="0" u="none" strike="noStrike" cap="none">
              <a:solidFill>
                <a:schemeClr val="dk1"/>
              </a:solidFill>
              <a:latin typeface="Calibri"/>
              <a:ea typeface="Calibri"/>
              <a:cs typeface="Calibri"/>
              <a:sym typeface="Calibri"/>
            </a:endParaRPr>
          </a:p>
        </p:txBody>
      </p:sp>
      <p:sp>
        <p:nvSpPr>
          <p:cNvPr id="1168" name="Google Shape;1168;p44"/>
          <p:cNvSpPr/>
          <p:nvPr/>
        </p:nvSpPr>
        <p:spPr>
          <a:xfrm>
            <a:off x="7059168" y="1682496"/>
            <a:ext cx="1380600" cy="713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2E"/>
              </a:buClr>
              <a:buSzPts val="1150"/>
              <a:buFont typeface="Calibri"/>
              <a:buNone/>
            </a:pPr>
            <a:r>
              <a:rPr lang="en" sz="1150" b="1" i="0" u="none" strike="noStrike" cap="none">
                <a:solidFill>
                  <a:srgbClr val="1A1A2E"/>
                </a:solidFill>
                <a:latin typeface="Calibri"/>
                <a:ea typeface="Calibri"/>
                <a:cs typeface="Calibri"/>
                <a:sym typeface="Calibri"/>
              </a:rPr>
              <a:t>Uniform Treatment of Input</a:t>
            </a:r>
            <a:endParaRPr sz="1150" b="0" i="0" u="none" strike="noStrike" cap="none">
              <a:solidFill>
                <a:schemeClr val="dk1"/>
              </a:solidFill>
              <a:latin typeface="Calibri"/>
              <a:ea typeface="Calibri"/>
              <a:cs typeface="Calibri"/>
              <a:sym typeface="Calibri"/>
            </a:endParaRPr>
          </a:p>
        </p:txBody>
      </p:sp>
      <p:sp>
        <p:nvSpPr>
          <p:cNvPr id="1169" name="Google Shape;1169;p44"/>
          <p:cNvSpPr/>
          <p:nvPr/>
        </p:nvSpPr>
        <p:spPr>
          <a:xfrm>
            <a:off x="7059168" y="2414016"/>
            <a:ext cx="1380600" cy="13800"/>
          </a:xfrm>
          <a:prstGeom prst="rect">
            <a:avLst/>
          </a:prstGeom>
          <a:solidFill>
            <a:srgbClr val="BFDBFE"/>
          </a:solidFill>
          <a:ln w="12700" cap="flat" cmpd="sng">
            <a:solidFill>
              <a:srgbClr val="BFDBF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4"/>
          <p:cNvSpPr/>
          <p:nvPr/>
        </p:nvSpPr>
        <p:spPr>
          <a:xfrm>
            <a:off x="7059168" y="2487168"/>
            <a:ext cx="1380600" cy="1572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46E7A"/>
              </a:buClr>
              <a:buSzPts val="980"/>
              <a:buFont typeface="Calibri"/>
              <a:buNone/>
            </a:pPr>
            <a:r>
              <a:rPr lang="en" sz="980" b="0" i="0" u="none" strike="noStrike" cap="none">
                <a:solidFill>
                  <a:srgbClr val="546E7A"/>
                </a:solidFill>
                <a:latin typeface="Calibri"/>
                <a:ea typeface="Calibri"/>
                <a:cs typeface="Calibri"/>
                <a:sym typeface="Calibri"/>
              </a:rPr>
              <a:t>All input tokens were weighted equally when generating output, with no mechanism to selectively focus on what matters most.</a:t>
            </a:r>
            <a:endParaRPr sz="98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4"/>
        <p:cNvGrpSpPr/>
        <p:nvPr/>
      </p:nvGrpSpPr>
      <p:grpSpPr>
        <a:xfrm>
          <a:off x="0" y="0"/>
          <a:ext cx="0" cy="0"/>
          <a:chOff x="0" y="0"/>
          <a:chExt cx="0" cy="0"/>
        </a:xfrm>
      </p:grpSpPr>
      <p:sp>
        <p:nvSpPr>
          <p:cNvPr id="1175" name="Google Shape;1175;p45" descr="$PPTXTitle"/>
          <p:cNvSpPr txBox="1">
            <a:spLocks noGrp="1"/>
          </p:cNvSpPr>
          <p:nvPr>
            <p:ph type="title"/>
          </p:nvPr>
        </p:nvSpPr>
        <p:spPr>
          <a:xfrm>
            <a:off x="1808270" y="443102"/>
            <a:ext cx="7318500" cy="440700"/>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SzPts val="2800"/>
              <a:buNone/>
            </a:pPr>
            <a:r>
              <a:rPr lang="en" sz="2800">
                <a:solidFill>
                  <a:schemeClr val="dk1"/>
                </a:solidFill>
              </a:rPr>
              <a:t>Attention Based Model: Transformer</a:t>
            </a:r>
            <a:endParaRPr sz="2800">
              <a:solidFill>
                <a:schemeClr val="dk1"/>
              </a:solidFill>
            </a:endParaRPr>
          </a:p>
        </p:txBody>
      </p:sp>
      <p:pic>
        <p:nvPicPr>
          <p:cNvPr id="1176" name="Google Shape;1176;p45"/>
          <p:cNvPicPr preferRelativeResize="0"/>
          <p:nvPr/>
        </p:nvPicPr>
        <p:blipFill rotWithShape="1">
          <a:blip r:embed="rId4">
            <a:alphaModFix/>
          </a:blip>
          <a:srcRect/>
          <a:stretch/>
        </p:blipFill>
        <p:spPr>
          <a:xfrm>
            <a:off x="1513332" y="1337309"/>
            <a:ext cx="5689854" cy="3054096"/>
          </a:xfrm>
          <a:prstGeom prst="rect">
            <a:avLst/>
          </a:prstGeom>
          <a:noFill/>
          <a:ln>
            <a:noFill/>
          </a:ln>
        </p:spPr>
      </p:pic>
      <p:sp>
        <p:nvSpPr>
          <p:cNvPr id="1177" name="Google Shape;1177;p45"/>
          <p:cNvSpPr txBox="1"/>
          <p:nvPr/>
        </p:nvSpPr>
        <p:spPr>
          <a:xfrm>
            <a:off x="2647775" y="4756025"/>
            <a:ext cx="3162900" cy="178800"/>
          </a:xfrm>
          <a:prstGeom prst="rect">
            <a:avLst/>
          </a:prstGeom>
          <a:noFill/>
          <a:ln>
            <a:noFill/>
          </a:ln>
        </p:spPr>
        <p:txBody>
          <a:bodyPr spcFirstLastPara="1" wrap="square" lIns="0" tIns="9525" rIns="0" bIns="0" anchor="t" anchorCtr="0">
            <a:spAutoFit/>
          </a:bodyPr>
          <a:lstStyle/>
          <a:p>
            <a:pPr marL="12700" marR="0" lvl="0" indent="0" algn="l" rtl="0">
              <a:lnSpc>
                <a:spcPct val="100000"/>
              </a:lnSpc>
              <a:spcBef>
                <a:spcPts val="0"/>
              </a:spcBef>
              <a:spcAft>
                <a:spcPts val="0"/>
              </a:spcAft>
              <a:buClr>
                <a:srgbClr val="000000"/>
              </a:buClr>
              <a:buSzPts val="1100"/>
              <a:buFont typeface="Arial"/>
              <a:buNone/>
            </a:pPr>
            <a:r>
              <a:rPr lang="en" sz="1100" b="0" i="0" u="sng" strike="noStrike" cap="none">
                <a:solidFill>
                  <a:schemeClr val="hlink"/>
                </a:solidFill>
                <a:latin typeface="Arial"/>
                <a:ea typeface="Arial"/>
                <a:cs typeface="Arial"/>
                <a:sym typeface="Arial"/>
                <a:hlinkClick r:id="rId5"/>
              </a:rPr>
              <a:t>https://www.youtube.com/watch?v=LWMzyfvuehA</a:t>
            </a:r>
            <a:endParaRPr sz="1100" b="0" i="0" u="none" strike="noStrike" cap="none">
              <a:solidFill>
                <a:srgbClr val="000000"/>
              </a:solidFill>
              <a:latin typeface="Arial"/>
              <a:ea typeface="Arial"/>
              <a:cs typeface="Arial"/>
              <a:sym typeface="Arial"/>
            </a:endParaRPr>
          </a:p>
        </p:txBody>
      </p:sp>
      <p:pic>
        <p:nvPicPr>
          <p:cNvPr id="1178" name="Google Shape;1178;p45"/>
          <p:cNvPicPr preferRelativeResize="0"/>
          <p:nvPr/>
        </p:nvPicPr>
        <p:blipFill>
          <a:blip r:embed="rId6">
            <a:alphaModFix/>
          </a:blip>
          <a:stretch>
            <a:fillRect/>
          </a:stretch>
        </p:blipFill>
        <p:spPr>
          <a:xfrm>
            <a:off x="8369125" y="0"/>
            <a:ext cx="774877" cy="8671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183"/>
        <p:cNvGrpSpPr/>
        <p:nvPr/>
      </p:nvGrpSpPr>
      <p:grpSpPr>
        <a:xfrm>
          <a:off x="0" y="0"/>
          <a:ext cx="0" cy="0"/>
          <a:chOff x="0" y="0"/>
          <a:chExt cx="0" cy="0"/>
        </a:xfrm>
      </p:grpSpPr>
      <p:sp>
        <p:nvSpPr>
          <p:cNvPr id="1184" name="Google Shape;1184;p46"/>
          <p:cNvSpPr/>
          <p:nvPr/>
        </p:nvSpPr>
        <p:spPr>
          <a:xfrm>
            <a:off x="457200" y="137160"/>
            <a:ext cx="8229600" cy="502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2E"/>
              </a:buClr>
              <a:buSzPts val="2800"/>
              <a:buFont typeface="Calibri"/>
              <a:buNone/>
            </a:pPr>
            <a:r>
              <a:rPr lang="en" sz="2800" b="1" i="0" u="none" strike="noStrike" cap="none">
                <a:solidFill>
                  <a:srgbClr val="1A1A2E"/>
                </a:solidFill>
                <a:latin typeface="Calibri"/>
                <a:ea typeface="Calibri"/>
                <a:cs typeface="Calibri"/>
                <a:sym typeface="Calibri"/>
              </a:rPr>
              <a:t>Seq2Seq Model with RNN</a:t>
            </a:r>
            <a:endParaRPr sz="2800" b="0" i="0" u="none" strike="noStrike" cap="none">
              <a:solidFill>
                <a:schemeClr val="dk1"/>
              </a:solidFill>
              <a:latin typeface="Calibri"/>
              <a:ea typeface="Calibri"/>
              <a:cs typeface="Calibri"/>
              <a:sym typeface="Calibri"/>
            </a:endParaRPr>
          </a:p>
        </p:txBody>
      </p:sp>
      <p:sp>
        <p:nvSpPr>
          <p:cNvPr id="1185" name="Google Shape;1185;p46"/>
          <p:cNvSpPr/>
          <p:nvPr/>
        </p:nvSpPr>
        <p:spPr>
          <a:xfrm>
            <a:off x="457200" y="621792"/>
            <a:ext cx="82296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46E7A"/>
              </a:buClr>
              <a:buSzPts val="1250"/>
              <a:buFont typeface="Calibri"/>
              <a:buNone/>
            </a:pPr>
            <a:r>
              <a:rPr lang="en" sz="1250" b="0" i="1" u="none" strike="noStrike" cap="none">
                <a:solidFill>
                  <a:srgbClr val="546E7A"/>
                </a:solidFill>
                <a:latin typeface="Calibri"/>
                <a:ea typeface="Calibri"/>
                <a:cs typeface="Calibri"/>
                <a:sym typeface="Calibri"/>
              </a:rPr>
              <a:t>How Encoder–Decoder RNNs process sequences — and where they fall short</a:t>
            </a:r>
            <a:endParaRPr sz="1250" b="0" i="0" u="none" strike="noStrike" cap="none">
              <a:solidFill>
                <a:schemeClr val="dk1"/>
              </a:solidFill>
              <a:latin typeface="Calibri"/>
              <a:ea typeface="Calibri"/>
              <a:cs typeface="Calibri"/>
              <a:sym typeface="Calibri"/>
            </a:endParaRPr>
          </a:p>
        </p:txBody>
      </p:sp>
      <p:sp>
        <p:nvSpPr>
          <p:cNvPr id="1186" name="Google Shape;1186;p46"/>
          <p:cNvSpPr/>
          <p:nvPr/>
        </p:nvSpPr>
        <p:spPr>
          <a:xfrm>
            <a:off x="457200" y="896112"/>
            <a:ext cx="8229600" cy="36600"/>
          </a:xfrm>
          <a:prstGeom prst="rect">
            <a:avLst/>
          </a:prstGeom>
          <a:solidFill>
            <a:srgbClr val="1565C0"/>
          </a:solidFill>
          <a:ln w="12700" cap="flat" cmpd="sng">
            <a:solidFill>
              <a:srgbClr val="1565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87" name="Google Shape;1187;p46" descr="preencoded.png"/>
          <p:cNvPicPr preferRelativeResize="0"/>
          <p:nvPr/>
        </p:nvPicPr>
        <p:blipFill rotWithShape="1">
          <a:blip r:embed="rId3">
            <a:alphaModFix/>
          </a:blip>
          <a:srcRect/>
          <a:stretch/>
        </p:blipFill>
        <p:spPr>
          <a:xfrm>
            <a:off x="274320" y="960120"/>
            <a:ext cx="8595359" cy="2286001"/>
          </a:xfrm>
          <a:prstGeom prst="rect">
            <a:avLst/>
          </a:prstGeom>
          <a:noFill/>
          <a:ln>
            <a:noFill/>
          </a:ln>
        </p:spPr>
      </p:pic>
      <p:sp>
        <p:nvSpPr>
          <p:cNvPr id="1188" name="Google Shape;1188;p46"/>
          <p:cNvSpPr/>
          <p:nvPr/>
        </p:nvSpPr>
        <p:spPr>
          <a:xfrm>
            <a:off x="365760" y="3337560"/>
            <a:ext cx="1965900" cy="822900"/>
          </a:xfrm>
          <a:prstGeom prst="rect">
            <a:avLst/>
          </a:prstGeom>
          <a:solidFill>
            <a:srgbClr val="EFF6FF"/>
          </a:solidFill>
          <a:ln w="12700" cap="flat" cmpd="sng">
            <a:solidFill>
              <a:srgbClr val="BFDBF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6"/>
          <p:cNvSpPr/>
          <p:nvPr/>
        </p:nvSpPr>
        <p:spPr>
          <a:xfrm>
            <a:off x="475488" y="3410712"/>
            <a:ext cx="1746600" cy="69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565C0"/>
              </a:buClr>
              <a:buSzPts val="1200"/>
              <a:buFont typeface="Calibri"/>
              <a:buNone/>
            </a:pPr>
            <a:r>
              <a:rPr lang="en" sz="1200" b="1" i="0" u="none" strike="noStrike" cap="none">
                <a:solidFill>
                  <a:srgbClr val="1565C0"/>
                </a:solidFill>
                <a:latin typeface="Calibri"/>
                <a:ea typeface="Calibri"/>
                <a:cs typeface="Calibri"/>
                <a:sym typeface="Calibri"/>
              </a:rPr>
              <a:t>①  </a:t>
            </a:r>
            <a:r>
              <a:rPr lang="en" sz="950" b="0" i="0" u="none" strike="noStrike" cap="none">
                <a:solidFill>
                  <a:srgbClr val="546E7A"/>
                </a:solidFill>
                <a:latin typeface="Calibri"/>
                <a:ea typeface="Calibri"/>
                <a:cs typeface="Calibri"/>
                <a:sym typeface="Calibri"/>
              </a:rPr>
              <a:t>Encoder reads input tokens step-by-step, updating its hidden state at each token.</a:t>
            </a:r>
            <a:endParaRPr sz="1200" b="0" i="0" u="none" strike="noStrike" cap="none">
              <a:solidFill>
                <a:schemeClr val="dk1"/>
              </a:solidFill>
              <a:latin typeface="Calibri"/>
              <a:ea typeface="Calibri"/>
              <a:cs typeface="Calibri"/>
              <a:sym typeface="Calibri"/>
            </a:endParaRPr>
          </a:p>
        </p:txBody>
      </p:sp>
      <p:sp>
        <p:nvSpPr>
          <p:cNvPr id="1190" name="Google Shape;1190;p46"/>
          <p:cNvSpPr/>
          <p:nvPr/>
        </p:nvSpPr>
        <p:spPr>
          <a:xfrm>
            <a:off x="2395728" y="3337560"/>
            <a:ext cx="1965900" cy="822900"/>
          </a:xfrm>
          <a:prstGeom prst="rect">
            <a:avLst/>
          </a:prstGeom>
          <a:solidFill>
            <a:srgbClr val="EFF6FF"/>
          </a:solidFill>
          <a:ln w="12700" cap="flat" cmpd="sng">
            <a:solidFill>
              <a:srgbClr val="BFDBF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6"/>
          <p:cNvSpPr/>
          <p:nvPr/>
        </p:nvSpPr>
        <p:spPr>
          <a:xfrm>
            <a:off x="2505456" y="3410712"/>
            <a:ext cx="1746600" cy="69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565C0"/>
              </a:buClr>
              <a:buSzPts val="1200"/>
              <a:buFont typeface="Calibri"/>
              <a:buNone/>
            </a:pPr>
            <a:r>
              <a:rPr lang="en" sz="1200" b="1" i="0" u="none" strike="noStrike" cap="none">
                <a:solidFill>
                  <a:srgbClr val="1565C0"/>
                </a:solidFill>
                <a:latin typeface="Calibri"/>
                <a:ea typeface="Calibri"/>
                <a:cs typeface="Calibri"/>
                <a:sym typeface="Calibri"/>
              </a:rPr>
              <a:t>②  </a:t>
            </a:r>
            <a:r>
              <a:rPr lang="en" sz="950" b="0" i="0" u="none" strike="noStrike" cap="none">
                <a:solidFill>
                  <a:srgbClr val="546E7A"/>
                </a:solidFill>
                <a:latin typeface="Calibri"/>
                <a:ea typeface="Calibri"/>
                <a:cs typeface="Calibri"/>
                <a:sym typeface="Calibri"/>
              </a:rPr>
              <a:t>The final hidden state becomes the Context Vector — a single fixed-size summary of all input.</a:t>
            </a:r>
            <a:endParaRPr sz="1200" b="0" i="0" u="none" strike="noStrike" cap="none">
              <a:solidFill>
                <a:schemeClr val="dk1"/>
              </a:solidFill>
              <a:latin typeface="Calibri"/>
              <a:ea typeface="Calibri"/>
              <a:cs typeface="Calibri"/>
              <a:sym typeface="Calibri"/>
            </a:endParaRPr>
          </a:p>
        </p:txBody>
      </p:sp>
      <p:sp>
        <p:nvSpPr>
          <p:cNvPr id="1192" name="Google Shape;1192;p46"/>
          <p:cNvSpPr/>
          <p:nvPr/>
        </p:nvSpPr>
        <p:spPr>
          <a:xfrm>
            <a:off x="4425696" y="3337560"/>
            <a:ext cx="1965900" cy="822900"/>
          </a:xfrm>
          <a:prstGeom prst="rect">
            <a:avLst/>
          </a:prstGeom>
          <a:solidFill>
            <a:srgbClr val="EFF6FF"/>
          </a:solidFill>
          <a:ln w="12700" cap="flat" cmpd="sng">
            <a:solidFill>
              <a:srgbClr val="BFDBF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6"/>
          <p:cNvSpPr/>
          <p:nvPr/>
        </p:nvSpPr>
        <p:spPr>
          <a:xfrm>
            <a:off x="4535424" y="3410712"/>
            <a:ext cx="1746600" cy="69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565C0"/>
              </a:buClr>
              <a:buSzPts val="1200"/>
              <a:buFont typeface="Calibri"/>
              <a:buNone/>
            </a:pPr>
            <a:r>
              <a:rPr lang="en" sz="1200" b="1" i="0" u="none" strike="noStrike" cap="none">
                <a:solidFill>
                  <a:srgbClr val="1565C0"/>
                </a:solidFill>
                <a:latin typeface="Calibri"/>
                <a:ea typeface="Calibri"/>
                <a:cs typeface="Calibri"/>
                <a:sym typeface="Calibri"/>
              </a:rPr>
              <a:t>③  </a:t>
            </a:r>
            <a:r>
              <a:rPr lang="en" sz="950" b="0" i="0" u="none" strike="noStrike" cap="none">
                <a:solidFill>
                  <a:srgbClr val="546E7A"/>
                </a:solidFill>
                <a:latin typeface="Calibri"/>
                <a:ea typeface="Calibri"/>
                <a:cs typeface="Calibri"/>
                <a:sym typeface="Calibri"/>
              </a:rPr>
              <a:t>The Decoder generates output tokens one at a time, conditioned only on this one context vector.</a:t>
            </a:r>
            <a:endParaRPr sz="1200" b="0" i="0" u="none" strike="noStrike" cap="none">
              <a:solidFill>
                <a:schemeClr val="dk1"/>
              </a:solidFill>
              <a:latin typeface="Calibri"/>
              <a:ea typeface="Calibri"/>
              <a:cs typeface="Calibri"/>
              <a:sym typeface="Calibri"/>
            </a:endParaRPr>
          </a:p>
        </p:txBody>
      </p:sp>
      <p:sp>
        <p:nvSpPr>
          <p:cNvPr id="1194" name="Google Shape;1194;p46"/>
          <p:cNvSpPr/>
          <p:nvPr/>
        </p:nvSpPr>
        <p:spPr>
          <a:xfrm>
            <a:off x="6455664" y="3337560"/>
            <a:ext cx="1965900" cy="822900"/>
          </a:xfrm>
          <a:prstGeom prst="rect">
            <a:avLst/>
          </a:prstGeom>
          <a:solidFill>
            <a:srgbClr val="FFF7ED"/>
          </a:solidFill>
          <a:ln w="254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6"/>
          <p:cNvSpPr/>
          <p:nvPr/>
        </p:nvSpPr>
        <p:spPr>
          <a:xfrm>
            <a:off x="6565392" y="3410712"/>
            <a:ext cx="1746600" cy="69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EA580C"/>
              </a:buClr>
              <a:buSzPts val="1200"/>
              <a:buFont typeface="Calibri"/>
              <a:buNone/>
            </a:pPr>
            <a:r>
              <a:rPr lang="en" sz="1200" b="1" i="0" u="none" strike="noStrike" cap="none">
                <a:solidFill>
                  <a:srgbClr val="EA580C"/>
                </a:solidFill>
                <a:latin typeface="Calibri"/>
                <a:ea typeface="Calibri"/>
                <a:cs typeface="Calibri"/>
                <a:sym typeface="Calibri"/>
              </a:rPr>
              <a:t>⚠  </a:t>
            </a:r>
            <a:r>
              <a:rPr lang="en" sz="950" b="0" i="0" u="none" strike="noStrike" cap="none">
                <a:solidFill>
                  <a:srgbClr val="546E7A"/>
                </a:solidFill>
                <a:latin typeface="Calibri"/>
                <a:ea typeface="Calibri"/>
                <a:cs typeface="Calibri"/>
                <a:sym typeface="Calibri"/>
              </a:rPr>
              <a:t>Key flaw: all input information is forced through one bottleneck vector, losing detail for long sequences.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200"/>
        <p:cNvGrpSpPr/>
        <p:nvPr/>
      </p:nvGrpSpPr>
      <p:grpSpPr>
        <a:xfrm>
          <a:off x="0" y="0"/>
          <a:ext cx="0" cy="0"/>
          <a:chOff x="0" y="0"/>
          <a:chExt cx="0" cy="0"/>
        </a:xfrm>
      </p:grpSpPr>
      <p:sp>
        <p:nvSpPr>
          <p:cNvPr id="1201" name="Google Shape;1201;p47"/>
          <p:cNvSpPr/>
          <p:nvPr/>
        </p:nvSpPr>
        <p:spPr>
          <a:xfrm>
            <a:off x="457200" y="137160"/>
            <a:ext cx="8229600" cy="502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2E"/>
              </a:buClr>
              <a:buSzPts val="2800"/>
              <a:buFont typeface="Calibri"/>
              <a:buNone/>
            </a:pPr>
            <a:r>
              <a:rPr lang="en" sz="2800" b="1" i="0" u="none" strike="noStrike" cap="none">
                <a:solidFill>
                  <a:srgbClr val="1A1A2E"/>
                </a:solidFill>
                <a:latin typeface="Calibri"/>
                <a:ea typeface="Calibri"/>
                <a:cs typeface="Calibri"/>
                <a:sym typeface="Calibri"/>
              </a:rPr>
              <a:t>Seq2Seq with Attention Layer</a:t>
            </a:r>
            <a:endParaRPr sz="2800" b="0" i="0" u="none" strike="noStrike" cap="none">
              <a:solidFill>
                <a:schemeClr val="dk1"/>
              </a:solidFill>
              <a:latin typeface="Calibri"/>
              <a:ea typeface="Calibri"/>
              <a:cs typeface="Calibri"/>
              <a:sym typeface="Calibri"/>
            </a:endParaRPr>
          </a:p>
        </p:txBody>
      </p:sp>
      <p:sp>
        <p:nvSpPr>
          <p:cNvPr id="1202" name="Google Shape;1202;p47"/>
          <p:cNvSpPr/>
          <p:nvPr/>
        </p:nvSpPr>
        <p:spPr>
          <a:xfrm>
            <a:off x="457200" y="621792"/>
            <a:ext cx="82296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46E7A"/>
              </a:buClr>
              <a:buSzPts val="1250"/>
              <a:buFont typeface="Calibri"/>
              <a:buNone/>
            </a:pPr>
            <a:r>
              <a:rPr lang="en" sz="1250" b="0" i="1" u="none" strike="noStrike" cap="none">
                <a:solidFill>
                  <a:srgbClr val="546E7A"/>
                </a:solidFill>
                <a:latin typeface="Calibri"/>
                <a:ea typeface="Calibri"/>
                <a:cs typeface="Calibri"/>
                <a:sym typeface="Calibri"/>
              </a:rPr>
              <a:t>How the Attention mechanism transforms the Encoder–Decoder architecture</a:t>
            </a:r>
            <a:endParaRPr sz="1250" b="0" i="0" u="none" strike="noStrike" cap="none">
              <a:solidFill>
                <a:schemeClr val="dk1"/>
              </a:solidFill>
              <a:latin typeface="Calibri"/>
              <a:ea typeface="Calibri"/>
              <a:cs typeface="Calibri"/>
              <a:sym typeface="Calibri"/>
            </a:endParaRPr>
          </a:p>
        </p:txBody>
      </p:sp>
      <p:sp>
        <p:nvSpPr>
          <p:cNvPr id="1203" name="Google Shape;1203;p47"/>
          <p:cNvSpPr/>
          <p:nvPr/>
        </p:nvSpPr>
        <p:spPr>
          <a:xfrm>
            <a:off x="457200" y="896112"/>
            <a:ext cx="8229600" cy="36600"/>
          </a:xfrm>
          <a:prstGeom prst="rect">
            <a:avLst/>
          </a:prstGeom>
          <a:solidFill>
            <a:srgbClr val="7B1FA2"/>
          </a:solidFill>
          <a:ln w="12700" cap="flat" cmpd="sng">
            <a:solidFill>
              <a:srgbClr val="7B1FA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04" name="Google Shape;1204;p47" descr="preencoded.png"/>
          <p:cNvPicPr preferRelativeResize="0"/>
          <p:nvPr/>
        </p:nvPicPr>
        <p:blipFill rotWithShape="1">
          <a:blip r:embed="rId3">
            <a:alphaModFix/>
          </a:blip>
          <a:srcRect/>
          <a:stretch/>
        </p:blipFill>
        <p:spPr>
          <a:xfrm>
            <a:off x="274320" y="960120"/>
            <a:ext cx="8595359" cy="2285999"/>
          </a:xfrm>
          <a:prstGeom prst="rect">
            <a:avLst/>
          </a:prstGeom>
          <a:noFill/>
          <a:ln>
            <a:noFill/>
          </a:ln>
        </p:spPr>
      </p:pic>
      <p:sp>
        <p:nvSpPr>
          <p:cNvPr id="1205" name="Google Shape;1205;p47"/>
          <p:cNvSpPr/>
          <p:nvPr/>
        </p:nvSpPr>
        <p:spPr>
          <a:xfrm>
            <a:off x="365760" y="3337560"/>
            <a:ext cx="1965900" cy="822900"/>
          </a:xfrm>
          <a:prstGeom prst="rect">
            <a:avLst/>
          </a:prstGeom>
          <a:solidFill>
            <a:srgbClr val="EFF6FF"/>
          </a:solidFill>
          <a:ln w="12700" cap="flat" cmpd="sng">
            <a:solidFill>
              <a:srgbClr val="C4B5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7"/>
          <p:cNvSpPr/>
          <p:nvPr/>
        </p:nvSpPr>
        <p:spPr>
          <a:xfrm>
            <a:off x="365760" y="3337560"/>
            <a:ext cx="1965900" cy="41100"/>
          </a:xfrm>
          <a:prstGeom prst="rect">
            <a:avLst/>
          </a:prstGeom>
          <a:solidFill>
            <a:srgbClr val="1565C0"/>
          </a:solidFill>
          <a:ln w="12700" cap="flat" cmpd="sng">
            <a:solidFill>
              <a:srgbClr val="1565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7"/>
          <p:cNvSpPr/>
          <p:nvPr/>
        </p:nvSpPr>
        <p:spPr>
          <a:xfrm>
            <a:off x="475488" y="3410712"/>
            <a:ext cx="1746600" cy="69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565C0"/>
              </a:buClr>
              <a:buSzPts val="1100"/>
              <a:buFont typeface="Calibri"/>
              <a:buNone/>
            </a:pPr>
            <a:r>
              <a:rPr lang="en" sz="1100" b="1" i="0" u="none" strike="noStrike" cap="none">
                <a:solidFill>
                  <a:srgbClr val="1565C0"/>
                </a:solidFill>
                <a:latin typeface="Calibri"/>
                <a:ea typeface="Calibri"/>
                <a:cs typeface="Calibri"/>
                <a:sym typeface="Calibri"/>
              </a:rPr>
              <a:t>①  </a:t>
            </a:r>
            <a:r>
              <a:rPr lang="en" sz="950" b="1" i="0" u="none" strike="noStrike" cap="none">
                <a:solidFill>
                  <a:srgbClr val="1A1A2E"/>
                </a:solidFill>
                <a:latin typeface="Calibri"/>
                <a:ea typeface="Calibri"/>
                <a:cs typeface="Calibri"/>
                <a:sym typeface="Calibri"/>
              </a:rPr>
              <a:t>All hidden states retained</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900"/>
              <a:buFont typeface="Calibri"/>
              <a:buNone/>
            </a:pPr>
            <a:r>
              <a:rPr lang="en" sz="900" b="0" i="0" u="none" strike="noStrike" cap="none">
                <a:solidFill>
                  <a:srgbClr val="546E7A"/>
                </a:solidFill>
                <a:latin typeface="Calibri"/>
                <a:ea typeface="Calibri"/>
                <a:cs typeface="Calibri"/>
                <a:sym typeface="Calibri"/>
              </a:rPr>
              <a:t>Instead of a single final vector, all encoder hidden states h₁…hₙ are passed forward.</a:t>
            </a:r>
            <a:endParaRPr sz="1100" b="0" i="0" u="none" strike="noStrike" cap="none">
              <a:solidFill>
                <a:schemeClr val="dk1"/>
              </a:solidFill>
              <a:latin typeface="Calibri"/>
              <a:ea typeface="Calibri"/>
              <a:cs typeface="Calibri"/>
              <a:sym typeface="Calibri"/>
            </a:endParaRPr>
          </a:p>
        </p:txBody>
      </p:sp>
      <p:sp>
        <p:nvSpPr>
          <p:cNvPr id="1208" name="Google Shape;1208;p47"/>
          <p:cNvSpPr/>
          <p:nvPr/>
        </p:nvSpPr>
        <p:spPr>
          <a:xfrm>
            <a:off x="2395728" y="3337560"/>
            <a:ext cx="1965900" cy="822900"/>
          </a:xfrm>
          <a:prstGeom prst="rect">
            <a:avLst/>
          </a:prstGeom>
          <a:solidFill>
            <a:srgbClr val="EFF6FF"/>
          </a:solidFill>
          <a:ln w="12700" cap="flat" cmpd="sng">
            <a:solidFill>
              <a:srgbClr val="C4B5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7"/>
          <p:cNvSpPr/>
          <p:nvPr/>
        </p:nvSpPr>
        <p:spPr>
          <a:xfrm>
            <a:off x="2395728" y="3337560"/>
            <a:ext cx="1965900" cy="41100"/>
          </a:xfrm>
          <a:prstGeom prst="rect">
            <a:avLst/>
          </a:prstGeom>
          <a:solidFill>
            <a:srgbClr val="7B1FA2"/>
          </a:solidFill>
          <a:ln w="12700" cap="flat" cmpd="sng">
            <a:solidFill>
              <a:srgbClr val="7B1FA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7"/>
          <p:cNvSpPr/>
          <p:nvPr/>
        </p:nvSpPr>
        <p:spPr>
          <a:xfrm>
            <a:off x="2505456" y="3410712"/>
            <a:ext cx="1746600" cy="69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7B1FA2"/>
              </a:buClr>
              <a:buSzPts val="1100"/>
              <a:buFont typeface="Calibri"/>
              <a:buNone/>
            </a:pPr>
            <a:r>
              <a:rPr lang="en" sz="1100" b="1" i="0" u="none" strike="noStrike" cap="none">
                <a:solidFill>
                  <a:srgbClr val="7B1FA2"/>
                </a:solidFill>
                <a:latin typeface="Calibri"/>
                <a:ea typeface="Calibri"/>
                <a:cs typeface="Calibri"/>
                <a:sym typeface="Calibri"/>
              </a:rPr>
              <a:t>②  </a:t>
            </a:r>
            <a:r>
              <a:rPr lang="en" sz="950" b="1" i="0" u="none" strike="noStrike" cap="none">
                <a:solidFill>
                  <a:srgbClr val="1A1A2E"/>
                </a:solidFill>
                <a:latin typeface="Calibri"/>
                <a:ea typeface="Calibri"/>
                <a:cs typeface="Calibri"/>
                <a:sym typeface="Calibri"/>
              </a:rPr>
              <a:t>Dynamic context per step</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900"/>
              <a:buFont typeface="Calibri"/>
              <a:buNone/>
            </a:pPr>
            <a:r>
              <a:rPr lang="en" sz="900" b="0" i="0" u="none" strike="noStrike" cap="none">
                <a:solidFill>
                  <a:srgbClr val="546E7A"/>
                </a:solidFill>
                <a:latin typeface="Calibri"/>
                <a:ea typeface="Calibri"/>
                <a:cs typeface="Calibri"/>
                <a:sym typeface="Calibri"/>
              </a:rPr>
              <a:t>Attention computes a weighted sum (αᵢ) of encoder states for each decoder step.</a:t>
            </a:r>
            <a:endParaRPr sz="1100" b="0" i="0" u="none" strike="noStrike" cap="none">
              <a:solidFill>
                <a:schemeClr val="dk1"/>
              </a:solidFill>
              <a:latin typeface="Calibri"/>
              <a:ea typeface="Calibri"/>
              <a:cs typeface="Calibri"/>
              <a:sym typeface="Calibri"/>
            </a:endParaRPr>
          </a:p>
        </p:txBody>
      </p:sp>
      <p:sp>
        <p:nvSpPr>
          <p:cNvPr id="1211" name="Google Shape;1211;p47"/>
          <p:cNvSpPr/>
          <p:nvPr/>
        </p:nvSpPr>
        <p:spPr>
          <a:xfrm>
            <a:off x="4425696" y="3337560"/>
            <a:ext cx="1965900" cy="822900"/>
          </a:xfrm>
          <a:prstGeom prst="rect">
            <a:avLst/>
          </a:prstGeom>
          <a:solidFill>
            <a:srgbClr val="EFF6FF"/>
          </a:solidFill>
          <a:ln w="12700" cap="flat" cmpd="sng">
            <a:solidFill>
              <a:srgbClr val="C4B5F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7"/>
          <p:cNvSpPr/>
          <p:nvPr/>
        </p:nvSpPr>
        <p:spPr>
          <a:xfrm>
            <a:off x="4425696" y="3337560"/>
            <a:ext cx="1965900" cy="41100"/>
          </a:xfrm>
          <a:prstGeom prst="rect">
            <a:avLst/>
          </a:prstGeom>
          <a:solidFill>
            <a:srgbClr val="E65100"/>
          </a:solidFill>
          <a:ln w="12700" cap="flat" cmpd="sng">
            <a:solidFill>
              <a:srgbClr val="E65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7"/>
          <p:cNvSpPr/>
          <p:nvPr/>
        </p:nvSpPr>
        <p:spPr>
          <a:xfrm>
            <a:off x="4535424" y="3410712"/>
            <a:ext cx="1746600" cy="69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E65100"/>
              </a:buClr>
              <a:buSzPts val="1100"/>
              <a:buFont typeface="Calibri"/>
              <a:buNone/>
            </a:pPr>
            <a:r>
              <a:rPr lang="en" sz="1100" b="1" i="0" u="none" strike="noStrike" cap="none">
                <a:solidFill>
                  <a:srgbClr val="E65100"/>
                </a:solidFill>
                <a:latin typeface="Calibri"/>
                <a:ea typeface="Calibri"/>
                <a:cs typeface="Calibri"/>
                <a:sym typeface="Calibri"/>
              </a:rPr>
              <a:t>③  </a:t>
            </a:r>
            <a:r>
              <a:rPr lang="en" sz="950" b="1" i="0" u="none" strike="noStrike" cap="none">
                <a:solidFill>
                  <a:srgbClr val="1A1A2E"/>
                </a:solidFill>
                <a:latin typeface="Calibri"/>
                <a:ea typeface="Calibri"/>
                <a:cs typeface="Calibri"/>
                <a:sym typeface="Calibri"/>
              </a:rPr>
              <a:t>Context cₜ recomputed</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900"/>
              <a:buFont typeface="Calibri"/>
              <a:buNone/>
            </a:pPr>
            <a:r>
              <a:rPr lang="en" sz="900" b="0" i="0" u="none" strike="noStrike" cap="none">
                <a:solidFill>
                  <a:srgbClr val="546E7A"/>
                </a:solidFill>
                <a:latin typeface="Calibri"/>
                <a:ea typeface="Calibri"/>
                <a:cs typeface="Calibri"/>
                <a:sym typeface="Calibri"/>
              </a:rPr>
              <a:t>A fresh context vector cₜ is computed at every decoder timestep, focusing on what's relevant.</a:t>
            </a:r>
            <a:endParaRPr sz="1100" b="0" i="0" u="none" strike="noStrike" cap="none">
              <a:solidFill>
                <a:schemeClr val="dk1"/>
              </a:solidFill>
              <a:latin typeface="Calibri"/>
              <a:ea typeface="Calibri"/>
              <a:cs typeface="Calibri"/>
              <a:sym typeface="Calibri"/>
            </a:endParaRPr>
          </a:p>
        </p:txBody>
      </p:sp>
      <p:sp>
        <p:nvSpPr>
          <p:cNvPr id="1214" name="Google Shape;1214;p47"/>
          <p:cNvSpPr/>
          <p:nvPr/>
        </p:nvSpPr>
        <p:spPr>
          <a:xfrm>
            <a:off x="6455664" y="3337560"/>
            <a:ext cx="1965900" cy="822900"/>
          </a:xfrm>
          <a:prstGeom prst="rect">
            <a:avLst/>
          </a:prstGeom>
          <a:solidFill>
            <a:srgbClr val="F0FDF4"/>
          </a:solidFill>
          <a:ln w="254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7"/>
          <p:cNvSpPr/>
          <p:nvPr/>
        </p:nvSpPr>
        <p:spPr>
          <a:xfrm>
            <a:off x="6455664" y="3337560"/>
            <a:ext cx="1965900" cy="41100"/>
          </a:xfrm>
          <a:prstGeom prst="rect">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7"/>
          <p:cNvSpPr/>
          <p:nvPr/>
        </p:nvSpPr>
        <p:spPr>
          <a:xfrm>
            <a:off x="6565392" y="3410712"/>
            <a:ext cx="1746600" cy="69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E7D32"/>
              </a:buClr>
              <a:buSzPts val="1100"/>
              <a:buFont typeface="Calibri"/>
              <a:buNone/>
            </a:pPr>
            <a:r>
              <a:rPr lang="en" sz="1100" b="1" i="0" u="none" strike="noStrike" cap="none">
                <a:solidFill>
                  <a:srgbClr val="2E7D32"/>
                </a:solidFill>
                <a:latin typeface="Calibri"/>
                <a:ea typeface="Calibri"/>
                <a:cs typeface="Calibri"/>
                <a:sym typeface="Calibri"/>
              </a:rPr>
              <a:t>✓  </a:t>
            </a:r>
            <a:r>
              <a:rPr lang="en" sz="950" b="1" i="0" u="none" strike="noStrike" cap="none">
                <a:solidFill>
                  <a:srgbClr val="1A1A2E"/>
                </a:solidFill>
                <a:latin typeface="Calibri"/>
                <a:ea typeface="Calibri"/>
                <a:cs typeface="Calibri"/>
                <a:sym typeface="Calibri"/>
              </a:rPr>
              <a:t>Bottleneck eliminated</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900"/>
              <a:buFont typeface="Calibri"/>
              <a:buNone/>
            </a:pPr>
            <a:r>
              <a:rPr lang="en" sz="900" b="0" i="0" u="none" strike="noStrike" cap="none">
                <a:solidFill>
                  <a:srgbClr val="546E7A"/>
                </a:solidFill>
                <a:latin typeface="Calibri"/>
                <a:ea typeface="Calibri"/>
                <a:cs typeface="Calibri"/>
                <a:sym typeface="Calibri"/>
              </a:rPr>
              <a:t>Long-range dependencies are captured directly — no information is lost through a single vector.</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20"/>
        <p:cNvGrpSpPr/>
        <p:nvPr/>
      </p:nvGrpSpPr>
      <p:grpSpPr>
        <a:xfrm>
          <a:off x="0" y="0"/>
          <a:ext cx="0" cy="0"/>
          <a:chOff x="0" y="0"/>
          <a:chExt cx="0" cy="0"/>
        </a:xfrm>
      </p:grpSpPr>
      <p:grpSp>
        <p:nvGrpSpPr>
          <p:cNvPr id="1221" name="Google Shape;1221;p48"/>
          <p:cNvGrpSpPr/>
          <p:nvPr/>
        </p:nvGrpSpPr>
        <p:grpSpPr>
          <a:xfrm>
            <a:off x="63513" y="882396"/>
            <a:ext cx="9141714" cy="3378707"/>
            <a:chOff x="0" y="1377695"/>
            <a:chExt cx="12188952" cy="4504943"/>
          </a:xfrm>
        </p:grpSpPr>
        <p:pic>
          <p:nvPicPr>
            <p:cNvPr id="1222" name="Google Shape;1222;p48"/>
            <p:cNvPicPr preferRelativeResize="0"/>
            <p:nvPr/>
          </p:nvPicPr>
          <p:blipFill rotWithShape="1">
            <a:blip r:embed="rId4">
              <a:alphaModFix/>
            </a:blip>
            <a:srcRect/>
            <a:stretch/>
          </p:blipFill>
          <p:spPr>
            <a:xfrm>
              <a:off x="0" y="1377695"/>
              <a:ext cx="7985763" cy="4504943"/>
            </a:xfrm>
            <a:prstGeom prst="rect">
              <a:avLst/>
            </a:prstGeom>
            <a:noFill/>
            <a:ln>
              <a:noFill/>
            </a:ln>
          </p:spPr>
        </p:pic>
        <p:pic>
          <p:nvPicPr>
            <p:cNvPr id="1223" name="Google Shape;1223;p48"/>
            <p:cNvPicPr preferRelativeResize="0"/>
            <p:nvPr/>
          </p:nvPicPr>
          <p:blipFill rotWithShape="1">
            <a:blip r:embed="rId5">
              <a:alphaModFix/>
            </a:blip>
            <a:srcRect/>
            <a:stretch/>
          </p:blipFill>
          <p:spPr>
            <a:xfrm>
              <a:off x="49589" y="1573833"/>
              <a:ext cx="7543904" cy="3915279"/>
            </a:xfrm>
            <a:prstGeom prst="rect">
              <a:avLst/>
            </a:prstGeom>
            <a:noFill/>
            <a:ln>
              <a:noFill/>
            </a:ln>
          </p:spPr>
        </p:pic>
        <p:pic>
          <p:nvPicPr>
            <p:cNvPr id="1224" name="Google Shape;1224;p48"/>
            <p:cNvPicPr preferRelativeResize="0"/>
            <p:nvPr/>
          </p:nvPicPr>
          <p:blipFill rotWithShape="1">
            <a:blip r:embed="rId6">
              <a:alphaModFix/>
            </a:blip>
            <a:srcRect/>
            <a:stretch/>
          </p:blipFill>
          <p:spPr>
            <a:xfrm>
              <a:off x="7467600" y="1950719"/>
              <a:ext cx="4721352" cy="3361944"/>
            </a:xfrm>
            <a:prstGeom prst="rect">
              <a:avLst/>
            </a:prstGeom>
            <a:noFill/>
            <a:ln>
              <a:noFill/>
            </a:ln>
          </p:spPr>
        </p:pic>
        <p:pic>
          <p:nvPicPr>
            <p:cNvPr id="1225" name="Google Shape;1225;p48"/>
            <p:cNvPicPr preferRelativeResize="0"/>
            <p:nvPr/>
          </p:nvPicPr>
          <p:blipFill rotWithShape="1">
            <a:blip r:embed="rId7">
              <a:alphaModFix/>
            </a:blip>
            <a:srcRect/>
            <a:stretch/>
          </p:blipFill>
          <p:spPr>
            <a:xfrm>
              <a:off x="7662331" y="2145328"/>
              <a:ext cx="4440323" cy="2774546"/>
            </a:xfrm>
            <a:prstGeom prst="rect">
              <a:avLst/>
            </a:prstGeom>
            <a:noFill/>
            <a:ln>
              <a:noFill/>
            </a:ln>
          </p:spPr>
        </p:pic>
      </p:grpSp>
      <p:sp>
        <p:nvSpPr>
          <p:cNvPr id="1226" name="Google Shape;1226;p48" descr="$PPTXTitle"/>
          <p:cNvSpPr txBox="1">
            <a:spLocks noGrp="1"/>
          </p:cNvSpPr>
          <p:nvPr>
            <p:ph type="title"/>
          </p:nvPr>
        </p:nvSpPr>
        <p:spPr>
          <a:xfrm>
            <a:off x="457200" y="205978"/>
            <a:ext cx="8229600" cy="440700"/>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SzPts val="1800"/>
              <a:buNone/>
            </a:pPr>
            <a:r>
              <a:rPr lang="en"/>
              <a:t>The Attention Idea</a:t>
            </a:r>
            <a:endParaRPr/>
          </a:p>
        </p:txBody>
      </p:sp>
      <p:sp>
        <p:nvSpPr>
          <p:cNvPr id="1227" name="Google Shape;1227;p48"/>
          <p:cNvSpPr txBox="1"/>
          <p:nvPr/>
        </p:nvSpPr>
        <p:spPr>
          <a:xfrm>
            <a:off x="793922" y="4182237"/>
            <a:ext cx="7680900" cy="815100"/>
          </a:xfrm>
          <a:prstGeom prst="rect">
            <a:avLst/>
          </a:prstGeom>
          <a:noFill/>
          <a:ln>
            <a:noFill/>
          </a:ln>
        </p:spPr>
        <p:txBody>
          <a:bodyPr spcFirstLastPara="1" wrap="square" lIns="0" tIns="9525" rIns="0" bIns="0" anchor="t" anchorCtr="0">
            <a:spAutoFit/>
          </a:bodyPr>
          <a:lstStyle/>
          <a:p>
            <a:pPr marL="12700" marR="838200" lvl="0" indent="0" algn="l" rtl="0">
              <a:lnSpc>
                <a:spcPct val="100000"/>
              </a:lnSpc>
              <a:spcBef>
                <a:spcPts val="0"/>
              </a:spcBef>
              <a:spcAft>
                <a:spcPts val="0"/>
              </a:spcAft>
              <a:buClr>
                <a:srgbClr val="000000"/>
              </a:buClr>
              <a:buSzPts val="1500"/>
              <a:buFont typeface="Arial"/>
              <a:buNone/>
            </a:pPr>
            <a:r>
              <a:rPr lang="en" sz="1700" i="0" u="none" strike="noStrike" cap="none">
                <a:solidFill>
                  <a:srgbClr val="000000"/>
                </a:solidFill>
                <a:latin typeface="Calibri"/>
                <a:ea typeface="Calibri"/>
                <a:cs typeface="Calibri"/>
                <a:sym typeface="Calibri"/>
              </a:rPr>
              <a:t>Attention treats each word’s representation as a </a:t>
            </a:r>
            <a:r>
              <a:rPr lang="en" sz="1700" b="1" i="0" u="none" strike="noStrike" cap="none">
                <a:solidFill>
                  <a:srgbClr val="C00000"/>
                </a:solidFill>
                <a:latin typeface="Calibri"/>
                <a:ea typeface="Calibri"/>
                <a:cs typeface="Calibri"/>
                <a:sym typeface="Calibri"/>
              </a:rPr>
              <a:t>query </a:t>
            </a:r>
            <a:r>
              <a:rPr lang="en" sz="1700" i="0" u="none" strike="noStrike" cap="none">
                <a:solidFill>
                  <a:srgbClr val="000000"/>
                </a:solidFill>
                <a:latin typeface="Calibri"/>
                <a:ea typeface="Calibri"/>
                <a:cs typeface="Calibri"/>
                <a:sym typeface="Calibri"/>
              </a:rPr>
              <a:t>to access and incorporate information from a </a:t>
            </a:r>
            <a:r>
              <a:rPr lang="en" sz="1700" b="1" i="0" u="none" strike="noStrike" cap="none">
                <a:solidFill>
                  <a:srgbClr val="C00000"/>
                </a:solidFill>
                <a:latin typeface="Calibri"/>
                <a:ea typeface="Calibri"/>
                <a:cs typeface="Calibri"/>
                <a:sym typeface="Calibri"/>
              </a:rPr>
              <a:t>set of values</a:t>
            </a:r>
            <a:r>
              <a:rPr lang="en" sz="1700" i="0" u="none" strike="noStrike" cap="none">
                <a:solidFill>
                  <a:srgbClr val="000000"/>
                </a:solidFill>
                <a:latin typeface="Calibri"/>
                <a:ea typeface="Calibri"/>
                <a:cs typeface="Calibri"/>
                <a:sym typeface="Calibri"/>
              </a:rPr>
              <a:t>.</a:t>
            </a:r>
            <a:endParaRPr sz="1700" i="0" u="none" strike="noStrike" cap="none">
              <a:solidFill>
                <a:srgbClr val="000000"/>
              </a:solidFill>
              <a:latin typeface="Calibri"/>
              <a:ea typeface="Calibri"/>
              <a:cs typeface="Calibri"/>
              <a:sym typeface="Calibri"/>
            </a:endParaRPr>
          </a:p>
          <a:p>
            <a:pPr marL="12700" marR="0" lvl="0" indent="0" algn="l" rtl="0">
              <a:lnSpc>
                <a:spcPct val="100000"/>
              </a:lnSpc>
              <a:spcBef>
                <a:spcPts val="400"/>
              </a:spcBef>
              <a:spcAft>
                <a:spcPts val="0"/>
              </a:spcAft>
              <a:buClr>
                <a:srgbClr val="000000"/>
              </a:buClr>
              <a:buSzPts val="1100"/>
              <a:buFont typeface="Arial"/>
              <a:buNone/>
            </a:pPr>
            <a:r>
              <a:rPr lang="en" sz="1300" b="0" i="0" u="sng" strike="noStrike" cap="none">
                <a:solidFill>
                  <a:srgbClr val="3F7DBF"/>
                </a:solidFill>
                <a:latin typeface="Arial"/>
                <a:ea typeface="Arial"/>
                <a:cs typeface="Arial"/>
                <a:sym typeface="Arial"/>
              </a:rPr>
              <a:t>Bahdanau et al., 2015</a:t>
            </a:r>
            <a:r>
              <a:rPr lang="en" sz="1300" b="0" i="0" u="none" strike="noStrike" cap="none">
                <a:solidFill>
                  <a:srgbClr val="000000"/>
                </a:solidFill>
                <a:latin typeface="Arial"/>
                <a:ea typeface="Arial"/>
                <a:cs typeface="Arial"/>
                <a:sym typeface="Arial"/>
              </a:rPr>
              <a:t>.	</a:t>
            </a:r>
            <a:r>
              <a:rPr lang="en" sz="1500" i="0" u="none" strike="noStrike" cap="none">
                <a:solidFill>
                  <a:srgbClr val="000000"/>
                </a:solidFill>
                <a:latin typeface="Calibri"/>
                <a:ea typeface="Calibri"/>
                <a:cs typeface="Calibri"/>
                <a:sym typeface="Calibri"/>
              </a:rPr>
              <a:t>Stanford NLP Course: CS224N</a:t>
            </a:r>
            <a:endParaRPr sz="1500" i="0" u="none" strike="noStrike" cap="none">
              <a:solidFill>
                <a:srgbClr val="000000"/>
              </a:solidFill>
              <a:latin typeface="Calibri"/>
              <a:ea typeface="Calibri"/>
              <a:cs typeface="Calibri"/>
              <a:sym typeface="Calibri"/>
            </a:endParaRPr>
          </a:p>
        </p:txBody>
      </p:sp>
      <p:pic>
        <p:nvPicPr>
          <p:cNvPr id="1228" name="Google Shape;1228;p48"/>
          <p:cNvPicPr preferRelativeResize="0"/>
          <p:nvPr/>
        </p:nvPicPr>
        <p:blipFill>
          <a:blip r:embed="rId8">
            <a:alphaModFix/>
          </a:blip>
          <a:stretch>
            <a:fillRect/>
          </a:stretch>
        </p:blipFill>
        <p:spPr>
          <a:xfrm>
            <a:off x="8369125" y="0"/>
            <a:ext cx="774877" cy="8671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233"/>
        <p:cNvGrpSpPr/>
        <p:nvPr/>
      </p:nvGrpSpPr>
      <p:grpSpPr>
        <a:xfrm>
          <a:off x="0" y="0"/>
          <a:ext cx="0" cy="0"/>
          <a:chOff x="0" y="0"/>
          <a:chExt cx="0" cy="0"/>
        </a:xfrm>
      </p:grpSpPr>
      <p:sp>
        <p:nvSpPr>
          <p:cNvPr id="1234" name="Google Shape;1234;p49"/>
          <p:cNvSpPr/>
          <p:nvPr/>
        </p:nvSpPr>
        <p:spPr>
          <a:xfrm>
            <a:off x="457200" y="137160"/>
            <a:ext cx="8229600" cy="502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1A2E"/>
              </a:buClr>
              <a:buSzPts val="2800"/>
              <a:buFont typeface="Calibri"/>
              <a:buNone/>
            </a:pPr>
            <a:r>
              <a:rPr lang="en" sz="2800" b="1" i="0" u="none" strike="noStrike" cap="none">
                <a:solidFill>
                  <a:srgbClr val="1A1A2E"/>
                </a:solidFill>
                <a:latin typeface="Calibri"/>
                <a:ea typeface="Calibri"/>
                <a:cs typeface="Calibri"/>
                <a:sym typeface="Calibri"/>
              </a:rPr>
              <a:t>Why Attention Alone Wasn't Enough</a:t>
            </a:r>
            <a:endParaRPr sz="2800" b="0" i="0" u="none" strike="noStrike" cap="none">
              <a:solidFill>
                <a:schemeClr val="dk1"/>
              </a:solidFill>
              <a:latin typeface="Calibri"/>
              <a:ea typeface="Calibri"/>
              <a:cs typeface="Calibri"/>
              <a:sym typeface="Calibri"/>
            </a:endParaRPr>
          </a:p>
        </p:txBody>
      </p:sp>
      <p:sp>
        <p:nvSpPr>
          <p:cNvPr id="1235" name="Google Shape;1235;p49"/>
          <p:cNvSpPr/>
          <p:nvPr/>
        </p:nvSpPr>
        <p:spPr>
          <a:xfrm>
            <a:off x="457200" y="621792"/>
            <a:ext cx="82296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46E7A"/>
              </a:buClr>
              <a:buSzPts val="1250"/>
              <a:buFont typeface="Calibri"/>
              <a:buNone/>
            </a:pPr>
            <a:r>
              <a:rPr lang="en" sz="1250" b="0" i="1" u="none" strike="noStrike" cap="none">
                <a:solidFill>
                  <a:srgbClr val="546E7A"/>
                </a:solidFill>
                <a:latin typeface="Calibri"/>
                <a:ea typeface="Calibri"/>
                <a:cs typeface="Calibri"/>
                <a:sym typeface="Calibri"/>
              </a:rPr>
              <a:t>Remaining limitations that led to Self-Attention and the Transformer architecture</a:t>
            </a:r>
            <a:endParaRPr sz="1250" b="0" i="0" u="none" strike="noStrike" cap="none">
              <a:solidFill>
                <a:schemeClr val="dk1"/>
              </a:solidFill>
              <a:latin typeface="Calibri"/>
              <a:ea typeface="Calibri"/>
              <a:cs typeface="Calibri"/>
              <a:sym typeface="Calibri"/>
            </a:endParaRPr>
          </a:p>
        </p:txBody>
      </p:sp>
      <p:sp>
        <p:nvSpPr>
          <p:cNvPr id="1236" name="Google Shape;1236;p49"/>
          <p:cNvSpPr/>
          <p:nvPr/>
        </p:nvSpPr>
        <p:spPr>
          <a:xfrm>
            <a:off x="457200" y="896112"/>
            <a:ext cx="8229600" cy="36600"/>
          </a:xfrm>
          <a:prstGeom prst="rect">
            <a:avLst/>
          </a:prstGeom>
          <a:solidFill>
            <a:srgbClr val="EA580C"/>
          </a:solidFill>
          <a:ln w="127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9"/>
          <p:cNvSpPr/>
          <p:nvPr/>
        </p:nvSpPr>
        <p:spPr>
          <a:xfrm>
            <a:off x="320040" y="969264"/>
            <a:ext cx="4736700" cy="18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A580C"/>
              </a:buClr>
              <a:buSzPts val="950"/>
              <a:buFont typeface="Calibri"/>
              <a:buNone/>
            </a:pPr>
            <a:r>
              <a:rPr lang="en" sz="950" b="1" i="0" u="none" strike="noStrike" cap="none">
                <a:solidFill>
                  <a:srgbClr val="EA580C"/>
                </a:solidFill>
                <a:latin typeface="Calibri"/>
                <a:ea typeface="Calibri"/>
                <a:cs typeface="Calibri"/>
                <a:sym typeface="Calibri"/>
              </a:rPr>
              <a:t>Limitations of RNN + Attention</a:t>
            </a:r>
            <a:endParaRPr sz="950" b="0" i="0" u="none" strike="noStrike" cap="none">
              <a:solidFill>
                <a:schemeClr val="dk1"/>
              </a:solidFill>
              <a:latin typeface="Calibri"/>
              <a:ea typeface="Calibri"/>
              <a:cs typeface="Calibri"/>
              <a:sym typeface="Calibri"/>
            </a:endParaRPr>
          </a:p>
        </p:txBody>
      </p:sp>
      <p:sp>
        <p:nvSpPr>
          <p:cNvPr id="1238" name="Google Shape;1238;p49"/>
          <p:cNvSpPr/>
          <p:nvPr/>
        </p:nvSpPr>
        <p:spPr>
          <a:xfrm>
            <a:off x="320040" y="1143000"/>
            <a:ext cx="4736700" cy="22800"/>
          </a:xfrm>
          <a:prstGeom prst="rect">
            <a:avLst/>
          </a:prstGeom>
          <a:solidFill>
            <a:srgbClr val="FECACA"/>
          </a:solidFill>
          <a:ln w="12700" cap="flat" cmpd="sng">
            <a:solidFill>
              <a:srgbClr val="FECA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9"/>
          <p:cNvSpPr/>
          <p:nvPr/>
        </p:nvSpPr>
        <p:spPr>
          <a:xfrm>
            <a:off x="5687568" y="969264"/>
            <a:ext cx="2999100" cy="18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695C"/>
              </a:buClr>
              <a:buSzPts val="950"/>
              <a:buFont typeface="Calibri"/>
              <a:buNone/>
            </a:pPr>
            <a:r>
              <a:rPr lang="en" sz="950" b="1" i="0" u="none" strike="noStrike" cap="none">
                <a:solidFill>
                  <a:srgbClr val="00695C"/>
                </a:solidFill>
                <a:latin typeface="Calibri"/>
                <a:ea typeface="Calibri"/>
                <a:cs typeface="Calibri"/>
                <a:sym typeface="Calibri"/>
              </a:rPr>
              <a:t>Transformer Solutions</a:t>
            </a:r>
            <a:endParaRPr sz="950" b="0" i="0" u="none" strike="noStrike" cap="none">
              <a:solidFill>
                <a:schemeClr val="dk1"/>
              </a:solidFill>
              <a:latin typeface="Calibri"/>
              <a:ea typeface="Calibri"/>
              <a:cs typeface="Calibri"/>
              <a:sym typeface="Calibri"/>
            </a:endParaRPr>
          </a:p>
        </p:txBody>
      </p:sp>
      <p:sp>
        <p:nvSpPr>
          <p:cNvPr id="1240" name="Google Shape;1240;p49"/>
          <p:cNvSpPr/>
          <p:nvPr/>
        </p:nvSpPr>
        <p:spPr>
          <a:xfrm>
            <a:off x="5687568" y="1143000"/>
            <a:ext cx="2999100" cy="22800"/>
          </a:xfrm>
          <a:prstGeom prst="rect">
            <a:avLst/>
          </a:prstGeom>
          <a:solidFill>
            <a:srgbClr val="99F6E4"/>
          </a:solidFill>
          <a:ln w="12700" cap="flat" cmpd="sng">
            <a:solidFill>
              <a:srgbClr val="99F6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9"/>
          <p:cNvSpPr/>
          <p:nvPr/>
        </p:nvSpPr>
        <p:spPr>
          <a:xfrm>
            <a:off x="320040" y="1170432"/>
            <a:ext cx="2331600" cy="932700"/>
          </a:xfrm>
          <a:prstGeom prst="rect">
            <a:avLst/>
          </a:prstGeom>
          <a:solidFill>
            <a:srgbClr val="FFF7ED"/>
          </a:solidFill>
          <a:ln w="12700" cap="flat" cmpd="sng">
            <a:solidFill>
              <a:srgbClr val="FECA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9"/>
          <p:cNvSpPr/>
          <p:nvPr/>
        </p:nvSpPr>
        <p:spPr>
          <a:xfrm>
            <a:off x="320040" y="1170432"/>
            <a:ext cx="36600" cy="932700"/>
          </a:xfrm>
          <a:prstGeom prst="rect">
            <a:avLst/>
          </a:prstGeom>
          <a:solidFill>
            <a:srgbClr val="EA580C"/>
          </a:solidFill>
          <a:ln w="127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9"/>
          <p:cNvSpPr/>
          <p:nvPr/>
        </p:nvSpPr>
        <p:spPr>
          <a:xfrm>
            <a:off x="438912" y="1225296"/>
            <a:ext cx="2167200" cy="84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EA580C"/>
              </a:buClr>
              <a:buSzPts val="950"/>
              <a:buFont typeface="Calibri"/>
              <a:buNone/>
            </a:pPr>
            <a:r>
              <a:rPr lang="en" sz="950" b="1" i="0" u="none" strike="noStrike" cap="none">
                <a:solidFill>
                  <a:srgbClr val="EA580C"/>
                </a:solidFill>
                <a:latin typeface="Calibri"/>
                <a:ea typeface="Calibri"/>
                <a:cs typeface="Calibri"/>
                <a:sym typeface="Calibri"/>
              </a:rPr>
              <a:t>01  </a:t>
            </a:r>
            <a:r>
              <a:rPr lang="en" sz="950" b="1" i="0" u="none" strike="noStrike" cap="none">
                <a:solidFill>
                  <a:srgbClr val="1A1A2E"/>
                </a:solidFill>
                <a:latin typeface="Calibri"/>
                <a:ea typeface="Calibri"/>
                <a:cs typeface="Calibri"/>
                <a:sym typeface="Calibri"/>
              </a:rPr>
              <a:t>Still Sequential (RNN)</a:t>
            </a:r>
            <a:endParaRPr sz="9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850"/>
              <a:buFont typeface="Calibri"/>
              <a:buNone/>
            </a:pPr>
            <a:r>
              <a:rPr lang="en" sz="850" b="0" i="0" u="none" strike="noStrike" cap="none">
                <a:solidFill>
                  <a:srgbClr val="546E7A"/>
                </a:solidFill>
                <a:latin typeface="Calibri"/>
                <a:ea typeface="Calibri"/>
                <a:cs typeface="Calibri"/>
                <a:sym typeface="Calibri"/>
              </a:rPr>
              <a:t>The RNN encoder/decoder processed tokens one at a time — no parallelisation across a sequence.</a:t>
            </a:r>
            <a:endParaRPr sz="950" b="0" i="0" u="none" strike="noStrike" cap="none">
              <a:solidFill>
                <a:schemeClr val="dk1"/>
              </a:solidFill>
              <a:latin typeface="Calibri"/>
              <a:ea typeface="Calibri"/>
              <a:cs typeface="Calibri"/>
              <a:sym typeface="Calibri"/>
            </a:endParaRPr>
          </a:p>
        </p:txBody>
      </p:sp>
      <p:sp>
        <p:nvSpPr>
          <p:cNvPr id="1244" name="Google Shape;1244;p49"/>
          <p:cNvSpPr/>
          <p:nvPr/>
        </p:nvSpPr>
        <p:spPr>
          <a:xfrm>
            <a:off x="2724912" y="1170432"/>
            <a:ext cx="2331600" cy="932700"/>
          </a:xfrm>
          <a:prstGeom prst="rect">
            <a:avLst/>
          </a:prstGeom>
          <a:solidFill>
            <a:srgbClr val="FFF7ED"/>
          </a:solidFill>
          <a:ln w="12700" cap="flat" cmpd="sng">
            <a:solidFill>
              <a:srgbClr val="FECA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9"/>
          <p:cNvSpPr/>
          <p:nvPr/>
        </p:nvSpPr>
        <p:spPr>
          <a:xfrm>
            <a:off x="2724912" y="1170432"/>
            <a:ext cx="36600" cy="932700"/>
          </a:xfrm>
          <a:prstGeom prst="rect">
            <a:avLst/>
          </a:prstGeom>
          <a:solidFill>
            <a:srgbClr val="EA580C"/>
          </a:solidFill>
          <a:ln w="127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9"/>
          <p:cNvSpPr/>
          <p:nvPr/>
        </p:nvSpPr>
        <p:spPr>
          <a:xfrm>
            <a:off x="2843784" y="1225296"/>
            <a:ext cx="2167200" cy="84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EA580C"/>
              </a:buClr>
              <a:buSzPts val="950"/>
              <a:buFont typeface="Calibri"/>
              <a:buNone/>
            </a:pPr>
            <a:r>
              <a:rPr lang="en" sz="950" b="1" i="0" u="none" strike="noStrike" cap="none">
                <a:solidFill>
                  <a:srgbClr val="EA580C"/>
                </a:solidFill>
                <a:latin typeface="Calibri"/>
                <a:ea typeface="Calibri"/>
                <a:cs typeface="Calibri"/>
                <a:sym typeface="Calibri"/>
              </a:rPr>
              <a:t>02  </a:t>
            </a:r>
            <a:r>
              <a:rPr lang="en" sz="950" b="1" i="0" u="none" strike="noStrike" cap="none">
                <a:solidFill>
                  <a:srgbClr val="1A1A2E"/>
                </a:solidFill>
                <a:latin typeface="Calibri"/>
                <a:ea typeface="Calibri"/>
                <a:cs typeface="Calibri"/>
                <a:sym typeface="Calibri"/>
              </a:rPr>
              <a:t>One-Directional Attention</a:t>
            </a:r>
            <a:endParaRPr sz="9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850"/>
              <a:buFont typeface="Calibri"/>
              <a:buNone/>
            </a:pPr>
            <a:r>
              <a:rPr lang="en" sz="850" b="0" i="0" u="none" strike="noStrike" cap="none">
                <a:solidFill>
                  <a:srgbClr val="546E7A"/>
                </a:solidFill>
                <a:latin typeface="Calibri"/>
                <a:ea typeface="Calibri"/>
                <a:cs typeface="Calibri"/>
                <a:sym typeface="Calibri"/>
              </a:rPr>
              <a:t>Attention only ran decoder→encoder. Tokens within the encoder couldn't attend to each other.</a:t>
            </a:r>
            <a:endParaRPr sz="950" b="0" i="0" u="none" strike="noStrike" cap="none">
              <a:solidFill>
                <a:schemeClr val="dk1"/>
              </a:solidFill>
              <a:latin typeface="Calibri"/>
              <a:ea typeface="Calibri"/>
              <a:cs typeface="Calibri"/>
              <a:sym typeface="Calibri"/>
            </a:endParaRPr>
          </a:p>
        </p:txBody>
      </p:sp>
      <p:sp>
        <p:nvSpPr>
          <p:cNvPr id="1247" name="Google Shape;1247;p49"/>
          <p:cNvSpPr/>
          <p:nvPr/>
        </p:nvSpPr>
        <p:spPr>
          <a:xfrm>
            <a:off x="320040" y="2194560"/>
            <a:ext cx="2331600" cy="932700"/>
          </a:xfrm>
          <a:prstGeom prst="rect">
            <a:avLst/>
          </a:prstGeom>
          <a:solidFill>
            <a:srgbClr val="FFF7ED"/>
          </a:solidFill>
          <a:ln w="12700" cap="flat" cmpd="sng">
            <a:solidFill>
              <a:srgbClr val="FECA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9"/>
          <p:cNvSpPr/>
          <p:nvPr/>
        </p:nvSpPr>
        <p:spPr>
          <a:xfrm>
            <a:off x="320040" y="2194560"/>
            <a:ext cx="36600" cy="932700"/>
          </a:xfrm>
          <a:prstGeom prst="rect">
            <a:avLst/>
          </a:prstGeom>
          <a:solidFill>
            <a:srgbClr val="EA580C"/>
          </a:solidFill>
          <a:ln w="127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9"/>
          <p:cNvSpPr/>
          <p:nvPr/>
        </p:nvSpPr>
        <p:spPr>
          <a:xfrm>
            <a:off x="438912" y="2249424"/>
            <a:ext cx="2167200" cy="84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EA580C"/>
              </a:buClr>
              <a:buSzPts val="950"/>
              <a:buFont typeface="Calibri"/>
              <a:buNone/>
            </a:pPr>
            <a:r>
              <a:rPr lang="en" sz="950" b="1" i="0" u="none" strike="noStrike" cap="none">
                <a:solidFill>
                  <a:srgbClr val="EA580C"/>
                </a:solidFill>
                <a:latin typeface="Calibri"/>
                <a:ea typeface="Calibri"/>
                <a:cs typeface="Calibri"/>
                <a:sym typeface="Calibri"/>
              </a:rPr>
              <a:t>03  </a:t>
            </a:r>
            <a:r>
              <a:rPr lang="en" sz="950" b="1" i="0" u="none" strike="noStrike" cap="none">
                <a:solidFill>
                  <a:srgbClr val="1A1A2E"/>
                </a:solidFill>
                <a:latin typeface="Calibri"/>
                <a:ea typeface="Calibri"/>
                <a:cs typeface="Calibri"/>
                <a:sym typeface="Calibri"/>
              </a:rPr>
              <a:t>Weak Long-Range in Encoder</a:t>
            </a:r>
            <a:endParaRPr sz="9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850"/>
              <a:buFont typeface="Calibri"/>
              <a:buNone/>
            </a:pPr>
            <a:r>
              <a:rPr lang="en" sz="850" b="0" i="0" u="none" strike="noStrike" cap="none">
                <a:solidFill>
                  <a:srgbClr val="546E7A"/>
                </a:solidFill>
                <a:latin typeface="Calibri"/>
                <a:ea typeface="Calibri"/>
                <a:cs typeface="Calibri"/>
                <a:sym typeface="Calibri"/>
              </a:rPr>
              <a:t>Encoder states were still shaped by sequential RNN steps — early tokens got diluted before being attended to.</a:t>
            </a:r>
            <a:endParaRPr sz="950" b="0" i="0" u="none" strike="noStrike" cap="none">
              <a:solidFill>
                <a:schemeClr val="dk1"/>
              </a:solidFill>
              <a:latin typeface="Calibri"/>
              <a:ea typeface="Calibri"/>
              <a:cs typeface="Calibri"/>
              <a:sym typeface="Calibri"/>
            </a:endParaRPr>
          </a:p>
        </p:txBody>
      </p:sp>
      <p:sp>
        <p:nvSpPr>
          <p:cNvPr id="1250" name="Google Shape;1250;p49"/>
          <p:cNvSpPr/>
          <p:nvPr/>
        </p:nvSpPr>
        <p:spPr>
          <a:xfrm>
            <a:off x="2724912" y="2194560"/>
            <a:ext cx="2331600" cy="932700"/>
          </a:xfrm>
          <a:prstGeom prst="rect">
            <a:avLst/>
          </a:prstGeom>
          <a:solidFill>
            <a:srgbClr val="FFF7ED"/>
          </a:solidFill>
          <a:ln w="12700" cap="flat" cmpd="sng">
            <a:solidFill>
              <a:srgbClr val="FECA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9"/>
          <p:cNvSpPr/>
          <p:nvPr/>
        </p:nvSpPr>
        <p:spPr>
          <a:xfrm>
            <a:off x="2724912" y="2194560"/>
            <a:ext cx="36600" cy="932700"/>
          </a:xfrm>
          <a:prstGeom prst="rect">
            <a:avLst/>
          </a:prstGeom>
          <a:solidFill>
            <a:srgbClr val="EA580C"/>
          </a:solidFill>
          <a:ln w="127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9"/>
          <p:cNvSpPr/>
          <p:nvPr/>
        </p:nvSpPr>
        <p:spPr>
          <a:xfrm>
            <a:off x="2843784" y="2249424"/>
            <a:ext cx="2167200" cy="84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EA580C"/>
              </a:buClr>
              <a:buSzPts val="950"/>
              <a:buFont typeface="Calibri"/>
              <a:buNone/>
            </a:pPr>
            <a:r>
              <a:rPr lang="en" sz="950" b="1" i="0" u="none" strike="noStrike" cap="none">
                <a:solidFill>
                  <a:srgbClr val="EA580C"/>
                </a:solidFill>
                <a:latin typeface="Calibri"/>
                <a:ea typeface="Calibri"/>
                <a:cs typeface="Calibri"/>
                <a:sym typeface="Calibri"/>
              </a:rPr>
              <a:t>04  </a:t>
            </a:r>
            <a:r>
              <a:rPr lang="en" sz="950" b="1" i="0" u="none" strike="noStrike" cap="none">
                <a:solidFill>
                  <a:srgbClr val="1A1A2E"/>
                </a:solidFill>
                <a:latin typeface="Calibri"/>
                <a:ea typeface="Calibri"/>
                <a:cs typeface="Calibri"/>
                <a:sym typeface="Calibri"/>
              </a:rPr>
              <a:t>O(n) Information Path</a:t>
            </a:r>
            <a:endParaRPr sz="9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850"/>
              <a:buFont typeface="Calibri"/>
              <a:buNone/>
            </a:pPr>
            <a:r>
              <a:rPr lang="en" sz="850" b="0" i="0" u="none" strike="noStrike" cap="none">
                <a:solidFill>
                  <a:srgbClr val="546E7A"/>
                </a:solidFill>
                <a:latin typeface="Calibri"/>
                <a:ea typeface="Calibri"/>
                <a:cs typeface="Calibri"/>
                <a:sym typeface="Calibri"/>
              </a:rPr>
              <a:t>Information still traveled through n recurrent steps to connect two distant tokens.</a:t>
            </a:r>
            <a:endParaRPr sz="950" b="0" i="0" u="none" strike="noStrike" cap="none">
              <a:solidFill>
                <a:schemeClr val="dk1"/>
              </a:solidFill>
              <a:latin typeface="Calibri"/>
              <a:ea typeface="Calibri"/>
              <a:cs typeface="Calibri"/>
              <a:sym typeface="Calibri"/>
            </a:endParaRPr>
          </a:p>
        </p:txBody>
      </p:sp>
      <p:sp>
        <p:nvSpPr>
          <p:cNvPr id="1253" name="Google Shape;1253;p49"/>
          <p:cNvSpPr/>
          <p:nvPr/>
        </p:nvSpPr>
        <p:spPr>
          <a:xfrm>
            <a:off x="320040" y="3218688"/>
            <a:ext cx="2331600" cy="932700"/>
          </a:xfrm>
          <a:prstGeom prst="rect">
            <a:avLst/>
          </a:prstGeom>
          <a:solidFill>
            <a:srgbClr val="FFF7ED"/>
          </a:solidFill>
          <a:ln w="12700" cap="flat" cmpd="sng">
            <a:solidFill>
              <a:srgbClr val="FECA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9"/>
          <p:cNvSpPr/>
          <p:nvPr/>
        </p:nvSpPr>
        <p:spPr>
          <a:xfrm>
            <a:off x="320040" y="3218688"/>
            <a:ext cx="36600" cy="932700"/>
          </a:xfrm>
          <a:prstGeom prst="rect">
            <a:avLst/>
          </a:prstGeom>
          <a:solidFill>
            <a:srgbClr val="EA580C"/>
          </a:solidFill>
          <a:ln w="127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9"/>
          <p:cNvSpPr/>
          <p:nvPr/>
        </p:nvSpPr>
        <p:spPr>
          <a:xfrm>
            <a:off x="438912" y="3273552"/>
            <a:ext cx="2167200" cy="84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EA580C"/>
              </a:buClr>
              <a:buSzPts val="950"/>
              <a:buFont typeface="Calibri"/>
              <a:buNone/>
            </a:pPr>
            <a:r>
              <a:rPr lang="en" sz="950" b="1" i="0" u="none" strike="noStrike" cap="none">
                <a:solidFill>
                  <a:srgbClr val="EA580C"/>
                </a:solidFill>
                <a:latin typeface="Calibri"/>
                <a:ea typeface="Calibri"/>
                <a:cs typeface="Calibri"/>
                <a:sym typeface="Calibri"/>
              </a:rPr>
              <a:t>05  </a:t>
            </a:r>
            <a:r>
              <a:rPr lang="en" sz="950" b="1" i="0" u="none" strike="noStrike" cap="none">
                <a:solidFill>
                  <a:srgbClr val="1A1A2E"/>
                </a:solidFill>
                <a:latin typeface="Calibri"/>
                <a:ea typeface="Calibri"/>
                <a:cs typeface="Calibri"/>
                <a:sym typeface="Calibri"/>
              </a:rPr>
              <a:t>No Intra-Sequence Attention</a:t>
            </a:r>
            <a:endParaRPr sz="9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850"/>
              <a:buFont typeface="Calibri"/>
              <a:buNone/>
            </a:pPr>
            <a:r>
              <a:rPr lang="en" sz="850" b="0" i="0" u="none" strike="noStrike" cap="none">
                <a:solidFill>
                  <a:srgbClr val="546E7A"/>
                </a:solidFill>
                <a:latin typeface="Calibri"/>
                <a:ea typeface="Calibri"/>
                <a:cs typeface="Calibri"/>
                <a:sym typeface="Calibri"/>
              </a:rPr>
              <a:t>Tokens couldn't ask 'what in this same sequence is relevant to me?' — the key idea of self-attention.</a:t>
            </a:r>
            <a:endParaRPr sz="950" b="0" i="0" u="none" strike="noStrike" cap="none">
              <a:solidFill>
                <a:schemeClr val="dk1"/>
              </a:solidFill>
              <a:latin typeface="Calibri"/>
              <a:ea typeface="Calibri"/>
              <a:cs typeface="Calibri"/>
              <a:sym typeface="Calibri"/>
            </a:endParaRPr>
          </a:p>
        </p:txBody>
      </p:sp>
      <p:sp>
        <p:nvSpPr>
          <p:cNvPr id="1256" name="Google Shape;1256;p49"/>
          <p:cNvSpPr/>
          <p:nvPr/>
        </p:nvSpPr>
        <p:spPr>
          <a:xfrm>
            <a:off x="2724912" y="3218688"/>
            <a:ext cx="2331600" cy="932700"/>
          </a:xfrm>
          <a:prstGeom prst="rect">
            <a:avLst/>
          </a:prstGeom>
          <a:solidFill>
            <a:srgbClr val="FFF7ED"/>
          </a:solidFill>
          <a:ln w="12700" cap="flat" cmpd="sng">
            <a:solidFill>
              <a:srgbClr val="FECAC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9"/>
          <p:cNvSpPr/>
          <p:nvPr/>
        </p:nvSpPr>
        <p:spPr>
          <a:xfrm>
            <a:off x="2724912" y="3218688"/>
            <a:ext cx="36600" cy="932700"/>
          </a:xfrm>
          <a:prstGeom prst="rect">
            <a:avLst/>
          </a:prstGeom>
          <a:solidFill>
            <a:srgbClr val="EA580C"/>
          </a:solidFill>
          <a:ln w="127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9"/>
          <p:cNvSpPr/>
          <p:nvPr/>
        </p:nvSpPr>
        <p:spPr>
          <a:xfrm>
            <a:off x="2843784" y="3273552"/>
            <a:ext cx="2167200" cy="84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EA580C"/>
              </a:buClr>
              <a:buSzPts val="950"/>
              <a:buFont typeface="Calibri"/>
              <a:buNone/>
            </a:pPr>
            <a:r>
              <a:rPr lang="en" sz="950" b="1" i="0" u="none" strike="noStrike" cap="none">
                <a:solidFill>
                  <a:srgbClr val="EA580C"/>
                </a:solidFill>
                <a:latin typeface="Calibri"/>
                <a:ea typeface="Calibri"/>
                <a:cs typeface="Calibri"/>
                <a:sym typeface="Calibri"/>
              </a:rPr>
              <a:t>06  </a:t>
            </a:r>
            <a:r>
              <a:rPr lang="en" sz="950" b="1" i="0" u="none" strike="noStrike" cap="none">
                <a:solidFill>
                  <a:srgbClr val="1A1A2E"/>
                </a:solidFill>
                <a:latin typeface="Calibri"/>
                <a:ea typeface="Calibri"/>
                <a:cs typeface="Calibri"/>
                <a:sym typeface="Calibri"/>
              </a:rPr>
              <a:t>No Positional Structure</a:t>
            </a:r>
            <a:endParaRPr sz="95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850"/>
              <a:buFont typeface="Calibri"/>
              <a:buNone/>
            </a:pPr>
            <a:r>
              <a:rPr lang="en" sz="850" b="0" i="0" u="none" strike="noStrike" cap="none">
                <a:solidFill>
                  <a:srgbClr val="546E7A"/>
                </a:solidFill>
                <a:latin typeface="Calibri"/>
                <a:ea typeface="Calibri"/>
                <a:cs typeface="Calibri"/>
                <a:sym typeface="Calibri"/>
              </a:rPr>
              <a:t>No built-in sense of position — any order had to be implicitly learned through the RNN.</a:t>
            </a:r>
            <a:endParaRPr sz="950" b="0" i="0" u="none" strike="noStrike" cap="none">
              <a:solidFill>
                <a:schemeClr val="dk1"/>
              </a:solidFill>
              <a:latin typeface="Calibri"/>
              <a:ea typeface="Calibri"/>
              <a:cs typeface="Calibri"/>
              <a:sym typeface="Calibri"/>
            </a:endParaRPr>
          </a:p>
        </p:txBody>
      </p:sp>
      <p:sp>
        <p:nvSpPr>
          <p:cNvPr id="1259" name="Google Shape;1259;p49"/>
          <p:cNvSpPr/>
          <p:nvPr/>
        </p:nvSpPr>
        <p:spPr>
          <a:xfrm>
            <a:off x="5175504" y="1737360"/>
            <a:ext cx="475500" cy="411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695C"/>
              </a:buClr>
              <a:buSzPts val="2800"/>
              <a:buFont typeface="Calibri"/>
              <a:buNone/>
            </a:pPr>
            <a:r>
              <a:rPr lang="en" sz="2800" b="0" i="0" u="none" strike="noStrike" cap="none">
                <a:solidFill>
                  <a:srgbClr val="00695C"/>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260" name="Google Shape;1260;p49"/>
          <p:cNvSpPr/>
          <p:nvPr/>
        </p:nvSpPr>
        <p:spPr>
          <a:xfrm>
            <a:off x="5157216" y="2148840"/>
            <a:ext cx="512100" cy="18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695C"/>
              </a:buClr>
              <a:buSzPts val="800"/>
              <a:buFont typeface="Calibri"/>
              <a:buNone/>
            </a:pPr>
            <a:r>
              <a:rPr lang="en" sz="800" b="1" i="1" u="none" strike="noStrike" cap="none">
                <a:solidFill>
                  <a:srgbClr val="00695C"/>
                </a:solidFill>
                <a:latin typeface="Calibri"/>
                <a:ea typeface="Calibri"/>
                <a:cs typeface="Calibri"/>
                <a:sym typeface="Calibri"/>
              </a:rPr>
              <a:t>led to</a:t>
            </a:r>
            <a:endParaRPr sz="800" b="0" i="0" u="none" strike="noStrike" cap="none">
              <a:solidFill>
                <a:schemeClr val="dk1"/>
              </a:solidFill>
              <a:latin typeface="Calibri"/>
              <a:ea typeface="Calibri"/>
              <a:cs typeface="Calibri"/>
              <a:sym typeface="Calibri"/>
            </a:endParaRPr>
          </a:p>
        </p:txBody>
      </p:sp>
      <p:sp>
        <p:nvSpPr>
          <p:cNvPr id="1261" name="Google Shape;1261;p49"/>
          <p:cNvSpPr/>
          <p:nvPr/>
        </p:nvSpPr>
        <p:spPr>
          <a:xfrm>
            <a:off x="5687568" y="1170432"/>
            <a:ext cx="1463100" cy="932700"/>
          </a:xfrm>
          <a:prstGeom prst="rect">
            <a:avLst/>
          </a:prstGeom>
          <a:solidFill>
            <a:srgbClr val="F0FDF9"/>
          </a:solidFill>
          <a:ln w="12700" cap="flat" cmpd="sng">
            <a:solidFill>
              <a:srgbClr val="99F6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9"/>
          <p:cNvSpPr/>
          <p:nvPr/>
        </p:nvSpPr>
        <p:spPr>
          <a:xfrm>
            <a:off x="5687568" y="1170432"/>
            <a:ext cx="36600" cy="932700"/>
          </a:xfrm>
          <a:prstGeom prst="rect">
            <a:avLst/>
          </a:prstGeom>
          <a:solidFill>
            <a:srgbClr val="00695C"/>
          </a:solidFill>
          <a:ln w="12700" cap="flat" cmpd="sng">
            <a:solidFill>
              <a:srgbClr val="0069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9"/>
          <p:cNvSpPr/>
          <p:nvPr/>
        </p:nvSpPr>
        <p:spPr>
          <a:xfrm>
            <a:off x="5806440" y="1225296"/>
            <a:ext cx="1298400" cy="84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695C"/>
              </a:buClr>
              <a:buSzPts val="1100"/>
              <a:buFont typeface="Calibri"/>
              <a:buNone/>
            </a:pPr>
            <a:r>
              <a:rPr lang="en" sz="1100" b="1" i="0" u="none" strike="noStrike" cap="none">
                <a:solidFill>
                  <a:srgbClr val="00695C"/>
                </a:solidFill>
                <a:latin typeface="Calibri"/>
                <a:ea typeface="Calibri"/>
                <a:cs typeface="Calibri"/>
                <a:sym typeface="Calibri"/>
              </a:rPr>
              <a:t>⚡  </a:t>
            </a:r>
            <a:r>
              <a:rPr lang="en" sz="950" b="1" i="0" u="none" strike="noStrike" cap="none">
                <a:solidFill>
                  <a:srgbClr val="1A1A2E"/>
                </a:solidFill>
                <a:latin typeface="Calibri"/>
                <a:ea typeface="Calibri"/>
                <a:cs typeface="Calibri"/>
                <a:sym typeface="Calibri"/>
              </a:rPr>
              <a:t>Full Parallelism</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850"/>
              <a:buFont typeface="Calibri"/>
              <a:buNone/>
            </a:pPr>
            <a:r>
              <a:rPr lang="en" sz="850" b="0" i="0" u="none" strike="noStrike" cap="none">
                <a:solidFill>
                  <a:srgbClr val="546E7A"/>
                </a:solidFill>
                <a:latin typeface="Calibri"/>
                <a:ea typeface="Calibri"/>
                <a:cs typeface="Calibri"/>
                <a:sym typeface="Calibri"/>
              </a:rPr>
              <a:t>RNNs removed entirely — all tokens processed simultaneously.</a:t>
            </a:r>
            <a:endParaRPr sz="1100" b="0" i="0" u="none" strike="noStrike" cap="none">
              <a:solidFill>
                <a:schemeClr val="dk1"/>
              </a:solidFill>
              <a:latin typeface="Calibri"/>
              <a:ea typeface="Calibri"/>
              <a:cs typeface="Calibri"/>
              <a:sym typeface="Calibri"/>
            </a:endParaRPr>
          </a:p>
        </p:txBody>
      </p:sp>
      <p:sp>
        <p:nvSpPr>
          <p:cNvPr id="1264" name="Google Shape;1264;p49"/>
          <p:cNvSpPr/>
          <p:nvPr/>
        </p:nvSpPr>
        <p:spPr>
          <a:xfrm>
            <a:off x="7223760" y="1170432"/>
            <a:ext cx="1463100" cy="932700"/>
          </a:xfrm>
          <a:prstGeom prst="rect">
            <a:avLst/>
          </a:prstGeom>
          <a:solidFill>
            <a:srgbClr val="F0FDF9"/>
          </a:solidFill>
          <a:ln w="12700" cap="flat" cmpd="sng">
            <a:solidFill>
              <a:srgbClr val="99F6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9"/>
          <p:cNvSpPr/>
          <p:nvPr/>
        </p:nvSpPr>
        <p:spPr>
          <a:xfrm>
            <a:off x="7223760" y="1170432"/>
            <a:ext cx="36600" cy="932700"/>
          </a:xfrm>
          <a:prstGeom prst="rect">
            <a:avLst/>
          </a:prstGeom>
          <a:solidFill>
            <a:srgbClr val="00695C"/>
          </a:solidFill>
          <a:ln w="12700" cap="flat" cmpd="sng">
            <a:solidFill>
              <a:srgbClr val="0069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9"/>
          <p:cNvSpPr/>
          <p:nvPr/>
        </p:nvSpPr>
        <p:spPr>
          <a:xfrm>
            <a:off x="7342632" y="1225296"/>
            <a:ext cx="1298400" cy="84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695C"/>
              </a:buClr>
              <a:buSzPts val="1100"/>
              <a:buFont typeface="Calibri"/>
              <a:buNone/>
            </a:pPr>
            <a:r>
              <a:rPr lang="en" sz="1100" b="1" i="0" u="none" strike="noStrike" cap="none">
                <a:solidFill>
                  <a:srgbClr val="00695C"/>
                </a:solidFill>
                <a:latin typeface="Calibri"/>
                <a:ea typeface="Calibri"/>
                <a:cs typeface="Calibri"/>
                <a:sym typeface="Calibri"/>
              </a:rPr>
              <a:t>↔  </a:t>
            </a:r>
            <a:r>
              <a:rPr lang="en" sz="950" b="1" i="0" u="none" strike="noStrike" cap="none">
                <a:solidFill>
                  <a:srgbClr val="1A1A2E"/>
                </a:solidFill>
                <a:latin typeface="Calibri"/>
                <a:ea typeface="Calibri"/>
                <a:cs typeface="Calibri"/>
                <a:sym typeface="Calibri"/>
              </a:rPr>
              <a:t>Self-Attention</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850"/>
              <a:buFont typeface="Calibri"/>
              <a:buNone/>
            </a:pPr>
            <a:r>
              <a:rPr lang="en" sz="850" b="0" i="0" u="none" strike="noStrike" cap="none">
                <a:solidFill>
                  <a:srgbClr val="546E7A"/>
                </a:solidFill>
                <a:latin typeface="Calibri"/>
                <a:ea typeface="Calibri"/>
                <a:cs typeface="Calibri"/>
                <a:sym typeface="Calibri"/>
              </a:rPr>
              <a:t>Every token attends to every other token in the same sequence, bidirectionally.</a:t>
            </a:r>
            <a:endParaRPr sz="1100" b="0" i="0" u="none" strike="noStrike" cap="none">
              <a:solidFill>
                <a:schemeClr val="dk1"/>
              </a:solidFill>
              <a:latin typeface="Calibri"/>
              <a:ea typeface="Calibri"/>
              <a:cs typeface="Calibri"/>
              <a:sym typeface="Calibri"/>
            </a:endParaRPr>
          </a:p>
        </p:txBody>
      </p:sp>
      <p:sp>
        <p:nvSpPr>
          <p:cNvPr id="1267" name="Google Shape;1267;p49"/>
          <p:cNvSpPr/>
          <p:nvPr/>
        </p:nvSpPr>
        <p:spPr>
          <a:xfrm>
            <a:off x="5687568" y="2194560"/>
            <a:ext cx="1463100" cy="932700"/>
          </a:xfrm>
          <a:prstGeom prst="rect">
            <a:avLst/>
          </a:prstGeom>
          <a:solidFill>
            <a:srgbClr val="F0FDF9"/>
          </a:solidFill>
          <a:ln w="12700" cap="flat" cmpd="sng">
            <a:solidFill>
              <a:srgbClr val="99F6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9"/>
          <p:cNvSpPr/>
          <p:nvPr/>
        </p:nvSpPr>
        <p:spPr>
          <a:xfrm>
            <a:off x="5687568" y="2194560"/>
            <a:ext cx="36600" cy="932700"/>
          </a:xfrm>
          <a:prstGeom prst="rect">
            <a:avLst/>
          </a:prstGeom>
          <a:solidFill>
            <a:srgbClr val="6A1B9A"/>
          </a:solidFill>
          <a:ln w="12700" cap="flat" cmpd="sng">
            <a:solidFill>
              <a:srgbClr val="6A1B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9"/>
          <p:cNvSpPr/>
          <p:nvPr/>
        </p:nvSpPr>
        <p:spPr>
          <a:xfrm>
            <a:off x="5806440" y="2249424"/>
            <a:ext cx="1298400" cy="84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6A1B9A"/>
              </a:buClr>
              <a:buSzPts val="1100"/>
              <a:buFont typeface="Calibri"/>
              <a:buNone/>
            </a:pPr>
            <a:r>
              <a:rPr lang="en" sz="1100" b="1" i="0" u="none" strike="noStrike" cap="none">
                <a:solidFill>
                  <a:srgbClr val="6A1B9A"/>
                </a:solidFill>
                <a:latin typeface="Calibri"/>
                <a:ea typeface="Calibri"/>
                <a:cs typeface="Calibri"/>
                <a:sym typeface="Calibri"/>
              </a:rPr>
              <a:t>◎  </a:t>
            </a:r>
            <a:r>
              <a:rPr lang="en" sz="950" b="1" i="0" u="none" strike="noStrike" cap="none">
                <a:solidFill>
                  <a:srgbClr val="1A1A2E"/>
                </a:solidFill>
                <a:latin typeface="Calibri"/>
                <a:ea typeface="Calibri"/>
                <a:cs typeface="Calibri"/>
                <a:sym typeface="Calibri"/>
              </a:rPr>
              <a:t>O(1) Dependency Path</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850"/>
              <a:buFont typeface="Calibri"/>
              <a:buNone/>
            </a:pPr>
            <a:r>
              <a:rPr lang="en" sz="850" b="0" i="0" u="none" strike="noStrike" cap="none">
                <a:solidFill>
                  <a:srgbClr val="546E7A"/>
                </a:solidFill>
                <a:latin typeface="Calibri"/>
                <a:ea typeface="Calibri"/>
                <a:cs typeface="Calibri"/>
                <a:sym typeface="Calibri"/>
              </a:rPr>
              <a:t>Any two tokens connect directly in one attention step, regardless of distance.</a:t>
            </a:r>
            <a:endParaRPr sz="1100" b="0" i="0" u="none" strike="noStrike" cap="none">
              <a:solidFill>
                <a:schemeClr val="dk1"/>
              </a:solidFill>
              <a:latin typeface="Calibri"/>
              <a:ea typeface="Calibri"/>
              <a:cs typeface="Calibri"/>
              <a:sym typeface="Calibri"/>
            </a:endParaRPr>
          </a:p>
        </p:txBody>
      </p:sp>
      <p:sp>
        <p:nvSpPr>
          <p:cNvPr id="1270" name="Google Shape;1270;p49"/>
          <p:cNvSpPr/>
          <p:nvPr/>
        </p:nvSpPr>
        <p:spPr>
          <a:xfrm>
            <a:off x="7223760" y="2194560"/>
            <a:ext cx="1463100" cy="932700"/>
          </a:xfrm>
          <a:prstGeom prst="rect">
            <a:avLst/>
          </a:prstGeom>
          <a:solidFill>
            <a:srgbClr val="F0FDF9"/>
          </a:solidFill>
          <a:ln w="12700" cap="flat" cmpd="sng">
            <a:solidFill>
              <a:srgbClr val="99F6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9"/>
          <p:cNvSpPr/>
          <p:nvPr/>
        </p:nvSpPr>
        <p:spPr>
          <a:xfrm>
            <a:off x="7223760" y="2194560"/>
            <a:ext cx="36600" cy="932700"/>
          </a:xfrm>
          <a:prstGeom prst="rect">
            <a:avLst/>
          </a:prstGeom>
          <a:solidFill>
            <a:srgbClr val="6A1B9A"/>
          </a:solidFill>
          <a:ln w="12700" cap="flat" cmpd="sng">
            <a:solidFill>
              <a:srgbClr val="6A1B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9"/>
          <p:cNvSpPr/>
          <p:nvPr/>
        </p:nvSpPr>
        <p:spPr>
          <a:xfrm>
            <a:off x="7342632" y="2249424"/>
            <a:ext cx="1298400" cy="84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6A1B9A"/>
              </a:buClr>
              <a:buSzPts val="1100"/>
              <a:buFont typeface="Calibri"/>
              <a:buNone/>
            </a:pPr>
            <a:r>
              <a:rPr lang="en" sz="1100" b="1" i="0" u="none" strike="noStrike" cap="none">
                <a:solidFill>
                  <a:srgbClr val="6A1B9A"/>
                </a:solidFill>
                <a:latin typeface="Calibri"/>
                <a:ea typeface="Calibri"/>
                <a:cs typeface="Calibri"/>
                <a:sym typeface="Calibri"/>
              </a:rPr>
              <a:t>✦  </a:t>
            </a:r>
            <a:r>
              <a:rPr lang="en" sz="950" b="1" i="0" u="none" strike="noStrike" cap="none">
                <a:solidFill>
                  <a:srgbClr val="1A1A2E"/>
                </a:solidFill>
                <a:latin typeface="Calibri"/>
                <a:ea typeface="Calibri"/>
                <a:cs typeface="Calibri"/>
                <a:sym typeface="Calibri"/>
              </a:rPr>
              <a:t>Multi-Head Attention</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850"/>
              <a:buFont typeface="Calibri"/>
              <a:buNone/>
            </a:pPr>
            <a:r>
              <a:rPr lang="en" sz="850" b="0" i="0" u="none" strike="noStrike" cap="none">
                <a:solidFill>
                  <a:srgbClr val="546E7A"/>
                </a:solidFill>
                <a:latin typeface="Calibri"/>
                <a:ea typeface="Calibri"/>
                <a:cs typeface="Calibri"/>
                <a:sym typeface="Calibri"/>
              </a:rPr>
              <a:t>Multiple heads capture different relationship types in parallel.</a:t>
            </a:r>
            <a:endParaRPr sz="1100" b="0" i="0" u="none" strike="noStrike" cap="none">
              <a:solidFill>
                <a:schemeClr val="dk1"/>
              </a:solidFill>
              <a:latin typeface="Calibri"/>
              <a:ea typeface="Calibri"/>
              <a:cs typeface="Calibri"/>
              <a:sym typeface="Calibri"/>
            </a:endParaRPr>
          </a:p>
        </p:txBody>
      </p:sp>
      <p:sp>
        <p:nvSpPr>
          <p:cNvPr id="1273" name="Google Shape;1273;p49"/>
          <p:cNvSpPr/>
          <p:nvPr/>
        </p:nvSpPr>
        <p:spPr>
          <a:xfrm>
            <a:off x="5687568" y="3218688"/>
            <a:ext cx="1463100" cy="932700"/>
          </a:xfrm>
          <a:prstGeom prst="rect">
            <a:avLst/>
          </a:prstGeom>
          <a:solidFill>
            <a:srgbClr val="F0FDF9"/>
          </a:solidFill>
          <a:ln w="12700" cap="flat" cmpd="sng">
            <a:solidFill>
              <a:srgbClr val="99F6E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9"/>
          <p:cNvSpPr/>
          <p:nvPr/>
        </p:nvSpPr>
        <p:spPr>
          <a:xfrm>
            <a:off x="5687568" y="3218688"/>
            <a:ext cx="36600" cy="932700"/>
          </a:xfrm>
          <a:prstGeom prst="rect">
            <a:avLst/>
          </a:prstGeom>
          <a:solidFill>
            <a:srgbClr val="00695C"/>
          </a:solidFill>
          <a:ln w="12700" cap="flat" cmpd="sng">
            <a:solidFill>
              <a:srgbClr val="0069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9"/>
          <p:cNvSpPr/>
          <p:nvPr/>
        </p:nvSpPr>
        <p:spPr>
          <a:xfrm>
            <a:off x="5806440" y="3273552"/>
            <a:ext cx="1298400" cy="84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695C"/>
              </a:buClr>
              <a:buSzPts val="1100"/>
              <a:buFont typeface="Calibri"/>
              <a:buNone/>
            </a:pPr>
            <a:r>
              <a:rPr lang="en" sz="1100" b="1" i="0" u="none" strike="noStrike" cap="none">
                <a:solidFill>
                  <a:srgbClr val="00695C"/>
                </a:solidFill>
                <a:latin typeface="Calibri"/>
                <a:ea typeface="Calibri"/>
                <a:cs typeface="Calibri"/>
                <a:sym typeface="Calibri"/>
              </a:rPr>
              <a:t>⊕  </a:t>
            </a:r>
            <a:r>
              <a:rPr lang="en" sz="950" b="1" i="0" u="none" strike="noStrike" cap="none">
                <a:solidFill>
                  <a:srgbClr val="1A1A2E"/>
                </a:solidFill>
                <a:latin typeface="Calibri"/>
                <a:ea typeface="Calibri"/>
                <a:cs typeface="Calibri"/>
                <a:sym typeface="Calibri"/>
              </a:rPr>
              <a:t>Positional Encodings</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850"/>
              <a:buFont typeface="Calibri"/>
              <a:buNone/>
            </a:pPr>
            <a:r>
              <a:rPr lang="en" sz="850" b="0" i="0" u="none" strike="noStrike" cap="none">
                <a:solidFill>
                  <a:srgbClr val="546E7A"/>
                </a:solidFill>
                <a:latin typeface="Calibri"/>
                <a:ea typeface="Calibri"/>
                <a:cs typeface="Calibri"/>
                <a:sym typeface="Calibri"/>
              </a:rPr>
              <a:t>Explicit position signals added to embeddings — order without recurrence.</a:t>
            </a:r>
            <a:endParaRPr sz="1100" b="0" i="0" u="none" strike="noStrike" cap="none">
              <a:solidFill>
                <a:schemeClr val="dk1"/>
              </a:solidFill>
              <a:latin typeface="Calibri"/>
              <a:ea typeface="Calibri"/>
              <a:cs typeface="Calibri"/>
              <a:sym typeface="Calibri"/>
            </a:endParaRPr>
          </a:p>
        </p:txBody>
      </p:sp>
      <p:sp>
        <p:nvSpPr>
          <p:cNvPr id="1276" name="Google Shape;1276;p49"/>
          <p:cNvSpPr/>
          <p:nvPr/>
        </p:nvSpPr>
        <p:spPr>
          <a:xfrm>
            <a:off x="7223760" y="3218688"/>
            <a:ext cx="1463100" cy="932700"/>
          </a:xfrm>
          <a:prstGeom prst="rect">
            <a:avLst/>
          </a:prstGeom>
          <a:solidFill>
            <a:srgbClr val="F0FDF4"/>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9"/>
          <p:cNvSpPr/>
          <p:nvPr/>
        </p:nvSpPr>
        <p:spPr>
          <a:xfrm>
            <a:off x="7223760" y="3218688"/>
            <a:ext cx="36600" cy="932700"/>
          </a:xfrm>
          <a:prstGeom prst="rect">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9"/>
          <p:cNvSpPr/>
          <p:nvPr/>
        </p:nvSpPr>
        <p:spPr>
          <a:xfrm>
            <a:off x="7342632" y="3273552"/>
            <a:ext cx="1298400" cy="84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E7D32"/>
              </a:buClr>
              <a:buSzPts val="1100"/>
              <a:buFont typeface="Calibri"/>
              <a:buNone/>
            </a:pPr>
            <a:r>
              <a:rPr lang="en" sz="1100" b="1" i="0" u="none" strike="noStrike" cap="none">
                <a:solidFill>
                  <a:srgbClr val="2E7D32"/>
                </a:solidFill>
                <a:latin typeface="Calibri"/>
                <a:ea typeface="Calibri"/>
                <a:cs typeface="Calibri"/>
                <a:sym typeface="Calibri"/>
              </a:rPr>
              <a:t>✓  </a:t>
            </a:r>
            <a:r>
              <a:rPr lang="en" sz="950" b="1" i="0" u="none" strike="noStrike" cap="none">
                <a:solidFill>
                  <a:srgbClr val="1A1A2E"/>
                </a:solidFill>
                <a:latin typeface="Calibri"/>
                <a:ea typeface="Calibri"/>
                <a:cs typeface="Calibri"/>
                <a:sym typeface="Calibri"/>
              </a:rPr>
              <a:t>Attention is All You Need</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546E7A"/>
              </a:buClr>
              <a:buSzPts val="850"/>
              <a:buFont typeface="Calibri"/>
              <a:buNone/>
            </a:pPr>
            <a:r>
              <a:rPr lang="en" sz="850" b="0" i="0" u="none" strike="noStrike" cap="none">
                <a:solidFill>
                  <a:srgbClr val="546E7A"/>
                </a:solidFill>
                <a:latin typeface="Calibri"/>
                <a:ea typeface="Calibri"/>
                <a:cs typeface="Calibri"/>
                <a:sym typeface="Calibri"/>
              </a:rPr>
              <a:t>Vaswani et al. 2017: one unified architecture for encode, decode, and cross-attend.</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82"/>
        <p:cNvGrpSpPr/>
        <p:nvPr/>
      </p:nvGrpSpPr>
      <p:grpSpPr>
        <a:xfrm>
          <a:off x="0" y="0"/>
          <a:ext cx="0" cy="0"/>
          <a:chOff x="0" y="0"/>
          <a:chExt cx="0" cy="0"/>
        </a:xfrm>
      </p:grpSpPr>
      <p:grpSp>
        <p:nvGrpSpPr>
          <p:cNvPr id="1283" name="Google Shape;1283;p50"/>
          <p:cNvGrpSpPr/>
          <p:nvPr/>
        </p:nvGrpSpPr>
        <p:grpSpPr>
          <a:xfrm>
            <a:off x="22860" y="1065275"/>
            <a:ext cx="8940545" cy="2759202"/>
            <a:chOff x="30480" y="1420367"/>
            <a:chExt cx="11920727" cy="3678936"/>
          </a:xfrm>
        </p:grpSpPr>
        <p:pic>
          <p:nvPicPr>
            <p:cNvPr id="1284" name="Google Shape;1284;p50"/>
            <p:cNvPicPr preferRelativeResize="0"/>
            <p:nvPr/>
          </p:nvPicPr>
          <p:blipFill rotWithShape="1">
            <a:blip r:embed="rId4">
              <a:alphaModFix/>
            </a:blip>
            <a:srcRect/>
            <a:stretch/>
          </p:blipFill>
          <p:spPr>
            <a:xfrm>
              <a:off x="30480" y="2414015"/>
              <a:ext cx="5867400" cy="2685288"/>
            </a:xfrm>
            <a:prstGeom prst="rect">
              <a:avLst/>
            </a:prstGeom>
            <a:noFill/>
            <a:ln>
              <a:noFill/>
            </a:ln>
          </p:spPr>
        </p:pic>
        <p:pic>
          <p:nvPicPr>
            <p:cNvPr id="1285" name="Google Shape;1285;p50"/>
            <p:cNvPicPr preferRelativeResize="0"/>
            <p:nvPr/>
          </p:nvPicPr>
          <p:blipFill rotWithShape="1">
            <a:blip r:embed="rId5">
              <a:alphaModFix/>
            </a:blip>
            <a:srcRect/>
            <a:stretch/>
          </p:blipFill>
          <p:spPr>
            <a:xfrm>
              <a:off x="225223" y="2609761"/>
              <a:ext cx="5281117" cy="2095681"/>
            </a:xfrm>
            <a:prstGeom prst="rect">
              <a:avLst/>
            </a:prstGeom>
            <a:noFill/>
            <a:ln>
              <a:noFill/>
            </a:ln>
          </p:spPr>
        </p:pic>
        <p:pic>
          <p:nvPicPr>
            <p:cNvPr id="1286" name="Google Shape;1286;p50"/>
            <p:cNvPicPr preferRelativeResize="0"/>
            <p:nvPr/>
          </p:nvPicPr>
          <p:blipFill rotWithShape="1">
            <a:blip r:embed="rId6">
              <a:alphaModFix/>
            </a:blip>
            <a:srcRect/>
            <a:stretch/>
          </p:blipFill>
          <p:spPr>
            <a:xfrm>
              <a:off x="5660135" y="1420367"/>
              <a:ext cx="6291072" cy="3678936"/>
            </a:xfrm>
            <a:prstGeom prst="rect">
              <a:avLst/>
            </a:prstGeom>
            <a:noFill/>
            <a:ln>
              <a:noFill/>
            </a:ln>
          </p:spPr>
        </p:pic>
        <p:pic>
          <p:nvPicPr>
            <p:cNvPr id="1287" name="Google Shape;1287;p50"/>
            <p:cNvPicPr preferRelativeResize="0"/>
            <p:nvPr/>
          </p:nvPicPr>
          <p:blipFill rotWithShape="1">
            <a:blip r:embed="rId7">
              <a:alphaModFix/>
            </a:blip>
            <a:srcRect/>
            <a:stretch/>
          </p:blipFill>
          <p:spPr>
            <a:xfrm>
              <a:off x="5854210" y="1616585"/>
              <a:ext cx="5704997" cy="3088856"/>
            </a:xfrm>
            <a:prstGeom prst="rect">
              <a:avLst/>
            </a:prstGeom>
            <a:noFill/>
            <a:ln>
              <a:noFill/>
            </a:ln>
          </p:spPr>
        </p:pic>
      </p:grpSp>
      <p:sp>
        <p:nvSpPr>
          <p:cNvPr id="1288" name="Google Shape;1288;p50" descr="$PPTXTitle"/>
          <p:cNvSpPr txBox="1">
            <a:spLocks noGrp="1"/>
          </p:cNvSpPr>
          <p:nvPr>
            <p:ph type="title"/>
          </p:nvPr>
        </p:nvSpPr>
        <p:spPr>
          <a:xfrm>
            <a:off x="457200" y="205978"/>
            <a:ext cx="8229600" cy="440700"/>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SzPts val="1800"/>
              <a:buNone/>
            </a:pPr>
            <a:r>
              <a:rPr lang="en"/>
              <a:t>The Self Attention Idea</a:t>
            </a:r>
            <a:endParaRPr/>
          </a:p>
        </p:txBody>
      </p:sp>
      <p:sp>
        <p:nvSpPr>
          <p:cNvPr id="1289" name="Google Shape;1289;p50"/>
          <p:cNvSpPr txBox="1"/>
          <p:nvPr/>
        </p:nvSpPr>
        <p:spPr>
          <a:xfrm>
            <a:off x="1087754" y="3698366"/>
            <a:ext cx="6867900" cy="587100"/>
          </a:xfrm>
          <a:prstGeom prst="rect">
            <a:avLst/>
          </a:prstGeom>
          <a:noFill/>
          <a:ln>
            <a:noFill/>
          </a:ln>
        </p:spPr>
        <p:txBody>
          <a:bodyPr spcFirstLastPara="1" wrap="square" lIns="0" tIns="21425" rIns="0" bIns="0" anchor="t" anchorCtr="0">
            <a:spAutoFit/>
          </a:bodyPr>
          <a:lstStyle/>
          <a:p>
            <a:pPr marL="12700" marR="0" lvl="0" indent="0" algn="l" rtl="0">
              <a:lnSpc>
                <a:spcPct val="116111"/>
              </a:lnSpc>
              <a:spcBef>
                <a:spcPts val="0"/>
              </a:spcBef>
              <a:spcAft>
                <a:spcPts val="0"/>
              </a:spcAft>
              <a:buClr>
                <a:srgbClr val="000000"/>
              </a:buClr>
              <a:buSzPts val="1400"/>
              <a:buFont typeface="Arial"/>
              <a:buNone/>
            </a:pPr>
            <a:r>
              <a:rPr lang="en" sz="1700">
                <a:latin typeface="Calibri"/>
                <a:ea typeface="Calibri"/>
                <a:cs typeface="Calibri"/>
                <a:sym typeface="Calibri"/>
              </a:rPr>
              <a:t>ELMO and </a:t>
            </a:r>
            <a:r>
              <a:rPr lang="en" sz="1700" i="0" u="none" strike="noStrike" cap="none">
                <a:solidFill>
                  <a:srgbClr val="000000"/>
                </a:solidFill>
                <a:latin typeface="Calibri"/>
                <a:ea typeface="Calibri"/>
                <a:cs typeface="Calibri"/>
                <a:sym typeface="Calibri"/>
              </a:rPr>
              <a:t>Self-attention is </a:t>
            </a:r>
            <a:r>
              <a:rPr lang="en" sz="1700" i="0" u="none" strike="noStrike" cap="none">
                <a:solidFill>
                  <a:srgbClr val="0070C0"/>
                </a:solidFill>
                <a:latin typeface="Calibri"/>
                <a:ea typeface="Calibri"/>
                <a:cs typeface="Calibri"/>
                <a:sym typeface="Calibri"/>
              </a:rPr>
              <a:t>encoder-encoder </a:t>
            </a:r>
            <a:r>
              <a:rPr lang="en" sz="1700" i="0" u="none" strike="noStrike" cap="none">
                <a:solidFill>
                  <a:srgbClr val="000000"/>
                </a:solidFill>
                <a:latin typeface="Calibri"/>
                <a:ea typeface="Calibri"/>
                <a:cs typeface="Calibri"/>
                <a:sym typeface="Calibri"/>
              </a:rPr>
              <a:t>(or </a:t>
            </a:r>
            <a:r>
              <a:rPr lang="en" sz="1700" i="0" u="none" strike="noStrike" cap="none">
                <a:solidFill>
                  <a:srgbClr val="0070C0"/>
                </a:solidFill>
                <a:latin typeface="Calibri"/>
                <a:ea typeface="Calibri"/>
                <a:cs typeface="Calibri"/>
                <a:sym typeface="Calibri"/>
              </a:rPr>
              <a:t>decoder-decoder</a:t>
            </a:r>
            <a:r>
              <a:rPr lang="en" sz="1700" i="0" u="none" strike="noStrike" cap="none">
                <a:solidFill>
                  <a:srgbClr val="000000"/>
                </a:solidFill>
                <a:latin typeface="Calibri"/>
                <a:ea typeface="Calibri"/>
                <a:cs typeface="Calibri"/>
                <a:sym typeface="Calibri"/>
              </a:rPr>
              <a:t>) attention where each word attends to </a:t>
            </a:r>
            <a:r>
              <a:rPr lang="en" sz="1700" b="1" i="0" u="none" strike="noStrike" cap="none">
                <a:solidFill>
                  <a:srgbClr val="C00000"/>
                </a:solidFill>
                <a:latin typeface="Calibri"/>
                <a:ea typeface="Calibri"/>
                <a:cs typeface="Calibri"/>
                <a:sym typeface="Calibri"/>
              </a:rPr>
              <a:t>each other word within the input </a:t>
            </a:r>
            <a:r>
              <a:rPr lang="en" sz="1700" i="0" u="none" strike="noStrike" cap="none">
                <a:solidFill>
                  <a:srgbClr val="000000"/>
                </a:solidFill>
                <a:latin typeface="Calibri"/>
                <a:ea typeface="Calibri"/>
                <a:cs typeface="Calibri"/>
                <a:sym typeface="Calibri"/>
              </a:rPr>
              <a:t>(or output).</a:t>
            </a:r>
            <a:endParaRPr sz="1700" i="0" u="none" strike="noStrike" cap="none">
              <a:solidFill>
                <a:srgbClr val="000000"/>
              </a:solidFill>
              <a:latin typeface="Calibri"/>
              <a:ea typeface="Calibri"/>
              <a:cs typeface="Calibri"/>
              <a:sym typeface="Calibri"/>
            </a:endParaRPr>
          </a:p>
        </p:txBody>
      </p:sp>
      <p:sp>
        <p:nvSpPr>
          <p:cNvPr id="1290" name="Google Shape;1290;p50"/>
          <p:cNvSpPr txBox="1"/>
          <p:nvPr/>
        </p:nvSpPr>
        <p:spPr>
          <a:xfrm>
            <a:off x="7016502" y="4829175"/>
            <a:ext cx="1861200" cy="348300"/>
          </a:xfrm>
          <a:prstGeom prst="rect">
            <a:avLst/>
          </a:prstGeom>
          <a:noFill/>
          <a:ln>
            <a:noFill/>
          </a:ln>
        </p:spPr>
        <p:txBody>
          <a:bodyPr spcFirstLastPara="1" wrap="square" lIns="0" tIns="9525" rIns="0" bIns="0" anchor="t" anchorCtr="0">
            <a:spAutoFit/>
          </a:bodyPr>
          <a:lstStyle/>
          <a:p>
            <a:pPr marL="1270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Arial"/>
                <a:ea typeface="Arial"/>
                <a:cs typeface="Arial"/>
                <a:sym typeface="Arial"/>
              </a:rPr>
              <a:t>Stanford NLP Course: CS224N</a:t>
            </a:r>
            <a:endParaRPr sz="1100" b="0" i="0" u="none" strike="noStrike" cap="none">
              <a:solidFill>
                <a:srgbClr val="000000"/>
              </a:solidFill>
              <a:latin typeface="Arial"/>
              <a:ea typeface="Arial"/>
              <a:cs typeface="Arial"/>
              <a:sym typeface="Arial"/>
            </a:endParaRPr>
          </a:p>
        </p:txBody>
      </p:sp>
      <p:pic>
        <p:nvPicPr>
          <p:cNvPr id="1291" name="Google Shape;1291;p50"/>
          <p:cNvPicPr preferRelativeResize="0"/>
          <p:nvPr/>
        </p:nvPicPr>
        <p:blipFill>
          <a:blip r:embed="rId8">
            <a:alphaModFix/>
          </a:blip>
          <a:stretch>
            <a:fillRect/>
          </a:stretch>
        </p:blipFill>
        <p:spPr>
          <a:xfrm>
            <a:off x="8369125" y="0"/>
            <a:ext cx="774877" cy="86717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95"/>
        <p:cNvGrpSpPr/>
        <p:nvPr/>
      </p:nvGrpSpPr>
      <p:grpSpPr>
        <a:xfrm>
          <a:off x="0" y="0"/>
          <a:ext cx="0" cy="0"/>
          <a:chOff x="0" y="0"/>
          <a:chExt cx="0" cy="0"/>
        </a:xfrm>
      </p:grpSpPr>
      <p:sp>
        <p:nvSpPr>
          <p:cNvPr id="1296" name="Google Shape;1296;p51"/>
          <p:cNvSpPr txBox="1"/>
          <p:nvPr/>
        </p:nvSpPr>
        <p:spPr>
          <a:xfrm>
            <a:off x="457200" y="182880"/>
            <a:ext cx="8229600" cy="3693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 sz="2400" b="1" i="0" u="none" strike="noStrike" cap="none">
                <a:solidFill>
                  <a:srgbClr val="111111"/>
                </a:solidFill>
                <a:latin typeface="Calibri"/>
                <a:ea typeface="Calibri"/>
                <a:cs typeface="Calibri"/>
                <a:sym typeface="Calibri"/>
              </a:rPr>
              <a:t>Attention vs self-attention</a:t>
            </a:r>
            <a:endParaRPr/>
          </a:p>
        </p:txBody>
      </p:sp>
      <p:sp>
        <p:nvSpPr>
          <p:cNvPr id="1297" name="Google Shape;1297;p51"/>
          <p:cNvSpPr/>
          <p:nvPr/>
        </p:nvSpPr>
        <p:spPr>
          <a:xfrm>
            <a:off x="457200" y="749808"/>
            <a:ext cx="8229600" cy="3173100"/>
          </a:xfrm>
          <a:prstGeom prst="rect">
            <a:avLst/>
          </a:prstGeom>
          <a:solidFill>
            <a:srgbClr val="FFFFFF"/>
          </a:solidFill>
          <a:ln w="9525" cap="flat" cmpd="sng">
            <a:solidFill>
              <a:srgbClr val="DDDCD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98" name="Google Shape;1298;p51"/>
          <p:cNvSpPr/>
          <p:nvPr/>
        </p:nvSpPr>
        <p:spPr>
          <a:xfrm>
            <a:off x="457200" y="749808"/>
            <a:ext cx="1965900" cy="3173100"/>
          </a:xfrm>
          <a:prstGeom prst="rect">
            <a:avLst/>
          </a:prstGeom>
          <a:solidFill>
            <a:srgbClr val="F2F1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99" name="Google Shape;1299;p51"/>
          <p:cNvSpPr/>
          <p:nvPr/>
        </p:nvSpPr>
        <p:spPr>
          <a:xfrm>
            <a:off x="2423160" y="749808"/>
            <a:ext cx="3131700" cy="420600"/>
          </a:xfrm>
          <a:prstGeom prst="rect">
            <a:avLst/>
          </a:prstGeom>
          <a:solidFill>
            <a:srgbClr val="D9F5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00" name="Google Shape;1300;p51"/>
          <p:cNvSpPr/>
          <p:nvPr/>
        </p:nvSpPr>
        <p:spPr>
          <a:xfrm>
            <a:off x="2423160" y="749808"/>
            <a:ext cx="36600" cy="420600"/>
          </a:xfrm>
          <a:prstGeom prst="rect">
            <a:avLst/>
          </a:prstGeom>
          <a:solidFill>
            <a:srgbClr val="3FBF9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01" name="Google Shape;1301;p51"/>
          <p:cNvSpPr/>
          <p:nvPr/>
        </p:nvSpPr>
        <p:spPr>
          <a:xfrm>
            <a:off x="5554979" y="749808"/>
            <a:ext cx="3131700" cy="420600"/>
          </a:xfrm>
          <a:prstGeom prst="rect">
            <a:avLst/>
          </a:prstGeom>
          <a:solidFill>
            <a:srgbClr val="ECEAF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02" name="Google Shape;1302;p51"/>
          <p:cNvSpPr/>
          <p:nvPr/>
        </p:nvSpPr>
        <p:spPr>
          <a:xfrm>
            <a:off x="5554979" y="749808"/>
            <a:ext cx="36600" cy="420600"/>
          </a:xfrm>
          <a:prstGeom prst="rect">
            <a:avLst/>
          </a:prstGeom>
          <a:solidFill>
            <a:srgbClr val="8C7AE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03" name="Google Shape;1303;p51"/>
          <p:cNvSpPr txBox="1"/>
          <p:nvPr/>
        </p:nvSpPr>
        <p:spPr>
          <a:xfrm>
            <a:off x="2606040" y="749808"/>
            <a:ext cx="2811900" cy="231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 sz="1500" b="1" i="0" u="none" strike="noStrike" cap="none">
                <a:solidFill>
                  <a:srgbClr val="0F7A5C"/>
                </a:solidFill>
                <a:latin typeface="Calibri"/>
                <a:ea typeface="Calibri"/>
                <a:cs typeface="Calibri"/>
                <a:sym typeface="Calibri"/>
              </a:rPr>
              <a:t>Attention (Bahdanau)</a:t>
            </a:r>
            <a:endParaRPr/>
          </a:p>
        </p:txBody>
      </p:sp>
      <p:sp>
        <p:nvSpPr>
          <p:cNvPr id="1304" name="Google Shape;1304;p51"/>
          <p:cNvSpPr txBox="1"/>
          <p:nvPr/>
        </p:nvSpPr>
        <p:spPr>
          <a:xfrm>
            <a:off x="5737859" y="749808"/>
            <a:ext cx="2811900" cy="2310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 sz="1500" b="1" i="0" u="none" strike="noStrike" cap="none">
                <a:solidFill>
                  <a:srgbClr val="4B3F91"/>
                </a:solidFill>
                <a:latin typeface="Calibri"/>
                <a:ea typeface="Calibri"/>
                <a:cs typeface="Calibri"/>
                <a:sym typeface="Calibri"/>
              </a:rPr>
              <a:t>Self-attention (Transformer)</a:t>
            </a:r>
            <a:endParaRPr/>
          </a:p>
        </p:txBody>
      </p:sp>
      <p:cxnSp>
        <p:nvCxnSpPr>
          <p:cNvPr id="1305" name="Google Shape;1305;p51"/>
          <p:cNvCxnSpPr/>
          <p:nvPr/>
        </p:nvCxnSpPr>
        <p:spPr>
          <a:xfrm>
            <a:off x="457200" y="1170432"/>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306" name="Google Shape;1306;p51"/>
          <p:cNvSpPr txBox="1"/>
          <p:nvPr/>
        </p:nvSpPr>
        <p:spPr>
          <a:xfrm>
            <a:off x="640080" y="1170432"/>
            <a:ext cx="1645800" cy="190200"/>
          </a:xfrm>
          <a:prstGeom prst="rect">
            <a:avLst/>
          </a:prstGeom>
          <a:noFill/>
          <a:ln>
            <a:noFill/>
          </a:ln>
        </p:spPr>
        <p:txBody>
          <a:bodyPr spcFirstLastPara="1" wrap="square" lIns="0" tIns="0" rIns="0" bIns="0" anchor="ctr" anchorCtr="0">
            <a:spAutoFit/>
          </a:bodyPr>
          <a:lstStyle/>
          <a:p>
            <a:pPr marL="0" marR="0" lvl="0" indent="0" algn="l" rtl="0">
              <a:lnSpc>
                <a:spcPct val="95000"/>
              </a:lnSpc>
              <a:spcBef>
                <a:spcPts val="0"/>
              </a:spcBef>
              <a:spcAft>
                <a:spcPts val="0"/>
              </a:spcAft>
              <a:buNone/>
            </a:pPr>
            <a:r>
              <a:rPr lang="en" sz="1300" b="1" i="0" u="none" strike="noStrike" cap="none">
                <a:solidFill>
                  <a:srgbClr val="111111"/>
                </a:solidFill>
                <a:latin typeface="Calibri"/>
                <a:ea typeface="Calibri"/>
                <a:cs typeface="Calibri"/>
                <a:sym typeface="Calibri"/>
              </a:rPr>
              <a:t>Who attends to whom?</a:t>
            </a:r>
            <a:endParaRPr/>
          </a:p>
        </p:txBody>
      </p:sp>
      <p:sp>
        <p:nvSpPr>
          <p:cNvPr id="1307" name="Google Shape;1307;p51"/>
          <p:cNvSpPr txBox="1"/>
          <p:nvPr/>
        </p:nvSpPr>
        <p:spPr>
          <a:xfrm>
            <a:off x="2606040" y="1216152"/>
            <a:ext cx="2766000" cy="200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300" b="0" i="0" u="none" strike="noStrike" cap="none">
                <a:solidFill>
                  <a:srgbClr val="111111"/>
                </a:solidFill>
                <a:latin typeface="Calibri"/>
                <a:ea typeface="Calibri"/>
                <a:cs typeface="Calibri"/>
                <a:sym typeface="Calibri"/>
              </a:rPr>
              <a:t>Decoder → Encoder</a:t>
            </a:r>
            <a:endParaRPr/>
          </a:p>
        </p:txBody>
      </p:sp>
      <p:sp>
        <p:nvSpPr>
          <p:cNvPr id="1308" name="Google Shape;1308;p51"/>
          <p:cNvSpPr/>
          <p:nvPr/>
        </p:nvSpPr>
        <p:spPr>
          <a:xfrm>
            <a:off x="2606040" y="1645920"/>
            <a:ext cx="1700700" cy="292500"/>
          </a:xfrm>
          <a:prstGeom prst="roundRect">
            <a:avLst>
              <a:gd name="adj" fmla="val 40000"/>
            </a:avLst>
          </a:prstGeom>
          <a:solidFill>
            <a:srgbClr val="DFF3E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09" name="Google Shape;1309;p51"/>
          <p:cNvSpPr txBox="1"/>
          <p:nvPr/>
        </p:nvSpPr>
        <p:spPr>
          <a:xfrm>
            <a:off x="2606040" y="1645920"/>
            <a:ext cx="1700700" cy="1692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100" b="1" i="0" u="none" strike="noStrike" cap="none">
                <a:solidFill>
                  <a:srgbClr val="1F7A5C"/>
                </a:solidFill>
                <a:latin typeface="Calibri"/>
                <a:ea typeface="Calibri"/>
                <a:cs typeface="Calibri"/>
                <a:sym typeface="Calibri"/>
              </a:rPr>
              <a:t>cross-sequence</a:t>
            </a:r>
            <a:endParaRPr/>
          </a:p>
        </p:txBody>
      </p:sp>
      <p:sp>
        <p:nvSpPr>
          <p:cNvPr id="1310" name="Google Shape;1310;p51"/>
          <p:cNvSpPr txBox="1"/>
          <p:nvPr/>
        </p:nvSpPr>
        <p:spPr>
          <a:xfrm>
            <a:off x="5737859" y="1216152"/>
            <a:ext cx="2766000" cy="400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300" b="0" i="0" u="none" strike="noStrike" cap="none">
                <a:solidFill>
                  <a:srgbClr val="111111"/>
                </a:solidFill>
                <a:latin typeface="Calibri"/>
                <a:ea typeface="Calibri"/>
                <a:cs typeface="Calibri"/>
                <a:sym typeface="Calibri"/>
              </a:rPr>
              <a:t>Each word → every other word in same sequence</a:t>
            </a:r>
            <a:endParaRPr/>
          </a:p>
        </p:txBody>
      </p:sp>
      <p:sp>
        <p:nvSpPr>
          <p:cNvPr id="1311" name="Google Shape;1311;p51"/>
          <p:cNvSpPr/>
          <p:nvPr/>
        </p:nvSpPr>
        <p:spPr>
          <a:xfrm>
            <a:off x="5737859" y="1645920"/>
            <a:ext cx="1801500" cy="292500"/>
          </a:xfrm>
          <a:prstGeom prst="roundRect">
            <a:avLst>
              <a:gd name="adj" fmla="val 40000"/>
            </a:avLst>
          </a:prstGeom>
          <a:solidFill>
            <a:srgbClr val="ECEAF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12" name="Google Shape;1312;p51"/>
          <p:cNvSpPr txBox="1"/>
          <p:nvPr/>
        </p:nvSpPr>
        <p:spPr>
          <a:xfrm>
            <a:off x="5737859" y="1645920"/>
            <a:ext cx="1801500" cy="1692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100" b="1" i="0" u="none" strike="noStrike" cap="none">
                <a:solidFill>
                  <a:srgbClr val="4B3F91"/>
                </a:solidFill>
                <a:latin typeface="Calibri"/>
                <a:ea typeface="Calibri"/>
                <a:cs typeface="Calibri"/>
                <a:sym typeface="Calibri"/>
              </a:rPr>
              <a:t>within-sequence</a:t>
            </a:r>
            <a:endParaRPr/>
          </a:p>
        </p:txBody>
      </p:sp>
      <p:cxnSp>
        <p:nvCxnSpPr>
          <p:cNvPr id="1313" name="Google Shape;1313;p51"/>
          <p:cNvCxnSpPr/>
          <p:nvPr/>
        </p:nvCxnSpPr>
        <p:spPr>
          <a:xfrm>
            <a:off x="457200" y="2011680"/>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314" name="Google Shape;1314;p51"/>
          <p:cNvSpPr txBox="1"/>
          <p:nvPr/>
        </p:nvSpPr>
        <p:spPr>
          <a:xfrm>
            <a:off x="640080" y="2011680"/>
            <a:ext cx="1645800" cy="2001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 sz="1300" b="1" i="0" u="none" strike="noStrike" cap="none">
                <a:solidFill>
                  <a:srgbClr val="111111"/>
                </a:solidFill>
                <a:latin typeface="Calibri"/>
                <a:ea typeface="Calibri"/>
                <a:cs typeface="Calibri"/>
                <a:sym typeface="Calibri"/>
              </a:rPr>
              <a:t>Used in</a:t>
            </a:r>
            <a:endParaRPr/>
          </a:p>
        </p:txBody>
      </p:sp>
      <p:sp>
        <p:nvSpPr>
          <p:cNvPr id="1315" name="Google Shape;1315;p51"/>
          <p:cNvSpPr txBox="1"/>
          <p:nvPr/>
        </p:nvSpPr>
        <p:spPr>
          <a:xfrm>
            <a:off x="2606040" y="2011680"/>
            <a:ext cx="2766000" cy="2001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 sz="1300" b="0" i="0" u="none" strike="noStrike" cap="none">
                <a:solidFill>
                  <a:srgbClr val="111111"/>
                </a:solidFill>
                <a:latin typeface="Calibri"/>
                <a:ea typeface="Calibri"/>
                <a:cs typeface="Calibri"/>
                <a:sym typeface="Calibri"/>
              </a:rPr>
              <a:t>Seq2Seq translation (RNN-based)</a:t>
            </a:r>
            <a:endParaRPr/>
          </a:p>
        </p:txBody>
      </p:sp>
      <p:sp>
        <p:nvSpPr>
          <p:cNvPr id="1316" name="Google Shape;1316;p51"/>
          <p:cNvSpPr txBox="1"/>
          <p:nvPr/>
        </p:nvSpPr>
        <p:spPr>
          <a:xfrm>
            <a:off x="5737859" y="2011680"/>
            <a:ext cx="2766000" cy="2001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 sz="1300" b="0" i="0" u="none" strike="noStrike" cap="none">
                <a:solidFill>
                  <a:srgbClr val="111111"/>
                </a:solidFill>
                <a:latin typeface="Calibri"/>
                <a:ea typeface="Calibri"/>
                <a:cs typeface="Calibri"/>
                <a:sym typeface="Calibri"/>
              </a:rPr>
              <a:t>Transformers — BERT, GPT, T5</a:t>
            </a:r>
            <a:endParaRPr/>
          </a:p>
        </p:txBody>
      </p:sp>
      <p:cxnSp>
        <p:nvCxnSpPr>
          <p:cNvPr id="1317" name="Google Shape;1317;p51"/>
          <p:cNvCxnSpPr/>
          <p:nvPr/>
        </p:nvCxnSpPr>
        <p:spPr>
          <a:xfrm>
            <a:off x="457200" y="2578608"/>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318" name="Google Shape;1318;p51"/>
          <p:cNvSpPr txBox="1"/>
          <p:nvPr/>
        </p:nvSpPr>
        <p:spPr>
          <a:xfrm>
            <a:off x="640080" y="2578608"/>
            <a:ext cx="1645800" cy="2001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 sz="1300" b="1" i="0" u="none" strike="noStrike" cap="none">
                <a:solidFill>
                  <a:srgbClr val="111111"/>
                </a:solidFill>
                <a:latin typeface="Calibri"/>
                <a:ea typeface="Calibri"/>
                <a:cs typeface="Calibri"/>
                <a:sym typeface="Calibri"/>
              </a:rPr>
              <a:t>Replaces</a:t>
            </a:r>
            <a:endParaRPr/>
          </a:p>
        </p:txBody>
      </p:sp>
      <p:sp>
        <p:nvSpPr>
          <p:cNvPr id="1319" name="Google Shape;1319;p51"/>
          <p:cNvSpPr txBox="1"/>
          <p:nvPr/>
        </p:nvSpPr>
        <p:spPr>
          <a:xfrm>
            <a:off x="2606040" y="2578608"/>
            <a:ext cx="2766000" cy="2001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 sz="1300" b="0" i="0" u="none" strike="noStrike" cap="none">
                <a:solidFill>
                  <a:srgbClr val="111111"/>
                </a:solidFill>
                <a:latin typeface="Calibri"/>
                <a:ea typeface="Calibri"/>
                <a:cs typeface="Calibri"/>
                <a:sym typeface="Calibri"/>
              </a:rPr>
              <a:t>Fixed context vector bottleneck</a:t>
            </a:r>
            <a:endParaRPr/>
          </a:p>
        </p:txBody>
      </p:sp>
      <p:sp>
        <p:nvSpPr>
          <p:cNvPr id="1320" name="Google Shape;1320;p51"/>
          <p:cNvSpPr txBox="1"/>
          <p:nvPr/>
        </p:nvSpPr>
        <p:spPr>
          <a:xfrm>
            <a:off x="5737859" y="2578608"/>
            <a:ext cx="2766000" cy="2001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 sz="1300" b="0" i="0" u="none" strike="noStrike" cap="none">
                <a:solidFill>
                  <a:srgbClr val="111111"/>
                </a:solidFill>
                <a:latin typeface="Calibri"/>
                <a:ea typeface="Calibri"/>
                <a:cs typeface="Calibri"/>
                <a:sym typeface="Calibri"/>
              </a:rPr>
              <a:t>Sequential LSTM entirely</a:t>
            </a:r>
            <a:endParaRPr/>
          </a:p>
        </p:txBody>
      </p:sp>
      <p:cxnSp>
        <p:nvCxnSpPr>
          <p:cNvPr id="1321" name="Google Shape;1321;p51"/>
          <p:cNvCxnSpPr/>
          <p:nvPr/>
        </p:nvCxnSpPr>
        <p:spPr>
          <a:xfrm>
            <a:off x="457200" y="3145536"/>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322" name="Google Shape;1322;p51"/>
          <p:cNvSpPr txBox="1"/>
          <p:nvPr/>
        </p:nvSpPr>
        <p:spPr>
          <a:xfrm>
            <a:off x="640080" y="3145536"/>
            <a:ext cx="1645800" cy="2001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 sz="1300" b="1" i="0" u="none" strike="noStrike" cap="none">
                <a:solidFill>
                  <a:srgbClr val="111111"/>
                </a:solidFill>
                <a:latin typeface="Calibri"/>
                <a:ea typeface="Calibri"/>
                <a:cs typeface="Calibri"/>
                <a:sym typeface="Calibri"/>
              </a:rPr>
              <a:t>Key formula</a:t>
            </a:r>
            <a:endParaRPr/>
          </a:p>
        </p:txBody>
      </p:sp>
      <p:sp>
        <p:nvSpPr>
          <p:cNvPr id="1323" name="Google Shape;1323;p51"/>
          <p:cNvSpPr txBox="1"/>
          <p:nvPr/>
        </p:nvSpPr>
        <p:spPr>
          <a:xfrm>
            <a:off x="2606040" y="3145536"/>
            <a:ext cx="2766000" cy="39480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en" sz="1300" b="0" i="0" u="none" strike="noStrike" cap="none">
                <a:solidFill>
                  <a:srgbClr val="1A1F26"/>
                </a:solidFill>
                <a:latin typeface="Consolas"/>
                <a:ea typeface="Consolas"/>
                <a:cs typeface="Consolas"/>
                <a:sym typeface="Consolas"/>
              </a:rPr>
              <a:t>cₜ = Σ αᵢ · hᵢ</a:t>
            </a:r>
            <a:endParaRPr/>
          </a:p>
          <a:p>
            <a:pPr marL="0" marR="0" lvl="0" indent="0" algn="l" rtl="0">
              <a:lnSpc>
                <a:spcPct val="105000"/>
              </a:lnSpc>
              <a:spcBef>
                <a:spcPts val="0"/>
              </a:spcBef>
              <a:spcAft>
                <a:spcPts val="0"/>
              </a:spcAft>
              <a:buNone/>
            </a:pPr>
            <a:r>
              <a:rPr lang="en" sz="1200" b="0" i="0" u="none" strike="noStrike" cap="none">
                <a:solidFill>
                  <a:srgbClr val="1A1F26"/>
                </a:solidFill>
                <a:latin typeface="Consolas"/>
                <a:ea typeface="Consolas"/>
                <a:cs typeface="Consolas"/>
                <a:sym typeface="Consolas"/>
              </a:rPr>
              <a:t>αᵢ = softmax(FF(s_{t-1}, hᵢ))</a:t>
            </a:r>
            <a:endParaRPr/>
          </a:p>
        </p:txBody>
      </p:sp>
      <p:sp>
        <p:nvSpPr>
          <p:cNvPr id="1324" name="Google Shape;1324;p51"/>
          <p:cNvSpPr txBox="1"/>
          <p:nvPr/>
        </p:nvSpPr>
        <p:spPr>
          <a:xfrm>
            <a:off x="5737859" y="3145536"/>
            <a:ext cx="2766000" cy="41010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en" sz="1300" b="0" i="0" u="none" strike="noStrike" cap="none">
                <a:solidFill>
                  <a:srgbClr val="1A1F26"/>
                </a:solidFill>
                <a:latin typeface="Consolas"/>
                <a:ea typeface="Consolas"/>
                <a:cs typeface="Consolas"/>
                <a:sym typeface="Consolas"/>
              </a:rPr>
              <a:t>Attention(Q,K,V) =</a:t>
            </a:r>
            <a:endParaRPr/>
          </a:p>
          <a:p>
            <a:pPr marL="0" marR="0" lvl="0" indent="0" algn="l" rtl="0">
              <a:lnSpc>
                <a:spcPct val="105000"/>
              </a:lnSpc>
              <a:spcBef>
                <a:spcPts val="0"/>
              </a:spcBef>
              <a:spcAft>
                <a:spcPts val="0"/>
              </a:spcAft>
              <a:buNone/>
            </a:pPr>
            <a:r>
              <a:rPr lang="en" sz="1300" b="0" i="0" u="none" strike="noStrike" cap="none">
                <a:solidFill>
                  <a:srgbClr val="1A1F26"/>
                </a:solidFill>
                <a:latin typeface="Consolas"/>
                <a:ea typeface="Consolas"/>
                <a:cs typeface="Consolas"/>
                <a:sym typeface="Consolas"/>
              </a:rPr>
              <a:t>softmax(QKᵀ/√d) · V</a:t>
            </a:r>
            <a:endParaRPr/>
          </a:p>
        </p:txBody>
      </p:sp>
      <p:cxnSp>
        <p:nvCxnSpPr>
          <p:cNvPr id="1325" name="Google Shape;1325;p51"/>
          <p:cNvCxnSpPr/>
          <p:nvPr/>
        </p:nvCxnSpPr>
        <p:spPr>
          <a:xfrm>
            <a:off x="457200" y="3922776"/>
            <a:ext cx="8229600" cy="0"/>
          </a:xfrm>
          <a:prstGeom prst="straightConnector1">
            <a:avLst/>
          </a:prstGeom>
          <a:noFill/>
          <a:ln w="9525" cap="flat" cmpd="sng">
            <a:solidFill>
              <a:srgbClr val="DDDCD5"/>
            </a:solidFill>
            <a:prstDash val="solid"/>
            <a:round/>
            <a:headEnd type="none" w="sm" len="sm"/>
            <a:tailEnd type="none" w="sm" len="sm"/>
          </a:ln>
          <a:effectLst>
            <a:outerShdw blurRad="40000" dist="20000" dir="5400000" rotWithShape="0">
              <a:srgbClr val="000000">
                <a:alpha val="38040"/>
              </a:srgbClr>
            </a:outerShdw>
          </a:effectLst>
        </p:spPr>
      </p:cxnSp>
      <p:sp>
        <p:nvSpPr>
          <p:cNvPr id="1326" name="Google Shape;1326;p51"/>
          <p:cNvSpPr txBox="1"/>
          <p:nvPr/>
        </p:nvSpPr>
        <p:spPr>
          <a:xfrm>
            <a:off x="457200" y="4123944"/>
            <a:ext cx="8229600" cy="394500"/>
          </a:xfrm>
          <a:prstGeom prst="rect">
            <a:avLst/>
          </a:prstGeom>
          <a:noFill/>
          <a:ln>
            <a:noFill/>
          </a:ln>
        </p:spPr>
        <p:txBody>
          <a:bodyPr spcFirstLastPara="1" wrap="square" lIns="0" tIns="0" rIns="0" bIns="0" anchor="ctr" anchorCtr="0">
            <a:spAutoFit/>
          </a:bodyPr>
          <a:lstStyle/>
          <a:p>
            <a:pPr marL="0" marR="0" lvl="0" indent="0" algn="l" rtl="0">
              <a:lnSpc>
                <a:spcPct val="105000"/>
              </a:lnSpc>
              <a:spcBef>
                <a:spcPts val="0"/>
              </a:spcBef>
              <a:spcAft>
                <a:spcPts val="0"/>
              </a:spcAft>
              <a:buNone/>
            </a:pPr>
            <a:r>
              <a:rPr lang="en" sz="1250" b="0" i="1" u="none" strike="noStrike" cap="none">
                <a:solidFill>
                  <a:srgbClr val="555555"/>
                </a:solidFill>
                <a:latin typeface="Calibri"/>
                <a:ea typeface="Calibri"/>
                <a:cs typeface="Calibri"/>
                <a:sym typeface="Calibri"/>
              </a:rPr>
              <a:t>Attention asks "which source words matter for this output word?" — Self-attention asks "which words in this sentence matter for understanding each word?"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30"/>
        <p:cNvGrpSpPr/>
        <p:nvPr/>
      </p:nvGrpSpPr>
      <p:grpSpPr>
        <a:xfrm>
          <a:off x="0" y="0"/>
          <a:ext cx="0" cy="0"/>
          <a:chOff x="0" y="0"/>
          <a:chExt cx="0" cy="0"/>
        </a:xfrm>
      </p:grpSpPr>
      <p:sp>
        <p:nvSpPr>
          <p:cNvPr id="1331" name="Google Shape;1331;p52" descr="$PPTXTitle"/>
          <p:cNvSpPr txBox="1">
            <a:spLocks noGrp="1"/>
          </p:cNvSpPr>
          <p:nvPr>
            <p:ph type="title"/>
          </p:nvPr>
        </p:nvSpPr>
        <p:spPr>
          <a:xfrm>
            <a:off x="1825493" y="385952"/>
            <a:ext cx="7318500" cy="440700"/>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SzPts val="2800"/>
              <a:buNone/>
            </a:pPr>
            <a:r>
              <a:rPr lang="en" sz="2800">
                <a:solidFill>
                  <a:schemeClr val="dk1"/>
                </a:solidFill>
              </a:rPr>
              <a:t>Attention Based Model: Transformer</a:t>
            </a:r>
            <a:endParaRPr sz="2800">
              <a:solidFill>
                <a:schemeClr val="dk1"/>
              </a:solidFill>
            </a:endParaRPr>
          </a:p>
        </p:txBody>
      </p:sp>
      <p:pic>
        <p:nvPicPr>
          <p:cNvPr id="1332" name="Google Shape;1332;p52"/>
          <p:cNvPicPr preferRelativeResize="0"/>
          <p:nvPr/>
        </p:nvPicPr>
        <p:blipFill rotWithShape="1">
          <a:blip r:embed="rId4">
            <a:alphaModFix/>
          </a:blip>
          <a:srcRect/>
          <a:stretch/>
        </p:blipFill>
        <p:spPr>
          <a:xfrm>
            <a:off x="2089975" y="1252775"/>
            <a:ext cx="4348649" cy="3829051"/>
          </a:xfrm>
          <a:prstGeom prst="rect">
            <a:avLst/>
          </a:prstGeom>
          <a:noFill/>
          <a:ln>
            <a:noFill/>
          </a:ln>
        </p:spPr>
      </p:pic>
      <p:pic>
        <p:nvPicPr>
          <p:cNvPr id="1333" name="Google Shape;1333;p52"/>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38"/>
        <p:cNvGrpSpPr/>
        <p:nvPr/>
      </p:nvGrpSpPr>
      <p:grpSpPr>
        <a:xfrm>
          <a:off x="0" y="0"/>
          <a:ext cx="0" cy="0"/>
          <a:chOff x="0" y="0"/>
          <a:chExt cx="0" cy="0"/>
        </a:xfrm>
      </p:grpSpPr>
      <p:sp>
        <p:nvSpPr>
          <p:cNvPr id="1339" name="Google Shape;1339;p53"/>
          <p:cNvSpPr/>
          <p:nvPr/>
        </p:nvSpPr>
        <p:spPr>
          <a:xfrm>
            <a:off x="2974448" y="333700"/>
            <a:ext cx="8503800" cy="493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2100"/>
              <a:buFont typeface="Calibri"/>
              <a:buNone/>
            </a:pPr>
            <a:r>
              <a:rPr lang="en" sz="2800" b="1" i="0" u="none" strike="noStrike" cap="none">
                <a:solidFill>
                  <a:srgbClr val="1A1F26"/>
                </a:solidFill>
                <a:latin typeface="Calibri"/>
                <a:ea typeface="Calibri"/>
                <a:cs typeface="Calibri"/>
                <a:sym typeface="Calibri"/>
              </a:rPr>
              <a:t>What is Self-Attention?</a:t>
            </a:r>
            <a:endParaRPr sz="2800" b="0" i="0" u="none" strike="noStrike" cap="none">
              <a:solidFill>
                <a:schemeClr val="dk1"/>
              </a:solidFill>
              <a:latin typeface="Calibri"/>
              <a:ea typeface="Calibri"/>
              <a:cs typeface="Calibri"/>
              <a:sym typeface="Calibri"/>
            </a:endParaRPr>
          </a:p>
        </p:txBody>
      </p:sp>
      <p:sp>
        <p:nvSpPr>
          <p:cNvPr id="1340" name="Google Shape;1340;p53"/>
          <p:cNvSpPr/>
          <p:nvPr/>
        </p:nvSpPr>
        <p:spPr>
          <a:xfrm>
            <a:off x="308610" y="973836"/>
            <a:ext cx="8503800" cy="24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1000"/>
              <a:buFont typeface="Calibri"/>
              <a:buNone/>
            </a:pPr>
            <a:r>
              <a:rPr lang="en" sz="1000" b="0" i="0" u="none" strike="noStrike" cap="none">
                <a:solidFill>
                  <a:srgbClr val="5A6270"/>
                </a:solidFill>
                <a:latin typeface="Calibri"/>
                <a:ea typeface="Calibri"/>
                <a:cs typeface="Calibri"/>
                <a:sym typeface="Calibri"/>
              </a:rPr>
              <a:t>Each element looks at all others and decides how much to focus on each.</a:t>
            </a:r>
            <a:endParaRPr sz="1000" b="0" i="0" u="none" strike="noStrike" cap="none">
              <a:solidFill>
                <a:schemeClr val="dk1"/>
              </a:solidFill>
              <a:latin typeface="Calibri"/>
              <a:ea typeface="Calibri"/>
              <a:cs typeface="Calibri"/>
              <a:sym typeface="Calibri"/>
            </a:endParaRPr>
          </a:p>
        </p:txBody>
      </p:sp>
      <p:sp>
        <p:nvSpPr>
          <p:cNvPr id="1341" name="Google Shape;1341;p53"/>
          <p:cNvSpPr/>
          <p:nvPr/>
        </p:nvSpPr>
        <p:spPr>
          <a:xfrm>
            <a:off x="308610" y="1289304"/>
            <a:ext cx="8503800" cy="493800"/>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2" name="Google Shape;1342;p53"/>
          <p:cNvSpPr/>
          <p:nvPr/>
        </p:nvSpPr>
        <p:spPr>
          <a:xfrm>
            <a:off x="314464" y="1289304"/>
            <a:ext cx="8366700" cy="493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1100"/>
              <a:buFont typeface="Calibri"/>
              <a:buNone/>
            </a:pPr>
            <a:r>
              <a:rPr lang="en" sz="1500" b="0" i="0" u="none" strike="noStrike" cap="none">
                <a:solidFill>
                  <a:schemeClr val="dk1"/>
                </a:solidFill>
                <a:latin typeface="Calibri"/>
                <a:ea typeface="Calibri"/>
                <a:cs typeface="Calibri"/>
                <a:sym typeface="Calibri"/>
              </a:rPr>
              <a:t>"The animal didn't cross the street because </a:t>
            </a:r>
            <a:r>
              <a:rPr lang="en" sz="1600" b="1" i="0" u="none" strike="noStrike" cap="none">
                <a:solidFill>
                  <a:schemeClr val="dk1"/>
                </a:solidFill>
                <a:latin typeface="Calibri"/>
                <a:ea typeface="Calibri"/>
                <a:cs typeface="Calibri"/>
                <a:sym typeface="Calibri"/>
              </a:rPr>
              <a:t>it</a:t>
            </a:r>
            <a:r>
              <a:rPr lang="en" sz="1500" b="0" i="0" u="none" strike="noStrike" cap="none">
                <a:solidFill>
                  <a:schemeClr val="dk1"/>
                </a:solidFill>
                <a:latin typeface="Calibri"/>
                <a:ea typeface="Calibri"/>
                <a:cs typeface="Calibri"/>
                <a:sym typeface="Calibri"/>
              </a:rPr>
              <a:t> was too tired.</a:t>
            </a:r>
            <a:r>
              <a:rPr lang="en" sz="1500">
                <a:solidFill>
                  <a:schemeClr val="dk1"/>
                </a:solidFill>
                <a:latin typeface="Calibri"/>
                <a:ea typeface="Calibri"/>
                <a:cs typeface="Calibri"/>
                <a:sym typeface="Calibri"/>
              </a:rPr>
              <a:t>"</a:t>
            </a:r>
            <a:endParaRPr sz="1500" b="0" i="0" u="none" strike="noStrike" cap="none">
              <a:solidFill>
                <a:schemeClr val="dk1"/>
              </a:solidFill>
              <a:latin typeface="Calibri"/>
              <a:ea typeface="Calibri"/>
              <a:cs typeface="Calibri"/>
              <a:sym typeface="Calibri"/>
            </a:endParaRPr>
          </a:p>
        </p:txBody>
      </p:sp>
      <p:sp>
        <p:nvSpPr>
          <p:cNvPr id="1343" name="Google Shape;1343;p53"/>
          <p:cNvSpPr/>
          <p:nvPr/>
        </p:nvSpPr>
        <p:spPr>
          <a:xfrm>
            <a:off x="377190" y="1831086"/>
            <a:ext cx="4800600" cy="24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900"/>
              <a:buFont typeface="Calibri"/>
              <a:buNone/>
            </a:pPr>
            <a:r>
              <a:rPr lang="en" sz="1200" b="0" i="1" u="none" strike="noStrike" cap="none">
                <a:solidFill>
                  <a:schemeClr val="dk1"/>
                </a:solidFill>
                <a:latin typeface="Calibri"/>
                <a:ea typeface="Calibri"/>
                <a:cs typeface="Calibri"/>
                <a:sym typeface="Calibri"/>
              </a:rPr>
              <a:t>👉  What does  "it"  refer to?</a:t>
            </a:r>
            <a:endParaRPr sz="1200" b="0" i="0" u="none" strike="noStrike" cap="none">
              <a:solidFill>
                <a:schemeClr val="dk1"/>
              </a:solidFill>
              <a:latin typeface="Calibri"/>
              <a:ea typeface="Calibri"/>
              <a:cs typeface="Calibri"/>
              <a:sym typeface="Calibri"/>
            </a:endParaRPr>
          </a:p>
        </p:txBody>
      </p:sp>
      <p:sp>
        <p:nvSpPr>
          <p:cNvPr id="1344" name="Google Shape;1344;p53"/>
          <p:cNvSpPr/>
          <p:nvPr/>
        </p:nvSpPr>
        <p:spPr>
          <a:xfrm>
            <a:off x="308610" y="2125980"/>
            <a:ext cx="2743200" cy="1302900"/>
          </a:xfrm>
          <a:prstGeom prst="rect">
            <a:avLst/>
          </a:prstGeom>
          <a:solidFill>
            <a:schemeClr val="lt1"/>
          </a:solidFill>
          <a:ln w="12700" cap="flat" cmpd="sng">
            <a:solidFill>
              <a:schemeClr val="dk1"/>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5" name="Google Shape;1345;p53"/>
          <p:cNvSpPr/>
          <p:nvPr/>
        </p:nvSpPr>
        <p:spPr>
          <a:xfrm>
            <a:off x="396760" y="2220786"/>
            <a:ext cx="377100" cy="377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100"/>
              <a:buFont typeface="Calibri"/>
              <a:buNone/>
            </a:pPr>
            <a:r>
              <a:rPr lang="en" b="1" i="0" u="none" strike="noStrike" cap="none">
                <a:solidFill>
                  <a:srgbClr val="1A1F26"/>
                </a:solidFill>
                <a:latin typeface="Calibri"/>
                <a:ea typeface="Calibri"/>
                <a:cs typeface="Calibri"/>
                <a:sym typeface="Calibri"/>
              </a:rPr>
              <a:t>1</a:t>
            </a:r>
            <a:endParaRPr b="0" i="0" u="none" strike="noStrike" cap="none">
              <a:solidFill>
                <a:schemeClr val="dk1"/>
              </a:solidFill>
              <a:latin typeface="Calibri"/>
              <a:ea typeface="Calibri"/>
              <a:cs typeface="Calibri"/>
              <a:sym typeface="Calibri"/>
            </a:endParaRPr>
          </a:p>
        </p:txBody>
      </p:sp>
      <p:sp>
        <p:nvSpPr>
          <p:cNvPr id="1346" name="Google Shape;1346;p53"/>
          <p:cNvSpPr/>
          <p:nvPr/>
        </p:nvSpPr>
        <p:spPr>
          <a:xfrm>
            <a:off x="744846" y="2208276"/>
            <a:ext cx="1988700" cy="37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1100"/>
              <a:buFont typeface="Calibri"/>
              <a:buNone/>
            </a:pPr>
            <a:r>
              <a:rPr lang="en" b="1" i="0" u="none" strike="noStrike" cap="none">
                <a:solidFill>
                  <a:srgbClr val="1A1F26"/>
                </a:solidFill>
                <a:latin typeface="Calibri"/>
                <a:ea typeface="Calibri"/>
                <a:cs typeface="Calibri"/>
                <a:sym typeface="Calibri"/>
              </a:rPr>
              <a:t>Compare</a:t>
            </a:r>
            <a:endParaRPr b="0" i="0" u="none" strike="noStrike" cap="none">
              <a:solidFill>
                <a:schemeClr val="dk1"/>
              </a:solidFill>
              <a:latin typeface="Calibri"/>
              <a:ea typeface="Calibri"/>
              <a:cs typeface="Calibri"/>
              <a:sym typeface="Calibri"/>
            </a:endParaRPr>
          </a:p>
        </p:txBody>
      </p:sp>
      <p:sp>
        <p:nvSpPr>
          <p:cNvPr id="1347" name="Google Shape;1347;p53"/>
          <p:cNvSpPr/>
          <p:nvPr/>
        </p:nvSpPr>
        <p:spPr>
          <a:xfrm>
            <a:off x="459486" y="2633472"/>
            <a:ext cx="2469000" cy="72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900"/>
              <a:buFont typeface="Calibri"/>
              <a:buNone/>
            </a:pPr>
            <a:r>
              <a:rPr lang="en" sz="900" b="0" i="0" u="none" strike="noStrike" cap="none">
                <a:solidFill>
                  <a:srgbClr val="5A6270"/>
                </a:solidFill>
                <a:latin typeface="Calibri"/>
                <a:ea typeface="Calibri"/>
                <a:cs typeface="Calibri"/>
                <a:sym typeface="Calibri"/>
              </a:rPr>
              <a:t>Compare it with every other word</a:t>
            </a:r>
            <a:endParaRPr sz="900" b="0" i="0" u="none" strike="noStrike" cap="none">
              <a:solidFill>
                <a:schemeClr val="dk1"/>
              </a:solidFill>
              <a:latin typeface="Calibri"/>
              <a:ea typeface="Calibri"/>
              <a:cs typeface="Calibri"/>
              <a:sym typeface="Calibri"/>
            </a:endParaRPr>
          </a:p>
        </p:txBody>
      </p:sp>
      <p:sp>
        <p:nvSpPr>
          <p:cNvPr id="1348" name="Google Shape;1348;p53"/>
          <p:cNvSpPr/>
          <p:nvPr/>
        </p:nvSpPr>
        <p:spPr>
          <a:xfrm>
            <a:off x="3243834" y="2125980"/>
            <a:ext cx="2743200" cy="1302900"/>
          </a:xfrm>
          <a:prstGeom prst="rect">
            <a:avLst/>
          </a:prstGeom>
          <a:solidFill>
            <a:schemeClr val="lt1"/>
          </a:solidFill>
          <a:ln w="12700" cap="flat" cmpd="sng">
            <a:solidFill>
              <a:schemeClr val="dk1"/>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9" name="Google Shape;1349;p53"/>
          <p:cNvSpPr/>
          <p:nvPr/>
        </p:nvSpPr>
        <p:spPr>
          <a:xfrm>
            <a:off x="3373802" y="2213538"/>
            <a:ext cx="377100" cy="377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100"/>
              <a:buFont typeface="Calibri"/>
              <a:buNone/>
            </a:pPr>
            <a:r>
              <a:rPr lang="en" b="1" i="0" u="none" strike="noStrike" cap="none">
                <a:solidFill>
                  <a:srgbClr val="1A1F26"/>
                </a:solidFill>
                <a:latin typeface="Calibri"/>
                <a:ea typeface="Calibri"/>
                <a:cs typeface="Calibri"/>
                <a:sym typeface="Calibri"/>
              </a:rPr>
              <a:t>2</a:t>
            </a:r>
            <a:endParaRPr b="0" i="0" u="none" strike="noStrike" cap="none">
              <a:solidFill>
                <a:schemeClr val="dk1"/>
              </a:solidFill>
              <a:latin typeface="Calibri"/>
              <a:ea typeface="Calibri"/>
              <a:cs typeface="Calibri"/>
              <a:sym typeface="Calibri"/>
            </a:endParaRPr>
          </a:p>
        </p:txBody>
      </p:sp>
      <p:sp>
        <p:nvSpPr>
          <p:cNvPr id="1350" name="Google Shape;1350;p53"/>
          <p:cNvSpPr/>
          <p:nvPr/>
        </p:nvSpPr>
        <p:spPr>
          <a:xfrm>
            <a:off x="3847338" y="2208276"/>
            <a:ext cx="1988700" cy="37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1100"/>
              <a:buFont typeface="Calibri"/>
              <a:buNone/>
            </a:pPr>
            <a:r>
              <a:rPr lang="en" b="1" i="0" u="none" strike="noStrike" cap="none">
                <a:solidFill>
                  <a:srgbClr val="1A1F26"/>
                </a:solidFill>
                <a:latin typeface="Calibri"/>
                <a:ea typeface="Calibri"/>
                <a:cs typeface="Calibri"/>
                <a:sym typeface="Calibri"/>
              </a:rPr>
              <a:t>Weight</a:t>
            </a:r>
            <a:endParaRPr b="0" i="0" u="none" strike="noStrike" cap="none">
              <a:solidFill>
                <a:schemeClr val="dk1"/>
              </a:solidFill>
              <a:latin typeface="Calibri"/>
              <a:ea typeface="Calibri"/>
              <a:cs typeface="Calibri"/>
              <a:sym typeface="Calibri"/>
            </a:endParaRPr>
          </a:p>
        </p:txBody>
      </p:sp>
      <p:sp>
        <p:nvSpPr>
          <p:cNvPr id="1351" name="Google Shape;1351;p53"/>
          <p:cNvSpPr/>
          <p:nvPr/>
        </p:nvSpPr>
        <p:spPr>
          <a:xfrm>
            <a:off x="3394710" y="2633472"/>
            <a:ext cx="2469000" cy="72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900"/>
              <a:buFont typeface="Calibri"/>
              <a:buNone/>
            </a:pPr>
            <a:r>
              <a:rPr lang="en" sz="900" b="0" i="0" u="none" strike="noStrike" cap="none">
                <a:solidFill>
                  <a:srgbClr val="5A6270"/>
                </a:solidFill>
                <a:latin typeface="Calibri"/>
                <a:ea typeface="Calibri"/>
                <a:cs typeface="Calibri"/>
                <a:sym typeface="Calibri"/>
              </a:rPr>
              <a:t>Assign higher weight to animal</a:t>
            </a:r>
            <a:endParaRPr sz="900" b="0" i="0" u="none" strike="noStrike" cap="none">
              <a:solidFill>
                <a:schemeClr val="dk1"/>
              </a:solidFill>
              <a:latin typeface="Calibri"/>
              <a:ea typeface="Calibri"/>
              <a:cs typeface="Calibri"/>
              <a:sym typeface="Calibri"/>
            </a:endParaRPr>
          </a:p>
        </p:txBody>
      </p:sp>
      <p:sp>
        <p:nvSpPr>
          <p:cNvPr id="1352" name="Google Shape;1352;p53"/>
          <p:cNvSpPr/>
          <p:nvPr/>
        </p:nvSpPr>
        <p:spPr>
          <a:xfrm>
            <a:off x="6179058" y="2125980"/>
            <a:ext cx="2743200" cy="1302900"/>
          </a:xfrm>
          <a:prstGeom prst="rect">
            <a:avLst/>
          </a:prstGeom>
          <a:solidFill>
            <a:schemeClr val="lt1"/>
          </a:solidFill>
          <a:ln w="12700" cap="flat" cmpd="sng">
            <a:solidFill>
              <a:schemeClr val="dk1"/>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3" name="Google Shape;1353;p53"/>
          <p:cNvSpPr/>
          <p:nvPr/>
        </p:nvSpPr>
        <p:spPr>
          <a:xfrm>
            <a:off x="6329934" y="2213538"/>
            <a:ext cx="377100" cy="377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100"/>
              <a:buFont typeface="Calibri"/>
              <a:buNone/>
            </a:pPr>
            <a:r>
              <a:rPr lang="en" b="1" i="0" u="none" strike="noStrike" cap="none">
                <a:solidFill>
                  <a:srgbClr val="1A1F26"/>
                </a:solidFill>
                <a:latin typeface="Calibri"/>
                <a:ea typeface="Calibri"/>
                <a:cs typeface="Calibri"/>
                <a:sym typeface="Calibri"/>
              </a:rPr>
              <a:t>3</a:t>
            </a:r>
            <a:endParaRPr b="0" i="0" u="none" strike="noStrike" cap="none">
              <a:solidFill>
                <a:schemeClr val="dk1"/>
              </a:solidFill>
              <a:latin typeface="Calibri"/>
              <a:ea typeface="Calibri"/>
              <a:cs typeface="Calibri"/>
              <a:sym typeface="Calibri"/>
            </a:endParaRPr>
          </a:p>
        </p:txBody>
      </p:sp>
      <p:sp>
        <p:nvSpPr>
          <p:cNvPr id="1354" name="Google Shape;1354;p53"/>
          <p:cNvSpPr/>
          <p:nvPr/>
        </p:nvSpPr>
        <p:spPr>
          <a:xfrm>
            <a:off x="6782562" y="2208276"/>
            <a:ext cx="1988700" cy="37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1100"/>
              <a:buFont typeface="Calibri"/>
              <a:buNone/>
            </a:pPr>
            <a:r>
              <a:rPr lang="en" b="1" i="0" u="none" strike="noStrike" cap="none">
                <a:solidFill>
                  <a:srgbClr val="1A1F26"/>
                </a:solidFill>
                <a:latin typeface="Calibri"/>
                <a:ea typeface="Calibri"/>
                <a:cs typeface="Calibri"/>
                <a:sym typeface="Calibri"/>
              </a:rPr>
              <a:t>Understand</a:t>
            </a:r>
            <a:endParaRPr b="0" i="0" u="none" strike="noStrike" cap="none">
              <a:solidFill>
                <a:schemeClr val="dk1"/>
              </a:solidFill>
              <a:latin typeface="Calibri"/>
              <a:ea typeface="Calibri"/>
              <a:cs typeface="Calibri"/>
              <a:sym typeface="Calibri"/>
            </a:endParaRPr>
          </a:p>
        </p:txBody>
      </p:sp>
      <p:sp>
        <p:nvSpPr>
          <p:cNvPr id="1355" name="Google Shape;1355;p53"/>
          <p:cNvSpPr/>
          <p:nvPr/>
        </p:nvSpPr>
        <p:spPr>
          <a:xfrm>
            <a:off x="6329934" y="2633472"/>
            <a:ext cx="2469000" cy="72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900"/>
              <a:buFont typeface="Calibri"/>
              <a:buNone/>
            </a:pPr>
            <a:r>
              <a:rPr lang="en" sz="900" b="0" i="0" u="none" strike="noStrike" cap="none">
                <a:solidFill>
                  <a:srgbClr val="5A6270"/>
                </a:solidFill>
                <a:latin typeface="Calibri"/>
                <a:ea typeface="Calibri"/>
                <a:cs typeface="Calibri"/>
                <a:sym typeface="Calibri"/>
              </a:rPr>
              <a:t>Use weights to build</a:t>
            </a:r>
            <a:endParaRPr sz="9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5A6270"/>
              </a:buClr>
              <a:buSzPts val="900"/>
              <a:buFont typeface="Calibri"/>
              <a:buNone/>
            </a:pPr>
            <a:r>
              <a:rPr lang="en" sz="900" b="0" i="0" u="none" strike="noStrike" cap="none">
                <a:solidFill>
                  <a:srgbClr val="5A6270"/>
                </a:solidFill>
                <a:latin typeface="Calibri"/>
                <a:ea typeface="Calibri"/>
                <a:cs typeface="Calibri"/>
                <a:sym typeface="Calibri"/>
              </a:rPr>
              <a:t>contextual meaning</a:t>
            </a:r>
            <a:endParaRPr sz="900" b="0" i="0" u="none" strike="noStrike" cap="none">
              <a:solidFill>
                <a:schemeClr val="dk1"/>
              </a:solidFill>
              <a:latin typeface="Calibri"/>
              <a:ea typeface="Calibri"/>
              <a:cs typeface="Calibri"/>
              <a:sym typeface="Calibri"/>
            </a:endParaRPr>
          </a:p>
        </p:txBody>
      </p:sp>
      <p:sp>
        <p:nvSpPr>
          <p:cNvPr id="1356" name="Google Shape;1356;p53"/>
          <p:cNvSpPr/>
          <p:nvPr/>
        </p:nvSpPr>
        <p:spPr>
          <a:xfrm>
            <a:off x="308610" y="3531870"/>
            <a:ext cx="8503800" cy="754500"/>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7" name="Google Shape;1357;p53"/>
          <p:cNvSpPr/>
          <p:nvPr/>
        </p:nvSpPr>
        <p:spPr>
          <a:xfrm>
            <a:off x="445770" y="3566160"/>
            <a:ext cx="3429000" cy="26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900"/>
              <a:buFont typeface="Calibri"/>
              <a:buNone/>
            </a:pPr>
            <a:r>
              <a:rPr lang="en" sz="1100" b="1" i="0" u="none" strike="noStrike" cap="none">
                <a:solidFill>
                  <a:schemeClr val="dk1"/>
                </a:solidFill>
                <a:latin typeface="Calibri"/>
                <a:ea typeface="Calibri"/>
                <a:cs typeface="Calibri"/>
                <a:sym typeface="Calibri"/>
              </a:rPr>
              <a:t>Key Property</a:t>
            </a:r>
            <a:endParaRPr sz="1100" b="0" i="0" u="none" strike="noStrike" cap="none">
              <a:solidFill>
                <a:schemeClr val="dk1"/>
              </a:solidFill>
              <a:latin typeface="Calibri"/>
              <a:ea typeface="Calibri"/>
              <a:cs typeface="Calibri"/>
              <a:sym typeface="Calibri"/>
            </a:endParaRPr>
          </a:p>
        </p:txBody>
      </p:sp>
      <p:sp>
        <p:nvSpPr>
          <p:cNvPr id="1358" name="Google Shape;1358;p53"/>
          <p:cNvSpPr/>
          <p:nvPr/>
        </p:nvSpPr>
        <p:spPr>
          <a:xfrm>
            <a:off x="445770" y="3813048"/>
            <a:ext cx="8092500" cy="425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900"/>
              <a:buFont typeface="Calibri"/>
              <a:buNone/>
            </a:pPr>
            <a:r>
              <a:rPr lang="en" sz="1200" b="0" i="0" u="none" strike="noStrike" cap="none">
                <a:solidFill>
                  <a:srgbClr val="1A1F26"/>
                </a:solidFill>
                <a:latin typeface="Calibri"/>
                <a:ea typeface="Calibri"/>
                <a:cs typeface="Calibri"/>
                <a:sym typeface="Calibri"/>
              </a:rPr>
              <a:t>Every token can directly interact with every other token — no sequential propagation needed (unlike RNNs).</a:t>
            </a:r>
            <a:endParaRPr sz="1200" b="0" i="0" u="none" strike="noStrike" cap="none">
              <a:solidFill>
                <a:schemeClr val="dk1"/>
              </a:solidFill>
              <a:latin typeface="Calibri"/>
              <a:ea typeface="Calibri"/>
              <a:cs typeface="Calibri"/>
              <a:sym typeface="Calibri"/>
            </a:endParaRPr>
          </a:p>
        </p:txBody>
      </p:sp>
      <p:sp>
        <p:nvSpPr>
          <p:cNvPr id="1359" name="Google Shape;1359;p53"/>
          <p:cNvSpPr/>
          <p:nvPr/>
        </p:nvSpPr>
        <p:spPr>
          <a:xfrm>
            <a:off x="308610" y="4402836"/>
            <a:ext cx="2743200" cy="377100"/>
          </a:xfrm>
          <a:prstGeom prst="roundRect">
            <a:avLst>
              <a:gd name="adj" fmla="val 18182"/>
            </a:avLst>
          </a:prstGeom>
          <a:noFill/>
          <a:ln w="12700" cap="flat" cmpd="sng">
            <a:solidFill>
              <a:srgbClr val="0077AA">
                <a:alpha val="60000"/>
              </a:srgbClr>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0" name="Google Shape;1360;p53"/>
          <p:cNvSpPr/>
          <p:nvPr/>
        </p:nvSpPr>
        <p:spPr>
          <a:xfrm>
            <a:off x="308610" y="4389386"/>
            <a:ext cx="2743200" cy="377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900"/>
              <a:buFont typeface="Calibri"/>
              <a:buNone/>
            </a:pPr>
            <a:r>
              <a:rPr lang="en" sz="1200" b="1" i="0" u="none" strike="noStrike" cap="none">
                <a:solidFill>
                  <a:srgbClr val="1A1F26"/>
                </a:solidFill>
                <a:latin typeface="Calibri"/>
                <a:ea typeface="Calibri"/>
                <a:cs typeface="Calibri"/>
                <a:sym typeface="Calibri"/>
              </a:rPr>
              <a:t>Long-range dependencies</a:t>
            </a:r>
            <a:endParaRPr sz="1200" b="0" i="0" u="none" strike="noStrike" cap="none">
              <a:solidFill>
                <a:schemeClr val="dk1"/>
              </a:solidFill>
              <a:latin typeface="Calibri"/>
              <a:ea typeface="Calibri"/>
              <a:cs typeface="Calibri"/>
              <a:sym typeface="Calibri"/>
            </a:endParaRPr>
          </a:p>
        </p:txBody>
      </p:sp>
      <p:sp>
        <p:nvSpPr>
          <p:cNvPr id="1361" name="Google Shape;1361;p53"/>
          <p:cNvSpPr/>
          <p:nvPr/>
        </p:nvSpPr>
        <p:spPr>
          <a:xfrm>
            <a:off x="3243834" y="4402836"/>
            <a:ext cx="2743200" cy="377100"/>
          </a:xfrm>
          <a:prstGeom prst="roundRect">
            <a:avLst>
              <a:gd name="adj" fmla="val 18182"/>
            </a:avLst>
          </a:prstGeom>
          <a:noFill/>
          <a:ln w="12700" cap="flat" cmpd="sng">
            <a:solidFill>
              <a:srgbClr val="047857">
                <a:alpha val="60000"/>
              </a:srgbClr>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2" name="Google Shape;1362;p53"/>
          <p:cNvSpPr/>
          <p:nvPr/>
        </p:nvSpPr>
        <p:spPr>
          <a:xfrm>
            <a:off x="3257609" y="4389386"/>
            <a:ext cx="2743200" cy="377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900"/>
              <a:buFont typeface="Calibri"/>
              <a:buNone/>
            </a:pPr>
            <a:r>
              <a:rPr lang="en" sz="1200" b="1" i="0" u="none" strike="noStrike" cap="none">
                <a:solidFill>
                  <a:srgbClr val="1A1F26"/>
                </a:solidFill>
                <a:latin typeface="Calibri"/>
                <a:ea typeface="Calibri"/>
                <a:cs typeface="Calibri"/>
                <a:sym typeface="Calibri"/>
              </a:rPr>
              <a:t>Parallel computation</a:t>
            </a:r>
            <a:endParaRPr sz="1200" b="0" i="0" u="none" strike="noStrike" cap="none">
              <a:solidFill>
                <a:schemeClr val="dk1"/>
              </a:solidFill>
              <a:latin typeface="Calibri"/>
              <a:ea typeface="Calibri"/>
              <a:cs typeface="Calibri"/>
              <a:sym typeface="Calibri"/>
            </a:endParaRPr>
          </a:p>
        </p:txBody>
      </p:sp>
      <p:sp>
        <p:nvSpPr>
          <p:cNvPr id="1363" name="Google Shape;1363;p53"/>
          <p:cNvSpPr/>
          <p:nvPr/>
        </p:nvSpPr>
        <p:spPr>
          <a:xfrm>
            <a:off x="6179058" y="4402836"/>
            <a:ext cx="2743200" cy="377100"/>
          </a:xfrm>
          <a:prstGeom prst="roundRect">
            <a:avLst>
              <a:gd name="adj" fmla="val 18182"/>
            </a:avLst>
          </a:prstGeom>
          <a:noFill/>
          <a:ln w="12700" cap="flat" cmpd="sng">
            <a:solidFill>
              <a:srgbClr val="B45309">
                <a:alpha val="60000"/>
              </a:srgbClr>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4" name="Google Shape;1364;p53"/>
          <p:cNvSpPr/>
          <p:nvPr/>
        </p:nvSpPr>
        <p:spPr>
          <a:xfrm>
            <a:off x="6206608" y="4389386"/>
            <a:ext cx="2743200" cy="377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900"/>
              <a:buFont typeface="Calibri"/>
              <a:buNone/>
            </a:pPr>
            <a:r>
              <a:rPr lang="en" sz="900" b="1" i="0" u="none" strike="noStrike" cap="none">
                <a:solidFill>
                  <a:srgbClr val="1A1F26"/>
                </a:solidFill>
                <a:latin typeface="Calibri"/>
                <a:ea typeface="Calibri"/>
                <a:cs typeface="Calibri"/>
                <a:sym typeface="Calibri"/>
              </a:rPr>
              <a:t>Dynamic context understanding</a:t>
            </a:r>
            <a:endParaRPr sz="900" b="0" i="0" u="none" strike="noStrike" cap="none">
              <a:solidFill>
                <a:schemeClr val="dk1"/>
              </a:solidFill>
              <a:latin typeface="Calibri"/>
              <a:ea typeface="Calibri"/>
              <a:cs typeface="Calibri"/>
              <a:sym typeface="Calibri"/>
            </a:endParaRPr>
          </a:p>
        </p:txBody>
      </p:sp>
      <p:pic>
        <p:nvPicPr>
          <p:cNvPr id="1365" name="Google Shape;1365;p53"/>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70"/>
        <p:cNvGrpSpPr/>
        <p:nvPr/>
      </p:nvGrpSpPr>
      <p:grpSpPr>
        <a:xfrm>
          <a:off x="0" y="0"/>
          <a:ext cx="0" cy="0"/>
          <a:chOff x="0" y="0"/>
          <a:chExt cx="0" cy="0"/>
        </a:xfrm>
      </p:grpSpPr>
      <p:sp>
        <p:nvSpPr>
          <p:cNvPr id="1371" name="Google Shape;1371;p54"/>
          <p:cNvSpPr/>
          <p:nvPr/>
        </p:nvSpPr>
        <p:spPr>
          <a:xfrm>
            <a:off x="0" y="0"/>
            <a:ext cx="9121200" cy="41100"/>
          </a:xfrm>
          <a:prstGeom prst="rect">
            <a:avLst/>
          </a:prstGeom>
          <a:solidFill>
            <a:srgbClr val="5B21B6"/>
          </a:solidFill>
          <a:ln w="12700" cap="flat" cmpd="sng">
            <a:solidFill>
              <a:srgbClr val="5B21B6"/>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2" name="Google Shape;1372;p54"/>
          <p:cNvSpPr/>
          <p:nvPr/>
        </p:nvSpPr>
        <p:spPr>
          <a:xfrm>
            <a:off x="308610" y="480060"/>
            <a:ext cx="8503800" cy="493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2100"/>
              <a:buFont typeface="Calibri"/>
              <a:buNone/>
            </a:pPr>
            <a:r>
              <a:rPr lang="en" sz="2200" b="1" i="0" u="none" strike="noStrike" cap="none">
                <a:solidFill>
                  <a:schemeClr val="dk1"/>
                </a:solidFill>
                <a:latin typeface="Calibri"/>
                <a:ea typeface="Calibri"/>
                <a:cs typeface="Calibri"/>
                <a:sym typeface="Calibri"/>
              </a:rPr>
              <a:t>Query, Key, Value — Step by Step</a:t>
            </a:r>
            <a:endParaRPr sz="2200" b="0" i="0" u="none" strike="noStrike" cap="none">
              <a:solidFill>
                <a:schemeClr val="dk1"/>
              </a:solidFill>
              <a:latin typeface="Calibri"/>
              <a:ea typeface="Calibri"/>
              <a:cs typeface="Calibri"/>
              <a:sym typeface="Calibri"/>
            </a:endParaRPr>
          </a:p>
        </p:txBody>
      </p:sp>
      <p:sp>
        <p:nvSpPr>
          <p:cNvPr id="1373" name="Google Shape;1373;p54"/>
          <p:cNvSpPr/>
          <p:nvPr/>
        </p:nvSpPr>
        <p:spPr>
          <a:xfrm>
            <a:off x="308610" y="973836"/>
            <a:ext cx="8503800" cy="24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1000"/>
              <a:buFont typeface="Calibri"/>
              <a:buNone/>
            </a:pPr>
            <a:r>
              <a:rPr lang="en" sz="1200" b="0" i="0" u="none" strike="noStrike" cap="none">
                <a:solidFill>
                  <a:schemeClr val="dk1"/>
                </a:solidFill>
                <a:latin typeface="Calibri"/>
                <a:ea typeface="Calibri"/>
                <a:cs typeface="Calibri"/>
                <a:sym typeface="Calibri"/>
              </a:rPr>
              <a:t>"The animal didn't cross the street because it was too tired."</a:t>
            </a:r>
            <a:endParaRPr sz="1200" b="0" i="0" u="none" strike="noStrike" cap="none">
              <a:solidFill>
                <a:schemeClr val="dk1"/>
              </a:solidFill>
              <a:latin typeface="Calibri"/>
              <a:ea typeface="Calibri"/>
              <a:cs typeface="Calibri"/>
              <a:sym typeface="Calibri"/>
            </a:endParaRPr>
          </a:p>
        </p:txBody>
      </p:sp>
      <p:sp>
        <p:nvSpPr>
          <p:cNvPr id="1374" name="Google Shape;1374;p54"/>
          <p:cNvSpPr/>
          <p:nvPr/>
        </p:nvSpPr>
        <p:spPr>
          <a:xfrm>
            <a:off x="308610" y="1289304"/>
            <a:ext cx="2743200" cy="1405800"/>
          </a:xfrm>
          <a:prstGeom prst="rect">
            <a:avLst/>
          </a:prstGeom>
          <a:solidFill>
            <a:srgbClr val="E8EDF2"/>
          </a:solidFill>
          <a:ln w="12700" cap="flat" cmpd="sng">
            <a:solidFill>
              <a:srgbClr val="C8D0DA"/>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5" name="Google Shape;1375;p54"/>
          <p:cNvSpPr/>
          <p:nvPr/>
        </p:nvSpPr>
        <p:spPr>
          <a:xfrm>
            <a:off x="432054" y="1371600"/>
            <a:ext cx="582900" cy="58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B21B6"/>
              </a:buClr>
              <a:buSzPts val="2400"/>
              <a:buFont typeface="Calibri"/>
              <a:buNone/>
            </a:pPr>
            <a:r>
              <a:rPr lang="en" sz="2400" b="1" i="0" u="none" strike="noStrike" cap="none">
                <a:solidFill>
                  <a:srgbClr val="5B21B6"/>
                </a:solidFill>
                <a:latin typeface="Calibri"/>
                <a:ea typeface="Calibri"/>
                <a:cs typeface="Calibri"/>
                <a:sym typeface="Calibri"/>
              </a:rPr>
              <a:t>Q</a:t>
            </a:r>
            <a:endParaRPr sz="2400" b="0" i="0" u="none" strike="noStrike" cap="none">
              <a:solidFill>
                <a:schemeClr val="dk1"/>
              </a:solidFill>
              <a:latin typeface="Calibri"/>
              <a:ea typeface="Calibri"/>
              <a:cs typeface="Calibri"/>
              <a:sym typeface="Calibri"/>
            </a:endParaRPr>
          </a:p>
        </p:txBody>
      </p:sp>
      <p:sp>
        <p:nvSpPr>
          <p:cNvPr id="1376" name="Google Shape;1376;p54"/>
          <p:cNvSpPr/>
          <p:nvPr/>
        </p:nvSpPr>
        <p:spPr>
          <a:xfrm>
            <a:off x="1049274" y="1371600"/>
            <a:ext cx="1851600" cy="342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1200"/>
              <a:buFont typeface="Calibri"/>
              <a:buNone/>
            </a:pPr>
            <a:r>
              <a:rPr lang="en" sz="1200" b="1" i="0" u="none" strike="noStrike" cap="none">
                <a:solidFill>
                  <a:srgbClr val="1A1F26"/>
                </a:solidFill>
                <a:latin typeface="Calibri"/>
                <a:ea typeface="Calibri"/>
                <a:cs typeface="Calibri"/>
                <a:sym typeface="Calibri"/>
              </a:rPr>
              <a:t>Query</a:t>
            </a:r>
            <a:endParaRPr sz="1200" b="0" i="0" u="none" strike="noStrike" cap="none">
              <a:solidFill>
                <a:schemeClr val="dk1"/>
              </a:solidFill>
              <a:latin typeface="Calibri"/>
              <a:ea typeface="Calibri"/>
              <a:cs typeface="Calibri"/>
              <a:sym typeface="Calibri"/>
            </a:endParaRPr>
          </a:p>
        </p:txBody>
      </p:sp>
      <p:sp>
        <p:nvSpPr>
          <p:cNvPr id="1377" name="Google Shape;1377;p54"/>
          <p:cNvSpPr/>
          <p:nvPr/>
        </p:nvSpPr>
        <p:spPr>
          <a:xfrm>
            <a:off x="1049274" y="1728216"/>
            <a:ext cx="1851600" cy="514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900"/>
              <a:buFont typeface="Calibri"/>
              <a:buNone/>
            </a:pPr>
            <a:r>
              <a:rPr lang="en" sz="1100" b="0" i="0" u="none" strike="noStrike" cap="none">
                <a:solidFill>
                  <a:schemeClr val="dk1"/>
                </a:solidFill>
                <a:latin typeface="Calibri"/>
                <a:ea typeface="Calibri"/>
                <a:cs typeface="Calibri"/>
                <a:sym typeface="Calibri"/>
              </a:rPr>
              <a:t>What I am</a:t>
            </a: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5A6270"/>
              </a:buClr>
              <a:buSzPts val="900"/>
              <a:buFont typeface="Calibri"/>
              <a:buNone/>
            </a:pPr>
            <a:r>
              <a:rPr lang="en" sz="1100" b="0" i="0" u="none" strike="noStrike" cap="none">
                <a:solidFill>
                  <a:schemeClr val="dk1"/>
                </a:solidFill>
                <a:latin typeface="Calibri"/>
                <a:ea typeface="Calibri"/>
                <a:cs typeface="Calibri"/>
                <a:sym typeface="Calibri"/>
              </a:rPr>
              <a:t>looking for</a:t>
            </a:r>
            <a:endParaRPr sz="1100" b="0" i="0" u="none" strike="noStrike" cap="none">
              <a:solidFill>
                <a:schemeClr val="dk1"/>
              </a:solidFill>
              <a:latin typeface="Calibri"/>
              <a:ea typeface="Calibri"/>
              <a:cs typeface="Calibri"/>
              <a:sym typeface="Calibri"/>
            </a:endParaRPr>
          </a:p>
        </p:txBody>
      </p:sp>
      <p:sp>
        <p:nvSpPr>
          <p:cNvPr id="1378" name="Google Shape;1378;p54"/>
          <p:cNvSpPr/>
          <p:nvPr/>
        </p:nvSpPr>
        <p:spPr>
          <a:xfrm>
            <a:off x="432054" y="2318004"/>
            <a:ext cx="25374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B21B6"/>
              </a:buClr>
              <a:buSzPts val="800"/>
              <a:buFont typeface="Calibri"/>
              <a:buNone/>
            </a:pPr>
            <a:r>
              <a:rPr lang="en" sz="1300" b="0" i="1" u="none" strike="noStrike" cap="none">
                <a:solidFill>
                  <a:schemeClr val="dk1"/>
                </a:solidFill>
                <a:latin typeface="Calibri"/>
                <a:ea typeface="Calibri"/>
                <a:cs typeface="Calibri"/>
                <a:sym typeface="Calibri"/>
              </a:rPr>
              <a:t>→ it asks: who am I?</a:t>
            </a:r>
            <a:endParaRPr sz="1300" b="0" i="0" u="none" strike="noStrike" cap="none">
              <a:solidFill>
                <a:schemeClr val="dk1"/>
              </a:solidFill>
              <a:latin typeface="Calibri"/>
              <a:ea typeface="Calibri"/>
              <a:cs typeface="Calibri"/>
              <a:sym typeface="Calibri"/>
            </a:endParaRPr>
          </a:p>
        </p:txBody>
      </p:sp>
      <p:sp>
        <p:nvSpPr>
          <p:cNvPr id="1379" name="Google Shape;1379;p54"/>
          <p:cNvSpPr/>
          <p:nvPr/>
        </p:nvSpPr>
        <p:spPr>
          <a:xfrm>
            <a:off x="3243834" y="1289304"/>
            <a:ext cx="2743200" cy="1405800"/>
          </a:xfrm>
          <a:prstGeom prst="rect">
            <a:avLst/>
          </a:prstGeom>
          <a:solidFill>
            <a:srgbClr val="E8EDF2"/>
          </a:solidFill>
          <a:ln w="12700" cap="flat" cmpd="sng">
            <a:solidFill>
              <a:srgbClr val="C8D0DA"/>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0" name="Google Shape;1380;p54"/>
          <p:cNvSpPr/>
          <p:nvPr/>
        </p:nvSpPr>
        <p:spPr>
          <a:xfrm>
            <a:off x="3367278" y="1371600"/>
            <a:ext cx="582900" cy="58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77AA"/>
              </a:buClr>
              <a:buSzPts val="2400"/>
              <a:buFont typeface="Calibri"/>
              <a:buNone/>
            </a:pPr>
            <a:r>
              <a:rPr lang="en" sz="2400" b="1" i="0" u="none" strike="noStrike" cap="none">
                <a:solidFill>
                  <a:srgbClr val="0077AA"/>
                </a:solidFill>
                <a:latin typeface="Calibri"/>
                <a:ea typeface="Calibri"/>
                <a:cs typeface="Calibri"/>
                <a:sym typeface="Calibri"/>
              </a:rPr>
              <a:t>K</a:t>
            </a:r>
            <a:endParaRPr sz="2400" b="0" i="0" u="none" strike="noStrike" cap="none">
              <a:solidFill>
                <a:schemeClr val="dk1"/>
              </a:solidFill>
              <a:latin typeface="Calibri"/>
              <a:ea typeface="Calibri"/>
              <a:cs typeface="Calibri"/>
              <a:sym typeface="Calibri"/>
            </a:endParaRPr>
          </a:p>
        </p:txBody>
      </p:sp>
      <p:sp>
        <p:nvSpPr>
          <p:cNvPr id="1381" name="Google Shape;1381;p54"/>
          <p:cNvSpPr/>
          <p:nvPr/>
        </p:nvSpPr>
        <p:spPr>
          <a:xfrm>
            <a:off x="3984498" y="1371600"/>
            <a:ext cx="1851600" cy="342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1200"/>
              <a:buFont typeface="Calibri"/>
              <a:buNone/>
            </a:pPr>
            <a:r>
              <a:rPr lang="en" sz="1200" b="1" i="0" u="none" strike="noStrike" cap="none">
                <a:solidFill>
                  <a:srgbClr val="1A1F26"/>
                </a:solidFill>
                <a:latin typeface="Calibri"/>
                <a:ea typeface="Calibri"/>
                <a:cs typeface="Calibri"/>
                <a:sym typeface="Calibri"/>
              </a:rPr>
              <a:t>Key</a:t>
            </a:r>
            <a:endParaRPr sz="1200" b="0" i="0" u="none" strike="noStrike" cap="none">
              <a:solidFill>
                <a:schemeClr val="dk1"/>
              </a:solidFill>
              <a:latin typeface="Calibri"/>
              <a:ea typeface="Calibri"/>
              <a:cs typeface="Calibri"/>
              <a:sym typeface="Calibri"/>
            </a:endParaRPr>
          </a:p>
        </p:txBody>
      </p:sp>
      <p:sp>
        <p:nvSpPr>
          <p:cNvPr id="1382" name="Google Shape;1382;p54"/>
          <p:cNvSpPr/>
          <p:nvPr/>
        </p:nvSpPr>
        <p:spPr>
          <a:xfrm>
            <a:off x="3984498" y="1728216"/>
            <a:ext cx="1851600" cy="514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900"/>
              <a:buFont typeface="Calibri"/>
              <a:buNone/>
            </a:pPr>
            <a:r>
              <a:rPr lang="en" sz="1100" b="0" i="0" u="none" strike="noStrike" cap="none">
                <a:solidFill>
                  <a:schemeClr val="dk1"/>
                </a:solidFill>
                <a:latin typeface="Calibri"/>
                <a:ea typeface="Calibri"/>
                <a:cs typeface="Calibri"/>
                <a:sym typeface="Calibri"/>
              </a:rPr>
              <a:t>What I</a:t>
            </a: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5A6270"/>
              </a:buClr>
              <a:buSzPts val="900"/>
              <a:buFont typeface="Calibri"/>
              <a:buNone/>
            </a:pPr>
            <a:r>
              <a:rPr lang="en" sz="1100" b="0" i="0" u="none" strike="noStrike" cap="none">
                <a:solidFill>
                  <a:schemeClr val="dk1"/>
                </a:solidFill>
                <a:latin typeface="Calibri"/>
                <a:ea typeface="Calibri"/>
                <a:cs typeface="Calibri"/>
                <a:sym typeface="Calibri"/>
              </a:rPr>
              <a:t>represent</a:t>
            </a:r>
            <a:endParaRPr sz="1100" b="0" i="0" u="none" strike="noStrike" cap="none">
              <a:solidFill>
                <a:schemeClr val="dk1"/>
              </a:solidFill>
              <a:latin typeface="Calibri"/>
              <a:ea typeface="Calibri"/>
              <a:cs typeface="Calibri"/>
              <a:sym typeface="Calibri"/>
            </a:endParaRPr>
          </a:p>
        </p:txBody>
      </p:sp>
      <p:sp>
        <p:nvSpPr>
          <p:cNvPr id="1383" name="Google Shape;1383;p54"/>
          <p:cNvSpPr/>
          <p:nvPr/>
        </p:nvSpPr>
        <p:spPr>
          <a:xfrm>
            <a:off x="3367278" y="2318004"/>
            <a:ext cx="25374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77AA"/>
              </a:buClr>
              <a:buSzPts val="800"/>
              <a:buFont typeface="Calibri"/>
              <a:buNone/>
            </a:pPr>
            <a:r>
              <a:rPr lang="en" sz="1300" b="0" i="1" u="none" strike="noStrike" cap="none">
                <a:solidFill>
                  <a:schemeClr val="dk1"/>
                </a:solidFill>
                <a:latin typeface="Calibri"/>
                <a:ea typeface="Calibri"/>
                <a:cs typeface="Calibri"/>
                <a:sym typeface="Calibri"/>
              </a:rPr>
              <a:t>→ animal says: I'm a noun</a:t>
            </a:r>
            <a:endParaRPr sz="1300" b="0" i="0" u="none" strike="noStrike" cap="none">
              <a:solidFill>
                <a:schemeClr val="dk1"/>
              </a:solidFill>
              <a:latin typeface="Calibri"/>
              <a:ea typeface="Calibri"/>
              <a:cs typeface="Calibri"/>
              <a:sym typeface="Calibri"/>
            </a:endParaRPr>
          </a:p>
        </p:txBody>
      </p:sp>
      <p:sp>
        <p:nvSpPr>
          <p:cNvPr id="1384" name="Google Shape;1384;p54"/>
          <p:cNvSpPr/>
          <p:nvPr/>
        </p:nvSpPr>
        <p:spPr>
          <a:xfrm>
            <a:off x="6179058" y="1289304"/>
            <a:ext cx="2743200" cy="1405800"/>
          </a:xfrm>
          <a:prstGeom prst="rect">
            <a:avLst/>
          </a:prstGeom>
          <a:solidFill>
            <a:srgbClr val="E8EDF2"/>
          </a:solidFill>
          <a:ln w="12700" cap="flat" cmpd="sng">
            <a:solidFill>
              <a:srgbClr val="C8D0DA"/>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5" name="Google Shape;1385;p54"/>
          <p:cNvSpPr/>
          <p:nvPr/>
        </p:nvSpPr>
        <p:spPr>
          <a:xfrm>
            <a:off x="6302502" y="1371600"/>
            <a:ext cx="582900" cy="58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B45309"/>
              </a:buClr>
              <a:buSzPts val="2400"/>
              <a:buFont typeface="Calibri"/>
              <a:buNone/>
            </a:pPr>
            <a:r>
              <a:rPr lang="en" sz="2400" b="1" i="0" u="none" strike="noStrike" cap="none">
                <a:solidFill>
                  <a:srgbClr val="B45309"/>
                </a:solidFill>
                <a:latin typeface="Calibri"/>
                <a:ea typeface="Calibri"/>
                <a:cs typeface="Calibri"/>
                <a:sym typeface="Calibri"/>
              </a:rPr>
              <a:t>V</a:t>
            </a:r>
            <a:endParaRPr sz="2400" b="0" i="0" u="none" strike="noStrike" cap="none">
              <a:solidFill>
                <a:schemeClr val="dk1"/>
              </a:solidFill>
              <a:latin typeface="Calibri"/>
              <a:ea typeface="Calibri"/>
              <a:cs typeface="Calibri"/>
              <a:sym typeface="Calibri"/>
            </a:endParaRPr>
          </a:p>
        </p:txBody>
      </p:sp>
      <p:sp>
        <p:nvSpPr>
          <p:cNvPr id="1386" name="Google Shape;1386;p54"/>
          <p:cNvSpPr/>
          <p:nvPr/>
        </p:nvSpPr>
        <p:spPr>
          <a:xfrm>
            <a:off x="6919722" y="1371600"/>
            <a:ext cx="1851600" cy="342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1200"/>
              <a:buFont typeface="Calibri"/>
              <a:buNone/>
            </a:pPr>
            <a:r>
              <a:rPr lang="en" sz="1200" b="1" i="0" u="none" strike="noStrike" cap="none">
                <a:solidFill>
                  <a:srgbClr val="1A1F26"/>
                </a:solidFill>
                <a:latin typeface="Calibri"/>
                <a:ea typeface="Calibri"/>
                <a:cs typeface="Calibri"/>
                <a:sym typeface="Calibri"/>
              </a:rPr>
              <a:t>Value</a:t>
            </a:r>
            <a:endParaRPr sz="1200" b="0" i="0" u="none" strike="noStrike" cap="none">
              <a:solidFill>
                <a:schemeClr val="dk1"/>
              </a:solidFill>
              <a:latin typeface="Calibri"/>
              <a:ea typeface="Calibri"/>
              <a:cs typeface="Calibri"/>
              <a:sym typeface="Calibri"/>
            </a:endParaRPr>
          </a:p>
        </p:txBody>
      </p:sp>
      <p:sp>
        <p:nvSpPr>
          <p:cNvPr id="1387" name="Google Shape;1387;p54"/>
          <p:cNvSpPr/>
          <p:nvPr/>
        </p:nvSpPr>
        <p:spPr>
          <a:xfrm>
            <a:off x="6919722" y="1728216"/>
            <a:ext cx="1851600" cy="514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900"/>
              <a:buFont typeface="Calibri"/>
              <a:buNone/>
            </a:pPr>
            <a:r>
              <a:rPr lang="en" sz="1100" b="0" i="0" u="none" strike="noStrike" cap="none">
                <a:solidFill>
                  <a:schemeClr val="dk1"/>
                </a:solidFill>
                <a:latin typeface="Calibri"/>
                <a:ea typeface="Calibri"/>
                <a:cs typeface="Calibri"/>
                <a:sym typeface="Calibri"/>
              </a:rPr>
              <a:t>What information</a:t>
            </a: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5A6270"/>
              </a:buClr>
              <a:buSzPts val="900"/>
              <a:buFont typeface="Calibri"/>
              <a:buNone/>
            </a:pPr>
            <a:r>
              <a:rPr lang="en" sz="1100" b="0" i="0" u="none" strike="noStrike" cap="none">
                <a:solidFill>
                  <a:schemeClr val="dk1"/>
                </a:solidFill>
                <a:latin typeface="Calibri"/>
                <a:ea typeface="Calibri"/>
                <a:cs typeface="Calibri"/>
                <a:sym typeface="Calibri"/>
              </a:rPr>
              <a:t>I carry</a:t>
            </a:r>
            <a:endParaRPr sz="1100" b="0" i="0" u="none" strike="noStrike" cap="none">
              <a:solidFill>
                <a:schemeClr val="dk1"/>
              </a:solidFill>
              <a:latin typeface="Calibri"/>
              <a:ea typeface="Calibri"/>
              <a:cs typeface="Calibri"/>
              <a:sym typeface="Calibri"/>
            </a:endParaRPr>
          </a:p>
        </p:txBody>
      </p:sp>
      <p:sp>
        <p:nvSpPr>
          <p:cNvPr id="1388" name="Google Shape;1388;p54"/>
          <p:cNvSpPr/>
          <p:nvPr/>
        </p:nvSpPr>
        <p:spPr>
          <a:xfrm>
            <a:off x="6302502" y="2318004"/>
            <a:ext cx="25374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45309"/>
              </a:buClr>
              <a:buSzPts val="800"/>
              <a:buFont typeface="Calibri"/>
              <a:buNone/>
            </a:pPr>
            <a:r>
              <a:rPr lang="en" sz="1300" b="0" i="1" u="none" strike="noStrike" cap="none">
                <a:solidFill>
                  <a:schemeClr val="dk1"/>
                </a:solidFill>
                <a:latin typeface="Calibri"/>
                <a:ea typeface="Calibri"/>
                <a:cs typeface="Calibri"/>
                <a:sym typeface="Calibri"/>
              </a:rPr>
              <a:t>→ actual content to share</a:t>
            </a:r>
            <a:endParaRPr sz="1300" b="0" i="0" u="none" strike="noStrike" cap="none">
              <a:solidFill>
                <a:schemeClr val="dk1"/>
              </a:solidFill>
              <a:latin typeface="Calibri"/>
              <a:ea typeface="Calibri"/>
              <a:cs typeface="Calibri"/>
              <a:sym typeface="Calibri"/>
            </a:endParaRPr>
          </a:p>
        </p:txBody>
      </p:sp>
      <p:sp>
        <p:nvSpPr>
          <p:cNvPr id="1389" name="Google Shape;1389;p54"/>
          <p:cNvSpPr/>
          <p:nvPr/>
        </p:nvSpPr>
        <p:spPr>
          <a:xfrm>
            <a:off x="308610" y="2811780"/>
            <a:ext cx="4114800" cy="24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900"/>
              <a:buFont typeface="Calibri"/>
              <a:buNone/>
            </a:pPr>
            <a:r>
              <a:rPr lang="en" sz="900" b="1" i="0" u="none" strike="noStrike" cap="none">
                <a:solidFill>
                  <a:srgbClr val="1A1F26"/>
                </a:solidFill>
                <a:latin typeface="Calibri"/>
                <a:ea typeface="Calibri"/>
                <a:cs typeface="Calibri"/>
                <a:sym typeface="Calibri"/>
              </a:rPr>
              <a:t>Attention scores for "it":</a:t>
            </a:r>
            <a:endParaRPr sz="900" b="0" i="0" u="none" strike="noStrike" cap="none">
              <a:solidFill>
                <a:schemeClr val="dk1"/>
              </a:solidFill>
              <a:latin typeface="Calibri"/>
              <a:ea typeface="Calibri"/>
              <a:cs typeface="Calibri"/>
              <a:sym typeface="Calibri"/>
            </a:endParaRPr>
          </a:p>
        </p:txBody>
      </p:sp>
      <p:graphicFrame>
        <p:nvGraphicFramePr>
          <p:cNvPr id="1390" name="Google Shape;1390;p54"/>
          <p:cNvGraphicFramePr/>
          <p:nvPr/>
        </p:nvGraphicFramePr>
        <p:xfrm>
          <a:off x="308610" y="3086100"/>
          <a:ext cx="5349225" cy="1796750"/>
        </p:xfrm>
        <a:graphic>
          <a:graphicData uri="http://schemas.openxmlformats.org/drawingml/2006/table">
            <a:tbl>
              <a:tblPr>
                <a:noFill/>
                <a:tableStyleId>{2CB2FBAC-0745-4D78-8DFB-32DC0C22400B}</a:tableStyleId>
              </a:tblPr>
              <a:tblGrid>
                <a:gridCol w="1028700">
                  <a:extLst>
                    <a:ext uri="{9D8B030D-6E8A-4147-A177-3AD203B41FA5}">
                      <a16:colId xmlns:a16="http://schemas.microsoft.com/office/drawing/2014/main" val="20000"/>
                    </a:ext>
                  </a:extLst>
                </a:gridCol>
                <a:gridCol w="1920225">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59350">
                <a:tc>
                  <a:txBody>
                    <a:bodyPr/>
                    <a:lstStyle/>
                    <a:p>
                      <a:pPr marL="0" marR="0" lvl="0" indent="0" algn="l" rtl="0">
                        <a:lnSpc>
                          <a:spcPct val="100000"/>
                        </a:lnSpc>
                        <a:spcBef>
                          <a:spcPts val="0"/>
                        </a:spcBef>
                        <a:spcAft>
                          <a:spcPts val="0"/>
                        </a:spcAft>
                        <a:buClr>
                          <a:srgbClr val="1A1F26"/>
                        </a:buClr>
                        <a:buSzPts val="800"/>
                        <a:buFont typeface="Calibri"/>
                        <a:buNone/>
                      </a:pPr>
                      <a:r>
                        <a:rPr lang="en" sz="1300" b="1" u="none" strike="noStrike" cap="none">
                          <a:solidFill>
                            <a:schemeClr val="dk1"/>
                          </a:solidFill>
                          <a:latin typeface="Calibri"/>
                          <a:ea typeface="Calibri"/>
                          <a:cs typeface="Calibri"/>
                          <a:sym typeface="Calibri"/>
                        </a:rPr>
                        <a:t>Word</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1A1F26"/>
                        </a:buClr>
                        <a:buSzPts val="800"/>
                        <a:buFont typeface="Calibri"/>
                        <a:buNone/>
                      </a:pPr>
                      <a:r>
                        <a:rPr lang="en" sz="1300" b="1" u="none" strike="noStrike" cap="none">
                          <a:solidFill>
                            <a:schemeClr val="dk1"/>
                          </a:solidFill>
                          <a:latin typeface="Calibri"/>
                          <a:ea typeface="Calibri"/>
                          <a:cs typeface="Calibri"/>
                          <a:sym typeface="Calibri"/>
                        </a:rPr>
                        <a:t>Key meaning</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1A1F26"/>
                        </a:buClr>
                        <a:buSzPts val="800"/>
                        <a:buFont typeface="Calibri"/>
                        <a:buNone/>
                      </a:pPr>
                      <a:r>
                        <a:rPr lang="en" sz="1300" b="1" u="none" strike="noStrike" cap="none">
                          <a:solidFill>
                            <a:schemeClr val="dk1"/>
                          </a:solidFill>
                          <a:latin typeface="Calibri"/>
                          <a:ea typeface="Calibri"/>
                          <a:cs typeface="Calibri"/>
                          <a:sym typeface="Calibri"/>
                        </a:rPr>
                        <a:t>Score</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1A1F26"/>
                        </a:buClr>
                        <a:buSzPts val="800"/>
                        <a:buFont typeface="Calibri"/>
                        <a:buNone/>
                      </a:pPr>
                      <a:r>
                        <a:rPr lang="en" sz="1300" b="1" u="none" strike="noStrike" cap="none">
                          <a:solidFill>
                            <a:schemeClr val="dk1"/>
                          </a:solidFill>
                          <a:latin typeface="Calibri"/>
                          <a:ea typeface="Calibri"/>
                          <a:cs typeface="Calibri"/>
                          <a:sym typeface="Calibri"/>
                        </a:rPr>
                        <a:t>Weight</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59350">
                <a:tc>
                  <a:txBody>
                    <a:bodyPr/>
                    <a:lstStyle/>
                    <a:p>
                      <a:pPr marL="0" marR="0" lvl="0" indent="0" algn="l" rtl="0">
                        <a:lnSpc>
                          <a:spcPct val="100000"/>
                        </a:lnSpc>
                        <a:spcBef>
                          <a:spcPts val="0"/>
                        </a:spcBef>
                        <a:spcAft>
                          <a:spcPts val="0"/>
                        </a:spcAft>
                        <a:buClr>
                          <a:srgbClr val="B45309"/>
                        </a:buClr>
                        <a:buSzPts val="800"/>
                        <a:buFont typeface="Calibri"/>
                        <a:buNone/>
                      </a:pPr>
                      <a:r>
                        <a:rPr lang="en" b="1" u="none" strike="noStrike" cap="none">
                          <a:solidFill>
                            <a:schemeClr val="dk1"/>
                          </a:solidFill>
                          <a:latin typeface="Calibri"/>
                          <a:ea typeface="Calibri"/>
                          <a:cs typeface="Calibri"/>
                          <a:sym typeface="Calibri"/>
                        </a:rPr>
                        <a:t>animal</a:t>
                      </a:r>
                      <a:endParaRPr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5A6270"/>
                        </a:buClr>
                        <a:buSzPts val="800"/>
                        <a:buFont typeface="Calibri"/>
                        <a:buNone/>
                      </a:pPr>
                      <a:r>
                        <a:rPr lang="en" sz="1300" u="none" strike="noStrike" cap="none">
                          <a:solidFill>
                            <a:schemeClr val="dk1"/>
                          </a:solidFill>
                          <a:latin typeface="Calibri"/>
                          <a:ea typeface="Calibri"/>
                          <a:cs typeface="Calibri"/>
                          <a:sym typeface="Calibri"/>
                        </a:rPr>
                        <a:t>noun, living thing</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47857"/>
                        </a:buClr>
                        <a:buSzPts val="800"/>
                        <a:buFont typeface="Calibri"/>
                        <a:buNone/>
                      </a:pPr>
                      <a:r>
                        <a:rPr lang="en" sz="1300" b="1" u="none" strike="noStrike" cap="none">
                          <a:solidFill>
                            <a:schemeClr val="dk1"/>
                          </a:solidFill>
                          <a:latin typeface="Calibri"/>
                          <a:ea typeface="Calibri"/>
                          <a:cs typeface="Calibri"/>
                          <a:sym typeface="Calibri"/>
                        </a:rPr>
                        <a:t>5.0</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47857"/>
                        </a:buClr>
                        <a:buSzPts val="800"/>
                        <a:buFont typeface="Calibri"/>
                        <a:buNone/>
                      </a:pPr>
                      <a:r>
                        <a:rPr lang="en" sz="1300" b="1" u="none" strike="noStrike" cap="none">
                          <a:solidFill>
                            <a:schemeClr val="dk1"/>
                          </a:solidFill>
                          <a:latin typeface="Calibri"/>
                          <a:ea typeface="Calibri"/>
                          <a:cs typeface="Calibri"/>
                          <a:sym typeface="Calibri"/>
                        </a:rPr>
                        <a:t>0.70</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59350">
                <a:tc>
                  <a:txBody>
                    <a:bodyPr/>
                    <a:lstStyle/>
                    <a:p>
                      <a:pPr marL="0" marR="0" lvl="0" indent="0" algn="l" rtl="0">
                        <a:lnSpc>
                          <a:spcPct val="100000"/>
                        </a:lnSpc>
                        <a:spcBef>
                          <a:spcPts val="0"/>
                        </a:spcBef>
                        <a:spcAft>
                          <a:spcPts val="0"/>
                        </a:spcAft>
                        <a:buClr>
                          <a:srgbClr val="A78BFA"/>
                        </a:buClr>
                        <a:buSzPts val="800"/>
                        <a:buFont typeface="Calibri"/>
                        <a:buNone/>
                      </a:pPr>
                      <a:r>
                        <a:rPr lang="en" sz="1300" u="none" strike="noStrike" cap="none">
                          <a:solidFill>
                            <a:schemeClr val="dk1"/>
                          </a:solidFill>
                          <a:latin typeface="Calibri"/>
                          <a:ea typeface="Calibri"/>
                          <a:cs typeface="Calibri"/>
                          <a:sym typeface="Calibri"/>
                        </a:rPr>
                        <a:t>tired</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5A6270"/>
                        </a:buClr>
                        <a:buSzPts val="800"/>
                        <a:buFont typeface="Calibri"/>
                        <a:buNone/>
                      </a:pPr>
                      <a:r>
                        <a:rPr lang="en" sz="1300" u="none" strike="noStrike" cap="none">
                          <a:solidFill>
                            <a:schemeClr val="dk1"/>
                          </a:solidFill>
                          <a:latin typeface="Calibri"/>
                          <a:ea typeface="Calibri"/>
                          <a:cs typeface="Calibri"/>
                          <a:sym typeface="Calibri"/>
                        </a:rPr>
                        <a:t>adjective</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A78BFA"/>
                        </a:buClr>
                        <a:buSzPts val="800"/>
                        <a:buFont typeface="Calibri"/>
                        <a:buNone/>
                      </a:pPr>
                      <a:r>
                        <a:rPr lang="en" sz="1300" u="none" strike="noStrike" cap="none">
                          <a:solidFill>
                            <a:schemeClr val="dk1"/>
                          </a:solidFill>
                          <a:latin typeface="Calibri"/>
                          <a:ea typeface="Calibri"/>
                          <a:cs typeface="Calibri"/>
                          <a:sym typeface="Calibri"/>
                        </a:rPr>
                        <a:t>3.0</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A78BFA"/>
                        </a:buClr>
                        <a:buSzPts val="800"/>
                        <a:buFont typeface="Calibri"/>
                        <a:buNone/>
                      </a:pPr>
                      <a:r>
                        <a:rPr lang="en" sz="1300" u="none" strike="noStrike" cap="none">
                          <a:solidFill>
                            <a:schemeClr val="dk1"/>
                          </a:solidFill>
                          <a:latin typeface="Calibri"/>
                          <a:ea typeface="Calibri"/>
                          <a:cs typeface="Calibri"/>
                          <a:sym typeface="Calibri"/>
                        </a:rPr>
                        <a:t>0.20</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59350">
                <a:tc>
                  <a:txBody>
                    <a:bodyPr/>
                    <a:lstStyle/>
                    <a:p>
                      <a:pPr marL="0" marR="0" lvl="0" indent="0" algn="l" rtl="0">
                        <a:lnSpc>
                          <a:spcPct val="100000"/>
                        </a:lnSpc>
                        <a:spcBef>
                          <a:spcPts val="0"/>
                        </a:spcBef>
                        <a:spcAft>
                          <a:spcPts val="0"/>
                        </a:spcAft>
                        <a:buClr>
                          <a:srgbClr val="5A6270"/>
                        </a:buClr>
                        <a:buSzPts val="800"/>
                        <a:buFont typeface="Calibri"/>
                        <a:buNone/>
                      </a:pPr>
                      <a:r>
                        <a:rPr lang="en" sz="1300" u="none" strike="noStrike" cap="none">
                          <a:solidFill>
                            <a:schemeClr val="dk1"/>
                          </a:solidFill>
                          <a:latin typeface="Calibri"/>
                          <a:ea typeface="Calibri"/>
                          <a:cs typeface="Calibri"/>
                          <a:sym typeface="Calibri"/>
                        </a:rPr>
                        <a:t>street</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5A6270"/>
                        </a:buClr>
                        <a:buSzPts val="800"/>
                        <a:buFont typeface="Calibri"/>
                        <a:buNone/>
                      </a:pPr>
                      <a:r>
                        <a:rPr lang="en" sz="1300" u="none" strike="noStrike" cap="none">
                          <a:solidFill>
                            <a:schemeClr val="dk1"/>
                          </a:solidFill>
                          <a:latin typeface="Calibri"/>
                          <a:ea typeface="Calibri"/>
                          <a:cs typeface="Calibri"/>
                          <a:sym typeface="Calibri"/>
                        </a:rPr>
                        <a:t>noun, location</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5A6270"/>
                        </a:buClr>
                        <a:buSzPts val="800"/>
                        <a:buFont typeface="Calibri"/>
                        <a:buNone/>
                      </a:pPr>
                      <a:r>
                        <a:rPr lang="en" sz="1300" u="none" strike="noStrike" cap="none">
                          <a:solidFill>
                            <a:schemeClr val="dk1"/>
                          </a:solidFill>
                          <a:latin typeface="Calibri"/>
                          <a:ea typeface="Calibri"/>
                          <a:cs typeface="Calibri"/>
                          <a:sym typeface="Calibri"/>
                        </a:rPr>
                        <a:t>1.0</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5A6270"/>
                        </a:buClr>
                        <a:buSzPts val="800"/>
                        <a:buFont typeface="Calibri"/>
                        <a:buNone/>
                      </a:pPr>
                      <a:r>
                        <a:rPr lang="en" sz="1300" u="none" strike="noStrike" cap="none">
                          <a:solidFill>
                            <a:schemeClr val="dk1"/>
                          </a:solidFill>
                          <a:latin typeface="Calibri"/>
                          <a:ea typeface="Calibri"/>
                          <a:cs typeface="Calibri"/>
                          <a:sym typeface="Calibri"/>
                        </a:rPr>
                        <a:t>0.05</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59350">
                <a:tc>
                  <a:txBody>
                    <a:bodyPr/>
                    <a:lstStyle/>
                    <a:p>
                      <a:pPr marL="0" marR="0" lvl="0" indent="0" algn="l" rtl="0">
                        <a:lnSpc>
                          <a:spcPct val="100000"/>
                        </a:lnSpc>
                        <a:spcBef>
                          <a:spcPts val="0"/>
                        </a:spcBef>
                        <a:spcAft>
                          <a:spcPts val="0"/>
                        </a:spcAft>
                        <a:buClr>
                          <a:srgbClr val="5A6270"/>
                        </a:buClr>
                        <a:buSzPts val="800"/>
                        <a:buFont typeface="Calibri"/>
                        <a:buNone/>
                      </a:pPr>
                      <a:r>
                        <a:rPr lang="en" sz="1300" u="none" strike="noStrike" cap="none">
                          <a:solidFill>
                            <a:schemeClr val="dk1"/>
                          </a:solidFill>
                          <a:latin typeface="Calibri"/>
                          <a:ea typeface="Calibri"/>
                          <a:cs typeface="Calibri"/>
                          <a:sym typeface="Calibri"/>
                        </a:rPr>
                        <a:t>others</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5A6270"/>
                        </a:buClr>
                        <a:buSzPts val="800"/>
                        <a:buFont typeface="Calibri"/>
                        <a:buNone/>
                      </a:pPr>
                      <a:r>
                        <a:rPr lang="en" sz="1300" u="none" strike="noStrike" cap="none">
                          <a:solidFill>
                            <a:schemeClr val="dk1"/>
                          </a:solidFill>
                          <a:latin typeface="Calibri"/>
                          <a:ea typeface="Calibri"/>
                          <a:cs typeface="Calibri"/>
                          <a:sym typeface="Calibri"/>
                        </a:rPr>
                        <a:t>...</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5A6270"/>
                        </a:buClr>
                        <a:buSzPts val="800"/>
                        <a:buFont typeface="Calibri"/>
                        <a:buNone/>
                      </a:pPr>
                      <a:r>
                        <a:rPr lang="en" sz="1300" u="none" strike="noStrike" cap="none">
                          <a:solidFill>
                            <a:schemeClr val="dk1"/>
                          </a:solidFill>
                          <a:latin typeface="Calibri"/>
                          <a:ea typeface="Calibri"/>
                          <a:cs typeface="Calibri"/>
                          <a:sym typeface="Calibri"/>
                        </a:rPr>
                        <a:t>small</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5A6270"/>
                        </a:buClr>
                        <a:buSzPts val="800"/>
                        <a:buFont typeface="Calibri"/>
                        <a:buNone/>
                      </a:pPr>
                      <a:r>
                        <a:rPr lang="en" sz="1300" u="none" strike="noStrike" cap="none">
                          <a:solidFill>
                            <a:schemeClr val="dk1"/>
                          </a:solidFill>
                          <a:latin typeface="Calibri"/>
                          <a:ea typeface="Calibri"/>
                          <a:cs typeface="Calibri"/>
                          <a:sym typeface="Calibri"/>
                        </a:rPr>
                        <a:t>~0</a:t>
                      </a:r>
                      <a:endParaRPr sz="1300" u="none" strike="noStrike" cap="none">
                        <a:solidFill>
                          <a:schemeClr val="dk1"/>
                        </a:solidFill>
                        <a:latin typeface="Calibri"/>
                        <a:ea typeface="Calibri"/>
                        <a:cs typeface="Calibri"/>
                        <a:sym typeface="Calibri"/>
                      </a:endParaRPr>
                    </a:p>
                  </a:txBody>
                  <a:tcPr marL="68600" marR="68600" marT="34300" marB="34300">
                    <a:lnL w="12700" cap="flat" cmpd="sng">
                      <a:solidFill>
                        <a:srgbClr val="30363D"/>
                      </a:solidFill>
                      <a:prstDash val="solid"/>
                      <a:round/>
                      <a:headEnd type="none" w="sm" len="sm"/>
                      <a:tailEnd type="none" w="sm" len="sm"/>
                    </a:lnL>
                    <a:lnR w="12700" cap="flat" cmpd="sng">
                      <a:solidFill>
                        <a:srgbClr val="30363D"/>
                      </a:solidFill>
                      <a:prstDash val="solid"/>
                      <a:round/>
                      <a:headEnd type="none" w="sm" len="sm"/>
                      <a:tailEnd type="none" w="sm" len="sm"/>
                    </a:lnR>
                    <a:lnT w="12700" cap="flat" cmpd="sng">
                      <a:solidFill>
                        <a:srgbClr val="30363D"/>
                      </a:solidFill>
                      <a:prstDash val="solid"/>
                      <a:round/>
                      <a:headEnd type="none" w="sm" len="sm"/>
                      <a:tailEnd type="none" w="sm" len="sm"/>
                    </a:lnT>
                    <a:lnB w="12700" cap="flat" cmpd="sng">
                      <a:solidFill>
                        <a:srgbClr val="30363D"/>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
        <p:nvSpPr>
          <p:cNvPr id="1391" name="Google Shape;1391;p54"/>
          <p:cNvSpPr/>
          <p:nvPr/>
        </p:nvSpPr>
        <p:spPr>
          <a:xfrm>
            <a:off x="5863590" y="2811780"/>
            <a:ext cx="2949000" cy="2071200"/>
          </a:xfrm>
          <a:prstGeom prst="rect">
            <a:avLst/>
          </a:prstGeom>
          <a:solidFill>
            <a:srgbClr val="E8EDF2"/>
          </a:solidFill>
          <a:ln w="12700" cap="flat" cmpd="sng">
            <a:solidFill>
              <a:srgbClr val="C8D0DA"/>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2" name="Google Shape;1392;p54"/>
          <p:cNvSpPr/>
          <p:nvPr/>
        </p:nvSpPr>
        <p:spPr>
          <a:xfrm>
            <a:off x="5966460" y="2866644"/>
            <a:ext cx="2743200" cy="26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45309"/>
              </a:buClr>
              <a:buSzPts val="800"/>
              <a:buFont typeface="Calibri"/>
              <a:buNone/>
            </a:pPr>
            <a:r>
              <a:rPr lang="en" sz="1000" b="1" i="0" u="none" strike="noStrike" cap="none">
                <a:solidFill>
                  <a:schemeClr val="dk1"/>
                </a:solidFill>
                <a:latin typeface="Calibri"/>
                <a:ea typeface="Calibri"/>
                <a:cs typeface="Calibri"/>
                <a:sym typeface="Calibri"/>
              </a:rPr>
              <a:t>Output for "it":</a:t>
            </a:r>
            <a:endParaRPr sz="1000" b="0" i="0" u="none" strike="noStrike" cap="none">
              <a:solidFill>
                <a:schemeClr val="dk1"/>
              </a:solidFill>
              <a:latin typeface="Calibri"/>
              <a:ea typeface="Calibri"/>
              <a:cs typeface="Calibri"/>
              <a:sym typeface="Calibri"/>
            </a:endParaRPr>
          </a:p>
        </p:txBody>
      </p:sp>
      <p:sp>
        <p:nvSpPr>
          <p:cNvPr id="1393" name="Google Shape;1393;p54"/>
          <p:cNvSpPr/>
          <p:nvPr/>
        </p:nvSpPr>
        <p:spPr>
          <a:xfrm>
            <a:off x="5966460" y="3292221"/>
            <a:ext cx="2743200" cy="754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A1F26"/>
              </a:buClr>
              <a:buSzPts val="900"/>
              <a:buFont typeface="Calibri"/>
              <a:buNone/>
            </a:pPr>
            <a:r>
              <a:rPr lang="en" sz="1300" b="1">
                <a:solidFill>
                  <a:schemeClr val="dk1"/>
                </a:solidFill>
                <a:latin typeface="Calibri"/>
                <a:ea typeface="Calibri"/>
                <a:cs typeface="Calibri"/>
                <a:sym typeface="Calibri"/>
              </a:rPr>
              <a:t>O</a:t>
            </a:r>
            <a:r>
              <a:rPr lang="en" sz="1300" b="1" i="0" u="none" strike="noStrike" cap="none">
                <a:solidFill>
                  <a:schemeClr val="dk1"/>
                </a:solidFill>
                <a:latin typeface="Calibri"/>
                <a:ea typeface="Calibri"/>
                <a:cs typeface="Calibri"/>
                <a:sym typeface="Calibri"/>
              </a:rPr>
              <a:t>utput </a:t>
            </a:r>
            <a:r>
              <a:rPr lang="en" sz="1200" b="1" i="0" u="none" strike="noStrike" cap="none">
                <a:solidFill>
                  <a:schemeClr val="dk1"/>
                </a:solidFill>
                <a:latin typeface="Calibri"/>
                <a:ea typeface="Calibri"/>
                <a:cs typeface="Calibri"/>
                <a:sym typeface="Calibri"/>
              </a:rPr>
              <a:t>it</a:t>
            </a:r>
            <a:r>
              <a:rPr lang="en" sz="1300" b="0" i="0" u="none" strike="noStrike" cap="none">
                <a:solidFill>
                  <a:schemeClr val="dk1"/>
                </a:solidFill>
                <a:latin typeface="Calibri"/>
                <a:ea typeface="Calibri"/>
                <a:cs typeface="Calibri"/>
                <a:sym typeface="Calibri"/>
              </a:rPr>
              <a:t> = </a:t>
            </a:r>
            <a:r>
              <a:rPr lang="en" sz="1300" b="1" i="0" u="none" strike="noStrike" cap="none">
                <a:solidFill>
                  <a:schemeClr val="dk1"/>
                </a:solidFill>
                <a:latin typeface="Calibri"/>
                <a:ea typeface="Calibri"/>
                <a:cs typeface="Calibri"/>
                <a:sym typeface="Calibri"/>
              </a:rPr>
              <a:t>0.70</a:t>
            </a:r>
            <a:r>
              <a:rPr lang="en" sz="1300" b="0" i="0" u="none" strike="noStrike" cap="none">
                <a:solidFill>
                  <a:schemeClr val="dk1"/>
                </a:solidFill>
                <a:latin typeface="Calibri"/>
                <a:ea typeface="Calibri"/>
                <a:cs typeface="Calibri"/>
                <a:sym typeface="Calibri"/>
              </a:rPr>
              <a:t> × V</a:t>
            </a:r>
            <a:r>
              <a:rPr lang="en" sz="1200" b="0" i="0" u="none" strike="noStrike" cap="none">
                <a:solidFill>
                  <a:schemeClr val="dk1"/>
                </a:solidFill>
                <a:latin typeface="Calibri"/>
                <a:ea typeface="Calibri"/>
                <a:cs typeface="Calibri"/>
                <a:sym typeface="Calibri"/>
              </a:rPr>
              <a:t>animal</a:t>
            </a:r>
            <a:r>
              <a:rPr lang="en" sz="1300" b="0" i="0" u="none" strike="noStrike" cap="none">
                <a:solidFill>
                  <a:schemeClr val="dk1"/>
                </a:solidFill>
                <a:latin typeface="Calibri"/>
                <a:ea typeface="Calibri"/>
                <a:cs typeface="Calibri"/>
                <a:sym typeface="Calibri"/>
              </a:rPr>
              <a:t> +</a:t>
            </a:r>
            <a:br>
              <a:rPr lang="en" sz="1300" b="0" i="0" u="none" strike="noStrike" cap="none">
                <a:solidFill>
                  <a:schemeClr val="dk1"/>
                </a:solidFill>
                <a:latin typeface="Calibri"/>
                <a:ea typeface="Calibri"/>
                <a:cs typeface="Calibri"/>
                <a:sym typeface="Calibri"/>
              </a:rPr>
            </a:br>
            <a:r>
              <a:rPr lang="en" sz="1300" b="1" i="0" u="none" strike="noStrike" cap="none">
                <a:solidFill>
                  <a:schemeClr val="dk1"/>
                </a:solidFill>
                <a:latin typeface="Calibri"/>
                <a:ea typeface="Calibri"/>
                <a:cs typeface="Calibri"/>
                <a:sym typeface="Calibri"/>
              </a:rPr>
              <a:t>0.20</a:t>
            </a:r>
            <a:r>
              <a:rPr lang="en" sz="1300" b="0" i="0" u="none" strike="noStrike" cap="none">
                <a:solidFill>
                  <a:schemeClr val="dk1"/>
                </a:solidFill>
                <a:latin typeface="Calibri"/>
                <a:ea typeface="Calibri"/>
                <a:cs typeface="Calibri"/>
                <a:sym typeface="Calibri"/>
              </a:rPr>
              <a:t> × V</a:t>
            </a:r>
            <a:r>
              <a:rPr lang="en" sz="1200" b="0" i="0" u="none" strike="noStrike" cap="none">
                <a:solidFill>
                  <a:schemeClr val="dk1"/>
                </a:solidFill>
                <a:latin typeface="Calibri"/>
                <a:ea typeface="Calibri"/>
                <a:cs typeface="Calibri"/>
                <a:sym typeface="Calibri"/>
              </a:rPr>
              <a:t>tired</a:t>
            </a:r>
            <a:r>
              <a:rPr lang="en" sz="1300" b="0" i="0" u="none" strike="noStrike" cap="none">
                <a:solidFill>
                  <a:schemeClr val="dk1"/>
                </a:solidFill>
                <a:latin typeface="Calibri"/>
                <a:ea typeface="Calibri"/>
                <a:cs typeface="Calibri"/>
                <a:sym typeface="Calibri"/>
              </a:rPr>
              <a:t> + …</a:t>
            </a:r>
            <a:endParaRPr sz="1300" b="0" i="0" u="none" strike="noStrike" cap="none">
              <a:solidFill>
                <a:schemeClr val="dk1"/>
              </a:solidFill>
              <a:latin typeface="Calibri"/>
              <a:ea typeface="Calibri"/>
              <a:cs typeface="Calibri"/>
              <a:sym typeface="Calibri"/>
            </a:endParaRPr>
          </a:p>
        </p:txBody>
      </p:sp>
      <p:sp>
        <p:nvSpPr>
          <p:cNvPr id="1394" name="Google Shape;1394;p54"/>
          <p:cNvSpPr/>
          <p:nvPr/>
        </p:nvSpPr>
        <p:spPr>
          <a:xfrm>
            <a:off x="5966460" y="4046220"/>
            <a:ext cx="2743200" cy="754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800"/>
              <a:buFont typeface="Calibri"/>
              <a:buNone/>
            </a:pPr>
            <a:r>
              <a:rPr lang="en" sz="1200" b="0" i="1" u="none" strike="noStrike" cap="none">
                <a:solidFill>
                  <a:schemeClr val="dk1"/>
                </a:solidFill>
                <a:latin typeface="Calibri"/>
                <a:ea typeface="Calibri"/>
                <a:cs typeface="Calibri"/>
                <a:sym typeface="Calibri"/>
              </a:rPr>
              <a:t>"it" becomes:</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A78BFA"/>
              </a:buClr>
              <a:buSzPts val="800"/>
              <a:buFont typeface="Calibri"/>
              <a:buNone/>
            </a:pPr>
            <a:r>
              <a:rPr lang="en" sz="1200" b="0" i="1" u="none" strike="noStrike" cap="none">
                <a:solidFill>
                  <a:schemeClr val="dk1"/>
                </a:solidFill>
                <a:latin typeface="Calibri"/>
                <a:ea typeface="Calibri"/>
                <a:cs typeface="Calibri"/>
                <a:sym typeface="Calibri"/>
              </a:rPr>
              <a:t>"something like animal,</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A78BFA"/>
              </a:buClr>
              <a:buSzPts val="800"/>
              <a:buFont typeface="Calibri"/>
              <a:buNone/>
            </a:pPr>
            <a:r>
              <a:rPr lang="en" sz="1200" b="0" i="1" u="none" strike="noStrike" cap="none">
                <a:solidFill>
                  <a:schemeClr val="dk1"/>
                </a:solidFill>
                <a:latin typeface="Calibri"/>
                <a:ea typeface="Calibri"/>
                <a:cs typeface="Calibri"/>
                <a:sym typeface="Calibri"/>
              </a:rPr>
              <a:t>with context of being tired"</a:t>
            </a:r>
            <a:endParaRPr sz="1200" b="0" i="0" u="none" strike="noStrike" cap="none">
              <a:solidFill>
                <a:schemeClr val="dk1"/>
              </a:solidFill>
              <a:latin typeface="Calibri"/>
              <a:ea typeface="Calibri"/>
              <a:cs typeface="Calibri"/>
              <a:sym typeface="Calibri"/>
            </a:endParaRPr>
          </a:p>
        </p:txBody>
      </p:sp>
      <p:pic>
        <p:nvPicPr>
          <p:cNvPr id="1395" name="Google Shape;1395;p54"/>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99"/>
        <p:cNvGrpSpPr/>
        <p:nvPr/>
      </p:nvGrpSpPr>
      <p:grpSpPr>
        <a:xfrm>
          <a:off x="0" y="0"/>
          <a:ext cx="0" cy="0"/>
          <a:chOff x="0" y="0"/>
          <a:chExt cx="0" cy="0"/>
        </a:xfrm>
      </p:grpSpPr>
      <p:sp>
        <p:nvSpPr>
          <p:cNvPr id="1400" name="Google Shape;1400;p55" descr="$PPTXTitle"/>
          <p:cNvSpPr txBox="1">
            <a:spLocks noGrp="1"/>
          </p:cNvSpPr>
          <p:nvPr>
            <p:ph type="title"/>
          </p:nvPr>
        </p:nvSpPr>
        <p:spPr>
          <a:xfrm>
            <a:off x="2433046" y="213241"/>
            <a:ext cx="8229600" cy="440700"/>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SzPts val="1800"/>
              <a:buNone/>
            </a:pPr>
            <a:r>
              <a:rPr lang="en"/>
              <a:t>The (Self) Attention Mechanism</a:t>
            </a:r>
            <a:endParaRPr/>
          </a:p>
        </p:txBody>
      </p:sp>
      <p:sp>
        <p:nvSpPr>
          <p:cNvPr id="1401" name="Google Shape;1401;p55"/>
          <p:cNvSpPr txBox="1"/>
          <p:nvPr/>
        </p:nvSpPr>
        <p:spPr>
          <a:xfrm>
            <a:off x="769604" y="703900"/>
            <a:ext cx="7113000" cy="2249700"/>
          </a:xfrm>
          <a:prstGeom prst="rect">
            <a:avLst/>
          </a:prstGeom>
          <a:noFill/>
          <a:ln>
            <a:noFill/>
          </a:ln>
        </p:spPr>
        <p:txBody>
          <a:bodyPr spcFirstLastPara="1" wrap="square" lIns="0" tIns="0" rIns="0" bIns="0" anchor="t" anchorCtr="0">
            <a:spAutoFit/>
          </a:bodyPr>
          <a:lstStyle/>
          <a:p>
            <a:pPr marL="317500" marR="0" lvl="0" indent="-317500" algn="l" rtl="0">
              <a:lnSpc>
                <a:spcPct val="115000"/>
              </a:lnSpc>
              <a:spcBef>
                <a:spcPts val="0"/>
              </a:spcBef>
              <a:spcAft>
                <a:spcPts val="0"/>
              </a:spcAft>
              <a:buClr>
                <a:srgbClr val="000000"/>
              </a:buClr>
              <a:buSzPts val="2200"/>
              <a:buFont typeface="Calibri"/>
              <a:buChar char="o"/>
            </a:pPr>
            <a:r>
              <a:rPr lang="en" sz="1500" i="0" u="none" strike="noStrike" cap="none">
                <a:solidFill>
                  <a:srgbClr val="711670"/>
                </a:solidFill>
                <a:latin typeface="Calibri"/>
                <a:ea typeface="Calibri"/>
                <a:cs typeface="Calibri"/>
                <a:sym typeface="Calibri"/>
              </a:rPr>
              <a:t>Attention as a "fuzzy" or approximate hashtable</a:t>
            </a:r>
            <a:endParaRPr sz="1500" i="0" u="none" strike="noStrike" cap="none">
              <a:solidFill>
                <a:srgbClr val="000000"/>
              </a:solidFill>
              <a:latin typeface="Calibri"/>
              <a:ea typeface="Calibri"/>
              <a:cs typeface="Calibri"/>
              <a:sym typeface="Calibri"/>
            </a:endParaRPr>
          </a:p>
          <a:p>
            <a:pPr marL="660400" marR="0" lvl="1" indent="-298450" algn="l" rtl="0">
              <a:lnSpc>
                <a:spcPct val="115000"/>
              </a:lnSpc>
              <a:spcBef>
                <a:spcPts val="0"/>
              </a:spcBef>
              <a:spcAft>
                <a:spcPts val="0"/>
              </a:spcAft>
              <a:buClr>
                <a:srgbClr val="000000"/>
              </a:buClr>
              <a:buSzPts val="1900"/>
              <a:buFont typeface="Calibri"/>
              <a:buChar char="o"/>
            </a:pPr>
            <a:r>
              <a:rPr lang="en" sz="1200" i="0" u="none" strike="noStrike" cap="none">
                <a:solidFill>
                  <a:srgbClr val="000000"/>
                </a:solidFill>
                <a:latin typeface="Calibri"/>
                <a:ea typeface="Calibri"/>
                <a:cs typeface="Calibri"/>
                <a:sym typeface="Calibri"/>
              </a:rPr>
              <a:t>To look up a value, we compare a query against keys in a table</a:t>
            </a:r>
            <a:endParaRPr sz="1200">
              <a:latin typeface="Calibri"/>
              <a:ea typeface="Calibri"/>
              <a:cs typeface="Calibri"/>
              <a:sym typeface="Calibri"/>
            </a:endParaRPr>
          </a:p>
          <a:p>
            <a:pPr marL="660400" marR="0" lvl="1" indent="-298450" algn="l" rtl="0">
              <a:lnSpc>
                <a:spcPct val="115000"/>
              </a:lnSpc>
              <a:spcBef>
                <a:spcPts val="0"/>
              </a:spcBef>
              <a:spcAft>
                <a:spcPts val="0"/>
              </a:spcAft>
              <a:buClr>
                <a:srgbClr val="000000"/>
              </a:buClr>
              <a:buSzPts val="1900"/>
              <a:buFont typeface="Calibri"/>
              <a:buChar char="o"/>
            </a:pPr>
            <a:r>
              <a:rPr lang="en" sz="1200" i="0" u="none" strike="noStrike" cap="none">
                <a:solidFill>
                  <a:srgbClr val="000000"/>
                </a:solidFill>
                <a:latin typeface="Calibri"/>
                <a:ea typeface="Calibri"/>
                <a:cs typeface="Calibri"/>
                <a:sym typeface="Calibri"/>
              </a:rPr>
              <a:t>In a hashtable (shown on the bottom left):</a:t>
            </a:r>
            <a:endParaRPr sz="1200" i="0" u="none" strike="noStrike" cap="none">
              <a:solidFill>
                <a:srgbClr val="000000"/>
              </a:solidFill>
              <a:latin typeface="Calibri"/>
              <a:ea typeface="Calibri"/>
              <a:cs typeface="Calibri"/>
              <a:sym typeface="Calibri"/>
            </a:endParaRPr>
          </a:p>
          <a:p>
            <a:pPr marL="1003300" marR="0" lvl="2" indent="-279400" algn="l" rtl="0">
              <a:lnSpc>
                <a:spcPct val="115000"/>
              </a:lnSpc>
              <a:spcBef>
                <a:spcPts val="100"/>
              </a:spcBef>
              <a:spcAft>
                <a:spcPts val="0"/>
              </a:spcAft>
              <a:buClr>
                <a:srgbClr val="000000"/>
              </a:buClr>
              <a:buSzPts val="1600"/>
              <a:buFont typeface="Calibri"/>
              <a:buChar char="o"/>
            </a:pPr>
            <a:r>
              <a:rPr lang="en" sz="1100" i="0" u="none" strike="noStrike" cap="none">
                <a:solidFill>
                  <a:srgbClr val="000000"/>
                </a:solidFill>
                <a:latin typeface="Calibri"/>
                <a:ea typeface="Calibri"/>
                <a:cs typeface="Calibri"/>
                <a:sym typeface="Calibri"/>
              </a:rPr>
              <a:t>Each query (hash) maps to exactly one key-value pair</a:t>
            </a:r>
            <a:endParaRPr sz="1100" i="0" u="none" strike="noStrike" cap="none">
              <a:solidFill>
                <a:srgbClr val="000000"/>
              </a:solidFill>
              <a:latin typeface="Calibri"/>
              <a:ea typeface="Calibri"/>
              <a:cs typeface="Calibri"/>
              <a:sym typeface="Calibri"/>
            </a:endParaRPr>
          </a:p>
          <a:p>
            <a:pPr marL="660400" marR="0" lvl="1" indent="-298450" algn="l" rtl="0">
              <a:lnSpc>
                <a:spcPct val="115000"/>
              </a:lnSpc>
              <a:spcBef>
                <a:spcPts val="0"/>
              </a:spcBef>
              <a:spcAft>
                <a:spcPts val="0"/>
              </a:spcAft>
              <a:buClr>
                <a:srgbClr val="000000"/>
              </a:buClr>
              <a:buSzPts val="1900"/>
              <a:buFont typeface="Calibri"/>
              <a:buChar char="o"/>
            </a:pPr>
            <a:r>
              <a:rPr lang="en" sz="1200" i="0" u="none" strike="noStrike" cap="none">
                <a:solidFill>
                  <a:srgbClr val="000000"/>
                </a:solidFill>
                <a:latin typeface="Calibri"/>
                <a:ea typeface="Calibri"/>
                <a:cs typeface="Calibri"/>
                <a:sym typeface="Calibri"/>
              </a:rPr>
              <a:t>In (self-)attention (shown on the bottom right)</a:t>
            </a:r>
            <a:endParaRPr sz="1200" i="0" u="none" strike="noStrike" cap="none">
              <a:solidFill>
                <a:srgbClr val="000000"/>
              </a:solidFill>
              <a:latin typeface="Calibri"/>
              <a:ea typeface="Calibri"/>
              <a:cs typeface="Calibri"/>
              <a:sym typeface="Calibri"/>
            </a:endParaRPr>
          </a:p>
          <a:p>
            <a:pPr marL="1003300" marR="0" lvl="2" indent="-279400" algn="l" rtl="0">
              <a:lnSpc>
                <a:spcPct val="115000"/>
              </a:lnSpc>
              <a:spcBef>
                <a:spcPts val="100"/>
              </a:spcBef>
              <a:spcAft>
                <a:spcPts val="0"/>
              </a:spcAft>
              <a:buClr>
                <a:srgbClr val="000000"/>
              </a:buClr>
              <a:buSzPts val="1600"/>
              <a:buFont typeface="Calibri"/>
              <a:buChar char="o"/>
            </a:pPr>
            <a:r>
              <a:rPr lang="en" sz="1100" i="0" u="none" strike="noStrike" cap="none">
                <a:solidFill>
                  <a:srgbClr val="000000"/>
                </a:solidFill>
                <a:latin typeface="Calibri"/>
                <a:ea typeface="Calibri"/>
                <a:cs typeface="Calibri"/>
                <a:sym typeface="Calibri"/>
              </a:rPr>
              <a:t>Each query matches each key to varying degrees.</a:t>
            </a:r>
            <a:endParaRPr sz="1100" i="0" u="none" strike="noStrike" cap="none">
              <a:solidFill>
                <a:srgbClr val="000000"/>
              </a:solidFill>
              <a:latin typeface="Calibri"/>
              <a:ea typeface="Calibri"/>
              <a:cs typeface="Calibri"/>
              <a:sym typeface="Calibri"/>
            </a:endParaRPr>
          </a:p>
          <a:p>
            <a:pPr marL="1003300" marR="0" lvl="2" indent="-279400" algn="l" rtl="0">
              <a:lnSpc>
                <a:spcPct val="115000"/>
              </a:lnSpc>
              <a:spcBef>
                <a:spcPts val="100"/>
              </a:spcBef>
              <a:spcAft>
                <a:spcPts val="0"/>
              </a:spcAft>
              <a:buClr>
                <a:srgbClr val="000000"/>
              </a:buClr>
              <a:buSzPts val="1600"/>
              <a:buFont typeface="Calibri"/>
              <a:buChar char="o"/>
            </a:pPr>
            <a:r>
              <a:rPr lang="en" sz="1100" i="0" u="none" strike="noStrike" cap="none">
                <a:solidFill>
                  <a:srgbClr val="000000"/>
                </a:solidFill>
                <a:latin typeface="Calibri"/>
                <a:ea typeface="Calibri"/>
                <a:cs typeface="Calibri"/>
                <a:sym typeface="Calibri"/>
              </a:rPr>
              <a:t>We return a sum of values weighted by the query-key match.</a:t>
            </a:r>
            <a:endParaRPr sz="1100" i="0" u="none" strike="noStrike" cap="none">
              <a:solidFill>
                <a:srgbClr val="000000"/>
              </a:solidFill>
              <a:latin typeface="Calibri"/>
              <a:ea typeface="Calibri"/>
              <a:cs typeface="Calibri"/>
              <a:sym typeface="Calibri"/>
            </a:endParaRPr>
          </a:p>
        </p:txBody>
      </p:sp>
      <p:pic>
        <p:nvPicPr>
          <p:cNvPr id="1402" name="Google Shape;1402;p55"/>
          <p:cNvPicPr preferRelativeResize="0"/>
          <p:nvPr/>
        </p:nvPicPr>
        <p:blipFill rotWithShape="1">
          <a:blip r:embed="rId4">
            <a:alphaModFix/>
          </a:blip>
          <a:srcRect/>
          <a:stretch/>
        </p:blipFill>
        <p:spPr>
          <a:xfrm>
            <a:off x="1497276" y="3425849"/>
            <a:ext cx="1184550" cy="1628775"/>
          </a:xfrm>
          <a:prstGeom prst="rect">
            <a:avLst/>
          </a:prstGeom>
          <a:noFill/>
          <a:ln>
            <a:noFill/>
          </a:ln>
        </p:spPr>
      </p:pic>
      <p:pic>
        <p:nvPicPr>
          <p:cNvPr id="1403" name="Google Shape;1403;p55"/>
          <p:cNvPicPr preferRelativeResize="0"/>
          <p:nvPr/>
        </p:nvPicPr>
        <p:blipFill rotWithShape="1">
          <a:blip r:embed="rId5">
            <a:alphaModFix/>
          </a:blip>
          <a:srcRect/>
          <a:stretch/>
        </p:blipFill>
        <p:spPr>
          <a:xfrm>
            <a:off x="3087675" y="3424893"/>
            <a:ext cx="1184550" cy="1630683"/>
          </a:xfrm>
          <a:prstGeom prst="rect">
            <a:avLst/>
          </a:prstGeom>
          <a:noFill/>
          <a:ln>
            <a:noFill/>
          </a:ln>
        </p:spPr>
      </p:pic>
      <p:pic>
        <p:nvPicPr>
          <p:cNvPr id="1404" name="Google Shape;1404;p55"/>
          <p:cNvPicPr preferRelativeResize="0"/>
          <p:nvPr/>
        </p:nvPicPr>
        <p:blipFill rotWithShape="1">
          <a:blip r:embed="rId6">
            <a:alphaModFix/>
          </a:blip>
          <a:srcRect/>
          <a:stretch/>
        </p:blipFill>
        <p:spPr>
          <a:xfrm>
            <a:off x="5540080" y="1611366"/>
            <a:ext cx="2962844" cy="2553864"/>
          </a:xfrm>
          <a:prstGeom prst="rect">
            <a:avLst/>
          </a:prstGeom>
          <a:noFill/>
          <a:ln>
            <a:noFill/>
          </a:ln>
        </p:spPr>
      </p:pic>
      <p:pic>
        <p:nvPicPr>
          <p:cNvPr id="1405" name="Google Shape;1405;p55"/>
          <p:cNvPicPr preferRelativeResize="0"/>
          <p:nvPr/>
        </p:nvPicPr>
        <p:blipFill>
          <a:blip r:embed="rId7">
            <a:alphaModFix/>
          </a:blip>
          <a:stretch>
            <a:fillRect/>
          </a:stretch>
        </p:blipFill>
        <p:spPr>
          <a:xfrm>
            <a:off x="8369125" y="0"/>
            <a:ext cx="774877" cy="86717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1409"/>
        <p:cNvGrpSpPr/>
        <p:nvPr/>
      </p:nvGrpSpPr>
      <p:grpSpPr>
        <a:xfrm>
          <a:off x="0" y="0"/>
          <a:ext cx="0" cy="0"/>
          <a:chOff x="0" y="0"/>
          <a:chExt cx="0" cy="0"/>
        </a:xfrm>
      </p:grpSpPr>
      <p:pic>
        <p:nvPicPr>
          <p:cNvPr id="1410" name="Google Shape;1410;p56"/>
          <p:cNvPicPr preferRelativeResize="0"/>
          <p:nvPr/>
        </p:nvPicPr>
        <p:blipFill rotWithShape="1">
          <a:blip r:embed="rId4">
            <a:alphaModFix/>
          </a:blip>
          <a:srcRect t="11000"/>
          <a:stretch/>
        </p:blipFill>
        <p:spPr>
          <a:xfrm>
            <a:off x="333750" y="819149"/>
            <a:ext cx="8698225" cy="3999751"/>
          </a:xfrm>
          <a:prstGeom prst="rect">
            <a:avLst/>
          </a:prstGeom>
          <a:noFill/>
          <a:ln>
            <a:noFill/>
          </a:ln>
        </p:spPr>
      </p:pic>
      <p:pic>
        <p:nvPicPr>
          <p:cNvPr id="1411" name="Google Shape;1411;p56"/>
          <p:cNvPicPr preferRelativeResize="0"/>
          <p:nvPr/>
        </p:nvPicPr>
        <p:blipFill>
          <a:blip r:embed="rId5">
            <a:alphaModFix/>
          </a:blip>
          <a:stretch>
            <a:fillRect/>
          </a:stretch>
        </p:blipFill>
        <p:spPr>
          <a:xfrm>
            <a:off x="8369125" y="0"/>
            <a:ext cx="774877" cy="867174"/>
          </a:xfrm>
          <a:prstGeom prst="rect">
            <a:avLst/>
          </a:prstGeom>
          <a:noFill/>
          <a:ln>
            <a:noFill/>
          </a:ln>
        </p:spPr>
      </p:pic>
      <p:sp>
        <p:nvSpPr>
          <p:cNvPr id="1412" name="Google Shape;1412;p56" descr="$PPTXTitle"/>
          <p:cNvSpPr txBox="1">
            <a:spLocks noGrp="1"/>
          </p:cNvSpPr>
          <p:nvPr>
            <p:ph type="title" idx="4294967295"/>
          </p:nvPr>
        </p:nvSpPr>
        <p:spPr>
          <a:xfrm>
            <a:off x="66675" y="123825"/>
            <a:ext cx="8515500" cy="440700"/>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SzPts val="1800"/>
              <a:buNone/>
            </a:pPr>
            <a:r>
              <a:rPr lang="en"/>
              <a:t>Recipe for Self-Attention in the Transformer Encoder</a:t>
            </a:r>
            <a:endParaRPr/>
          </a:p>
        </p:txBody>
      </p:sp>
      <p:sp>
        <p:nvSpPr>
          <p:cNvPr id="1413" name="Google Shape;1413;p56"/>
          <p:cNvSpPr txBox="1"/>
          <p:nvPr/>
        </p:nvSpPr>
        <p:spPr>
          <a:xfrm>
            <a:off x="826088" y="4422833"/>
            <a:ext cx="4872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i="1">
                <a:solidFill>
                  <a:schemeClr val="dk2"/>
                </a:solidFill>
                <a:latin typeface="Pacifico"/>
                <a:ea typeface="Pacifico"/>
                <a:cs typeface="Pacifico"/>
                <a:sym typeface="Pacifico"/>
              </a:rPr>
              <a:t>x</a:t>
            </a:r>
            <a:r>
              <a:rPr lang="en" sz="1800" i="1" baseline="-25000">
                <a:solidFill>
                  <a:schemeClr val="dk2"/>
                </a:solidFill>
                <a:latin typeface="Pacifico"/>
                <a:ea typeface="Pacifico"/>
                <a:cs typeface="Pacifico"/>
                <a:sym typeface="Pacifico"/>
              </a:rPr>
              <a:t>(i +1) </a:t>
            </a:r>
            <a:r>
              <a:rPr lang="en" sz="1800" i="1">
                <a:solidFill>
                  <a:schemeClr val="dk2"/>
                </a:solidFill>
                <a:latin typeface="Pacifico"/>
                <a:ea typeface="Pacifico"/>
                <a:cs typeface="Pacifico"/>
                <a:sym typeface="Pacifico"/>
              </a:rPr>
              <a:t>= o</a:t>
            </a:r>
            <a:r>
              <a:rPr lang="en" sz="1800" i="1" baseline="-25000">
                <a:solidFill>
                  <a:schemeClr val="dk2"/>
                </a:solidFill>
                <a:latin typeface="Pacifico"/>
                <a:ea typeface="Pacifico"/>
                <a:cs typeface="Pacifico"/>
                <a:sym typeface="Pacifico"/>
              </a:rPr>
              <a:t>i</a:t>
            </a:r>
            <a:endParaRPr sz="1800" i="1" baseline="-25000">
              <a:solidFill>
                <a:schemeClr val="dk2"/>
              </a:solidFill>
              <a:latin typeface="Pacifico"/>
              <a:ea typeface="Pacifico"/>
              <a:cs typeface="Pacifico"/>
              <a:sym typeface="Pacific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1417"/>
        <p:cNvGrpSpPr/>
        <p:nvPr/>
      </p:nvGrpSpPr>
      <p:grpSpPr>
        <a:xfrm>
          <a:off x="0" y="0"/>
          <a:ext cx="0" cy="0"/>
          <a:chOff x="0" y="0"/>
          <a:chExt cx="0" cy="0"/>
        </a:xfrm>
      </p:grpSpPr>
      <p:pic>
        <p:nvPicPr>
          <p:cNvPr id="1418" name="Google Shape;1418;p57"/>
          <p:cNvPicPr preferRelativeResize="0"/>
          <p:nvPr/>
        </p:nvPicPr>
        <p:blipFill rotWithShape="1">
          <a:blip r:embed="rId4">
            <a:alphaModFix/>
          </a:blip>
          <a:srcRect t="10250"/>
          <a:stretch/>
        </p:blipFill>
        <p:spPr>
          <a:xfrm>
            <a:off x="281175" y="689240"/>
            <a:ext cx="8087950" cy="4102208"/>
          </a:xfrm>
          <a:prstGeom prst="rect">
            <a:avLst/>
          </a:prstGeom>
          <a:noFill/>
          <a:ln>
            <a:noFill/>
          </a:ln>
        </p:spPr>
      </p:pic>
      <p:pic>
        <p:nvPicPr>
          <p:cNvPr id="1419" name="Google Shape;1419;p57"/>
          <p:cNvPicPr preferRelativeResize="0"/>
          <p:nvPr/>
        </p:nvPicPr>
        <p:blipFill>
          <a:blip r:embed="rId5">
            <a:alphaModFix/>
          </a:blip>
          <a:stretch>
            <a:fillRect/>
          </a:stretch>
        </p:blipFill>
        <p:spPr>
          <a:xfrm>
            <a:off x="8369125" y="0"/>
            <a:ext cx="774877" cy="867174"/>
          </a:xfrm>
          <a:prstGeom prst="rect">
            <a:avLst/>
          </a:prstGeom>
          <a:noFill/>
          <a:ln>
            <a:noFill/>
          </a:ln>
        </p:spPr>
      </p:pic>
      <p:sp>
        <p:nvSpPr>
          <p:cNvPr id="1420" name="Google Shape;1420;p57" descr="$PPTXTitle"/>
          <p:cNvSpPr txBox="1">
            <a:spLocks noGrp="1"/>
          </p:cNvSpPr>
          <p:nvPr>
            <p:ph type="title" idx="4294967295"/>
          </p:nvPr>
        </p:nvSpPr>
        <p:spPr>
          <a:xfrm>
            <a:off x="152400" y="66675"/>
            <a:ext cx="8515500" cy="871500"/>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SzPts val="1800"/>
              <a:buNone/>
            </a:pPr>
            <a:r>
              <a:rPr lang="en"/>
              <a:t>Recipe for (Vectorized) Self-Attention in the Transformer Encoder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25"/>
        <p:cNvGrpSpPr/>
        <p:nvPr/>
      </p:nvGrpSpPr>
      <p:grpSpPr>
        <a:xfrm>
          <a:off x="0" y="0"/>
          <a:ext cx="0" cy="0"/>
          <a:chOff x="0" y="0"/>
          <a:chExt cx="0" cy="0"/>
        </a:xfrm>
      </p:grpSpPr>
      <p:sp>
        <p:nvSpPr>
          <p:cNvPr id="1426" name="Google Shape;1426;p58"/>
          <p:cNvSpPr/>
          <p:nvPr/>
        </p:nvSpPr>
        <p:spPr>
          <a:xfrm>
            <a:off x="1719936" y="312792"/>
            <a:ext cx="8503800" cy="493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2100"/>
              <a:buFont typeface="Calibri"/>
              <a:buNone/>
            </a:pPr>
            <a:r>
              <a:rPr lang="en" sz="2800" b="1" i="0" u="none" strike="noStrike" cap="none">
                <a:solidFill>
                  <a:srgbClr val="1A1F26"/>
                </a:solidFill>
                <a:latin typeface="Calibri"/>
                <a:ea typeface="Calibri"/>
                <a:cs typeface="Calibri"/>
                <a:sym typeface="Calibri"/>
              </a:rPr>
              <a:t>Tiny Self-Attention — Step by Step</a:t>
            </a:r>
            <a:endParaRPr sz="2800" b="0" i="0" u="none" strike="noStrike" cap="none">
              <a:solidFill>
                <a:schemeClr val="dk1"/>
              </a:solidFill>
              <a:latin typeface="Calibri"/>
              <a:ea typeface="Calibri"/>
              <a:cs typeface="Calibri"/>
              <a:sym typeface="Calibri"/>
            </a:endParaRPr>
          </a:p>
        </p:txBody>
      </p:sp>
      <p:sp>
        <p:nvSpPr>
          <p:cNvPr id="1427" name="Google Shape;1427;p58"/>
          <p:cNvSpPr/>
          <p:nvPr/>
        </p:nvSpPr>
        <p:spPr>
          <a:xfrm>
            <a:off x="308610" y="858839"/>
            <a:ext cx="8503800" cy="24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1000"/>
              <a:buFont typeface="Calibri"/>
              <a:buNone/>
            </a:pPr>
            <a:r>
              <a:rPr lang="en" sz="1200" i="0" u="none" strike="noStrike" cap="none">
                <a:solidFill>
                  <a:schemeClr val="dk1"/>
                </a:solidFill>
                <a:latin typeface="Calibri"/>
                <a:ea typeface="Calibri"/>
                <a:cs typeface="Calibri"/>
                <a:sym typeface="Calibri"/>
              </a:rPr>
              <a:t>2 tokens: x₁ = "animal",  x₂ = "it"  ·  embedding dim d = 2</a:t>
            </a:r>
            <a:endParaRPr sz="1200" i="0" u="none" strike="noStrike" cap="none">
              <a:solidFill>
                <a:schemeClr val="dk1"/>
              </a:solidFill>
              <a:latin typeface="Calibri"/>
              <a:ea typeface="Calibri"/>
              <a:cs typeface="Calibri"/>
              <a:sym typeface="Calibri"/>
            </a:endParaRPr>
          </a:p>
        </p:txBody>
      </p:sp>
      <p:sp>
        <p:nvSpPr>
          <p:cNvPr id="1428" name="Google Shape;1428;p58"/>
          <p:cNvSpPr/>
          <p:nvPr/>
        </p:nvSpPr>
        <p:spPr>
          <a:xfrm>
            <a:off x="308610" y="1167198"/>
            <a:ext cx="2400300" cy="19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77AA"/>
              </a:buClr>
              <a:buSzPts val="800"/>
              <a:buFont typeface="Calibri"/>
              <a:buNone/>
            </a:pPr>
            <a:r>
              <a:rPr lang="en" sz="1100" b="1" i="0" u="none" strike="noStrike" cap="none">
                <a:solidFill>
                  <a:schemeClr val="dk1"/>
                </a:solidFill>
                <a:latin typeface="Calibri"/>
                <a:ea typeface="Calibri"/>
                <a:cs typeface="Calibri"/>
                <a:sym typeface="Calibri"/>
              </a:rPr>
              <a:t>Input  X</a:t>
            </a:r>
            <a:endParaRPr sz="1100" i="0" u="none" strike="noStrike" cap="none">
              <a:solidFill>
                <a:schemeClr val="dk1"/>
              </a:solidFill>
              <a:latin typeface="Calibri"/>
              <a:ea typeface="Calibri"/>
              <a:cs typeface="Calibri"/>
              <a:sym typeface="Calibri"/>
            </a:endParaRPr>
          </a:p>
        </p:txBody>
      </p:sp>
      <p:sp>
        <p:nvSpPr>
          <p:cNvPr id="1429" name="Google Shape;1429;p58"/>
          <p:cNvSpPr/>
          <p:nvPr/>
        </p:nvSpPr>
        <p:spPr>
          <a:xfrm>
            <a:off x="308610" y="1435664"/>
            <a:ext cx="2400300" cy="713100"/>
          </a:xfrm>
          <a:prstGeom prst="rect">
            <a:avLst/>
          </a:prstGeom>
          <a:noFill/>
          <a:ln w="12700" cap="flat" cmpd="sng">
            <a:solidFill>
              <a:srgbClr val="0077AA"/>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0" name="Google Shape;1430;p58"/>
          <p:cNvSpPr/>
          <p:nvPr/>
        </p:nvSpPr>
        <p:spPr>
          <a:xfrm>
            <a:off x="411480" y="1490528"/>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ourier New"/>
              <a:buNone/>
            </a:pPr>
            <a:r>
              <a:rPr lang="en" sz="1500" b="0" i="0" u="none" strike="noStrike" cap="none">
                <a:solidFill>
                  <a:schemeClr val="dk1"/>
                </a:solidFill>
                <a:latin typeface="Courier New"/>
                <a:ea typeface="Courier New"/>
                <a:cs typeface="Courier New"/>
                <a:sym typeface="Courier New"/>
              </a:rPr>
              <a:t>[ 1   0 ]</a:t>
            </a:r>
            <a:endParaRPr sz="1500" b="0" i="0" u="none" strike="noStrike" cap="none">
              <a:solidFill>
                <a:schemeClr val="dk1"/>
              </a:solidFill>
              <a:latin typeface="Calibri"/>
              <a:ea typeface="Calibri"/>
              <a:cs typeface="Calibri"/>
              <a:sym typeface="Calibri"/>
            </a:endParaRPr>
          </a:p>
        </p:txBody>
      </p:sp>
      <p:sp>
        <p:nvSpPr>
          <p:cNvPr id="1431" name="Google Shape;1431;p58"/>
          <p:cNvSpPr/>
          <p:nvPr/>
        </p:nvSpPr>
        <p:spPr>
          <a:xfrm>
            <a:off x="411480" y="1805996"/>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ourier New"/>
              <a:buNone/>
            </a:pPr>
            <a:r>
              <a:rPr lang="en" sz="1500" b="0" i="0" u="none" strike="noStrike" cap="none">
                <a:solidFill>
                  <a:schemeClr val="dk1"/>
                </a:solidFill>
                <a:latin typeface="Courier New"/>
                <a:ea typeface="Courier New"/>
                <a:cs typeface="Courier New"/>
                <a:sym typeface="Courier New"/>
              </a:rPr>
              <a:t>[ 0   1 ]</a:t>
            </a:r>
            <a:endParaRPr sz="1500" b="0" i="0" u="none" strike="noStrike" cap="none">
              <a:solidFill>
                <a:schemeClr val="dk1"/>
              </a:solidFill>
              <a:latin typeface="Calibri"/>
              <a:ea typeface="Calibri"/>
              <a:cs typeface="Calibri"/>
              <a:sym typeface="Calibri"/>
            </a:endParaRPr>
          </a:p>
        </p:txBody>
      </p:sp>
      <p:sp>
        <p:nvSpPr>
          <p:cNvPr id="1432" name="Google Shape;1432;p58"/>
          <p:cNvSpPr/>
          <p:nvPr/>
        </p:nvSpPr>
        <p:spPr>
          <a:xfrm>
            <a:off x="2914650" y="1073110"/>
            <a:ext cx="2400300" cy="19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45309"/>
              </a:buClr>
              <a:buSzPts val="800"/>
              <a:buFont typeface="Calibri"/>
              <a:buNone/>
            </a:pPr>
            <a:r>
              <a:rPr lang="en" sz="1100" b="1" i="0" u="none" strike="noStrike" cap="none">
                <a:solidFill>
                  <a:schemeClr val="dk1"/>
                </a:solidFill>
                <a:latin typeface="Calibri"/>
                <a:ea typeface="Calibri"/>
                <a:cs typeface="Calibri"/>
                <a:sym typeface="Calibri"/>
              </a:rPr>
              <a:t>WV  (weights)</a:t>
            </a:r>
            <a:endParaRPr sz="1100" b="0" i="0" u="none" strike="noStrike" cap="none">
              <a:solidFill>
                <a:schemeClr val="dk1"/>
              </a:solidFill>
              <a:latin typeface="Calibri"/>
              <a:ea typeface="Calibri"/>
              <a:cs typeface="Calibri"/>
              <a:sym typeface="Calibri"/>
            </a:endParaRPr>
          </a:p>
        </p:txBody>
      </p:sp>
      <p:sp>
        <p:nvSpPr>
          <p:cNvPr id="1433" name="Google Shape;1433;p58"/>
          <p:cNvSpPr/>
          <p:nvPr/>
        </p:nvSpPr>
        <p:spPr>
          <a:xfrm>
            <a:off x="2914650" y="1289304"/>
            <a:ext cx="2400300" cy="713100"/>
          </a:xfrm>
          <a:prstGeom prst="rect">
            <a:avLst/>
          </a:prstGeom>
          <a:noFill/>
          <a:ln w="12700" cap="flat" cmpd="sng">
            <a:solidFill>
              <a:srgbClr val="B45309"/>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4" name="Google Shape;1434;p58"/>
          <p:cNvSpPr/>
          <p:nvPr/>
        </p:nvSpPr>
        <p:spPr>
          <a:xfrm>
            <a:off x="3017520" y="1344168"/>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ourier New"/>
              <a:buNone/>
            </a:pPr>
            <a:r>
              <a:rPr lang="en" sz="1800" b="0" i="0" u="none" strike="noStrike" cap="none">
                <a:solidFill>
                  <a:schemeClr val="dk1"/>
                </a:solidFill>
                <a:latin typeface="Courier New"/>
                <a:ea typeface="Courier New"/>
                <a:cs typeface="Courier New"/>
                <a:sym typeface="Courier New"/>
              </a:rPr>
              <a:t>[ 1   1 ]</a:t>
            </a:r>
            <a:endParaRPr sz="1800" b="0" i="0" u="none" strike="noStrike" cap="none">
              <a:solidFill>
                <a:schemeClr val="dk1"/>
              </a:solidFill>
              <a:latin typeface="Calibri"/>
              <a:ea typeface="Calibri"/>
              <a:cs typeface="Calibri"/>
              <a:sym typeface="Calibri"/>
            </a:endParaRPr>
          </a:p>
        </p:txBody>
      </p:sp>
      <p:sp>
        <p:nvSpPr>
          <p:cNvPr id="1435" name="Google Shape;1435;p58"/>
          <p:cNvSpPr/>
          <p:nvPr/>
        </p:nvSpPr>
        <p:spPr>
          <a:xfrm>
            <a:off x="3017520" y="1659636"/>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ourier New"/>
              <a:buNone/>
            </a:pPr>
            <a:r>
              <a:rPr lang="en" sz="1800" b="0" i="0" u="none" strike="noStrike" cap="none">
                <a:solidFill>
                  <a:schemeClr val="dk1"/>
                </a:solidFill>
                <a:latin typeface="Courier New"/>
                <a:ea typeface="Courier New"/>
                <a:cs typeface="Courier New"/>
                <a:sym typeface="Courier New"/>
              </a:rPr>
              <a:t>[ 1   0 ]</a:t>
            </a:r>
            <a:endParaRPr sz="1800" b="0" i="0" u="none" strike="noStrike" cap="none">
              <a:solidFill>
                <a:schemeClr val="dk1"/>
              </a:solidFill>
              <a:latin typeface="Calibri"/>
              <a:ea typeface="Calibri"/>
              <a:cs typeface="Calibri"/>
              <a:sym typeface="Calibri"/>
            </a:endParaRPr>
          </a:p>
        </p:txBody>
      </p:sp>
      <p:sp>
        <p:nvSpPr>
          <p:cNvPr id="1436" name="Google Shape;1436;p58"/>
          <p:cNvSpPr/>
          <p:nvPr/>
        </p:nvSpPr>
        <p:spPr>
          <a:xfrm>
            <a:off x="308610" y="2254024"/>
            <a:ext cx="24003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800"/>
              <a:buFont typeface="Calibri"/>
              <a:buNone/>
            </a:pPr>
            <a:r>
              <a:rPr lang="en" sz="1500" b="0" i="1" u="none" strike="noStrike" cap="none">
                <a:solidFill>
                  <a:schemeClr val="dk1"/>
                </a:solidFill>
                <a:latin typeface="Calibri"/>
                <a:ea typeface="Calibri"/>
                <a:cs typeface="Calibri"/>
                <a:sym typeface="Calibri"/>
              </a:rPr>
              <a:t>Q = K = X  (WQ=WK=I)</a:t>
            </a:r>
            <a:endParaRPr sz="1500" b="0" i="0" u="none" strike="noStrike" cap="none">
              <a:solidFill>
                <a:schemeClr val="dk1"/>
              </a:solidFill>
              <a:latin typeface="Calibri"/>
              <a:ea typeface="Calibri"/>
              <a:cs typeface="Calibri"/>
              <a:sym typeface="Calibri"/>
            </a:endParaRPr>
          </a:p>
        </p:txBody>
      </p:sp>
      <p:sp>
        <p:nvSpPr>
          <p:cNvPr id="1437" name="Google Shape;1437;p58"/>
          <p:cNvSpPr/>
          <p:nvPr/>
        </p:nvSpPr>
        <p:spPr>
          <a:xfrm>
            <a:off x="2914650" y="2079647"/>
            <a:ext cx="2400300" cy="19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45309"/>
              </a:buClr>
              <a:buSzPts val="800"/>
              <a:buFont typeface="Calibri"/>
              <a:buNone/>
            </a:pPr>
            <a:r>
              <a:rPr lang="en" sz="1100" b="1" i="0" u="none" strike="noStrike" cap="none">
                <a:solidFill>
                  <a:schemeClr val="dk1"/>
                </a:solidFill>
                <a:latin typeface="Calibri"/>
                <a:ea typeface="Calibri"/>
                <a:cs typeface="Calibri"/>
                <a:sym typeface="Calibri"/>
              </a:rPr>
              <a:t>V = X × WV</a:t>
            </a:r>
            <a:endParaRPr sz="1100" b="0" i="0" u="none" strike="noStrike" cap="none">
              <a:solidFill>
                <a:schemeClr val="dk1"/>
              </a:solidFill>
              <a:latin typeface="Calibri"/>
              <a:ea typeface="Calibri"/>
              <a:cs typeface="Calibri"/>
              <a:sym typeface="Calibri"/>
            </a:endParaRPr>
          </a:p>
        </p:txBody>
      </p:sp>
      <p:sp>
        <p:nvSpPr>
          <p:cNvPr id="1438" name="Google Shape;1438;p58"/>
          <p:cNvSpPr/>
          <p:nvPr/>
        </p:nvSpPr>
        <p:spPr>
          <a:xfrm>
            <a:off x="2893741" y="2337658"/>
            <a:ext cx="2400300" cy="713100"/>
          </a:xfrm>
          <a:prstGeom prst="rect">
            <a:avLst/>
          </a:prstGeom>
          <a:noFill/>
          <a:ln w="12700" cap="flat" cmpd="sng">
            <a:solidFill>
              <a:srgbClr val="B45309"/>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9" name="Google Shape;1439;p58"/>
          <p:cNvSpPr/>
          <p:nvPr/>
        </p:nvSpPr>
        <p:spPr>
          <a:xfrm>
            <a:off x="2996611" y="2392522"/>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ourier New"/>
              <a:buNone/>
            </a:pPr>
            <a:r>
              <a:rPr lang="en" sz="1800" b="0" i="0" u="none" strike="noStrike" cap="none">
                <a:solidFill>
                  <a:srgbClr val="1A1F26"/>
                </a:solidFill>
                <a:latin typeface="Courier New"/>
                <a:ea typeface="Courier New"/>
                <a:cs typeface="Courier New"/>
                <a:sym typeface="Courier New"/>
              </a:rPr>
              <a:t>[ 1   1 ]</a:t>
            </a:r>
            <a:endParaRPr sz="1800" b="0" i="0" u="none" strike="noStrike" cap="none">
              <a:solidFill>
                <a:schemeClr val="dk1"/>
              </a:solidFill>
              <a:latin typeface="Calibri"/>
              <a:ea typeface="Calibri"/>
              <a:cs typeface="Calibri"/>
              <a:sym typeface="Calibri"/>
            </a:endParaRPr>
          </a:p>
        </p:txBody>
      </p:sp>
      <p:sp>
        <p:nvSpPr>
          <p:cNvPr id="1440" name="Google Shape;1440;p58"/>
          <p:cNvSpPr/>
          <p:nvPr/>
        </p:nvSpPr>
        <p:spPr>
          <a:xfrm>
            <a:off x="2996611" y="2707990"/>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ourier New"/>
              <a:buNone/>
            </a:pPr>
            <a:r>
              <a:rPr lang="en" sz="1800" b="0" i="0" u="none" strike="noStrike" cap="none">
                <a:solidFill>
                  <a:srgbClr val="1A1F26"/>
                </a:solidFill>
                <a:latin typeface="Courier New"/>
                <a:ea typeface="Courier New"/>
                <a:cs typeface="Courier New"/>
                <a:sym typeface="Courier New"/>
              </a:rPr>
              <a:t>[ 1   0 ]</a:t>
            </a:r>
            <a:endParaRPr sz="1800" b="0" i="0" u="none" strike="noStrike" cap="none">
              <a:solidFill>
                <a:schemeClr val="dk1"/>
              </a:solidFill>
              <a:latin typeface="Calibri"/>
              <a:ea typeface="Calibri"/>
              <a:cs typeface="Calibri"/>
              <a:sym typeface="Calibri"/>
            </a:endParaRPr>
          </a:p>
        </p:txBody>
      </p:sp>
      <p:sp>
        <p:nvSpPr>
          <p:cNvPr id="1441" name="Google Shape;1441;p58"/>
          <p:cNvSpPr/>
          <p:nvPr/>
        </p:nvSpPr>
        <p:spPr>
          <a:xfrm>
            <a:off x="308610" y="2687667"/>
            <a:ext cx="2400300" cy="19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B21B6"/>
              </a:buClr>
              <a:buSzPts val="800"/>
              <a:buFont typeface="Calibri"/>
              <a:buNone/>
            </a:pPr>
            <a:r>
              <a:rPr lang="en" sz="1100" b="1" i="0" u="none" strike="noStrike" cap="none">
                <a:solidFill>
                  <a:schemeClr val="dk1"/>
                </a:solidFill>
                <a:latin typeface="Calibri"/>
                <a:ea typeface="Calibri"/>
                <a:cs typeface="Calibri"/>
                <a:sym typeface="Calibri"/>
              </a:rPr>
              <a:t>Scores  =  QKᵀ</a:t>
            </a:r>
            <a:endParaRPr sz="1100" b="0" i="0" u="none" strike="noStrike" cap="none">
              <a:solidFill>
                <a:schemeClr val="dk1"/>
              </a:solidFill>
              <a:latin typeface="Calibri"/>
              <a:ea typeface="Calibri"/>
              <a:cs typeface="Calibri"/>
              <a:sym typeface="Calibri"/>
            </a:endParaRPr>
          </a:p>
        </p:txBody>
      </p:sp>
      <p:sp>
        <p:nvSpPr>
          <p:cNvPr id="1442" name="Google Shape;1442;p58"/>
          <p:cNvSpPr/>
          <p:nvPr/>
        </p:nvSpPr>
        <p:spPr>
          <a:xfrm>
            <a:off x="308610" y="2935224"/>
            <a:ext cx="2400300" cy="713100"/>
          </a:xfrm>
          <a:prstGeom prst="rect">
            <a:avLst/>
          </a:prstGeom>
          <a:noFill/>
          <a:ln w="12700" cap="flat" cmpd="sng">
            <a:solidFill>
              <a:srgbClr val="5B21B6"/>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3" name="Google Shape;1443;p58"/>
          <p:cNvSpPr/>
          <p:nvPr/>
        </p:nvSpPr>
        <p:spPr>
          <a:xfrm>
            <a:off x="411480" y="2990088"/>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ourier New"/>
              <a:buNone/>
            </a:pPr>
            <a:r>
              <a:rPr lang="en" sz="1800" b="0" i="0" u="none" strike="noStrike" cap="none">
                <a:solidFill>
                  <a:schemeClr val="dk1"/>
                </a:solidFill>
                <a:latin typeface="Courier New"/>
                <a:ea typeface="Courier New"/>
                <a:cs typeface="Courier New"/>
                <a:sym typeface="Courier New"/>
              </a:rPr>
              <a:t>[ 1   0 ]</a:t>
            </a:r>
            <a:endParaRPr sz="1800" b="0" i="0" u="none" strike="noStrike" cap="none">
              <a:solidFill>
                <a:schemeClr val="dk1"/>
              </a:solidFill>
              <a:latin typeface="Calibri"/>
              <a:ea typeface="Calibri"/>
              <a:cs typeface="Calibri"/>
              <a:sym typeface="Calibri"/>
            </a:endParaRPr>
          </a:p>
        </p:txBody>
      </p:sp>
      <p:sp>
        <p:nvSpPr>
          <p:cNvPr id="1444" name="Google Shape;1444;p58"/>
          <p:cNvSpPr/>
          <p:nvPr/>
        </p:nvSpPr>
        <p:spPr>
          <a:xfrm>
            <a:off x="411480" y="3305556"/>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ourier New"/>
              <a:buNone/>
            </a:pPr>
            <a:r>
              <a:rPr lang="en" sz="1800" b="0" i="0" u="none" strike="noStrike" cap="none">
                <a:solidFill>
                  <a:schemeClr val="dk1"/>
                </a:solidFill>
                <a:latin typeface="Courier New"/>
                <a:ea typeface="Courier New"/>
                <a:cs typeface="Courier New"/>
                <a:sym typeface="Courier New"/>
              </a:rPr>
              <a:t>[ 0   1 ]</a:t>
            </a:r>
            <a:endParaRPr sz="1800" b="0" i="0" u="none" strike="noStrike" cap="none">
              <a:solidFill>
                <a:schemeClr val="dk1"/>
              </a:solidFill>
              <a:latin typeface="Calibri"/>
              <a:ea typeface="Calibri"/>
              <a:cs typeface="Calibri"/>
              <a:sym typeface="Calibri"/>
            </a:endParaRPr>
          </a:p>
        </p:txBody>
      </p:sp>
      <p:sp>
        <p:nvSpPr>
          <p:cNvPr id="1445" name="Google Shape;1445;p58"/>
          <p:cNvSpPr/>
          <p:nvPr/>
        </p:nvSpPr>
        <p:spPr>
          <a:xfrm>
            <a:off x="2777490" y="3154680"/>
            <a:ext cx="2742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270"/>
              </a:buClr>
              <a:buSzPts val="1400"/>
              <a:buFont typeface="Calibri"/>
              <a:buNone/>
            </a:pPr>
            <a:r>
              <a:rPr lang="en" sz="1400" b="0" i="0" u="none" strike="noStrike" cap="none">
                <a:solidFill>
                  <a:srgbClr val="5A6270"/>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1446" name="Google Shape;1446;p58"/>
          <p:cNvSpPr/>
          <p:nvPr/>
        </p:nvSpPr>
        <p:spPr>
          <a:xfrm>
            <a:off x="3199424" y="3147655"/>
            <a:ext cx="2400300" cy="192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47857"/>
              </a:buClr>
              <a:buSzPts val="800"/>
              <a:buFont typeface="Calibri"/>
              <a:buNone/>
            </a:pPr>
            <a:r>
              <a:rPr lang="en" sz="1100" b="1" i="0" u="none" strike="noStrike" cap="none">
                <a:solidFill>
                  <a:schemeClr val="dk1"/>
                </a:solidFill>
                <a:latin typeface="Calibri"/>
                <a:ea typeface="Calibri"/>
                <a:cs typeface="Calibri"/>
                <a:sym typeface="Calibri"/>
              </a:rPr>
              <a:t>Attention  A  =  softmax(Scores)</a:t>
            </a:r>
            <a:endParaRPr sz="1100" i="0" u="none" strike="noStrike" cap="none">
              <a:solidFill>
                <a:schemeClr val="dk1"/>
              </a:solidFill>
              <a:latin typeface="Calibri"/>
              <a:ea typeface="Calibri"/>
              <a:cs typeface="Calibri"/>
              <a:sym typeface="Calibri"/>
            </a:endParaRPr>
          </a:p>
        </p:txBody>
      </p:sp>
      <p:sp>
        <p:nvSpPr>
          <p:cNvPr id="1447" name="Google Shape;1447;p58"/>
          <p:cNvSpPr/>
          <p:nvPr/>
        </p:nvSpPr>
        <p:spPr>
          <a:xfrm>
            <a:off x="2896251" y="3708840"/>
            <a:ext cx="2400300" cy="713100"/>
          </a:xfrm>
          <a:prstGeom prst="rect">
            <a:avLst/>
          </a:prstGeom>
          <a:noFill/>
          <a:ln w="12700" cap="flat" cmpd="sng">
            <a:solidFill>
              <a:srgbClr val="047857"/>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8" name="Google Shape;1448;p58"/>
          <p:cNvSpPr/>
          <p:nvPr/>
        </p:nvSpPr>
        <p:spPr>
          <a:xfrm>
            <a:off x="2999121" y="3763704"/>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ourier New"/>
              <a:buNone/>
            </a:pPr>
            <a:r>
              <a:rPr lang="en" sz="1800" b="0" i="0" u="none" strike="noStrike" cap="none">
                <a:solidFill>
                  <a:srgbClr val="1A1F26"/>
                </a:solidFill>
                <a:latin typeface="Courier New"/>
                <a:ea typeface="Courier New"/>
                <a:cs typeface="Courier New"/>
                <a:sym typeface="Courier New"/>
              </a:rPr>
              <a:t>[ 0.73   0.27 ]</a:t>
            </a:r>
            <a:endParaRPr sz="1800" b="0" i="0" u="none" strike="noStrike" cap="none">
              <a:solidFill>
                <a:schemeClr val="dk1"/>
              </a:solidFill>
              <a:latin typeface="Calibri"/>
              <a:ea typeface="Calibri"/>
              <a:cs typeface="Calibri"/>
              <a:sym typeface="Calibri"/>
            </a:endParaRPr>
          </a:p>
        </p:txBody>
      </p:sp>
      <p:sp>
        <p:nvSpPr>
          <p:cNvPr id="1449" name="Google Shape;1449;p58"/>
          <p:cNvSpPr/>
          <p:nvPr/>
        </p:nvSpPr>
        <p:spPr>
          <a:xfrm>
            <a:off x="2999121" y="4079172"/>
            <a:ext cx="2194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ourier New"/>
              <a:buNone/>
            </a:pPr>
            <a:r>
              <a:rPr lang="en" sz="1800" b="0" i="0" u="none" strike="noStrike" cap="none">
                <a:solidFill>
                  <a:srgbClr val="1A1F26"/>
                </a:solidFill>
                <a:latin typeface="Courier New"/>
                <a:ea typeface="Courier New"/>
                <a:cs typeface="Courier New"/>
                <a:sym typeface="Courier New"/>
              </a:rPr>
              <a:t>[ 0.27   0.73 ]</a:t>
            </a:r>
            <a:endParaRPr sz="1800" b="0" i="0" u="none" strike="noStrike" cap="none">
              <a:solidFill>
                <a:schemeClr val="dk1"/>
              </a:solidFill>
              <a:latin typeface="Calibri"/>
              <a:ea typeface="Calibri"/>
              <a:cs typeface="Calibri"/>
              <a:sym typeface="Calibri"/>
            </a:endParaRPr>
          </a:p>
        </p:txBody>
      </p:sp>
      <p:sp>
        <p:nvSpPr>
          <p:cNvPr id="1450" name="Google Shape;1450;p58"/>
          <p:cNvSpPr/>
          <p:nvPr/>
        </p:nvSpPr>
        <p:spPr>
          <a:xfrm>
            <a:off x="308610" y="3836633"/>
            <a:ext cx="2743200" cy="3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700"/>
              <a:buFont typeface="Courier New"/>
              <a:buNone/>
            </a:pPr>
            <a:r>
              <a:rPr lang="en" sz="1000" i="1" u="none" strike="noStrike" cap="none">
                <a:solidFill>
                  <a:schemeClr val="dk1"/>
                </a:solidFill>
                <a:latin typeface="Calibri"/>
                <a:ea typeface="Calibri"/>
                <a:cs typeface="Calibri"/>
                <a:sym typeface="Calibri"/>
              </a:rPr>
              <a:t>softmax([1,0]) = [0.73, 0.27]</a:t>
            </a:r>
            <a:endParaRPr sz="100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5A6270"/>
              </a:buClr>
              <a:buSzPts val="700"/>
              <a:buFont typeface="Courier New"/>
              <a:buNone/>
            </a:pPr>
            <a:r>
              <a:rPr lang="en" sz="1000" i="1" u="none" strike="noStrike" cap="none">
                <a:solidFill>
                  <a:schemeClr val="dk1"/>
                </a:solidFill>
                <a:latin typeface="Calibri"/>
                <a:ea typeface="Calibri"/>
                <a:cs typeface="Calibri"/>
                <a:sym typeface="Calibri"/>
              </a:rPr>
              <a:t>softmax([0,1]) = [0.27, 0.73]</a:t>
            </a:r>
            <a:endParaRPr sz="1000" i="0" u="none" strike="noStrike" cap="none">
              <a:solidFill>
                <a:schemeClr val="dk1"/>
              </a:solidFill>
              <a:latin typeface="Calibri"/>
              <a:ea typeface="Calibri"/>
              <a:cs typeface="Calibri"/>
              <a:sym typeface="Calibri"/>
            </a:endParaRPr>
          </a:p>
        </p:txBody>
      </p:sp>
      <p:sp>
        <p:nvSpPr>
          <p:cNvPr id="1451" name="Google Shape;1451;p58"/>
          <p:cNvSpPr/>
          <p:nvPr/>
        </p:nvSpPr>
        <p:spPr>
          <a:xfrm>
            <a:off x="5966460" y="1289304"/>
            <a:ext cx="3051900" cy="3621000"/>
          </a:xfrm>
          <a:prstGeom prst="rect">
            <a:avLst/>
          </a:prstGeom>
          <a:solidFill>
            <a:srgbClr val="E8EDF2"/>
          </a:solidFill>
          <a:ln w="12700" cap="flat" cmpd="sng">
            <a:solidFill>
              <a:srgbClr val="B45309"/>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2" name="Google Shape;1452;p58"/>
          <p:cNvSpPr/>
          <p:nvPr/>
        </p:nvSpPr>
        <p:spPr>
          <a:xfrm>
            <a:off x="6103620" y="1333714"/>
            <a:ext cx="27432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45309"/>
              </a:buClr>
              <a:buSzPts val="1000"/>
              <a:buFont typeface="Calibri"/>
              <a:buNone/>
            </a:pPr>
            <a:r>
              <a:rPr lang="en" sz="1800" b="1" i="0" u="none" strike="noStrike" cap="none">
                <a:solidFill>
                  <a:schemeClr val="dk1"/>
                </a:solidFill>
                <a:latin typeface="Calibri"/>
                <a:ea typeface="Calibri"/>
                <a:cs typeface="Calibri"/>
                <a:sym typeface="Calibri"/>
              </a:rPr>
              <a:t>Output  =  A · V</a:t>
            </a:r>
            <a:endParaRPr sz="1800" b="0" i="0" u="none" strike="noStrike" cap="none">
              <a:solidFill>
                <a:schemeClr val="dk1"/>
              </a:solidFill>
              <a:latin typeface="Calibri"/>
              <a:ea typeface="Calibri"/>
              <a:cs typeface="Calibri"/>
              <a:sym typeface="Calibri"/>
            </a:endParaRPr>
          </a:p>
        </p:txBody>
      </p:sp>
      <p:sp>
        <p:nvSpPr>
          <p:cNvPr id="1453" name="Google Shape;1453;p58"/>
          <p:cNvSpPr/>
          <p:nvPr/>
        </p:nvSpPr>
        <p:spPr>
          <a:xfrm>
            <a:off x="6103630" y="1714500"/>
            <a:ext cx="1193400" cy="384000"/>
          </a:xfrm>
          <a:prstGeom prst="roundRect">
            <a:avLst>
              <a:gd name="adj" fmla="val 19048"/>
            </a:avLst>
          </a:prstGeom>
          <a:noFill/>
          <a:ln w="12700" cap="flat" cmpd="sng">
            <a:solidFill>
              <a:srgbClr val="0077AA">
                <a:alpha val="70200"/>
              </a:srgbClr>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4" name="Google Shape;1454;p58"/>
          <p:cNvSpPr/>
          <p:nvPr/>
        </p:nvSpPr>
        <p:spPr>
          <a:xfrm>
            <a:off x="6391770" y="1750913"/>
            <a:ext cx="617100" cy="288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800"/>
              <a:buFont typeface="Calibri"/>
              <a:buNone/>
            </a:pPr>
            <a:r>
              <a:rPr lang="en" sz="1200" b="1" i="0" u="none" strike="noStrike" cap="none">
                <a:solidFill>
                  <a:srgbClr val="1A1F26"/>
                </a:solidFill>
                <a:latin typeface="Calibri"/>
                <a:ea typeface="Calibri"/>
                <a:cs typeface="Calibri"/>
                <a:sym typeface="Calibri"/>
              </a:rPr>
              <a:t>"animal"</a:t>
            </a:r>
            <a:endParaRPr sz="1200" b="0" i="0" u="none" strike="noStrike" cap="none">
              <a:solidFill>
                <a:schemeClr val="dk1"/>
              </a:solidFill>
              <a:latin typeface="Calibri"/>
              <a:ea typeface="Calibri"/>
              <a:cs typeface="Calibri"/>
              <a:sym typeface="Calibri"/>
            </a:endParaRPr>
          </a:p>
        </p:txBody>
      </p:sp>
      <p:sp>
        <p:nvSpPr>
          <p:cNvPr id="1455" name="Google Shape;1455;p58"/>
          <p:cNvSpPr/>
          <p:nvPr/>
        </p:nvSpPr>
        <p:spPr>
          <a:xfrm>
            <a:off x="6103620" y="2144296"/>
            <a:ext cx="2743200" cy="26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800"/>
              <a:buFont typeface="Courier New"/>
              <a:buNone/>
            </a:pPr>
            <a:r>
              <a:rPr lang="en" sz="1200" i="0" u="none" strike="noStrike" cap="none">
                <a:solidFill>
                  <a:schemeClr val="dk1"/>
                </a:solidFill>
                <a:latin typeface="Calibri"/>
                <a:ea typeface="Calibri"/>
                <a:cs typeface="Calibri"/>
                <a:sym typeface="Calibri"/>
              </a:rPr>
              <a:t>0.73·[1,1] + 0.27·[1,0]</a:t>
            </a:r>
            <a:endParaRPr sz="1200" i="0" u="none" strike="noStrike" cap="none">
              <a:solidFill>
                <a:schemeClr val="dk1"/>
              </a:solidFill>
              <a:latin typeface="Calibri"/>
              <a:ea typeface="Calibri"/>
              <a:cs typeface="Calibri"/>
              <a:sym typeface="Calibri"/>
            </a:endParaRPr>
          </a:p>
        </p:txBody>
      </p:sp>
      <p:sp>
        <p:nvSpPr>
          <p:cNvPr id="1456" name="Google Shape;1456;p58"/>
          <p:cNvSpPr/>
          <p:nvPr/>
        </p:nvSpPr>
        <p:spPr>
          <a:xfrm>
            <a:off x="6103620" y="2421878"/>
            <a:ext cx="2743200" cy="26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77AA"/>
              </a:buClr>
              <a:buSzPts val="1000"/>
              <a:buFont typeface="Courier New"/>
              <a:buNone/>
            </a:pPr>
            <a:r>
              <a:rPr lang="en" sz="1300" b="1" i="0" u="none" strike="noStrike" cap="none">
                <a:solidFill>
                  <a:schemeClr val="dk1"/>
                </a:solidFill>
                <a:latin typeface="Courier New"/>
                <a:ea typeface="Courier New"/>
                <a:cs typeface="Courier New"/>
                <a:sym typeface="Courier New"/>
              </a:rPr>
              <a:t>= [1.0, 0.73]</a:t>
            </a:r>
            <a:endParaRPr sz="1300" b="0" i="0" u="none" strike="noStrike" cap="none">
              <a:solidFill>
                <a:schemeClr val="dk1"/>
              </a:solidFill>
              <a:latin typeface="Calibri"/>
              <a:ea typeface="Calibri"/>
              <a:cs typeface="Calibri"/>
              <a:sym typeface="Calibri"/>
            </a:endParaRPr>
          </a:p>
        </p:txBody>
      </p:sp>
      <p:sp>
        <p:nvSpPr>
          <p:cNvPr id="1457" name="Google Shape;1457;p58"/>
          <p:cNvSpPr/>
          <p:nvPr/>
        </p:nvSpPr>
        <p:spPr>
          <a:xfrm>
            <a:off x="6103625" y="2887225"/>
            <a:ext cx="1130700" cy="384000"/>
          </a:xfrm>
          <a:prstGeom prst="roundRect">
            <a:avLst>
              <a:gd name="adj" fmla="val 19048"/>
            </a:avLst>
          </a:prstGeom>
          <a:noFill/>
          <a:ln w="12700" cap="flat" cmpd="sng">
            <a:solidFill>
              <a:srgbClr val="B45309">
                <a:alpha val="70200"/>
              </a:srgbClr>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8" name="Google Shape;1458;p58"/>
          <p:cNvSpPr/>
          <p:nvPr/>
        </p:nvSpPr>
        <p:spPr>
          <a:xfrm>
            <a:off x="6391770" y="2927568"/>
            <a:ext cx="617100" cy="288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800"/>
              <a:buFont typeface="Calibri"/>
              <a:buNone/>
            </a:pPr>
            <a:r>
              <a:rPr lang="en" sz="1200" b="1" i="0" u="none" strike="noStrike" cap="none">
                <a:solidFill>
                  <a:srgbClr val="1A1F26"/>
                </a:solidFill>
                <a:latin typeface="Calibri"/>
                <a:ea typeface="Calibri"/>
                <a:cs typeface="Calibri"/>
                <a:sym typeface="Calibri"/>
              </a:rPr>
              <a:t>"it"</a:t>
            </a:r>
            <a:endParaRPr sz="1200" b="0" i="0" u="none" strike="noStrike" cap="none">
              <a:solidFill>
                <a:schemeClr val="dk1"/>
              </a:solidFill>
              <a:latin typeface="Calibri"/>
              <a:ea typeface="Calibri"/>
              <a:cs typeface="Calibri"/>
              <a:sym typeface="Calibri"/>
            </a:endParaRPr>
          </a:p>
        </p:txBody>
      </p:sp>
      <p:sp>
        <p:nvSpPr>
          <p:cNvPr id="1459" name="Google Shape;1459;p58"/>
          <p:cNvSpPr/>
          <p:nvPr/>
        </p:nvSpPr>
        <p:spPr>
          <a:xfrm>
            <a:off x="6103620" y="3339846"/>
            <a:ext cx="2743200" cy="26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800"/>
              <a:buFont typeface="Courier New"/>
              <a:buNone/>
            </a:pPr>
            <a:r>
              <a:rPr lang="en" sz="1200" i="0" u="none" strike="noStrike" cap="none">
                <a:solidFill>
                  <a:schemeClr val="dk1"/>
                </a:solidFill>
                <a:latin typeface="Calibri"/>
                <a:ea typeface="Calibri"/>
                <a:cs typeface="Calibri"/>
                <a:sym typeface="Calibri"/>
              </a:rPr>
              <a:t>0.27·[1,1] + 0.73·[1,0]</a:t>
            </a:r>
            <a:endParaRPr sz="1200" i="0" u="none" strike="noStrike" cap="none">
              <a:solidFill>
                <a:schemeClr val="dk1"/>
              </a:solidFill>
              <a:latin typeface="Calibri"/>
              <a:ea typeface="Calibri"/>
              <a:cs typeface="Calibri"/>
              <a:sym typeface="Calibri"/>
            </a:endParaRPr>
          </a:p>
        </p:txBody>
      </p:sp>
      <p:sp>
        <p:nvSpPr>
          <p:cNvPr id="1460" name="Google Shape;1460;p58"/>
          <p:cNvSpPr/>
          <p:nvPr/>
        </p:nvSpPr>
        <p:spPr>
          <a:xfrm>
            <a:off x="6103620" y="3627882"/>
            <a:ext cx="2743200" cy="26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45309"/>
              </a:buClr>
              <a:buSzPts val="1000"/>
              <a:buFont typeface="Courier New"/>
              <a:buNone/>
            </a:pPr>
            <a:r>
              <a:rPr lang="en" sz="1000" b="1" i="0" u="none" strike="noStrike" cap="none">
                <a:solidFill>
                  <a:schemeClr val="dk1"/>
                </a:solidFill>
                <a:latin typeface="Courier New"/>
                <a:ea typeface="Courier New"/>
                <a:cs typeface="Courier New"/>
                <a:sym typeface="Courier New"/>
              </a:rPr>
              <a:t>= [1.0, 0.27]</a:t>
            </a:r>
            <a:endParaRPr sz="1000" b="0" i="0" u="none" strike="noStrike" cap="none">
              <a:solidFill>
                <a:schemeClr val="dk1"/>
              </a:solidFill>
              <a:latin typeface="Calibri"/>
              <a:ea typeface="Calibri"/>
              <a:cs typeface="Calibri"/>
              <a:sym typeface="Calibri"/>
            </a:endParaRPr>
          </a:p>
        </p:txBody>
      </p:sp>
      <p:sp>
        <p:nvSpPr>
          <p:cNvPr id="1461" name="Google Shape;1461;p58"/>
          <p:cNvSpPr/>
          <p:nvPr/>
        </p:nvSpPr>
        <p:spPr>
          <a:xfrm>
            <a:off x="6103620" y="4347972"/>
            <a:ext cx="2743200" cy="493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800"/>
              <a:buFont typeface="Calibri"/>
              <a:buNone/>
            </a:pPr>
            <a:r>
              <a:rPr lang="en" sz="1000" b="0" i="1" u="none" strike="noStrike" cap="none">
                <a:solidFill>
                  <a:schemeClr val="dk1"/>
                </a:solidFill>
                <a:latin typeface="Calibri"/>
                <a:ea typeface="Calibri"/>
                <a:cs typeface="Calibri"/>
                <a:sym typeface="Calibri"/>
              </a:rPr>
              <a:t>"it" has non-zero 2nd component → influenced</a:t>
            </a:r>
            <a:endParaRPr sz="1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A78BFA"/>
              </a:buClr>
              <a:buSzPts val="800"/>
              <a:buFont typeface="Calibri"/>
              <a:buNone/>
            </a:pPr>
            <a:r>
              <a:rPr lang="en" sz="1000" b="0" i="1" u="none" strike="noStrike" cap="none">
                <a:solidFill>
                  <a:schemeClr val="dk1"/>
                </a:solidFill>
                <a:latin typeface="Calibri"/>
                <a:ea typeface="Calibri"/>
                <a:cs typeface="Calibri"/>
                <a:sym typeface="Calibri"/>
              </a:rPr>
              <a:t>by "animal" (which carries meaning [1,1])</a:t>
            </a:r>
            <a:endParaRPr sz="1000" b="0" i="0" u="none" strike="noStrike" cap="none">
              <a:solidFill>
                <a:schemeClr val="dk1"/>
              </a:solidFill>
              <a:latin typeface="Calibri"/>
              <a:ea typeface="Calibri"/>
              <a:cs typeface="Calibri"/>
              <a:sym typeface="Calibri"/>
            </a:endParaRPr>
          </a:p>
        </p:txBody>
      </p:sp>
      <p:pic>
        <p:nvPicPr>
          <p:cNvPr id="1462" name="Google Shape;1462;p58"/>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66"/>
        <p:cNvGrpSpPr/>
        <p:nvPr/>
      </p:nvGrpSpPr>
      <p:grpSpPr>
        <a:xfrm>
          <a:off x="0" y="0"/>
          <a:ext cx="0" cy="0"/>
          <a:chOff x="0" y="0"/>
          <a:chExt cx="0" cy="0"/>
        </a:xfrm>
      </p:grpSpPr>
      <p:sp>
        <p:nvSpPr>
          <p:cNvPr id="1467" name="Google Shape;1467;p59" descr="$PPTXTitle"/>
          <p:cNvSpPr txBox="1"/>
          <p:nvPr/>
        </p:nvSpPr>
        <p:spPr>
          <a:xfrm>
            <a:off x="-10106" y="27150"/>
            <a:ext cx="9164100" cy="559800"/>
          </a:xfrm>
          <a:prstGeom prst="rect">
            <a:avLst/>
          </a:prstGeom>
          <a:noFill/>
          <a:ln>
            <a:noFill/>
          </a:ln>
        </p:spPr>
        <p:txBody>
          <a:bodyPr spcFirstLastPara="1" wrap="square" lIns="0" tIns="127450" rIns="0" bIns="0" anchor="t" anchorCtr="0">
            <a:spAutoFit/>
          </a:bodyPr>
          <a:lstStyle/>
          <a:p>
            <a:pPr marL="238125" lvl="0" indent="0" algn="l" rtl="0">
              <a:spcBef>
                <a:spcPts val="0"/>
              </a:spcBef>
              <a:spcAft>
                <a:spcPts val="0"/>
              </a:spcAft>
              <a:buNone/>
            </a:pPr>
            <a:r>
              <a:rPr lang="en" sz="2800">
                <a:solidFill>
                  <a:srgbClr val="000000"/>
                </a:solidFill>
                <a:latin typeface="Calibri"/>
                <a:ea typeface="Calibri"/>
                <a:cs typeface="Calibri"/>
                <a:sym typeface="Calibri"/>
              </a:rPr>
              <a:t>Feed-forward Layer</a:t>
            </a:r>
            <a:endParaRPr sz="2800">
              <a:solidFill>
                <a:srgbClr val="000000"/>
              </a:solidFill>
            </a:endParaRPr>
          </a:p>
        </p:txBody>
      </p:sp>
      <p:pic>
        <p:nvPicPr>
          <p:cNvPr id="1468" name="Google Shape;1468;p59"/>
          <p:cNvPicPr preferRelativeResize="0"/>
          <p:nvPr/>
        </p:nvPicPr>
        <p:blipFill rotWithShape="1">
          <a:blip r:embed="rId4">
            <a:alphaModFix/>
          </a:blip>
          <a:srcRect/>
          <a:stretch/>
        </p:blipFill>
        <p:spPr>
          <a:xfrm>
            <a:off x="204734" y="863075"/>
            <a:ext cx="7325232" cy="1356539"/>
          </a:xfrm>
          <a:prstGeom prst="rect">
            <a:avLst/>
          </a:prstGeom>
          <a:noFill/>
          <a:ln>
            <a:noFill/>
          </a:ln>
        </p:spPr>
      </p:pic>
      <p:pic>
        <p:nvPicPr>
          <p:cNvPr id="1469" name="Google Shape;1469;p59"/>
          <p:cNvPicPr preferRelativeResize="0"/>
          <p:nvPr/>
        </p:nvPicPr>
        <p:blipFill rotWithShape="1">
          <a:blip r:embed="rId5">
            <a:alphaModFix/>
          </a:blip>
          <a:srcRect/>
          <a:stretch/>
        </p:blipFill>
        <p:spPr>
          <a:xfrm>
            <a:off x="1207709" y="2345817"/>
            <a:ext cx="2105805" cy="248485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73"/>
        <p:cNvGrpSpPr/>
        <p:nvPr/>
      </p:nvGrpSpPr>
      <p:grpSpPr>
        <a:xfrm>
          <a:off x="0" y="0"/>
          <a:ext cx="0" cy="0"/>
          <a:chOff x="0" y="0"/>
          <a:chExt cx="0" cy="0"/>
        </a:xfrm>
      </p:grpSpPr>
      <p:pic>
        <p:nvPicPr>
          <p:cNvPr id="1474" name="Google Shape;1474;p60"/>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475" name="Google Shape;1475;p60" descr="$PPTXTitle"/>
          <p:cNvSpPr txBox="1"/>
          <p:nvPr/>
        </p:nvSpPr>
        <p:spPr>
          <a:xfrm>
            <a:off x="2690100" y="375750"/>
            <a:ext cx="3357000" cy="559800"/>
          </a:xfrm>
          <a:prstGeom prst="rect">
            <a:avLst/>
          </a:prstGeom>
          <a:noFill/>
          <a:ln>
            <a:noFill/>
          </a:ln>
        </p:spPr>
        <p:txBody>
          <a:bodyPr spcFirstLastPara="1" wrap="square" lIns="0" tIns="127450" rIns="0" bIns="0" anchor="t" anchorCtr="0">
            <a:spAutoFit/>
          </a:bodyPr>
          <a:lstStyle/>
          <a:p>
            <a:pPr marL="238125" lvl="0" indent="0" algn="l" rtl="0">
              <a:spcBef>
                <a:spcPts val="0"/>
              </a:spcBef>
              <a:spcAft>
                <a:spcPts val="0"/>
              </a:spcAft>
              <a:buNone/>
            </a:pPr>
            <a:r>
              <a:rPr lang="en" sz="2800">
                <a:solidFill>
                  <a:srgbClr val="000000"/>
                </a:solidFill>
                <a:latin typeface="Calibri"/>
                <a:ea typeface="Calibri"/>
                <a:cs typeface="Calibri"/>
                <a:sym typeface="Calibri"/>
              </a:rPr>
              <a:t>Feed-forward Layer</a:t>
            </a:r>
            <a:endParaRPr sz="2800">
              <a:solidFill>
                <a:srgbClr val="000000"/>
              </a:solidFill>
            </a:endParaRPr>
          </a:p>
        </p:txBody>
      </p:sp>
      <p:grpSp>
        <p:nvGrpSpPr>
          <p:cNvPr id="1476" name="Google Shape;1476;p60"/>
          <p:cNvGrpSpPr/>
          <p:nvPr/>
        </p:nvGrpSpPr>
        <p:grpSpPr>
          <a:xfrm>
            <a:off x="887324" y="1722147"/>
            <a:ext cx="6442215" cy="2176990"/>
            <a:chOff x="887324" y="2449884"/>
            <a:chExt cx="6442215" cy="2176990"/>
          </a:xfrm>
        </p:grpSpPr>
        <p:pic>
          <p:nvPicPr>
            <p:cNvPr id="1477" name="Google Shape;1477;p60"/>
            <p:cNvPicPr preferRelativeResize="0"/>
            <p:nvPr/>
          </p:nvPicPr>
          <p:blipFill rotWithShape="1">
            <a:blip r:embed="rId5">
              <a:alphaModFix/>
            </a:blip>
            <a:srcRect/>
            <a:stretch/>
          </p:blipFill>
          <p:spPr>
            <a:xfrm>
              <a:off x="887324" y="2449884"/>
              <a:ext cx="6442215" cy="2176990"/>
            </a:xfrm>
            <a:prstGeom prst="rect">
              <a:avLst/>
            </a:prstGeom>
            <a:noFill/>
            <a:ln>
              <a:noFill/>
            </a:ln>
          </p:spPr>
        </p:pic>
        <p:pic>
          <p:nvPicPr>
            <p:cNvPr id="1478" name="Google Shape;1478;p60"/>
            <p:cNvPicPr preferRelativeResize="0"/>
            <p:nvPr/>
          </p:nvPicPr>
          <p:blipFill rotWithShape="1">
            <a:blip r:embed="rId6">
              <a:alphaModFix/>
            </a:blip>
            <a:srcRect/>
            <a:stretch/>
          </p:blipFill>
          <p:spPr>
            <a:xfrm>
              <a:off x="1316241" y="4240705"/>
              <a:ext cx="259716" cy="122385"/>
            </a:xfrm>
            <a:prstGeom prst="rect">
              <a:avLst/>
            </a:prstGeom>
            <a:noFill/>
            <a:ln>
              <a:noFill/>
            </a:ln>
          </p:spPr>
        </p:pic>
        <p:pic>
          <p:nvPicPr>
            <p:cNvPr id="1479" name="Google Shape;1479;p60"/>
            <p:cNvPicPr preferRelativeResize="0"/>
            <p:nvPr/>
          </p:nvPicPr>
          <p:blipFill rotWithShape="1">
            <a:blip r:embed="rId7">
              <a:alphaModFix/>
            </a:blip>
            <a:srcRect/>
            <a:stretch/>
          </p:blipFill>
          <p:spPr>
            <a:xfrm>
              <a:off x="1657214" y="4229381"/>
              <a:ext cx="93200" cy="136646"/>
            </a:xfrm>
            <a:prstGeom prst="rect">
              <a:avLst/>
            </a:prstGeom>
            <a:noFill/>
            <a:ln>
              <a:noFill/>
            </a:ln>
          </p:spPr>
        </p:pic>
        <p:pic>
          <p:nvPicPr>
            <p:cNvPr id="1480" name="Google Shape;1480;p60"/>
            <p:cNvPicPr preferRelativeResize="0"/>
            <p:nvPr/>
          </p:nvPicPr>
          <p:blipFill rotWithShape="1">
            <a:blip r:embed="rId8">
              <a:alphaModFix/>
            </a:blip>
            <a:srcRect/>
            <a:stretch/>
          </p:blipFill>
          <p:spPr>
            <a:xfrm>
              <a:off x="1815003" y="4206921"/>
              <a:ext cx="226373" cy="142828"/>
            </a:xfrm>
            <a:prstGeom prst="rect">
              <a:avLst/>
            </a:prstGeom>
            <a:noFill/>
            <a:ln>
              <a:noFill/>
            </a:ln>
          </p:spPr>
        </p:pic>
        <p:pic>
          <p:nvPicPr>
            <p:cNvPr id="1481" name="Google Shape;1481;p60"/>
            <p:cNvPicPr preferRelativeResize="0"/>
            <p:nvPr/>
          </p:nvPicPr>
          <p:blipFill rotWithShape="1">
            <a:blip r:embed="rId9">
              <a:alphaModFix/>
            </a:blip>
            <a:srcRect/>
            <a:stretch/>
          </p:blipFill>
          <p:spPr>
            <a:xfrm>
              <a:off x="1645330" y="3105746"/>
              <a:ext cx="140514" cy="141754"/>
            </a:xfrm>
            <a:prstGeom prst="rect">
              <a:avLst/>
            </a:prstGeom>
            <a:noFill/>
            <a:ln>
              <a:noFill/>
            </a:ln>
          </p:spPr>
        </p:pic>
        <p:pic>
          <p:nvPicPr>
            <p:cNvPr id="1482" name="Google Shape;1482;p60"/>
            <p:cNvPicPr preferRelativeResize="0"/>
            <p:nvPr/>
          </p:nvPicPr>
          <p:blipFill rotWithShape="1">
            <a:blip r:embed="rId10">
              <a:alphaModFix/>
            </a:blip>
            <a:srcRect/>
            <a:stretch/>
          </p:blipFill>
          <p:spPr>
            <a:xfrm>
              <a:off x="1843245" y="3080894"/>
              <a:ext cx="76658" cy="161891"/>
            </a:xfrm>
            <a:prstGeom prst="rect">
              <a:avLst/>
            </a:prstGeom>
            <a:noFill/>
            <a:ln>
              <a:noFill/>
            </a:ln>
          </p:spPr>
        </p:pic>
        <p:sp>
          <p:nvSpPr>
            <p:cNvPr id="1483" name="Google Shape;1483;p60"/>
            <p:cNvSpPr/>
            <p:nvPr/>
          </p:nvSpPr>
          <p:spPr>
            <a:xfrm>
              <a:off x="1008078" y="3132421"/>
              <a:ext cx="1336675" cy="35560"/>
            </a:xfrm>
            <a:custGeom>
              <a:avLst/>
              <a:gdLst/>
              <a:ahLst/>
              <a:cxnLst/>
              <a:rect l="l" t="t" r="r" b="b"/>
              <a:pathLst>
                <a:path w="1336675" h="35560" extrusionOk="0">
                  <a:moveTo>
                    <a:pt x="41252" y="31868"/>
                  </a:moveTo>
                  <a:lnTo>
                    <a:pt x="0" y="35307"/>
                  </a:lnTo>
                  <a:lnTo>
                    <a:pt x="589" y="35353"/>
                  </a:lnTo>
                  <a:lnTo>
                    <a:pt x="3212" y="35368"/>
                  </a:lnTo>
                  <a:lnTo>
                    <a:pt x="9768" y="35405"/>
                  </a:lnTo>
                  <a:lnTo>
                    <a:pt x="20257" y="35465"/>
                  </a:lnTo>
                  <a:lnTo>
                    <a:pt x="28807" y="35326"/>
                  </a:lnTo>
                  <a:lnTo>
                    <a:pt x="38724" y="34820"/>
                  </a:lnTo>
                  <a:lnTo>
                    <a:pt x="50007" y="33946"/>
                  </a:lnTo>
                  <a:lnTo>
                    <a:pt x="62656" y="32704"/>
                  </a:lnTo>
                  <a:lnTo>
                    <a:pt x="76782" y="31251"/>
                  </a:lnTo>
                  <a:lnTo>
                    <a:pt x="92497" y="29743"/>
                  </a:lnTo>
                  <a:lnTo>
                    <a:pt x="148646" y="24938"/>
                  </a:lnTo>
                  <a:lnTo>
                    <a:pt x="190163" y="21847"/>
                  </a:lnTo>
                  <a:lnTo>
                    <a:pt x="233598" y="19023"/>
                  </a:lnTo>
                  <a:lnTo>
                    <a:pt x="277572" y="16850"/>
                  </a:lnTo>
                  <a:lnTo>
                    <a:pt x="321927" y="15370"/>
                  </a:lnTo>
                  <a:lnTo>
                    <a:pt x="367080" y="14434"/>
                  </a:lnTo>
                  <a:lnTo>
                    <a:pt x="412431" y="13977"/>
                  </a:lnTo>
                  <a:lnTo>
                    <a:pt x="453973" y="13749"/>
                  </a:lnTo>
                  <a:lnTo>
                    <a:pt x="473065" y="13705"/>
                  </a:lnTo>
                  <a:lnTo>
                    <a:pt x="502709" y="13972"/>
                  </a:lnTo>
                  <a:lnTo>
                    <a:pt x="537390" y="14833"/>
                  </a:lnTo>
                  <a:lnTo>
                    <a:pt x="577109" y="16288"/>
                  </a:lnTo>
                  <a:lnTo>
                    <a:pt x="621865" y="18337"/>
                  </a:lnTo>
                </a:path>
                <a:path w="1336675" h="35560" extrusionOk="0">
                  <a:moveTo>
                    <a:pt x="1002332" y="19034"/>
                  </a:moveTo>
                  <a:lnTo>
                    <a:pt x="985253" y="18273"/>
                  </a:lnTo>
                  <a:lnTo>
                    <a:pt x="970164" y="17817"/>
                  </a:lnTo>
                  <a:lnTo>
                    <a:pt x="957067" y="17668"/>
                  </a:lnTo>
                  <a:lnTo>
                    <a:pt x="945960" y="17825"/>
                  </a:lnTo>
                  <a:lnTo>
                    <a:pt x="936741" y="18108"/>
                  </a:lnTo>
                  <a:lnTo>
                    <a:pt x="930964" y="18503"/>
                  </a:lnTo>
                  <a:lnTo>
                    <a:pt x="928628" y="19011"/>
                  </a:lnTo>
                  <a:lnTo>
                    <a:pt x="926292" y="19518"/>
                  </a:lnTo>
                  <a:lnTo>
                    <a:pt x="925738" y="19942"/>
                  </a:lnTo>
                  <a:lnTo>
                    <a:pt x="926968" y="20283"/>
                  </a:lnTo>
                  <a:lnTo>
                    <a:pt x="928197" y="20624"/>
                  </a:lnTo>
                  <a:lnTo>
                    <a:pt x="968875" y="24965"/>
                  </a:lnTo>
                  <a:lnTo>
                    <a:pt x="1011467" y="25341"/>
                  </a:lnTo>
                  <a:lnTo>
                    <a:pt x="1031897" y="25238"/>
                  </a:lnTo>
                  <a:lnTo>
                    <a:pt x="1084286" y="23794"/>
                  </a:lnTo>
                  <a:lnTo>
                    <a:pt x="1136165" y="20841"/>
                  </a:lnTo>
                  <a:lnTo>
                    <a:pt x="1185648" y="16965"/>
                  </a:lnTo>
                  <a:lnTo>
                    <a:pt x="1233036" y="12167"/>
                  </a:lnTo>
                  <a:lnTo>
                    <a:pt x="1274656" y="7520"/>
                  </a:lnTo>
                  <a:lnTo>
                    <a:pt x="1322113" y="1976"/>
                  </a:lnTo>
                  <a:lnTo>
                    <a:pt x="1333404" y="448"/>
                  </a:lnTo>
                  <a:lnTo>
                    <a:pt x="1336111" y="62"/>
                  </a:lnTo>
                  <a:lnTo>
                    <a:pt x="1336446" y="14"/>
                  </a:lnTo>
                  <a:lnTo>
                    <a:pt x="1334968" y="234"/>
                  </a:lnTo>
                  <a:lnTo>
                    <a:pt x="1330034" y="963"/>
                  </a:lnTo>
                  <a:lnTo>
                    <a:pt x="1318038" y="2733"/>
                  </a:lnTo>
                  <a:lnTo>
                    <a:pt x="1298982" y="5546"/>
                  </a:lnTo>
                  <a:lnTo>
                    <a:pt x="1272865" y="9402"/>
                  </a:lnTo>
                </a:path>
              </a:pathLst>
            </a:custGeom>
            <a:noFill/>
            <a:ln w="14400" cap="flat" cmpd="sng">
              <a:solidFill>
                <a:srgbClr val="82218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pic>
        <p:nvPicPr>
          <p:cNvPr id="1484" name="Google Shape;1484;p60"/>
          <p:cNvPicPr preferRelativeResize="0"/>
          <p:nvPr/>
        </p:nvPicPr>
        <p:blipFill rotWithShape="1">
          <a:blip r:embed="rId11">
            <a:alphaModFix/>
          </a:blip>
          <a:srcRect/>
          <a:stretch/>
        </p:blipFill>
        <p:spPr>
          <a:xfrm>
            <a:off x="2039893" y="1144279"/>
            <a:ext cx="4687112" cy="439416"/>
          </a:xfrm>
          <a:prstGeom prst="rect">
            <a:avLst/>
          </a:prstGeom>
          <a:noFill/>
          <a:ln>
            <a:noFill/>
          </a:ln>
        </p:spPr>
      </p:pic>
      <p:pic>
        <p:nvPicPr>
          <p:cNvPr id="1485" name="Google Shape;1485;p60"/>
          <p:cNvPicPr preferRelativeResize="0"/>
          <p:nvPr/>
        </p:nvPicPr>
        <p:blipFill rotWithShape="1">
          <a:blip r:embed="rId12">
            <a:alphaModFix/>
          </a:blip>
          <a:srcRect/>
          <a:stretch/>
        </p:blipFill>
        <p:spPr>
          <a:xfrm>
            <a:off x="1543967" y="2143537"/>
            <a:ext cx="128979" cy="218452"/>
          </a:xfrm>
          <a:prstGeom prst="rect">
            <a:avLst/>
          </a:prstGeom>
          <a:noFill/>
          <a:ln>
            <a:noFill/>
          </a:ln>
        </p:spPr>
      </p:pic>
      <p:sp>
        <p:nvSpPr>
          <p:cNvPr id="1486" name="Google Shape;1486;p60"/>
          <p:cNvSpPr/>
          <p:nvPr/>
        </p:nvSpPr>
        <p:spPr>
          <a:xfrm>
            <a:off x="1286200" y="2319480"/>
            <a:ext cx="166369" cy="5080"/>
          </a:xfrm>
          <a:custGeom>
            <a:avLst/>
            <a:gdLst/>
            <a:ahLst/>
            <a:cxnLst/>
            <a:rect l="l" t="t" r="r" b="b"/>
            <a:pathLst>
              <a:path w="166369" h="5080" extrusionOk="0">
                <a:moveTo>
                  <a:pt x="40968" y="3492"/>
                </a:moveTo>
                <a:lnTo>
                  <a:pt x="25236" y="3416"/>
                </a:lnTo>
                <a:lnTo>
                  <a:pt x="13580" y="3451"/>
                </a:lnTo>
                <a:lnTo>
                  <a:pt x="5997" y="3597"/>
                </a:lnTo>
                <a:lnTo>
                  <a:pt x="2490" y="3855"/>
                </a:lnTo>
                <a:lnTo>
                  <a:pt x="1111" y="4148"/>
                </a:lnTo>
                <a:lnTo>
                  <a:pt x="337" y="4312"/>
                </a:lnTo>
                <a:lnTo>
                  <a:pt x="169" y="4348"/>
                </a:lnTo>
                <a:lnTo>
                  <a:pt x="0" y="4384"/>
                </a:lnTo>
                <a:lnTo>
                  <a:pt x="667" y="4413"/>
                </a:lnTo>
                <a:lnTo>
                  <a:pt x="2170" y="4435"/>
                </a:lnTo>
                <a:lnTo>
                  <a:pt x="3673" y="4457"/>
                </a:lnTo>
                <a:lnTo>
                  <a:pt x="10568" y="4558"/>
                </a:lnTo>
                <a:lnTo>
                  <a:pt x="22857" y="4736"/>
                </a:lnTo>
                <a:lnTo>
                  <a:pt x="32122" y="4840"/>
                </a:lnTo>
                <a:lnTo>
                  <a:pt x="41484" y="4882"/>
                </a:lnTo>
                <a:lnTo>
                  <a:pt x="50941" y="4863"/>
                </a:lnTo>
                <a:lnTo>
                  <a:pt x="60495" y="4783"/>
                </a:lnTo>
                <a:lnTo>
                  <a:pt x="77503" y="4364"/>
                </a:lnTo>
                <a:lnTo>
                  <a:pt x="100781" y="3427"/>
                </a:lnTo>
                <a:lnTo>
                  <a:pt x="130329" y="1972"/>
                </a:lnTo>
                <a:lnTo>
                  <a:pt x="166145" y="0"/>
                </a:lnTo>
              </a:path>
            </a:pathLst>
          </a:custGeom>
          <a:noFill/>
          <a:ln w="14400" cap="flat" cmpd="sng">
            <a:solidFill>
              <a:srgbClr val="82218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87" name="Google Shape;1487;p60"/>
          <p:cNvSpPr/>
          <p:nvPr/>
        </p:nvSpPr>
        <p:spPr>
          <a:xfrm>
            <a:off x="1805492" y="2253314"/>
            <a:ext cx="144780" cy="24764"/>
          </a:xfrm>
          <a:custGeom>
            <a:avLst/>
            <a:gdLst/>
            <a:ahLst/>
            <a:cxnLst/>
            <a:rect l="l" t="t" r="r" b="b"/>
            <a:pathLst>
              <a:path w="144780" h="24764" extrusionOk="0">
                <a:moveTo>
                  <a:pt x="2366" y="24480"/>
                </a:moveTo>
                <a:lnTo>
                  <a:pt x="0" y="22528"/>
                </a:lnTo>
                <a:lnTo>
                  <a:pt x="1298" y="21124"/>
                </a:lnTo>
                <a:lnTo>
                  <a:pt x="6263" y="20265"/>
                </a:lnTo>
                <a:lnTo>
                  <a:pt x="11228" y="19408"/>
                </a:lnTo>
                <a:lnTo>
                  <a:pt x="17237" y="18711"/>
                </a:lnTo>
                <a:lnTo>
                  <a:pt x="24290" y="18177"/>
                </a:lnTo>
                <a:lnTo>
                  <a:pt x="31343" y="17642"/>
                </a:lnTo>
                <a:lnTo>
                  <a:pt x="80299" y="10872"/>
                </a:lnTo>
                <a:lnTo>
                  <a:pt x="108623" y="6166"/>
                </a:lnTo>
                <a:lnTo>
                  <a:pt x="144769" y="0"/>
                </a:lnTo>
              </a:path>
            </a:pathLst>
          </a:custGeom>
          <a:noFill/>
          <a:ln w="14400" cap="flat" cmpd="sng">
            <a:solidFill>
              <a:srgbClr val="82218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88" name="Google Shape;1488;p60"/>
          <p:cNvSpPr txBox="1"/>
          <p:nvPr/>
        </p:nvSpPr>
        <p:spPr>
          <a:xfrm>
            <a:off x="1250222" y="4762433"/>
            <a:ext cx="5147400" cy="169200"/>
          </a:xfrm>
          <a:prstGeom prst="rect">
            <a:avLst/>
          </a:prstGeom>
          <a:noFill/>
          <a:ln>
            <a:noFill/>
          </a:ln>
        </p:spPr>
        <p:txBody>
          <a:bodyPr spcFirstLastPara="1" wrap="square" lIns="0" tIns="0" rIns="0" bIns="0" anchor="t" anchorCtr="0">
            <a:spAutoFit/>
          </a:bodyPr>
          <a:lstStyle/>
          <a:p>
            <a:pPr marL="12700" lvl="0" indent="0" algn="l" rtl="0">
              <a:lnSpc>
                <a:spcPct val="119545"/>
              </a:lnSpc>
              <a:spcBef>
                <a:spcPts val="0"/>
              </a:spcBef>
              <a:spcAft>
                <a:spcPts val="0"/>
              </a:spcAft>
              <a:buNone/>
            </a:pPr>
            <a:r>
              <a:rPr lang="en" sz="1100">
                <a:latin typeface="Calibri"/>
                <a:ea typeface="Calibri"/>
                <a:cs typeface="Calibri"/>
                <a:sym typeface="Calibri"/>
              </a:rPr>
              <a:t>Source: </a:t>
            </a:r>
            <a:r>
              <a:rPr lang="en" sz="1100" i="1" u="sng">
                <a:solidFill>
                  <a:srgbClr val="000000"/>
                </a:solidFill>
                <a:latin typeface="Arial"/>
                <a:ea typeface="Arial"/>
                <a:cs typeface="Arial"/>
                <a:sym typeface="Arial"/>
                <a:hlinkClick r:id="rId13">
                  <a:extLst>
                    <a:ext uri="{A12FA001-AC4F-418D-AE19-62706E023703}">
                      <ahyp:hlinkClr xmlns:ahyp="http://schemas.microsoft.com/office/drawing/2018/hyperlinkcolor" val="tx"/>
                    </a:ext>
                  </a:extLst>
                </a:hlinkClick>
              </a:rPr>
              <a:t>https://deepmind.com/learning-resources/deep-learning-lecture-series-2020</a:t>
            </a:r>
            <a:endParaRPr sz="1100">
              <a:latin typeface="Arial"/>
              <a:ea typeface="Arial"/>
              <a:cs typeface="Arial"/>
              <a:sym typeface="Arial"/>
            </a:endParaRPr>
          </a:p>
        </p:txBody>
      </p:sp>
      <p:pic>
        <p:nvPicPr>
          <p:cNvPr id="1489" name="Google Shape;1489;p60" title="Screenshot 2026-04-17 at 9.17.33 PM.png"/>
          <p:cNvPicPr preferRelativeResize="0"/>
          <p:nvPr/>
        </p:nvPicPr>
        <p:blipFill>
          <a:blip r:embed="rId14">
            <a:alphaModFix/>
          </a:blip>
          <a:stretch>
            <a:fillRect/>
          </a:stretch>
        </p:blipFill>
        <p:spPr>
          <a:xfrm>
            <a:off x="-69900" y="3924599"/>
            <a:ext cx="9144003" cy="1218903"/>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93"/>
        <p:cNvGrpSpPr/>
        <p:nvPr/>
      </p:nvGrpSpPr>
      <p:grpSpPr>
        <a:xfrm>
          <a:off x="0" y="0"/>
          <a:ext cx="0" cy="0"/>
          <a:chOff x="0" y="0"/>
          <a:chExt cx="0" cy="0"/>
        </a:xfrm>
      </p:grpSpPr>
      <p:sp>
        <p:nvSpPr>
          <p:cNvPr id="1494" name="Google Shape;1494;p61" descr="$PPTXTitle"/>
          <p:cNvSpPr txBox="1"/>
          <p:nvPr/>
        </p:nvSpPr>
        <p:spPr>
          <a:xfrm>
            <a:off x="-10106" y="27150"/>
            <a:ext cx="9164100" cy="559800"/>
          </a:xfrm>
          <a:prstGeom prst="rect">
            <a:avLst/>
          </a:prstGeom>
          <a:noFill/>
          <a:ln>
            <a:noFill/>
          </a:ln>
        </p:spPr>
        <p:txBody>
          <a:bodyPr spcFirstLastPara="1" wrap="square" lIns="0" tIns="127450" rIns="0" bIns="0" anchor="t" anchorCtr="0">
            <a:spAutoFit/>
          </a:bodyPr>
          <a:lstStyle/>
          <a:p>
            <a:pPr marL="238125" lvl="0" indent="0" algn="l" rtl="0">
              <a:spcBef>
                <a:spcPts val="0"/>
              </a:spcBef>
              <a:spcAft>
                <a:spcPts val="0"/>
              </a:spcAft>
              <a:buNone/>
            </a:pPr>
            <a:r>
              <a:rPr lang="en" sz="2800">
                <a:solidFill>
                  <a:srgbClr val="000000"/>
                </a:solidFill>
                <a:latin typeface="Calibri"/>
                <a:ea typeface="Calibri"/>
                <a:cs typeface="Calibri"/>
                <a:sym typeface="Calibri"/>
              </a:rPr>
              <a:t>How to make this work for deep networks?</a:t>
            </a:r>
            <a:endParaRPr sz="2800">
              <a:solidFill>
                <a:srgbClr val="000000"/>
              </a:solidFill>
            </a:endParaRPr>
          </a:p>
        </p:txBody>
      </p:sp>
      <p:pic>
        <p:nvPicPr>
          <p:cNvPr id="1495" name="Google Shape;1495;p61"/>
          <p:cNvPicPr preferRelativeResize="0"/>
          <p:nvPr/>
        </p:nvPicPr>
        <p:blipFill rotWithShape="1">
          <a:blip r:embed="rId4">
            <a:alphaModFix/>
          </a:blip>
          <a:srcRect/>
          <a:stretch/>
        </p:blipFill>
        <p:spPr>
          <a:xfrm>
            <a:off x="1026847" y="1102336"/>
            <a:ext cx="2105806" cy="2484851"/>
          </a:xfrm>
          <a:prstGeom prst="rect">
            <a:avLst/>
          </a:prstGeom>
          <a:noFill/>
          <a:ln>
            <a:noFill/>
          </a:ln>
        </p:spPr>
      </p:pic>
      <p:sp>
        <p:nvSpPr>
          <p:cNvPr id="1496" name="Google Shape;1496;p61"/>
          <p:cNvSpPr txBox="1"/>
          <p:nvPr/>
        </p:nvSpPr>
        <p:spPr>
          <a:xfrm>
            <a:off x="317299" y="1684990"/>
            <a:ext cx="1256700" cy="259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 sz="1600">
                <a:latin typeface="Calibri"/>
                <a:ea typeface="Calibri"/>
                <a:cs typeface="Calibri"/>
                <a:sym typeface="Calibri"/>
              </a:rPr>
              <a:t>Repeat 6 times</a:t>
            </a:r>
            <a:endParaRPr sz="1600">
              <a:latin typeface="Calibri"/>
              <a:ea typeface="Calibri"/>
              <a:cs typeface="Calibri"/>
              <a:sym typeface="Calibri"/>
            </a:endParaRPr>
          </a:p>
        </p:txBody>
      </p:sp>
      <p:sp>
        <p:nvSpPr>
          <p:cNvPr id="1497" name="Google Shape;1497;p61"/>
          <p:cNvSpPr txBox="1"/>
          <p:nvPr/>
        </p:nvSpPr>
        <p:spPr>
          <a:xfrm>
            <a:off x="3863563" y="2350055"/>
            <a:ext cx="3965700" cy="705600"/>
          </a:xfrm>
          <a:prstGeom prst="rect">
            <a:avLst/>
          </a:prstGeom>
          <a:noFill/>
          <a:ln>
            <a:noFill/>
          </a:ln>
        </p:spPr>
        <p:txBody>
          <a:bodyPr spcFirstLastPara="1" wrap="square" lIns="0" tIns="12700" rIns="0" bIns="0" anchor="t" anchorCtr="0">
            <a:spAutoFit/>
          </a:bodyPr>
          <a:lstStyle/>
          <a:p>
            <a:pPr marL="12700" marR="586105" lvl="0" indent="0" algn="l" rtl="0">
              <a:lnSpc>
                <a:spcPct val="100000"/>
              </a:lnSpc>
              <a:spcBef>
                <a:spcPts val="0"/>
              </a:spcBef>
              <a:spcAft>
                <a:spcPts val="0"/>
              </a:spcAft>
              <a:buNone/>
            </a:pPr>
            <a:r>
              <a:rPr lang="en" sz="1500">
                <a:latin typeface="Calibri"/>
                <a:ea typeface="Calibri"/>
                <a:cs typeface="Calibri"/>
                <a:sym typeface="Calibri"/>
              </a:rPr>
              <a:t>Training Trick #1: Residual Connections Training Trick #2: LayerNorm</a:t>
            </a:r>
            <a:endParaRPr sz="1500">
              <a:latin typeface="Calibri"/>
              <a:ea typeface="Calibri"/>
              <a:cs typeface="Calibri"/>
              <a:sym typeface="Calibri"/>
            </a:endParaRPr>
          </a:p>
          <a:p>
            <a:pPr marL="12700" lvl="0" indent="0" algn="l" rtl="0">
              <a:lnSpc>
                <a:spcPct val="100000"/>
              </a:lnSpc>
              <a:spcBef>
                <a:spcPts val="0"/>
              </a:spcBef>
              <a:spcAft>
                <a:spcPts val="0"/>
              </a:spcAft>
              <a:buNone/>
            </a:pPr>
            <a:r>
              <a:rPr lang="en" sz="1500">
                <a:latin typeface="Calibri"/>
                <a:ea typeface="Calibri"/>
                <a:cs typeface="Calibri"/>
                <a:sym typeface="Calibri"/>
              </a:rPr>
              <a:t>Training Trick #3: Scaled Dot Product Attention</a:t>
            </a:r>
            <a:endParaRPr sz="1500">
              <a:latin typeface="Calibri"/>
              <a:ea typeface="Calibri"/>
              <a:cs typeface="Calibri"/>
              <a:sym typeface="Calibri"/>
            </a:endParaRPr>
          </a:p>
        </p:txBody>
      </p:sp>
      <p:sp>
        <p:nvSpPr>
          <p:cNvPr id="1498" name="Google Shape;1498;p61"/>
          <p:cNvSpPr txBox="1"/>
          <p:nvPr/>
        </p:nvSpPr>
        <p:spPr>
          <a:xfrm>
            <a:off x="1247506" y="4814063"/>
            <a:ext cx="2900100" cy="215400"/>
          </a:xfrm>
          <a:prstGeom prst="rect">
            <a:avLst/>
          </a:prstGeom>
          <a:noFill/>
          <a:ln>
            <a:noFill/>
          </a:ln>
        </p:spPr>
        <p:txBody>
          <a:bodyPr spcFirstLastPara="1" wrap="square" lIns="0" tIns="0" rIns="0" bIns="0" anchor="t" anchorCtr="0">
            <a:spAutoFit/>
          </a:bodyPr>
          <a:lstStyle/>
          <a:p>
            <a:pPr marL="12700" lvl="0" indent="0" algn="l" rtl="0">
              <a:lnSpc>
                <a:spcPct val="102142"/>
              </a:lnSpc>
              <a:spcBef>
                <a:spcPts val="0"/>
              </a:spcBef>
              <a:spcAft>
                <a:spcPts val="0"/>
              </a:spcAft>
              <a:buNone/>
            </a:pPr>
            <a:r>
              <a:rPr lang="en" sz="1400" u="sng">
                <a:solidFill>
                  <a:srgbClr val="000000"/>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https://web.stanford.edu/class/cs224n/</a:t>
            </a:r>
            <a:endParaRPr sz="1400">
              <a:latin typeface="Calibri"/>
              <a:ea typeface="Calibri"/>
              <a:cs typeface="Calibri"/>
              <a:sym typeface="Calibri"/>
            </a:endParaRPr>
          </a:p>
        </p:txBody>
      </p:sp>
      <p:pic>
        <p:nvPicPr>
          <p:cNvPr id="1499" name="Google Shape;1499;p61"/>
          <p:cNvPicPr preferRelativeResize="0"/>
          <p:nvPr/>
        </p:nvPicPr>
        <p:blipFill>
          <a:blip r:embed="rId6">
            <a:alphaModFix/>
          </a:blip>
          <a:stretch>
            <a:fillRect/>
          </a:stretch>
        </p:blipFill>
        <p:spPr>
          <a:xfrm>
            <a:off x="8369125" y="0"/>
            <a:ext cx="774877" cy="86717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03"/>
        <p:cNvGrpSpPr/>
        <p:nvPr/>
      </p:nvGrpSpPr>
      <p:grpSpPr>
        <a:xfrm>
          <a:off x="0" y="0"/>
          <a:ext cx="0" cy="0"/>
          <a:chOff x="0" y="0"/>
          <a:chExt cx="0" cy="0"/>
        </a:xfrm>
      </p:grpSpPr>
      <p:sp>
        <p:nvSpPr>
          <p:cNvPr id="1504" name="Google Shape;1504;p62" descr="$PPTXTitle"/>
          <p:cNvSpPr txBox="1"/>
          <p:nvPr/>
        </p:nvSpPr>
        <p:spPr>
          <a:xfrm>
            <a:off x="-10106" y="27150"/>
            <a:ext cx="9164100" cy="559800"/>
          </a:xfrm>
          <a:prstGeom prst="rect">
            <a:avLst/>
          </a:prstGeom>
          <a:noFill/>
          <a:ln>
            <a:noFill/>
          </a:ln>
        </p:spPr>
        <p:txBody>
          <a:bodyPr spcFirstLastPara="1" wrap="square" lIns="0" tIns="127450" rIns="0" bIns="0" anchor="t" anchorCtr="0">
            <a:spAutoFit/>
          </a:bodyPr>
          <a:lstStyle/>
          <a:p>
            <a:pPr marL="238125" lvl="0" indent="0" algn="l" rtl="0">
              <a:spcBef>
                <a:spcPts val="0"/>
              </a:spcBef>
              <a:spcAft>
                <a:spcPts val="0"/>
              </a:spcAft>
              <a:buNone/>
            </a:pPr>
            <a:r>
              <a:rPr lang="en" sz="2800">
                <a:solidFill>
                  <a:srgbClr val="000000"/>
                </a:solidFill>
                <a:latin typeface="Calibri"/>
                <a:ea typeface="Calibri"/>
                <a:cs typeface="Calibri"/>
                <a:sym typeface="Calibri"/>
              </a:rPr>
              <a:t>Training Trick #1: Residual Connections</a:t>
            </a:r>
            <a:endParaRPr sz="2800">
              <a:solidFill>
                <a:srgbClr val="000000"/>
              </a:solidFill>
            </a:endParaRPr>
          </a:p>
        </p:txBody>
      </p:sp>
      <p:grpSp>
        <p:nvGrpSpPr>
          <p:cNvPr id="1505" name="Google Shape;1505;p62"/>
          <p:cNvGrpSpPr/>
          <p:nvPr/>
        </p:nvGrpSpPr>
        <p:grpSpPr>
          <a:xfrm>
            <a:off x="269655" y="857947"/>
            <a:ext cx="7021076" cy="3301907"/>
            <a:chOff x="269655" y="857947"/>
            <a:chExt cx="7021076" cy="3301907"/>
          </a:xfrm>
        </p:grpSpPr>
        <p:pic>
          <p:nvPicPr>
            <p:cNvPr id="1506" name="Google Shape;1506;p62"/>
            <p:cNvPicPr preferRelativeResize="0"/>
            <p:nvPr/>
          </p:nvPicPr>
          <p:blipFill rotWithShape="1">
            <a:blip r:embed="rId4">
              <a:alphaModFix/>
            </a:blip>
            <a:srcRect/>
            <a:stretch/>
          </p:blipFill>
          <p:spPr>
            <a:xfrm>
              <a:off x="269655" y="857947"/>
              <a:ext cx="7021076" cy="3207352"/>
            </a:xfrm>
            <a:prstGeom prst="rect">
              <a:avLst/>
            </a:prstGeom>
            <a:noFill/>
            <a:ln>
              <a:noFill/>
            </a:ln>
          </p:spPr>
        </p:pic>
        <p:sp>
          <p:nvSpPr>
            <p:cNvPr id="1507" name="Google Shape;1507;p62"/>
            <p:cNvSpPr/>
            <p:nvPr/>
          </p:nvSpPr>
          <p:spPr>
            <a:xfrm>
              <a:off x="2309568" y="3935700"/>
              <a:ext cx="4089400" cy="224154"/>
            </a:xfrm>
            <a:custGeom>
              <a:avLst/>
              <a:gdLst/>
              <a:ahLst/>
              <a:cxnLst/>
              <a:rect l="l" t="t" r="r" b="b"/>
              <a:pathLst>
                <a:path w="4089400" h="224154" extrusionOk="0">
                  <a:moveTo>
                    <a:pt x="4088999" y="0"/>
                  </a:moveTo>
                  <a:lnTo>
                    <a:pt x="0" y="0"/>
                  </a:lnTo>
                  <a:lnTo>
                    <a:pt x="0" y="223800"/>
                  </a:lnTo>
                  <a:lnTo>
                    <a:pt x="4088999" y="223800"/>
                  </a:lnTo>
                  <a:lnTo>
                    <a:pt x="4088999"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pic>
        <p:nvPicPr>
          <p:cNvPr id="1508" name="Google Shape;1508;p62"/>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12"/>
        <p:cNvGrpSpPr/>
        <p:nvPr/>
      </p:nvGrpSpPr>
      <p:grpSpPr>
        <a:xfrm>
          <a:off x="0" y="0"/>
          <a:ext cx="0" cy="0"/>
          <a:chOff x="0" y="0"/>
          <a:chExt cx="0" cy="0"/>
        </a:xfrm>
      </p:grpSpPr>
      <p:pic>
        <p:nvPicPr>
          <p:cNvPr id="1513" name="Google Shape;1513;p63"/>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514" name="Google Shape;1514;p63" descr="$PPTXTitle"/>
          <p:cNvSpPr txBox="1"/>
          <p:nvPr/>
        </p:nvSpPr>
        <p:spPr>
          <a:xfrm>
            <a:off x="-10106" y="27150"/>
            <a:ext cx="9164100" cy="559800"/>
          </a:xfrm>
          <a:prstGeom prst="rect">
            <a:avLst/>
          </a:prstGeom>
          <a:noFill/>
          <a:ln>
            <a:noFill/>
          </a:ln>
        </p:spPr>
        <p:txBody>
          <a:bodyPr spcFirstLastPara="1" wrap="square" lIns="0" tIns="127450" rIns="0" bIns="0" anchor="t" anchorCtr="0">
            <a:spAutoFit/>
          </a:bodyPr>
          <a:lstStyle/>
          <a:p>
            <a:pPr marL="238125" lvl="0" indent="0" algn="l" rtl="0">
              <a:spcBef>
                <a:spcPts val="0"/>
              </a:spcBef>
              <a:spcAft>
                <a:spcPts val="0"/>
              </a:spcAft>
              <a:buNone/>
            </a:pPr>
            <a:r>
              <a:rPr lang="en" sz="2800">
                <a:solidFill>
                  <a:srgbClr val="000000"/>
                </a:solidFill>
                <a:latin typeface="Calibri"/>
                <a:ea typeface="Calibri"/>
                <a:cs typeface="Calibri"/>
                <a:sym typeface="Calibri"/>
              </a:rPr>
              <a:t>Training Trick #2: Layer Normalization</a:t>
            </a:r>
            <a:endParaRPr sz="2800">
              <a:solidFill>
                <a:srgbClr val="000000"/>
              </a:solidFill>
            </a:endParaRPr>
          </a:p>
        </p:txBody>
      </p:sp>
      <p:sp>
        <p:nvSpPr>
          <p:cNvPr id="1515" name="Google Shape;1515;p63"/>
          <p:cNvSpPr txBox="1"/>
          <p:nvPr/>
        </p:nvSpPr>
        <p:spPr>
          <a:xfrm>
            <a:off x="1190993" y="4757532"/>
            <a:ext cx="2900100" cy="215400"/>
          </a:xfrm>
          <a:prstGeom prst="rect">
            <a:avLst/>
          </a:prstGeom>
          <a:noFill/>
          <a:ln>
            <a:noFill/>
          </a:ln>
        </p:spPr>
        <p:txBody>
          <a:bodyPr spcFirstLastPara="1" wrap="square" lIns="0" tIns="0" rIns="0" bIns="0" anchor="t" anchorCtr="0">
            <a:spAutoFit/>
          </a:bodyPr>
          <a:lstStyle/>
          <a:p>
            <a:pPr marL="12700" lvl="0" indent="0" algn="l" rtl="0">
              <a:lnSpc>
                <a:spcPct val="102142"/>
              </a:lnSpc>
              <a:spcBef>
                <a:spcPts val="0"/>
              </a:spcBef>
              <a:spcAft>
                <a:spcPts val="0"/>
              </a:spcAft>
              <a:buNone/>
            </a:pPr>
            <a:r>
              <a:rPr lang="en" sz="1400" u="sng">
                <a:solidFill>
                  <a:srgbClr val="000000"/>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https://web.stanford.edu/class/cs224n/</a:t>
            </a:r>
            <a:endParaRPr sz="1400">
              <a:latin typeface="Calibri"/>
              <a:ea typeface="Calibri"/>
              <a:cs typeface="Calibri"/>
              <a:sym typeface="Calibri"/>
            </a:endParaRPr>
          </a:p>
        </p:txBody>
      </p:sp>
      <p:pic>
        <p:nvPicPr>
          <p:cNvPr id="1516" name="Google Shape;1516;p63"/>
          <p:cNvPicPr preferRelativeResize="0"/>
          <p:nvPr/>
        </p:nvPicPr>
        <p:blipFill rotWithShape="1">
          <a:blip r:embed="rId6">
            <a:alphaModFix/>
          </a:blip>
          <a:srcRect/>
          <a:stretch/>
        </p:blipFill>
        <p:spPr>
          <a:xfrm>
            <a:off x="189757" y="858098"/>
            <a:ext cx="6846548" cy="358173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0"/>
        <p:cNvGrpSpPr/>
        <p:nvPr/>
      </p:nvGrpSpPr>
      <p:grpSpPr>
        <a:xfrm>
          <a:off x="0" y="0"/>
          <a:ext cx="0" cy="0"/>
          <a:chOff x="0" y="0"/>
          <a:chExt cx="0" cy="0"/>
        </a:xfrm>
      </p:grpSpPr>
      <p:pic>
        <p:nvPicPr>
          <p:cNvPr id="1521" name="Google Shape;1521;p64"/>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522" name="Google Shape;1522;p64" descr="$PPTXTitle"/>
          <p:cNvSpPr txBox="1"/>
          <p:nvPr/>
        </p:nvSpPr>
        <p:spPr>
          <a:xfrm>
            <a:off x="-10106" y="27150"/>
            <a:ext cx="9164100" cy="559800"/>
          </a:xfrm>
          <a:prstGeom prst="rect">
            <a:avLst/>
          </a:prstGeom>
          <a:noFill/>
          <a:ln>
            <a:noFill/>
          </a:ln>
        </p:spPr>
        <p:txBody>
          <a:bodyPr spcFirstLastPara="1" wrap="square" lIns="0" tIns="127450" rIns="0" bIns="0" anchor="t" anchorCtr="0">
            <a:spAutoFit/>
          </a:bodyPr>
          <a:lstStyle/>
          <a:p>
            <a:pPr marL="238125" lvl="0" indent="0" algn="l" rtl="0">
              <a:spcBef>
                <a:spcPts val="0"/>
              </a:spcBef>
              <a:spcAft>
                <a:spcPts val="0"/>
              </a:spcAft>
              <a:buNone/>
            </a:pPr>
            <a:r>
              <a:rPr lang="en" sz="2800">
                <a:solidFill>
                  <a:srgbClr val="000000"/>
                </a:solidFill>
              </a:rPr>
              <a:t>Training Trick #2: Layer Normalization</a:t>
            </a:r>
            <a:endParaRPr sz="2800">
              <a:solidFill>
                <a:srgbClr val="000000"/>
              </a:solidFill>
            </a:endParaRPr>
          </a:p>
        </p:txBody>
      </p:sp>
      <p:sp>
        <p:nvSpPr>
          <p:cNvPr id="1523" name="Google Shape;1523;p64"/>
          <p:cNvSpPr txBox="1"/>
          <p:nvPr/>
        </p:nvSpPr>
        <p:spPr>
          <a:xfrm>
            <a:off x="3384050" y="4789175"/>
            <a:ext cx="3203400" cy="215400"/>
          </a:xfrm>
          <a:prstGeom prst="rect">
            <a:avLst/>
          </a:prstGeom>
          <a:noFill/>
          <a:ln>
            <a:noFill/>
          </a:ln>
        </p:spPr>
        <p:txBody>
          <a:bodyPr spcFirstLastPara="1" wrap="square" lIns="0" tIns="0" rIns="0" bIns="0" anchor="t" anchorCtr="0">
            <a:spAutoFit/>
          </a:bodyPr>
          <a:lstStyle/>
          <a:p>
            <a:pPr marL="12700" lvl="0" indent="0" algn="l" rtl="0">
              <a:lnSpc>
                <a:spcPct val="102142"/>
              </a:lnSpc>
              <a:spcBef>
                <a:spcPts val="0"/>
              </a:spcBef>
              <a:spcAft>
                <a:spcPts val="0"/>
              </a:spcAft>
              <a:buNone/>
            </a:pPr>
            <a:r>
              <a:rPr lang="en" sz="1400" u="sng">
                <a:solidFill>
                  <a:srgbClr val="000000"/>
                </a:solidFill>
                <a:latin typeface="Arial"/>
                <a:ea typeface="Arial"/>
                <a:cs typeface="Arial"/>
                <a:sym typeface="Arial"/>
                <a:hlinkClick r:id="rId5">
                  <a:extLst>
                    <a:ext uri="{A12FA001-AC4F-418D-AE19-62706E023703}">
                      <ahyp:hlinkClr xmlns:ahyp="http://schemas.microsoft.com/office/drawing/2018/hyperlinkcolor" val="tx"/>
                    </a:ext>
                  </a:extLst>
                </a:hlinkClick>
              </a:rPr>
              <a:t>https://web.stanford.edu/class/cs224n/</a:t>
            </a:r>
            <a:endParaRPr sz="1400">
              <a:latin typeface="Arial"/>
              <a:ea typeface="Arial"/>
              <a:cs typeface="Arial"/>
              <a:sym typeface="Arial"/>
            </a:endParaRPr>
          </a:p>
        </p:txBody>
      </p:sp>
      <p:grpSp>
        <p:nvGrpSpPr>
          <p:cNvPr id="1524" name="Google Shape;1524;p64"/>
          <p:cNvGrpSpPr/>
          <p:nvPr/>
        </p:nvGrpSpPr>
        <p:grpSpPr>
          <a:xfrm>
            <a:off x="232331" y="837526"/>
            <a:ext cx="6570421" cy="3678655"/>
            <a:chOff x="232331" y="837526"/>
            <a:chExt cx="6570421" cy="3678655"/>
          </a:xfrm>
        </p:grpSpPr>
        <p:pic>
          <p:nvPicPr>
            <p:cNvPr id="1525" name="Google Shape;1525;p64"/>
            <p:cNvPicPr preferRelativeResize="0"/>
            <p:nvPr/>
          </p:nvPicPr>
          <p:blipFill rotWithShape="1">
            <a:blip r:embed="rId6">
              <a:alphaModFix/>
            </a:blip>
            <a:srcRect/>
            <a:stretch/>
          </p:blipFill>
          <p:spPr>
            <a:xfrm>
              <a:off x="232331" y="837526"/>
              <a:ext cx="6570421" cy="3678655"/>
            </a:xfrm>
            <a:prstGeom prst="rect">
              <a:avLst/>
            </a:prstGeom>
            <a:noFill/>
            <a:ln>
              <a:noFill/>
            </a:ln>
          </p:spPr>
        </p:pic>
        <p:sp>
          <p:nvSpPr>
            <p:cNvPr id="1526" name="Google Shape;1526;p64"/>
            <p:cNvSpPr/>
            <p:nvPr/>
          </p:nvSpPr>
          <p:spPr>
            <a:xfrm>
              <a:off x="5379819" y="1914265"/>
              <a:ext cx="12064" cy="19685"/>
            </a:xfrm>
            <a:custGeom>
              <a:avLst/>
              <a:gdLst/>
              <a:ahLst/>
              <a:cxnLst/>
              <a:rect l="l" t="t" r="r" b="b"/>
              <a:pathLst>
                <a:path w="12064" h="19685" extrusionOk="0">
                  <a:moveTo>
                    <a:pt x="0" y="19243"/>
                  </a:moveTo>
                  <a:lnTo>
                    <a:pt x="4017" y="12828"/>
                  </a:lnTo>
                  <a:lnTo>
                    <a:pt x="8034" y="6414"/>
                  </a:lnTo>
                  <a:lnTo>
                    <a:pt x="12052" y="0"/>
                  </a:lnTo>
                </a:path>
              </a:pathLst>
            </a:custGeom>
            <a:noFill/>
            <a:ln w="14400" cap="flat" cmpd="sng">
              <a:solidFill>
                <a:srgbClr val="281BD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pic>
        <p:nvPicPr>
          <p:cNvPr id="1527" name="Google Shape;1527;p64"/>
          <p:cNvPicPr preferRelativeResize="0"/>
          <p:nvPr/>
        </p:nvPicPr>
        <p:blipFill rotWithShape="1">
          <a:blip r:embed="rId7">
            <a:alphaModFix/>
          </a:blip>
          <a:srcRect/>
          <a:stretch/>
        </p:blipFill>
        <p:spPr>
          <a:xfrm>
            <a:off x="1526100" y="4386225"/>
            <a:ext cx="1209562" cy="54901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31"/>
        <p:cNvGrpSpPr/>
        <p:nvPr/>
      </p:nvGrpSpPr>
      <p:grpSpPr>
        <a:xfrm>
          <a:off x="0" y="0"/>
          <a:ext cx="0" cy="0"/>
          <a:chOff x="0" y="0"/>
          <a:chExt cx="0" cy="0"/>
        </a:xfrm>
      </p:grpSpPr>
      <p:pic>
        <p:nvPicPr>
          <p:cNvPr id="1532" name="Google Shape;1532;p65"/>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533" name="Google Shape;1533;p65" descr="$PPTXTitle"/>
          <p:cNvSpPr txBox="1"/>
          <p:nvPr/>
        </p:nvSpPr>
        <p:spPr>
          <a:xfrm>
            <a:off x="-10106" y="27150"/>
            <a:ext cx="9164100" cy="559800"/>
          </a:xfrm>
          <a:prstGeom prst="rect">
            <a:avLst/>
          </a:prstGeom>
          <a:noFill/>
          <a:ln>
            <a:noFill/>
          </a:ln>
        </p:spPr>
        <p:txBody>
          <a:bodyPr spcFirstLastPara="1" wrap="square" lIns="0" tIns="127450" rIns="0" bIns="0" anchor="t" anchorCtr="0">
            <a:spAutoFit/>
          </a:bodyPr>
          <a:lstStyle/>
          <a:p>
            <a:pPr marL="76200" lvl="0" indent="0" algn="l" rtl="0">
              <a:spcBef>
                <a:spcPts val="0"/>
              </a:spcBef>
              <a:spcAft>
                <a:spcPts val="0"/>
              </a:spcAft>
              <a:buNone/>
            </a:pPr>
            <a:r>
              <a:rPr lang="en" sz="2800">
                <a:solidFill>
                  <a:srgbClr val="000000"/>
                </a:solidFill>
              </a:rPr>
              <a:t>Training Trick #3: Scaled Dot Product Attention</a:t>
            </a:r>
            <a:endParaRPr sz="2800">
              <a:solidFill>
                <a:srgbClr val="000000"/>
              </a:solidFill>
            </a:endParaRPr>
          </a:p>
        </p:txBody>
      </p:sp>
      <p:pic>
        <p:nvPicPr>
          <p:cNvPr id="1534" name="Google Shape;1534;p65"/>
          <p:cNvPicPr preferRelativeResize="0"/>
          <p:nvPr/>
        </p:nvPicPr>
        <p:blipFill rotWithShape="1">
          <a:blip r:embed="rId5">
            <a:alphaModFix/>
          </a:blip>
          <a:srcRect/>
          <a:stretch/>
        </p:blipFill>
        <p:spPr>
          <a:xfrm>
            <a:off x="289409" y="949187"/>
            <a:ext cx="4596619" cy="2976858"/>
          </a:xfrm>
          <a:prstGeom prst="rect">
            <a:avLst/>
          </a:prstGeom>
          <a:noFill/>
          <a:ln>
            <a:noFill/>
          </a:ln>
        </p:spPr>
      </p:pic>
      <p:sp>
        <p:nvSpPr>
          <p:cNvPr id="1535" name="Google Shape;1535;p65"/>
          <p:cNvSpPr txBox="1"/>
          <p:nvPr/>
        </p:nvSpPr>
        <p:spPr>
          <a:xfrm>
            <a:off x="1191001" y="4757525"/>
            <a:ext cx="3302100" cy="215400"/>
          </a:xfrm>
          <a:prstGeom prst="rect">
            <a:avLst/>
          </a:prstGeom>
          <a:noFill/>
          <a:ln>
            <a:noFill/>
          </a:ln>
        </p:spPr>
        <p:txBody>
          <a:bodyPr spcFirstLastPara="1" wrap="square" lIns="0" tIns="0" rIns="0" bIns="0" anchor="t" anchorCtr="0">
            <a:spAutoFit/>
          </a:bodyPr>
          <a:lstStyle/>
          <a:p>
            <a:pPr marL="12700" lvl="0" indent="0" algn="l" rtl="0">
              <a:lnSpc>
                <a:spcPct val="102142"/>
              </a:lnSpc>
              <a:spcBef>
                <a:spcPts val="0"/>
              </a:spcBef>
              <a:spcAft>
                <a:spcPts val="0"/>
              </a:spcAft>
              <a:buNone/>
            </a:pPr>
            <a:r>
              <a:rPr lang="en" sz="1400" u="sng">
                <a:solidFill>
                  <a:srgbClr val="000000"/>
                </a:solidFill>
                <a:latin typeface="Arial"/>
                <a:ea typeface="Arial"/>
                <a:cs typeface="Arial"/>
                <a:sym typeface="Arial"/>
                <a:hlinkClick r:id="rId6">
                  <a:extLst>
                    <a:ext uri="{A12FA001-AC4F-418D-AE19-62706E023703}">
                      <ahyp:hlinkClr xmlns:ahyp="http://schemas.microsoft.com/office/drawing/2018/hyperlinkcolor" val="tx"/>
                    </a:ext>
                  </a:extLst>
                </a:hlinkClick>
              </a:rPr>
              <a:t>https://web.stanford.edu/class/cs224n/</a:t>
            </a:r>
            <a:endParaRPr sz="1400">
              <a:latin typeface="Arial"/>
              <a:ea typeface="Arial"/>
              <a:cs typeface="Arial"/>
              <a:sym typeface="Arial"/>
            </a:endParaRPr>
          </a:p>
        </p:txBody>
      </p:sp>
      <p:pic>
        <p:nvPicPr>
          <p:cNvPr id="1536" name="Google Shape;1536;p65"/>
          <p:cNvPicPr preferRelativeResize="0"/>
          <p:nvPr/>
        </p:nvPicPr>
        <p:blipFill rotWithShape="1">
          <a:blip r:embed="rId7">
            <a:alphaModFix/>
          </a:blip>
          <a:srcRect/>
          <a:stretch/>
        </p:blipFill>
        <p:spPr>
          <a:xfrm>
            <a:off x="5280650" y="917100"/>
            <a:ext cx="2289475" cy="3377500"/>
          </a:xfrm>
          <a:prstGeom prst="rect">
            <a:avLst/>
          </a:prstGeom>
          <a:noFill/>
          <a:ln>
            <a:noFill/>
          </a:ln>
        </p:spPr>
      </p:pic>
      <p:sp>
        <p:nvSpPr>
          <p:cNvPr id="1537" name="Google Shape;1537;p65"/>
          <p:cNvSpPr/>
          <p:nvPr/>
        </p:nvSpPr>
        <p:spPr>
          <a:xfrm>
            <a:off x="5172900" y="3971525"/>
            <a:ext cx="1598100" cy="780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41"/>
        <p:cNvGrpSpPr/>
        <p:nvPr/>
      </p:nvGrpSpPr>
      <p:grpSpPr>
        <a:xfrm>
          <a:off x="0" y="0"/>
          <a:ext cx="0" cy="0"/>
          <a:chOff x="0" y="0"/>
          <a:chExt cx="0" cy="0"/>
        </a:xfrm>
      </p:grpSpPr>
      <p:sp>
        <p:nvSpPr>
          <p:cNvPr id="1542" name="Google Shape;1542;p66" descr="$PPTXTitle"/>
          <p:cNvSpPr txBox="1"/>
          <p:nvPr/>
        </p:nvSpPr>
        <p:spPr>
          <a:xfrm>
            <a:off x="-10106" y="27150"/>
            <a:ext cx="9164100" cy="559800"/>
          </a:xfrm>
          <a:prstGeom prst="rect">
            <a:avLst/>
          </a:prstGeom>
          <a:noFill/>
          <a:ln>
            <a:noFill/>
          </a:ln>
        </p:spPr>
        <p:txBody>
          <a:bodyPr spcFirstLastPara="1" wrap="square" lIns="0" tIns="127450" rIns="0" bIns="0" anchor="t" anchorCtr="0">
            <a:spAutoFit/>
          </a:bodyPr>
          <a:lstStyle/>
          <a:p>
            <a:pPr marL="76200" lvl="0" indent="0" algn="l" rtl="0">
              <a:spcBef>
                <a:spcPts val="0"/>
              </a:spcBef>
              <a:spcAft>
                <a:spcPts val="0"/>
              </a:spcAft>
              <a:buNone/>
            </a:pPr>
            <a:r>
              <a:rPr lang="en" sz="2800">
                <a:solidFill>
                  <a:srgbClr val="000000"/>
                </a:solidFill>
              </a:rPr>
              <a:t>Training Trick #3: Scaled Dot Product Attention</a:t>
            </a:r>
            <a:endParaRPr sz="2800">
              <a:solidFill>
                <a:srgbClr val="000000"/>
              </a:solidFill>
            </a:endParaRPr>
          </a:p>
        </p:txBody>
      </p:sp>
      <p:pic>
        <p:nvPicPr>
          <p:cNvPr id="1543" name="Google Shape;1543;p66"/>
          <p:cNvPicPr preferRelativeResize="0"/>
          <p:nvPr/>
        </p:nvPicPr>
        <p:blipFill rotWithShape="1">
          <a:blip r:embed="rId4">
            <a:alphaModFix/>
          </a:blip>
          <a:srcRect/>
          <a:stretch/>
        </p:blipFill>
        <p:spPr>
          <a:xfrm>
            <a:off x="221980" y="885157"/>
            <a:ext cx="7793359" cy="1709430"/>
          </a:xfrm>
          <a:prstGeom prst="rect">
            <a:avLst/>
          </a:prstGeom>
          <a:noFill/>
          <a:ln>
            <a:noFill/>
          </a:ln>
        </p:spPr>
      </p:pic>
      <p:sp>
        <p:nvSpPr>
          <p:cNvPr id="1544" name="Google Shape;1544;p66"/>
          <p:cNvSpPr/>
          <p:nvPr/>
        </p:nvSpPr>
        <p:spPr>
          <a:xfrm>
            <a:off x="3716001" y="2879414"/>
            <a:ext cx="6985" cy="22225"/>
          </a:xfrm>
          <a:custGeom>
            <a:avLst/>
            <a:gdLst/>
            <a:ahLst/>
            <a:cxnLst/>
            <a:rect l="l" t="t" r="r" b="b"/>
            <a:pathLst>
              <a:path w="6985" h="22225" extrusionOk="0">
                <a:moveTo>
                  <a:pt x="6571" y="10428"/>
                </a:moveTo>
                <a:lnTo>
                  <a:pt x="3249" y="5057"/>
                </a:lnTo>
                <a:lnTo>
                  <a:pt x="1254" y="1832"/>
                </a:lnTo>
                <a:lnTo>
                  <a:pt x="587" y="753"/>
                </a:lnTo>
                <a:lnTo>
                  <a:pt x="121" y="0"/>
                </a:lnTo>
                <a:lnTo>
                  <a:pt x="0" y="410"/>
                </a:lnTo>
                <a:lnTo>
                  <a:pt x="223" y="1987"/>
                </a:lnTo>
                <a:lnTo>
                  <a:pt x="543" y="4243"/>
                </a:lnTo>
                <a:lnTo>
                  <a:pt x="1500" y="10986"/>
                </a:lnTo>
                <a:lnTo>
                  <a:pt x="3093" y="22216"/>
                </a:lnTo>
              </a:path>
            </a:pathLst>
          </a:custGeom>
          <a:noFill/>
          <a:ln w="14400" cap="flat" cmpd="sng">
            <a:solidFill>
              <a:srgbClr val="1C1C1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545" name="Google Shape;1545;p66"/>
          <p:cNvPicPr preferRelativeResize="0"/>
          <p:nvPr/>
        </p:nvPicPr>
        <p:blipFill>
          <a:blip r:embed="rId5">
            <a:alphaModFix/>
          </a:blip>
          <a:stretch>
            <a:fillRect/>
          </a:stretch>
        </p:blipFill>
        <p:spPr>
          <a:xfrm>
            <a:off x="8369125" y="0"/>
            <a:ext cx="774877" cy="867174"/>
          </a:xfrm>
          <a:prstGeom prst="rect">
            <a:avLst/>
          </a:prstGeom>
          <a:noFill/>
          <a:ln>
            <a:noFill/>
          </a:ln>
        </p:spPr>
      </p:pic>
      <p:pic>
        <p:nvPicPr>
          <p:cNvPr id="1546" name="Google Shape;1546;p66" title="Screenshot 2026-04-17 at 10.08.34 PM.png"/>
          <p:cNvPicPr preferRelativeResize="0"/>
          <p:nvPr/>
        </p:nvPicPr>
        <p:blipFill>
          <a:blip r:embed="rId6">
            <a:alphaModFix/>
          </a:blip>
          <a:stretch>
            <a:fillRect/>
          </a:stretch>
        </p:blipFill>
        <p:spPr>
          <a:xfrm>
            <a:off x="510100" y="2647014"/>
            <a:ext cx="7666856" cy="193706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50"/>
        <p:cNvGrpSpPr/>
        <p:nvPr/>
      </p:nvGrpSpPr>
      <p:grpSpPr>
        <a:xfrm>
          <a:off x="0" y="0"/>
          <a:ext cx="0" cy="0"/>
          <a:chOff x="0" y="0"/>
          <a:chExt cx="0" cy="0"/>
        </a:xfrm>
      </p:grpSpPr>
      <p:sp>
        <p:nvSpPr>
          <p:cNvPr id="1551" name="Google Shape;1551;p67" descr="$PPTXTitle"/>
          <p:cNvSpPr txBox="1">
            <a:spLocks noGrp="1"/>
          </p:cNvSpPr>
          <p:nvPr>
            <p:ph type="title"/>
          </p:nvPr>
        </p:nvSpPr>
        <p:spPr>
          <a:xfrm>
            <a:off x="2962275" y="213241"/>
            <a:ext cx="8229600" cy="440700"/>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SzPts val="1800"/>
              <a:buNone/>
            </a:pPr>
            <a:r>
              <a:rPr lang="en"/>
              <a:t>Positional Encoding</a:t>
            </a:r>
            <a:endParaRPr/>
          </a:p>
        </p:txBody>
      </p:sp>
      <p:grpSp>
        <p:nvGrpSpPr>
          <p:cNvPr id="1552" name="Google Shape;1552;p67"/>
          <p:cNvGrpSpPr/>
          <p:nvPr/>
        </p:nvGrpSpPr>
        <p:grpSpPr>
          <a:xfrm>
            <a:off x="4568614" y="1355938"/>
            <a:ext cx="3675062" cy="3132091"/>
            <a:chOff x="6091485" y="1807917"/>
            <a:chExt cx="4900083" cy="4176122"/>
          </a:xfrm>
        </p:grpSpPr>
        <p:pic>
          <p:nvPicPr>
            <p:cNvPr id="1553" name="Google Shape;1553;p67"/>
            <p:cNvPicPr preferRelativeResize="0"/>
            <p:nvPr/>
          </p:nvPicPr>
          <p:blipFill rotWithShape="1">
            <a:blip r:embed="rId4">
              <a:alphaModFix/>
            </a:blip>
            <a:srcRect/>
            <a:stretch/>
          </p:blipFill>
          <p:spPr>
            <a:xfrm>
              <a:off x="6091485" y="1807917"/>
              <a:ext cx="4900083" cy="4176122"/>
            </a:xfrm>
            <a:prstGeom prst="rect">
              <a:avLst/>
            </a:prstGeom>
            <a:noFill/>
            <a:ln>
              <a:noFill/>
            </a:ln>
          </p:spPr>
        </p:pic>
        <p:sp>
          <p:nvSpPr>
            <p:cNvPr id="1554" name="Google Shape;1554;p67"/>
            <p:cNvSpPr/>
            <p:nvPr/>
          </p:nvSpPr>
          <p:spPr>
            <a:xfrm>
              <a:off x="7425359" y="4704478"/>
              <a:ext cx="788034" cy="466725"/>
            </a:xfrm>
            <a:custGeom>
              <a:avLst/>
              <a:gdLst/>
              <a:ahLst/>
              <a:cxnLst/>
              <a:rect l="l" t="t" r="r" b="b"/>
              <a:pathLst>
                <a:path w="788034" h="466725" extrusionOk="0">
                  <a:moveTo>
                    <a:pt x="670589" y="457768"/>
                  </a:moveTo>
                  <a:lnTo>
                    <a:pt x="265258" y="457768"/>
                  </a:lnTo>
                  <a:lnTo>
                    <a:pt x="265319" y="461161"/>
                  </a:lnTo>
                  <a:lnTo>
                    <a:pt x="288359" y="462960"/>
                  </a:lnTo>
                  <a:lnTo>
                    <a:pt x="365707" y="462960"/>
                  </a:lnTo>
                  <a:lnTo>
                    <a:pt x="512279" y="465120"/>
                  </a:lnTo>
                  <a:lnTo>
                    <a:pt x="531719" y="466200"/>
                  </a:lnTo>
                  <a:lnTo>
                    <a:pt x="639719" y="466200"/>
                  </a:lnTo>
                  <a:lnTo>
                    <a:pt x="656639" y="464760"/>
                  </a:lnTo>
                  <a:lnTo>
                    <a:pt x="658079" y="464760"/>
                  </a:lnTo>
                  <a:lnTo>
                    <a:pt x="658063" y="462398"/>
                  </a:lnTo>
                  <a:lnTo>
                    <a:pt x="665279" y="462240"/>
                  </a:lnTo>
                  <a:lnTo>
                    <a:pt x="670589" y="457768"/>
                  </a:lnTo>
                  <a:close/>
                </a:path>
                <a:path w="788034" h="466725" extrusionOk="0">
                  <a:moveTo>
                    <a:pt x="291599" y="55440"/>
                  </a:moveTo>
                  <a:lnTo>
                    <a:pt x="183600" y="55440"/>
                  </a:lnTo>
                  <a:lnTo>
                    <a:pt x="169251" y="57010"/>
                  </a:lnTo>
                  <a:lnTo>
                    <a:pt x="137880" y="57960"/>
                  </a:lnTo>
                  <a:lnTo>
                    <a:pt x="91079" y="65161"/>
                  </a:lnTo>
                  <a:lnTo>
                    <a:pt x="36719" y="81000"/>
                  </a:lnTo>
                  <a:lnTo>
                    <a:pt x="3959" y="103320"/>
                  </a:lnTo>
                  <a:lnTo>
                    <a:pt x="0" y="116640"/>
                  </a:lnTo>
                  <a:lnTo>
                    <a:pt x="0" y="332640"/>
                  </a:lnTo>
                  <a:lnTo>
                    <a:pt x="346" y="332640"/>
                  </a:lnTo>
                  <a:lnTo>
                    <a:pt x="359" y="340560"/>
                  </a:lnTo>
                  <a:lnTo>
                    <a:pt x="31319" y="374040"/>
                  </a:lnTo>
                  <a:lnTo>
                    <a:pt x="65519" y="381807"/>
                  </a:lnTo>
                  <a:lnTo>
                    <a:pt x="65519" y="403200"/>
                  </a:lnTo>
                  <a:lnTo>
                    <a:pt x="261359" y="403200"/>
                  </a:lnTo>
                  <a:lnTo>
                    <a:pt x="261359" y="457920"/>
                  </a:lnTo>
                  <a:lnTo>
                    <a:pt x="265258" y="457768"/>
                  </a:lnTo>
                  <a:lnTo>
                    <a:pt x="670589" y="457768"/>
                  </a:lnTo>
                  <a:lnTo>
                    <a:pt x="678959" y="450720"/>
                  </a:lnTo>
                  <a:lnTo>
                    <a:pt x="692999" y="421559"/>
                  </a:lnTo>
                  <a:lnTo>
                    <a:pt x="696434" y="413707"/>
                  </a:lnTo>
                  <a:lnTo>
                    <a:pt x="708839" y="412560"/>
                  </a:lnTo>
                  <a:lnTo>
                    <a:pt x="770399" y="396720"/>
                  </a:lnTo>
                  <a:lnTo>
                    <a:pt x="788040" y="369360"/>
                  </a:lnTo>
                  <a:lnTo>
                    <a:pt x="788040" y="145801"/>
                  </a:lnTo>
                  <a:lnTo>
                    <a:pt x="776159" y="104040"/>
                  </a:lnTo>
                  <a:lnTo>
                    <a:pt x="752759" y="69841"/>
                  </a:lnTo>
                  <a:lnTo>
                    <a:pt x="750298" y="67163"/>
                  </a:lnTo>
                  <a:lnTo>
                    <a:pt x="595392" y="67163"/>
                  </a:lnTo>
                  <a:lnTo>
                    <a:pt x="554040" y="62640"/>
                  </a:lnTo>
                  <a:lnTo>
                    <a:pt x="515519" y="57960"/>
                  </a:lnTo>
                  <a:lnTo>
                    <a:pt x="427319" y="56880"/>
                  </a:lnTo>
                  <a:lnTo>
                    <a:pt x="366240" y="56880"/>
                  </a:lnTo>
                  <a:lnTo>
                    <a:pt x="346320" y="56160"/>
                  </a:lnTo>
                  <a:lnTo>
                    <a:pt x="291599" y="55440"/>
                  </a:lnTo>
                  <a:close/>
                </a:path>
                <a:path w="788034" h="466725" extrusionOk="0">
                  <a:moveTo>
                    <a:pt x="702000" y="0"/>
                  </a:moveTo>
                  <a:lnTo>
                    <a:pt x="593999" y="0"/>
                  </a:lnTo>
                  <a:lnTo>
                    <a:pt x="595149" y="55440"/>
                  </a:lnTo>
                  <a:lnTo>
                    <a:pt x="595164" y="56160"/>
                  </a:lnTo>
                  <a:lnTo>
                    <a:pt x="595291" y="62280"/>
                  </a:lnTo>
                  <a:lnTo>
                    <a:pt x="595392" y="67163"/>
                  </a:lnTo>
                  <a:lnTo>
                    <a:pt x="750298" y="67163"/>
                  </a:lnTo>
                  <a:lnTo>
                    <a:pt x="732240" y="47520"/>
                  </a:lnTo>
                  <a:lnTo>
                    <a:pt x="717839" y="28801"/>
                  </a:lnTo>
                  <a:lnTo>
                    <a:pt x="702000" y="0"/>
                  </a:lnTo>
                  <a:close/>
                </a:path>
              </a:pathLst>
            </a:custGeom>
            <a:solidFill>
              <a:srgbClr val="FFFC00">
                <a:alpha val="502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grpSp>
      <p:pic>
        <p:nvPicPr>
          <p:cNvPr id="1555" name="Google Shape;1555;p67"/>
          <p:cNvPicPr preferRelativeResize="0"/>
          <p:nvPr/>
        </p:nvPicPr>
        <p:blipFill rotWithShape="1">
          <a:blip r:embed="rId5">
            <a:alphaModFix/>
          </a:blip>
          <a:srcRect/>
          <a:stretch/>
        </p:blipFill>
        <p:spPr>
          <a:xfrm>
            <a:off x="59435" y="1501901"/>
            <a:ext cx="4121658" cy="1732788"/>
          </a:xfrm>
          <a:prstGeom prst="rect">
            <a:avLst/>
          </a:prstGeom>
          <a:noFill/>
          <a:ln>
            <a:noFill/>
          </a:ln>
        </p:spPr>
      </p:pic>
      <p:sp>
        <p:nvSpPr>
          <p:cNvPr id="1556" name="Google Shape;1556;p67"/>
          <p:cNvSpPr txBox="1"/>
          <p:nvPr/>
        </p:nvSpPr>
        <p:spPr>
          <a:xfrm>
            <a:off x="1070174" y="3295269"/>
            <a:ext cx="2020200" cy="240600"/>
          </a:xfrm>
          <a:prstGeom prst="rect">
            <a:avLst/>
          </a:prstGeom>
          <a:noFill/>
          <a:ln>
            <a:noFill/>
          </a:ln>
        </p:spPr>
        <p:txBody>
          <a:bodyPr spcFirstLastPara="1" wrap="square" lIns="0" tIns="9525" rIns="0" bIns="0" anchor="t" anchorCtr="0">
            <a:spAutoFit/>
          </a:bodyPr>
          <a:lstStyle/>
          <a:p>
            <a:pPr marL="12700" marR="0" lvl="0" indent="0" algn="l" rtl="0">
              <a:lnSpc>
                <a:spcPct val="100000"/>
              </a:lnSpc>
              <a:spcBef>
                <a:spcPts val="0"/>
              </a:spcBef>
              <a:spcAft>
                <a:spcPts val="0"/>
              </a:spcAft>
              <a:buClr>
                <a:srgbClr val="000000"/>
              </a:buClr>
              <a:buSzPts val="1500"/>
              <a:buFont typeface="Arial"/>
              <a:buNone/>
            </a:pPr>
            <a:r>
              <a:rPr lang="en" sz="1500" b="0" i="0" u="none" strike="noStrike" cap="none">
                <a:solidFill>
                  <a:srgbClr val="FF0000"/>
                </a:solidFill>
                <a:latin typeface="Arial"/>
                <a:ea typeface="Arial"/>
                <a:cs typeface="Arial"/>
                <a:sym typeface="Arial"/>
              </a:rPr>
              <a:t>Sense of position is lost</a:t>
            </a:r>
            <a:endParaRPr sz="1500" b="0" i="0" u="none" strike="noStrike" cap="none">
              <a:solidFill>
                <a:srgbClr val="000000"/>
              </a:solidFill>
              <a:latin typeface="Arial"/>
              <a:ea typeface="Arial"/>
              <a:cs typeface="Arial"/>
              <a:sym typeface="Arial"/>
            </a:endParaRPr>
          </a:p>
        </p:txBody>
      </p:sp>
      <p:pic>
        <p:nvPicPr>
          <p:cNvPr id="1557" name="Google Shape;1557;p67"/>
          <p:cNvPicPr preferRelativeResize="0"/>
          <p:nvPr/>
        </p:nvPicPr>
        <p:blipFill rotWithShape="1">
          <a:blip r:embed="rId6">
            <a:alphaModFix/>
          </a:blip>
          <a:srcRect/>
          <a:stretch/>
        </p:blipFill>
        <p:spPr>
          <a:xfrm>
            <a:off x="412553" y="3758579"/>
            <a:ext cx="3926543" cy="217188"/>
          </a:xfrm>
          <a:prstGeom prst="rect">
            <a:avLst/>
          </a:prstGeom>
          <a:noFill/>
          <a:ln>
            <a:noFill/>
          </a:ln>
        </p:spPr>
      </p:pic>
      <p:pic>
        <p:nvPicPr>
          <p:cNvPr id="1558" name="Google Shape;1558;p67"/>
          <p:cNvPicPr preferRelativeResize="0"/>
          <p:nvPr/>
        </p:nvPicPr>
        <p:blipFill rotWithShape="1">
          <a:blip r:embed="rId7">
            <a:alphaModFix/>
          </a:blip>
          <a:srcRect/>
          <a:stretch/>
        </p:blipFill>
        <p:spPr>
          <a:xfrm>
            <a:off x="1788626" y="4179392"/>
            <a:ext cx="1011642" cy="691574"/>
          </a:xfrm>
          <a:prstGeom prst="rect">
            <a:avLst/>
          </a:prstGeom>
          <a:noFill/>
          <a:ln>
            <a:noFill/>
          </a:ln>
        </p:spPr>
      </p:pic>
      <p:pic>
        <p:nvPicPr>
          <p:cNvPr id="1559" name="Google Shape;1559;p67"/>
          <p:cNvPicPr preferRelativeResize="0"/>
          <p:nvPr/>
        </p:nvPicPr>
        <p:blipFill>
          <a:blip r:embed="rId8">
            <a:alphaModFix/>
          </a:blip>
          <a:stretch>
            <a:fillRect/>
          </a:stretch>
        </p:blipFill>
        <p:spPr>
          <a:xfrm>
            <a:off x="8369125" y="0"/>
            <a:ext cx="774877" cy="86717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64"/>
        <p:cNvGrpSpPr/>
        <p:nvPr/>
      </p:nvGrpSpPr>
      <p:grpSpPr>
        <a:xfrm>
          <a:off x="0" y="0"/>
          <a:ext cx="0" cy="0"/>
          <a:chOff x="0" y="0"/>
          <a:chExt cx="0" cy="0"/>
        </a:xfrm>
      </p:grpSpPr>
      <p:sp>
        <p:nvSpPr>
          <p:cNvPr id="1565" name="Google Shape;1565;p68"/>
          <p:cNvSpPr/>
          <p:nvPr/>
        </p:nvSpPr>
        <p:spPr>
          <a:xfrm>
            <a:off x="320104" y="305785"/>
            <a:ext cx="850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2100"/>
              <a:buFont typeface="Calibri"/>
              <a:buNone/>
            </a:pPr>
            <a:r>
              <a:rPr lang="en" sz="2600" b="1">
                <a:solidFill>
                  <a:srgbClr val="1A1F26"/>
                </a:solidFill>
                <a:latin typeface="Calibri"/>
                <a:ea typeface="Calibri"/>
                <a:cs typeface="Calibri"/>
                <a:sym typeface="Calibri"/>
              </a:rPr>
              <a:t>Quiz 4</a:t>
            </a:r>
            <a:endParaRPr sz="2600" b="0" i="0" u="none" strike="noStrike" cap="none">
              <a:solidFill>
                <a:schemeClr val="dk1"/>
              </a:solidFill>
              <a:latin typeface="Calibri"/>
              <a:ea typeface="Calibri"/>
              <a:cs typeface="Calibri"/>
              <a:sym typeface="Calibri"/>
            </a:endParaRPr>
          </a:p>
        </p:txBody>
      </p:sp>
      <p:pic>
        <p:nvPicPr>
          <p:cNvPr id="1566" name="Google Shape;1566;p68"/>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567" name="Google Shape;1567;p68"/>
          <p:cNvSpPr txBox="1"/>
          <p:nvPr/>
        </p:nvSpPr>
        <p:spPr>
          <a:xfrm>
            <a:off x="354350" y="1467000"/>
            <a:ext cx="6514800" cy="2965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300">
                <a:solidFill>
                  <a:schemeClr val="dk1"/>
                </a:solidFill>
                <a:latin typeface="Calibri"/>
                <a:ea typeface="Calibri"/>
                <a:cs typeface="Calibri"/>
                <a:sym typeface="Calibri"/>
              </a:rPr>
              <a:t>Why are </a:t>
            </a:r>
            <a:r>
              <a:rPr lang="en" sz="1300" b="1">
                <a:solidFill>
                  <a:schemeClr val="dk1"/>
                </a:solidFill>
                <a:latin typeface="Calibri"/>
                <a:ea typeface="Calibri"/>
                <a:cs typeface="Calibri"/>
                <a:sym typeface="Calibri"/>
              </a:rPr>
              <a:t>Positional Encodings</a:t>
            </a:r>
            <a:r>
              <a:rPr lang="en" sz="1300">
                <a:solidFill>
                  <a:schemeClr val="dk1"/>
                </a:solidFill>
                <a:latin typeface="Calibri"/>
                <a:ea typeface="Calibri"/>
                <a:cs typeface="Calibri"/>
                <a:sym typeface="Calibri"/>
              </a:rPr>
              <a:t> added to the input embeddings in a Transformer model?</a:t>
            </a:r>
            <a:endParaRPr sz="1300">
              <a:solidFill>
                <a:schemeClr val="dk1"/>
              </a:solidFill>
              <a:latin typeface="Calibri"/>
              <a:ea typeface="Calibri"/>
              <a:cs typeface="Calibri"/>
              <a:sym typeface="Calibri"/>
            </a:endParaRPr>
          </a:p>
          <a:p>
            <a:pPr marL="457200" lvl="0" indent="0" algn="l" rtl="0">
              <a:lnSpc>
                <a:spcPct val="115000"/>
              </a:lnSpc>
              <a:spcBef>
                <a:spcPts val="1200"/>
              </a:spcBef>
              <a:spcAft>
                <a:spcPts val="0"/>
              </a:spcAft>
              <a:buNone/>
            </a:pPr>
            <a:r>
              <a:rPr lang="en" sz="1300" b="1">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To reduce the total number of parameters in the model.</a:t>
            </a:r>
            <a:endParaRPr sz="1300">
              <a:solidFill>
                <a:schemeClr val="dk1"/>
              </a:solidFill>
              <a:latin typeface="Calibri"/>
              <a:ea typeface="Calibri"/>
              <a:cs typeface="Calibri"/>
              <a:sym typeface="Calibri"/>
            </a:endParaRPr>
          </a:p>
          <a:p>
            <a:pPr marL="457200" lvl="0" indent="0" algn="l" rtl="0">
              <a:lnSpc>
                <a:spcPct val="115000"/>
              </a:lnSpc>
              <a:spcBef>
                <a:spcPts val="1200"/>
              </a:spcBef>
              <a:spcAft>
                <a:spcPts val="0"/>
              </a:spcAft>
              <a:buNone/>
            </a:pPr>
            <a:r>
              <a:rPr lang="en" sz="1300" b="1">
                <a:solidFill>
                  <a:schemeClr val="dk1"/>
                </a:solidFill>
                <a:latin typeface="Calibri"/>
                <a:ea typeface="Calibri"/>
                <a:cs typeface="Calibri"/>
                <a:sym typeface="Calibri"/>
              </a:rPr>
              <a:t>B)</a:t>
            </a:r>
            <a:r>
              <a:rPr lang="en" sz="1300">
                <a:solidFill>
                  <a:schemeClr val="dk1"/>
                </a:solidFill>
                <a:latin typeface="Calibri"/>
                <a:ea typeface="Calibri"/>
                <a:cs typeface="Calibri"/>
                <a:sym typeface="Calibri"/>
              </a:rPr>
              <a:t> To allow the model to process tokens sequentially like an RNN.</a:t>
            </a:r>
            <a:endParaRPr sz="1300">
              <a:solidFill>
                <a:schemeClr val="dk1"/>
              </a:solidFill>
              <a:latin typeface="Calibri"/>
              <a:ea typeface="Calibri"/>
              <a:cs typeface="Calibri"/>
              <a:sym typeface="Calibri"/>
            </a:endParaRPr>
          </a:p>
          <a:p>
            <a:pPr marL="457200" lvl="0" indent="0" algn="l" rtl="0">
              <a:lnSpc>
                <a:spcPct val="115000"/>
              </a:lnSpc>
              <a:spcBef>
                <a:spcPts val="1200"/>
              </a:spcBef>
              <a:spcAft>
                <a:spcPts val="0"/>
              </a:spcAft>
              <a:buNone/>
            </a:pPr>
            <a:r>
              <a:rPr lang="en" sz="1300" b="1">
                <a:solidFill>
                  <a:schemeClr val="dk1"/>
                </a:solidFill>
                <a:latin typeface="Calibri"/>
                <a:ea typeface="Calibri"/>
                <a:cs typeface="Calibri"/>
                <a:sym typeface="Calibri"/>
              </a:rPr>
              <a:t>C)</a:t>
            </a:r>
            <a:r>
              <a:rPr lang="en" sz="1300">
                <a:solidFill>
                  <a:schemeClr val="dk1"/>
                </a:solidFill>
                <a:latin typeface="Calibri"/>
                <a:ea typeface="Calibri"/>
                <a:cs typeface="Calibri"/>
                <a:sym typeface="Calibri"/>
              </a:rPr>
              <a:t> To provide the model with information about the order or position of words, since the attention mechanism itself is permutation-invariant (it doesn't inherently know word order).</a:t>
            </a:r>
            <a:endParaRPr sz="1300">
              <a:solidFill>
                <a:schemeClr val="dk1"/>
              </a:solidFill>
              <a:latin typeface="Calibri"/>
              <a:ea typeface="Calibri"/>
              <a:cs typeface="Calibri"/>
              <a:sym typeface="Calibri"/>
            </a:endParaRPr>
          </a:p>
          <a:p>
            <a:pPr marL="457200" lvl="0" indent="0" algn="l" rtl="0">
              <a:lnSpc>
                <a:spcPct val="115000"/>
              </a:lnSpc>
              <a:spcBef>
                <a:spcPts val="1200"/>
              </a:spcBef>
              <a:spcAft>
                <a:spcPts val="0"/>
              </a:spcAft>
              <a:buNone/>
            </a:pPr>
            <a:r>
              <a:rPr lang="en" sz="1300" b="1">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To normalize the input data before it enters the Multi-Head Attention layer.</a:t>
            </a:r>
            <a:endParaRPr sz="1300">
              <a:solidFill>
                <a:schemeClr val="dk1"/>
              </a:solidFill>
              <a:latin typeface="Calibri"/>
              <a:ea typeface="Calibri"/>
              <a:cs typeface="Calibri"/>
              <a:sym typeface="Calibri"/>
            </a:endParaRPr>
          </a:p>
          <a:p>
            <a:pPr marL="0" lvl="0" indent="0" algn="l" rtl="0">
              <a:spcBef>
                <a:spcPts val="120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p:txBody>
      </p:sp>
      <p:pic>
        <p:nvPicPr>
          <p:cNvPr id="1568" name="Google Shape;1568;p68"/>
          <p:cNvPicPr preferRelativeResize="0"/>
          <p:nvPr/>
        </p:nvPicPr>
        <p:blipFill>
          <a:blip r:embed="rId5">
            <a:alphaModFix/>
          </a:blip>
          <a:stretch>
            <a:fillRect/>
          </a:stretch>
        </p:blipFill>
        <p:spPr>
          <a:xfrm>
            <a:off x="6877029" y="1019675"/>
            <a:ext cx="2114571" cy="29652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3"/>
        <p:cNvGrpSpPr/>
        <p:nvPr/>
      </p:nvGrpSpPr>
      <p:grpSpPr>
        <a:xfrm>
          <a:off x="0" y="0"/>
          <a:ext cx="0" cy="0"/>
          <a:chOff x="0" y="0"/>
          <a:chExt cx="0" cy="0"/>
        </a:xfrm>
      </p:grpSpPr>
      <p:sp>
        <p:nvSpPr>
          <p:cNvPr id="1574" name="Google Shape;1574;p69"/>
          <p:cNvSpPr/>
          <p:nvPr/>
        </p:nvSpPr>
        <p:spPr>
          <a:xfrm>
            <a:off x="320104" y="305785"/>
            <a:ext cx="850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2100"/>
              <a:buFont typeface="Calibri"/>
              <a:buNone/>
            </a:pPr>
            <a:r>
              <a:rPr lang="en" sz="2600" b="1">
                <a:solidFill>
                  <a:srgbClr val="1A1F26"/>
                </a:solidFill>
                <a:latin typeface="Calibri"/>
                <a:ea typeface="Calibri"/>
                <a:cs typeface="Calibri"/>
                <a:sym typeface="Calibri"/>
              </a:rPr>
              <a:t>Quiz 4</a:t>
            </a:r>
            <a:endParaRPr sz="2600" b="0" i="0" u="none" strike="noStrike" cap="none">
              <a:solidFill>
                <a:schemeClr val="dk1"/>
              </a:solidFill>
              <a:latin typeface="Calibri"/>
              <a:ea typeface="Calibri"/>
              <a:cs typeface="Calibri"/>
              <a:sym typeface="Calibri"/>
            </a:endParaRPr>
          </a:p>
        </p:txBody>
      </p:sp>
      <p:pic>
        <p:nvPicPr>
          <p:cNvPr id="1575" name="Google Shape;1575;p69"/>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576" name="Google Shape;1576;p69"/>
          <p:cNvSpPr txBox="1"/>
          <p:nvPr/>
        </p:nvSpPr>
        <p:spPr>
          <a:xfrm>
            <a:off x="69325" y="1237550"/>
            <a:ext cx="6719700" cy="2753700"/>
          </a:xfrm>
          <a:prstGeom prst="rect">
            <a:avLst/>
          </a:prstGeom>
          <a:noFill/>
          <a:ln>
            <a:noFill/>
          </a:ln>
        </p:spPr>
        <p:txBody>
          <a:bodyPr spcFirstLastPara="1" wrap="square" lIns="72550" tIns="72550" rIns="72550" bIns="72550" anchor="t" anchorCtr="0">
            <a:spAutoFit/>
          </a:bodyPr>
          <a:lstStyle/>
          <a:p>
            <a:pPr marL="0" lvl="0" indent="0" algn="l" rtl="0">
              <a:lnSpc>
                <a:spcPct val="115000"/>
              </a:lnSpc>
              <a:spcBef>
                <a:spcPts val="952"/>
              </a:spcBef>
              <a:spcAft>
                <a:spcPts val="0"/>
              </a:spcAft>
              <a:buNone/>
            </a:pPr>
            <a:r>
              <a:rPr lang="en" sz="1190">
                <a:solidFill>
                  <a:schemeClr val="dk1"/>
                </a:solidFill>
                <a:latin typeface="Calibri"/>
                <a:ea typeface="Calibri"/>
                <a:cs typeface="Calibri"/>
                <a:sym typeface="Calibri"/>
              </a:rPr>
              <a:t>Why are </a:t>
            </a:r>
            <a:r>
              <a:rPr lang="en" sz="1190" b="1">
                <a:solidFill>
                  <a:schemeClr val="dk1"/>
                </a:solidFill>
                <a:latin typeface="Calibri"/>
                <a:ea typeface="Calibri"/>
                <a:cs typeface="Calibri"/>
                <a:sym typeface="Calibri"/>
              </a:rPr>
              <a:t>Positional Encodings</a:t>
            </a:r>
            <a:r>
              <a:rPr lang="en" sz="1190">
                <a:solidFill>
                  <a:schemeClr val="dk1"/>
                </a:solidFill>
                <a:latin typeface="Calibri"/>
                <a:ea typeface="Calibri"/>
                <a:cs typeface="Calibri"/>
                <a:sym typeface="Calibri"/>
              </a:rPr>
              <a:t> added to the input embeddings in a Transformer model?</a:t>
            </a:r>
            <a:endParaRPr sz="1190">
              <a:solidFill>
                <a:schemeClr val="dk1"/>
              </a:solidFill>
              <a:latin typeface="Calibri"/>
              <a:ea typeface="Calibri"/>
              <a:cs typeface="Calibri"/>
              <a:sym typeface="Calibri"/>
            </a:endParaRPr>
          </a:p>
          <a:p>
            <a:pPr marL="362735" lvl="0" indent="0" algn="l" rtl="0">
              <a:lnSpc>
                <a:spcPct val="115000"/>
              </a:lnSpc>
              <a:spcBef>
                <a:spcPts val="952"/>
              </a:spcBef>
              <a:spcAft>
                <a:spcPts val="0"/>
              </a:spcAft>
              <a:buNone/>
            </a:pPr>
            <a:r>
              <a:rPr lang="en" sz="1190" b="1">
                <a:solidFill>
                  <a:schemeClr val="dk1"/>
                </a:solidFill>
                <a:latin typeface="Calibri"/>
                <a:ea typeface="Calibri"/>
                <a:cs typeface="Calibri"/>
                <a:sym typeface="Calibri"/>
              </a:rPr>
              <a:t>A)</a:t>
            </a:r>
            <a:r>
              <a:rPr lang="en" sz="1190">
                <a:solidFill>
                  <a:schemeClr val="dk1"/>
                </a:solidFill>
                <a:latin typeface="Calibri"/>
                <a:ea typeface="Calibri"/>
                <a:cs typeface="Calibri"/>
                <a:sym typeface="Calibri"/>
              </a:rPr>
              <a:t> To reduce the total number of parameters in the model.</a:t>
            </a:r>
            <a:endParaRPr sz="1190">
              <a:solidFill>
                <a:schemeClr val="dk1"/>
              </a:solidFill>
              <a:latin typeface="Calibri"/>
              <a:ea typeface="Calibri"/>
              <a:cs typeface="Calibri"/>
              <a:sym typeface="Calibri"/>
            </a:endParaRPr>
          </a:p>
          <a:p>
            <a:pPr marL="362735" lvl="0" indent="0" algn="l" rtl="0">
              <a:lnSpc>
                <a:spcPct val="115000"/>
              </a:lnSpc>
              <a:spcBef>
                <a:spcPts val="952"/>
              </a:spcBef>
              <a:spcAft>
                <a:spcPts val="0"/>
              </a:spcAft>
              <a:buNone/>
            </a:pPr>
            <a:r>
              <a:rPr lang="en" sz="1190" b="1">
                <a:solidFill>
                  <a:schemeClr val="dk1"/>
                </a:solidFill>
                <a:latin typeface="Calibri"/>
                <a:ea typeface="Calibri"/>
                <a:cs typeface="Calibri"/>
                <a:sym typeface="Calibri"/>
              </a:rPr>
              <a:t>B)</a:t>
            </a:r>
            <a:r>
              <a:rPr lang="en" sz="1190">
                <a:solidFill>
                  <a:schemeClr val="dk1"/>
                </a:solidFill>
                <a:latin typeface="Calibri"/>
                <a:ea typeface="Calibri"/>
                <a:cs typeface="Calibri"/>
                <a:sym typeface="Calibri"/>
              </a:rPr>
              <a:t> To allow the model to process tokens sequentially like an RNN.</a:t>
            </a:r>
            <a:endParaRPr sz="1190">
              <a:solidFill>
                <a:schemeClr val="dk1"/>
              </a:solidFill>
              <a:latin typeface="Calibri"/>
              <a:ea typeface="Calibri"/>
              <a:cs typeface="Calibri"/>
              <a:sym typeface="Calibri"/>
            </a:endParaRPr>
          </a:p>
          <a:p>
            <a:pPr marL="362735" lvl="0" indent="0" algn="l" rtl="0">
              <a:lnSpc>
                <a:spcPct val="115000"/>
              </a:lnSpc>
              <a:spcBef>
                <a:spcPts val="952"/>
              </a:spcBef>
              <a:spcAft>
                <a:spcPts val="0"/>
              </a:spcAft>
              <a:buNone/>
            </a:pPr>
            <a:r>
              <a:rPr lang="en" sz="1190" b="1">
                <a:solidFill>
                  <a:schemeClr val="dk1"/>
                </a:solidFill>
                <a:latin typeface="Calibri"/>
                <a:ea typeface="Calibri"/>
                <a:cs typeface="Calibri"/>
                <a:sym typeface="Calibri"/>
              </a:rPr>
              <a:t>C)</a:t>
            </a:r>
            <a:r>
              <a:rPr lang="en" sz="1190">
                <a:solidFill>
                  <a:schemeClr val="dk1"/>
                </a:solidFill>
                <a:latin typeface="Calibri"/>
                <a:ea typeface="Calibri"/>
                <a:cs typeface="Calibri"/>
                <a:sym typeface="Calibri"/>
              </a:rPr>
              <a:t> To provide the model with information about the order or position of words, since the attention mechanism itself is permutation-invariant (it doesn't inherently know word order).</a:t>
            </a:r>
            <a:endParaRPr sz="1190">
              <a:solidFill>
                <a:schemeClr val="dk1"/>
              </a:solidFill>
              <a:latin typeface="Calibri"/>
              <a:ea typeface="Calibri"/>
              <a:cs typeface="Calibri"/>
              <a:sym typeface="Calibri"/>
            </a:endParaRPr>
          </a:p>
          <a:p>
            <a:pPr marL="362735" lvl="0" indent="0" algn="l" rtl="0">
              <a:lnSpc>
                <a:spcPct val="115000"/>
              </a:lnSpc>
              <a:spcBef>
                <a:spcPts val="952"/>
              </a:spcBef>
              <a:spcAft>
                <a:spcPts val="0"/>
              </a:spcAft>
              <a:buNone/>
            </a:pPr>
            <a:r>
              <a:rPr lang="en" sz="1190" b="1">
                <a:solidFill>
                  <a:schemeClr val="dk1"/>
                </a:solidFill>
                <a:latin typeface="Calibri"/>
                <a:ea typeface="Calibri"/>
                <a:cs typeface="Calibri"/>
                <a:sym typeface="Calibri"/>
              </a:rPr>
              <a:t>D)</a:t>
            </a:r>
            <a:r>
              <a:rPr lang="en" sz="1190">
                <a:solidFill>
                  <a:schemeClr val="dk1"/>
                </a:solidFill>
                <a:latin typeface="Calibri"/>
                <a:ea typeface="Calibri"/>
                <a:cs typeface="Calibri"/>
                <a:sym typeface="Calibri"/>
              </a:rPr>
              <a:t> To normalize the input data before it enters the Multi-Head Attention layer.</a:t>
            </a:r>
            <a:endParaRPr sz="1190">
              <a:solidFill>
                <a:schemeClr val="dk1"/>
              </a:solidFill>
              <a:latin typeface="Calibri"/>
              <a:ea typeface="Calibri"/>
              <a:cs typeface="Calibri"/>
              <a:sym typeface="Calibri"/>
            </a:endParaRPr>
          </a:p>
          <a:p>
            <a:pPr marL="0" lvl="0" indent="0" algn="l" rtl="0">
              <a:spcBef>
                <a:spcPts val="952"/>
              </a:spcBef>
              <a:spcAft>
                <a:spcPts val="0"/>
              </a:spcAft>
              <a:buNone/>
            </a:pPr>
            <a:endParaRPr sz="1190">
              <a:solidFill>
                <a:schemeClr val="dk1"/>
              </a:solidFill>
              <a:latin typeface="Calibri"/>
              <a:ea typeface="Calibri"/>
              <a:cs typeface="Calibri"/>
              <a:sym typeface="Calibri"/>
            </a:endParaRPr>
          </a:p>
          <a:p>
            <a:pPr marL="0" lvl="0" indent="0" algn="l" rtl="0">
              <a:spcBef>
                <a:spcPts val="0"/>
              </a:spcBef>
              <a:spcAft>
                <a:spcPts val="0"/>
              </a:spcAft>
              <a:buNone/>
            </a:pPr>
            <a:r>
              <a:rPr lang="en" sz="1190">
                <a:solidFill>
                  <a:schemeClr val="dk1"/>
                </a:solidFill>
                <a:latin typeface="Calibri"/>
                <a:ea typeface="Calibri"/>
                <a:cs typeface="Calibri"/>
                <a:sym typeface="Calibri"/>
              </a:rPr>
              <a:t>Explanation : Unlike RNNs, which process words one by one, Transformers process all words in a sequence simultaneously. Without Positional Encodings, the model would treat the sentence "The cat chased the mouse" exactly the same as "The mouse chased the cat."</a:t>
            </a:r>
            <a:endParaRPr sz="1190">
              <a:solidFill>
                <a:schemeClr val="dk1"/>
              </a:solidFill>
              <a:latin typeface="Calibri"/>
              <a:ea typeface="Calibri"/>
              <a:cs typeface="Calibri"/>
              <a:sym typeface="Calibri"/>
            </a:endParaRPr>
          </a:p>
        </p:txBody>
      </p:sp>
      <p:pic>
        <p:nvPicPr>
          <p:cNvPr id="1577" name="Google Shape;1577;p69" descr="preencoded.png"/>
          <p:cNvPicPr preferRelativeResize="0"/>
          <p:nvPr/>
        </p:nvPicPr>
        <p:blipFill rotWithShape="1">
          <a:blip r:embed="rId5">
            <a:alphaModFix/>
          </a:blip>
          <a:srcRect/>
          <a:stretch/>
        </p:blipFill>
        <p:spPr>
          <a:xfrm>
            <a:off x="4552438" y="1851377"/>
            <a:ext cx="188622" cy="188622"/>
          </a:xfrm>
          <a:prstGeom prst="rect">
            <a:avLst/>
          </a:prstGeom>
          <a:noFill/>
          <a:ln>
            <a:noFill/>
          </a:ln>
        </p:spPr>
      </p:pic>
      <p:pic>
        <p:nvPicPr>
          <p:cNvPr id="1578" name="Google Shape;1578;p69" descr="preencoded.png"/>
          <p:cNvPicPr preferRelativeResize="0"/>
          <p:nvPr/>
        </p:nvPicPr>
        <p:blipFill rotWithShape="1">
          <a:blip r:embed="rId6">
            <a:alphaModFix/>
          </a:blip>
          <a:srcRect/>
          <a:stretch/>
        </p:blipFill>
        <p:spPr>
          <a:xfrm>
            <a:off x="5607362" y="2520157"/>
            <a:ext cx="188622" cy="188622"/>
          </a:xfrm>
          <a:prstGeom prst="rect">
            <a:avLst/>
          </a:prstGeom>
          <a:noFill/>
          <a:ln>
            <a:noFill/>
          </a:ln>
        </p:spPr>
      </p:pic>
      <p:pic>
        <p:nvPicPr>
          <p:cNvPr id="1579" name="Google Shape;1579;p69"/>
          <p:cNvPicPr preferRelativeResize="0"/>
          <p:nvPr/>
        </p:nvPicPr>
        <p:blipFill>
          <a:blip r:embed="rId7">
            <a:alphaModFix/>
          </a:blip>
          <a:stretch>
            <a:fillRect/>
          </a:stretch>
        </p:blipFill>
        <p:spPr>
          <a:xfrm>
            <a:off x="6877029" y="1019675"/>
            <a:ext cx="2114571" cy="29652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84"/>
        <p:cNvGrpSpPr/>
        <p:nvPr/>
      </p:nvGrpSpPr>
      <p:grpSpPr>
        <a:xfrm>
          <a:off x="0" y="0"/>
          <a:ext cx="0" cy="0"/>
          <a:chOff x="0" y="0"/>
          <a:chExt cx="0" cy="0"/>
        </a:xfrm>
      </p:grpSpPr>
      <p:sp>
        <p:nvSpPr>
          <p:cNvPr id="1585" name="Google Shape;1585;p70"/>
          <p:cNvSpPr/>
          <p:nvPr/>
        </p:nvSpPr>
        <p:spPr>
          <a:xfrm>
            <a:off x="320104" y="305785"/>
            <a:ext cx="850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2100"/>
              <a:buFont typeface="Calibri"/>
              <a:buNone/>
            </a:pPr>
            <a:r>
              <a:rPr lang="en" sz="2600" b="1">
                <a:solidFill>
                  <a:srgbClr val="1A1F26"/>
                </a:solidFill>
                <a:latin typeface="Calibri"/>
                <a:ea typeface="Calibri"/>
                <a:cs typeface="Calibri"/>
                <a:sym typeface="Calibri"/>
              </a:rPr>
              <a:t>Quiz 4 (Explanation)</a:t>
            </a:r>
            <a:endParaRPr sz="2600" b="0" i="0" u="none" strike="noStrike" cap="none">
              <a:solidFill>
                <a:schemeClr val="dk1"/>
              </a:solidFill>
              <a:latin typeface="Calibri"/>
              <a:ea typeface="Calibri"/>
              <a:cs typeface="Calibri"/>
              <a:sym typeface="Calibri"/>
            </a:endParaRPr>
          </a:p>
        </p:txBody>
      </p:sp>
      <p:pic>
        <p:nvPicPr>
          <p:cNvPr id="1586" name="Google Shape;1586;p70"/>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587" name="Google Shape;1587;p70"/>
          <p:cNvSpPr txBox="1"/>
          <p:nvPr/>
        </p:nvSpPr>
        <p:spPr>
          <a:xfrm>
            <a:off x="602225" y="2146000"/>
            <a:ext cx="406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t>
            </a:r>
            <a:endParaRPr/>
          </a:p>
        </p:txBody>
      </p:sp>
      <p:sp>
        <p:nvSpPr>
          <p:cNvPr id="1588" name="Google Shape;1588;p70"/>
          <p:cNvSpPr/>
          <p:nvPr/>
        </p:nvSpPr>
        <p:spPr>
          <a:xfrm>
            <a:off x="411480" y="1143000"/>
            <a:ext cx="8321100" cy="658500"/>
          </a:xfrm>
          <a:prstGeom prst="roundRect">
            <a:avLst>
              <a:gd name="adj" fmla="val 11111"/>
            </a:avLst>
          </a:prstGeom>
          <a:solidFill>
            <a:srgbClr val="FFFFFF"/>
          </a:solidFill>
          <a:ln w="9525" cap="flat" cmpd="sng">
            <a:solidFill>
              <a:srgbClr val="E2E8F0"/>
            </a:solidFill>
            <a:prstDash val="solid"/>
            <a:round/>
            <a:headEnd type="none" w="sm" len="sm"/>
            <a:tailEnd type="none" w="sm" len="sm"/>
          </a:ln>
          <a:effectLst>
            <a:outerShdw blurRad="63500" dist="12700" dir="27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70"/>
          <p:cNvSpPr/>
          <p:nvPr/>
        </p:nvSpPr>
        <p:spPr>
          <a:xfrm>
            <a:off x="530352" y="1344168"/>
            <a:ext cx="255900" cy="255900"/>
          </a:xfrm>
          <a:prstGeom prst="roundRect">
            <a:avLst>
              <a:gd name="adj" fmla="val 14286"/>
            </a:avLst>
          </a:prstGeom>
          <a:solidFill>
            <a:srgbClr val="4755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70"/>
          <p:cNvSpPr/>
          <p:nvPr/>
        </p:nvSpPr>
        <p:spPr>
          <a:xfrm>
            <a:off x="530352" y="1344168"/>
            <a:ext cx="255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A</a:t>
            </a:r>
            <a:endParaRPr sz="1100" b="0" i="0" u="none" strike="noStrike" cap="none">
              <a:solidFill>
                <a:srgbClr val="000000"/>
              </a:solidFill>
              <a:latin typeface="Calibri"/>
              <a:ea typeface="Calibri"/>
              <a:cs typeface="Calibri"/>
              <a:sym typeface="Calibri"/>
            </a:endParaRPr>
          </a:p>
        </p:txBody>
      </p:sp>
      <p:sp>
        <p:nvSpPr>
          <p:cNvPr id="1591" name="Google Shape;1591;p70"/>
          <p:cNvSpPr/>
          <p:nvPr/>
        </p:nvSpPr>
        <p:spPr>
          <a:xfrm>
            <a:off x="914400" y="1197864"/>
            <a:ext cx="40599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150"/>
              <a:buFont typeface="Calibri"/>
              <a:buNone/>
            </a:pPr>
            <a:r>
              <a:rPr lang="en" sz="1150" b="0" i="0" u="none" strike="noStrike" cap="none">
                <a:solidFill>
                  <a:srgbClr val="1E293B"/>
                </a:solidFill>
                <a:latin typeface="Calibri"/>
                <a:ea typeface="Calibri"/>
                <a:cs typeface="Calibri"/>
                <a:sym typeface="Calibri"/>
              </a:rPr>
              <a:t>To reduce the total number of parameters in the model.</a:t>
            </a:r>
            <a:endParaRPr sz="1150" b="0" i="0" u="none" strike="noStrike" cap="none">
              <a:solidFill>
                <a:srgbClr val="000000"/>
              </a:solidFill>
              <a:latin typeface="Calibri"/>
              <a:ea typeface="Calibri"/>
              <a:cs typeface="Calibri"/>
              <a:sym typeface="Calibri"/>
            </a:endParaRPr>
          </a:p>
        </p:txBody>
      </p:sp>
      <p:cxnSp>
        <p:nvCxnSpPr>
          <p:cNvPr id="1592" name="Google Shape;1592;p70"/>
          <p:cNvCxnSpPr/>
          <p:nvPr/>
        </p:nvCxnSpPr>
        <p:spPr>
          <a:xfrm>
            <a:off x="5102352" y="1243584"/>
            <a:ext cx="0" cy="457200"/>
          </a:xfrm>
          <a:prstGeom prst="straightConnector1">
            <a:avLst/>
          </a:prstGeom>
          <a:noFill/>
          <a:ln w="9525" cap="flat" cmpd="sng">
            <a:solidFill>
              <a:srgbClr val="E2E8F0"/>
            </a:solidFill>
            <a:prstDash val="solid"/>
            <a:round/>
            <a:headEnd type="none" w="sm" len="sm"/>
            <a:tailEnd type="none" w="sm" len="sm"/>
          </a:ln>
        </p:spPr>
      </p:cxnSp>
      <p:sp>
        <p:nvSpPr>
          <p:cNvPr id="1593" name="Google Shape;1593;p70"/>
          <p:cNvSpPr/>
          <p:nvPr/>
        </p:nvSpPr>
        <p:spPr>
          <a:xfrm>
            <a:off x="5221224" y="1197864"/>
            <a:ext cx="30906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50"/>
              <a:buFont typeface="Calibri"/>
              <a:buNone/>
            </a:pPr>
            <a:r>
              <a:rPr lang="en" sz="1050" b="0" i="1" u="none" strike="noStrike" cap="none">
                <a:solidFill>
                  <a:srgbClr val="64748B"/>
                </a:solidFill>
                <a:latin typeface="Calibri"/>
                <a:ea typeface="Calibri"/>
                <a:cs typeface="Calibri"/>
                <a:sym typeface="Calibri"/>
              </a:rPr>
              <a:t>Positional encodings add no trainable parameters (sinusoidal) or very few (learned). Parameter count is not the purpose.</a:t>
            </a:r>
            <a:endParaRPr sz="1050" b="0" i="0" u="none" strike="noStrike" cap="none">
              <a:solidFill>
                <a:srgbClr val="000000"/>
              </a:solidFill>
              <a:latin typeface="Calibri"/>
              <a:ea typeface="Calibri"/>
              <a:cs typeface="Calibri"/>
              <a:sym typeface="Calibri"/>
            </a:endParaRPr>
          </a:p>
        </p:txBody>
      </p:sp>
      <p:pic>
        <p:nvPicPr>
          <p:cNvPr id="1594" name="Google Shape;1594;p70" descr="preencoded.png"/>
          <p:cNvPicPr preferRelativeResize="0"/>
          <p:nvPr/>
        </p:nvPicPr>
        <p:blipFill rotWithShape="1">
          <a:blip r:embed="rId5">
            <a:alphaModFix/>
          </a:blip>
          <a:srcRect/>
          <a:stretch/>
        </p:blipFill>
        <p:spPr>
          <a:xfrm>
            <a:off x="8430768" y="1353312"/>
            <a:ext cx="237744" cy="237744"/>
          </a:xfrm>
          <a:prstGeom prst="rect">
            <a:avLst/>
          </a:prstGeom>
          <a:noFill/>
          <a:ln>
            <a:noFill/>
          </a:ln>
        </p:spPr>
      </p:pic>
      <p:sp>
        <p:nvSpPr>
          <p:cNvPr id="1595" name="Google Shape;1595;p70"/>
          <p:cNvSpPr/>
          <p:nvPr/>
        </p:nvSpPr>
        <p:spPr>
          <a:xfrm>
            <a:off x="411480" y="1874520"/>
            <a:ext cx="8321100" cy="658500"/>
          </a:xfrm>
          <a:prstGeom prst="roundRect">
            <a:avLst>
              <a:gd name="adj" fmla="val 11111"/>
            </a:avLst>
          </a:prstGeom>
          <a:solidFill>
            <a:srgbClr val="FFF7ED"/>
          </a:solidFill>
          <a:ln w="9525" cap="flat" cmpd="sng">
            <a:solidFill>
              <a:srgbClr val="FDBA74"/>
            </a:solidFill>
            <a:prstDash val="solid"/>
            <a:round/>
            <a:headEnd type="none" w="sm" len="sm"/>
            <a:tailEnd type="none" w="sm" len="sm"/>
          </a:ln>
          <a:effectLst>
            <a:outerShdw blurRad="63500" dist="12700" dir="27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70"/>
          <p:cNvSpPr/>
          <p:nvPr/>
        </p:nvSpPr>
        <p:spPr>
          <a:xfrm>
            <a:off x="530352" y="2075688"/>
            <a:ext cx="255900" cy="255900"/>
          </a:xfrm>
          <a:prstGeom prst="roundRect">
            <a:avLst>
              <a:gd name="adj" fmla="val 14286"/>
            </a:avLst>
          </a:prstGeom>
          <a:solidFill>
            <a:srgbClr val="C241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70"/>
          <p:cNvSpPr/>
          <p:nvPr/>
        </p:nvSpPr>
        <p:spPr>
          <a:xfrm>
            <a:off x="530352" y="2075688"/>
            <a:ext cx="255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B</a:t>
            </a:r>
            <a:endParaRPr sz="1100" b="0" i="0" u="none" strike="noStrike" cap="none">
              <a:solidFill>
                <a:srgbClr val="000000"/>
              </a:solidFill>
              <a:latin typeface="Calibri"/>
              <a:ea typeface="Calibri"/>
              <a:cs typeface="Calibri"/>
              <a:sym typeface="Calibri"/>
            </a:endParaRPr>
          </a:p>
        </p:txBody>
      </p:sp>
      <p:sp>
        <p:nvSpPr>
          <p:cNvPr id="1598" name="Google Shape;1598;p70"/>
          <p:cNvSpPr/>
          <p:nvPr/>
        </p:nvSpPr>
        <p:spPr>
          <a:xfrm>
            <a:off x="914400" y="1929384"/>
            <a:ext cx="40599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2410C"/>
              </a:buClr>
              <a:buSzPts val="1150"/>
              <a:buFont typeface="Calibri"/>
              <a:buNone/>
            </a:pPr>
            <a:r>
              <a:rPr lang="en" sz="1150" b="0" i="0" u="none" strike="noStrike" cap="none">
                <a:solidFill>
                  <a:srgbClr val="C2410C"/>
                </a:solidFill>
                <a:latin typeface="Calibri"/>
                <a:ea typeface="Calibri"/>
                <a:cs typeface="Calibri"/>
                <a:sym typeface="Calibri"/>
              </a:rPr>
              <a:t>To allow the model to process tokens sequentially like an RNN.</a:t>
            </a:r>
            <a:endParaRPr sz="1150" b="0" i="0" u="none" strike="noStrike" cap="none">
              <a:solidFill>
                <a:srgbClr val="000000"/>
              </a:solidFill>
              <a:latin typeface="Calibri"/>
              <a:ea typeface="Calibri"/>
              <a:cs typeface="Calibri"/>
              <a:sym typeface="Calibri"/>
            </a:endParaRPr>
          </a:p>
        </p:txBody>
      </p:sp>
      <p:cxnSp>
        <p:nvCxnSpPr>
          <p:cNvPr id="1599" name="Google Shape;1599;p70"/>
          <p:cNvCxnSpPr/>
          <p:nvPr/>
        </p:nvCxnSpPr>
        <p:spPr>
          <a:xfrm>
            <a:off x="5102352" y="1975104"/>
            <a:ext cx="0" cy="457200"/>
          </a:xfrm>
          <a:prstGeom prst="straightConnector1">
            <a:avLst/>
          </a:prstGeom>
          <a:noFill/>
          <a:ln w="9525" cap="flat" cmpd="sng">
            <a:solidFill>
              <a:srgbClr val="FDBA74"/>
            </a:solidFill>
            <a:prstDash val="solid"/>
            <a:round/>
            <a:headEnd type="none" w="sm" len="sm"/>
            <a:tailEnd type="none" w="sm" len="sm"/>
          </a:ln>
        </p:spPr>
      </p:cxnSp>
      <p:sp>
        <p:nvSpPr>
          <p:cNvPr id="1600" name="Google Shape;1600;p70"/>
          <p:cNvSpPr/>
          <p:nvPr/>
        </p:nvSpPr>
        <p:spPr>
          <a:xfrm>
            <a:off x="5221224" y="1929384"/>
            <a:ext cx="30906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2410C"/>
              </a:buClr>
              <a:buSzPts val="1050"/>
              <a:buFont typeface="Calibri"/>
              <a:buNone/>
            </a:pPr>
            <a:r>
              <a:rPr lang="en" sz="1050" b="0" i="1" u="none" strike="noStrike" cap="none">
                <a:solidFill>
                  <a:srgbClr val="C2410C"/>
                </a:solidFill>
                <a:latin typeface="Calibri"/>
                <a:ea typeface="Calibri"/>
                <a:cs typeface="Calibri"/>
                <a:sym typeface="Calibri"/>
              </a:rPr>
              <a:t>Partially misleading. PEs inject order information but the Transformer still processes all tokens in parallel — not sequentially. The mechanism differs fundamentally from an RNN.</a:t>
            </a:r>
            <a:endParaRPr sz="1050" b="0" i="0" u="none" strike="noStrike" cap="none">
              <a:solidFill>
                <a:srgbClr val="000000"/>
              </a:solidFill>
              <a:latin typeface="Calibri"/>
              <a:ea typeface="Calibri"/>
              <a:cs typeface="Calibri"/>
              <a:sym typeface="Calibri"/>
            </a:endParaRPr>
          </a:p>
        </p:txBody>
      </p:sp>
      <p:pic>
        <p:nvPicPr>
          <p:cNvPr id="1601" name="Google Shape;1601;p70" descr="preencoded.png"/>
          <p:cNvPicPr preferRelativeResize="0"/>
          <p:nvPr/>
        </p:nvPicPr>
        <p:blipFill rotWithShape="1">
          <a:blip r:embed="rId6">
            <a:alphaModFix/>
          </a:blip>
          <a:srcRect/>
          <a:stretch/>
        </p:blipFill>
        <p:spPr>
          <a:xfrm>
            <a:off x="8430768" y="2084832"/>
            <a:ext cx="237744" cy="237744"/>
          </a:xfrm>
          <a:prstGeom prst="rect">
            <a:avLst/>
          </a:prstGeom>
          <a:noFill/>
          <a:ln>
            <a:noFill/>
          </a:ln>
        </p:spPr>
      </p:pic>
      <p:sp>
        <p:nvSpPr>
          <p:cNvPr id="1602" name="Google Shape;1602;p70"/>
          <p:cNvSpPr/>
          <p:nvPr/>
        </p:nvSpPr>
        <p:spPr>
          <a:xfrm>
            <a:off x="411480" y="2606040"/>
            <a:ext cx="8321100" cy="658500"/>
          </a:xfrm>
          <a:prstGeom prst="roundRect">
            <a:avLst>
              <a:gd name="adj" fmla="val 11111"/>
            </a:avLst>
          </a:prstGeom>
          <a:solidFill>
            <a:srgbClr val="E8F6EE"/>
          </a:solidFill>
          <a:ln w="12700" cap="flat" cmpd="sng">
            <a:solidFill>
              <a:srgbClr val="97C459"/>
            </a:solidFill>
            <a:prstDash val="solid"/>
            <a:round/>
            <a:headEnd type="none" w="sm" len="sm"/>
            <a:tailEnd type="none" w="sm" len="sm"/>
          </a:ln>
          <a:effectLst>
            <a:outerShdw blurRad="63500" dist="12700" dir="27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70"/>
          <p:cNvSpPr/>
          <p:nvPr/>
        </p:nvSpPr>
        <p:spPr>
          <a:xfrm>
            <a:off x="530352" y="2807208"/>
            <a:ext cx="255900" cy="255900"/>
          </a:xfrm>
          <a:prstGeom prst="roundRect">
            <a:avLst>
              <a:gd name="adj" fmla="val 14286"/>
            </a:avLst>
          </a:prstGeom>
          <a:solidFill>
            <a:srgbClr val="1A6B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70"/>
          <p:cNvSpPr/>
          <p:nvPr/>
        </p:nvSpPr>
        <p:spPr>
          <a:xfrm>
            <a:off x="530352" y="2807208"/>
            <a:ext cx="255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C</a:t>
            </a:r>
            <a:endParaRPr sz="1100" b="0" i="0" u="none" strike="noStrike" cap="none">
              <a:solidFill>
                <a:srgbClr val="000000"/>
              </a:solidFill>
              <a:latin typeface="Calibri"/>
              <a:ea typeface="Calibri"/>
              <a:cs typeface="Calibri"/>
              <a:sym typeface="Calibri"/>
            </a:endParaRPr>
          </a:p>
        </p:txBody>
      </p:sp>
      <p:sp>
        <p:nvSpPr>
          <p:cNvPr id="1605" name="Google Shape;1605;p70"/>
          <p:cNvSpPr/>
          <p:nvPr/>
        </p:nvSpPr>
        <p:spPr>
          <a:xfrm>
            <a:off x="914400" y="2660904"/>
            <a:ext cx="40599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6B3C"/>
              </a:buClr>
              <a:buSzPts val="1150"/>
              <a:buFont typeface="Calibri"/>
              <a:buNone/>
            </a:pPr>
            <a:r>
              <a:rPr lang="en" sz="1150" b="1" i="0" u="none" strike="noStrike" cap="none">
                <a:solidFill>
                  <a:srgbClr val="1A6B3C"/>
                </a:solidFill>
                <a:latin typeface="Calibri"/>
                <a:ea typeface="Calibri"/>
                <a:cs typeface="Calibri"/>
                <a:sym typeface="Calibri"/>
              </a:rPr>
              <a:t>To provide the model with information about the order or position of words, since attention is permutation-invariant and does not inherently know word order.</a:t>
            </a:r>
            <a:endParaRPr sz="1150" b="0" i="0" u="none" strike="noStrike" cap="none">
              <a:solidFill>
                <a:srgbClr val="000000"/>
              </a:solidFill>
              <a:latin typeface="Calibri"/>
              <a:ea typeface="Calibri"/>
              <a:cs typeface="Calibri"/>
              <a:sym typeface="Calibri"/>
            </a:endParaRPr>
          </a:p>
        </p:txBody>
      </p:sp>
      <p:cxnSp>
        <p:nvCxnSpPr>
          <p:cNvPr id="1606" name="Google Shape;1606;p70"/>
          <p:cNvCxnSpPr/>
          <p:nvPr/>
        </p:nvCxnSpPr>
        <p:spPr>
          <a:xfrm>
            <a:off x="5102352" y="2706624"/>
            <a:ext cx="0" cy="457200"/>
          </a:xfrm>
          <a:prstGeom prst="straightConnector1">
            <a:avLst/>
          </a:prstGeom>
          <a:noFill/>
          <a:ln w="9525" cap="flat" cmpd="sng">
            <a:solidFill>
              <a:srgbClr val="97C459"/>
            </a:solidFill>
            <a:prstDash val="solid"/>
            <a:round/>
            <a:headEnd type="none" w="sm" len="sm"/>
            <a:tailEnd type="none" w="sm" len="sm"/>
          </a:ln>
        </p:spPr>
      </p:cxnSp>
      <p:sp>
        <p:nvSpPr>
          <p:cNvPr id="1607" name="Google Shape;1607;p70"/>
          <p:cNvSpPr/>
          <p:nvPr/>
        </p:nvSpPr>
        <p:spPr>
          <a:xfrm>
            <a:off x="5036490" y="2703062"/>
            <a:ext cx="35895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6B3C"/>
              </a:buClr>
              <a:buSzPts val="1050"/>
              <a:buFont typeface="Calibri"/>
              <a:buNone/>
            </a:pPr>
            <a:r>
              <a:rPr lang="en" sz="1050" b="0" i="0" u="none" strike="noStrike" cap="none">
                <a:solidFill>
                  <a:srgbClr val="1A6B3C"/>
                </a:solidFill>
                <a:latin typeface="Calibri"/>
                <a:ea typeface="Calibri"/>
                <a:cs typeface="Calibri"/>
                <a:sym typeface="Calibri"/>
              </a:rPr>
              <a:t>Correct. Self-attention computes the same output regardless of token order. PEs break this symmetry by injecting position signals, letting the model distinguish 'cat chased mouse' from 'mouse chased cat'.</a:t>
            </a:r>
            <a:endParaRPr sz="1050" b="0" i="0" u="none" strike="noStrike" cap="none">
              <a:solidFill>
                <a:srgbClr val="000000"/>
              </a:solidFill>
              <a:latin typeface="Calibri"/>
              <a:ea typeface="Calibri"/>
              <a:cs typeface="Calibri"/>
              <a:sym typeface="Calibri"/>
            </a:endParaRPr>
          </a:p>
        </p:txBody>
      </p:sp>
      <p:pic>
        <p:nvPicPr>
          <p:cNvPr id="1608" name="Google Shape;1608;p70" descr="preencoded.png"/>
          <p:cNvPicPr preferRelativeResize="0"/>
          <p:nvPr/>
        </p:nvPicPr>
        <p:blipFill rotWithShape="1">
          <a:blip r:embed="rId7">
            <a:alphaModFix/>
          </a:blip>
          <a:srcRect/>
          <a:stretch/>
        </p:blipFill>
        <p:spPr>
          <a:xfrm>
            <a:off x="8430768" y="2816352"/>
            <a:ext cx="237744" cy="237744"/>
          </a:xfrm>
          <a:prstGeom prst="rect">
            <a:avLst/>
          </a:prstGeom>
          <a:noFill/>
          <a:ln>
            <a:noFill/>
          </a:ln>
        </p:spPr>
      </p:pic>
      <p:sp>
        <p:nvSpPr>
          <p:cNvPr id="1609" name="Google Shape;1609;p70"/>
          <p:cNvSpPr/>
          <p:nvPr/>
        </p:nvSpPr>
        <p:spPr>
          <a:xfrm>
            <a:off x="411480" y="3337560"/>
            <a:ext cx="8321100" cy="658500"/>
          </a:xfrm>
          <a:prstGeom prst="roundRect">
            <a:avLst>
              <a:gd name="adj" fmla="val 11111"/>
            </a:avLst>
          </a:prstGeom>
          <a:solidFill>
            <a:srgbClr val="FFFFFF"/>
          </a:solidFill>
          <a:ln w="9525" cap="flat" cmpd="sng">
            <a:solidFill>
              <a:srgbClr val="E2E8F0"/>
            </a:solidFill>
            <a:prstDash val="solid"/>
            <a:round/>
            <a:headEnd type="none" w="sm" len="sm"/>
            <a:tailEnd type="none" w="sm" len="sm"/>
          </a:ln>
          <a:effectLst>
            <a:outerShdw blurRad="63500" dist="12700" dir="2700000" algn="bl" rotWithShape="0">
              <a:srgbClr val="000000">
                <a:alpha val="70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70"/>
          <p:cNvSpPr/>
          <p:nvPr/>
        </p:nvSpPr>
        <p:spPr>
          <a:xfrm>
            <a:off x="530352" y="3538728"/>
            <a:ext cx="255900" cy="255900"/>
          </a:xfrm>
          <a:prstGeom prst="roundRect">
            <a:avLst>
              <a:gd name="adj" fmla="val 14286"/>
            </a:avLst>
          </a:prstGeom>
          <a:solidFill>
            <a:srgbClr val="4755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70"/>
          <p:cNvSpPr/>
          <p:nvPr/>
        </p:nvSpPr>
        <p:spPr>
          <a:xfrm>
            <a:off x="530352" y="3538728"/>
            <a:ext cx="255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D</a:t>
            </a:r>
            <a:endParaRPr sz="1100" b="0" i="0" u="none" strike="noStrike" cap="none">
              <a:solidFill>
                <a:srgbClr val="000000"/>
              </a:solidFill>
              <a:latin typeface="Calibri"/>
              <a:ea typeface="Calibri"/>
              <a:cs typeface="Calibri"/>
              <a:sym typeface="Calibri"/>
            </a:endParaRPr>
          </a:p>
        </p:txBody>
      </p:sp>
      <p:sp>
        <p:nvSpPr>
          <p:cNvPr id="1612" name="Google Shape;1612;p70"/>
          <p:cNvSpPr/>
          <p:nvPr/>
        </p:nvSpPr>
        <p:spPr>
          <a:xfrm>
            <a:off x="914400" y="3392424"/>
            <a:ext cx="40599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150"/>
              <a:buFont typeface="Calibri"/>
              <a:buNone/>
            </a:pPr>
            <a:r>
              <a:rPr lang="en" sz="1150" b="0" i="0" u="none" strike="noStrike" cap="none">
                <a:solidFill>
                  <a:srgbClr val="1E293B"/>
                </a:solidFill>
                <a:latin typeface="Calibri"/>
                <a:ea typeface="Calibri"/>
                <a:cs typeface="Calibri"/>
                <a:sym typeface="Calibri"/>
              </a:rPr>
              <a:t>To normalize the input data before it enters the Multi-Head Attention layer.</a:t>
            </a:r>
            <a:endParaRPr sz="1150" b="0" i="0" u="none" strike="noStrike" cap="none">
              <a:solidFill>
                <a:srgbClr val="000000"/>
              </a:solidFill>
              <a:latin typeface="Calibri"/>
              <a:ea typeface="Calibri"/>
              <a:cs typeface="Calibri"/>
              <a:sym typeface="Calibri"/>
            </a:endParaRPr>
          </a:p>
        </p:txBody>
      </p:sp>
      <p:cxnSp>
        <p:nvCxnSpPr>
          <p:cNvPr id="1613" name="Google Shape;1613;p70"/>
          <p:cNvCxnSpPr/>
          <p:nvPr/>
        </p:nvCxnSpPr>
        <p:spPr>
          <a:xfrm>
            <a:off x="5102352" y="3438144"/>
            <a:ext cx="0" cy="457200"/>
          </a:xfrm>
          <a:prstGeom prst="straightConnector1">
            <a:avLst/>
          </a:prstGeom>
          <a:noFill/>
          <a:ln w="9525" cap="flat" cmpd="sng">
            <a:solidFill>
              <a:srgbClr val="E2E8F0"/>
            </a:solidFill>
            <a:prstDash val="solid"/>
            <a:round/>
            <a:headEnd type="none" w="sm" len="sm"/>
            <a:tailEnd type="none" w="sm" len="sm"/>
          </a:ln>
        </p:spPr>
      </p:cxnSp>
      <p:sp>
        <p:nvSpPr>
          <p:cNvPr id="1614" name="Google Shape;1614;p70"/>
          <p:cNvSpPr/>
          <p:nvPr/>
        </p:nvSpPr>
        <p:spPr>
          <a:xfrm>
            <a:off x="5221224" y="3392424"/>
            <a:ext cx="3090600" cy="548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50"/>
              <a:buFont typeface="Calibri"/>
              <a:buNone/>
            </a:pPr>
            <a:r>
              <a:rPr lang="en" sz="1050" b="0" i="1" u="none" strike="noStrike" cap="none">
                <a:solidFill>
                  <a:srgbClr val="64748B"/>
                </a:solidFill>
                <a:latin typeface="Calibri"/>
                <a:ea typeface="Calibri"/>
                <a:cs typeface="Calibri"/>
                <a:sym typeface="Calibri"/>
              </a:rPr>
              <a:t>Normalization is handled by Layer Norm, applied after (not before) the attention sublayer. PEs serve a completely different purpose.</a:t>
            </a:r>
            <a:endParaRPr sz="1050" b="0" i="0" u="none" strike="noStrike" cap="none">
              <a:solidFill>
                <a:srgbClr val="000000"/>
              </a:solidFill>
              <a:latin typeface="Calibri"/>
              <a:ea typeface="Calibri"/>
              <a:cs typeface="Calibri"/>
              <a:sym typeface="Calibri"/>
            </a:endParaRPr>
          </a:p>
        </p:txBody>
      </p:sp>
      <p:pic>
        <p:nvPicPr>
          <p:cNvPr id="1615" name="Google Shape;1615;p70" descr="preencoded.png"/>
          <p:cNvPicPr preferRelativeResize="0"/>
          <p:nvPr/>
        </p:nvPicPr>
        <p:blipFill rotWithShape="1">
          <a:blip r:embed="rId5">
            <a:alphaModFix/>
          </a:blip>
          <a:srcRect/>
          <a:stretch/>
        </p:blipFill>
        <p:spPr>
          <a:xfrm>
            <a:off x="8430768" y="3547872"/>
            <a:ext cx="237744" cy="237744"/>
          </a:xfrm>
          <a:prstGeom prst="rect">
            <a:avLst/>
          </a:prstGeom>
          <a:noFill/>
          <a:ln>
            <a:noFill/>
          </a:ln>
        </p:spPr>
      </p:pic>
      <p:sp>
        <p:nvSpPr>
          <p:cNvPr id="1616" name="Google Shape;1616;p70"/>
          <p:cNvSpPr/>
          <p:nvPr/>
        </p:nvSpPr>
        <p:spPr>
          <a:xfrm>
            <a:off x="411480" y="4151376"/>
            <a:ext cx="8321100" cy="530400"/>
          </a:xfrm>
          <a:prstGeom prst="roundRect">
            <a:avLst>
              <a:gd name="adj" fmla="val 13793"/>
            </a:avLst>
          </a:prstGeom>
          <a:solidFill>
            <a:srgbClr val="FEF3C7"/>
          </a:solidFill>
          <a:ln w="9525" cap="flat" cmpd="sng">
            <a:solidFill>
              <a:srgbClr val="FCD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70"/>
          <p:cNvSpPr/>
          <p:nvPr/>
        </p:nvSpPr>
        <p:spPr>
          <a:xfrm>
            <a:off x="566928" y="4169664"/>
            <a:ext cx="8010000" cy="493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B45309"/>
              </a:buClr>
              <a:buSzPts val="1100"/>
              <a:buFont typeface="Calibri"/>
              <a:buNone/>
            </a:pPr>
            <a:r>
              <a:rPr lang="en" sz="1100" b="1" i="0" u="none" strike="noStrike" cap="none">
                <a:solidFill>
                  <a:srgbClr val="B45309"/>
                </a:solidFill>
                <a:latin typeface="Calibri"/>
                <a:ea typeface="Calibri"/>
                <a:cs typeface="Calibri"/>
                <a:sym typeface="Calibri"/>
              </a:rPr>
              <a:t>Why B is tempting but wrong:  </a:t>
            </a:r>
            <a:r>
              <a:rPr lang="en" sz="1100" b="0" i="0" u="none" strike="noStrike" cap="none">
                <a:solidFill>
                  <a:srgbClr val="B45309"/>
                </a:solidFill>
                <a:latin typeface="Calibri"/>
                <a:ea typeface="Calibri"/>
                <a:cs typeface="Calibri"/>
                <a:sym typeface="Calibri"/>
              </a:rPr>
              <a:t>Positional encodings DO convey order — so B sounds correct. But 'sequential like an RNN' is the wrong framing. Transformers still process all tokens simultaneously in parallel. PEs give the attention mechanism position signals; they do not make the model sequential. C is more precise: PEs exist specifically because self-attention is permutation-invariant.</a:t>
            </a:r>
            <a:endParaRPr sz="1100" b="0" i="0" u="none" strike="noStrike" cap="none">
              <a:solidFill>
                <a:srgbClr val="000000"/>
              </a:solidFill>
              <a:latin typeface="Calibri"/>
              <a:ea typeface="Calibri"/>
              <a:cs typeface="Calibri"/>
              <a:sym typeface="Calibri"/>
            </a:endParaRPr>
          </a:p>
        </p:txBody>
      </p:sp>
      <p:sp>
        <p:nvSpPr>
          <p:cNvPr id="1618" name="Google Shape;1618;p70"/>
          <p:cNvSpPr/>
          <p:nvPr/>
        </p:nvSpPr>
        <p:spPr>
          <a:xfrm>
            <a:off x="411480" y="4736592"/>
            <a:ext cx="8321100" cy="301800"/>
          </a:xfrm>
          <a:prstGeom prst="roundRect">
            <a:avLst>
              <a:gd name="adj" fmla="val 18182"/>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70"/>
          <p:cNvSpPr/>
          <p:nvPr/>
        </p:nvSpPr>
        <p:spPr>
          <a:xfrm>
            <a:off x="566928" y="4745736"/>
            <a:ext cx="80100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50"/>
              <a:buFont typeface="Calibri"/>
              <a:buNone/>
            </a:pPr>
            <a:r>
              <a:rPr lang="en" sz="1050" b="0" i="1" u="none" strike="noStrike" cap="none">
                <a:solidFill>
                  <a:srgbClr val="64748B"/>
                </a:solidFill>
                <a:latin typeface="Calibri"/>
                <a:ea typeface="Calibri"/>
                <a:cs typeface="Calibri"/>
                <a:sym typeface="Calibri"/>
              </a:rPr>
              <a:t>Without PEs: "The cat chased the mouse"  =  "The mouse chased the cat"  (identical to the model)     ·     With PEs: word order is distinguishable</a:t>
            </a:r>
            <a:endParaRPr sz="1050" b="0" i="0" u="none" strike="noStrike" cap="none">
              <a:solidFill>
                <a:srgbClr val="000000"/>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3"/>
        <p:cNvGrpSpPr/>
        <p:nvPr/>
      </p:nvGrpSpPr>
      <p:grpSpPr>
        <a:xfrm>
          <a:off x="0" y="0"/>
          <a:ext cx="0" cy="0"/>
          <a:chOff x="0" y="0"/>
          <a:chExt cx="0" cy="0"/>
        </a:xfrm>
      </p:grpSpPr>
      <p:sp>
        <p:nvSpPr>
          <p:cNvPr id="1624" name="Google Shape;1624;p71" descr="$PPTXTitle"/>
          <p:cNvSpPr txBox="1">
            <a:spLocks noGrp="1"/>
          </p:cNvSpPr>
          <p:nvPr>
            <p:ph type="title"/>
          </p:nvPr>
        </p:nvSpPr>
        <p:spPr>
          <a:xfrm>
            <a:off x="2862293" y="426477"/>
            <a:ext cx="7318500" cy="440700"/>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SzPts val="2800"/>
              <a:buNone/>
            </a:pPr>
            <a:r>
              <a:rPr lang="en" sz="2800"/>
              <a:t>Multi-Head Attention</a:t>
            </a:r>
            <a:endParaRPr sz="2800"/>
          </a:p>
        </p:txBody>
      </p:sp>
      <p:pic>
        <p:nvPicPr>
          <p:cNvPr id="1625" name="Google Shape;1625;p71"/>
          <p:cNvPicPr preferRelativeResize="0"/>
          <p:nvPr/>
        </p:nvPicPr>
        <p:blipFill rotWithShape="1">
          <a:blip r:embed="rId4">
            <a:alphaModFix/>
          </a:blip>
          <a:srcRect/>
          <a:stretch/>
        </p:blipFill>
        <p:spPr>
          <a:xfrm>
            <a:off x="1483965" y="1580837"/>
            <a:ext cx="1691786" cy="2377646"/>
          </a:xfrm>
          <a:prstGeom prst="rect">
            <a:avLst/>
          </a:prstGeom>
          <a:noFill/>
          <a:ln>
            <a:noFill/>
          </a:ln>
        </p:spPr>
      </p:pic>
      <p:pic>
        <p:nvPicPr>
          <p:cNvPr id="1626" name="Google Shape;1626;p71"/>
          <p:cNvPicPr preferRelativeResize="0"/>
          <p:nvPr/>
        </p:nvPicPr>
        <p:blipFill rotWithShape="1">
          <a:blip r:embed="rId5">
            <a:alphaModFix/>
          </a:blip>
          <a:srcRect/>
          <a:stretch/>
        </p:blipFill>
        <p:spPr>
          <a:xfrm>
            <a:off x="3998728" y="1269342"/>
            <a:ext cx="3669348" cy="3132091"/>
          </a:xfrm>
          <a:prstGeom prst="rect">
            <a:avLst/>
          </a:prstGeom>
          <a:noFill/>
          <a:ln>
            <a:noFill/>
          </a:ln>
        </p:spPr>
      </p:pic>
      <p:pic>
        <p:nvPicPr>
          <p:cNvPr id="1627" name="Google Shape;1627;p71"/>
          <p:cNvPicPr preferRelativeResize="0"/>
          <p:nvPr/>
        </p:nvPicPr>
        <p:blipFill>
          <a:blip r:embed="rId6">
            <a:alphaModFix/>
          </a:blip>
          <a:stretch>
            <a:fillRect/>
          </a:stretch>
        </p:blipFill>
        <p:spPr>
          <a:xfrm>
            <a:off x="8369125" y="0"/>
            <a:ext cx="774877" cy="86717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32"/>
        <p:cNvGrpSpPr/>
        <p:nvPr/>
      </p:nvGrpSpPr>
      <p:grpSpPr>
        <a:xfrm>
          <a:off x="0" y="0"/>
          <a:ext cx="0" cy="0"/>
          <a:chOff x="0" y="0"/>
          <a:chExt cx="0" cy="0"/>
        </a:xfrm>
      </p:grpSpPr>
      <p:sp>
        <p:nvSpPr>
          <p:cNvPr id="1633" name="Google Shape;1633;p72"/>
          <p:cNvSpPr/>
          <p:nvPr/>
        </p:nvSpPr>
        <p:spPr>
          <a:xfrm>
            <a:off x="3005811" y="406880"/>
            <a:ext cx="8503800" cy="493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2100"/>
              <a:buFont typeface="Calibri"/>
              <a:buNone/>
            </a:pPr>
            <a:r>
              <a:rPr lang="en" sz="2800" b="1" i="0" u="none" strike="noStrike" cap="none">
                <a:solidFill>
                  <a:srgbClr val="1A1F26"/>
                </a:solidFill>
                <a:latin typeface="Calibri"/>
                <a:ea typeface="Calibri"/>
                <a:cs typeface="Calibri"/>
                <a:sym typeface="Calibri"/>
              </a:rPr>
              <a:t>Why Multiple Heads?</a:t>
            </a:r>
            <a:endParaRPr sz="2800" b="0" i="0" u="none" strike="noStrike" cap="none">
              <a:solidFill>
                <a:schemeClr val="dk1"/>
              </a:solidFill>
              <a:latin typeface="Calibri"/>
              <a:ea typeface="Calibri"/>
              <a:cs typeface="Calibri"/>
              <a:sym typeface="Calibri"/>
            </a:endParaRPr>
          </a:p>
        </p:txBody>
      </p:sp>
      <p:sp>
        <p:nvSpPr>
          <p:cNvPr id="1634" name="Google Shape;1634;p72"/>
          <p:cNvSpPr/>
          <p:nvPr/>
        </p:nvSpPr>
        <p:spPr>
          <a:xfrm>
            <a:off x="308610" y="932019"/>
            <a:ext cx="8503800" cy="24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1000"/>
              <a:buFont typeface="Calibri"/>
              <a:buNone/>
            </a:pPr>
            <a:r>
              <a:rPr lang="en" b="0" i="0" u="none" strike="noStrike" cap="none">
                <a:solidFill>
                  <a:schemeClr val="dk1"/>
                </a:solidFill>
                <a:latin typeface="Calibri"/>
                <a:ea typeface="Calibri"/>
                <a:cs typeface="Calibri"/>
                <a:sym typeface="Calibri"/>
              </a:rPr>
              <a:t>One attention head captures one type of relationship. Language has many.</a:t>
            </a:r>
            <a:endParaRPr b="0" i="0" u="none" strike="noStrike" cap="none">
              <a:solidFill>
                <a:schemeClr val="dk1"/>
              </a:solidFill>
              <a:latin typeface="Calibri"/>
              <a:ea typeface="Calibri"/>
              <a:cs typeface="Calibri"/>
              <a:sym typeface="Calibri"/>
            </a:endParaRPr>
          </a:p>
        </p:txBody>
      </p:sp>
      <p:sp>
        <p:nvSpPr>
          <p:cNvPr id="1635" name="Google Shape;1635;p72"/>
          <p:cNvSpPr/>
          <p:nvPr/>
        </p:nvSpPr>
        <p:spPr>
          <a:xfrm>
            <a:off x="308610" y="1289304"/>
            <a:ext cx="3840600" cy="788700"/>
          </a:xfrm>
          <a:prstGeom prst="rect">
            <a:avLst/>
          </a:prstGeom>
          <a:noFill/>
          <a:ln w="12700" cap="flat" cmpd="sng">
            <a:solidFill>
              <a:srgbClr val="10B98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6" name="Google Shape;1636;p72"/>
          <p:cNvSpPr/>
          <p:nvPr/>
        </p:nvSpPr>
        <p:spPr>
          <a:xfrm>
            <a:off x="445770" y="1344168"/>
            <a:ext cx="3566100" cy="26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900"/>
              <a:buFont typeface="Calibri"/>
              <a:buNone/>
            </a:pPr>
            <a:r>
              <a:rPr lang="en" sz="1100" b="1" i="0" u="none" strike="noStrike" cap="none">
                <a:solidFill>
                  <a:schemeClr val="dk1"/>
                </a:solidFill>
                <a:latin typeface="Calibri"/>
                <a:ea typeface="Calibri"/>
                <a:cs typeface="Calibri"/>
                <a:sym typeface="Calibri"/>
              </a:rPr>
              <a:t>Single Attention Head</a:t>
            </a:r>
            <a:endParaRPr sz="1100" b="0" i="0" u="none" strike="noStrike" cap="none">
              <a:solidFill>
                <a:schemeClr val="dk1"/>
              </a:solidFill>
              <a:latin typeface="Calibri"/>
              <a:ea typeface="Calibri"/>
              <a:cs typeface="Calibri"/>
              <a:sym typeface="Calibri"/>
            </a:endParaRPr>
          </a:p>
        </p:txBody>
      </p:sp>
      <p:sp>
        <p:nvSpPr>
          <p:cNvPr id="1637" name="Google Shape;1637;p72"/>
          <p:cNvSpPr/>
          <p:nvPr/>
        </p:nvSpPr>
        <p:spPr>
          <a:xfrm>
            <a:off x="445770" y="1632204"/>
            <a:ext cx="3566100" cy="356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800"/>
              <a:buFont typeface="Calibri"/>
              <a:buNone/>
            </a:pPr>
            <a:r>
              <a:rPr lang="en" sz="1100" b="0" i="0" u="none" strike="noStrike" cap="none">
                <a:solidFill>
                  <a:schemeClr val="dk1"/>
                </a:solidFill>
                <a:latin typeface="Calibri"/>
                <a:ea typeface="Calibri"/>
                <a:cs typeface="Calibri"/>
                <a:sym typeface="Calibri"/>
              </a:rPr>
              <a:t>One Q,K,V → captures only one type of relationship</a:t>
            </a:r>
            <a:endParaRPr sz="1100" b="0" i="0" u="none" strike="noStrike" cap="none">
              <a:solidFill>
                <a:schemeClr val="dk1"/>
              </a:solidFill>
              <a:latin typeface="Calibri"/>
              <a:ea typeface="Calibri"/>
              <a:cs typeface="Calibri"/>
              <a:sym typeface="Calibri"/>
            </a:endParaRPr>
          </a:p>
        </p:txBody>
      </p:sp>
      <p:sp>
        <p:nvSpPr>
          <p:cNvPr id="1638" name="Google Shape;1638;p72"/>
          <p:cNvSpPr/>
          <p:nvPr/>
        </p:nvSpPr>
        <p:spPr>
          <a:xfrm>
            <a:off x="4251960" y="1495044"/>
            <a:ext cx="342900" cy="377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B21B6"/>
              </a:buClr>
              <a:buSzPts val="1700"/>
              <a:buFont typeface="Calibri"/>
              <a:buNone/>
            </a:pPr>
            <a:r>
              <a:rPr lang="en" sz="1700" b="0" i="0" u="none" strike="noStrike" cap="none">
                <a:solidFill>
                  <a:srgbClr val="5B21B6"/>
                </a:solidFill>
                <a:latin typeface="Calibri"/>
                <a:ea typeface="Calibri"/>
                <a:cs typeface="Calibri"/>
                <a:sym typeface="Calibri"/>
              </a:rPr>
              <a:t>→</a:t>
            </a:r>
            <a:endParaRPr sz="1700" b="0" i="0" u="none" strike="noStrike" cap="none">
              <a:solidFill>
                <a:schemeClr val="dk1"/>
              </a:solidFill>
              <a:latin typeface="Calibri"/>
              <a:ea typeface="Calibri"/>
              <a:cs typeface="Calibri"/>
              <a:sym typeface="Calibri"/>
            </a:endParaRPr>
          </a:p>
        </p:txBody>
      </p:sp>
      <p:sp>
        <p:nvSpPr>
          <p:cNvPr id="1639" name="Google Shape;1639;p72"/>
          <p:cNvSpPr/>
          <p:nvPr/>
        </p:nvSpPr>
        <p:spPr>
          <a:xfrm>
            <a:off x="4697730" y="1289304"/>
            <a:ext cx="4114800" cy="788700"/>
          </a:xfrm>
          <a:prstGeom prst="rect">
            <a:avLst/>
          </a:prstGeom>
          <a:noFill/>
          <a:ln w="12700" cap="flat" cmpd="sng">
            <a:solidFill>
              <a:srgbClr val="00B050"/>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0" name="Google Shape;1640;p72"/>
          <p:cNvSpPr/>
          <p:nvPr/>
        </p:nvSpPr>
        <p:spPr>
          <a:xfrm>
            <a:off x="4834890" y="1344168"/>
            <a:ext cx="3840600" cy="260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900"/>
              <a:buFont typeface="Calibri"/>
              <a:buNone/>
            </a:pPr>
            <a:r>
              <a:rPr lang="en" sz="1100" b="1" i="0" u="none" strike="noStrike" cap="none">
                <a:solidFill>
                  <a:schemeClr val="dk1"/>
                </a:solidFill>
                <a:latin typeface="Calibri"/>
                <a:ea typeface="Calibri"/>
                <a:cs typeface="Calibri"/>
                <a:sym typeface="Calibri"/>
              </a:rPr>
              <a:t>Multi-Head Attention</a:t>
            </a:r>
            <a:endParaRPr sz="1100" b="0" i="0" u="none" strike="noStrike" cap="none">
              <a:solidFill>
                <a:schemeClr val="dk1"/>
              </a:solidFill>
              <a:latin typeface="Calibri"/>
              <a:ea typeface="Calibri"/>
              <a:cs typeface="Calibri"/>
              <a:sym typeface="Calibri"/>
            </a:endParaRPr>
          </a:p>
        </p:txBody>
      </p:sp>
      <p:sp>
        <p:nvSpPr>
          <p:cNvPr id="1641" name="Google Shape;1641;p72"/>
          <p:cNvSpPr/>
          <p:nvPr/>
        </p:nvSpPr>
        <p:spPr>
          <a:xfrm>
            <a:off x="4834890" y="1632204"/>
            <a:ext cx="3840600" cy="356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800"/>
              <a:buFont typeface="Calibri"/>
              <a:buNone/>
            </a:pPr>
            <a:r>
              <a:rPr lang="en" sz="1100" b="0" i="0" u="none" strike="noStrike" cap="none">
                <a:solidFill>
                  <a:schemeClr val="dk1"/>
                </a:solidFill>
                <a:latin typeface="Calibri"/>
                <a:ea typeface="Calibri"/>
                <a:cs typeface="Calibri"/>
                <a:sym typeface="Calibri"/>
              </a:rPr>
              <a:t>h independent heads → captures h different relationship types</a:t>
            </a:r>
            <a:endParaRPr sz="1100" b="0" i="0" u="none" strike="noStrike" cap="none">
              <a:solidFill>
                <a:schemeClr val="dk1"/>
              </a:solidFill>
              <a:latin typeface="Calibri"/>
              <a:ea typeface="Calibri"/>
              <a:cs typeface="Calibri"/>
              <a:sym typeface="Calibri"/>
            </a:endParaRPr>
          </a:p>
        </p:txBody>
      </p:sp>
      <p:sp>
        <p:nvSpPr>
          <p:cNvPr id="1642" name="Google Shape;1642;p72"/>
          <p:cNvSpPr/>
          <p:nvPr/>
        </p:nvSpPr>
        <p:spPr>
          <a:xfrm>
            <a:off x="308610" y="2194560"/>
            <a:ext cx="4183500" cy="994500"/>
          </a:xfrm>
          <a:prstGeom prst="rect">
            <a:avLst/>
          </a:prstGeom>
          <a:noFill/>
          <a:ln w="12700" cap="flat" cmpd="sng">
            <a:solidFill>
              <a:srgbClr val="10B981"/>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3" name="Google Shape;1643;p72"/>
          <p:cNvSpPr/>
          <p:nvPr/>
        </p:nvSpPr>
        <p:spPr>
          <a:xfrm>
            <a:off x="445786" y="2468705"/>
            <a:ext cx="445800" cy="44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alibri"/>
              <a:buNone/>
            </a:pPr>
            <a:r>
              <a:rPr lang="en" sz="1500" b="1" i="0" u="none" strike="noStrike" cap="none">
                <a:solidFill>
                  <a:srgbClr val="1A1F26"/>
                </a:solidFill>
                <a:latin typeface="Calibri"/>
                <a:ea typeface="Calibri"/>
                <a:cs typeface="Calibri"/>
                <a:sym typeface="Calibri"/>
              </a:rPr>
              <a:t>H1</a:t>
            </a:r>
            <a:endParaRPr sz="1500" b="0" i="0" u="none" strike="noStrike" cap="none">
              <a:solidFill>
                <a:schemeClr val="dk1"/>
              </a:solidFill>
              <a:latin typeface="Calibri"/>
              <a:ea typeface="Calibri"/>
              <a:cs typeface="Calibri"/>
              <a:sym typeface="Calibri"/>
            </a:endParaRPr>
          </a:p>
        </p:txBody>
      </p:sp>
      <p:sp>
        <p:nvSpPr>
          <p:cNvPr id="1644" name="Google Shape;1644;p72"/>
          <p:cNvSpPr/>
          <p:nvPr/>
        </p:nvSpPr>
        <p:spPr>
          <a:xfrm>
            <a:off x="1008126" y="2290572"/>
            <a:ext cx="32919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1100"/>
              <a:buFont typeface="Calibri"/>
              <a:buNone/>
            </a:pPr>
            <a:r>
              <a:rPr lang="en" sz="1100" b="1" i="0" u="none" strike="noStrike" cap="none">
                <a:solidFill>
                  <a:srgbClr val="1A1F26"/>
                </a:solidFill>
                <a:latin typeface="Calibri"/>
                <a:ea typeface="Calibri"/>
                <a:cs typeface="Calibri"/>
                <a:sym typeface="Calibri"/>
              </a:rPr>
              <a:t>Coreference</a:t>
            </a:r>
            <a:endParaRPr sz="1100" b="0" i="0" u="none" strike="noStrike" cap="none">
              <a:solidFill>
                <a:schemeClr val="dk1"/>
              </a:solidFill>
              <a:latin typeface="Calibri"/>
              <a:ea typeface="Calibri"/>
              <a:cs typeface="Calibri"/>
              <a:sym typeface="Calibri"/>
            </a:endParaRPr>
          </a:p>
        </p:txBody>
      </p:sp>
      <p:sp>
        <p:nvSpPr>
          <p:cNvPr id="1645" name="Google Shape;1645;p72"/>
          <p:cNvSpPr/>
          <p:nvPr/>
        </p:nvSpPr>
        <p:spPr>
          <a:xfrm>
            <a:off x="1008126" y="2619756"/>
            <a:ext cx="3291900" cy="425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800"/>
              <a:buFont typeface="Calibri"/>
              <a:buNone/>
            </a:pPr>
            <a:r>
              <a:rPr lang="en" sz="1100" b="0" i="1" u="none" strike="noStrike" cap="none">
                <a:solidFill>
                  <a:schemeClr val="dk1"/>
                </a:solidFill>
                <a:latin typeface="Calibri"/>
                <a:ea typeface="Calibri"/>
                <a:cs typeface="Calibri"/>
                <a:sym typeface="Calibri"/>
              </a:rPr>
              <a:t>Example: "it" → "animal"</a:t>
            </a:r>
            <a:endParaRPr sz="1100" b="0" i="0" u="none" strike="noStrike" cap="none">
              <a:solidFill>
                <a:schemeClr val="dk1"/>
              </a:solidFill>
              <a:latin typeface="Calibri"/>
              <a:ea typeface="Calibri"/>
              <a:cs typeface="Calibri"/>
              <a:sym typeface="Calibri"/>
            </a:endParaRPr>
          </a:p>
        </p:txBody>
      </p:sp>
      <p:sp>
        <p:nvSpPr>
          <p:cNvPr id="1646" name="Google Shape;1646;p72"/>
          <p:cNvSpPr/>
          <p:nvPr/>
        </p:nvSpPr>
        <p:spPr>
          <a:xfrm>
            <a:off x="4711446" y="2194560"/>
            <a:ext cx="4183500" cy="994500"/>
          </a:xfrm>
          <a:prstGeom prst="rect">
            <a:avLst/>
          </a:prstGeom>
          <a:noFill/>
          <a:ln w="12700" cap="flat" cmpd="sng">
            <a:solidFill>
              <a:srgbClr val="10B981"/>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7" name="Google Shape;1647;p72"/>
          <p:cNvSpPr/>
          <p:nvPr/>
        </p:nvSpPr>
        <p:spPr>
          <a:xfrm>
            <a:off x="4778672" y="2434609"/>
            <a:ext cx="445800" cy="44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alibri"/>
              <a:buNone/>
            </a:pPr>
            <a:r>
              <a:rPr lang="en" sz="1500" b="1" i="0" u="none" strike="noStrike" cap="none">
                <a:solidFill>
                  <a:srgbClr val="1A1F26"/>
                </a:solidFill>
                <a:latin typeface="Calibri"/>
                <a:ea typeface="Calibri"/>
                <a:cs typeface="Calibri"/>
                <a:sym typeface="Calibri"/>
              </a:rPr>
              <a:t>H2</a:t>
            </a:r>
            <a:endParaRPr sz="1500" b="0" i="0" u="none" strike="noStrike" cap="none">
              <a:solidFill>
                <a:schemeClr val="dk1"/>
              </a:solidFill>
              <a:latin typeface="Calibri"/>
              <a:ea typeface="Calibri"/>
              <a:cs typeface="Calibri"/>
              <a:sym typeface="Calibri"/>
            </a:endParaRPr>
          </a:p>
        </p:txBody>
      </p:sp>
      <p:sp>
        <p:nvSpPr>
          <p:cNvPr id="1648" name="Google Shape;1648;p72"/>
          <p:cNvSpPr/>
          <p:nvPr/>
        </p:nvSpPr>
        <p:spPr>
          <a:xfrm>
            <a:off x="5410962" y="2290572"/>
            <a:ext cx="32919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1100"/>
              <a:buFont typeface="Calibri"/>
              <a:buNone/>
            </a:pPr>
            <a:r>
              <a:rPr lang="en" sz="1100" b="1" i="0" u="none" strike="noStrike" cap="none">
                <a:solidFill>
                  <a:srgbClr val="1A1F26"/>
                </a:solidFill>
                <a:latin typeface="Calibri"/>
                <a:ea typeface="Calibri"/>
                <a:cs typeface="Calibri"/>
                <a:sym typeface="Calibri"/>
              </a:rPr>
              <a:t>Verb–Object</a:t>
            </a:r>
            <a:endParaRPr sz="1100" b="0" i="0" u="none" strike="noStrike" cap="none">
              <a:solidFill>
                <a:schemeClr val="dk1"/>
              </a:solidFill>
              <a:latin typeface="Calibri"/>
              <a:ea typeface="Calibri"/>
              <a:cs typeface="Calibri"/>
              <a:sym typeface="Calibri"/>
            </a:endParaRPr>
          </a:p>
        </p:txBody>
      </p:sp>
      <p:sp>
        <p:nvSpPr>
          <p:cNvPr id="1649" name="Google Shape;1649;p72"/>
          <p:cNvSpPr/>
          <p:nvPr/>
        </p:nvSpPr>
        <p:spPr>
          <a:xfrm>
            <a:off x="5410962" y="2619756"/>
            <a:ext cx="3291900" cy="425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800"/>
              <a:buFont typeface="Calibri"/>
              <a:buNone/>
            </a:pPr>
            <a:r>
              <a:rPr lang="en" sz="1100" b="0" i="1" u="none" strike="noStrike" cap="none">
                <a:solidFill>
                  <a:schemeClr val="dk1"/>
                </a:solidFill>
                <a:latin typeface="Calibri"/>
                <a:ea typeface="Calibri"/>
                <a:cs typeface="Calibri"/>
                <a:sym typeface="Calibri"/>
              </a:rPr>
              <a:t>Example: "cross" → "street"</a:t>
            </a:r>
            <a:endParaRPr sz="1100" b="0" i="0" u="none" strike="noStrike" cap="none">
              <a:solidFill>
                <a:schemeClr val="dk1"/>
              </a:solidFill>
              <a:latin typeface="Calibri"/>
              <a:ea typeface="Calibri"/>
              <a:cs typeface="Calibri"/>
              <a:sym typeface="Calibri"/>
            </a:endParaRPr>
          </a:p>
        </p:txBody>
      </p:sp>
      <p:sp>
        <p:nvSpPr>
          <p:cNvPr id="1650" name="Google Shape;1650;p72"/>
          <p:cNvSpPr/>
          <p:nvPr/>
        </p:nvSpPr>
        <p:spPr>
          <a:xfrm>
            <a:off x="308610" y="3326130"/>
            <a:ext cx="4183500" cy="994500"/>
          </a:xfrm>
          <a:prstGeom prst="rect">
            <a:avLst/>
          </a:prstGeom>
          <a:noFill/>
          <a:ln w="12700" cap="flat" cmpd="sng">
            <a:solidFill>
              <a:srgbClr val="10B981"/>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1" name="Google Shape;1651;p72"/>
          <p:cNvSpPr/>
          <p:nvPr/>
        </p:nvSpPr>
        <p:spPr>
          <a:xfrm>
            <a:off x="435332" y="3617629"/>
            <a:ext cx="445800" cy="44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alibri"/>
              <a:buNone/>
            </a:pPr>
            <a:r>
              <a:rPr lang="en" sz="1500" b="1" i="0" u="none" strike="noStrike" cap="none">
                <a:solidFill>
                  <a:srgbClr val="1A1F26"/>
                </a:solidFill>
                <a:latin typeface="Calibri"/>
                <a:ea typeface="Calibri"/>
                <a:cs typeface="Calibri"/>
                <a:sym typeface="Calibri"/>
              </a:rPr>
              <a:t>H3</a:t>
            </a:r>
            <a:endParaRPr sz="1500" b="0" i="0" u="none" strike="noStrike" cap="none">
              <a:solidFill>
                <a:schemeClr val="dk1"/>
              </a:solidFill>
              <a:latin typeface="Calibri"/>
              <a:ea typeface="Calibri"/>
              <a:cs typeface="Calibri"/>
              <a:sym typeface="Calibri"/>
            </a:endParaRPr>
          </a:p>
        </p:txBody>
      </p:sp>
      <p:sp>
        <p:nvSpPr>
          <p:cNvPr id="1652" name="Google Shape;1652;p72"/>
          <p:cNvSpPr/>
          <p:nvPr/>
        </p:nvSpPr>
        <p:spPr>
          <a:xfrm>
            <a:off x="1008126" y="3422142"/>
            <a:ext cx="32919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1100"/>
              <a:buFont typeface="Calibri"/>
              <a:buNone/>
            </a:pPr>
            <a:r>
              <a:rPr lang="en" sz="1100" b="1" i="0" u="none" strike="noStrike" cap="none">
                <a:solidFill>
                  <a:srgbClr val="1A1F26"/>
                </a:solidFill>
                <a:latin typeface="Calibri"/>
                <a:ea typeface="Calibri"/>
                <a:cs typeface="Calibri"/>
                <a:sym typeface="Calibri"/>
              </a:rPr>
              <a:t>Semantic sim.</a:t>
            </a:r>
            <a:endParaRPr sz="1100" b="0" i="0" u="none" strike="noStrike" cap="none">
              <a:solidFill>
                <a:schemeClr val="dk1"/>
              </a:solidFill>
              <a:latin typeface="Calibri"/>
              <a:ea typeface="Calibri"/>
              <a:cs typeface="Calibri"/>
              <a:sym typeface="Calibri"/>
            </a:endParaRPr>
          </a:p>
        </p:txBody>
      </p:sp>
      <p:sp>
        <p:nvSpPr>
          <p:cNvPr id="1653" name="Google Shape;1653;p72"/>
          <p:cNvSpPr/>
          <p:nvPr/>
        </p:nvSpPr>
        <p:spPr>
          <a:xfrm>
            <a:off x="1008126" y="3751326"/>
            <a:ext cx="3291900" cy="425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800"/>
              <a:buFont typeface="Calibri"/>
              <a:buNone/>
            </a:pPr>
            <a:r>
              <a:rPr lang="en" sz="1100" b="0" i="1" u="none" strike="noStrike" cap="none">
                <a:solidFill>
                  <a:schemeClr val="dk1"/>
                </a:solidFill>
                <a:latin typeface="Calibri"/>
                <a:ea typeface="Calibri"/>
                <a:cs typeface="Calibri"/>
                <a:sym typeface="Calibri"/>
              </a:rPr>
              <a:t>Example: "tired" → "animal"</a:t>
            </a:r>
            <a:endParaRPr sz="1100" b="0" i="0" u="none" strike="noStrike" cap="none">
              <a:solidFill>
                <a:schemeClr val="dk1"/>
              </a:solidFill>
              <a:latin typeface="Calibri"/>
              <a:ea typeface="Calibri"/>
              <a:cs typeface="Calibri"/>
              <a:sym typeface="Calibri"/>
            </a:endParaRPr>
          </a:p>
        </p:txBody>
      </p:sp>
      <p:sp>
        <p:nvSpPr>
          <p:cNvPr id="1654" name="Google Shape;1654;p72"/>
          <p:cNvSpPr/>
          <p:nvPr/>
        </p:nvSpPr>
        <p:spPr>
          <a:xfrm>
            <a:off x="4711446" y="3326130"/>
            <a:ext cx="4183500" cy="994500"/>
          </a:xfrm>
          <a:prstGeom prst="rect">
            <a:avLst/>
          </a:prstGeom>
          <a:noFill/>
          <a:ln w="12700" cap="flat" cmpd="sng">
            <a:solidFill>
              <a:srgbClr val="10B981"/>
            </a:solidFill>
            <a:prstDash val="solid"/>
            <a:round/>
            <a:headEnd type="none" w="sm" len="sm"/>
            <a:tailEnd type="none" w="sm" len="sm"/>
          </a:ln>
          <a:effectLst>
            <a:outerShdw blurRad="152400" dist="50800" dir="8100000" algn="bl" rotWithShape="0">
              <a:srgbClr val="000000">
                <a:alpha val="34900"/>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5" name="Google Shape;1655;p72"/>
          <p:cNvSpPr/>
          <p:nvPr/>
        </p:nvSpPr>
        <p:spPr>
          <a:xfrm>
            <a:off x="4778672" y="3580004"/>
            <a:ext cx="445800" cy="44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1F26"/>
              </a:buClr>
              <a:buSzPts val="1000"/>
              <a:buFont typeface="Calibri"/>
              <a:buNone/>
            </a:pPr>
            <a:r>
              <a:rPr lang="en" sz="1500" b="1" i="0" u="none" strike="noStrike" cap="none">
                <a:solidFill>
                  <a:srgbClr val="1A1F26"/>
                </a:solidFill>
                <a:latin typeface="Calibri"/>
                <a:ea typeface="Calibri"/>
                <a:cs typeface="Calibri"/>
                <a:sym typeface="Calibri"/>
              </a:rPr>
              <a:t>H4</a:t>
            </a:r>
            <a:endParaRPr sz="1500" b="0" i="0" u="none" strike="noStrike" cap="none">
              <a:solidFill>
                <a:schemeClr val="dk1"/>
              </a:solidFill>
              <a:latin typeface="Calibri"/>
              <a:ea typeface="Calibri"/>
              <a:cs typeface="Calibri"/>
              <a:sym typeface="Calibri"/>
            </a:endParaRPr>
          </a:p>
        </p:txBody>
      </p:sp>
      <p:sp>
        <p:nvSpPr>
          <p:cNvPr id="1656" name="Google Shape;1656;p72"/>
          <p:cNvSpPr/>
          <p:nvPr/>
        </p:nvSpPr>
        <p:spPr>
          <a:xfrm>
            <a:off x="5410962" y="3422142"/>
            <a:ext cx="32919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F26"/>
              </a:buClr>
              <a:buSzPts val="1100"/>
              <a:buFont typeface="Calibri"/>
              <a:buNone/>
            </a:pPr>
            <a:r>
              <a:rPr lang="en" sz="1100" b="1" i="0" u="none" strike="noStrike" cap="none">
                <a:solidFill>
                  <a:srgbClr val="1A1F26"/>
                </a:solidFill>
                <a:latin typeface="Calibri"/>
                <a:ea typeface="Calibri"/>
                <a:cs typeface="Calibri"/>
                <a:sym typeface="Calibri"/>
              </a:rPr>
              <a:t>Positional</a:t>
            </a:r>
            <a:endParaRPr sz="1100" b="0" i="0" u="none" strike="noStrike" cap="none">
              <a:solidFill>
                <a:schemeClr val="dk1"/>
              </a:solidFill>
              <a:latin typeface="Calibri"/>
              <a:ea typeface="Calibri"/>
              <a:cs typeface="Calibri"/>
              <a:sym typeface="Calibri"/>
            </a:endParaRPr>
          </a:p>
        </p:txBody>
      </p:sp>
      <p:sp>
        <p:nvSpPr>
          <p:cNvPr id="1657" name="Google Shape;1657;p72"/>
          <p:cNvSpPr/>
          <p:nvPr/>
        </p:nvSpPr>
        <p:spPr>
          <a:xfrm>
            <a:off x="5410962" y="3751326"/>
            <a:ext cx="3291900" cy="425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270"/>
              </a:buClr>
              <a:buSzPts val="800"/>
              <a:buFont typeface="Calibri"/>
              <a:buNone/>
            </a:pPr>
            <a:r>
              <a:rPr lang="en" sz="1100" b="0" i="1" u="none" strike="noStrike" cap="none">
                <a:solidFill>
                  <a:schemeClr val="dk1"/>
                </a:solidFill>
                <a:latin typeface="Calibri"/>
                <a:ea typeface="Calibri"/>
                <a:cs typeface="Calibri"/>
                <a:sym typeface="Calibri"/>
              </a:rPr>
              <a:t>Example: nearby tokens</a:t>
            </a:r>
            <a:endParaRPr sz="1100" b="0" i="0" u="none" strike="noStrike" cap="none">
              <a:solidFill>
                <a:schemeClr val="dk1"/>
              </a:solidFill>
              <a:latin typeface="Calibri"/>
              <a:ea typeface="Calibri"/>
              <a:cs typeface="Calibri"/>
              <a:sym typeface="Calibri"/>
            </a:endParaRPr>
          </a:p>
        </p:txBody>
      </p:sp>
      <p:sp>
        <p:nvSpPr>
          <p:cNvPr id="1658" name="Google Shape;1658;p72"/>
          <p:cNvSpPr/>
          <p:nvPr/>
        </p:nvSpPr>
        <p:spPr>
          <a:xfrm>
            <a:off x="308610" y="4491990"/>
            <a:ext cx="8503800" cy="480000"/>
          </a:xfrm>
          <a:prstGeom prst="rect">
            <a:avLst/>
          </a:prstGeom>
          <a:noFill/>
          <a:ln w="12700" cap="flat" cmpd="sng">
            <a:solidFill>
              <a:srgbClr val="5B21B6">
                <a:alpha val="50200"/>
              </a:srgbClr>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9" name="Google Shape;1659;p72"/>
          <p:cNvSpPr/>
          <p:nvPr/>
        </p:nvSpPr>
        <p:spPr>
          <a:xfrm>
            <a:off x="308610" y="4491990"/>
            <a:ext cx="8503800" cy="48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270"/>
              </a:buClr>
              <a:buSzPts val="1000"/>
              <a:buFont typeface="Calibri"/>
              <a:buNone/>
            </a:pPr>
            <a:r>
              <a:rPr lang="en" b="0" i="0" u="none" strike="noStrike" cap="none">
                <a:solidFill>
                  <a:schemeClr val="dk1"/>
                </a:solidFill>
                <a:latin typeface="Calibri"/>
                <a:ea typeface="Calibri"/>
                <a:cs typeface="Calibri"/>
                <a:sym typeface="Calibri"/>
              </a:rPr>
              <a:t>MultiHead(X)  =  Concat( head₁ … headₕ ) · </a:t>
            </a:r>
            <a:r>
              <a:rPr lang="en" sz="1500" b="1" i="0" u="none" strike="noStrike" cap="none">
                <a:solidFill>
                  <a:schemeClr val="dk1"/>
                </a:solidFill>
                <a:latin typeface="Calibri"/>
                <a:ea typeface="Calibri"/>
                <a:cs typeface="Calibri"/>
                <a:sym typeface="Calibri"/>
              </a:rPr>
              <a:t>Wᴼ</a:t>
            </a:r>
            <a:r>
              <a:rPr lang="en" b="0" i="0" u="none" strike="noStrike" cap="none">
                <a:solidFill>
                  <a:schemeClr val="dk1"/>
                </a:solidFill>
                <a:latin typeface="Calibri"/>
                <a:ea typeface="Calibri"/>
                <a:cs typeface="Calibri"/>
                <a:sym typeface="Calibri"/>
              </a:rPr>
              <a:t>       headᵢ = softmax( QᵢKᵢᵀ / √dₖ ) Vᵢ</a:t>
            </a:r>
            <a:endParaRPr b="0" i="0" u="none" strike="noStrike" cap="none">
              <a:solidFill>
                <a:schemeClr val="dk1"/>
              </a:solidFill>
              <a:latin typeface="Calibri"/>
              <a:ea typeface="Calibri"/>
              <a:cs typeface="Calibri"/>
              <a:sym typeface="Calibri"/>
            </a:endParaRPr>
          </a:p>
        </p:txBody>
      </p:sp>
      <p:pic>
        <p:nvPicPr>
          <p:cNvPr id="1660" name="Google Shape;1660;p72"/>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64"/>
        <p:cNvGrpSpPr/>
        <p:nvPr/>
      </p:nvGrpSpPr>
      <p:grpSpPr>
        <a:xfrm>
          <a:off x="0" y="0"/>
          <a:ext cx="0" cy="0"/>
          <a:chOff x="0" y="0"/>
          <a:chExt cx="0" cy="0"/>
        </a:xfrm>
      </p:grpSpPr>
      <p:pic>
        <p:nvPicPr>
          <p:cNvPr id="1665" name="Google Shape;1665;p73"/>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666" name="Google Shape;1666;p73"/>
          <p:cNvSpPr/>
          <p:nvPr/>
        </p:nvSpPr>
        <p:spPr>
          <a:xfrm>
            <a:off x="469650" y="683663"/>
            <a:ext cx="8204700" cy="724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400"/>
              <a:buFont typeface="Calibri"/>
              <a:buNone/>
            </a:pPr>
            <a:r>
              <a:rPr lang="en" sz="2800" b="0" i="0" u="none" strike="noStrike" cap="none">
                <a:solidFill>
                  <a:schemeClr val="dk1"/>
                </a:solidFill>
                <a:latin typeface="Arial"/>
                <a:ea typeface="Arial"/>
                <a:cs typeface="Arial"/>
                <a:sym typeface="Arial"/>
              </a:rPr>
              <a:t>Thank you</a:t>
            </a:r>
            <a:endParaRPr sz="2800" b="0" i="0" u="none" strike="noStrike" cap="none">
              <a:solidFill>
                <a:schemeClr val="dk1"/>
              </a:solidFill>
              <a:latin typeface="Arial"/>
              <a:ea typeface="Arial"/>
              <a:cs typeface="Arial"/>
              <a:sym typeface="Arial"/>
            </a:endParaRPr>
          </a:p>
        </p:txBody>
      </p:sp>
      <p:sp>
        <p:nvSpPr>
          <p:cNvPr id="1667" name="Google Shape;1667;p73"/>
          <p:cNvSpPr/>
          <p:nvPr/>
        </p:nvSpPr>
        <p:spPr>
          <a:xfrm>
            <a:off x="603650" y="1649350"/>
            <a:ext cx="1591500" cy="515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400"/>
              <a:buFont typeface="Calibri"/>
              <a:buNone/>
            </a:pPr>
            <a:r>
              <a:rPr lang="en" sz="2000" b="0" i="0" u="none" strike="noStrike" cap="none">
                <a:solidFill>
                  <a:schemeClr val="dk1"/>
                </a:solidFill>
                <a:latin typeface="Arial"/>
                <a:ea typeface="Arial"/>
                <a:cs typeface="Arial"/>
                <a:sym typeface="Arial"/>
              </a:rPr>
              <a:t>Instructor</a:t>
            </a:r>
            <a:endParaRPr sz="2000" b="0" i="0" u="none" strike="noStrike" cap="none">
              <a:solidFill>
                <a:schemeClr val="dk1"/>
              </a:solidFill>
              <a:latin typeface="Arial"/>
              <a:ea typeface="Arial"/>
              <a:cs typeface="Arial"/>
              <a:sym typeface="Arial"/>
            </a:endParaRPr>
          </a:p>
        </p:txBody>
      </p:sp>
      <p:sp>
        <p:nvSpPr>
          <p:cNvPr id="1668" name="Google Shape;1668;p73"/>
          <p:cNvSpPr/>
          <p:nvPr/>
        </p:nvSpPr>
        <p:spPr>
          <a:xfrm>
            <a:off x="3640950" y="1554800"/>
            <a:ext cx="3755700" cy="515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400"/>
              <a:buFont typeface="Calibri"/>
              <a:buNone/>
            </a:pPr>
            <a:r>
              <a:rPr lang="en" sz="2000" b="0" i="0" u="none" strike="noStrike" cap="none">
                <a:solidFill>
                  <a:schemeClr val="dk1"/>
                </a:solidFill>
                <a:latin typeface="Arial"/>
                <a:ea typeface="Arial"/>
                <a:cs typeface="Arial"/>
                <a:sym typeface="Arial"/>
              </a:rPr>
              <a:t>Teaching Assistants (IITKGP)</a:t>
            </a:r>
            <a:endParaRPr sz="2000" b="0" i="0" u="none" strike="noStrike" cap="none">
              <a:solidFill>
                <a:schemeClr val="dk1"/>
              </a:solidFill>
              <a:latin typeface="Arial"/>
              <a:ea typeface="Arial"/>
              <a:cs typeface="Arial"/>
              <a:sym typeface="Arial"/>
            </a:endParaRPr>
          </a:p>
        </p:txBody>
      </p:sp>
      <p:sp>
        <p:nvSpPr>
          <p:cNvPr id="1669" name="Google Shape;1669;p73"/>
          <p:cNvSpPr/>
          <p:nvPr/>
        </p:nvSpPr>
        <p:spPr>
          <a:xfrm>
            <a:off x="558800" y="3413025"/>
            <a:ext cx="1591500" cy="515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400"/>
              <a:buFont typeface="Calibri"/>
              <a:buNone/>
            </a:pPr>
            <a:r>
              <a:rPr lang="en" sz="1600" b="0" i="0" u="none" strike="noStrike" cap="none">
                <a:solidFill>
                  <a:schemeClr val="dk1"/>
                </a:solidFill>
                <a:latin typeface="Arial"/>
                <a:ea typeface="Arial"/>
                <a:cs typeface="Arial"/>
                <a:sym typeface="Arial"/>
              </a:rPr>
              <a:t>Niloy Ganguly</a:t>
            </a: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D1B2A"/>
              </a:buClr>
              <a:buSzPts val="2400"/>
              <a:buFont typeface="Calibri"/>
              <a:buNone/>
            </a:pPr>
            <a:r>
              <a:rPr lang="en" sz="1050" b="0" i="0" u="none" strike="noStrike" cap="none">
                <a:solidFill>
                  <a:srgbClr val="222222"/>
                </a:solidFill>
                <a:highlight>
                  <a:srgbClr val="FFFFFF"/>
                </a:highlight>
                <a:latin typeface="Roboto"/>
                <a:ea typeface="Roboto"/>
                <a:cs typeface="Roboto"/>
                <a:sym typeface="Roboto"/>
              </a:rPr>
              <a:t>niloy@cse.iitkgp.ac.in</a:t>
            </a:r>
            <a:endParaRPr sz="1600" b="0" i="0" u="none" strike="noStrike" cap="none">
              <a:solidFill>
                <a:schemeClr val="dk1"/>
              </a:solidFill>
              <a:latin typeface="Arial"/>
              <a:ea typeface="Arial"/>
              <a:cs typeface="Arial"/>
              <a:sym typeface="Arial"/>
            </a:endParaRPr>
          </a:p>
        </p:txBody>
      </p:sp>
      <p:sp>
        <p:nvSpPr>
          <p:cNvPr id="1670" name="Google Shape;1670;p73"/>
          <p:cNvSpPr/>
          <p:nvPr/>
        </p:nvSpPr>
        <p:spPr>
          <a:xfrm>
            <a:off x="2406788" y="3392751"/>
            <a:ext cx="1794600" cy="490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283"/>
              <a:buFont typeface="Calibri"/>
              <a:buNone/>
            </a:pPr>
            <a:r>
              <a:rPr lang="en" sz="1522" b="0" i="0" u="none" strike="noStrike" cap="none">
                <a:solidFill>
                  <a:schemeClr val="dk1"/>
                </a:solidFill>
                <a:latin typeface="Arial"/>
                <a:ea typeface="Arial"/>
                <a:cs typeface="Arial"/>
                <a:sym typeface="Arial"/>
              </a:rPr>
              <a:t>Sombit Bose</a:t>
            </a:r>
            <a:endParaRPr sz="1522"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D1B2A"/>
              </a:buClr>
              <a:buSzPts val="2283"/>
              <a:buFont typeface="Calibri"/>
              <a:buNone/>
            </a:pPr>
            <a:endParaRPr sz="1522" b="0" i="0" u="none" strike="noStrike" cap="none">
              <a:solidFill>
                <a:schemeClr val="dk1"/>
              </a:solidFill>
              <a:latin typeface="Arial"/>
              <a:ea typeface="Arial"/>
              <a:cs typeface="Arial"/>
              <a:sym typeface="Arial"/>
            </a:endParaRPr>
          </a:p>
        </p:txBody>
      </p:sp>
      <p:sp>
        <p:nvSpPr>
          <p:cNvPr id="1671" name="Google Shape;1671;p73"/>
          <p:cNvSpPr/>
          <p:nvPr/>
        </p:nvSpPr>
        <p:spPr>
          <a:xfrm>
            <a:off x="7117275" y="3425625"/>
            <a:ext cx="1715100" cy="498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318"/>
              <a:buFont typeface="Calibri"/>
              <a:buNone/>
            </a:pPr>
            <a:r>
              <a:rPr lang="en" sz="1546" b="0" i="0" u="none" strike="noStrike" cap="none">
                <a:solidFill>
                  <a:schemeClr val="dk1"/>
                </a:solidFill>
                <a:latin typeface="Arial"/>
                <a:ea typeface="Arial"/>
                <a:cs typeface="Arial"/>
                <a:sym typeface="Arial"/>
              </a:rPr>
              <a:t>Shrimon </a:t>
            </a:r>
            <a:endParaRPr sz="1546"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D1B2A"/>
              </a:buClr>
              <a:buSzPts val="2318"/>
              <a:buFont typeface="Calibri"/>
              <a:buNone/>
            </a:pPr>
            <a:r>
              <a:rPr lang="en" sz="1546" b="0" i="0" u="none" strike="noStrike" cap="none">
                <a:solidFill>
                  <a:schemeClr val="dk1"/>
                </a:solidFill>
                <a:latin typeface="Arial"/>
                <a:ea typeface="Arial"/>
                <a:cs typeface="Arial"/>
                <a:sym typeface="Arial"/>
              </a:rPr>
              <a:t>Mukherjee</a:t>
            </a:r>
            <a:endParaRPr sz="1546" b="0" i="0" u="none" strike="noStrike" cap="none">
              <a:solidFill>
                <a:schemeClr val="dk1"/>
              </a:solidFill>
              <a:latin typeface="Arial"/>
              <a:ea typeface="Arial"/>
              <a:cs typeface="Arial"/>
              <a:sym typeface="Arial"/>
            </a:endParaRPr>
          </a:p>
        </p:txBody>
      </p:sp>
      <p:pic>
        <p:nvPicPr>
          <p:cNvPr id="1672" name="Google Shape;1672;p73" title="1000247300.jpeg"/>
          <p:cNvPicPr preferRelativeResize="0"/>
          <p:nvPr/>
        </p:nvPicPr>
        <p:blipFill rotWithShape="1">
          <a:blip r:embed="rId5">
            <a:alphaModFix/>
          </a:blip>
          <a:srcRect l="22153" t="5839" r="21045" b="9408"/>
          <a:stretch/>
        </p:blipFill>
        <p:spPr>
          <a:xfrm>
            <a:off x="2758400" y="2028463"/>
            <a:ext cx="1091400" cy="1394270"/>
          </a:xfrm>
          <a:prstGeom prst="rect">
            <a:avLst/>
          </a:prstGeom>
          <a:solidFill>
            <a:schemeClr val="dk2"/>
          </a:solidFill>
          <a:ln w="9050" cap="flat" cmpd="sng">
            <a:solidFill>
              <a:schemeClr val="lt1"/>
            </a:solidFill>
            <a:prstDash val="solid"/>
            <a:round/>
            <a:headEnd type="none" w="sm" len="sm"/>
            <a:tailEnd type="none" w="sm" len="sm"/>
          </a:ln>
        </p:spPr>
      </p:pic>
      <p:pic>
        <p:nvPicPr>
          <p:cNvPr id="1673" name="Google Shape;1673;p73"/>
          <p:cNvPicPr preferRelativeResize="0"/>
          <p:nvPr/>
        </p:nvPicPr>
        <p:blipFill rotWithShape="1">
          <a:blip r:embed="rId6">
            <a:alphaModFix/>
          </a:blip>
          <a:srcRect/>
          <a:stretch/>
        </p:blipFill>
        <p:spPr>
          <a:xfrm>
            <a:off x="689300" y="2051637"/>
            <a:ext cx="1420200" cy="1334825"/>
          </a:xfrm>
          <a:prstGeom prst="rect">
            <a:avLst/>
          </a:prstGeom>
          <a:noFill/>
          <a:ln>
            <a:noFill/>
          </a:ln>
        </p:spPr>
      </p:pic>
      <p:pic>
        <p:nvPicPr>
          <p:cNvPr id="1674" name="Google Shape;1674;p73" title="IMG_1088.jpeg"/>
          <p:cNvPicPr preferRelativeResize="0"/>
          <p:nvPr/>
        </p:nvPicPr>
        <p:blipFill rotWithShape="1">
          <a:blip r:embed="rId7">
            <a:alphaModFix/>
          </a:blip>
          <a:srcRect l="25019" r="15848"/>
          <a:stretch/>
        </p:blipFill>
        <p:spPr>
          <a:xfrm>
            <a:off x="7314300" y="2027300"/>
            <a:ext cx="1321060" cy="1383475"/>
          </a:xfrm>
          <a:prstGeom prst="rect">
            <a:avLst/>
          </a:prstGeom>
          <a:noFill/>
          <a:ln>
            <a:noFill/>
          </a:ln>
        </p:spPr>
      </p:pic>
      <p:pic>
        <p:nvPicPr>
          <p:cNvPr id="1675" name="Google Shape;1675;p73"/>
          <p:cNvPicPr preferRelativeResize="0"/>
          <p:nvPr/>
        </p:nvPicPr>
        <p:blipFill rotWithShape="1">
          <a:blip r:embed="rId8">
            <a:alphaModFix/>
          </a:blip>
          <a:srcRect l="9646" t="19535" r="9638" b="5038"/>
          <a:stretch/>
        </p:blipFill>
        <p:spPr>
          <a:xfrm>
            <a:off x="4106775" y="2031688"/>
            <a:ext cx="1152399" cy="1387800"/>
          </a:xfrm>
          <a:prstGeom prst="rect">
            <a:avLst/>
          </a:prstGeom>
          <a:noFill/>
          <a:ln>
            <a:noFill/>
          </a:ln>
        </p:spPr>
      </p:pic>
      <p:sp>
        <p:nvSpPr>
          <p:cNvPr id="1676" name="Google Shape;1676;p73"/>
          <p:cNvSpPr/>
          <p:nvPr/>
        </p:nvSpPr>
        <p:spPr>
          <a:xfrm>
            <a:off x="3752825" y="3302429"/>
            <a:ext cx="1860300" cy="490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283"/>
              <a:buFont typeface="Calibri"/>
              <a:buNone/>
            </a:pPr>
            <a:r>
              <a:rPr lang="en" sz="1522" b="0" i="0" u="none" strike="noStrike" cap="none">
                <a:solidFill>
                  <a:schemeClr val="dk1"/>
                </a:solidFill>
                <a:latin typeface="Arial"/>
                <a:ea typeface="Arial"/>
                <a:cs typeface="Arial"/>
                <a:sym typeface="Arial"/>
              </a:rPr>
              <a:t>Anurup Naskar</a:t>
            </a:r>
            <a:endParaRPr sz="1522" b="0" i="0" u="none" strike="noStrike" cap="none">
              <a:solidFill>
                <a:schemeClr val="dk1"/>
              </a:solidFill>
              <a:latin typeface="Arial"/>
              <a:ea typeface="Arial"/>
              <a:cs typeface="Arial"/>
              <a:sym typeface="Arial"/>
            </a:endParaRPr>
          </a:p>
        </p:txBody>
      </p:sp>
      <p:pic>
        <p:nvPicPr>
          <p:cNvPr id="1677" name="Google Shape;1677;p73"/>
          <p:cNvPicPr preferRelativeResize="0"/>
          <p:nvPr/>
        </p:nvPicPr>
        <p:blipFill>
          <a:blip r:embed="rId9">
            <a:alphaModFix/>
          </a:blip>
          <a:stretch>
            <a:fillRect/>
          </a:stretch>
        </p:blipFill>
        <p:spPr>
          <a:xfrm>
            <a:off x="5546150" y="2027312"/>
            <a:ext cx="1420200" cy="1383471"/>
          </a:xfrm>
          <a:prstGeom prst="rect">
            <a:avLst/>
          </a:prstGeom>
          <a:noFill/>
          <a:ln>
            <a:noFill/>
          </a:ln>
        </p:spPr>
      </p:pic>
      <p:sp>
        <p:nvSpPr>
          <p:cNvPr id="1678" name="Google Shape;1678;p73"/>
          <p:cNvSpPr/>
          <p:nvPr/>
        </p:nvSpPr>
        <p:spPr>
          <a:xfrm>
            <a:off x="5326100" y="3425629"/>
            <a:ext cx="1860300" cy="490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283"/>
              <a:buFont typeface="Calibri"/>
              <a:buNone/>
            </a:pPr>
            <a:r>
              <a:rPr lang="en" sz="1522">
                <a:solidFill>
                  <a:schemeClr val="dk1"/>
                </a:solidFill>
              </a:rPr>
              <a:t>Sabyasachi</a:t>
            </a:r>
            <a:endParaRPr sz="1522">
              <a:solidFill>
                <a:schemeClr val="dk1"/>
              </a:solidFill>
            </a:endParaRPr>
          </a:p>
          <a:p>
            <a:pPr marL="0" marR="0" lvl="0" indent="0" algn="ctr" rtl="0">
              <a:lnSpc>
                <a:spcPct val="100000"/>
              </a:lnSpc>
              <a:spcBef>
                <a:spcPts val="0"/>
              </a:spcBef>
              <a:spcAft>
                <a:spcPts val="0"/>
              </a:spcAft>
              <a:buClr>
                <a:srgbClr val="0D1B2A"/>
              </a:buClr>
              <a:buSzPts val="2283"/>
              <a:buFont typeface="Calibri"/>
              <a:buNone/>
            </a:pPr>
            <a:r>
              <a:rPr lang="en" sz="1522">
                <a:solidFill>
                  <a:schemeClr val="dk1"/>
                </a:solidFill>
              </a:rPr>
              <a:t>Mukhopadhyay</a:t>
            </a:r>
            <a:endParaRPr sz="1522">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9240</Words>
  <Application>Microsoft Office PowerPoint</Application>
  <PresentationFormat>On-screen Show (16:9)</PresentationFormat>
  <Paragraphs>1042</Paragraphs>
  <Slides>56</Slides>
  <Notes>56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Consolas</vt:lpstr>
      <vt:lpstr>Times New Roman</vt:lpstr>
      <vt:lpstr>Roboto</vt:lpstr>
      <vt:lpstr>Calibri</vt:lpstr>
      <vt:lpstr>Pacifico</vt:lpstr>
      <vt:lpstr>Arial</vt:lpstr>
      <vt:lpstr>Courier New</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Attention Based Model: Transformer</vt:lpstr>
      <vt:lpstr>PowerPoint Presentation</vt:lpstr>
      <vt:lpstr>PowerPoint Presentation</vt:lpstr>
      <vt:lpstr>The Attention Idea</vt:lpstr>
      <vt:lpstr>PowerPoint Presentation</vt:lpstr>
      <vt:lpstr>The Self Attention Idea</vt:lpstr>
      <vt:lpstr>PowerPoint Presentation</vt:lpstr>
      <vt:lpstr>Attention Based Model: Transformer</vt:lpstr>
      <vt:lpstr>PowerPoint Presentation</vt:lpstr>
      <vt:lpstr>PowerPoint Presentation</vt:lpstr>
      <vt:lpstr>The (Self) Attention Mechanism</vt:lpstr>
      <vt:lpstr>Recipe for Self-Attention in the Transformer Encoder</vt:lpstr>
      <vt:lpstr>Recipe for (Vectorized) Self-Attention in the Transformer Encoder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Positional Encoding</vt:lpstr>
      <vt:lpstr>PowerPoint Presentation</vt:lpstr>
      <vt:lpstr>PowerPoint Presentation</vt:lpstr>
      <vt:lpstr>PowerPoint Presentation</vt:lpstr>
      <vt:lpstr>Multi-Head Attention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Sombit Bose</cp:lastModifiedBy>
  <cp:revision>1</cp:revision>
  <dcterms:modified xsi:type="dcterms:W3CDTF">2026-08-16T08:07:20Z</dcterms:modified>
</cp:coreProperties>
</file>
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ln w="254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1005840"/>
            <a:ext cx="3657600" cy="3657600"/>
          </a:xfrm>
          <a:prstGeom prst="ellipse">
            <a:avLst/>
          </a:prstGeom>
          <a:ln w="25400">
            <a:solidFill>
              <a:srgbClr val="2C46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61320" y="-228600"/>
            <a:ext cx="2103120" cy="2103120"/>
          </a:xfrm>
          <a:prstGeom prst="ellipse">
            <a:avLst/>
          </a:prstGeom>
          <a:solidFill>
            <a:srgbClr val="12A5A5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3 · SUMMARY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RNNs, Attention &amp;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Transformer</a:t>
            </a:r>
            <a:endParaRPr lang="en-US" sz="4600" dirty="0"/>
          </a:p>
        </p:txBody>
      </p:sp>
      <p:sp>
        <p:nvSpPr>
          <p:cNvPr id="7" name="Shape 5"/>
          <p:cNvSpPr/>
          <p:nvPr/>
        </p:nvSpPr>
        <p:spPr>
          <a:xfrm>
            <a:off x="713232" y="4343400"/>
            <a:ext cx="2011680" cy="0"/>
          </a:xfrm>
          <a:prstGeom prst="line">
            <a:avLst/>
          </a:prstGeom>
          <a:noFill/>
          <a:ln w="31750">
            <a:solidFill>
              <a:srgbClr val="F4A6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526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sequential memory to self-attention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55321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Niloy Ganguly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IIT Kharagpur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LECTURE COVERS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Road to the Transformer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02736" cy="4480560"/>
          </a:xfrm>
          <a:prstGeom prst="roundRect">
            <a:avLst>
              <a:gd name="adj" fmla="val 2538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3602736" cy="777240"/>
          </a:xfrm>
          <a:prstGeom prst="roundRect">
            <a:avLst>
              <a:gd name="adj" fmla="val 11765"/>
            </a:avLst>
          </a:prstGeom>
          <a:solidFill>
            <a:srgbClr val="2E5FA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057400"/>
            <a:ext cx="3602736" cy="320040"/>
          </a:xfrm>
          <a:prstGeom prst="rect">
            <a:avLst/>
          </a:prstGeom>
          <a:solidFill>
            <a:srgbClr val="2E5FA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600200" y="1645920"/>
            <a:ext cx="2414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Recurrent Networks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04672" y="2606040"/>
            <a:ext cx="309981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data &amp; the need for memory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vanilla RNN and its mathematics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 through time (BPTT)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/ exploding gradients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as a partial remedy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4407408" y="1600200"/>
            <a:ext cx="3602736" cy="4480560"/>
          </a:xfrm>
          <a:prstGeom prst="roundRect">
            <a:avLst>
              <a:gd name="adj" fmla="val 2538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07408" y="1600200"/>
            <a:ext cx="3602736" cy="777240"/>
          </a:xfrm>
          <a:prstGeom prst="roundRect">
            <a:avLst>
              <a:gd name="adj" fmla="val 11765"/>
            </a:avLst>
          </a:prstGeom>
          <a:solidFill>
            <a:srgbClr val="12A5A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07408" y="2057400"/>
            <a:ext cx="3602736" cy="320040"/>
          </a:xfrm>
          <a:prstGeom prst="rect">
            <a:avLst/>
          </a:prstGeom>
          <a:solidFill>
            <a:srgbClr val="12A5A5"/>
          </a:solidFill>
          <a:ln/>
        </p:spPr>
      </p:sp>
      <p:sp>
        <p:nvSpPr>
          <p:cNvPr id="13" name="Text 11"/>
          <p:cNvSpPr/>
          <p:nvPr/>
        </p:nvSpPr>
        <p:spPr>
          <a:xfrm>
            <a:off x="4636008" y="16459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458968" y="1645920"/>
            <a:ext cx="2414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 &amp; a Bridge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663440" y="2606040"/>
            <a:ext cx="309981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fixed-size information bottleneck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access — the jump problem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parallelism, weak long-range memory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ELMo &amp; BiLSTM contextual embeddings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word, different vectors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8266176" y="1600200"/>
            <a:ext cx="3602736" cy="4480560"/>
          </a:xfrm>
          <a:prstGeom prst="roundRect">
            <a:avLst>
              <a:gd name="adj" fmla="val 2538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66176" y="1600200"/>
            <a:ext cx="3602736" cy="777240"/>
          </a:xfrm>
          <a:prstGeom prst="roundRect">
            <a:avLst>
              <a:gd name="adj" fmla="val 11765"/>
            </a:avLst>
          </a:prstGeom>
          <a:solidFill>
            <a:srgbClr val="F4A62A"/>
          </a:solidFill>
          <a:ln/>
        </p:spPr>
      </p:sp>
      <p:sp>
        <p:nvSpPr>
          <p:cNvPr id="18" name="Shape 16"/>
          <p:cNvSpPr/>
          <p:nvPr/>
        </p:nvSpPr>
        <p:spPr>
          <a:xfrm>
            <a:off x="8266176" y="2057400"/>
            <a:ext cx="3602736" cy="320040"/>
          </a:xfrm>
          <a:prstGeom prst="rect">
            <a:avLst/>
          </a:prstGeom>
          <a:solidFill>
            <a:srgbClr val="F4A62A"/>
          </a:solidFill>
          <a:ln/>
        </p:spPr>
      </p:sp>
      <p:sp>
        <p:nvSpPr>
          <p:cNvPr id="19" name="Text 17"/>
          <p:cNvSpPr/>
          <p:nvPr/>
        </p:nvSpPr>
        <p:spPr>
          <a:xfrm>
            <a:off x="8494776" y="16459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317736" y="1645920"/>
            <a:ext cx="24140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&amp; Transformers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522208" y="2606040"/>
            <a:ext cx="309981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Seq2Seq and the attention mechanism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Self-attention: Query, Key, Value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Feed-forward, residual &amp; layer-norm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128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IIT Kharagpur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RECURRENCE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Data &amp; the Need for Memory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532120" cy="4389120"/>
          </a:xfrm>
          <a:prstGeom prst="roundRect">
            <a:avLst>
              <a:gd name="adj" fmla="val 2083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019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data sequential?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 — the sequence carries meaning.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element depends on the ones before it.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Feedforward networks treat inputs independently, so they fail on sequences.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114800"/>
            <a:ext cx="4983480" cy="1737360"/>
          </a:xfrm>
          <a:prstGeom prst="roundRect">
            <a:avLst>
              <a:gd name="adj" fmla="val 5263"/>
            </a:avLst>
          </a:prstGeom>
          <a:solidFill>
            <a:srgbClr val="EAF3FF"/>
          </a:solidFill>
          <a:ln w="12700">
            <a:solidFill>
              <a:srgbClr val="BBD4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251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8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the next word in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4572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F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cat sat on the ___”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507492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remembering ALL the previous words — so the model needs memory.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6355080" y="16916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19202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355080" y="2468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NLP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89720" y="1691640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0" y="19202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🔊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89720" y="2468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&amp; Speech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3227832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4564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55080" y="40050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&amp; Stocks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89720" y="3227832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89720" y="34564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89720" y="40050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Sequences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55080" y="4764024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499262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🎞️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55080" y="554126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Frames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89720" y="4764024"/>
            <a:ext cx="2697480" cy="1371600"/>
          </a:xfrm>
          <a:prstGeom prst="roundRect">
            <a:avLst>
              <a:gd name="adj" fmla="val 6667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0" y="499262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🎵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189720" y="554126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Generation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IIT Kharagpur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RECURRENT NEURON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Vanilla RNN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234440" y="178308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2E5FA3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91109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cell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34440" y="22402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8803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62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943100" y="2697480"/>
            <a:ext cx="0" cy="182880"/>
          </a:xfrm>
          <a:prstGeom prst="line">
            <a:avLst/>
          </a:prstGeom>
          <a:noFill/>
          <a:ln w="19050">
            <a:solidFill>
              <a:srgbClr val="5862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1783080"/>
            <a:ext cx="566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A5A5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18688" y="178308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2E5FA3"/>
          </a:solidFill>
          <a:ln/>
        </p:spPr>
      </p:sp>
      <p:sp>
        <p:nvSpPr>
          <p:cNvPr id="11" name="Text 9"/>
          <p:cNvSpPr/>
          <p:nvPr/>
        </p:nvSpPr>
        <p:spPr>
          <a:xfrm>
            <a:off x="3218688" y="191109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cell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18688" y="22402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h₁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18688" y="28803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62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x₁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927348" y="2697480"/>
            <a:ext cx="0" cy="182880"/>
          </a:xfrm>
          <a:prstGeom prst="line">
            <a:avLst/>
          </a:prstGeom>
          <a:noFill/>
          <a:ln w="19050">
            <a:solidFill>
              <a:srgbClr val="5862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36008" y="1783080"/>
            <a:ext cx="566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A5A5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202936" y="178308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2E5FA3"/>
          </a:solidFill>
          <a:ln/>
        </p:spPr>
      </p:sp>
      <p:sp>
        <p:nvSpPr>
          <p:cNvPr id="17" name="Text 15"/>
          <p:cNvSpPr/>
          <p:nvPr/>
        </p:nvSpPr>
        <p:spPr>
          <a:xfrm>
            <a:off x="5202936" y="191109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cell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02936" y="22402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h₂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02936" y="28803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62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911596" y="2697480"/>
            <a:ext cx="0" cy="182880"/>
          </a:xfrm>
          <a:prstGeom prst="line">
            <a:avLst/>
          </a:prstGeom>
          <a:noFill/>
          <a:ln w="19050">
            <a:solidFill>
              <a:srgbClr val="5862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0256" y="1783080"/>
            <a:ext cx="566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2A5A5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187184" y="178308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2E5FA3"/>
          </a:solidFill>
          <a:ln/>
        </p:spPr>
      </p:sp>
      <p:sp>
        <p:nvSpPr>
          <p:cNvPr id="23" name="Text 21"/>
          <p:cNvSpPr/>
          <p:nvPr/>
        </p:nvSpPr>
        <p:spPr>
          <a:xfrm>
            <a:off x="7187184" y="191109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cell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87184" y="22402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h₃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187184" y="28803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62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x₃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895844" y="2697480"/>
            <a:ext cx="0" cy="182880"/>
          </a:xfrm>
          <a:prstGeom prst="line">
            <a:avLst/>
          </a:prstGeom>
          <a:noFill/>
          <a:ln w="19050">
            <a:solidFill>
              <a:srgbClr val="58627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0632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8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weights are reused at every step; the hidden state hₜ carries memory forward through time.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3566160"/>
            <a:ext cx="3602736" cy="1234440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 update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04672" y="4069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hₜ = tanh( Wₕ·hₜ₋₁ + Wₓ·xₜ + b 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407408" y="3566160"/>
            <a:ext cx="3602736" cy="1234440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663440" y="4069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ŷₜ = g( Wᵧ · hₜ )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266176" y="3566160"/>
            <a:ext cx="3602736" cy="1234440"/>
          </a:xfrm>
          <a:prstGeom prst="roundRect">
            <a:avLst>
              <a:gd name="adj" fmla="val 7407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22208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A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(cross-entropy)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522208" y="406908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− Σₜ log P(yₜ | x₁…xₜ)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548640" y="49834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0E1B33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4983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action: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“The cat sat on the ___”, the cell updates its hidden state at each word and predicts the next — cat → sat → on → the — accumulating loss across all timesteps.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IIT Kharagpur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ITS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Backprop Through Time &amp; the Gradient Problem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Backprop Through Time (BPTT)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292608" cy="292608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331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2860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Unroll the RNN across all T time steps.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734056"/>
            <a:ext cx="292608" cy="292608"/>
          </a:xfrm>
          <a:prstGeom prst="ellipse">
            <a:avLst/>
          </a:prstGeom>
          <a:solidFill>
            <a:srgbClr val="12A5A5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34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68833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gradient at each step.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136392"/>
            <a:ext cx="292608" cy="292608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136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09067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the contributions: ∂L/∂Wₕ = Σₜ ∂Lₜ/∂Wₕ.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538728"/>
            <a:ext cx="292608" cy="292608"/>
          </a:xfrm>
          <a:prstGeom prst="ellipse">
            <a:avLst/>
          </a:prstGeom>
          <a:solidFill>
            <a:srgbClr val="12A5A5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387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34930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one weight update with the total.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1691640"/>
            <a:ext cx="5605272" cy="1097280"/>
          </a:xfrm>
          <a:prstGeom prst="roundRect">
            <a:avLst>
              <a:gd name="adj" fmla="val 8333"/>
            </a:avLst>
          </a:prstGeom>
          <a:solidFill>
            <a:srgbClr val="FFF1F0"/>
          </a:solidFill>
          <a:ln w="12700">
            <a:solidFill>
              <a:srgbClr val="F1C9C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18288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Vanishing gradient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63640" y="2148840"/>
            <a:ext cx="5166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|∂hₜ/∂hₜ₋₁| &lt; 1, the product shrinks exponentially → gradients → 0 → no long-range learning.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6035040" y="2926080"/>
            <a:ext cx="5605272" cy="1097280"/>
          </a:xfrm>
          <a:prstGeom prst="roundRect">
            <a:avLst>
              <a:gd name="adj" fmla="val 8333"/>
            </a:avLst>
          </a:prstGeom>
          <a:solidFill>
            <a:srgbClr val="FFF6E6"/>
          </a:solidFill>
          <a:ln w="12700">
            <a:solidFill>
              <a:srgbClr val="F3D9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3063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Exploding gradient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3383280"/>
            <a:ext cx="5166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3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|∂hₜ/∂hₜ₋₁| &gt; 1, the product blows up → NaN weights. Fix: clip gradients at a threshold.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11091672" cy="1691640"/>
          </a:xfrm>
          <a:prstGeom prst="roundRect">
            <a:avLst>
              <a:gd name="adj" fmla="val 5405"/>
            </a:avLst>
          </a:prstGeom>
          <a:solidFill>
            <a:srgbClr val="0E1B33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3708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Gates as a partial remedy — the forget gate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22960" y="475488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recurrent cells add a </a:t>
            </a:r>
            <a:pPr indent="0" marL="0">
              <a:buNone/>
            </a:pPr>
            <a:r>
              <a:rPr lang="en-US" sz="1250" b="1" dirty="0">
                <a:solidFill>
                  <a:srgbClr val="12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forget gate  fₜ = σ(Wf·[hₜ₋₁, xₜ] + bf)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that decides what fraction of memory to keep (1) versus erase (0). Because the gradient then flows as a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of forget gates (∏ fₜ)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memory can persist far longer — extending the effective window from ~10–20 steps to a few hundred.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2960" y="55321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this only stretches the window — it does not remove the fixed-size bottleneck. That takes attention.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IIT Kharagpur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WALLS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RNNs Still Fall Short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2788920"/>
          </a:xfrm>
          <a:prstGeom prst="roundRect">
            <a:avLst>
              <a:gd name="adj" fmla="val 3279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17320" y="19385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information bottleneck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must be compressed into one fixed-size vector. c₁₀₀ is exactly the same size as c₁ — a 1000-token sequence gets no more space than a 10-token one.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6118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8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tokens get overwritten as each new token competes for the same vector.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468112" cy="2788920"/>
          </a:xfrm>
          <a:prstGeom prst="roundRect">
            <a:avLst>
              <a:gd name="adj" fmla="val 3279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920240"/>
            <a:ext cx="457200" cy="457200"/>
          </a:xfrm>
          <a:prstGeom prst="ellipse">
            <a:avLst/>
          </a:prstGeom>
          <a:solidFill>
            <a:srgbClr val="12A5A5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19385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direct access — the jump problem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251460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connect token 10 to token 3, the signal must travel through every step in between — a path length of 7 hops — diluting a little at each one.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46520" y="36118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8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perfect gradient flow cannot recover information already lost.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0E1B3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800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no parallelism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512064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RNNs process tokens one at a time — each step depends on the previous — so they are slow to train and hard to scale.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6583680" y="4846320"/>
            <a:ext cx="0" cy="777240"/>
          </a:xfrm>
          <a:prstGeom prst="line">
            <a:avLst/>
          </a:prstGeom>
          <a:noFill/>
          <a:ln w="12700">
            <a:solidFill>
              <a:srgbClr val="3A4E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4800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ahead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0" y="512064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gives any token a direct, O(1) path to any other — no compression, no long chain of hops.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IIT Kharagpur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BRIDGE IDEA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Contextual Embeddings — ELMo &amp; BiLSTM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8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embeddings (Word2Vec) give a word one vector regardless of context. ELMo (Peters et al., 2018) makes a word's vector depend on its whole sentence — read in both directions.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486400" cy="3977640"/>
          </a:xfrm>
          <a:prstGeom prst="roundRect">
            <a:avLst>
              <a:gd name="adj" fmla="val 2299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86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word, different vectors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“bank” in “bank account”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50" dirty="0">
                <a:solidFill>
                  <a:srgbClr val="2E5F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[0.8, 0.2, …]  (financial sense)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“bank” in “river bank”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2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[0.1, 0.9, …]  (geographic sense)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cos(bank_finance, bank_river) ≈ 0.54 — clearly distinct, where a static embedding would give 1.0.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822960" y="48920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80" i="1" dirty="0">
                <a:solidFill>
                  <a:srgbClr val="58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BiLSTM reads each word with context from BOTH directions (forward + backward) before producing its vector. ELMo was the bridge idea that inspired BERT.</a:t>
            </a:r>
            <a:endParaRPr lang="en-US" sz="1280" dirty="0"/>
          </a:p>
        </p:txBody>
      </p:sp>
      <p:sp>
        <p:nvSpPr>
          <p:cNvPr id="10" name="Shape 8"/>
          <p:cNvSpPr/>
          <p:nvPr/>
        </p:nvSpPr>
        <p:spPr>
          <a:xfrm>
            <a:off x="6263640" y="21031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423160"/>
            <a:ext cx="402336" cy="402336"/>
          </a:xfrm>
          <a:prstGeom prst="ellipse">
            <a:avLst/>
          </a:prstGeom>
          <a:solidFill>
            <a:srgbClr val="F4A62A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226771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2 · BiLSTM (top)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040880" y="263347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Semantics — word sense, coreference, context.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3273552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3593592"/>
            <a:ext cx="402336" cy="402336"/>
          </a:xfrm>
          <a:prstGeom prst="ellipse">
            <a:avLst/>
          </a:prstGeom>
          <a:solidFill>
            <a:srgbClr val="12A5A5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343814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1 · BiLSTM (bottom)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040880" y="380390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— POS tags, structure, dependencies.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4443984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764024"/>
            <a:ext cx="402336" cy="402336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460857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0 · Character CNN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0" y="497433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form — spelling, morphology, unknown words.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5614416"/>
            <a:ext cx="5349240" cy="457200"/>
          </a:xfrm>
          <a:prstGeom prst="roundRect">
            <a:avLst>
              <a:gd name="adj" fmla="val 20000"/>
            </a:avLst>
          </a:prstGeom>
          <a:solidFill>
            <a:srgbClr val="0E1B33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5614416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4A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ELMo(token) = γ·( s₀·layer₀ + s₁·layer₁ + s₂·layer₂ )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IIT Kharagpur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TURNING POINT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Seq2Seq to Attention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160520"/>
          </a:xfrm>
          <a:prstGeom prst="roundRect">
            <a:avLst>
              <a:gd name="adj" fmla="val 2198"/>
            </a:avLst>
          </a:prstGeom>
          <a:solidFill>
            <a:srgbClr val="FFF1F0"/>
          </a:solidFill>
          <a:ln w="12700">
            <a:solidFill>
              <a:srgbClr val="F1C9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3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 Seq2Seq with a single context vector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encoder reads the input step-by-step, updating its hidden state.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final hidden state becomes one fixed-size context vector.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decoder must generate the whole output from that single vector.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4434840"/>
            <a:ext cx="48463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1C9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55371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flaw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4864608"/>
            <a:ext cx="4434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input information is forced through one bottleneck vector — detail is lost for long sequences.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870448" y="3566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2A5A5"/>
                </a:solidFill>
              </a:rPr>
              <a:t>→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6446520" y="1737360"/>
            <a:ext cx="5166360" cy="4160520"/>
          </a:xfrm>
          <a:prstGeom prst="roundRect">
            <a:avLst>
              <a:gd name="adj" fmla="val 2198"/>
            </a:avLst>
          </a:prstGeom>
          <a:solidFill>
            <a:srgbClr val="EEFAF7"/>
          </a:solidFill>
          <a:ln w="12700">
            <a:solidFill>
              <a:srgbClr val="B9E4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084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Seq2Seq with attention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720840" y="2377440"/>
            <a:ext cx="4663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encoder hidden states h₁…hₙ are kept, not just the last.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decoder step, attention takes a weighted sum (αᵢ) of them.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context cₜ is recomputed every step, focusing on what's relevant.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20840" y="4434840"/>
            <a:ext cx="46177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B9E4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45537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949440" y="4864608"/>
            <a:ext cx="4251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each word's representation as a query used to access information from a set of values (Bahdanau et al., 2015).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IIT Kharagpur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MECHANISM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Self-Attention — The Core Idea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0E1B3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animal didn't cross the street because it was too tired.”    </a:t>
            </a:r>
            <a:pPr indent="0" marL="0">
              <a:buNone/>
            </a:pPr>
            <a:r>
              <a:rPr lang="en-US" sz="1400" b="1" dirty="0">
                <a:solidFill>
                  <a:srgbClr val="F4A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“it” refer to?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3602736" cy="1691640"/>
          </a:xfrm>
          <a:prstGeom prst="roundRect">
            <a:avLst>
              <a:gd name="adj" fmla="val 5405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2999232"/>
            <a:ext cx="457200" cy="457200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17320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822960" y="36118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“it” with every other word in the sentence.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7408" y="2788920"/>
            <a:ext cx="3602736" cy="1691640"/>
          </a:xfrm>
          <a:prstGeom prst="roundRect">
            <a:avLst>
              <a:gd name="adj" fmla="val 5405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2999232"/>
            <a:ext cx="457200" cy="457200"/>
          </a:xfrm>
          <a:prstGeom prst="ellipse">
            <a:avLst/>
          </a:prstGeom>
          <a:solidFill>
            <a:srgbClr val="12A5A5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76088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681728" y="36118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higher attention weight to “animal”.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66176" y="2788920"/>
            <a:ext cx="3602736" cy="1691640"/>
          </a:xfrm>
          <a:prstGeom prst="roundRect">
            <a:avLst>
              <a:gd name="adj" fmla="val 5405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22208" y="2999232"/>
            <a:ext cx="457200" cy="457200"/>
          </a:xfrm>
          <a:prstGeom prst="ellipse">
            <a:avLst/>
          </a:prstGeom>
          <a:solidFill>
            <a:srgbClr val="F4A62A"/>
          </a:solidFill>
          <a:ln/>
        </p:spPr>
      </p:sp>
      <p:sp>
        <p:nvSpPr>
          <p:cNvPr id="18" name="Text 16"/>
          <p:cNvSpPr/>
          <p:nvPr/>
        </p:nvSpPr>
        <p:spPr>
          <a:xfrm>
            <a:off x="8522208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34856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8540496" y="3611880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weights to build a context-aware meaning for “it”.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70916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EAF3FF"/>
          </a:solidFill>
          <a:ln w="12700">
            <a:solidFill>
              <a:srgbClr val="BBD4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4846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" y="5166360"/>
            <a:ext cx="10424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token directly interacts with every other token — no sequential propagation. This gives long-range dependencies, fully parallel computation, and dynamic context understanding.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IIT Kharagpur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ATTENTION COMPUTES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Query, Key, Value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02736" cy="1783080"/>
          </a:xfrm>
          <a:prstGeom prst="roundRect">
            <a:avLst>
              <a:gd name="adj" fmla="val 5128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65960"/>
            <a:ext cx="502920" cy="502920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9933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am looking for.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971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30" i="1" dirty="0">
                <a:solidFill>
                  <a:srgbClr val="58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“it” asks: who am I?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4407408" y="1737360"/>
            <a:ext cx="3602736" cy="1783080"/>
          </a:xfrm>
          <a:prstGeom prst="roundRect">
            <a:avLst>
              <a:gd name="adj" fmla="val 5128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965960"/>
            <a:ext cx="502920" cy="502920"/>
          </a:xfrm>
          <a:prstGeom prst="ellipse">
            <a:avLst/>
          </a:prstGeom>
          <a:solidFill>
            <a:srgbClr val="12A5A5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21808" y="19933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81728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represent.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81728" y="2971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30" i="1" dirty="0">
                <a:solidFill>
                  <a:srgbClr val="58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“animal” says: I'm a noun.</a:t>
            </a:r>
            <a:endParaRPr lang="en-US" sz="1230" dirty="0"/>
          </a:p>
        </p:txBody>
      </p:sp>
      <p:sp>
        <p:nvSpPr>
          <p:cNvPr id="16" name="Shape 14"/>
          <p:cNvSpPr/>
          <p:nvPr/>
        </p:nvSpPr>
        <p:spPr>
          <a:xfrm>
            <a:off x="8266176" y="1737360"/>
            <a:ext cx="3602736" cy="1783080"/>
          </a:xfrm>
          <a:prstGeom prst="roundRect">
            <a:avLst>
              <a:gd name="adj" fmla="val 5128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22208" y="1965960"/>
            <a:ext cx="502920" cy="502920"/>
          </a:xfrm>
          <a:prstGeom prst="ellipse">
            <a:avLst/>
          </a:prstGeom>
          <a:solidFill>
            <a:srgbClr val="F4A62A"/>
          </a:solidFill>
          <a:ln/>
        </p:spPr>
      </p:sp>
      <p:sp>
        <p:nvSpPr>
          <p:cNvPr id="18" name="Text 16"/>
          <p:cNvSpPr/>
          <p:nvPr/>
        </p:nvSpPr>
        <p:spPr>
          <a:xfrm>
            <a:off x="8522208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80576" y="19933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540496" y="2606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information I carry.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40496" y="29718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30" i="1" dirty="0">
                <a:solidFill>
                  <a:srgbClr val="58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content to share.</a:t>
            </a:r>
            <a:endParaRPr lang="en-US" sz="1230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886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scores for “it”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822960" y="4343400"/>
            <a:ext cx="475488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4343400"/>
            <a:ext cx="3328416" cy="310896"/>
          </a:xfrm>
          <a:prstGeom prst="roundRect">
            <a:avLst>
              <a:gd name="adj" fmla="val 8824"/>
            </a:avLst>
          </a:prstGeom>
          <a:solidFill>
            <a:srgbClr val="2E5FA3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43434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291840" y="43434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0.70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22960" y="4709160"/>
            <a:ext cx="475488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4709160"/>
            <a:ext cx="950976" cy="310896"/>
          </a:xfrm>
          <a:prstGeom prst="roundRect">
            <a:avLst>
              <a:gd name="adj" fmla="val 8824"/>
            </a:avLst>
          </a:prstGeom>
          <a:solidFill>
            <a:srgbClr val="12A5A5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470916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tired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291840" y="470916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0.20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22960" y="5074920"/>
            <a:ext cx="475488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2960" y="5074920"/>
            <a:ext cx="237744" cy="310896"/>
          </a:xfrm>
          <a:prstGeom prst="roundRect">
            <a:avLst>
              <a:gd name="adj" fmla="val 11538"/>
            </a:avLst>
          </a:prstGeom>
          <a:solidFill>
            <a:srgbClr val="F4A62A"/>
          </a:solidFill>
          <a:ln/>
        </p:spPr>
      </p:sp>
      <p:sp>
        <p:nvSpPr>
          <p:cNvPr id="34" name="Text 32"/>
          <p:cNvSpPr/>
          <p:nvPr/>
        </p:nvSpPr>
        <p:spPr>
          <a:xfrm>
            <a:off x="960120" y="50749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291840" y="507492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0.05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22960" y="5440680"/>
            <a:ext cx="475488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" y="5440680"/>
            <a:ext cx="73152" cy="310896"/>
          </a:xfrm>
          <a:prstGeom prst="roundRect">
            <a:avLst>
              <a:gd name="adj" fmla="val 37500"/>
            </a:avLst>
          </a:prstGeom>
          <a:solidFill>
            <a:srgbClr val="9AA6B6"/>
          </a:solidFill>
          <a:ln/>
        </p:spPr>
      </p:sp>
      <p:sp>
        <p:nvSpPr>
          <p:cNvPr id="38" name="Text 36"/>
          <p:cNvSpPr/>
          <p:nvPr/>
        </p:nvSpPr>
        <p:spPr>
          <a:xfrm>
            <a:off x="960120" y="544068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291840" y="54406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72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~0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172200" y="3749040"/>
            <a:ext cx="5468112" cy="2148840"/>
          </a:xfrm>
          <a:prstGeom prst="roundRect">
            <a:avLst>
              <a:gd name="adj" fmla="val 4255"/>
            </a:avLst>
          </a:prstGeom>
          <a:solidFill>
            <a:srgbClr val="0E1B33"/>
          </a:solidFill>
          <a:ln/>
        </p:spPr>
      </p:sp>
      <p:sp>
        <p:nvSpPr>
          <p:cNvPr id="41" name="Text 39"/>
          <p:cNvSpPr/>
          <p:nvPr/>
        </p:nvSpPr>
        <p:spPr>
          <a:xfrm>
            <a:off x="6446520" y="3886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A6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for “it”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6446520" y="43159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 = 0.70·V_animal + 0.20·V_tired + …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446520" y="47091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“it” becomes: “something like animal, with the context of being tired.”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6446520" y="5303520"/>
            <a:ext cx="4937760" cy="0"/>
          </a:xfrm>
          <a:prstGeom prst="line">
            <a:avLst/>
          </a:prstGeom>
          <a:noFill/>
          <a:ln w="12700">
            <a:solidFill>
              <a:srgbClr val="3A4E7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46520" y="53949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A5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Attention(Q,K,V) = softmax( QKᵀ / √dₖ ) · V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IIT Kharagpur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DEEP STACKS WORK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 Building Blocks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Feed-Forward Layer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per-token MLP (W₁ → ReLU → W₂) applied after attention. It enriches each token's representation independently, blending the patterns that attention surfaced into a context-dependent meaning.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58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training tricks that let the encoder block stack 6× deep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3602736" cy="2103120"/>
          </a:xfrm>
          <a:prstGeom prst="roundRect">
            <a:avLst>
              <a:gd name="adj" fmla="val 4348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4023360"/>
            <a:ext cx="365760" cy="365760"/>
          </a:xfrm>
          <a:prstGeom prst="ellipse">
            <a:avLst/>
          </a:prstGeom>
          <a:solidFill>
            <a:srgbClr val="2E5FA3"/>
          </a:solidFill>
          <a:ln/>
        </p:spPr>
      </p:sp>
      <p:sp>
        <p:nvSpPr>
          <p:cNvPr id="12" name="Text 10"/>
          <p:cNvSpPr/>
          <p:nvPr/>
        </p:nvSpPr>
        <p:spPr>
          <a:xfrm>
            <a:off x="1298448" y="39959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Residual Connections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5262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add a layer's input to its output, giving gradients a clean path and preventing degradation in deep stacks.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407408" y="3794760"/>
            <a:ext cx="3602736" cy="2103120"/>
          </a:xfrm>
          <a:prstGeom prst="roundRect">
            <a:avLst>
              <a:gd name="adj" fmla="val 4348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4023360"/>
            <a:ext cx="365760" cy="365760"/>
          </a:xfrm>
          <a:prstGeom prst="ellipse">
            <a:avLst/>
          </a:prstGeom>
          <a:solidFill>
            <a:srgbClr val="12A5A5"/>
          </a:solidFill>
          <a:ln/>
        </p:spPr>
      </p:sp>
      <p:sp>
        <p:nvSpPr>
          <p:cNvPr id="16" name="Text 14"/>
          <p:cNvSpPr/>
          <p:nvPr/>
        </p:nvSpPr>
        <p:spPr>
          <a:xfrm>
            <a:off x="5157216" y="39959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 Normalization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81728" y="45262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Normalises each token's features to stabilise and speed up training across layers.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66176" y="3794760"/>
            <a:ext cx="3602736" cy="2103120"/>
          </a:xfrm>
          <a:prstGeom prst="roundRect">
            <a:avLst>
              <a:gd name="adj" fmla="val 4348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22208" y="4023360"/>
            <a:ext cx="365760" cy="365760"/>
          </a:xfrm>
          <a:prstGeom prst="ellipse">
            <a:avLst/>
          </a:prstGeom>
          <a:solidFill>
            <a:srgbClr val="F4A62A"/>
          </a:solidFill>
          <a:ln/>
        </p:spPr>
      </p:sp>
      <p:sp>
        <p:nvSpPr>
          <p:cNvPr id="20" name="Text 18"/>
          <p:cNvSpPr/>
          <p:nvPr/>
        </p:nvSpPr>
        <p:spPr>
          <a:xfrm>
            <a:off x="9015984" y="399592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Scaled Dot-Product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40496" y="452628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attention scores by √dₖ before softmax so large dimensions don't push gradients into flat regions.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IIT Kharagpur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RESTORING WORD ORDER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Positional Encoding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389120"/>
          </a:xfrm>
          <a:prstGeom prst="roundRect">
            <a:avLst>
              <a:gd name="adj" fmla="val 2083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019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is permutation-invariant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computes the same output no matter the token order — it has no built-in sense of position.</a:t>
            </a:r>
            <a:endParaRPr lang="en-US" sz="1320" dirty="0"/>
          </a:p>
        </p:txBody>
      </p:sp>
      <p:sp>
        <p:nvSpPr>
          <p:cNvPr id="7" name="Shape 5"/>
          <p:cNvSpPr/>
          <p:nvPr/>
        </p:nvSpPr>
        <p:spPr>
          <a:xfrm>
            <a:off x="822960" y="3154680"/>
            <a:ext cx="4983480" cy="1280160"/>
          </a:xfrm>
          <a:prstGeom prst="roundRect">
            <a:avLst>
              <a:gd name="adj" fmla="val 7143"/>
            </a:avLst>
          </a:prstGeom>
          <a:solidFill>
            <a:srgbClr val="FFF1F0"/>
          </a:solidFill>
          <a:ln w="12700">
            <a:solidFill>
              <a:srgbClr val="F1C9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735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positional encoding: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51560" y="361188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cat chased the mouse”  =  “The mouse chased the cat” — identical to the model.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8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add a position signal to each token embedding to break this symmetry.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5166360"/>
            <a:ext cx="4983480" cy="685800"/>
          </a:xfrm>
          <a:prstGeom prst="roundRect">
            <a:avLst>
              <a:gd name="adj" fmla="val 13333"/>
            </a:avLst>
          </a:prstGeom>
          <a:solidFill>
            <a:srgbClr val="0E1B33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16636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A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pe[:,0::2]=sin(pos·div);  pe[:,1::2]=cos(pos·div)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1783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sinusoidal encodings work well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263640" y="2240280"/>
            <a:ext cx="5394960" cy="896112"/>
          </a:xfrm>
          <a:prstGeom prst="roundRect">
            <a:avLst>
              <a:gd name="adj" fmla="val 10204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44144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🔢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040880" y="2377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040880" y="269748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needed to represent positions.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3200400"/>
            <a:ext cx="5394960" cy="896112"/>
          </a:xfrm>
          <a:prstGeom prst="roundRect">
            <a:avLst>
              <a:gd name="adj" fmla="val 10204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4015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📐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40880" y="3337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per position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0" y="365760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position gets its own fingerprint.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4160520"/>
            <a:ext cx="5394960" cy="896112"/>
          </a:xfrm>
          <a:prstGeom prst="roundRect">
            <a:avLst>
              <a:gd name="adj" fmla="val 10204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43616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📏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40880" y="42976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Encodes relative distance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040880" y="461772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PE(pos+k) is a linear function of PE(pos).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5120640"/>
            <a:ext cx="5394960" cy="896112"/>
          </a:xfrm>
          <a:prstGeom prst="roundRect">
            <a:avLst>
              <a:gd name="adj" fmla="val 10204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53218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♾️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40880" y="52578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Generalizes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040880" y="557784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beyond the training sequence length.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IIT Kharagpur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RELATIONSHIPS AT ONCE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Multi-Head Attention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8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attention head captures one kind of relationship. Language has many, so the Transformer runs h heads in parallel, each learning a different pattern, then concatenates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423160"/>
            <a:ext cx="1051560" cy="822960"/>
          </a:xfrm>
          <a:prstGeom prst="roundRect">
            <a:avLst>
              <a:gd name="adj" fmla="val 6667"/>
            </a:avLst>
          </a:prstGeom>
          <a:solidFill>
            <a:srgbClr val="2E5FA3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42316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0" y="24414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Coreference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11680" y="28620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8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“it” → “animal”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91072" y="214884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47104" y="2423160"/>
            <a:ext cx="1051560" cy="822960"/>
          </a:xfrm>
          <a:prstGeom prst="roundRect">
            <a:avLst>
              <a:gd name="adj" fmla="val 6667"/>
            </a:avLst>
          </a:prstGeom>
          <a:solidFill>
            <a:srgbClr val="12A5A5"/>
          </a:solidFill>
          <a:ln/>
        </p:spPr>
      </p:sp>
      <p:sp>
        <p:nvSpPr>
          <p:cNvPr id="12" name="Text 10"/>
          <p:cNvSpPr/>
          <p:nvPr/>
        </p:nvSpPr>
        <p:spPr>
          <a:xfrm>
            <a:off x="6547104" y="242316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54112" y="24414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Verb–Object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54112" y="28620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8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“cross” → “street”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3977640"/>
            <a:ext cx="1051560" cy="822960"/>
          </a:xfrm>
          <a:prstGeom prst="roundRect">
            <a:avLst>
              <a:gd name="adj" fmla="val 6667"/>
            </a:avLst>
          </a:prstGeom>
          <a:solidFill>
            <a:srgbClr val="F4A62A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97764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11680" y="39959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011680" y="4416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8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nearby tokens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91072" y="370332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3F6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47104" y="3977640"/>
            <a:ext cx="1051560" cy="822960"/>
          </a:xfrm>
          <a:prstGeom prst="roundRect">
            <a:avLst>
              <a:gd name="adj" fmla="val 6667"/>
            </a:avLst>
          </a:prstGeom>
          <a:solidFill>
            <a:srgbClr val="7A5CC4"/>
          </a:solidFill>
          <a:ln/>
        </p:spPr>
      </p:sp>
      <p:sp>
        <p:nvSpPr>
          <p:cNvPr id="22" name="Text 20"/>
          <p:cNvSpPr/>
          <p:nvPr/>
        </p:nvSpPr>
        <p:spPr>
          <a:xfrm>
            <a:off x="6547104" y="3977640"/>
            <a:ext cx="1051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54112" y="39959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similarity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754112" y="4416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862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“tired” → “animal”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11765"/>
            </a:avLst>
          </a:prstGeom>
          <a:solidFill>
            <a:srgbClr val="0E1B33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120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A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MultiHead(X) = Concat( head₁ … headₕ ) · Wᴼ        headᵢ = softmax( QᵢKᵢᵀ / √dₖ ) Vᵢ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IIT Kharagpur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 vs Transformer — At a Glance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017520" cy="5486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83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Aspect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66160" y="1783080"/>
            <a:ext cx="4114800" cy="5486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7" name="Text 5"/>
          <p:cNvSpPr/>
          <p:nvPr/>
        </p:nvSpPr>
        <p:spPr>
          <a:xfrm>
            <a:off x="3749040" y="1783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C9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80960" y="1783080"/>
            <a:ext cx="3959352" cy="548640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1783080"/>
            <a:ext cx="3685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A5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3017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331720"/>
            <a:ext cx="2697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66160" y="2331720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2331720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— one token at a time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680960" y="2331720"/>
            <a:ext cx="395935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2331720"/>
            <a:ext cx="36393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— all tokens at once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118104"/>
            <a:ext cx="3017520" cy="786384"/>
          </a:xfrm>
          <a:prstGeom prst="rect">
            <a:avLst/>
          </a:prstGeom>
          <a:solidFill>
            <a:srgbClr val="F4F7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18104"/>
            <a:ext cx="2697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566160" y="3118104"/>
            <a:ext cx="4114800" cy="786384"/>
          </a:xfrm>
          <a:prstGeom prst="rect">
            <a:avLst/>
          </a:prstGeom>
          <a:solidFill>
            <a:srgbClr val="F4F7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3118104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fixed-size hidden state (bottleneck)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680960" y="3118104"/>
            <a:ext cx="3959352" cy="786384"/>
          </a:xfrm>
          <a:prstGeom prst="rect">
            <a:avLst/>
          </a:prstGeom>
          <a:solidFill>
            <a:srgbClr val="F4F7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3118104"/>
            <a:ext cx="36393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token representations retained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904488"/>
            <a:ext cx="3017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904488"/>
            <a:ext cx="2697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between tokens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566160" y="3904488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3904488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O(n) — many hops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680960" y="3904488"/>
            <a:ext cx="395935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63840" y="3904488"/>
            <a:ext cx="36393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O(1) — direct attention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4690872"/>
            <a:ext cx="3017520" cy="786384"/>
          </a:xfrm>
          <a:prstGeom prst="rect">
            <a:avLst/>
          </a:prstGeom>
          <a:solidFill>
            <a:srgbClr val="F4F7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690872"/>
            <a:ext cx="2697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Long-range dependencies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566160" y="4690872"/>
            <a:ext cx="4114800" cy="786384"/>
          </a:xfrm>
          <a:prstGeom prst="rect">
            <a:avLst/>
          </a:prstGeom>
          <a:solidFill>
            <a:srgbClr val="F4F7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0" y="4690872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— signal vanishes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680960" y="4690872"/>
            <a:ext cx="3959352" cy="786384"/>
          </a:xfrm>
          <a:prstGeom prst="rect">
            <a:avLst/>
          </a:prstGeom>
          <a:solidFill>
            <a:srgbClr val="F4F7FB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0" y="4690872"/>
            <a:ext cx="36393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— any token attends to any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5477256"/>
            <a:ext cx="301752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5477256"/>
            <a:ext cx="26974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order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566160" y="5477256"/>
            <a:ext cx="411480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49040" y="5477256"/>
            <a:ext cx="37947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3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in the recurrence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680960" y="5477256"/>
            <a:ext cx="3959352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0" y="5477256"/>
            <a:ext cx="36393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via positional encoding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11430000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IIT Kharagpur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206240"/>
            <a:ext cx="5029200" cy="5029200"/>
          </a:xfrm>
          <a:prstGeom prst="ellipse">
            <a:avLst/>
          </a:prstGeom>
          <a:ln w="254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-1463040"/>
            <a:ext cx="3840480" cy="3840480"/>
          </a:xfrm>
          <a:prstGeom prst="ellipse">
            <a:avLst/>
          </a:prstGeom>
          <a:solidFill>
            <a:srgbClr val="1A2A4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2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685800" y="1737360"/>
            <a:ext cx="530352" cy="530352"/>
          </a:xfrm>
          <a:prstGeom prst="ellipse">
            <a:avLst/>
          </a:prstGeom>
          <a:solidFill>
            <a:srgbClr val="12A5A5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7373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71907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RNNs process sequences with memory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04825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recurrent hidden state carries context forward, trained by backprop through time.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2514600"/>
            <a:ext cx="530352" cy="530352"/>
          </a:xfrm>
          <a:prstGeom prst="ellipse">
            <a:avLst/>
          </a:prstGeom>
          <a:solidFill>
            <a:srgbClr val="12A5A5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5146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49631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 they hit hard limits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17320" y="282549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gradients, a fixed-size bottleneck, no direct access, and no parallelism.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291840"/>
            <a:ext cx="530352" cy="530352"/>
          </a:xfrm>
          <a:prstGeom prst="ellipse">
            <a:avLst/>
          </a:prstGeom>
          <a:solidFill>
            <a:srgbClr val="12A5A5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29184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327355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Gates help but don't cure it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17320" y="360273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forget gate lets memory persist longer via a product of gates, yet the bottleneck remains.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069080"/>
            <a:ext cx="530352" cy="530352"/>
          </a:xfrm>
          <a:prstGeom prst="ellipse">
            <a:avLst/>
          </a:prstGeom>
          <a:solidFill>
            <a:srgbClr val="12A5A5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0690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17320" y="405079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should shape a word's vector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437997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ELMo's bidirectional LSTM gave the same word different vectors — the bridge to attention.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846320"/>
            <a:ext cx="530352" cy="530352"/>
          </a:xfrm>
          <a:prstGeom prst="ellipse">
            <a:avLst/>
          </a:prstGeom>
          <a:solidFill>
            <a:srgbClr val="12A5A5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8463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482803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Attention removes the bottleneck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17320" y="515721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Query–Key–Value lets any token access any other directly, in one O(1) step.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85800" y="5623560"/>
            <a:ext cx="530352" cy="530352"/>
          </a:xfrm>
          <a:prstGeom prst="ellipse">
            <a:avLst/>
          </a:prstGeom>
          <a:solidFill>
            <a:srgbClr val="12A5A5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562356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17320" y="560527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Transformer puts it together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17320" y="5934456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6D2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+ positional encoding + multi-head + FFN — the basis of modern LLMs.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6400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“Attention Is All You Need” — Vaswani et al., 2017    ·    Deep Learning · IIT Kharagpur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2026-08-14T13:02:13Z</dcterms:created>
  <dcterms:modified xsi:type="dcterms:W3CDTF">2026-08-14T13:02:13Z</dcterms:modified>
</cp:coreProperties>
</file>